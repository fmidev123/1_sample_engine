
<file path=[Content_Types].xml><?xml version="1.0" encoding="utf-8"?>
<Types xmlns="http://schemas.openxmlformats.org/package/2006/content-types">
  <Default Extension="bin" ContentType="application/vnd.openxmlformats-officedocument.presentationml.printerSettings"/>
  <Default Extension="jpeg" ContentType="image/jpeg"/>
  <Default Extension="png" ContentType="image/png"/>
  <Default Extension="rels" ContentType="application/vnd.openxmlformats-package.relationships+xml"/>
  <Default Extension="xml" ContentType="application/xml"/>
  <Override PartName="/docProps/app.xml" ContentType="application/vnd.openxmlformats-officedocument.extended-properties+xml"/>
  <Override PartName="/docProps/core.xml" ContentType="application/vnd.openxmlformats-package.core-properties+xml"/>
  <Override PartName="/ppt/charts/chart1.xml" ContentType="application/vnd.openxmlformats-officedocument.drawingml.chart+xml"/>
  <Override PartName="/ppt/charts/chart10.xml" ContentType="application/vnd.openxmlformats-officedocument.drawingml.chart+xml"/>
  <Override PartName="/ppt/charts/chart100.xml" ContentType="application/vnd.openxmlformats-officedocument.drawingml.chart+xml"/>
  <Override PartName="/ppt/charts/chart101.xml" ContentType="application/vnd.openxmlformats-officedocument.drawingml.chart+xml"/>
  <Override PartName="/ppt/charts/chart102.xml" ContentType="application/vnd.openxmlformats-officedocument.drawingml.chart+xml"/>
  <Override PartName="/ppt/charts/chart103.xml" ContentType="application/vnd.openxmlformats-officedocument.drawingml.chart+xml"/>
  <Override PartName="/ppt/charts/chart104.xml" ContentType="application/vnd.openxmlformats-officedocument.drawingml.chart+xml"/>
  <Override PartName="/ppt/charts/chart105.xml" ContentType="application/vnd.openxmlformats-officedocument.drawingml.chart+xml"/>
  <Override PartName="/ppt/charts/chart106.xml" ContentType="application/vnd.openxmlformats-officedocument.drawingml.chart+xml"/>
  <Override PartName="/ppt/charts/chart107.xml" ContentType="application/vnd.openxmlformats-officedocument.drawingml.chart+xml"/>
  <Override PartName="/ppt/charts/chart108.xml" ContentType="application/vnd.openxmlformats-officedocument.drawingml.chart+xml"/>
  <Override PartName="/ppt/charts/chart109.xml" ContentType="application/vnd.openxmlformats-officedocument.drawingml.chart+xml"/>
  <Override PartName="/ppt/charts/chart11.xml" ContentType="application/vnd.openxmlformats-officedocument.drawingml.chart+xml"/>
  <Override PartName="/ppt/charts/chart110.xml" ContentType="application/vnd.openxmlformats-officedocument.drawingml.chart+xml"/>
  <Override PartName="/ppt/charts/chart111.xml" ContentType="application/vnd.openxmlformats-officedocument.drawingml.chart+xml"/>
  <Override PartName="/ppt/charts/chart112.xml" ContentType="application/vnd.openxmlformats-officedocument.drawingml.chart+xml"/>
  <Override PartName="/ppt/charts/chart113.xml" ContentType="application/vnd.openxmlformats-officedocument.drawingml.chart+xml"/>
  <Override PartName="/ppt/charts/chart114.xml" ContentType="application/vnd.openxmlformats-officedocument.drawingml.chart+xml"/>
  <Override PartName="/ppt/charts/chart115.xml" ContentType="application/vnd.openxmlformats-officedocument.drawingml.chart+xml"/>
  <Override PartName="/ppt/charts/chart116.xml" ContentType="application/vnd.openxmlformats-officedocument.drawingml.chart+xml"/>
  <Override PartName="/ppt/charts/chart117.xml" ContentType="application/vnd.openxmlformats-officedocument.drawingml.chart+xml"/>
  <Override PartName="/ppt/charts/chart118.xml" ContentType="application/vnd.openxmlformats-officedocument.drawingml.chart+xml"/>
  <Override PartName="/ppt/charts/chart119.xml" ContentType="application/vnd.openxmlformats-officedocument.drawingml.chart+xml"/>
  <Override PartName="/ppt/charts/chart12.xml" ContentType="application/vnd.openxmlformats-officedocument.drawingml.chart+xml"/>
  <Override PartName="/ppt/charts/chart120.xml" ContentType="application/vnd.openxmlformats-officedocument.drawingml.chart+xml"/>
  <Override PartName="/ppt/charts/chart121.xml" ContentType="application/vnd.openxmlformats-officedocument.drawingml.chart+xml"/>
  <Override PartName="/ppt/charts/chart122.xml" ContentType="application/vnd.openxmlformats-officedocument.drawingml.chart+xml"/>
  <Override PartName="/ppt/charts/chart123.xml" ContentType="application/vnd.openxmlformats-officedocument.drawingml.chart+xml"/>
  <Override PartName="/ppt/charts/chart124.xml" ContentType="application/vnd.openxmlformats-officedocument.drawingml.chart+xml"/>
  <Override PartName="/ppt/charts/chart125.xml" ContentType="application/vnd.openxmlformats-officedocument.drawingml.chart+xml"/>
  <Override PartName="/ppt/charts/chart126.xml" ContentType="application/vnd.openxmlformats-officedocument.drawingml.chart+xml"/>
  <Override PartName="/ppt/charts/chart127.xml" ContentType="application/vnd.openxmlformats-officedocument.drawingml.chart+xml"/>
  <Override PartName="/ppt/charts/chart128.xml" ContentType="application/vnd.openxmlformats-officedocument.drawingml.chart+xml"/>
  <Override PartName="/ppt/charts/chart129.xml" ContentType="application/vnd.openxmlformats-officedocument.drawingml.chart+xml"/>
  <Override PartName="/ppt/charts/chart13.xml" ContentType="application/vnd.openxmlformats-officedocument.drawingml.chart+xml"/>
  <Override PartName="/ppt/charts/chart130.xml" ContentType="application/vnd.openxmlformats-officedocument.drawingml.chart+xml"/>
  <Override PartName="/ppt/charts/chart131.xml" ContentType="application/vnd.openxmlformats-officedocument.drawingml.chart+xml"/>
  <Override PartName="/ppt/charts/chart14.xml" ContentType="application/vnd.openxmlformats-officedocument.drawingml.chart+xml"/>
  <Override PartName="/ppt/charts/chart15.xml" ContentType="application/vnd.openxmlformats-officedocument.drawingml.chart+xml"/>
  <Override PartName="/ppt/charts/chart16.xml" ContentType="application/vnd.openxmlformats-officedocument.drawingml.chart+xml"/>
  <Override PartName="/ppt/charts/chart17.xml" ContentType="application/vnd.openxmlformats-officedocument.drawingml.chart+xml"/>
  <Override PartName="/ppt/charts/chart18.xml" ContentType="application/vnd.openxmlformats-officedocument.drawingml.chart+xml"/>
  <Override PartName="/ppt/charts/chart19.xml" ContentType="application/vnd.openxmlformats-officedocument.drawingml.chart+xml"/>
  <Override PartName="/ppt/charts/chart2.xml" ContentType="application/vnd.openxmlformats-officedocument.drawingml.chart+xml"/>
  <Override PartName="/ppt/charts/chart20.xml" ContentType="application/vnd.openxmlformats-officedocument.drawingml.chart+xml"/>
  <Override PartName="/ppt/charts/chart21.xml" ContentType="application/vnd.openxmlformats-officedocument.drawingml.chart+xml"/>
  <Override PartName="/ppt/charts/chart22.xml" ContentType="application/vnd.openxmlformats-officedocument.drawingml.chart+xml"/>
  <Override PartName="/ppt/charts/chart23.xml" ContentType="application/vnd.openxmlformats-officedocument.drawingml.chart+xml"/>
  <Override PartName="/ppt/charts/chart24.xml" ContentType="application/vnd.openxmlformats-officedocument.drawingml.chart+xml"/>
  <Override PartName="/ppt/charts/chart25.xml" ContentType="application/vnd.openxmlformats-officedocument.drawingml.chart+xml"/>
  <Override PartName="/ppt/charts/chart26.xml" ContentType="application/vnd.openxmlformats-officedocument.drawingml.chart+xml"/>
  <Override PartName="/ppt/charts/chart27.xml" ContentType="application/vnd.openxmlformats-officedocument.drawingml.chart+xml"/>
  <Override PartName="/ppt/charts/chart28.xml" ContentType="application/vnd.openxmlformats-officedocument.drawingml.chart+xml"/>
  <Override PartName="/ppt/charts/chart29.xml" ContentType="application/vnd.openxmlformats-officedocument.drawingml.chart+xml"/>
  <Override PartName="/ppt/charts/chart3.xml" ContentType="application/vnd.openxmlformats-officedocument.drawingml.chart+xml"/>
  <Override PartName="/ppt/charts/chart30.xml" ContentType="application/vnd.openxmlformats-officedocument.drawingml.chart+xml"/>
  <Override PartName="/ppt/charts/chart31.xml" ContentType="application/vnd.openxmlformats-officedocument.drawingml.chart+xml"/>
  <Override PartName="/ppt/charts/chart32.xml" ContentType="application/vnd.openxmlformats-officedocument.drawingml.chart+xml"/>
  <Override PartName="/ppt/charts/chart33.xml" ContentType="application/vnd.openxmlformats-officedocument.drawingml.chart+xml"/>
  <Override PartName="/ppt/charts/chart34.xml" ContentType="application/vnd.openxmlformats-officedocument.drawingml.chart+xml"/>
  <Override PartName="/ppt/charts/chart35.xml" ContentType="application/vnd.openxmlformats-officedocument.drawingml.chart+xml"/>
  <Override PartName="/ppt/charts/chart36.xml" ContentType="application/vnd.openxmlformats-officedocument.drawingml.chart+xml"/>
  <Override PartName="/ppt/charts/chart37.xml" ContentType="application/vnd.openxmlformats-officedocument.drawingml.chart+xml"/>
  <Override PartName="/ppt/charts/chart38.xml" ContentType="application/vnd.openxmlformats-officedocument.drawingml.chart+xml"/>
  <Override PartName="/ppt/charts/chart39.xml" ContentType="application/vnd.openxmlformats-officedocument.drawingml.chart+xml"/>
  <Override PartName="/ppt/charts/chart4.xml" ContentType="application/vnd.openxmlformats-officedocument.drawingml.chart+xml"/>
  <Override PartName="/ppt/charts/chart40.xml" ContentType="application/vnd.openxmlformats-officedocument.drawingml.chart+xml"/>
  <Override PartName="/ppt/charts/chart41.xml" ContentType="application/vnd.openxmlformats-officedocument.drawingml.chart+xml"/>
  <Override PartName="/ppt/charts/chart42.xml" ContentType="application/vnd.openxmlformats-officedocument.drawingml.chart+xml"/>
  <Override PartName="/ppt/charts/chart43.xml" ContentType="application/vnd.openxmlformats-officedocument.drawingml.chart+xml"/>
  <Override PartName="/ppt/charts/chart44.xml" ContentType="application/vnd.openxmlformats-officedocument.drawingml.chart+xml"/>
  <Override PartName="/ppt/charts/chart45.xml" ContentType="application/vnd.openxmlformats-officedocument.drawingml.chart+xml"/>
  <Override PartName="/ppt/charts/chart46.xml" ContentType="application/vnd.openxmlformats-officedocument.drawingml.chart+xml"/>
  <Override PartName="/ppt/charts/chart47.xml" ContentType="application/vnd.openxmlformats-officedocument.drawingml.chart+xml"/>
  <Override PartName="/ppt/charts/chart48.xml" ContentType="application/vnd.openxmlformats-officedocument.drawingml.chart+xml"/>
  <Override PartName="/ppt/charts/chart49.xml" ContentType="application/vnd.openxmlformats-officedocument.drawingml.chart+xml"/>
  <Override PartName="/ppt/charts/chart5.xml" ContentType="application/vnd.openxmlformats-officedocument.drawingml.chart+xml"/>
  <Override PartName="/ppt/charts/chart50.xml" ContentType="application/vnd.openxmlformats-officedocument.drawingml.chart+xml"/>
  <Override PartName="/ppt/charts/chart51.xml" ContentType="application/vnd.openxmlformats-officedocument.drawingml.chart+xml"/>
  <Override PartName="/ppt/charts/chart52.xml" ContentType="application/vnd.openxmlformats-officedocument.drawingml.chart+xml"/>
  <Override PartName="/ppt/charts/chart53.xml" ContentType="application/vnd.openxmlformats-officedocument.drawingml.chart+xml"/>
  <Override PartName="/ppt/charts/chart54.xml" ContentType="application/vnd.openxmlformats-officedocument.drawingml.chart+xml"/>
  <Override PartName="/ppt/charts/chart55.xml" ContentType="application/vnd.openxmlformats-officedocument.drawingml.chart+xml"/>
  <Override PartName="/ppt/charts/chart56.xml" ContentType="application/vnd.openxmlformats-officedocument.drawingml.chart+xml"/>
  <Override PartName="/ppt/charts/chart57.xml" ContentType="application/vnd.openxmlformats-officedocument.drawingml.chart+xml"/>
  <Override PartName="/ppt/charts/chart58.xml" ContentType="application/vnd.openxmlformats-officedocument.drawingml.chart+xml"/>
  <Override PartName="/ppt/charts/chart59.xml" ContentType="application/vnd.openxmlformats-officedocument.drawingml.chart+xml"/>
  <Override PartName="/ppt/charts/chart6.xml" ContentType="application/vnd.openxmlformats-officedocument.drawingml.chart+xml"/>
  <Override PartName="/ppt/charts/chart60.xml" ContentType="application/vnd.openxmlformats-officedocument.drawingml.chart+xml"/>
  <Override PartName="/ppt/charts/chart61.xml" ContentType="application/vnd.openxmlformats-officedocument.drawingml.chart+xml"/>
  <Override PartName="/ppt/charts/chart62.xml" ContentType="application/vnd.openxmlformats-officedocument.drawingml.chart+xml"/>
  <Override PartName="/ppt/charts/chart63.xml" ContentType="application/vnd.openxmlformats-officedocument.drawingml.chart+xml"/>
  <Override PartName="/ppt/charts/chart64.xml" ContentType="application/vnd.openxmlformats-officedocument.drawingml.chart+xml"/>
  <Override PartName="/ppt/charts/chart65.xml" ContentType="application/vnd.openxmlformats-officedocument.drawingml.chart+xml"/>
  <Override PartName="/ppt/charts/chart66.xml" ContentType="application/vnd.openxmlformats-officedocument.drawingml.chart+xml"/>
  <Override PartName="/ppt/charts/chart67.xml" ContentType="application/vnd.openxmlformats-officedocument.drawingml.chart+xml"/>
  <Override PartName="/ppt/charts/chart68.xml" ContentType="application/vnd.openxmlformats-officedocument.drawingml.chart+xml"/>
  <Override PartName="/ppt/charts/chart69.xml" ContentType="application/vnd.openxmlformats-officedocument.drawingml.chart+xml"/>
  <Override PartName="/ppt/charts/chart7.xml" ContentType="application/vnd.openxmlformats-officedocument.drawingml.chart+xml"/>
  <Override PartName="/ppt/charts/chart70.xml" ContentType="application/vnd.openxmlformats-officedocument.drawingml.chart+xml"/>
  <Override PartName="/ppt/charts/chart71.xml" ContentType="application/vnd.openxmlformats-officedocument.drawingml.chart+xml"/>
  <Override PartName="/ppt/charts/chart72.xml" ContentType="application/vnd.openxmlformats-officedocument.drawingml.chart+xml"/>
  <Override PartName="/ppt/charts/chart73.xml" ContentType="application/vnd.openxmlformats-officedocument.drawingml.chart+xml"/>
  <Override PartName="/ppt/charts/chart74.xml" ContentType="application/vnd.openxmlformats-officedocument.drawingml.chart+xml"/>
  <Override PartName="/ppt/charts/chart75.xml" ContentType="application/vnd.openxmlformats-officedocument.drawingml.chart+xml"/>
  <Override PartName="/ppt/charts/chart76.xml" ContentType="application/vnd.openxmlformats-officedocument.drawingml.chart+xml"/>
  <Override PartName="/ppt/charts/chart77.xml" ContentType="application/vnd.openxmlformats-officedocument.drawingml.chart+xml"/>
  <Override PartName="/ppt/charts/chart78.xml" ContentType="application/vnd.openxmlformats-officedocument.drawingml.chart+xml"/>
  <Override PartName="/ppt/charts/chart79.xml" ContentType="application/vnd.openxmlformats-officedocument.drawingml.chart+xml"/>
  <Override PartName="/ppt/charts/chart8.xml" ContentType="application/vnd.openxmlformats-officedocument.drawingml.chart+xml"/>
  <Override PartName="/ppt/charts/chart80.xml" ContentType="application/vnd.openxmlformats-officedocument.drawingml.chart+xml"/>
  <Override PartName="/ppt/charts/chart81.xml" ContentType="application/vnd.openxmlformats-officedocument.drawingml.chart+xml"/>
  <Override PartName="/ppt/charts/chart82.xml" ContentType="application/vnd.openxmlformats-officedocument.drawingml.chart+xml"/>
  <Override PartName="/ppt/charts/chart83.xml" ContentType="application/vnd.openxmlformats-officedocument.drawingml.chart+xml"/>
  <Override PartName="/ppt/charts/chart84.xml" ContentType="application/vnd.openxmlformats-officedocument.drawingml.chart+xml"/>
  <Override PartName="/ppt/charts/chart85.xml" ContentType="application/vnd.openxmlformats-officedocument.drawingml.chart+xml"/>
  <Override PartName="/ppt/charts/chart86.xml" ContentType="application/vnd.openxmlformats-officedocument.drawingml.chart+xml"/>
  <Override PartName="/ppt/charts/chart87.xml" ContentType="application/vnd.openxmlformats-officedocument.drawingml.chart+xml"/>
  <Override PartName="/ppt/charts/chart88.xml" ContentType="application/vnd.openxmlformats-officedocument.drawingml.chart+xml"/>
  <Override PartName="/ppt/charts/chart89.xml" ContentType="application/vnd.openxmlformats-officedocument.drawingml.chart+xml"/>
  <Override PartName="/ppt/charts/chart9.xml" ContentType="application/vnd.openxmlformats-officedocument.drawingml.chart+xml"/>
  <Override PartName="/ppt/charts/chart90.xml" ContentType="application/vnd.openxmlformats-officedocument.drawingml.chart+xml"/>
  <Override PartName="/ppt/charts/chart91.xml" ContentType="application/vnd.openxmlformats-officedocument.drawingml.chart+xml"/>
  <Override PartName="/ppt/charts/chart92.xml" ContentType="application/vnd.openxmlformats-officedocument.drawingml.chart+xml"/>
  <Override PartName="/ppt/charts/chart93.xml" ContentType="application/vnd.openxmlformats-officedocument.drawingml.chart+xml"/>
  <Override PartName="/ppt/charts/chart94.xml" ContentType="application/vnd.openxmlformats-officedocument.drawingml.chart+xml"/>
  <Override PartName="/ppt/charts/chart95.xml" ContentType="application/vnd.openxmlformats-officedocument.drawingml.chart+xml"/>
  <Override PartName="/ppt/charts/chart96.xml" ContentType="application/vnd.openxmlformats-officedocument.drawingml.chart+xml"/>
  <Override PartName="/ppt/charts/chart97.xml" ContentType="application/vnd.openxmlformats-officedocument.drawingml.chart+xml"/>
  <Override PartName="/ppt/charts/chart98.xml" ContentType="application/vnd.openxmlformats-officedocument.drawingml.chart+xml"/>
  <Override PartName="/ppt/charts/chart99.xml" ContentType="application/vnd.openxmlformats-officedocument.drawingml.chart+xml"/>
  <Override PartName="/ppt/notesMasters/notesMaster1.xml" ContentType="application/vnd.openxmlformats-officedocument.presentationml.notesMaster+xml"/>
  <Override PartName="/ppt/notesSlides/notesSlide1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00.xml" ContentType="application/vnd.openxmlformats-officedocument.presentationml.notesSlide+xml"/>
  <Override PartName="/ppt/notesSlides/notesSlide101.xml" ContentType="application/vnd.openxmlformats-officedocument.presentationml.notesSlide+xml"/>
  <Override PartName="/ppt/notesSlides/notesSlide102.xml" ContentType="application/vnd.openxmlformats-officedocument.presentationml.notesSlide+xml"/>
  <Override PartName="/ppt/notesSlides/notesSlide103.xml" ContentType="application/vnd.openxmlformats-officedocument.presentationml.notesSlide+xml"/>
  <Override PartName="/ppt/notesSlides/notesSlide104.xml" ContentType="application/vnd.openxmlformats-officedocument.presentationml.notesSlide+xml"/>
  <Override PartName="/ppt/notesSlides/notesSlide105.xml" ContentType="application/vnd.openxmlformats-officedocument.presentationml.notesSlide+xml"/>
  <Override PartName="/ppt/notesSlides/notesSlide106.xml" ContentType="application/vnd.openxmlformats-officedocument.presentationml.notesSlide+xml"/>
  <Override PartName="/ppt/notesSlides/notesSlide107.xml" ContentType="application/vnd.openxmlformats-officedocument.presentationml.notesSlide+xml"/>
  <Override PartName="/ppt/notesSlides/notesSlide108.xml" ContentType="application/vnd.openxmlformats-officedocument.presentationml.notesSlide+xml"/>
  <Override PartName="/ppt/notesSlides/notesSlide109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10.xml" ContentType="application/vnd.openxmlformats-officedocument.presentationml.notesSlide+xml"/>
  <Override PartName="/ppt/notesSlides/notesSlide111.xml" ContentType="application/vnd.openxmlformats-officedocument.presentationml.notesSlide+xml"/>
  <Override PartName="/ppt/notesSlides/notesSlide112.xml" ContentType="application/vnd.openxmlformats-officedocument.presentationml.notesSlide+xml"/>
  <Override PartName="/ppt/notesSlides/notesSlide113.xml" ContentType="application/vnd.openxmlformats-officedocument.presentationml.notesSlide+xml"/>
  <Override PartName="/ppt/notesSlides/notesSlide114.xml" ContentType="application/vnd.openxmlformats-officedocument.presentationml.notesSlide+xml"/>
  <Override PartName="/ppt/notesSlides/notesSlide115.xml" ContentType="application/vnd.openxmlformats-officedocument.presentationml.notesSlide+xml"/>
  <Override PartName="/ppt/notesSlides/notesSlide116.xml" ContentType="application/vnd.openxmlformats-officedocument.presentationml.notesSlide+xml"/>
  <Override PartName="/ppt/notesSlides/notesSlide117.xml" ContentType="application/vnd.openxmlformats-officedocument.presentationml.notesSlide+xml"/>
  <Override PartName="/ppt/notesSlides/notesSlide118.xml" ContentType="application/vnd.openxmlformats-officedocument.presentationml.notesSlide+xml"/>
  <Override PartName="/ppt/notesSlides/notesSlide119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20.xml" ContentType="application/vnd.openxmlformats-officedocument.presentationml.notesSlide+xml"/>
  <Override PartName="/ppt/notesSlides/notesSlide121.xml" ContentType="application/vnd.openxmlformats-officedocument.presentationml.notesSlide+xml"/>
  <Override PartName="/ppt/notesSlides/notesSlide122.xml" ContentType="application/vnd.openxmlformats-officedocument.presentationml.notesSlide+xml"/>
  <Override PartName="/ppt/notesSlides/notesSlide123.xml" ContentType="application/vnd.openxmlformats-officedocument.presentationml.notesSlide+xml"/>
  <Override PartName="/ppt/notesSlides/notesSlide124.xml" ContentType="application/vnd.openxmlformats-officedocument.presentationml.notesSlide+xml"/>
  <Override PartName="/ppt/notesSlides/notesSlide125.xml" ContentType="application/vnd.openxmlformats-officedocument.presentationml.notesSlide+xml"/>
  <Override PartName="/ppt/notesSlides/notesSlide126.xml" ContentType="application/vnd.openxmlformats-officedocument.presentationml.notesSlide+xml"/>
  <Override PartName="/ppt/notesSlides/notesSlide127.xml" ContentType="application/vnd.openxmlformats-officedocument.presentationml.notesSlide+xml"/>
  <Override PartName="/ppt/notesSlides/notesSlide128.xml" ContentType="application/vnd.openxmlformats-officedocument.presentationml.notesSlide+xml"/>
  <Override PartName="/ppt/notesSlides/notesSlide129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30.xml" ContentType="application/vnd.openxmlformats-officedocument.presentationml.notesSlide+xml"/>
  <Override PartName="/ppt/notesSlides/notesSlide131.xml" ContentType="application/vnd.openxmlformats-officedocument.presentationml.notesSlide+xml"/>
  <Override PartName="/ppt/notesSlides/notesSlide132.xml" ContentType="application/vnd.openxmlformats-officedocument.presentationml.notesSlide+xml"/>
  <Override PartName="/ppt/notesSlides/notesSlide133.xml" ContentType="application/vnd.openxmlformats-officedocument.presentationml.notesSlide+xml"/>
  <Override PartName="/ppt/notesSlides/notesSlide134.xml" ContentType="application/vnd.openxmlformats-officedocument.presentationml.notesSlide+xml"/>
  <Override PartName="/ppt/notesSlides/notesSlide135.xml" ContentType="application/vnd.openxmlformats-officedocument.presentationml.notesSlide+xml"/>
  <Override PartName="/ppt/notesSlides/notesSlide136.xml" ContentType="application/vnd.openxmlformats-officedocument.presentationml.notesSlide+xml"/>
  <Override PartName="/ppt/notesSlides/notesSlide137.xml" ContentType="application/vnd.openxmlformats-officedocument.presentationml.notesSlide+xml"/>
  <Override PartName="/ppt/notesSlides/notesSlide138.xml" ContentType="application/vnd.openxmlformats-officedocument.presentationml.notesSlide+xml"/>
  <Override PartName="/ppt/notesSlides/notesSlide139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40.xml" ContentType="application/vnd.openxmlformats-officedocument.presentationml.notesSlide+xml"/>
  <Override PartName="/ppt/notesSlides/notesSlide141.xml" ContentType="application/vnd.openxmlformats-officedocument.presentationml.notesSlide+xml"/>
  <Override PartName="/ppt/notesSlides/notesSlide142.xml" ContentType="application/vnd.openxmlformats-officedocument.presentationml.notesSlide+xml"/>
  <Override PartName="/ppt/notesSlides/notesSlide143.xml" ContentType="application/vnd.openxmlformats-officedocument.presentationml.notesSlide+xml"/>
  <Override PartName="/ppt/notesSlides/notesSlide144.xml" ContentType="application/vnd.openxmlformats-officedocument.presentationml.notesSlide+xml"/>
  <Override PartName="/ppt/notesSlides/notesSlide145.xml" ContentType="application/vnd.openxmlformats-officedocument.presentationml.notesSlide+xml"/>
  <Override PartName="/ppt/notesSlides/notesSlide146.xml" ContentType="application/vnd.openxmlformats-officedocument.presentationml.notesSlide+xml"/>
  <Override PartName="/ppt/notesSlides/notesSlide147.xml" ContentType="application/vnd.openxmlformats-officedocument.presentationml.notesSlide+xml"/>
  <Override PartName="/ppt/notesSlides/notesSlide148.xml" ContentType="application/vnd.openxmlformats-officedocument.presentationml.notesSlide+xml"/>
  <Override PartName="/ppt/notesSlides/notesSlide149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50.xml" ContentType="application/vnd.openxmlformats-officedocument.presentationml.notesSlide+xml"/>
  <Override PartName="/ppt/notesSlides/notesSlide151.xml" ContentType="application/vnd.openxmlformats-officedocument.presentationml.notesSlide+xml"/>
  <Override PartName="/ppt/notesSlides/notesSlide152.xml" ContentType="application/vnd.openxmlformats-officedocument.presentationml.notesSlide+xml"/>
  <Override PartName="/ppt/notesSlides/notesSlide153.xml" ContentType="application/vnd.openxmlformats-officedocument.presentationml.notesSlide+xml"/>
  <Override PartName="/ppt/notesSlides/notesSlide154.xml" ContentType="application/vnd.openxmlformats-officedocument.presentationml.notesSlide+xml"/>
  <Override PartName="/ppt/notesSlides/notesSlide155.xml" ContentType="application/vnd.openxmlformats-officedocument.presentationml.notesSlide+xml"/>
  <Override PartName="/ppt/notesSlides/notesSlide156.xml" ContentType="application/vnd.openxmlformats-officedocument.presentationml.notesSlide+xml"/>
  <Override PartName="/ppt/notesSlides/notesSlide157.xml" ContentType="application/vnd.openxmlformats-officedocument.presentationml.notesSlide+xml"/>
  <Override PartName="/ppt/notesSlides/notesSlide158.xml" ContentType="application/vnd.openxmlformats-officedocument.presentationml.notesSlide+xml"/>
  <Override PartName="/ppt/notesSlides/notesSlide159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60.xml" ContentType="application/vnd.openxmlformats-officedocument.presentationml.notesSlide+xml"/>
  <Override PartName="/ppt/notesSlides/notesSlide161.xml" ContentType="application/vnd.openxmlformats-officedocument.presentationml.notesSlide+xml"/>
  <Override PartName="/ppt/notesSlides/notesSlide162.xml" ContentType="application/vnd.openxmlformats-officedocument.presentationml.notesSlide+xml"/>
  <Override PartName="/ppt/notesSlides/notesSlide163.xml" ContentType="application/vnd.openxmlformats-officedocument.presentationml.notesSlide+xml"/>
  <Override PartName="/ppt/notesSlides/notesSlide164.xml" ContentType="application/vnd.openxmlformats-officedocument.presentationml.notesSlide+xml"/>
  <Override PartName="/ppt/notesSlides/notesSlide165.xml" ContentType="application/vnd.openxmlformats-officedocument.presentationml.notesSlide+xml"/>
  <Override PartName="/ppt/notesSlides/notesSlide166.xml" ContentType="application/vnd.openxmlformats-officedocument.presentationml.notesSlide+xml"/>
  <Override PartName="/ppt/notesSlides/notesSlide167.xml" ContentType="application/vnd.openxmlformats-officedocument.presentationml.notesSlide+xml"/>
  <Override PartName="/ppt/notesSlides/notesSlide168.xml" ContentType="application/vnd.openxmlformats-officedocument.presentationml.notesSlide+xml"/>
  <Override PartName="/ppt/notesSlides/notesSlide169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70.xml" ContentType="application/vnd.openxmlformats-officedocument.presentationml.notesSlide+xml"/>
  <Override PartName="/ppt/notesSlides/notesSlide171.xml" ContentType="application/vnd.openxmlformats-officedocument.presentationml.notesSlide+xml"/>
  <Override PartName="/ppt/notesSlides/notesSlide172.xml" ContentType="application/vnd.openxmlformats-officedocument.presentationml.notesSlide+xml"/>
  <Override PartName="/ppt/notesSlides/notesSlide173.xml" ContentType="application/vnd.openxmlformats-officedocument.presentationml.notesSlide+xml"/>
  <Override PartName="/ppt/notesSlides/notesSlide174.xml" ContentType="application/vnd.openxmlformats-officedocument.presentationml.notesSlide+xml"/>
  <Override PartName="/ppt/notesSlides/notesSlide175.xml" ContentType="application/vnd.openxmlformats-officedocument.presentationml.notesSlide+xml"/>
  <Override PartName="/ppt/notesSlides/notesSlide176.xml" ContentType="application/vnd.openxmlformats-officedocument.presentationml.notesSlide+xml"/>
  <Override PartName="/ppt/notesSlides/notesSlide177.xml" ContentType="application/vnd.openxmlformats-officedocument.presentationml.notesSlide+xml"/>
  <Override PartName="/ppt/notesSlides/notesSlide178.xml" ContentType="application/vnd.openxmlformats-officedocument.presentationml.notesSlide+xml"/>
  <Override PartName="/ppt/notesSlides/notesSlide179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80.xml" ContentType="application/vnd.openxmlformats-officedocument.presentationml.notesSlide+xml"/>
  <Override PartName="/ppt/notesSlides/notesSlide181.xml" ContentType="application/vnd.openxmlformats-officedocument.presentationml.notesSlide+xml"/>
  <Override PartName="/ppt/notesSlides/notesSlide182.xml" ContentType="application/vnd.openxmlformats-officedocument.presentationml.notesSlide+xml"/>
  <Override PartName="/ppt/notesSlides/notesSlide183.xml" ContentType="application/vnd.openxmlformats-officedocument.presentationml.notesSlide+xml"/>
  <Override PartName="/ppt/notesSlides/notesSlide184.xml" ContentType="application/vnd.openxmlformats-officedocument.presentationml.notesSlide+xml"/>
  <Override PartName="/ppt/notesSlides/notesSlide185.xml" ContentType="application/vnd.openxmlformats-officedocument.presentationml.notesSlide+xml"/>
  <Override PartName="/ppt/notesSlides/notesSlide186.xml" ContentType="application/vnd.openxmlformats-officedocument.presentationml.notesSlide+xml"/>
  <Override PartName="/ppt/notesSlides/notesSlide187.xml" ContentType="application/vnd.openxmlformats-officedocument.presentationml.notesSlide+xml"/>
  <Override PartName="/ppt/notesSlides/notesSlide188.xml" ContentType="application/vnd.openxmlformats-officedocument.presentationml.notesSlide+xml"/>
  <Override PartName="/ppt/notesSlides/notesSlide189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190.xml" ContentType="application/vnd.openxmlformats-officedocument.presentationml.notesSlide+xml"/>
  <Override PartName="/ppt/notesSlides/notesSlide191.xml" ContentType="application/vnd.openxmlformats-officedocument.presentationml.notesSlide+xml"/>
  <Override PartName="/ppt/notesSlides/notesSlide192.xml" ContentType="application/vnd.openxmlformats-officedocument.presentationml.notesSlide+xml"/>
  <Override PartName="/ppt/notesSlides/notesSlide193.xml" ContentType="application/vnd.openxmlformats-officedocument.presentationml.notesSlide+xml"/>
  <Override PartName="/ppt/notesSlides/notesSlide194.xml" ContentType="application/vnd.openxmlformats-officedocument.presentationml.notesSlide+xml"/>
  <Override PartName="/ppt/notesSlides/notesSlide195.xml" ContentType="application/vnd.openxmlformats-officedocument.presentationml.notesSlide+xml"/>
  <Override PartName="/ppt/notesSlides/notesSlide196.xml" ContentType="application/vnd.openxmlformats-officedocument.presentationml.notesSlide+xml"/>
  <Override PartName="/ppt/notesSlides/notesSlide197.xml" ContentType="application/vnd.openxmlformats-officedocument.presentationml.notesSlide+xml"/>
  <Override PartName="/ppt/notesSlides/notesSlide198.xml" ContentType="application/vnd.openxmlformats-officedocument.presentationml.notesSlide+xml"/>
  <Override PartName="/ppt/notesSlides/notesSlide199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00.xml" ContentType="application/vnd.openxmlformats-officedocument.presentationml.notesSlide+xml"/>
  <Override PartName="/ppt/notesSlides/notesSlide201.xml" ContentType="application/vnd.openxmlformats-officedocument.presentationml.notesSlide+xml"/>
  <Override PartName="/ppt/notesSlides/notesSlide202.xml" ContentType="application/vnd.openxmlformats-officedocument.presentationml.notesSlide+xml"/>
  <Override PartName="/ppt/notesSlides/notesSlide203.xml" ContentType="application/vnd.openxmlformats-officedocument.presentationml.notesSlide+xml"/>
  <Override PartName="/ppt/notesSlides/notesSlide204.xml" ContentType="application/vnd.openxmlformats-officedocument.presentationml.notesSlide+xml"/>
  <Override PartName="/ppt/notesSlides/notesSlide205.xml" ContentType="application/vnd.openxmlformats-officedocument.presentationml.notesSlide+xml"/>
  <Override PartName="/ppt/notesSlides/notesSlide206.xml" ContentType="application/vnd.openxmlformats-officedocument.presentationml.notesSlide+xml"/>
  <Override PartName="/ppt/notesSlides/notesSlide207.xml" ContentType="application/vnd.openxmlformats-officedocument.presentationml.notesSlide+xml"/>
  <Override PartName="/ppt/notesSlides/notesSlide208.xml" ContentType="application/vnd.openxmlformats-officedocument.presentationml.notesSlide+xml"/>
  <Override PartName="/ppt/notesSlides/notesSlide209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10.xml" ContentType="application/vnd.openxmlformats-officedocument.presentationml.notesSlide+xml"/>
  <Override PartName="/ppt/notesSlides/notesSlide211.xml" ContentType="application/vnd.openxmlformats-officedocument.presentationml.notesSlide+xml"/>
  <Override PartName="/ppt/notesSlides/notesSlide212.xml" ContentType="application/vnd.openxmlformats-officedocument.presentationml.notesSlide+xml"/>
  <Override PartName="/ppt/notesSlides/notesSlide213.xml" ContentType="application/vnd.openxmlformats-officedocument.presentationml.notesSlide+xml"/>
  <Override PartName="/ppt/notesSlides/notesSlide214.xml" ContentType="application/vnd.openxmlformats-officedocument.presentationml.notesSlide+xml"/>
  <Override PartName="/ppt/notesSlides/notesSlide215.xml" ContentType="application/vnd.openxmlformats-officedocument.presentationml.notesSlide+xml"/>
  <Override PartName="/ppt/notesSlides/notesSlide216.xml" ContentType="application/vnd.openxmlformats-officedocument.presentationml.notesSlide+xml"/>
  <Override PartName="/ppt/notesSlides/notesSlide217.xml" ContentType="application/vnd.openxmlformats-officedocument.presentationml.notesSlide+xml"/>
  <Override PartName="/ppt/notesSlides/notesSlide218.xml" ContentType="application/vnd.openxmlformats-officedocument.presentationml.notesSlide+xml"/>
  <Override PartName="/ppt/notesSlides/notesSlide219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20.xml" ContentType="application/vnd.openxmlformats-officedocument.presentationml.notesSlide+xml"/>
  <Override PartName="/ppt/notesSlides/notesSlide221.xml" ContentType="application/vnd.openxmlformats-officedocument.presentationml.notesSlide+xml"/>
  <Override PartName="/ppt/notesSlides/notesSlide222.xml" ContentType="application/vnd.openxmlformats-officedocument.presentationml.notesSlide+xml"/>
  <Override PartName="/ppt/notesSlides/notesSlide223.xml" ContentType="application/vnd.openxmlformats-officedocument.presentationml.notesSlide+xml"/>
  <Override PartName="/ppt/notesSlides/notesSlide224.xml" ContentType="application/vnd.openxmlformats-officedocument.presentationml.notesSlide+xml"/>
  <Override PartName="/ppt/notesSlides/notesSlide225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60.xml" ContentType="application/vnd.openxmlformats-officedocument.presentationml.notesSlide+xml"/>
  <Override PartName="/ppt/notesSlides/notesSlide61.xml" ContentType="application/vnd.openxmlformats-officedocument.presentationml.notesSlide+xml"/>
  <Override PartName="/ppt/notesSlides/notesSlide62.xml" ContentType="application/vnd.openxmlformats-officedocument.presentationml.notesSlide+xml"/>
  <Override PartName="/ppt/notesSlides/notesSlide63.xml" ContentType="application/vnd.openxmlformats-officedocument.presentationml.notesSlide+xml"/>
  <Override PartName="/ppt/notesSlides/notesSlide64.xml" ContentType="application/vnd.openxmlformats-officedocument.presentationml.notesSlide+xml"/>
  <Override PartName="/ppt/notesSlides/notesSlide65.xml" ContentType="application/vnd.openxmlformats-officedocument.presentationml.notesSlide+xml"/>
  <Override PartName="/ppt/notesSlides/notesSlide66.xml" ContentType="application/vnd.openxmlformats-officedocument.presentationml.notesSlide+xml"/>
  <Override PartName="/ppt/notesSlides/notesSlide67.xml" ContentType="application/vnd.openxmlformats-officedocument.presentationml.notesSlide+xml"/>
  <Override PartName="/ppt/notesSlides/notesSlide68.xml" ContentType="application/vnd.openxmlformats-officedocument.presentationml.notesSlide+xml"/>
  <Override PartName="/ppt/notesSlides/notesSlide69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70.xml" ContentType="application/vnd.openxmlformats-officedocument.presentationml.notesSlide+xml"/>
  <Override PartName="/ppt/notesSlides/notesSlide71.xml" ContentType="application/vnd.openxmlformats-officedocument.presentationml.notesSlide+xml"/>
  <Override PartName="/ppt/notesSlides/notesSlide72.xml" ContentType="application/vnd.openxmlformats-officedocument.presentationml.notesSlide+xml"/>
  <Override PartName="/ppt/notesSlides/notesSlide73.xml" ContentType="application/vnd.openxmlformats-officedocument.presentationml.notesSlide+xml"/>
  <Override PartName="/ppt/notesSlides/notesSlide74.xml" ContentType="application/vnd.openxmlformats-officedocument.presentationml.notesSlide+xml"/>
  <Override PartName="/ppt/notesSlides/notesSlide75.xml" ContentType="application/vnd.openxmlformats-officedocument.presentationml.notesSlide+xml"/>
  <Override PartName="/ppt/notesSlides/notesSlide76.xml" ContentType="application/vnd.openxmlformats-officedocument.presentationml.notesSlide+xml"/>
  <Override PartName="/ppt/notesSlides/notesSlide77.xml" ContentType="application/vnd.openxmlformats-officedocument.presentationml.notesSlide+xml"/>
  <Override PartName="/ppt/notesSlides/notesSlide78.xml" ContentType="application/vnd.openxmlformats-officedocument.presentationml.notesSlide+xml"/>
  <Override PartName="/ppt/notesSlides/notesSlide79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80.xml" ContentType="application/vnd.openxmlformats-officedocument.presentationml.notesSlide+xml"/>
  <Override PartName="/ppt/notesSlides/notesSlide81.xml" ContentType="application/vnd.openxmlformats-officedocument.presentationml.notesSlide+xml"/>
  <Override PartName="/ppt/notesSlides/notesSlide82.xml" ContentType="application/vnd.openxmlformats-officedocument.presentationml.notesSlide+xml"/>
  <Override PartName="/ppt/notesSlides/notesSlide83.xml" ContentType="application/vnd.openxmlformats-officedocument.presentationml.notesSlide+xml"/>
  <Override PartName="/ppt/notesSlides/notesSlide84.xml" ContentType="application/vnd.openxmlformats-officedocument.presentationml.notesSlide+xml"/>
  <Override PartName="/ppt/notesSlides/notesSlide85.xml" ContentType="application/vnd.openxmlformats-officedocument.presentationml.notesSlide+xml"/>
  <Override PartName="/ppt/notesSlides/notesSlide86.xml" ContentType="application/vnd.openxmlformats-officedocument.presentationml.notesSlide+xml"/>
  <Override PartName="/ppt/notesSlides/notesSlide87.xml" ContentType="application/vnd.openxmlformats-officedocument.presentationml.notesSlide+xml"/>
  <Override PartName="/ppt/notesSlides/notesSlide88.xml" ContentType="application/vnd.openxmlformats-officedocument.presentationml.notesSlide+xml"/>
  <Override PartName="/ppt/notesSlides/notesSlide89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90.xml" ContentType="application/vnd.openxmlformats-officedocument.presentationml.notesSlide+xml"/>
  <Override PartName="/ppt/notesSlides/notesSlide91.xml" ContentType="application/vnd.openxmlformats-officedocument.presentationml.notesSlide+xml"/>
  <Override PartName="/ppt/notesSlides/notesSlide92.xml" ContentType="application/vnd.openxmlformats-officedocument.presentationml.notesSlide+xml"/>
  <Override PartName="/ppt/notesSlides/notesSlide93.xml" ContentType="application/vnd.openxmlformats-officedocument.presentationml.notesSlide+xml"/>
  <Override PartName="/ppt/notesSlides/notesSlide94.xml" ContentType="application/vnd.openxmlformats-officedocument.presentationml.notesSlide+xml"/>
  <Override PartName="/ppt/notesSlides/notesSlide95.xml" ContentType="application/vnd.openxmlformats-officedocument.presentationml.notesSlide+xml"/>
  <Override PartName="/ppt/notesSlides/notesSlide96.xml" ContentType="application/vnd.openxmlformats-officedocument.presentationml.notesSlide+xml"/>
  <Override PartName="/ppt/notesSlides/notesSlide97.xml" ContentType="application/vnd.openxmlformats-officedocument.presentationml.notesSlide+xml"/>
  <Override PartName="/ppt/notesSlides/notesSlide98.xml" ContentType="application/vnd.openxmlformats-officedocument.presentationml.notesSlide+xml"/>
  <Override PartName="/ppt/notesSlides/notesSlide99.xml" ContentType="application/vnd.openxmlformats-officedocument.presentationml.notesSlide+xml"/>
  <Override PartName="/ppt/presProps.xml" ContentType="application/vnd.openxmlformats-officedocument.presentationml.presProps+xml"/>
  <Override PartName="/ppt/presentation.xml" ContentType="application/vnd.openxmlformats-officedocument.presentationml.presentation.main+xml"/>
  <Override PartName="/ppt/slideLayouts/slideLayout1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10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84.xml" ContentType="application/vnd.openxmlformats-officedocument.presentationml.slide+xml"/>
  <Override PartName="/ppt/slides/slide185.xml" ContentType="application/vnd.openxmlformats-officedocument.presentationml.slide+xml"/>
  <Override PartName="/ppt/slides/slide186.xml" ContentType="application/vnd.openxmlformats-officedocument.presentationml.slide+xml"/>
  <Override PartName="/ppt/slides/slide187.xml" ContentType="application/vnd.openxmlformats-officedocument.presentationml.slide+xml"/>
  <Override PartName="/ppt/slides/slide188.xml" ContentType="application/vnd.openxmlformats-officedocument.presentationml.slide+xml"/>
  <Override PartName="/ppt/slides/slide189.xml" ContentType="application/vnd.openxmlformats-officedocument.presentationml.slide+xml"/>
  <Override PartName="/ppt/slides/slide19.xml" ContentType="application/vnd.openxmlformats-officedocument.presentationml.slide+xml"/>
  <Override PartName="/ppt/slides/slide190.xml" ContentType="application/vnd.openxmlformats-officedocument.presentationml.slide+xml"/>
  <Override PartName="/ppt/slides/slide191.xml" ContentType="application/vnd.openxmlformats-officedocument.presentationml.slide+xml"/>
  <Override PartName="/ppt/slides/slide192.xml" ContentType="application/vnd.openxmlformats-officedocument.presentationml.slide+xml"/>
  <Override PartName="/ppt/slides/slide193.xml" ContentType="application/vnd.openxmlformats-officedocument.presentationml.slide+xml"/>
  <Override PartName="/ppt/slides/slide194.xml" ContentType="application/vnd.openxmlformats-officedocument.presentationml.slide+xml"/>
  <Override PartName="/ppt/slides/slide195.xml" ContentType="application/vnd.openxmlformats-officedocument.presentationml.slide+xml"/>
  <Override PartName="/ppt/slides/slide196.xml" ContentType="application/vnd.openxmlformats-officedocument.presentationml.slide+xml"/>
  <Override PartName="/ppt/slides/slide197.xml" ContentType="application/vnd.openxmlformats-officedocument.presentationml.slide+xml"/>
  <Override PartName="/ppt/slides/slide198.xml" ContentType="application/vnd.openxmlformats-officedocument.presentationml.slide+xml"/>
  <Override PartName="/ppt/slides/slide199.xml" ContentType="application/vnd.openxmlformats-officedocument.presentationml.slide+xml"/>
  <Override PartName="/ppt/slides/slide2.xml" ContentType="application/vnd.openxmlformats-officedocument.presentationml.slide+xml"/>
  <Override PartName="/ppt/slides/slide20.xml" ContentType="application/vnd.openxmlformats-officedocument.presentationml.slide+xml"/>
  <Override PartName="/ppt/slides/slide200.xml" ContentType="application/vnd.openxmlformats-officedocument.presentationml.slide+xml"/>
  <Override PartName="/ppt/slides/slide201.xml" ContentType="application/vnd.openxmlformats-officedocument.presentationml.slide+xml"/>
  <Override PartName="/ppt/slides/slide202.xml" ContentType="application/vnd.openxmlformats-officedocument.presentationml.slide+xml"/>
  <Override PartName="/ppt/slides/slide203.xml" ContentType="application/vnd.openxmlformats-officedocument.presentationml.slide+xml"/>
  <Override PartName="/ppt/slides/slide204.xml" ContentType="application/vnd.openxmlformats-officedocument.presentationml.slide+xml"/>
  <Override PartName="/ppt/slides/slide205.xml" ContentType="application/vnd.openxmlformats-officedocument.presentationml.slide+xml"/>
  <Override PartName="/ppt/slides/slide206.xml" ContentType="application/vnd.openxmlformats-officedocument.presentationml.slide+xml"/>
  <Override PartName="/ppt/slides/slide207.xml" ContentType="application/vnd.openxmlformats-officedocument.presentationml.slide+xml"/>
  <Override PartName="/ppt/slides/slide208.xml" ContentType="application/vnd.openxmlformats-officedocument.presentationml.slide+xml"/>
  <Override PartName="/ppt/slides/slide209.xml" ContentType="application/vnd.openxmlformats-officedocument.presentationml.slide+xml"/>
  <Override PartName="/ppt/slides/slide21.xml" ContentType="application/vnd.openxmlformats-officedocument.presentationml.slide+xml"/>
  <Override PartName="/ppt/slides/slide210.xml" ContentType="application/vnd.openxmlformats-officedocument.presentationml.slide+xml"/>
  <Override PartName="/ppt/slides/slide211.xml" ContentType="application/vnd.openxmlformats-officedocument.presentationml.slide+xml"/>
  <Override PartName="/ppt/slides/slide212.xml" ContentType="application/vnd.openxmlformats-officedocument.presentationml.slide+xml"/>
  <Override PartName="/ppt/slides/slide213.xml" ContentType="application/vnd.openxmlformats-officedocument.presentationml.slide+xml"/>
  <Override PartName="/ppt/slides/slide214.xml" ContentType="application/vnd.openxmlformats-officedocument.presentationml.slide+xml"/>
  <Override PartName="/ppt/slides/slide215.xml" ContentType="application/vnd.openxmlformats-officedocument.presentationml.slide+xml"/>
  <Override PartName="/ppt/slides/slide216.xml" ContentType="application/vnd.openxmlformats-officedocument.presentationml.slide+xml"/>
  <Override PartName="/ppt/slides/slide217.xml" ContentType="application/vnd.openxmlformats-officedocument.presentationml.slide+xml"/>
  <Override PartName="/ppt/slides/slide218.xml" ContentType="application/vnd.openxmlformats-officedocument.presentationml.slide+xml"/>
  <Override PartName="/ppt/slides/slide219.xml" ContentType="application/vnd.openxmlformats-officedocument.presentationml.slide+xml"/>
  <Override PartName="/ppt/slides/slide22.xml" ContentType="application/vnd.openxmlformats-officedocument.presentationml.slide+xml"/>
  <Override PartName="/ppt/slides/slide220.xml" ContentType="application/vnd.openxmlformats-officedocument.presentationml.slide+xml"/>
  <Override PartName="/ppt/slides/slide221.xml" ContentType="application/vnd.openxmlformats-officedocument.presentationml.slide+xml"/>
  <Override PartName="/ppt/slides/slide222.xml" ContentType="application/vnd.openxmlformats-officedocument.presentationml.slide+xml"/>
  <Override PartName="/ppt/slides/slide223.xml" ContentType="application/vnd.openxmlformats-officedocument.presentationml.slide+xml"/>
  <Override PartName="/ppt/slides/slide224.xml" ContentType="application/vnd.openxmlformats-officedocument.presentationml.slide+xml"/>
  <Override PartName="/ppt/slides/slide225.xml" ContentType="application/vnd.openxmlformats-officedocument.presentationml.slide+xml"/>
  <Override PartName="/ppt/slides/slide226.xml" ContentType="application/vnd.openxmlformats-officedocument.presentationml.slide+xml"/>
  <Override PartName="/ppt/slides/slide227.xml" ContentType="application/vnd.openxmlformats-officedocument.presentationml.slide+xml"/>
  <Override PartName="/ppt/slides/slide228.xml" ContentType="application/vnd.openxmlformats-officedocument.presentationml.slide+xml"/>
  <Override PartName="/ppt/slides/slide229.xml" ContentType="application/vnd.openxmlformats-officedocument.presentationml.slide+xml"/>
  <Override PartName="/ppt/slides/slide23.xml" ContentType="application/vnd.openxmlformats-officedocument.presentationml.slide+xml"/>
  <Override PartName="/ppt/slides/slide230.xml" ContentType="application/vnd.openxmlformats-officedocument.presentationml.slide+xml"/>
  <Override PartName="/ppt/slides/slide231.xml" ContentType="application/vnd.openxmlformats-officedocument.presentationml.slide+xml"/>
  <Override PartName="/ppt/slides/slide232.xml" ContentType="application/vnd.openxmlformats-officedocument.presentationml.slide+xml"/>
  <Override PartName="/ppt/slides/slide233.xml" ContentType="application/vnd.openxmlformats-officedocument.presentationml.slide+xml"/>
  <Override PartName="/ppt/slides/slide234.xml" ContentType="application/vnd.openxmlformats-officedocument.presentationml.slide+xml"/>
  <Override PartName="/ppt/slides/slide235.xml" ContentType="application/vnd.openxmlformats-officedocument.presentationml.slide+xml"/>
  <Override PartName="/ppt/slides/slide236.xml" ContentType="application/vnd.openxmlformats-officedocument.presentationml.slide+xml"/>
  <Override PartName="/ppt/slides/slide237.xml" ContentType="application/vnd.openxmlformats-officedocument.presentationml.slide+xml"/>
  <Override PartName="/ppt/slides/slide238.xml" ContentType="application/vnd.openxmlformats-officedocument.presentationml.slide+xml"/>
  <Override PartName="/ppt/slides/slide239.xml" ContentType="application/vnd.openxmlformats-officedocument.presentationml.slide+xml"/>
  <Override PartName="/ppt/slides/slide24.xml" ContentType="application/vnd.openxmlformats-officedocument.presentationml.slide+xml"/>
  <Override PartName="/ppt/slides/slide240.xml" ContentType="application/vnd.openxmlformats-officedocument.presentationml.slide+xml"/>
  <Override PartName="/ppt/slides/slide241.xml" ContentType="application/vnd.openxmlformats-officedocument.presentationml.slide+xml"/>
  <Override PartName="/ppt/slides/slide242.xml" ContentType="application/vnd.openxmlformats-officedocument.presentationml.slide+xml"/>
  <Override PartName="/ppt/slides/slide243.xml" ContentType="application/vnd.openxmlformats-officedocument.presentationml.slide+xml"/>
  <Override PartName="/ppt/slides/slide244.xml" ContentType="application/vnd.openxmlformats-officedocument.presentationml.slide+xml"/>
  <Override PartName="/ppt/slides/slide245.xml" ContentType="application/vnd.openxmlformats-officedocument.presentationml.slide+xml"/>
  <Override PartName="/ppt/slides/slide246.xml" ContentType="application/vnd.openxmlformats-officedocument.presentationml.slide+xml"/>
  <Override PartName="/ppt/slides/slide247.xml" ContentType="application/vnd.openxmlformats-officedocument.presentationml.slide+xml"/>
  <Override PartName="/ppt/slides/slide248.xml" ContentType="application/vnd.openxmlformats-officedocument.presentationml.slide+xml"/>
  <Override PartName="/ppt/slides/slide249.xml" ContentType="application/vnd.openxmlformats-officedocument.presentationml.slide+xml"/>
  <Override PartName="/ppt/slides/slide25.xml" ContentType="application/vnd.openxmlformats-officedocument.presentationml.slide+xml"/>
  <Override PartName="/ppt/slides/slide250.xml" ContentType="application/vnd.openxmlformats-officedocument.presentationml.slide+xml"/>
  <Override PartName="/ppt/slides/slide251.xml" ContentType="application/vnd.openxmlformats-officedocument.presentationml.slide+xml"/>
  <Override PartName="/ppt/slides/slide252.xml" ContentType="application/vnd.openxmlformats-officedocument.presentationml.slide+xml"/>
  <Override PartName="/ppt/slides/slide253.xml" ContentType="application/vnd.openxmlformats-officedocument.presentationml.slide+xml"/>
  <Override PartName="/ppt/slides/slide254.xml" ContentType="application/vnd.openxmlformats-officedocument.presentationml.slide+xml"/>
  <Override PartName="/ppt/slides/slide255.xml" ContentType="application/vnd.openxmlformats-officedocument.presentationml.slide+xml"/>
  <Override PartName="/ppt/slides/slide256.xml" ContentType="application/vnd.openxmlformats-officedocument.presentationml.slide+xml"/>
  <Override PartName="/ppt/slides/slide257.xml" ContentType="application/vnd.openxmlformats-officedocument.presentationml.slide+xml"/>
  <Override PartName="/ppt/slides/slide258.xml" ContentType="application/vnd.openxmlformats-officedocument.presentationml.slide+xml"/>
  <Override PartName="/ppt/slides/slide259.xml" ContentType="application/vnd.openxmlformats-officedocument.presentationml.slide+xml"/>
  <Override PartName="/ppt/slides/slide26.xml" ContentType="application/vnd.openxmlformats-officedocument.presentationml.slide+xml"/>
  <Override PartName="/ppt/slides/slide260.xml" ContentType="application/vnd.openxmlformats-officedocument.presentationml.slide+xml"/>
  <Override PartName="/ppt/slides/slide261.xml" ContentType="application/vnd.openxmlformats-officedocument.presentationml.slide+xml"/>
  <Override PartName="/ppt/slides/slide262.xml" ContentType="application/vnd.openxmlformats-officedocument.presentationml.slide+xml"/>
  <Override PartName="/ppt/slides/slide263.xml" ContentType="application/vnd.openxmlformats-officedocument.presentationml.slide+xml"/>
  <Override PartName="/ppt/slides/slide264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tableStyles.xml" ContentType="application/vnd.openxmlformats-officedocument.presentationml.tableStyles+xml"/>
  <Override PartName="/ppt/theme/theme1.xml" ContentType="application/vnd.openxmlformats-officedocument.theme+xml"/>
  <Override PartName="/ppt/theme/theme2.xml" ContentType="application/vnd.openxmlformats-officedocument.theme+xml"/>
  <Override PartName="/ppt/viewProps.xml" ContentType="application/vnd.openxmlformats-officedocument.presentationml.viewProps+xml"/>
</Types>
</file>

<file path=_rels/.rels><?xml version='1.0' encoding='UTF-8' standalone='yes'?>
<Relationships xmlns="http://schemas.openxmlformats.org/package/2006/relationships"><Relationship Id="rId1" Type="http://schemas.openxmlformats.org/officeDocument/2006/relationships/officeDocument" Target="ppt/presentation.xml"/><Relationship Id="rId2" Type="http://schemas.openxmlformats.org/package/2006/relationships/metadata/thumbnail" Target="docProps/thumbnail.jpeg"/><Relationship Id="rId3" Type="http://schemas.openxmlformats.org/package/2006/relationships/metadata/core-properties" Target="docProps/core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48" r:id="rId1"/>
  </p:sldMasterIdLst>
  <p:sldIdLst>
    <p:sldId id="256" r:id="rId7"/>
    <p:sldId id="257" r:id="rId8"/>
    <p:sldId id="258" r:id="rId9"/>
    <p:sldId id="259" r:id="rId10"/>
    <p:sldId id="260" r:id="rId12"/>
    <p:sldId id="261" r:id="rId13"/>
    <p:sldId id="262" r:id="rId14"/>
    <p:sldId id="263" r:id="rId15"/>
    <p:sldId id="264" r:id="rId16"/>
    <p:sldId id="265" r:id="rId17"/>
    <p:sldId id="510" r:id="rId262"/>
    <p:sldId id="502" r:id="rId254"/>
    <p:sldId id="503" r:id="rId255"/>
    <p:sldId id="504" r:id="rId256"/>
    <p:sldId id="505" r:id="rId257"/>
    <p:sldId id="506" r:id="rId258"/>
    <p:sldId id="507" r:id="rId259"/>
    <p:sldId id="508" r:id="rId260"/>
    <p:sldId id="509" r:id="rId261"/>
    <p:sldId id="519" r:id="rId271"/>
    <p:sldId id="511" r:id="rId263"/>
    <p:sldId id="512" r:id="rId264"/>
    <p:sldId id="513" r:id="rId265"/>
    <p:sldId id="514" r:id="rId266"/>
    <p:sldId id="515" r:id="rId267"/>
    <p:sldId id="516" r:id="rId268"/>
    <p:sldId id="517" r:id="rId269"/>
    <p:sldId id="518" r:id="rId270"/>
    <p:sldId id="266" r:id="rId18"/>
    <p:sldId id="267" r:id="rId19"/>
    <p:sldId id="268" r:id="rId20"/>
    <p:sldId id="269" r:id="rId21"/>
    <p:sldId id="270" r:id="rId22"/>
    <p:sldId id="271" r:id="rId23"/>
    <p:sldId id="272" r:id="rId24"/>
    <p:sldId id="273" r:id="rId25"/>
    <p:sldId id="274" r:id="rId26"/>
    <p:sldId id="275" r:id="rId27"/>
    <p:sldId id="276" r:id="rId28"/>
    <p:sldId id="277" r:id="rId29"/>
    <p:sldId id="278" r:id="rId30"/>
    <p:sldId id="279" r:id="rId31"/>
    <p:sldId id="280" r:id="rId32"/>
    <p:sldId id="281" r:id="rId33"/>
    <p:sldId id="282" r:id="rId34"/>
    <p:sldId id="283" r:id="rId35"/>
    <p:sldId id="284" r:id="rId36"/>
    <p:sldId id="285" r:id="rId37"/>
    <p:sldId id="286" r:id="rId38"/>
    <p:sldId id="287" r:id="rId39"/>
    <p:sldId id="288" r:id="rId40"/>
    <p:sldId id="289" r:id="rId41"/>
    <p:sldId id="290" r:id="rId42"/>
    <p:sldId id="291" r:id="rId43"/>
    <p:sldId id="292" r:id="rId44"/>
    <p:sldId id="293" r:id="rId45"/>
    <p:sldId id="294" r:id="rId46"/>
    <p:sldId id="295" r:id="rId47"/>
    <p:sldId id="296" r:id="rId48"/>
    <p:sldId id="297" r:id="rId49"/>
    <p:sldId id="298" r:id="rId50"/>
    <p:sldId id="299" r:id="rId51"/>
    <p:sldId id="300" r:id="rId52"/>
    <p:sldId id="301" r:id="rId53"/>
    <p:sldId id="302" r:id="rId54"/>
    <p:sldId id="303" r:id="rId55"/>
    <p:sldId id="304" r:id="rId56"/>
    <p:sldId id="305" r:id="rId57"/>
    <p:sldId id="306" r:id="rId58"/>
    <p:sldId id="307" r:id="rId59"/>
    <p:sldId id="308" r:id="rId60"/>
    <p:sldId id="309" r:id="rId61"/>
    <p:sldId id="310" r:id="rId62"/>
    <p:sldId id="311" r:id="rId63"/>
    <p:sldId id="312" r:id="rId64"/>
    <p:sldId id="313" r:id="rId65"/>
    <p:sldId id="314" r:id="rId66"/>
    <p:sldId id="315" r:id="rId67"/>
    <p:sldId id="316" r:id="rId68"/>
    <p:sldId id="317" r:id="rId69"/>
    <p:sldId id="318" r:id="rId70"/>
    <p:sldId id="319" r:id="rId71"/>
    <p:sldId id="320" r:id="rId72"/>
    <p:sldId id="321" r:id="rId73"/>
    <p:sldId id="322" r:id="rId74"/>
    <p:sldId id="323" r:id="rId75"/>
    <p:sldId id="324" r:id="rId76"/>
    <p:sldId id="325" r:id="rId77"/>
    <p:sldId id="326" r:id="rId78"/>
    <p:sldId id="327" r:id="rId79"/>
    <p:sldId id="328" r:id="rId80"/>
    <p:sldId id="329" r:id="rId81"/>
    <p:sldId id="330" r:id="rId82"/>
    <p:sldId id="331" r:id="rId83"/>
    <p:sldId id="332" r:id="rId84"/>
    <p:sldId id="333" r:id="rId85"/>
    <p:sldId id="334" r:id="rId86"/>
    <p:sldId id="335" r:id="rId87"/>
    <p:sldId id="336" r:id="rId88"/>
    <p:sldId id="337" r:id="rId89"/>
    <p:sldId id="338" r:id="rId90"/>
    <p:sldId id="339" r:id="rId91"/>
    <p:sldId id="340" r:id="rId92"/>
    <p:sldId id="341" r:id="rId93"/>
    <p:sldId id="342" r:id="rId94"/>
    <p:sldId id="343" r:id="rId95"/>
    <p:sldId id="344" r:id="rId96"/>
    <p:sldId id="345" r:id="rId97"/>
    <p:sldId id="346" r:id="rId98"/>
    <p:sldId id="347" r:id="rId99"/>
    <p:sldId id="348" r:id="rId100"/>
    <p:sldId id="349" r:id="rId101"/>
    <p:sldId id="350" r:id="rId102"/>
    <p:sldId id="351" r:id="rId103"/>
    <p:sldId id="352" r:id="rId104"/>
    <p:sldId id="353" r:id="rId105"/>
    <p:sldId id="354" r:id="rId106"/>
    <p:sldId id="355" r:id="rId107"/>
    <p:sldId id="356" r:id="rId108"/>
    <p:sldId id="357" r:id="rId109"/>
    <p:sldId id="358" r:id="rId110"/>
    <p:sldId id="359" r:id="rId111"/>
    <p:sldId id="360" r:id="rId112"/>
    <p:sldId id="361" r:id="rId113"/>
    <p:sldId id="362" r:id="rId114"/>
    <p:sldId id="363" r:id="rId115"/>
    <p:sldId id="364" r:id="rId116"/>
    <p:sldId id="365" r:id="rId117"/>
    <p:sldId id="366" r:id="rId118"/>
    <p:sldId id="367" r:id="rId119"/>
    <p:sldId id="368" r:id="rId120"/>
    <p:sldId id="369" r:id="rId121"/>
    <p:sldId id="370" r:id="rId122"/>
    <p:sldId id="371" r:id="rId123"/>
    <p:sldId id="372" r:id="rId124"/>
    <p:sldId id="373" r:id="rId125"/>
    <p:sldId id="374" r:id="rId126"/>
    <p:sldId id="375" r:id="rId127"/>
    <p:sldId id="376" r:id="rId128"/>
    <p:sldId id="377" r:id="rId129"/>
    <p:sldId id="378" r:id="rId130"/>
    <p:sldId id="379" r:id="rId131"/>
    <p:sldId id="380" r:id="rId132"/>
    <p:sldId id="381" r:id="rId133"/>
    <p:sldId id="382" r:id="rId134"/>
    <p:sldId id="383" r:id="rId135"/>
    <p:sldId id="384" r:id="rId136"/>
    <p:sldId id="385" r:id="rId137"/>
    <p:sldId id="386" r:id="rId138"/>
    <p:sldId id="387" r:id="rId139"/>
    <p:sldId id="388" r:id="rId140"/>
    <p:sldId id="389" r:id="rId141"/>
    <p:sldId id="390" r:id="rId142"/>
    <p:sldId id="391" r:id="rId143"/>
    <p:sldId id="392" r:id="rId144"/>
    <p:sldId id="393" r:id="rId145"/>
    <p:sldId id="394" r:id="rId146"/>
    <p:sldId id="395" r:id="rId147"/>
    <p:sldId id="396" r:id="rId148"/>
    <p:sldId id="397" r:id="rId149"/>
    <p:sldId id="398" r:id="rId150"/>
    <p:sldId id="399" r:id="rId151"/>
    <p:sldId id="400" r:id="rId152"/>
    <p:sldId id="401" r:id="rId153"/>
    <p:sldId id="402" r:id="rId154"/>
    <p:sldId id="403" r:id="rId155"/>
    <p:sldId id="404" r:id="rId156"/>
    <p:sldId id="405" r:id="rId157"/>
    <p:sldId id="406" r:id="rId158"/>
    <p:sldId id="407" r:id="rId159"/>
    <p:sldId id="408" r:id="rId160"/>
    <p:sldId id="409" r:id="rId161"/>
    <p:sldId id="410" r:id="rId162"/>
    <p:sldId id="411" r:id="rId163"/>
    <p:sldId id="412" r:id="rId164"/>
    <p:sldId id="413" r:id="rId165"/>
    <p:sldId id="414" r:id="rId166"/>
    <p:sldId id="415" r:id="rId167"/>
    <p:sldId id="416" r:id="rId168"/>
    <p:sldId id="417" r:id="rId169"/>
    <p:sldId id="418" r:id="rId170"/>
    <p:sldId id="419" r:id="rId171"/>
    <p:sldId id="420" r:id="rId172"/>
    <p:sldId id="421" r:id="rId173"/>
    <p:sldId id="422" r:id="rId174"/>
    <p:sldId id="423" r:id="rId175"/>
    <p:sldId id="424" r:id="rId176"/>
    <p:sldId id="425" r:id="rId177"/>
    <p:sldId id="426" r:id="rId178"/>
    <p:sldId id="427" r:id="rId179"/>
    <p:sldId id="428" r:id="rId180"/>
    <p:sldId id="429" r:id="rId181"/>
    <p:sldId id="430" r:id="rId182"/>
    <p:sldId id="431" r:id="rId183"/>
    <p:sldId id="432" r:id="rId184"/>
    <p:sldId id="433" r:id="rId185"/>
    <p:sldId id="434" r:id="rId186"/>
    <p:sldId id="435" r:id="rId187"/>
    <p:sldId id="436" r:id="rId188"/>
    <p:sldId id="437" r:id="rId189"/>
    <p:sldId id="438" r:id="rId190"/>
    <p:sldId id="439" r:id="rId191"/>
    <p:sldId id="440" r:id="rId192"/>
    <p:sldId id="441" r:id="rId193"/>
    <p:sldId id="442" r:id="rId194"/>
    <p:sldId id="443" r:id="rId195"/>
    <p:sldId id="444" r:id="rId196"/>
    <p:sldId id="445" r:id="rId197"/>
    <p:sldId id="446" r:id="rId198"/>
    <p:sldId id="447" r:id="rId199"/>
    <p:sldId id="448" r:id="rId200"/>
    <p:sldId id="449" r:id="rId201"/>
    <p:sldId id="450" r:id="rId202"/>
    <p:sldId id="451" r:id="rId203"/>
    <p:sldId id="452" r:id="rId204"/>
    <p:sldId id="453" r:id="rId205"/>
    <p:sldId id="454" r:id="rId206"/>
    <p:sldId id="455" r:id="rId207"/>
    <p:sldId id="456" r:id="rId208"/>
    <p:sldId id="457" r:id="rId209"/>
    <p:sldId id="458" r:id="rId210"/>
    <p:sldId id="459" r:id="rId211"/>
    <p:sldId id="460" r:id="rId212"/>
    <p:sldId id="461" r:id="rId213"/>
    <p:sldId id="462" r:id="rId214"/>
    <p:sldId id="463" r:id="rId215"/>
    <p:sldId id="464" r:id="rId216"/>
    <p:sldId id="465" r:id="rId217"/>
    <p:sldId id="466" r:id="rId218"/>
    <p:sldId id="467" r:id="rId219"/>
    <p:sldId id="468" r:id="rId220"/>
    <p:sldId id="469" r:id="rId221"/>
    <p:sldId id="470" r:id="rId222"/>
    <p:sldId id="471" r:id="rId223"/>
    <p:sldId id="472" r:id="rId224"/>
    <p:sldId id="473" r:id="rId225"/>
    <p:sldId id="474" r:id="rId226"/>
    <p:sldId id="475" r:id="rId227"/>
    <p:sldId id="476" r:id="rId228"/>
    <p:sldId id="477" r:id="rId229"/>
    <p:sldId id="478" r:id="rId230"/>
    <p:sldId id="479" r:id="rId231"/>
    <p:sldId id="480" r:id="rId232"/>
    <p:sldId id="481" r:id="rId233"/>
    <p:sldId id="482" r:id="rId234"/>
    <p:sldId id="483" r:id="rId235"/>
    <p:sldId id="484" r:id="rId236"/>
    <p:sldId id="485" r:id="rId237"/>
    <p:sldId id="486" r:id="rId238"/>
    <p:sldId id="487" r:id="rId239"/>
    <p:sldId id="488" r:id="rId240"/>
    <p:sldId id="489" r:id="rId241"/>
    <p:sldId id="490" r:id="rId242"/>
    <p:sldId id="491" r:id="rId243"/>
    <p:sldId id="492" r:id="rId244"/>
    <p:sldId id="493" r:id="rId245"/>
    <p:sldId id="494" r:id="rId246"/>
    <p:sldId id="495" r:id="rId247"/>
    <p:sldId id="496" r:id="rId248"/>
    <p:sldId id="497" r:id="rId249"/>
    <p:sldId id="498" r:id="rId250"/>
    <p:sldId id="499" r:id="rId251"/>
    <p:sldId id="500" r:id="rId252"/>
    <p:sldId id="501" r:id="rId253"/>
  </p:sldIdLst>
  <p:sldSz cx="12192000" cy="6858000" type="screen4x3"/>
  <p:notesSz cx="6858000" cy="9144000"/>
  <p:defaultTextStyle>
    <a:defPPr>
      <a:defRPr lang="en-US"/>
    </a:defPPr>
    <a:lvl1pPr marL="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94660"/>
  </p:normalViewPr>
  <p:slideViewPr>
    <p:cSldViewPr snapToGrid="0" snapToObjects="1">
      <p:cViewPr varScale="1">
        <p:scale>
          <a:sx n="124" d="100"/>
          <a:sy n="124" d="100"/>
        </p:scale>
        <p:origin x="-1512" y="-112"/>
      </p:cViewPr>
      <p:guideLst>
        <p:guide orient="horz" pos="2160"/>
        <p:guide pos="2880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6200" cy="76200"/>
</p:viewPr>
</file>

<file path=ppt/_rels/presentation.xml.rels><?xml version='1.0' encoding='UTF-8' standalone='yes'?>
<Relationships xmlns="http://schemas.openxmlformats.org/package/2006/relationships"><Relationship Id="rId1" Type="http://schemas.openxmlformats.org/officeDocument/2006/relationships/slideMaster" Target="slideMasters/slideMaster1.xml"/><Relationship Id="rId2" Type="http://schemas.openxmlformats.org/officeDocument/2006/relationships/printerSettings" Target="printerSettings/printerSettings1.bin"/><Relationship Id="rId3" Type="http://schemas.openxmlformats.org/officeDocument/2006/relationships/presProps" Target="presProps.xml"/><Relationship Id="rId4" Type="http://schemas.openxmlformats.org/officeDocument/2006/relationships/viewProps" Target="viewProps.xml"/><Relationship Id="rId5" Type="http://schemas.openxmlformats.org/officeDocument/2006/relationships/theme" Target="theme/theme1.xml"/><Relationship Id="rId6" Type="http://schemas.openxmlformats.org/officeDocument/2006/relationships/tableStyles" Target="tableStyles.xml"/><Relationship Id="rId7" Type="http://schemas.openxmlformats.org/officeDocument/2006/relationships/slide" Target="slides/slide1.xml"/><Relationship Id="rId8" Type="http://schemas.openxmlformats.org/officeDocument/2006/relationships/slide" Target="slides/slide2.xml"/><Relationship Id="rId9" Type="http://schemas.openxmlformats.org/officeDocument/2006/relationships/slide" Target="slides/slide3.xml"/><Relationship Id="rId10" Type="http://schemas.openxmlformats.org/officeDocument/2006/relationships/slide" Target="slides/slide4.xml"/><Relationship Id="rId11" Type="http://schemas.openxmlformats.org/officeDocument/2006/relationships/notesMaster" Target="notesMasters/notesMaster1.xml"/><Relationship Id="rId12" Type="http://schemas.openxmlformats.org/officeDocument/2006/relationships/slide" Target="slides/slide5.xml"/><Relationship Id="rId13" Type="http://schemas.openxmlformats.org/officeDocument/2006/relationships/slide" Target="slides/slide6.xml"/><Relationship Id="rId14" Type="http://schemas.openxmlformats.org/officeDocument/2006/relationships/slide" Target="slides/slide7.xml"/><Relationship Id="rId15" Type="http://schemas.openxmlformats.org/officeDocument/2006/relationships/slide" Target="slides/slide8.xml"/><Relationship Id="rId16" Type="http://schemas.openxmlformats.org/officeDocument/2006/relationships/slide" Target="slides/slide9.xml"/><Relationship Id="rId17" Type="http://schemas.openxmlformats.org/officeDocument/2006/relationships/slide" Target="slides/slide10.xml"/><Relationship Id="rId18" Type="http://schemas.openxmlformats.org/officeDocument/2006/relationships/slide" Target="slides/slide29.xml"/><Relationship Id="rId19" Type="http://schemas.openxmlformats.org/officeDocument/2006/relationships/slide" Target="slides/slide30.xml"/><Relationship Id="rId20" Type="http://schemas.openxmlformats.org/officeDocument/2006/relationships/slide" Target="slides/slide31.xml"/><Relationship Id="rId21" Type="http://schemas.openxmlformats.org/officeDocument/2006/relationships/slide" Target="slides/slide32.xml"/><Relationship Id="rId22" Type="http://schemas.openxmlformats.org/officeDocument/2006/relationships/slide" Target="slides/slide33.xml"/><Relationship Id="rId23" Type="http://schemas.openxmlformats.org/officeDocument/2006/relationships/slide" Target="slides/slide34.xml"/><Relationship Id="rId24" Type="http://schemas.openxmlformats.org/officeDocument/2006/relationships/slide" Target="slides/slide35.xml"/><Relationship Id="rId25" Type="http://schemas.openxmlformats.org/officeDocument/2006/relationships/slide" Target="slides/slide36.xml"/><Relationship Id="rId26" Type="http://schemas.openxmlformats.org/officeDocument/2006/relationships/slide" Target="slides/slide37.xml"/><Relationship Id="rId27" Type="http://schemas.openxmlformats.org/officeDocument/2006/relationships/slide" Target="slides/slide38.xml"/><Relationship Id="rId28" Type="http://schemas.openxmlformats.org/officeDocument/2006/relationships/slide" Target="slides/slide39.xml"/><Relationship Id="rId29" Type="http://schemas.openxmlformats.org/officeDocument/2006/relationships/slide" Target="slides/slide40.xml"/><Relationship Id="rId30" Type="http://schemas.openxmlformats.org/officeDocument/2006/relationships/slide" Target="slides/slide41.xml"/><Relationship Id="rId31" Type="http://schemas.openxmlformats.org/officeDocument/2006/relationships/slide" Target="slides/slide42.xml"/><Relationship Id="rId32" Type="http://schemas.openxmlformats.org/officeDocument/2006/relationships/slide" Target="slides/slide43.xml"/><Relationship Id="rId33" Type="http://schemas.openxmlformats.org/officeDocument/2006/relationships/slide" Target="slides/slide44.xml"/><Relationship Id="rId34" Type="http://schemas.openxmlformats.org/officeDocument/2006/relationships/slide" Target="slides/slide45.xml"/><Relationship Id="rId35" Type="http://schemas.openxmlformats.org/officeDocument/2006/relationships/slide" Target="slides/slide46.xml"/><Relationship Id="rId36" Type="http://schemas.openxmlformats.org/officeDocument/2006/relationships/slide" Target="slides/slide47.xml"/><Relationship Id="rId37" Type="http://schemas.openxmlformats.org/officeDocument/2006/relationships/slide" Target="slides/slide48.xml"/><Relationship Id="rId38" Type="http://schemas.openxmlformats.org/officeDocument/2006/relationships/slide" Target="slides/slide49.xml"/><Relationship Id="rId39" Type="http://schemas.openxmlformats.org/officeDocument/2006/relationships/slide" Target="slides/slide50.xml"/><Relationship Id="rId40" Type="http://schemas.openxmlformats.org/officeDocument/2006/relationships/slide" Target="slides/slide51.xml"/><Relationship Id="rId41" Type="http://schemas.openxmlformats.org/officeDocument/2006/relationships/slide" Target="slides/slide52.xml"/><Relationship Id="rId42" Type="http://schemas.openxmlformats.org/officeDocument/2006/relationships/slide" Target="slides/slide53.xml"/><Relationship Id="rId43" Type="http://schemas.openxmlformats.org/officeDocument/2006/relationships/slide" Target="slides/slide54.xml"/><Relationship Id="rId44" Type="http://schemas.openxmlformats.org/officeDocument/2006/relationships/slide" Target="slides/slide55.xml"/><Relationship Id="rId45" Type="http://schemas.openxmlformats.org/officeDocument/2006/relationships/slide" Target="slides/slide56.xml"/><Relationship Id="rId46" Type="http://schemas.openxmlformats.org/officeDocument/2006/relationships/slide" Target="slides/slide57.xml"/><Relationship Id="rId47" Type="http://schemas.openxmlformats.org/officeDocument/2006/relationships/slide" Target="slides/slide58.xml"/><Relationship Id="rId48" Type="http://schemas.openxmlformats.org/officeDocument/2006/relationships/slide" Target="slides/slide59.xml"/><Relationship Id="rId49" Type="http://schemas.openxmlformats.org/officeDocument/2006/relationships/slide" Target="slides/slide60.xml"/><Relationship Id="rId50" Type="http://schemas.openxmlformats.org/officeDocument/2006/relationships/slide" Target="slides/slide61.xml"/><Relationship Id="rId51" Type="http://schemas.openxmlformats.org/officeDocument/2006/relationships/slide" Target="slides/slide62.xml"/><Relationship Id="rId52" Type="http://schemas.openxmlformats.org/officeDocument/2006/relationships/slide" Target="slides/slide63.xml"/><Relationship Id="rId53" Type="http://schemas.openxmlformats.org/officeDocument/2006/relationships/slide" Target="slides/slide64.xml"/><Relationship Id="rId54" Type="http://schemas.openxmlformats.org/officeDocument/2006/relationships/slide" Target="slides/slide65.xml"/><Relationship Id="rId55" Type="http://schemas.openxmlformats.org/officeDocument/2006/relationships/slide" Target="slides/slide66.xml"/><Relationship Id="rId56" Type="http://schemas.openxmlformats.org/officeDocument/2006/relationships/slide" Target="slides/slide67.xml"/><Relationship Id="rId57" Type="http://schemas.openxmlformats.org/officeDocument/2006/relationships/slide" Target="slides/slide68.xml"/><Relationship Id="rId58" Type="http://schemas.openxmlformats.org/officeDocument/2006/relationships/slide" Target="slides/slide69.xml"/><Relationship Id="rId59" Type="http://schemas.openxmlformats.org/officeDocument/2006/relationships/slide" Target="slides/slide70.xml"/><Relationship Id="rId60" Type="http://schemas.openxmlformats.org/officeDocument/2006/relationships/slide" Target="slides/slide71.xml"/><Relationship Id="rId61" Type="http://schemas.openxmlformats.org/officeDocument/2006/relationships/slide" Target="slides/slide72.xml"/><Relationship Id="rId62" Type="http://schemas.openxmlformats.org/officeDocument/2006/relationships/slide" Target="slides/slide73.xml"/><Relationship Id="rId63" Type="http://schemas.openxmlformats.org/officeDocument/2006/relationships/slide" Target="slides/slide74.xml"/><Relationship Id="rId64" Type="http://schemas.openxmlformats.org/officeDocument/2006/relationships/slide" Target="slides/slide75.xml"/><Relationship Id="rId65" Type="http://schemas.openxmlformats.org/officeDocument/2006/relationships/slide" Target="slides/slide76.xml"/><Relationship Id="rId66" Type="http://schemas.openxmlformats.org/officeDocument/2006/relationships/slide" Target="slides/slide77.xml"/><Relationship Id="rId67" Type="http://schemas.openxmlformats.org/officeDocument/2006/relationships/slide" Target="slides/slide78.xml"/><Relationship Id="rId68" Type="http://schemas.openxmlformats.org/officeDocument/2006/relationships/slide" Target="slides/slide79.xml"/><Relationship Id="rId69" Type="http://schemas.openxmlformats.org/officeDocument/2006/relationships/slide" Target="slides/slide80.xml"/><Relationship Id="rId70" Type="http://schemas.openxmlformats.org/officeDocument/2006/relationships/slide" Target="slides/slide81.xml"/><Relationship Id="rId71" Type="http://schemas.openxmlformats.org/officeDocument/2006/relationships/slide" Target="slides/slide82.xml"/><Relationship Id="rId72" Type="http://schemas.openxmlformats.org/officeDocument/2006/relationships/slide" Target="slides/slide83.xml"/><Relationship Id="rId73" Type="http://schemas.openxmlformats.org/officeDocument/2006/relationships/slide" Target="slides/slide84.xml"/><Relationship Id="rId74" Type="http://schemas.openxmlformats.org/officeDocument/2006/relationships/slide" Target="slides/slide85.xml"/><Relationship Id="rId75" Type="http://schemas.openxmlformats.org/officeDocument/2006/relationships/slide" Target="slides/slide86.xml"/><Relationship Id="rId76" Type="http://schemas.openxmlformats.org/officeDocument/2006/relationships/slide" Target="slides/slide87.xml"/><Relationship Id="rId77" Type="http://schemas.openxmlformats.org/officeDocument/2006/relationships/slide" Target="slides/slide88.xml"/><Relationship Id="rId78" Type="http://schemas.openxmlformats.org/officeDocument/2006/relationships/slide" Target="slides/slide89.xml"/><Relationship Id="rId79" Type="http://schemas.openxmlformats.org/officeDocument/2006/relationships/slide" Target="slides/slide90.xml"/><Relationship Id="rId80" Type="http://schemas.openxmlformats.org/officeDocument/2006/relationships/slide" Target="slides/slide91.xml"/><Relationship Id="rId81" Type="http://schemas.openxmlformats.org/officeDocument/2006/relationships/slide" Target="slides/slide92.xml"/><Relationship Id="rId82" Type="http://schemas.openxmlformats.org/officeDocument/2006/relationships/slide" Target="slides/slide93.xml"/><Relationship Id="rId83" Type="http://schemas.openxmlformats.org/officeDocument/2006/relationships/slide" Target="slides/slide94.xml"/><Relationship Id="rId84" Type="http://schemas.openxmlformats.org/officeDocument/2006/relationships/slide" Target="slides/slide95.xml"/><Relationship Id="rId85" Type="http://schemas.openxmlformats.org/officeDocument/2006/relationships/slide" Target="slides/slide96.xml"/><Relationship Id="rId86" Type="http://schemas.openxmlformats.org/officeDocument/2006/relationships/slide" Target="slides/slide97.xml"/><Relationship Id="rId87" Type="http://schemas.openxmlformats.org/officeDocument/2006/relationships/slide" Target="slides/slide98.xml"/><Relationship Id="rId88" Type="http://schemas.openxmlformats.org/officeDocument/2006/relationships/slide" Target="slides/slide99.xml"/><Relationship Id="rId89" Type="http://schemas.openxmlformats.org/officeDocument/2006/relationships/slide" Target="slides/slide100.xml"/><Relationship Id="rId90" Type="http://schemas.openxmlformats.org/officeDocument/2006/relationships/slide" Target="slides/slide101.xml"/><Relationship Id="rId91" Type="http://schemas.openxmlformats.org/officeDocument/2006/relationships/slide" Target="slides/slide102.xml"/><Relationship Id="rId92" Type="http://schemas.openxmlformats.org/officeDocument/2006/relationships/slide" Target="slides/slide103.xml"/><Relationship Id="rId93" Type="http://schemas.openxmlformats.org/officeDocument/2006/relationships/slide" Target="slides/slide104.xml"/><Relationship Id="rId94" Type="http://schemas.openxmlformats.org/officeDocument/2006/relationships/slide" Target="slides/slide105.xml"/><Relationship Id="rId95" Type="http://schemas.openxmlformats.org/officeDocument/2006/relationships/slide" Target="slides/slide106.xml"/><Relationship Id="rId96" Type="http://schemas.openxmlformats.org/officeDocument/2006/relationships/slide" Target="slides/slide107.xml"/><Relationship Id="rId97" Type="http://schemas.openxmlformats.org/officeDocument/2006/relationships/slide" Target="slides/slide108.xml"/><Relationship Id="rId98" Type="http://schemas.openxmlformats.org/officeDocument/2006/relationships/slide" Target="slides/slide109.xml"/><Relationship Id="rId99" Type="http://schemas.openxmlformats.org/officeDocument/2006/relationships/slide" Target="slides/slide110.xml"/><Relationship Id="rId100" Type="http://schemas.openxmlformats.org/officeDocument/2006/relationships/slide" Target="slides/slide111.xml"/><Relationship Id="rId101" Type="http://schemas.openxmlformats.org/officeDocument/2006/relationships/slide" Target="slides/slide112.xml"/><Relationship Id="rId102" Type="http://schemas.openxmlformats.org/officeDocument/2006/relationships/slide" Target="slides/slide113.xml"/><Relationship Id="rId103" Type="http://schemas.openxmlformats.org/officeDocument/2006/relationships/slide" Target="slides/slide114.xml"/><Relationship Id="rId104" Type="http://schemas.openxmlformats.org/officeDocument/2006/relationships/slide" Target="slides/slide115.xml"/><Relationship Id="rId105" Type="http://schemas.openxmlformats.org/officeDocument/2006/relationships/slide" Target="slides/slide116.xml"/><Relationship Id="rId106" Type="http://schemas.openxmlformats.org/officeDocument/2006/relationships/slide" Target="slides/slide117.xml"/><Relationship Id="rId107" Type="http://schemas.openxmlformats.org/officeDocument/2006/relationships/slide" Target="slides/slide118.xml"/><Relationship Id="rId108" Type="http://schemas.openxmlformats.org/officeDocument/2006/relationships/slide" Target="slides/slide119.xml"/><Relationship Id="rId109" Type="http://schemas.openxmlformats.org/officeDocument/2006/relationships/slide" Target="slides/slide120.xml"/><Relationship Id="rId110" Type="http://schemas.openxmlformats.org/officeDocument/2006/relationships/slide" Target="slides/slide121.xml"/><Relationship Id="rId111" Type="http://schemas.openxmlformats.org/officeDocument/2006/relationships/slide" Target="slides/slide122.xml"/><Relationship Id="rId112" Type="http://schemas.openxmlformats.org/officeDocument/2006/relationships/slide" Target="slides/slide123.xml"/><Relationship Id="rId113" Type="http://schemas.openxmlformats.org/officeDocument/2006/relationships/slide" Target="slides/slide124.xml"/><Relationship Id="rId114" Type="http://schemas.openxmlformats.org/officeDocument/2006/relationships/slide" Target="slides/slide125.xml"/><Relationship Id="rId115" Type="http://schemas.openxmlformats.org/officeDocument/2006/relationships/slide" Target="slides/slide126.xml"/><Relationship Id="rId116" Type="http://schemas.openxmlformats.org/officeDocument/2006/relationships/slide" Target="slides/slide127.xml"/><Relationship Id="rId117" Type="http://schemas.openxmlformats.org/officeDocument/2006/relationships/slide" Target="slides/slide128.xml"/><Relationship Id="rId118" Type="http://schemas.openxmlformats.org/officeDocument/2006/relationships/slide" Target="slides/slide129.xml"/><Relationship Id="rId119" Type="http://schemas.openxmlformats.org/officeDocument/2006/relationships/slide" Target="slides/slide130.xml"/><Relationship Id="rId120" Type="http://schemas.openxmlformats.org/officeDocument/2006/relationships/slide" Target="slides/slide131.xml"/><Relationship Id="rId121" Type="http://schemas.openxmlformats.org/officeDocument/2006/relationships/slide" Target="slides/slide132.xml"/><Relationship Id="rId122" Type="http://schemas.openxmlformats.org/officeDocument/2006/relationships/slide" Target="slides/slide133.xml"/><Relationship Id="rId123" Type="http://schemas.openxmlformats.org/officeDocument/2006/relationships/slide" Target="slides/slide134.xml"/><Relationship Id="rId124" Type="http://schemas.openxmlformats.org/officeDocument/2006/relationships/slide" Target="slides/slide135.xml"/><Relationship Id="rId125" Type="http://schemas.openxmlformats.org/officeDocument/2006/relationships/slide" Target="slides/slide136.xml"/><Relationship Id="rId126" Type="http://schemas.openxmlformats.org/officeDocument/2006/relationships/slide" Target="slides/slide137.xml"/><Relationship Id="rId127" Type="http://schemas.openxmlformats.org/officeDocument/2006/relationships/slide" Target="slides/slide138.xml"/><Relationship Id="rId128" Type="http://schemas.openxmlformats.org/officeDocument/2006/relationships/slide" Target="slides/slide139.xml"/><Relationship Id="rId129" Type="http://schemas.openxmlformats.org/officeDocument/2006/relationships/slide" Target="slides/slide140.xml"/><Relationship Id="rId130" Type="http://schemas.openxmlformats.org/officeDocument/2006/relationships/slide" Target="slides/slide141.xml"/><Relationship Id="rId131" Type="http://schemas.openxmlformats.org/officeDocument/2006/relationships/slide" Target="slides/slide142.xml"/><Relationship Id="rId132" Type="http://schemas.openxmlformats.org/officeDocument/2006/relationships/slide" Target="slides/slide143.xml"/><Relationship Id="rId133" Type="http://schemas.openxmlformats.org/officeDocument/2006/relationships/slide" Target="slides/slide144.xml"/><Relationship Id="rId134" Type="http://schemas.openxmlformats.org/officeDocument/2006/relationships/slide" Target="slides/slide145.xml"/><Relationship Id="rId135" Type="http://schemas.openxmlformats.org/officeDocument/2006/relationships/slide" Target="slides/slide146.xml"/><Relationship Id="rId136" Type="http://schemas.openxmlformats.org/officeDocument/2006/relationships/slide" Target="slides/slide147.xml"/><Relationship Id="rId137" Type="http://schemas.openxmlformats.org/officeDocument/2006/relationships/slide" Target="slides/slide148.xml"/><Relationship Id="rId138" Type="http://schemas.openxmlformats.org/officeDocument/2006/relationships/slide" Target="slides/slide149.xml"/><Relationship Id="rId139" Type="http://schemas.openxmlformats.org/officeDocument/2006/relationships/slide" Target="slides/slide150.xml"/><Relationship Id="rId140" Type="http://schemas.openxmlformats.org/officeDocument/2006/relationships/slide" Target="slides/slide151.xml"/><Relationship Id="rId141" Type="http://schemas.openxmlformats.org/officeDocument/2006/relationships/slide" Target="slides/slide152.xml"/><Relationship Id="rId142" Type="http://schemas.openxmlformats.org/officeDocument/2006/relationships/slide" Target="slides/slide153.xml"/><Relationship Id="rId143" Type="http://schemas.openxmlformats.org/officeDocument/2006/relationships/slide" Target="slides/slide154.xml"/><Relationship Id="rId144" Type="http://schemas.openxmlformats.org/officeDocument/2006/relationships/slide" Target="slides/slide155.xml"/><Relationship Id="rId145" Type="http://schemas.openxmlformats.org/officeDocument/2006/relationships/slide" Target="slides/slide156.xml"/><Relationship Id="rId146" Type="http://schemas.openxmlformats.org/officeDocument/2006/relationships/slide" Target="slides/slide157.xml"/><Relationship Id="rId147" Type="http://schemas.openxmlformats.org/officeDocument/2006/relationships/slide" Target="slides/slide158.xml"/><Relationship Id="rId148" Type="http://schemas.openxmlformats.org/officeDocument/2006/relationships/slide" Target="slides/slide159.xml"/><Relationship Id="rId149" Type="http://schemas.openxmlformats.org/officeDocument/2006/relationships/slide" Target="slides/slide160.xml"/><Relationship Id="rId150" Type="http://schemas.openxmlformats.org/officeDocument/2006/relationships/slide" Target="slides/slide161.xml"/><Relationship Id="rId151" Type="http://schemas.openxmlformats.org/officeDocument/2006/relationships/slide" Target="slides/slide162.xml"/><Relationship Id="rId152" Type="http://schemas.openxmlformats.org/officeDocument/2006/relationships/slide" Target="slides/slide163.xml"/><Relationship Id="rId153" Type="http://schemas.openxmlformats.org/officeDocument/2006/relationships/slide" Target="slides/slide164.xml"/><Relationship Id="rId154" Type="http://schemas.openxmlformats.org/officeDocument/2006/relationships/slide" Target="slides/slide165.xml"/><Relationship Id="rId155" Type="http://schemas.openxmlformats.org/officeDocument/2006/relationships/slide" Target="slides/slide166.xml"/><Relationship Id="rId156" Type="http://schemas.openxmlformats.org/officeDocument/2006/relationships/slide" Target="slides/slide167.xml"/><Relationship Id="rId157" Type="http://schemas.openxmlformats.org/officeDocument/2006/relationships/slide" Target="slides/slide168.xml"/><Relationship Id="rId158" Type="http://schemas.openxmlformats.org/officeDocument/2006/relationships/slide" Target="slides/slide169.xml"/><Relationship Id="rId159" Type="http://schemas.openxmlformats.org/officeDocument/2006/relationships/slide" Target="slides/slide170.xml"/><Relationship Id="rId160" Type="http://schemas.openxmlformats.org/officeDocument/2006/relationships/slide" Target="slides/slide171.xml"/><Relationship Id="rId161" Type="http://schemas.openxmlformats.org/officeDocument/2006/relationships/slide" Target="slides/slide172.xml"/><Relationship Id="rId162" Type="http://schemas.openxmlformats.org/officeDocument/2006/relationships/slide" Target="slides/slide173.xml"/><Relationship Id="rId163" Type="http://schemas.openxmlformats.org/officeDocument/2006/relationships/slide" Target="slides/slide174.xml"/><Relationship Id="rId164" Type="http://schemas.openxmlformats.org/officeDocument/2006/relationships/slide" Target="slides/slide175.xml"/><Relationship Id="rId165" Type="http://schemas.openxmlformats.org/officeDocument/2006/relationships/slide" Target="slides/slide176.xml"/><Relationship Id="rId166" Type="http://schemas.openxmlformats.org/officeDocument/2006/relationships/slide" Target="slides/slide177.xml"/><Relationship Id="rId167" Type="http://schemas.openxmlformats.org/officeDocument/2006/relationships/slide" Target="slides/slide178.xml"/><Relationship Id="rId168" Type="http://schemas.openxmlformats.org/officeDocument/2006/relationships/slide" Target="slides/slide179.xml"/><Relationship Id="rId169" Type="http://schemas.openxmlformats.org/officeDocument/2006/relationships/slide" Target="slides/slide180.xml"/><Relationship Id="rId170" Type="http://schemas.openxmlformats.org/officeDocument/2006/relationships/slide" Target="slides/slide181.xml"/><Relationship Id="rId171" Type="http://schemas.openxmlformats.org/officeDocument/2006/relationships/slide" Target="slides/slide182.xml"/><Relationship Id="rId172" Type="http://schemas.openxmlformats.org/officeDocument/2006/relationships/slide" Target="slides/slide183.xml"/><Relationship Id="rId173" Type="http://schemas.openxmlformats.org/officeDocument/2006/relationships/slide" Target="slides/slide184.xml"/><Relationship Id="rId174" Type="http://schemas.openxmlformats.org/officeDocument/2006/relationships/slide" Target="slides/slide185.xml"/><Relationship Id="rId175" Type="http://schemas.openxmlformats.org/officeDocument/2006/relationships/slide" Target="slides/slide186.xml"/><Relationship Id="rId176" Type="http://schemas.openxmlformats.org/officeDocument/2006/relationships/slide" Target="slides/slide187.xml"/><Relationship Id="rId177" Type="http://schemas.openxmlformats.org/officeDocument/2006/relationships/slide" Target="slides/slide188.xml"/><Relationship Id="rId178" Type="http://schemas.openxmlformats.org/officeDocument/2006/relationships/slide" Target="slides/slide189.xml"/><Relationship Id="rId179" Type="http://schemas.openxmlformats.org/officeDocument/2006/relationships/slide" Target="slides/slide190.xml"/><Relationship Id="rId180" Type="http://schemas.openxmlformats.org/officeDocument/2006/relationships/slide" Target="slides/slide191.xml"/><Relationship Id="rId181" Type="http://schemas.openxmlformats.org/officeDocument/2006/relationships/slide" Target="slides/slide192.xml"/><Relationship Id="rId182" Type="http://schemas.openxmlformats.org/officeDocument/2006/relationships/slide" Target="slides/slide193.xml"/><Relationship Id="rId183" Type="http://schemas.openxmlformats.org/officeDocument/2006/relationships/slide" Target="slides/slide194.xml"/><Relationship Id="rId184" Type="http://schemas.openxmlformats.org/officeDocument/2006/relationships/slide" Target="slides/slide195.xml"/><Relationship Id="rId185" Type="http://schemas.openxmlformats.org/officeDocument/2006/relationships/slide" Target="slides/slide196.xml"/><Relationship Id="rId186" Type="http://schemas.openxmlformats.org/officeDocument/2006/relationships/slide" Target="slides/slide197.xml"/><Relationship Id="rId187" Type="http://schemas.openxmlformats.org/officeDocument/2006/relationships/slide" Target="slides/slide198.xml"/><Relationship Id="rId188" Type="http://schemas.openxmlformats.org/officeDocument/2006/relationships/slide" Target="slides/slide199.xml"/><Relationship Id="rId189" Type="http://schemas.openxmlformats.org/officeDocument/2006/relationships/slide" Target="slides/slide200.xml"/><Relationship Id="rId190" Type="http://schemas.openxmlformats.org/officeDocument/2006/relationships/slide" Target="slides/slide201.xml"/><Relationship Id="rId191" Type="http://schemas.openxmlformats.org/officeDocument/2006/relationships/slide" Target="slides/slide202.xml"/><Relationship Id="rId192" Type="http://schemas.openxmlformats.org/officeDocument/2006/relationships/slide" Target="slides/slide203.xml"/><Relationship Id="rId193" Type="http://schemas.openxmlformats.org/officeDocument/2006/relationships/slide" Target="slides/slide204.xml"/><Relationship Id="rId194" Type="http://schemas.openxmlformats.org/officeDocument/2006/relationships/slide" Target="slides/slide205.xml"/><Relationship Id="rId195" Type="http://schemas.openxmlformats.org/officeDocument/2006/relationships/slide" Target="slides/slide206.xml"/><Relationship Id="rId196" Type="http://schemas.openxmlformats.org/officeDocument/2006/relationships/slide" Target="slides/slide207.xml"/><Relationship Id="rId197" Type="http://schemas.openxmlformats.org/officeDocument/2006/relationships/slide" Target="slides/slide208.xml"/><Relationship Id="rId198" Type="http://schemas.openxmlformats.org/officeDocument/2006/relationships/slide" Target="slides/slide209.xml"/><Relationship Id="rId199" Type="http://schemas.openxmlformats.org/officeDocument/2006/relationships/slide" Target="slides/slide210.xml"/><Relationship Id="rId200" Type="http://schemas.openxmlformats.org/officeDocument/2006/relationships/slide" Target="slides/slide211.xml"/><Relationship Id="rId201" Type="http://schemas.openxmlformats.org/officeDocument/2006/relationships/slide" Target="slides/slide212.xml"/><Relationship Id="rId202" Type="http://schemas.openxmlformats.org/officeDocument/2006/relationships/slide" Target="slides/slide213.xml"/><Relationship Id="rId203" Type="http://schemas.openxmlformats.org/officeDocument/2006/relationships/slide" Target="slides/slide214.xml"/><Relationship Id="rId204" Type="http://schemas.openxmlformats.org/officeDocument/2006/relationships/slide" Target="slides/slide215.xml"/><Relationship Id="rId205" Type="http://schemas.openxmlformats.org/officeDocument/2006/relationships/slide" Target="slides/slide216.xml"/><Relationship Id="rId206" Type="http://schemas.openxmlformats.org/officeDocument/2006/relationships/slide" Target="slides/slide217.xml"/><Relationship Id="rId207" Type="http://schemas.openxmlformats.org/officeDocument/2006/relationships/slide" Target="slides/slide218.xml"/><Relationship Id="rId208" Type="http://schemas.openxmlformats.org/officeDocument/2006/relationships/slide" Target="slides/slide219.xml"/><Relationship Id="rId209" Type="http://schemas.openxmlformats.org/officeDocument/2006/relationships/slide" Target="slides/slide220.xml"/><Relationship Id="rId210" Type="http://schemas.openxmlformats.org/officeDocument/2006/relationships/slide" Target="slides/slide221.xml"/><Relationship Id="rId211" Type="http://schemas.openxmlformats.org/officeDocument/2006/relationships/slide" Target="slides/slide222.xml"/><Relationship Id="rId212" Type="http://schemas.openxmlformats.org/officeDocument/2006/relationships/slide" Target="slides/slide223.xml"/><Relationship Id="rId213" Type="http://schemas.openxmlformats.org/officeDocument/2006/relationships/slide" Target="slides/slide224.xml"/><Relationship Id="rId214" Type="http://schemas.openxmlformats.org/officeDocument/2006/relationships/slide" Target="slides/slide225.xml"/><Relationship Id="rId215" Type="http://schemas.openxmlformats.org/officeDocument/2006/relationships/slide" Target="slides/slide226.xml"/><Relationship Id="rId216" Type="http://schemas.openxmlformats.org/officeDocument/2006/relationships/slide" Target="slides/slide227.xml"/><Relationship Id="rId217" Type="http://schemas.openxmlformats.org/officeDocument/2006/relationships/slide" Target="slides/slide228.xml"/><Relationship Id="rId218" Type="http://schemas.openxmlformats.org/officeDocument/2006/relationships/slide" Target="slides/slide229.xml"/><Relationship Id="rId219" Type="http://schemas.openxmlformats.org/officeDocument/2006/relationships/slide" Target="slides/slide230.xml"/><Relationship Id="rId220" Type="http://schemas.openxmlformats.org/officeDocument/2006/relationships/slide" Target="slides/slide231.xml"/><Relationship Id="rId221" Type="http://schemas.openxmlformats.org/officeDocument/2006/relationships/slide" Target="slides/slide232.xml"/><Relationship Id="rId222" Type="http://schemas.openxmlformats.org/officeDocument/2006/relationships/slide" Target="slides/slide233.xml"/><Relationship Id="rId223" Type="http://schemas.openxmlformats.org/officeDocument/2006/relationships/slide" Target="slides/slide234.xml"/><Relationship Id="rId224" Type="http://schemas.openxmlformats.org/officeDocument/2006/relationships/slide" Target="slides/slide235.xml"/><Relationship Id="rId225" Type="http://schemas.openxmlformats.org/officeDocument/2006/relationships/slide" Target="slides/slide236.xml"/><Relationship Id="rId226" Type="http://schemas.openxmlformats.org/officeDocument/2006/relationships/slide" Target="slides/slide237.xml"/><Relationship Id="rId227" Type="http://schemas.openxmlformats.org/officeDocument/2006/relationships/slide" Target="slides/slide238.xml"/><Relationship Id="rId228" Type="http://schemas.openxmlformats.org/officeDocument/2006/relationships/slide" Target="slides/slide239.xml"/><Relationship Id="rId229" Type="http://schemas.openxmlformats.org/officeDocument/2006/relationships/slide" Target="slides/slide240.xml"/><Relationship Id="rId230" Type="http://schemas.openxmlformats.org/officeDocument/2006/relationships/slide" Target="slides/slide241.xml"/><Relationship Id="rId231" Type="http://schemas.openxmlformats.org/officeDocument/2006/relationships/slide" Target="slides/slide242.xml"/><Relationship Id="rId232" Type="http://schemas.openxmlformats.org/officeDocument/2006/relationships/slide" Target="slides/slide243.xml"/><Relationship Id="rId233" Type="http://schemas.openxmlformats.org/officeDocument/2006/relationships/slide" Target="slides/slide244.xml"/><Relationship Id="rId234" Type="http://schemas.openxmlformats.org/officeDocument/2006/relationships/slide" Target="slides/slide245.xml"/><Relationship Id="rId235" Type="http://schemas.openxmlformats.org/officeDocument/2006/relationships/slide" Target="slides/slide246.xml"/><Relationship Id="rId236" Type="http://schemas.openxmlformats.org/officeDocument/2006/relationships/slide" Target="slides/slide247.xml"/><Relationship Id="rId237" Type="http://schemas.openxmlformats.org/officeDocument/2006/relationships/slide" Target="slides/slide248.xml"/><Relationship Id="rId238" Type="http://schemas.openxmlformats.org/officeDocument/2006/relationships/slide" Target="slides/slide249.xml"/><Relationship Id="rId239" Type="http://schemas.openxmlformats.org/officeDocument/2006/relationships/slide" Target="slides/slide250.xml"/><Relationship Id="rId240" Type="http://schemas.openxmlformats.org/officeDocument/2006/relationships/slide" Target="slides/slide251.xml"/><Relationship Id="rId241" Type="http://schemas.openxmlformats.org/officeDocument/2006/relationships/slide" Target="slides/slide252.xml"/><Relationship Id="rId242" Type="http://schemas.openxmlformats.org/officeDocument/2006/relationships/slide" Target="slides/slide253.xml"/><Relationship Id="rId243" Type="http://schemas.openxmlformats.org/officeDocument/2006/relationships/slide" Target="slides/slide254.xml"/><Relationship Id="rId244" Type="http://schemas.openxmlformats.org/officeDocument/2006/relationships/slide" Target="slides/slide255.xml"/><Relationship Id="rId245" Type="http://schemas.openxmlformats.org/officeDocument/2006/relationships/slide" Target="slides/slide256.xml"/><Relationship Id="rId246" Type="http://schemas.openxmlformats.org/officeDocument/2006/relationships/slide" Target="slides/slide257.xml"/><Relationship Id="rId247" Type="http://schemas.openxmlformats.org/officeDocument/2006/relationships/slide" Target="slides/slide258.xml"/><Relationship Id="rId248" Type="http://schemas.openxmlformats.org/officeDocument/2006/relationships/slide" Target="slides/slide259.xml"/><Relationship Id="rId249" Type="http://schemas.openxmlformats.org/officeDocument/2006/relationships/slide" Target="slides/slide260.xml"/><Relationship Id="rId250" Type="http://schemas.openxmlformats.org/officeDocument/2006/relationships/slide" Target="slides/slide261.xml"/><Relationship Id="rId251" Type="http://schemas.openxmlformats.org/officeDocument/2006/relationships/slide" Target="slides/slide262.xml"/><Relationship Id="rId252" Type="http://schemas.openxmlformats.org/officeDocument/2006/relationships/slide" Target="slides/slide263.xml"/><Relationship Id="rId253" Type="http://schemas.openxmlformats.org/officeDocument/2006/relationships/slide" Target="slides/slide264.xml"/><Relationship Id="rId254" Type="http://schemas.openxmlformats.org/officeDocument/2006/relationships/slide" Target="slides/slide12.xml"/><Relationship Id="rId255" Type="http://schemas.openxmlformats.org/officeDocument/2006/relationships/slide" Target="slides/slide13.xml"/><Relationship Id="rId256" Type="http://schemas.openxmlformats.org/officeDocument/2006/relationships/slide" Target="slides/slide14.xml"/><Relationship Id="rId257" Type="http://schemas.openxmlformats.org/officeDocument/2006/relationships/slide" Target="slides/slide15.xml"/><Relationship Id="rId258" Type="http://schemas.openxmlformats.org/officeDocument/2006/relationships/slide" Target="slides/slide16.xml"/><Relationship Id="rId259" Type="http://schemas.openxmlformats.org/officeDocument/2006/relationships/slide" Target="slides/slide17.xml"/><Relationship Id="rId260" Type="http://schemas.openxmlformats.org/officeDocument/2006/relationships/slide" Target="slides/slide18.xml"/><Relationship Id="rId261" Type="http://schemas.openxmlformats.org/officeDocument/2006/relationships/slide" Target="slides/slide19.xml"/><Relationship Id="rId262" Type="http://schemas.openxmlformats.org/officeDocument/2006/relationships/slide" Target="slides/slide11.xml"/><Relationship Id="rId263" Type="http://schemas.openxmlformats.org/officeDocument/2006/relationships/slide" Target="slides/slide21.xml"/><Relationship Id="rId264" Type="http://schemas.openxmlformats.org/officeDocument/2006/relationships/slide" Target="slides/slide22.xml"/><Relationship Id="rId265" Type="http://schemas.openxmlformats.org/officeDocument/2006/relationships/slide" Target="slides/slide23.xml"/><Relationship Id="rId266" Type="http://schemas.openxmlformats.org/officeDocument/2006/relationships/slide" Target="slides/slide24.xml"/><Relationship Id="rId267" Type="http://schemas.openxmlformats.org/officeDocument/2006/relationships/slide" Target="slides/slide25.xml"/><Relationship Id="rId268" Type="http://schemas.openxmlformats.org/officeDocument/2006/relationships/slide" Target="slides/slide26.xml"/><Relationship Id="rId269" Type="http://schemas.openxmlformats.org/officeDocument/2006/relationships/slide" Target="slides/slide27.xml"/><Relationship Id="rId270" Type="http://schemas.openxmlformats.org/officeDocument/2006/relationships/slide" Target="slides/slide28.xml"/><Relationship Id="rId271" Type="http://schemas.openxmlformats.org/officeDocument/2006/relationships/slide" Target="slides/slide20.xml"/></Relationships>
</file>

<file path=ppt/charts/_rels/chart1.xml.rels><?xml version='1.0' encoding='UTF-8' standalone='yes'?>
<Relationships xmlns="http://schemas.openxmlformats.org/package/2006/relationships"><Relationship Id="rId2" Type="http://schemas.openxmlformats.org/officeDocument/2006/relationships/image" Target="../media/image4.png"/></Relationships>
</file>

<file path=ppt/charts/_rels/chart3.xml.rels><?xml version='1.0' encoding='UTF-8' standalone='yes'?>
<Relationships xmlns="http://schemas.openxmlformats.org/package/2006/relationships"><Relationship Id="rId2" Type="http://schemas.openxmlformats.org/officeDocument/2006/relationships/image" Target="../media/image5.png"/></Relationships>
</file>

<file path=ppt/charts/_rels/chart5.xml.rels><?xml version='1.0' encoding='UTF-8' standalone='yes'?>
<Relationships xmlns="http://schemas.openxmlformats.org/package/2006/relationships"><Relationship Id="rId2" Type="http://schemas.openxmlformats.org/officeDocument/2006/relationships/image" Target="../media/image6.png"/><Relationship Id="rId3" Type="http://schemas.openxmlformats.org/officeDocument/2006/relationships/image" Target="../media/image7.png"/><Relationship Id="rId4" Type="http://schemas.openxmlformats.org/officeDocument/2006/relationships/image" Target="../media/image8.png"/><Relationship Id="rId5" Type="http://schemas.openxmlformats.org/officeDocument/2006/relationships/image" Target="../media/image9.png"/><Relationship Id="rId6" Type="http://schemas.openxmlformats.org/officeDocument/2006/relationships/image" Target="../media/image10.png"/><Relationship Id="rId7" Type="http://schemas.openxmlformats.org/officeDocument/2006/relationships/image" Target="../media/image11.png"/><Relationship Id="rId8" Type="http://schemas.openxmlformats.org/officeDocument/2006/relationships/image" Target="../media/image12.png"/><Relationship Id="rId9" Type="http://schemas.openxmlformats.org/officeDocument/2006/relationships/image" Target="../media/image13.png"/><Relationship Id="rId10" Type="http://schemas.openxmlformats.org/officeDocument/2006/relationships/image" Target="../media/image14.png"/><Relationship Id="rId11" Type="http://schemas.openxmlformats.org/officeDocument/2006/relationships/image" Target="../media/image15.png"/></Relationships>
</file>

<file path=ppt/charts/_rels/chart6.xml.rels><?xml version='1.0' encoding='UTF-8' standalone='yes'?>
<Relationships xmlns="http://schemas.openxmlformats.org/package/2006/relationships"><Relationship Id="rId2" Type="http://schemas.openxmlformats.org/officeDocument/2006/relationships/image" Target="../media/image16.png"/><Relationship Id="rId3" Type="http://schemas.openxmlformats.org/officeDocument/2006/relationships/image" Target="../media/image17.png"/><Relationship Id="rId4" Type="http://schemas.openxmlformats.org/officeDocument/2006/relationships/image" Target="../media/image18.png"/><Relationship Id="rId5" Type="http://schemas.openxmlformats.org/officeDocument/2006/relationships/image" Target="../media/image19.png"/><Relationship Id="rId6" Type="http://schemas.openxmlformats.org/officeDocument/2006/relationships/image" Target="../media/image20.png"/><Relationship Id="rId7" Type="http://schemas.openxmlformats.org/officeDocument/2006/relationships/image" Target="../media/image21.png"/><Relationship Id="rId8" Type="http://schemas.openxmlformats.org/officeDocument/2006/relationships/image" Target="../media/image22.png"/><Relationship Id="rId9" Type="http://schemas.openxmlformats.org/officeDocument/2006/relationships/image" Target="../media/image23.png"/><Relationship Id="rId10" Type="http://schemas.openxmlformats.org/officeDocument/2006/relationships/image" Target="../media/image24.png"/><Relationship Id="rId11" Type="http://schemas.openxmlformats.org/officeDocument/2006/relationships/image" Target="../media/image25.png"/><Relationship Id="rId12" Type="http://schemas.openxmlformats.org/officeDocument/2006/relationships/image" Target="../media/image26.png"/><Relationship Id="rId13" Type="http://schemas.openxmlformats.org/officeDocument/2006/relationships/image" Target="../media/image27.png"/><Relationship Id="rId14" Type="http://schemas.openxmlformats.org/officeDocument/2006/relationships/image" Target="../media/image28.png"/><Relationship Id="rId15" Type="http://schemas.openxmlformats.org/officeDocument/2006/relationships/image" Target="../media/image29.png"/><Relationship Id="rId16" Type="http://schemas.openxmlformats.org/officeDocument/2006/relationships/image" Target="../media/image30.png"/><Relationship Id="rId17" Type="http://schemas.openxmlformats.org/officeDocument/2006/relationships/image" Target="../media/image31.png"/><Relationship Id="rId18" Type="http://schemas.openxmlformats.org/officeDocument/2006/relationships/image" Target="../media/image32.png"/><Relationship Id="rId19" Type="http://schemas.openxmlformats.org/officeDocument/2006/relationships/image" Target="../media/image33.png"/><Relationship Id="rId20" Type="http://schemas.openxmlformats.org/officeDocument/2006/relationships/image" Target="../media/image34.png"/><Relationship Id="rId21" Type="http://schemas.openxmlformats.org/officeDocument/2006/relationships/image" Target="../media/image35.png"/><Relationship Id="rId22" Type="http://schemas.openxmlformats.org/officeDocument/2006/relationships/image" Target="../media/image36.png"/><Relationship Id="rId23" Type="http://schemas.openxmlformats.org/officeDocument/2006/relationships/image" Target="../media/image37.png"/></Relationships>
</file>

<file path=ppt/charts/_rels/chart7.xml.rels><?xml version='1.0' encoding='UTF-8' standalone='yes'?>
<Relationships xmlns="http://schemas.openxmlformats.org/package/2006/relationships"><Relationship Id="rId2" Type="http://schemas.openxmlformats.org/officeDocument/2006/relationships/image" Target="../media/image38.png"/><Relationship Id="rId3" Type="http://schemas.openxmlformats.org/officeDocument/2006/relationships/image" Target="../media/image39.png"/><Relationship Id="rId4" Type="http://schemas.openxmlformats.org/officeDocument/2006/relationships/image" Target="../media/image40.png"/><Relationship Id="rId5" Type="http://schemas.openxmlformats.org/officeDocument/2006/relationships/image" Target="../media/image41.png"/><Relationship Id="rId6" Type="http://schemas.openxmlformats.org/officeDocument/2006/relationships/image" Target="../media/image42.png"/><Relationship Id="rId7" Type="http://schemas.openxmlformats.org/officeDocument/2006/relationships/image" Target="../media/image43.png"/><Relationship Id="rId8" Type="http://schemas.openxmlformats.org/officeDocument/2006/relationships/image" Target="../media/image44.png"/><Relationship Id="rId9" Type="http://schemas.openxmlformats.org/officeDocument/2006/relationships/image" Target="../media/image45.png"/></Relationships>
</file>

<file path=ppt/charts/_rels/chart8.xml.rels><?xml version='1.0' encoding='UTF-8' standalone='yes'?>
<Relationships xmlns="http://schemas.openxmlformats.org/package/2006/relationships"><Relationship Id="rId2" Type="http://schemas.openxmlformats.org/officeDocument/2006/relationships/image" Target="../media/image60.png"/><Relationship Id="rId3" Type="http://schemas.openxmlformats.org/officeDocument/2006/relationships/image" Target="../media/image61.png"/><Relationship Id="rId4" Type="http://schemas.openxmlformats.org/officeDocument/2006/relationships/image" Target="../media/image62.png"/><Relationship Id="rId5" Type="http://schemas.openxmlformats.org/officeDocument/2006/relationships/image" Target="../media/image63.png"/><Relationship Id="rId6" Type="http://schemas.openxmlformats.org/officeDocument/2006/relationships/image" Target="../media/image64.png"/><Relationship Id="rId7" Type="http://schemas.openxmlformats.org/officeDocument/2006/relationships/image" Target="../media/image65.png"/><Relationship Id="rId8" Type="http://schemas.openxmlformats.org/officeDocument/2006/relationships/image" Target="../media/image66.png"/><Relationship Id="rId9" Type="http://schemas.openxmlformats.org/officeDocument/2006/relationships/image" Target="../media/image67.png"/></Relationships>
</file>

<file path=ppt/charts/_rels/chart9.xml.rels><?xml version='1.0' encoding='UTF-8' standalone='yes'?>
<Relationships xmlns="http://schemas.openxmlformats.org/package/2006/relationships"><Relationship Id="rId2" Type="http://schemas.openxmlformats.org/officeDocument/2006/relationships/image" Target="../media/image95.png"/><Relationship Id="rId3" Type="http://schemas.openxmlformats.org/officeDocument/2006/relationships/image" Target="../media/image96.png"/><Relationship Id="rId4" Type="http://schemas.openxmlformats.org/officeDocument/2006/relationships/image" Target="../media/image97.png"/><Relationship Id="rId5" Type="http://schemas.openxmlformats.org/officeDocument/2006/relationships/image" Target="../media/image98.png"/><Relationship Id="rId6" Type="http://schemas.openxmlformats.org/officeDocument/2006/relationships/image" Target="../media/image99.png"/><Relationship Id="rId7" Type="http://schemas.openxmlformats.org/officeDocument/2006/relationships/image" Target="../media/image100.png"/></Relationships>
</file>

<file path=ppt/charts/_rels/chart11.xml.rels><?xml version='1.0' encoding='UTF-8' standalone='yes'?>
<Relationships xmlns="http://schemas.openxmlformats.org/package/2006/relationships"><Relationship Id="rId2" Type="http://schemas.openxmlformats.org/officeDocument/2006/relationships/image" Target="../media/image156.png"/><Relationship Id="rId3" Type="http://schemas.openxmlformats.org/officeDocument/2006/relationships/image" Target="../media/image157.png"/><Relationship Id="rId4" Type="http://schemas.openxmlformats.org/officeDocument/2006/relationships/image" Target="../media/image158.png"/><Relationship Id="rId5" Type="http://schemas.openxmlformats.org/officeDocument/2006/relationships/image" Target="../media/image159.png"/><Relationship Id="rId6" Type="http://schemas.openxmlformats.org/officeDocument/2006/relationships/image" Target="../media/image160.png"/><Relationship Id="rId7" Type="http://schemas.openxmlformats.org/officeDocument/2006/relationships/image" Target="../media/image161.png"/><Relationship Id="rId8" Type="http://schemas.openxmlformats.org/officeDocument/2006/relationships/image" Target="../media/image162.png"/><Relationship Id="rId9" Type="http://schemas.openxmlformats.org/officeDocument/2006/relationships/image" Target="../media/image163.png"/><Relationship Id="rId10" Type="http://schemas.openxmlformats.org/officeDocument/2006/relationships/image" Target="../media/image164.png"/><Relationship Id="rId11" Type="http://schemas.openxmlformats.org/officeDocument/2006/relationships/image" Target="../media/image165.png"/><Relationship Id="rId12" Type="http://schemas.openxmlformats.org/officeDocument/2006/relationships/image" Target="../media/image166.png"/><Relationship Id="rId13" Type="http://schemas.openxmlformats.org/officeDocument/2006/relationships/image" Target="../media/image167.png"/><Relationship Id="rId14" Type="http://schemas.openxmlformats.org/officeDocument/2006/relationships/image" Target="../media/image168.png"/><Relationship Id="rId15" Type="http://schemas.openxmlformats.org/officeDocument/2006/relationships/image" Target="../media/image169.png"/><Relationship Id="rId16" Type="http://schemas.openxmlformats.org/officeDocument/2006/relationships/image" Target="../media/image170.png"/><Relationship Id="rId17" Type="http://schemas.openxmlformats.org/officeDocument/2006/relationships/image" Target="../media/image171.png"/><Relationship Id="rId18" Type="http://schemas.openxmlformats.org/officeDocument/2006/relationships/image" Target="../media/image172.png"/><Relationship Id="rId19" Type="http://schemas.openxmlformats.org/officeDocument/2006/relationships/image" Target="../media/image173.png"/><Relationship Id="rId20" Type="http://schemas.openxmlformats.org/officeDocument/2006/relationships/image" Target="../media/image174.png"/><Relationship Id="rId21" Type="http://schemas.openxmlformats.org/officeDocument/2006/relationships/image" Target="../media/image175.png"/><Relationship Id="rId22" Type="http://schemas.openxmlformats.org/officeDocument/2006/relationships/image" Target="../media/image176.png"/><Relationship Id="rId23" Type="http://schemas.openxmlformats.org/officeDocument/2006/relationships/image" Target="../media/image177.png"/><Relationship Id="rId24" Type="http://schemas.openxmlformats.org/officeDocument/2006/relationships/image" Target="../media/image178.png"/><Relationship Id="rId25" Type="http://schemas.openxmlformats.org/officeDocument/2006/relationships/image" Target="../media/image179.png"/><Relationship Id="rId26" Type="http://schemas.openxmlformats.org/officeDocument/2006/relationships/image" Target="../media/image180.png"/><Relationship Id="rId27" Type="http://schemas.openxmlformats.org/officeDocument/2006/relationships/image" Target="../media/image181.png"/><Relationship Id="rId28" Type="http://schemas.openxmlformats.org/officeDocument/2006/relationships/image" Target="../media/image182.png"/><Relationship Id="rId29" Type="http://schemas.openxmlformats.org/officeDocument/2006/relationships/image" Target="../media/image183.png"/><Relationship Id="rId30" Type="http://schemas.openxmlformats.org/officeDocument/2006/relationships/image" Target="../media/image184.png"/><Relationship Id="rId31" Type="http://schemas.openxmlformats.org/officeDocument/2006/relationships/image" Target="../media/image185.png"/><Relationship Id="rId32" Type="http://schemas.openxmlformats.org/officeDocument/2006/relationships/image" Target="../media/image186.png"/><Relationship Id="rId33" Type="http://schemas.openxmlformats.org/officeDocument/2006/relationships/image" Target="../media/image187.png"/><Relationship Id="rId34" Type="http://schemas.openxmlformats.org/officeDocument/2006/relationships/image" Target="../media/image188.png"/></Relationships>
</file>

<file path=ppt/charts/_rels/chart12.xml.rels><?xml version='1.0' encoding='UTF-8' standalone='yes'?>
<Relationships xmlns="http://schemas.openxmlformats.org/package/2006/relationships"><Relationship Id="rId2" Type="http://schemas.openxmlformats.org/officeDocument/2006/relationships/image" Target="../media/image189.png"/><Relationship Id="rId3" Type="http://schemas.openxmlformats.org/officeDocument/2006/relationships/image" Target="../media/image190.png"/><Relationship Id="rId4" Type="http://schemas.openxmlformats.org/officeDocument/2006/relationships/image" Target="../media/image191.png"/><Relationship Id="rId5" Type="http://schemas.openxmlformats.org/officeDocument/2006/relationships/image" Target="../media/image192.png"/><Relationship Id="rId6" Type="http://schemas.openxmlformats.org/officeDocument/2006/relationships/image" Target="../media/image193.png"/><Relationship Id="rId7" Type="http://schemas.openxmlformats.org/officeDocument/2006/relationships/image" Target="../media/image194.png"/><Relationship Id="rId8" Type="http://schemas.openxmlformats.org/officeDocument/2006/relationships/image" Target="../media/image195.png"/><Relationship Id="rId9" Type="http://schemas.openxmlformats.org/officeDocument/2006/relationships/image" Target="../media/image196.png"/><Relationship Id="rId10" Type="http://schemas.openxmlformats.org/officeDocument/2006/relationships/image" Target="../media/image197.png"/><Relationship Id="rId11" Type="http://schemas.openxmlformats.org/officeDocument/2006/relationships/image" Target="../media/image198.png"/><Relationship Id="rId12" Type="http://schemas.openxmlformats.org/officeDocument/2006/relationships/image" Target="../media/image199.png"/><Relationship Id="rId13" Type="http://schemas.openxmlformats.org/officeDocument/2006/relationships/image" Target="../media/image200.png"/><Relationship Id="rId14" Type="http://schemas.openxmlformats.org/officeDocument/2006/relationships/image" Target="../media/image201.png"/><Relationship Id="rId15" Type="http://schemas.openxmlformats.org/officeDocument/2006/relationships/image" Target="../media/image202.png"/><Relationship Id="rId16" Type="http://schemas.openxmlformats.org/officeDocument/2006/relationships/image" Target="../media/image203.png"/><Relationship Id="rId17" Type="http://schemas.openxmlformats.org/officeDocument/2006/relationships/image" Target="../media/image204.png"/><Relationship Id="rId18" Type="http://schemas.openxmlformats.org/officeDocument/2006/relationships/image" Target="../media/image205.png"/><Relationship Id="rId19" Type="http://schemas.openxmlformats.org/officeDocument/2006/relationships/image" Target="../media/image206.png"/><Relationship Id="rId20" Type="http://schemas.openxmlformats.org/officeDocument/2006/relationships/image" Target="../media/image207.png"/><Relationship Id="rId21" Type="http://schemas.openxmlformats.org/officeDocument/2006/relationships/image" Target="../media/image208.png"/><Relationship Id="rId22" Type="http://schemas.openxmlformats.org/officeDocument/2006/relationships/image" Target="../media/image209.png"/><Relationship Id="rId23" Type="http://schemas.openxmlformats.org/officeDocument/2006/relationships/image" Target="../media/image210.png"/><Relationship Id="rId24" Type="http://schemas.openxmlformats.org/officeDocument/2006/relationships/image" Target="../media/image211.png"/><Relationship Id="rId25" Type="http://schemas.openxmlformats.org/officeDocument/2006/relationships/image" Target="../media/image212.png"/><Relationship Id="rId26" Type="http://schemas.openxmlformats.org/officeDocument/2006/relationships/image" Target="../media/image213.png"/><Relationship Id="rId27" Type="http://schemas.openxmlformats.org/officeDocument/2006/relationships/image" Target="../media/image214.png"/><Relationship Id="rId28" Type="http://schemas.openxmlformats.org/officeDocument/2006/relationships/image" Target="../media/image215.png"/><Relationship Id="rId29" Type="http://schemas.openxmlformats.org/officeDocument/2006/relationships/image" Target="../media/image216.png"/><Relationship Id="rId30" Type="http://schemas.openxmlformats.org/officeDocument/2006/relationships/image" Target="../media/image217.png"/><Relationship Id="rId31" Type="http://schemas.openxmlformats.org/officeDocument/2006/relationships/image" Target="../media/image218.png"/></Relationships>
</file>

<file path=ppt/charts/_rels/chart23.xml.rels><?xml version='1.0' encoding='UTF-8' standalone='yes'?>
<Relationships xmlns="http://schemas.openxmlformats.org/package/2006/relationships"><Relationship Id="rId2" Type="http://schemas.openxmlformats.org/officeDocument/2006/relationships/image" Target="../media/image229.png"/><Relationship Id="rId3" Type="http://schemas.openxmlformats.org/officeDocument/2006/relationships/image" Target="../media/image230.png"/><Relationship Id="rId4" Type="http://schemas.openxmlformats.org/officeDocument/2006/relationships/image" Target="../media/image231.png"/><Relationship Id="rId5" Type="http://schemas.openxmlformats.org/officeDocument/2006/relationships/image" Target="../media/image232.png"/><Relationship Id="rId6" Type="http://schemas.openxmlformats.org/officeDocument/2006/relationships/image" Target="../media/image233.png"/><Relationship Id="rId7" Type="http://schemas.openxmlformats.org/officeDocument/2006/relationships/image" Target="../media/image234.png"/><Relationship Id="rId8" Type="http://schemas.openxmlformats.org/officeDocument/2006/relationships/image" Target="../media/image235.png"/><Relationship Id="rId9" Type="http://schemas.openxmlformats.org/officeDocument/2006/relationships/image" Target="../media/image236.png"/><Relationship Id="rId10" Type="http://schemas.openxmlformats.org/officeDocument/2006/relationships/image" Target="../media/image237.png"/><Relationship Id="rId11" Type="http://schemas.openxmlformats.org/officeDocument/2006/relationships/image" Target="../media/image238.png"/><Relationship Id="rId12" Type="http://schemas.openxmlformats.org/officeDocument/2006/relationships/image" Target="../media/image239.png"/><Relationship Id="rId13" Type="http://schemas.openxmlformats.org/officeDocument/2006/relationships/image" Target="../media/image240.png"/><Relationship Id="rId14" Type="http://schemas.openxmlformats.org/officeDocument/2006/relationships/image" Target="../media/image241.png"/><Relationship Id="rId15" Type="http://schemas.openxmlformats.org/officeDocument/2006/relationships/image" Target="../media/image242.png"/><Relationship Id="rId16" Type="http://schemas.openxmlformats.org/officeDocument/2006/relationships/image" Target="../media/image243.png"/><Relationship Id="rId17" Type="http://schemas.openxmlformats.org/officeDocument/2006/relationships/image" Target="../media/image244.png"/><Relationship Id="rId18" Type="http://schemas.openxmlformats.org/officeDocument/2006/relationships/image" Target="../media/image245.png"/><Relationship Id="rId19" Type="http://schemas.openxmlformats.org/officeDocument/2006/relationships/image" Target="../media/image246.png"/></Relationships>
</file>

<file path=ppt/charts/_rels/chart29.xml.rels><?xml version='1.0' encoding='UTF-8' standalone='yes'?>
<Relationships xmlns="http://schemas.openxmlformats.org/package/2006/relationships"><Relationship Id="rId2" Type="http://schemas.openxmlformats.org/officeDocument/2006/relationships/image" Target="../media/image253.png"/><Relationship Id="rId3" Type="http://schemas.openxmlformats.org/officeDocument/2006/relationships/image" Target="../media/image254.png"/><Relationship Id="rId4" Type="http://schemas.openxmlformats.org/officeDocument/2006/relationships/image" Target="../media/image255.png"/><Relationship Id="rId5" Type="http://schemas.openxmlformats.org/officeDocument/2006/relationships/image" Target="../media/image256.png"/><Relationship Id="rId6" Type="http://schemas.openxmlformats.org/officeDocument/2006/relationships/image" Target="../media/image257.png"/><Relationship Id="rId7" Type="http://schemas.openxmlformats.org/officeDocument/2006/relationships/image" Target="../media/image258.png"/><Relationship Id="rId8" Type="http://schemas.openxmlformats.org/officeDocument/2006/relationships/image" Target="../media/image259.png"/></Relationships>
</file>

<file path=ppt/charts/_rels/chart40.xml.rels><?xml version='1.0' encoding='UTF-8' standalone='yes'?>
<Relationships xmlns="http://schemas.openxmlformats.org/package/2006/relationships"><Relationship Id="rId2" Type="http://schemas.openxmlformats.org/officeDocument/2006/relationships/image" Target="../media/image276.png"/><Relationship Id="rId3" Type="http://schemas.openxmlformats.org/officeDocument/2006/relationships/image" Target="../media/image277.png"/><Relationship Id="rId4" Type="http://schemas.openxmlformats.org/officeDocument/2006/relationships/image" Target="../media/image278.png"/><Relationship Id="rId5" Type="http://schemas.openxmlformats.org/officeDocument/2006/relationships/image" Target="../media/image279.png"/><Relationship Id="rId6" Type="http://schemas.openxmlformats.org/officeDocument/2006/relationships/image" Target="../media/image280.png"/><Relationship Id="rId7" Type="http://schemas.openxmlformats.org/officeDocument/2006/relationships/image" Target="../media/image281.png"/><Relationship Id="rId8" Type="http://schemas.openxmlformats.org/officeDocument/2006/relationships/image" Target="../media/image282.png"/><Relationship Id="rId9" Type="http://schemas.openxmlformats.org/officeDocument/2006/relationships/image" Target="../media/image283.png"/><Relationship Id="rId10" Type="http://schemas.openxmlformats.org/officeDocument/2006/relationships/image" Target="../media/image284.png"/><Relationship Id="rId11" Type="http://schemas.openxmlformats.org/officeDocument/2006/relationships/image" Target="../media/image285.png"/><Relationship Id="rId12" Type="http://schemas.openxmlformats.org/officeDocument/2006/relationships/image" Target="../media/image286.png"/><Relationship Id="rId13" Type="http://schemas.openxmlformats.org/officeDocument/2006/relationships/image" Target="../media/image287.png"/><Relationship Id="rId14" Type="http://schemas.openxmlformats.org/officeDocument/2006/relationships/image" Target="../media/image288.png"/><Relationship Id="rId15" Type="http://schemas.openxmlformats.org/officeDocument/2006/relationships/image" Target="../media/image289.png"/><Relationship Id="rId16" Type="http://schemas.openxmlformats.org/officeDocument/2006/relationships/image" Target="../media/image290.png"/><Relationship Id="rId17" Type="http://schemas.openxmlformats.org/officeDocument/2006/relationships/image" Target="../media/image291.png"/><Relationship Id="rId18" Type="http://schemas.openxmlformats.org/officeDocument/2006/relationships/image" Target="../media/image292.png"/></Relationships>
</file>

<file path=ppt/charts/_rels/chart50.xml.rels><?xml version='1.0' encoding='UTF-8' standalone='yes'?>
<Relationships xmlns="http://schemas.openxmlformats.org/package/2006/relationships"><Relationship Id="rId2" Type="http://schemas.openxmlformats.org/officeDocument/2006/relationships/image" Target="../media/image307.png"/><Relationship Id="rId3" Type="http://schemas.openxmlformats.org/officeDocument/2006/relationships/image" Target="../media/image308.png"/><Relationship Id="rId4" Type="http://schemas.openxmlformats.org/officeDocument/2006/relationships/image" Target="../media/image309.png"/><Relationship Id="rId5" Type="http://schemas.openxmlformats.org/officeDocument/2006/relationships/image" Target="../media/image310.png"/><Relationship Id="rId6" Type="http://schemas.openxmlformats.org/officeDocument/2006/relationships/image" Target="../media/image311.png"/><Relationship Id="rId7" Type="http://schemas.openxmlformats.org/officeDocument/2006/relationships/image" Target="../media/image312.png"/><Relationship Id="rId8" Type="http://schemas.openxmlformats.org/officeDocument/2006/relationships/image" Target="../media/image313.png"/><Relationship Id="rId9" Type="http://schemas.openxmlformats.org/officeDocument/2006/relationships/image" Target="../media/image314.png"/><Relationship Id="rId10" Type="http://schemas.openxmlformats.org/officeDocument/2006/relationships/image" Target="../media/image315.png"/><Relationship Id="rId11" Type="http://schemas.openxmlformats.org/officeDocument/2006/relationships/image" Target="../media/image316.png"/><Relationship Id="rId12" Type="http://schemas.openxmlformats.org/officeDocument/2006/relationships/image" Target="../media/image317.png"/><Relationship Id="rId13" Type="http://schemas.openxmlformats.org/officeDocument/2006/relationships/image" Target="../media/image318.png"/><Relationship Id="rId14" Type="http://schemas.openxmlformats.org/officeDocument/2006/relationships/image" Target="../media/image319.png"/><Relationship Id="rId15" Type="http://schemas.openxmlformats.org/officeDocument/2006/relationships/image" Target="../media/image320.png"/><Relationship Id="rId16" Type="http://schemas.openxmlformats.org/officeDocument/2006/relationships/image" Target="../media/image321.png"/><Relationship Id="rId17" Type="http://schemas.openxmlformats.org/officeDocument/2006/relationships/image" Target="../media/image322.png"/></Relationships>
</file>

<file path=ppt/charts/_rels/chart51.xml.rels><?xml version='1.0' encoding='UTF-8' standalone='yes'?>
<Relationships xmlns="http://schemas.openxmlformats.org/package/2006/relationships"><Relationship Id="rId2" Type="http://schemas.openxmlformats.org/officeDocument/2006/relationships/image" Target="../media/image327.png"/><Relationship Id="rId3" Type="http://schemas.openxmlformats.org/officeDocument/2006/relationships/image" Target="../media/image328.png"/><Relationship Id="rId4" Type="http://schemas.openxmlformats.org/officeDocument/2006/relationships/image" Target="../media/image329.png"/><Relationship Id="rId5" Type="http://schemas.openxmlformats.org/officeDocument/2006/relationships/image" Target="../media/image330.png"/><Relationship Id="rId6" Type="http://schemas.openxmlformats.org/officeDocument/2006/relationships/image" Target="../media/image331.png"/><Relationship Id="rId7" Type="http://schemas.openxmlformats.org/officeDocument/2006/relationships/image" Target="../media/image332.png"/><Relationship Id="rId8" Type="http://schemas.openxmlformats.org/officeDocument/2006/relationships/image" Target="../media/image333.png"/><Relationship Id="rId9" Type="http://schemas.openxmlformats.org/officeDocument/2006/relationships/image" Target="../media/image334.png"/><Relationship Id="rId10" Type="http://schemas.openxmlformats.org/officeDocument/2006/relationships/image" Target="../media/image335.png"/><Relationship Id="rId11" Type="http://schemas.openxmlformats.org/officeDocument/2006/relationships/image" Target="../media/image336.png"/><Relationship Id="rId12" Type="http://schemas.openxmlformats.org/officeDocument/2006/relationships/image" Target="../media/image337.png"/><Relationship Id="rId13" Type="http://schemas.openxmlformats.org/officeDocument/2006/relationships/image" Target="../media/image338.png"/><Relationship Id="rId14" Type="http://schemas.openxmlformats.org/officeDocument/2006/relationships/image" Target="../media/image339.png"/><Relationship Id="rId15" Type="http://schemas.openxmlformats.org/officeDocument/2006/relationships/image" Target="../media/image340.png"/><Relationship Id="rId16" Type="http://schemas.openxmlformats.org/officeDocument/2006/relationships/image" Target="../media/image341.png"/><Relationship Id="rId17" Type="http://schemas.openxmlformats.org/officeDocument/2006/relationships/image" Target="../media/image342.png"/><Relationship Id="rId18" Type="http://schemas.openxmlformats.org/officeDocument/2006/relationships/image" Target="../media/image343.png"/><Relationship Id="rId19" Type="http://schemas.openxmlformats.org/officeDocument/2006/relationships/image" Target="../media/image344.png"/><Relationship Id="rId20" Type="http://schemas.openxmlformats.org/officeDocument/2006/relationships/image" Target="../media/image345.png"/><Relationship Id="rId21" Type="http://schemas.openxmlformats.org/officeDocument/2006/relationships/image" Target="../media/image346.png"/><Relationship Id="rId22" Type="http://schemas.openxmlformats.org/officeDocument/2006/relationships/image" Target="../media/image347.png"/><Relationship Id="rId23" Type="http://schemas.openxmlformats.org/officeDocument/2006/relationships/image" Target="../media/image348.png"/><Relationship Id="rId24" Type="http://schemas.openxmlformats.org/officeDocument/2006/relationships/image" Target="../media/image349.png"/><Relationship Id="rId25" Type="http://schemas.openxmlformats.org/officeDocument/2006/relationships/image" Target="../media/image350.png"/><Relationship Id="rId26" Type="http://schemas.openxmlformats.org/officeDocument/2006/relationships/image" Target="../media/image351.png"/><Relationship Id="rId27" Type="http://schemas.openxmlformats.org/officeDocument/2006/relationships/image" Target="../media/image352.png"/><Relationship Id="rId28" Type="http://schemas.openxmlformats.org/officeDocument/2006/relationships/image" Target="../media/image353.png"/><Relationship Id="rId29" Type="http://schemas.openxmlformats.org/officeDocument/2006/relationships/image" Target="../media/image354.png"/><Relationship Id="rId30" Type="http://schemas.openxmlformats.org/officeDocument/2006/relationships/image" Target="../media/image355.png"/><Relationship Id="rId31" Type="http://schemas.openxmlformats.org/officeDocument/2006/relationships/image" Target="../media/image356.png"/><Relationship Id="rId32" Type="http://schemas.openxmlformats.org/officeDocument/2006/relationships/image" Target="../media/image357.png"/><Relationship Id="rId33" Type="http://schemas.openxmlformats.org/officeDocument/2006/relationships/image" Target="../media/image358.png"/><Relationship Id="rId34" Type="http://schemas.openxmlformats.org/officeDocument/2006/relationships/image" Target="../media/image359.png"/><Relationship Id="rId35" Type="http://schemas.openxmlformats.org/officeDocument/2006/relationships/image" Target="../media/image360.png"/><Relationship Id="rId36" Type="http://schemas.openxmlformats.org/officeDocument/2006/relationships/image" Target="../media/image361.png"/><Relationship Id="rId37" Type="http://schemas.openxmlformats.org/officeDocument/2006/relationships/image" Target="../media/image362.png"/><Relationship Id="rId38" Type="http://schemas.openxmlformats.org/officeDocument/2006/relationships/image" Target="../media/image363.png"/><Relationship Id="rId39" Type="http://schemas.openxmlformats.org/officeDocument/2006/relationships/image" Target="../media/image364.png"/><Relationship Id="rId40" Type="http://schemas.openxmlformats.org/officeDocument/2006/relationships/image" Target="../media/image365.png"/><Relationship Id="rId41" Type="http://schemas.openxmlformats.org/officeDocument/2006/relationships/image" Target="../media/image366.png"/><Relationship Id="rId42" Type="http://schemas.openxmlformats.org/officeDocument/2006/relationships/image" Target="../media/image367.png"/><Relationship Id="rId43" Type="http://schemas.openxmlformats.org/officeDocument/2006/relationships/image" Target="../media/image368.png"/><Relationship Id="rId44" Type="http://schemas.openxmlformats.org/officeDocument/2006/relationships/image" Target="../media/image369.png"/><Relationship Id="rId45" Type="http://schemas.openxmlformats.org/officeDocument/2006/relationships/image" Target="../media/image370.png"/><Relationship Id="rId46" Type="http://schemas.openxmlformats.org/officeDocument/2006/relationships/image" Target="../media/image371.png"/><Relationship Id="rId47" Type="http://schemas.openxmlformats.org/officeDocument/2006/relationships/image" Target="../media/image372.png"/></Relationships>
</file>

<file path=ppt/charts/_rels/chart55.xml.rels><?xml version='1.0' encoding='UTF-8' standalone='yes'?>
<Relationships xmlns="http://schemas.openxmlformats.org/package/2006/relationships"><Relationship Id="rId2" Type="http://schemas.openxmlformats.org/officeDocument/2006/relationships/image" Target="../media/image373.png"/><Relationship Id="rId3" Type="http://schemas.openxmlformats.org/officeDocument/2006/relationships/image" Target="../media/image374.png"/><Relationship Id="rId4" Type="http://schemas.openxmlformats.org/officeDocument/2006/relationships/image" Target="../media/image375.png"/><Relationship Id="rId5" Type="http://schemas.openxmlformats.org/officeDocument/2006/relationships/image" Target="../media/image376.png"/><Relationship Id="rId6" Type="http://schemas.openxmlformats.org/officeDocument/2006/relationships/image" Target="../media/image377.png"/><Relationship Id="rId7" Type="http://schemas.openxmlformats.org/officeDocument/2006/relationships/image" Target="../media/image378.png"/></Relationships>
</file>

<file path=ppt/charts/_rels/chart61.xml.rels><?xml version='1.0' encoding='UTF-8' standalone='yes'?>
<Relationships xmlns="http://schemas.openxmlformats.org/package/2006/relationships"><Relationship Id="rId2" Type="http://schemas.openxmlformats.org/officeDocument/2006/relationships/image" Target="../media/image404.png"/><Relationship Id="rId3" Type="http://schemas.openxmlformats.org/officeDocument/2006/relationships/image" Target="../media/image405.png"/><Relationship Id="rId4" Type="http://schemas.openxmlformats.org/officeDocument/2006/relationships/image" Target="../media/image406.png"/><Relationship Id="rId5" Type="http://schemas.openxmlformats.org/officeDocument/2006/relationships/image" Target="../media/image407.png"/><Relationship Id="rId6" Type="http://schemas.openxmlformats.org/officeDocument/2006/relationships/image" Target="../media/image408.png"/><Relationship Id="rId7" Type="http://schemas.openxmlformats.org/officeDocument/2006/relationships/image" Target="../media/image409.png"/><Relationship Id="rId8" Type="http://schemas.openxmlformats.org/officeDocument/2006/relationships/image" Target="../media/image410.png"/><Relationship Id="rId9" Type="http://schemas.openxmlformats.org/officeDocument/2006/relationships/image" Target="../media/image411.png"/><Relationship Id="rId10" Type="http://schemas.openxmlformats.org/officeDocument/2006/relationships/image" Target="../media/image412.png"/></Relationships>
</file>

<file path=ppt/charts/_rels/chart68.xml.rels><?xml version='1.0' encoding='UTF-8' standalone='yes'?>
<Relationships xmlns="http://schemas.openxmlformats.org/package/2006/relationships"><Relationship Id="rId2" Type="http://schemas.openxmlformats.org/officeDocument/2006/relationships/image" Target="../media/image421.png"/><Relationship Id="rId3" Type="http://schemas.openxmlformats.org/officeDocument/2006/relationships/image" Target="../media/image422.png"/><Relationship Id="rId4" Type="http://schemas.openxmlformats.org/officeDocument/2006/relationships/image" Target="../media/image423.png"/><Relationship Id="rId5" Type="http://schemas.openxmlformats.org/officeDocument/2006/relationships/image" Target="../media/image424.png"/><Relationship Id="rId6" Type="http://schemas.openxmlformats.org/officeDocument/2006/relationships/image" Target="../media/image425.png"/><Relationship Id="rId7" Type="http://schemas.openxmlformats.org/officeDocument/2006/relationships/image" Target="../media/image426.png"/><Relationship Id="rId8" Type="http://schemas.openxmlformats.org/officeDocument/2006/relationships/image" Target="../media/image427.png"/><Relationship Id="rId9" Type="http://schemas.openxmlformats.org/officeDocument/2006/relationships/image" Target="../media/image428.png"/><Relationship Id="rId10" Type="http://schemas.openxmlformats.org/officeDocument/2006/relationships/image" Target="../media/image429.png"/><Relationship Id="rId11" Type="http://schemas.openxmlformats.org/officeDocument/2006/relationships/image" Target="../media/image430.png"/><Relationship Id="rId12" Type="http://schemas.openxmlformats.org/officeDocument/2006/relationships/image" Target="../media/image431.png"/><Relationship Id="rId13" Type="http://schemas.openxmlformats.org/officeDocument/2006/relationships/image" Target="../media/image432.png"/></Relationships>
</file>

<file path=ppt/charts/_rels/chart76.xml.rels><?xml version='1.0' encoding='UTF-8' standalone='yes'?>
<Relationships xmlns="http://schemas.openxmlformats.org/package/2006/relationships"><Relationship Id="rId2" Type="http://schemas.openxmlformats.org/officeDocument/2006/relationships/image" Target="../media/image444.png"/><Relationship Id="rId3" Type="http://schemas.openxmlformats.org/officeDocument/2006/relationships/image" Target="../media/image445.png"/><Relationship Id="rId4" Type="http://schemas.openxmlformats.org/officeDocument/2006/relationships/image" Target="../media/image446.png"/><Relationship Id="rId5" Type="http://schemas.openxmlformats.org/officeDocument/2006/relationships/image" Target="../media/image447.png"/><Relationship Id="rId6" Type="http://schemas.openxmlformats.org/officeDocument/2006/relationships/image" Target="../media/image448.png"/><Relationship Id="rId7" Type="http://schemas.openxmlformats.org/officeDocument/2006/relationships/image" Target="../media/image449.png"/><Relationship Id="rId8" Type="http://schemas.openxmlformats.org/officeDocument/2006/relationships/image" Target="../media/image450.png"/><Relationship Id="rId9" Type="http://schemas.openxmlformats.org/officeDocument/2006/relationships/image" Target="../media/image451.png"/><Relationship Id="rId10" Type="http://schemas.openxmlformats.org/officeDocument/2006/relationships/image" Target="../media/image452.png"/><Relationship Id="rId11" Type="http://schemas.openxmlformats.org/officeDocument/2006/relationships/image" Target="../media/image453.png"/><Relationship Id="rId12" Type="http://schemas.openxmlformats.org/officeDocument/2006/relationships/image" Target="../media/image454.png"/><Relationship Id="rId13" Type="http://schemas.openxmlformats.org/officeDocument/2006/relationships/image" Target="../media/image455.png"/></Relationships>
</file>

<file path=ppt/charts/_rels/chart79.xml.rels><?xml version='1.0' encoding='UTF-8' standalone='yes'?>
<Relationships xmlns="http://schemas.openxmlformats.org/package/2006/relationships"><Relationship Id="rId2" Type="http://schemas.openxmlformats.org/officeDocument/2006/relationships/image" Target="../media/image475.png"/><Relationship Id="rId3" Type="http://schemas.openxmlformats.org/officeDocument/2006/relationships/image" Target="../media/image476.png"/><Relationship Id="rId4" Type="http://schemas.openxmlformats.org/officeDocument/2006/relationships/image" Target="../media/image477.png"/><Relationship Id="rId5" Type="http://schemas.openxmlformats.org/officeDocument/2006/relationships/image" Target="../media/image478.png"/><Relationship Id="rId6" Type="http://schemas.openxmlformats.org/officeDocument/2006/relationships/image" Target="../media/image479.png"/><Relationship Id="rId7" Type="http://schemas.openxmlformats.org/officeDocument/2006/relationships/image" Target="../media/image480.png"/><Relationship Id="rId8" Type="http://schemas.openxmlformats.org/officeDocument/2006/relationships/image" Target="../media/image481.png"/><Relationship Id="rId9" Type="http://schemas.openxmlformats.org/officeDocument/2006/relationships/image" Target="../media/image482.png"/><Relationship Id="rId10" Type="http://schemas.openxmlformats.org/officeDocument/2006/relationships/image" Target="../media/image483.png"/><Relationship Id="rId11" Type="http://schemas.openxmlformats.org/officeDocument/2006/relationships/image" Target="../media/image484.png"/><Relationship Id="rId12" Type="http://schemas.openxmlformats.org/officeDocument/2006/relationships/image" Target="../media/image485.png"/><Relationship Id="rId13" Type="http://schemas.openxmlformats.org/officeDocument/2006/relationships/image" Target="../media/image486.png"/><Relationship Id="rId14" Type="http://schemas.openxmlformats.org/officeDocument/2006/relationships/image" Target="../media/image487.png"/><Relationship Id="rId15" Type="http://schemas.openxmlformats.org/officeDocument/2006/relationships/image" Target="../media/image488.png"/><Relationship Id="rId16" Type="http://schemas.openxmlformats.org/officeDocument/2006/relationships/image" Target="../media/image489.png"/><Relationship Id="rId17" Type="http://schemas.openxmlformats.org/officeDocument/2006/relationships/image" Target="../media/image490.png"/></Relationships>
</file>

<file path=ppt/charts/_rels/chart80.xml.rels><?xml version='1.0' encoding='UTF-8' standalone='yes'?>
<Relationships xmlns="http://schemas.openxmlformats.org/package/2006/relationships"><Relationship Id="rId2" Type="http://schemas.openxmlformats.org/officeDocument/2006/relationships/image" Target="../media/image491.png"/></Relationships>
</file>

<file path=ppt/charts/_rels/chart82.xml.rels><?xml version='1.0' encoding='UTF-8' standalone='yes'?>
<Relationships xmlns="http://schemas.openxmlformats.org/package/2006/relationships"><Relationship Id="rId2" Type="http://schemas.openxmlformats.org/officeDocument/2006/relationships/image" Target="../media/image492.png"/></Relationships>
</file>

<file path=ppt/charts/_rels/chart83.xml.rels><?xml version='1.0' encoding='UTF-8' standalone='yes'?>
<Relationships xmlns="http://schemas.openxmlformats.org/package/2006/relationships"><Relationship Id="rId2" Type="http://schemas.openxmlformats.org/officeDocument/2006/relationships/image" Target="../media/image493.png"/><Relationship Id="rId3" Type="http://schemas.openxmlformats.org/officeDocument/2006/relationships/image" Target="../media/image494.png"/><Relationship Id="rId4" Type="http://schemas.openxmlformats.org/officeDocument/2006/relationships/image" Target="../media/image495.png"/><Relationship Id="rId5" Type="http://schemas.openxmlformats.org/officeDocument/2006/relationships/image" Target="../media/image496.png"/><Relationship Id="rId6" Type="http://schemas.openxmlformats.org/officeDocument/2006/relationships/image" Target="../media/image497.png"/><Relationship Id="rId7" Type="http://schemas.openxmlformats.org/officeDocument/2006/relationships/image" Target="../media/image498.png"/><Relationship Id="rId8" Type="http://schemas.openxmlformats.org/officeDocument/2006/relationships/image" Target="../media/image499.png"/><Relationship Id="rId9" Type="http://schemas.openxmlformats.org/officeDocument/2006/relationships/image" Target="../media/image500.png"/><Relationship Id="rId10" Type="http://schemas.openxmlformats.org/officeDocument/2006/relationships/image" Target="../media/image501.png"/><Relationship Id="rId11" Type="http://schemas.openxmlformats.org/officeDocument/2006/relationships/image" Target="../media/image502.png"/><Relationship Id="rId12" Type="http://schemas.openxmlformats.org/officeDocument/2006/relationships/image" Target="../media/image503.png"/><Relationship Id="rId13" Type="http://schemas.openxmlformats.org/officeDocument/2006/relationships/image" Target="../media/image504.png"/><Relationship Id="rId14" Type="http://schemas.openxmlformats.org/officeDocument/2006/relationships/image" Target="../media/image505.png"/><Relationship Id="rId15" Type="http://schemas.openxmlformats.org/officeDocument/2006/relationships/image" Target="../media/image506.png"/><Relationship Id="rId16" Type="http://schemas.openxmlformats.org/officeDocument/2006/relationships/image" Target="../media/image507.png"/><Relationship Id="rId17" Type="http://schemas.openxmlformats.org/officeDocument/2006/relationships/image" Target="../media/image508.png"/></Relationships>
</file>

<file path=ppt/charts/_rels/chart84.xml.rels><?xml version='1.0' encoding='UTF-8' standalone='yes'?>
<Relationships xmlns="http://schemas.openxmlformats.org/package/2006/relationships"><Relationship Id="rId2" Type="http://schemas.openxmlformats.org/officeDocument/2006/relationships/image" Target="../media/image509.png"/></Relationships>
</file>

<file path=ppt/charts/_rels/chart86.xml.rels><?xml version='1.0' encoding='UTF-8' standalone='yes'?>
<Relationships xmlns="http://schemas.openxmlformats.org/package/2006/relationships"><Relationship Id="rId2" Type="http://schemas.openxmlformats.org/officeDocument/2006/relationships/image" Target="../media/image510.png"/></Relationships>
</file>

<file path=ppt/charts/_rels/chart87.xml.rels><?xml version='1.0' encoding='UTF-8' standalone='yes'?>
<Relationships xmlns="http://schemas.openxmlformats.org/package/2006/relationships"><Relationship Id="rId2" Type="http://schemas.openxmlformats.org/officeDocument/2006/relationships/image" Target="../media/image511.png"/></Relationships>
</file>

<file path=ppt/charts/_rels/chart88.xml.rels><?xml version='1.0' encoding='UTF-8' standalone='yes'?>
<Relationships xmlns="http://schemas.openxmlformats.org/package/2006/relationships"><Relationship Id="rId2" Type="http://schemas.openxmlformats.org/officeDocument/2006/relationships/image" Target="../media/image512.png"/></Relationships>
</file>

<file path=ppt/charts/_rels/chart89.xml.rels><?xml version='1.0' encoding='UTF-8' standalone='yes'?>
<Relationships xmlns="http://schemas.openxmlformats.org/package/2006/relationships"><Relationship Id="rId2" Type="http://schemas.openxmlformats.org/officeDocument/2006/relationships/image" Target="../media/image513.png"/></Relationships>
</file>

<file path=ppt/charts/_rels/chart90.xml.rels><?xml version='1.0' encoding='UTF-8' standalone='yes'?>
<Relationships xmlns="http://schemas.openxmlformats.org/package/2006/relationships"><Relationship Id="rId2" Type="http://schemas.openxmlformats.org/officeDocument/2006/relationships/image" Target="../media/image514.png"/></Relationships>
</file>

<file path=ppt/charts/_rels/chart91.xml.rels><?xml version='1.0' encoding='UTF-8' standalone='yes'?>
<Relationships xmlns="http://schemas.openxmlformats.org/package/2006/relationships"><Relationship Id="rId2" Type="http://schemas.openxmlformats.org/officeDocument/2006/relationships/image" Target="../media/image515.png"/></Relationships>
</file>

<file path=ppt/charts/_rels/chart92.xml.rels><?xml version='1.0' encoding='UTF-8' standalone='yes'?>
<Relationships xmlns="http://schemas.openxmlformats.org/package/2006/relationships"><Relationship Id="rId2" Type="http://schemas.openxmlformats.org/officeDocument/2006/relationships/image" Target="../media/image516.png"/></Relationships>
</file>

<file path=ppt/charts/_rels/chart93.xml.rels><?xml version='1.0' encoding='UTF-8' standalone='yes'?>
<Relationships xmlns="http://schemas.openxmlformats.org/package/2006/relationships"><Relationship Id="rId2" Type="http://schemas.openxmlformats.org/officeDocument/2006/relationships/image" Target="../media/image517.png"/></Relationships>
</file>

<file path=ppt/charts/_rels/chart94.xml.rels><?xml version='1.0' encoding='UTF-8' standalone='yes'?>
<Relationships xmlns="http://schemas.openxmlformats.org/package/2006/relationships"><Relationship Id="rId2" Type="http://schemas.openxmlformats.org/officeDocument/2006/relationships/image" Target="../media/image518.png"/></Relationships>
</file>

<file path=ppt/charts/_rels/chart95.xml.rels><?xml version='1.0' encoding='UTF-8' standalone='yes'?>
<Relationships xmlns="http://schemas.openxmlformats.org/package/2006/relationships"><Relationship Id="rId2" Type="http://schemas.openxmlformats.org/officeDocument/2006/relationships/image" Target="../media/image519.png"/></Relationships>
</file>

<file path=ppt/charts/_rels/chart96.xml.rels><?xml version='1.0' encoding='UTF-8' standalone='yes'?>
<Relationships xmlns="http://schemas.openxmlformats.org/package/2006/relationships"><Relationship Id="rId2" Type="http://schemas.openxmlformats.org/officeDocument/2006/relationships/image" Target="../media/image520.png"/></Relationships>
</file>

<file path=ppt/charts/_rels/chart115.xml.rels><?xml version='1.0' encoding='UTF-8' standalone='yes'?>
<Relationships xmlns="http://schemas.openxmlformats.org/package/2006/relationships"><Relationship Id="rId2" Type="http://schemas.openxmlformats.org/officeDocument/2006/relationships/image" Target="../media/image831.png"/><Relationship Id="rId3" Type="http://schemas.openxmlformats.org/officeDocument/2006/relationships/image" Target="../media/image832.png"/><Relationship Id="rId4" Type="http://schemas.openxmlformats.org/officeDocument/2006/relationships/image" Target="../media/image833.png"/><Relationship Id="rId5" Type="http://schemas.openxmlformats.org/officeDocument/2006/relationships/image" Target="../media/image834.png"/><Relationship Id="rId6" Type="http://schemas.openxmlformats.org/officeDocument/2006/relationships/image" Target="../media/image835.png"/><Relationship Id="rId7" Type="http://schemas.openxmlformats.org/officeDocument/2006/relationships/image" Target="../media/image836.png"/><Relationship Id="rId8" Type="http://schemas.openxmlformats.org/officeDocument/2006/relationships/image" Target="../media/image837.png"/><Relationship Id="rId9" Type="http://schemas.openxmlformats.org/officeDocument/2006/relationships/image" Target="../media/image838.png"/><Relationship Id="rId10" Type="http://schemas.openxmlformats.org/officeDocument/2006/relationships/image" Target="../media/image839.png"/><Relationship Id="rId11" Type="http://schemas.openxmlformats.org/officeDocument/2006/relationships/image" Target="../media/image840.png"/></Relationships>
</file>

<file path=ppt/charts/_rels/chart116.xml.rels><?xml version='1.0' encoding='UTF-8' standalone='yes'?>
<Relationships xmlns="http://schemas.openxmlformats.org/package/2006/relationships"><Relationship Id="rId2" Type="http://schemas.openxmlformats.org/officeDocument/2006/relationships/image" Target="../media/image841.png"/><Relationship Id="rId3" Type="http://schemas.openxmlformats.org/officeDocument/2006/relationships/image" Target="../media/image842.png"/><Relationship Id="rId4" Type="http://schemas.openxmlformats.org/officeDocument/2006/relationships/image" Target="../media/image843.png"/><Relationship Id="rId5" Type="http://schemas.openxmlformats.org/officeDocument/2006/relationships/image" Target="../media/image844.png"/><Relationship Id="rId6" Type="http://schemas.openxmlformats.org/officeDocument/2006/relationships/image" Target="../media/image845.png"/><Relationship Id="rId7" Type="http://schemas.openxmlformats.org/officeDocument/2006/relationships/image" Target="../media/image846.png"/><Relationship Id="rId8" Type="http://schemas.openxmlformats.org/officeDocument/2006/relationships/image" Target="../media/image847.png"/><Relationship Id="rId9" Type="http://schemas.openxmlformats.org/officeDocument/2006/relationships/image" Target="../media/image848.png"/><Relationship Id="rId10" Type="http://schemas.openxmlformats.org/officeDocument/2006/relationships/image" Target="../media/image849.png"/><Relationship Id="rId11" Type="http://schemas.openxmlformats.org/officeDocument/2006/relationships/image" Target="../media/image850.png"/><Relationship Id="rId12" Type="http://schemas.openxmlformats.org/officeDocument/2006/relationships/image" Target="../media/image851.png"/></Relationships>
</file>

<file path=ppt/charts/_rels/chart117.xml.rels><?xml version='1.0' encoding='UTF-8' standalone='yes'?>
<Relationships xmlns="http://schemas.openxmlformats.org/package/2006/relationships"><Relationship Id="rId2" Type="http://schemas.openxmlformats.org/officeDocument/2006/relationships/image" Target="../media/image852.png"/><Relationship Id="rId3" Type="http://schemas.openxmlformats.org/officeDocument/2006/relationships/image" Target="../media/image853.png"/><Relationship Id="rId4" Type="http://schemas.openxmlformats.org/officeDocument/2006/relationships/image" Target="../media/image854.png"/><Relationship Id="rId5" Type="http://schemas.openxmlformats.org/officeDocument/2006/relationships/image" Target="../media/image855.png"/><Relationship Id="rId6" Type="http://schemas.openxmlformats.org/officeDocument/2006/relationships/image" Target="../media/image856.png"/><Relationship Id="rId7" Type="http://schemas.openxmlformats.org/officeDocument/2006/relationships/image" Target="../media/image857.png"/><Relationship Id="rId8" Type="http://schemas.openxmlformats.org/officeDocument/2006/relationships/image" Target="../media/image858.png"/><Relationship Id="rId9" Type="http://schemas.openxmlformats.org/officeDocument/2006/relationships/image" Target="../media/image859.png"/><Relationship Id="rId10" Type="http://schemas.openxmlformats.org/officeDocument/2006/relationships/image" Target="../media/image860.png"/><Relationship Id="rId11" Type="http://schemas.openxmlformats.org/officeDocument/2006/relationships/image" Target="../media/image861.png"/></Relationships>
</file>

<file path=ppt/charts/_rels/chart118.xml.rels><?xml version='1.0' encoding='UTF-8' standalone='yes'?>
<Relationships xmlns="http://schemas.openxmlformats.org/package/2006/relationships"><Relationship Id="rId2" Type="http://schemas.openxmlformats.org/officeDocument/2006/relationships/image" Target="../media/image862.png"/><Relationship Id="rId3" Type="http://schemas.openxmlformats.org/officeDocument/2006/relationships/image" Target="../media/image863.png"/><Relationship Id="rId4" Type="http://schemas.openxmlformats.org/officeDocument/2006/relationships/image" Target="../media/image864.png"/><Relationship Id="rId5" Type="http://schemas.openxmlformats.org/officeDocument/2006/relationships/image" Target="../media/image865.png"/><Relationship Id="rId6" Type="http://schemas.openxmlformats.org/officeDocument/2006/relationships/image" Target="../media/image866.png"/><Relationship Id="rId7" Type="http://schemas.openxmlformats.org/officeDocument/2006/relationships/image" Target="../media/image867.png"/><Relationship Id="rId8" Type="http://schemas.openxmlformats.org/officeDocument/2006/relationships/image" Target="../media/image868.png"/><Relationship Id="rId9" Type="http://schemas.openxmlformats.org/officeDocument/2006/relationships/image" Target="../media/image869.png"/><Relationship Id="rId10" Type="http://schemas.openxmlformats.org/officeDocument/2006/relationships/image" Target="../media/image870.png"/><Relationship Id="rId11" Type="http://schemas.openxmlformats.org/officeDocument/2006/relationships/image" Target="../media/image871.png"/><Relationship Id="rId12" Type="http://schemas.openxmlformats.org/officeDocument/2006/relationships/image" Target="../media/image872.png"/></Relationships>
</file>

<file path=ppt/charts/_rels/chart119.xml.rels><?xml version='1.0' encoding='UTF-8' standalone='yes'?>
<Relationships xmlns="http://schemas.openxmlformats.org/package/2006/relationships"><Relationship Id="rId2" Type="http://schemas.openxmlformats.org/officeDocument/2006/relationships/image" Target="../media/image873.png"/><Relationship Id="rId3" Type="http://schemas.openxmlformats.org/officeDocument/2006/relationships/image" Target="../media/image874.png"/><Relationship Id="rId4" Type="http://schemas.openxmlformats.org/officeDocument/2006/relationships/image" Target="../media/image875.png"/><Relationship Id="rId5" Type="http://schemas.openxmlformats.org/officeDocument/2006/relationships/image" Target="../media/image876.png"/><Relationship Id="rId6" Type="http://schemas.openxmlformats.org/officeDocument/2006/relationships/image" Target="../media/image877.png"/><Relationship Id="rId7" Type="http://schemas.openxmlformats.org/officeDocument/2006/relationships/image" Target="../media/image878.png"/><Relationship Id="rId8" Type="http://schemas.openxmlformats.org/officeDocument/2006/relationships/image" Target="../media/image879.png"/><Relationship Id="rId9" Type="http://schemas.openxmlformats.org/officeDocument/2006/relationships/image" Target="../media/image880.png"/><Relationship Id="rId10" Type="http://schemas.openxmlformats.org/officeDocument/2006/relationships/image" Target="../media/image881.png"/><Relationship Id="rId11" Type="http://schemas.openxmlformats.org/officeDocument/2006/relationships/image" Target="../media/image882.png"/></Relationships>
</file>

<file path=ppt/charts/_rels/chart120.xml.rels><?xml version='1.0' encoding='UTF-8' standalone='yes'?>
<Relationships xmlns="http://schemas.openxmlformats.org/package/2006/relationships"><Relationship Id="rId2" Type="http://schemas.openxmlformats.org/officeDocument/2006/relationships/image" Target="../media/image883.png"/><Relationship Id="rId3" Type="http://schemas.openxmlformats.org/officeDocument/2006/relationships/image" Target="../media/image884.png"/><Relationship Id="rId4" Type="http://schemas.openxmlformats.org/officeDocument/2006/relationships/image" Target="../media/image885.png"/><Relationship Id="rId5" Type="http://schemas.openxmlformats.org/officeDocument/2006/relationships/image" Target="../media/image886.png"/></Relationships>
</file>

<file path=ppt/charts/_rels/chart121.xml.rels><?xml version='1.0' encoding='UTF-8' standalone='yes'?>
<Relationships xmlns="http://schemas.openxmlformats.org/package/2006/relationships"><Relationship Id="rId2" Type="http://schemas.openxmlformats.org/officeDocument/2006/relationships/image" Target="../media/image887.png"/></Relationships>
</file>

<file path=ppt/charts/_rels/chart122.xml.rels><?xml version='1.0' encoding='UTF-8' standalone='yes'?>
<Relationships xmlns="http://schemas.openxmlformats.org/package/2006/relationships"><Relationship Id="rId2" Type="http://schemas.openxmlformats.org/officeDocument/2006/relationships/image" Target="../media/image888.png"/><Relationship Id="rId3" Type="http://schemas.openxmlformats.org/officeDocument/2006/relationships/image" Target="../media/image889.png"/><Relationship Id="rId4" Type="http://schemas.openxmlformats.org/officeDocument/2006/relationships/image" Target="../media/image890.png"/><Relationship Id="rId5" Type="http://schemas.openxmlformats.org/officeDocument/2006/relationships/image" Target="../media/image891.png"/></Relationships>
</file>

<file path=ppt/charts/_rels/chart123.xml.rels><?xml version='1.0' encoding='UTF-8' standalone='yes'?>
<Relationships xmlns="http://schemas.openxmlformats.org/package/2006/relationships"><Relationship Id="rId2" Type="http://schemas.openxmlformats.org/officeDocument/2006/relationships/image" Target="../media/image892.png"/></Relationships>
</file>

<file path=ppt/charts/_rels/chart124.xml.rels><?xml version='1.0' encoding='UTF-8' standalone='yes'?>
<Relationships xmlns="http://schemas.openxmlformats.org/package/2006/relationships"><Relationship Id="rId2" Type="http://schemas.openxmlformats.org/officeDocument/2006/relationships/image" Target="../media/image925.png"/><Relationship Id="rId3" Type="http://schemas.openxmlformats.org/officeDocument/2006/relationships/image" Target="../media/image926.png"/><Relationship Id="rId4" Type="http://schemas.openxmlformats.org/officeDocument/2006/relationships/image" Target="../media/image927.png"/><Relationship Id="rId5" Type="http://schemas.openxmlformats.org/officeDocument/2006/relationships/image" Target="../media/image928.png"/></Relationships>
</file>

<file path=ppt/charts/_rels/chart125.xml.rels><?xml version='1.0' encoding='UTF-8' standalone='yes'?>
<Relationships xmlns="http://schemas.openxmlformats.org/package/2006/relationships"><Relationship Id="rId2" Type="http://schemas.openxmlformats.org/officeDocument/2006/relationships/image" Target="../media/image929.png"/></Relationships>
</file>

<file path=ppt/charts/_rels/chart126.xml.rels><?xml version='1.0' encoding='UTF-8' standalone='yes'?>
<Relationships xmlns="http://schemas.openxmlformats.org/package/2006/relationships"><Relationship Id="rId2" Type="http://schemas.openxmlformats.org/officeDocument/2006/relationships/image" Target="../media/image930.png"/><Relationship Id="rId3" Type="http://schemas.openxmlformats.org/officeDocument/2006/relationships/image" Target="../media/image931.png"/><Relationship Id="rId4" Type="http://schemas.openxmlformats.org/officeDocument/2006/relationships/image" Target="../media/image932.png"/><Relationship Id="rId5" Type="http://schemas.openxmlformats.org/officeDocument/2006/relationships/image" Target="../media/image933.png"/></Relationships>
</file>

<file path=ppt/charts/_rels/chart127.xml.rels><?xml version='1.0' encoding='UTF-8' standalone='yes'?>
<Relationships xmlns="http://schemas.openxmlformats.org/package/2006/relationships"><Relationship Id="rId2" Type="http://schemas.openxmlformats.org/officeDocument/2006/relationships/image" Target="../media/image934.png"/></Relationships>
</file>

<file path=ppt/charts/_rels/chart128.xml.rels><?xml version='1.0' encoding='UTF-8' standalone='yes'?>
<Relationships xmlns="http://schemas.openxmlformats.org/package/2006/relationships"><Relationship Id="rId2" Type="http://schemas.openxmlformats.org/officeDocument/2006/relationships/image" Target="../media/image968.png"/><Relationship Id="rId3" Type="http://schemas.openxmlformats.org/officeDocument/2006/relationships/image" Target="../media/image969.png"/><Relationship Id="rId4" Type="http://schemas.openxmlformats.org/officeDocument/2006/relationships/image" Target="../media/image970.png"/><Relationship Id="rId5" Type="http://schemas.openxmlformats.org/officeDocument/2006/relationships/image" Target="../media/image971.png"/></Relationships>
</file>

<file path=ppt/charts/_rels/chart129.xml.rels><?xml version='1.0' encoding='UTF-8' standalone='yes'?>
<Relationships xmlns="http://schemas.openxmlformats.org/package/2006/relationships"><Relationship Id="rId2" Type="http://schemas.openxmlformats.org/officeDocument/2006/relationships/image" Target="../media/image972.png"/></Relationships>
</file>

<file path=ppt/charts/_rels/chart130.xml.rels><?xml version='1.0' encoding='UTF-8' standalone='yes'?>
<Relationships xmlns="http://schemas.openxmlformats.org/package/2006/relationships"><Relationship Id="rId2" Type="http://schemas.openxmlformats.org/officeDocument/2006/relationships/image" Target="../media/image973.png"/><Relationship Id="rId3" Type="http://schemas.openxmlformats.org/officeDocument/2006/relationships/image" Target="../media/image974.png"/><Relationship Id="rId4" Type="http://schemas.openxmlformats.org/officeDocument/2006/relationships/image" Target="../media/image975.png"/><Relationship Id="rId5" Type="http://schemas.openxmlformats.org/officeDocument/2006/relationships/image" Target="../media/image976.png"/></Relationships>
</file>

<file path=ppt/charts/_rels/chart131.xml.rels><?xml version='1.0' encoding='UTF-8' standalone='yes'?>
<Relationships xmlns="http://schemas.openxmlformats.org/package/2006/relationships"><Relationship Id="rId2" Type="http://schemas.openxmlformats.org/officeDocument/2006/relationships/image" Target="../media/image977.png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S1</c:v>
                </c:pt>
              </c:strCache>
            </c:strRef>
          </c:tx>
          <c:spPr>
            <a:solidFill>
              <a:srgbClr val="003E58"/>
            </a:solidFill>
            <a:ln>
              <a:noFill/>
            </a:ln>
          </c:spPr>
          <c:dLbls>
            <c:dLbl>
              <c:idx val="0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.0&quot;%&quot;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2021–2026</c:v>
                </c:pt>
                <c:pt idx="1">
                  <c:v>2026–2036</c:v>
                </c:pt>
                <c:pt idx="2">
                  <c:v>2021–2036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4.840737068766021</c:v>
                </c:pt>
                <c:pt idx="1">
                  <c:v>5.528600737066491</c:v>
                </c:pt>
                <c:pt idx="2">
                  <c:v>5.298812849078982</c:v>
                </c:pt>
              </c:numCache>
            </c:numRef>
          </c:val>
        </c:ser>
        <c:dLbls>
          <c:numFmt formatCode="0.0&quot;%&quot;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7.297752972927769"/>
          <c:min val="0.0"/>
        </c:scaling>
        <c:delete val="0"/>
        <c:axPos val="l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5"/>
                <c:pt idx="0">
                  <c:v>2021</c:v>
                </c:pt>
                <c:pt idx="1">
                  <c:v>2021–2026</c:v>
                </c:pt>
                <c:pt idx="2">
                  <c:v>2026</c:v>
                </c:pt>
                <c:pt idx="3">
                  <c:v>2026–2036</c:v>
                </c:pt>
                <c:pt idx="4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0.0</c:v>
                </c:pt>
                <c:pt idx="1">
                  <c:v>133180.0</c:v>
                </c:pt>
                <c:pt idx="2">
                  <c:v>0.0</c:v>
                </c:pt>
                <c:pt idx="3">
                  <c:v>168690.0</c:v>
                </c:pt>
                <c:pt idx="4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E72AE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5"/>
                <c:pt idx="0">
                  <c:v>2021</c:v>
                </c:pt>
                <c:pt idx="1">
                  <c:v>2021–2026</c:v>
                </c:pt>
                <c:pt idx="2">
                  <c:v>2026</c:v>
                </c:pt>
                <c:pt idx="3">
                  <c:v>2026–2036</c:v>
                </c:pt>
                <c:pt idx="4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133180.0</c:v>
                </c:pt>
                <c:pt idx="1">
                  <c:v>35510.0</c:v>
                </c:pt>
                <c:pt idx="2">
                  <c:v>168690.0</c:v>
                </c:pt>
                <c:pt idx="3">
                  <c:v>120239.0</c:v>
                </c:pt>
                <c:pt idx="4">
                  <c:v>288929.0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S1</c:v>
                </c:pt>
              </c:strCache>
            </c:strRef>
          </c:tx>
          <c:spPr>
            <a:solidFill>
              <a:srgbClr val="003E58"/>
            </a:solidFill>
            <a:ln>
              <a:noFill/>
            </a:ln>
          </c:spPr>
          <c:dLbls>
            <c:dLbl>
              <c:idx val="0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.0&quot;%&quot;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2021–2026</c:v>
                </c:pt>
                <c:pt idx="1">
                  <c:v>2026–2036</c:v>
                </c:pt>
                <c:pt idx="2">
                  <c:v>2021–2036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5.428624625271983</c:v>
                </c:pt>
                <c:pt idx="1">
                  <c:v>6.0946929912261805</c:v>
                </c:pt>
                <c:pt idx="2">
                  <c:v>5.872203951449029</c:v>
                </c:pt>
              </c:numCache>
            </c:numRef>
          </c:val>
        </c:ser>
        <c:dLbls>
          <c:numFmt formatCode="0.0&quot;%&quot;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8.044994748418558"/>
          <c:min val="0.0"/>
        </c:scaling>
        <c:delete val="0"/>
        <c:axPos val="l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5"/>
                <c:pt idx="0">
                  <c:v>2021</c:v>
                </c:pt>
                <c:pt idx="1">
                  <c:v>2021–2026</c:v>
                </c:pt>
                <c:pt idx="2">
                  <c:v>2026</c:v>
                </c:pt>
                <c:pt idx="3">
                  <c:v>2026–2036</c:v>
                </c:pt>
                <c:pt idx="4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0.0</c:v>
                </c:pt>
                <c:pt idx="1">
                  <c:v>2420.011</c:v>
                </c:pt>
                <c:pt idx="2">
                  <c:v>0.0</c:v>
                </c:pt>
                <c:pt idx="3">
                  <c:v>3152.1730000000002</c:v>
                </c:pt>
                <c:pt idx="4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E72AE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5"/>
                <c:pt idx="0">
                  <c:v>2021</c:v>
                </c:pt>
                <c:pt idx="1">
                  <c:v>2021–2026</c:v>
                </c:pt>
                <c:pt idx="2">
                  <c:v>2026</c:v>
                </c:pt>
                <c:pt idx="3">
                  <c:v>2026–2036</c:v>
                </c:pt>
                <c:pt idx="4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2420.011</c:v>
                </c:pt>
                <c:pt idx="1">
                  <c:v>732.1620000000003</c:v>
                </c:pt>
                <c:pt idx="2">
                  <c:v>3152.1730000000002</c:v>
                </c:pt>
                <c:pt idx="3">
                  <c:v>2543.5209999999993</c:v>
                </c:pt>
                <c:pt idx="4">
                  <c:v>5695.6939999999995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Value (US$ Mn)</c:v>
                </c:pt>
              </c:strCache>
            </c:strRef>
          </c:tx>
          <c:spPr>
            <a:solidFill>
              <a:srgbClr val="69B1E0"/>
            </a:solidFill>
            <a:ln>
              <a:noFill/>
            </a:ln>
          </c:spPr>
          <c:dLbls>
            <c:dLbl>
              <c:idx val="0"/>
              <c:numFmt formatCode="&quot;MMMMMMM&quot;;&quot;MMMMMMM&quot;;&quot;MMM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MMM&quot;;&quot;MMMMMMM&quot;;&quot;MMM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MMM&quot;;&quot;MMMMMMM&quot;;&quot;MMM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MMM&quot;;&quot;MMMMMMM&quot;;&quot;MMM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MMM&quot;;&quot;MMMMMMM&quot;;&quot;MMM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solidFill>
                      <a:srgbClr val="6C7A89"/>
                    </a:solidFill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5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2420.011</c:v>
                </c:pt>
                <c:pt idx="1">
                  <c:v>2550.623</c:v>
                </c:pt>
                <c:pt idx="2">
                  <c:v>2683.0960000000005</c:v>
                </c:pt>
                <c:pt idx="3">
                  <c:v>2822.6629999999996</c:v>
                </c:pt>
                <c:pt idx="4">
                  <c:v>2972.517</c:v>
                </c:pt>
              </c:numCache>
            </c:numRef>
          </c:val>
        </c:ser>
        <c:gapWidth val="50"/>
        <c:axId val="-2068027336"/>
        <c:axId val="-2113994440"/>
      </c:barChart>
      <c:barChart>
        <c:barDir val="col"/>
        <c:grouping val="clustered"/>
        <c:varyColors val="0"/>
        <c:ser>
          <c:idx val="1"/>
          <c:order val="1"/>
          <c:tx>
            <c:strRef>
              <c:strCache>
                <c:ptCount val="1"/>
                <c:pt idx="0">
                  <c:v>Volume (MT)</c:v>
                </c:pt>
              </c:strCache>
            </c:strRef>
          </c:tx>
          <c:spPr>
            <a:solidFill>
              <a:srgbClr val="C55A11"/>
            </a:solidFill>
            <a:ln>
              <a:noFill/>
            </a:ln>
          </c:spPr>
          <c:dLbls>
            <c:dLbl>
              <c:idx val="0"/>
              <c:numFmt formatCode="&quot;MMMMMMMMM&quot;;&quot;MMMMMMMMM&quot;;&quot;MMMMM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MMMMM&quot;;&quot;MMMMMMMMM&quot;;&quot;MMMMM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MMMMM&quot;;&quot;MMMMMMMMM&quot;;&quot;MMMMM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MMMMM&quot;;&quot;MMMMMMMMM&quot;;&quot;MMMMM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MMMMM&quot;;&quot;MMMMMMMMM&quot;;&quot;MMMMM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5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133180.0</c:v>
                </c:pt>
                <c:pt idx="1">
                  <c:v>139589.0</c:v>
                </c:pt>
                <c:pt idx="2">
                  <c:v>145993.0</c:v>
                </c:pt>
                <c:pt idx="3">
                  <c:v>152744.0</c:v>
                </c:pt>
                <c:pt idx="4">
                  <c:v>159981.0</c:v>
                </c:pt>
              </c:numCache>
            </c:numRef>
          </c:val>
        </c:ser>
        <c:gapWidth val="219"/>
        <c:axId val="90210001"/>
        <c:axId val="90210002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max val="3508"/>
          <c:min val="0"/>
        </c:scaling>
        <c:delete val="0"/>
        <c:axPos val="l"/>
        <c:numFmt formatCode="#,##0" sourceLinked="0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  <c:catAx>
        <c:axId val="90210001"/>
        <c:scaling>
          <c:orientation val="minMax"/>
        </c:scaling>
        <c:delete val="1"/>
        <c:axPos val="b"/>
        <c:crossAx val="90210002"/>
        <c:crosses val="autoZero"/>
      </c:catAx>
      <c:valAx>
        <c:axId val="90210002"/>
        <c:scaling>
          <c:orientation val="minMax"/>
          <c:max val="219354"/>
          <c:min val="0"/>
        </c:scaling>
        <c:delete val="0"/>
        <c:axPos val="r"/>
        <c:numFmt formatCode="#,##0" sourceLinked="0"/>
        <c:majorTickMark val="none"/>
        <c:minorTickMark val="none"/>
        <c:tickLblPos val="none"/>
        <c:spPr>
          <a:ln>
            <a:noFill/>
          </a:ln>
        </c:spPr>
        <c:crossAx val="90210001"/>
        <c:crosses val="max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Value (US$ Mn)</c:v>
                </c:pt>
              </c:strCache>
            </c:strRef>
          </c:tx>
          <c:spPr>
            <a:solidFill>
              <a:srgbClr val="69B1E0"/>
            </a:solidFill>
            <a:ln>
              <a:noFill/>
            </a:ln>
          </c:spPr>
          <c:dLbls>
            <c:dLbl>
              <c:idx val="0"/>
              <c:numFmt formatCode="&quot;MMMMMMM&quot;;&quot;MMMMMMM&quot;;&quot;MMM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MMM&quot;;&quot;MMMMMMM&quot;;&quot;MMM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MMM&quot;;&quot;MMMMMMM&quot;;&quot;MMM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MMM&quot;;&quot;MMMMMMM&quot;;&quot;MMM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MMM&quot;;&quot;MMMMMMM&quot;;&quot;MMM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MMM&quot;;&quot;MMMMMMM&quot;;&quot;MMM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MMMMMM&quot;;&quot;MMMMMMM&quot;;&quot;MMM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MMMMMM&quot;;&quot;MMMMMMM&quot;;&quot;MMM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MMMMMMM&quot;;&quot;MMMMMMM&quot;;&quot;MMM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MMMMMMM&quot;;&quot;MMMMMMM&quot;;&quot;MMM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MMMMMMM&quot;;&quot;MMMMMMM&quot;;&quot;MMMM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solidFill>
                      <a:srgbClr val="6C7A89"/>
                    </a:solidFill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1"/>
                <c:pt idx="0">
                  <c:v>2026</c:v>
                </c:pt>
                <c:pt idx="1">
                  <c:v>2027</c:v>
                </c:pt>
                <c:pt idx="2">
                  <c:v>2028</c:v>
                </c:pt>
                <c:pt idx="3">
                  <c:v>2029</c:v>
                </c:pt>
                <c:pt idx="4">
                  <c:v>2030</c:v>
                </c:pt>
                <c:pt idx="5">
                  <c:v>2031</c:v>
                </c:pt>
                <c:pt idx="6">
                  <c:v>2032</c:v>
                </c:pt>
                <c:pt idx="7">
                  <c:v>2033</c:v>
                </c:pt>
                <c:pt idx="8">
                  <c:v>2034</c:v>
                </c:pt>
                <c:pt idx="9">
                  <c:v>2035</c:v>
                </c:pt>
                <c:pt idx="10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1"/>
                <c:pt idx="0">
                  <c:v>3152.1730000000002</c:v>
                </c:pt>
                <c:pt idx="1">
                  <c:v>3339.8329999999996</c:v>
                </c:pt>
                <c:pt idx="2">
                  <c:v>3545.79</c:v>
                </c:pt>
                <c:pt idx="3">
                  <c:v>3766.141</c:v>
                </c:pt>
                <c:pt idx="4">
                  <c:v>3990.022</c:v>
                </c:pt>
                <c:pt idx="5">
                  <c:v>4230.696</c:v>
                </c:pt>
                <c:pt idx="6">
                  <c:v>4487.471</c:v>
                </c:pt>
                <c:pt idx="7">
                  <c:v>4763.877</c:v>
                </c:pt>
                <c:pt idx="8">
                  <c:v>5056.371</c:v>
                </c:pt>
                <c:pt idx="9">
                  <c:v>5366.447999999999</c:v>
                </c:pt>
                <c:pt idx="10">
                  <c:v>5695.6939999999995</c:v>
                </c:pt>
              </c:numCache>
            </c:numRef>
          </c:val>
        </c:ser>
        <c:gapWidth val="50"/>
        <c:axId val="-2068027336"/>
        <c:axId val="-2113994440"/>
      </c:barChart>
      <c:barChart>
        <c:barDir val="col"/>
        <c:grouping val="clustered"/>
        <c:varyColors val="0"/>
        <c:ser>
          <c:idx val="1"/>
          <c:order val="1"/>
          <c:tx>
            <c:strRef>
              <c:strCache>
                <c:ptCount val="1"/>
                <c:pt idx="0">
                  <c:v>Volume (MT)</c:v>
                </c:pt>
              </c:strCache>
            </c:strRef>
          </c:tx>
          <c:spPr>
            <a:solidFill>
              <a:srgbClr val="C55A11"/>
            </a:solidFill>
            <a:ln>
              <a:noFill/>
            </a:ln>
          </c:spPr>
          <c:dLbls>
            <c:dLbl>
              <c:idx val="0"/>
              <c:numFmt formatCode="&quot;MMMMMMMMM&quot;;&quot;MMMMMMMMM&quot;;&quot;MMMMMM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MMMMM&quot;;&quot;MMMMMMMMM&quot;;&quot;MMMMMMMMM&quot;" sourceLinked="0"/>
              <c:spPr>
                <a:blipFill>
                  <a:blip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MMMMM&quot;;&quot;MMMMMMMMM&quot;;&quot;MMMMMMMMM&quot;" sourceLinked="0"/>
              <c:spPr>
                <a:blipFill>
                  <a:blip r:embed="rId1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MMMMM&quot;;&quot;MMMMMMMMM&quot;;&quot;MMMMMMMMM&quot;" sourceLinked="0"/>
              <c:spPr>
                <a:blipFill>
                  <a:blip r:embed="rId1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MMMMM&quot;;&quot;MMMMMMMMM&quot;;&quot;MMMMMMMMM&quot;" sourceLinked="0"/>
              <c:spPr>
                <a:blipFill>
                  <a:blip r:embed="rId1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MMMMM&quot;;&quot;MMMMMMMMM&quot;;&quot;MMMMMMMMM&quot;" sourceLinked="0"/>
              <c:spPr>
                <a:blipFill>
                  <a:blip r:embed="rId1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MMMMMMMM&quot;;&quot;MMMMMMMMM&quot;;&quot;MMMMMMMMM&quot;" sourceLinked="0"/>
              <c:spPr>
                <a:blipFill>
                  <a:blip r:embed="rId1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MMMMMMMM&quot;;&quot;MMMMMMMMM&quot;;&quot;MMMMMMMMM&quot;" sourceLinked="0"/>
              <c:spPr>
                <a:blipFill>
                  <a:blip r:embed="rId2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MMMMMMMMM&quot;;&quot;MMMMMMMMM&quot;;&quot;MMMMMMMMM&quot;" sourceLinked="0"/>
              <c:spPr>
                <a:blipFill>
                  <a:blip r:embed="rId2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MMMMMMMMM&quot;;&quot;MMMMMMMMM&quot;;&quot;MMMMMMMMM&quot;" sourceLinked="0"/>
              <c:spPr>
                <a:blipFill>
                  <a:blip r:embed="rId2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MMMMMMMMM&quot;;&quot;MMMMMMMMM&quot;;&quot;MMMMMMMMM&quot;" sourceLinked="0"/>
              <c:spPr>
                <a:blipFill>
                  <a:blip r:embed="rId2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1"/>
                <c:pt idx="0">
                  <c:v>2026</c:v>
                </c:pt>
                <c:pt idx="1">
                  <c:v>2027</c:v>
                </c:pt>
                <c:pt idx="2">
                  <c:v>2028</c:v>
                </c:pt>
                <c:pt idx="3">
                  <c:v>2029</c:v>
                </c:pt>
                <c:pt idx="4">
                  <c:v>2030</c:v>
                </c:pt>
                <c:pt idx="5">
                  <c:v>2031</c:v>
                </c:pt>
                <c:pt idx="6">
                  <c:v>2032</c:v>
                </c:pt>
                <c:pt idx="7">
                  <c:v>2033</c:v>
                </c:pt>
                <c:pt idx="8">
                  <c:v>2034</c:v>
                </c:pt>
                <c:pt idx="9">
                  <c:v>2035</c:v>
                </c:pt>
                <c:pt idx="10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1"/>
                <c:pt idx="0">
                  <c:v>168690.0</c:v>
                </c:pt>
                <c:pt idx="1">
                  <c:v>177780.0</c:v>
                </c:pt>
                <c:pt idx="2">
                  <c:v>187729.0</c:v>
                </c:pt>
                <c:pt idx="3">
                  <c:v>198315.0</c:v>
                </c:pt>
                <c:pt idx="4">
                  <c:v>208975.0</c:v>
                </c:pt>
                <c:pt idx="5">
                  <c:v>220368.0</c:v>
                </c:pt>
                <c:pt idx="6">
                  <c:v>232493.0</c:v>
                </c:pt>
                <c:pt idx="7">
                  <c:v>245532.0</c:v>
                </c:pt>
                <c:pt idx="8">
                  <c:v>259212.0</c:v>
                </c:pt>
                <c:pt idx="9">
                  <c:v>273648.0</c:v>
                </c:pt>
                <c:pt idx="10">
                  <c:v>288929.0</c:v>
                </c:pt>
              </c:numCache>
            </c:numRef>
          </c:val>
        </c:ser>
        <c:gapWidth val="219"/>
        <c:axId val="90210001"/>
        <c:axId val="90210002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max val="6721"/>
          <c:min val="0"/>
        </c:scaling>
        <c:delete val="0"/>
        <c:axPos val="l"/>
        <c:numFmt formatCode="#,##0" sourceLinked="0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  <c:catAx>
        <c:axId val="90210001"/>
        <c:scaling>
          <c:orientation val="minMax"/>
        </c:scaling>
        <c:delete val="1"/>
        <c:axPos val="b"/>
        <c:crossAx val="90210002"/>
        <c:crosses val="autoZero"/>
      </c:catAx>
      <c:valAx>
        <c:axId val="90210002"/>
        <c:scaling>
          <c:orientation val="minMax"/>
          <c:max val="408719"/>
          <c:min val="0"/>
        </c:scaling>
        <c:delete val="0"/>
        <c:axPos val="r"/>
        <c:numFmt formatCode="#,##0" sourceLinked="0"/>
        <c:majorTickMark val="none"/>
        <c:minorTickMark val="none"/>
        <c:tickLblPos val="none"/>
        <c:spPr>
          <a:ln>
            <a:noFill/>
          </a:ln>
        </c:spPr>
        <c:crossAx val="90210001"/>
        <c:crosses val="max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Index</c:v>
                </c:pt>
              </c:strCache>
            </c:strRef>
          </c:tx>
          <c:spPr>
            <a:solidFill>
              <a:srgbClr val="0E72AE"/>
            </a:solidFill>
            <a:ln>
              <a:noFill/>
            </a:ln>
          </c:spPr>
          <c:dLbls>
            <c:dLbl>
              <c:idx val="0"/>
              <c:numFmt formatCode="&quot;MMMMM&quot;;&quot;MMMMM&quot;;&quot;M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M&quot;;&quot;MMMMM&quot;;&quot;M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M&quot;;&quot;MMMMM&quot;;&quot;M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M&quot;;&quot;MMMMM&quot;;&quot;M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M&quot;;&quot;MMMMM&quot;;&quot;M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M&quot;;&quot;MMMMM&quot;;&quot;M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MMMM&quot;;&quot;MMMMM&quot;;&quot;M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MMMM&quot;;&quot;MMMMM&quot;;&quot;M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MMMMM&quot;;&quot;MMMMM&quot;;&quot;M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9"/>
                <c:pt idx="0">
                  <c:v>Portugal</c:v>
                </c:pt>
                <c:pt idx="1">
                  <c:v>Greece</c:v>
                </c:pt>
                <c:pt idx="2">
                  <c:v>France</c:v>
                </c:pt>
                <c:pt idx="3">
                  <c:v>Croatia</c:v>
                </c:pt>
                <c:pt idx="4">
                  <c:v>Spain</c:v>
                </c:pt>
                <c:pt idx="5">
                  <c:v>Malta</c:v>
                </c:pt>
                <c:pt idx="6">
                  <c:v>Netherlands</c:v>
                </c:pt>
                <c:pt idx="7">
                  <c:v>Romania</c:v>
                </c:pt>
                <c:pt idx="8">
                  <c:v>Sweden</c:v>
                </c:pt>
              </c:strCache>
            </c:strRef>
          </c:cat>
          <c:val>
            <c:numRef>
              <c:numCache>
                <c:formatCode>General</c:formatCode>
                <c:ptCount val="9"/>
                <c:pt idx="0">
                  <c:v>103.33649887322616</c:v>
                </c:pt>
                <c:pt idx="1">
                  <c:v>103.57610711632728</c:v>
                </c:pt>
                <c:pt idx="2">
                  <c:v>105.571273571104</c:v>
                </c:pt>
                <c:pt idx="3">
                  <c:v>110.59798049103942</c:v>
                </c:pt>
                <c:pt idx="4">
                  <c:v>110.64604904161592</c:v>
                </c:pt>
                <c:pt idx="5">
                  <c:v>110.9514989827649</c:v>
                </c:pt>
                <c:pt idx="6">
                  <c:v>112.65206959450845</c:v>
                </c:pt>
                <c:pt idx="7">
                  <c:v>113.90858965859098</c:v>
                </c:pt>
                <c:pt idx="8">
                  <c:v>116.1762240291401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b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Index</c:v>
                </c:pt>
              </c:strCache>
            </c:strRef>
          </c:tx>
          <c:spPr>
            <a:solidFill>
              <a:srgbClr val="0E72AE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&quot;;&quot;MMM&quot;;&quot;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&quot;;&quot;MMM&quot;;&quot;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&quot;;&quot;MMM&quot;;&quot;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MMMM&quot;;&quot;MMMM&quot;;&quot;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.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9"/>
                <c:pt idx="0">
                  <c:v>Austria</c:v>
                </c:pt>
                <c:pt idx="1">
                  <c:v>Poland</c:v>
                </c:pt>
                <c:pt idx="2">
                  <c:v>Sweden</c:v>
                </c:pt>
                <c:pt idx="3">
                  <c:v>Netherlands</c:v>
                </c:pt>
                <c:pt idx="4">
                  <c:v>Spain</c:v>
                </c:pt>
                <c:pt idx="5">
                  <c:v>Italy</c:v>
                </c:pt>
                <c:pt idx="6">
                  <c:v>France</c:v>
                </c:pt>
                <c:pt idx="7">
                  <c:v>United Kingdom</c:v>
                </c:pt>
                <c:pt idx="8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9"/>
                <c:pt idx="0">
                  <c:v>2.4609979630598695</c:v>
                </c:pt>
                <c:pt idx="1">
                  <c:v>3.524838206564839</c:v>
                </c:pt>
                <c:pt idx="2">
                  <c:v>3.5424122702348457</c:v>
                </c:pt>
                <c:pt idx="3">
                  <c:v>5.238368387758542</c:v>
                </c:pt>
                <c:pt idx="4">
                  <c:v>7.912024315899102</c:v>
                </c:pt>
                <c:pt idx="5">
                  <c:v>9.765950428559465</c:v>
                </c:pt>
                <c:pt idx="6">
                  <c:v>14.096600735751746</c:v>
                </c:pt>
                <c:pt idx="7">
                  <c:v>15.260813651627023</c:v>
                </c:pt>
                <c:pt idx="8">
                  <c:v>15.995503870422151</c:v>
                </c:pt>
              </c:numCache>
            </c:numRef>
          </c:val>
        </c:ser>
        <c:dLbls>
          <c:numFmt formatCode="0.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b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roundedCorners val="0"/>
  <c:chart>
    <c:autoTitleDeleted val="1"/>
    <c:plotArea>
      <c:layout>
        <c:manualLayout>
          <c:layoutTarget val="inner"/>
          <c:xMode val="edge"/>
          <c:yMode val="edge"/>
          <c:x val="0.01"/>
          <c:y val="0.04"/>
          <c:w val="0.68"/>
          <c:h val="0.92"/>
        </c:manualLayout>
      </c:layout>
      <c:doughnutChart>
        <c:varyColors val="0"/>
        <c:ser>
          <c:idx val="0"/>
          <c:order val="0"/>
          <c:tx>
            <c:strRef>
              <c:strCache>
                <c:ptCount val="1"/>
                <c:pt idx="0">
                  <c:v>Share</c:v>
                </c:pt>
              </c:strCache>
            </c:strRef>
          </c:tx>
          <c:spPr/>
          <c:dPt>
            <c:idx val="0"/>
            <c:spPr>
              <a:solidFill>
                <a:srgbClr val="3D85C6"/>
              </a:solidFill>
            </c:spPr>
          </c:dPt>
          <c:dPt>
            <c:idx val="1"/>
            <c:spPr>
              <a:solidFill>
                <a:srgbClr val="9E7E0A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40315E"/>
              </a:solidFill>
            </c:spPr>
          </c:dPt>
          <c:dPt>
            <c:idx val="4"/>
            <c:spPr>
              <a:solidFill>
                <a:srgbClr val="A35313"/>
              </a:solidFill>
            </c:spPr>
          </c:dPt>
          <c:dPt>
            <c:idx val="5"/>
            <c:spPr>
              <a:solidFill>
                <a:srgbClr val="808080"/>
              </a:solidFill>
            </c:spPr>
          </c:dPt>
          <c:dLbls>
            <c:dLbl>
              <c:idx val="0"/>
              <c:numFmt formatCode="&quot;MMMMMMM&quot;;&quot;MMMMMMM&quot;;&quot;MMM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MMM&quot;;&quot;MMMMMMM&quot;;&quot;MMM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M&quot;;&quot;MMMMM&quot;;&quot;M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M&quot;;&quot;MMMMM&quot;;&quot;M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M&quot;;&quot;MMMMM&quot;;&quot;M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M&quot;;&quot;MMMMM&quot;;&quot;M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Ear &amp; Eye Hygiene Products</c:v>
                </c:pt>
                <c:pt idx="4">
                  <c:v>Dental &amp; Oral Care Products</c:v>
                </c:pt>
                <c:pt idx="5">
                  <c:v>Fragrance &amp; Deodorizing Products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2054.639</c:v>
                </c:pt>
                <c:pt idx="1">
                  <c:v>1117.913</c:v>
                </c:pt>
                <c:pt idx="2">
                  <c:v>826.198</c:v>
                </c:pt>
                <c:pt idx="3">
                  <c:v>525.387</c:v>
                </c:pt>
                <c:pt idx="4">
                  <c:v>697.556</c:v>
                </c:pt>
                <c:pt idx="5">
                  <c:v>474.001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/>
    </a:p>
  </c:txPr>
</c:chartSpace>
</file>

<file path=ppt/charts/chart1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lineChart>
        <c:grouping val="standard"/>
        <c:varyColors val="0"/>
        <c:ser>
          <c:idx val="0"/>
          <c:order val="0"/>
          <c:tx>
            <c:strRef>
              <c:strCache>
                <c:ptCount val="1"/>
                <c:pt idx="0">
                  <c:v>Optimistic Scenario</c:v>
                </c:pt>
              </c:strCache>
            </c:strRef>
          </c:tx>
          <c:spPr>
            <a:ln w="28575">
              <a:solidFill>
                <a:srgbClr val="2E5F8A"/>
              </a:solidFill>
            </a:ln>
          </c:spPr>
          <c:marker>
            <c:symbol val="circle"/>
            <c:size val="6"/>
            <c:spPr>
              <a:solidFill>
                <a:srgbClr val="2E5F8A"/>
              </a:solidFill>
              <a:ln>
                <a:solidFill>
                  <a:srgbClr val="2E5F8A"/>
                </a:solidFill>
              </a:ln>
            </c:spPr>
          </c:marker>
          <c:cat>
            <c:strRef>
              <c:strCache>
                <c:ptCount val="11"/>
                <c:pt idx="0">
                  <c:v>2026</c:v>
                </c:pt>
                <c:pt idx="1">
                  <c:v>2027</c:v>
                </c:pt>
                <c:pt idx="2">
                  <c:v>2028</c:v>
                </c:pt>
                <c:pt idx="3">
                  <c:v>2029</c:v>
                </c:pt>
                <c:pt idx="4">
                  <c:v>2030</c:v>
                </c:pt>
                <c:pt idx="5">
                  <c:v>2031</c:v>
                </c:pt>
                <c:pt idx="6">
                  <c:v>2032</c:v>
                </c:pt>
                <c:pt idx="7">
                  <c:v>2033</c:v>
                </c:pt>
                <c:pt idx="8">
                  <c:v>2034</c:v>
                </c:pt>
                <c:pt idx="9">
                  <c:v>2035</c:v>
                </c:pt>
                <c:pt idx="10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1"/>
                <c:pt idx="0">
                  <c:v>0.08299218689321447</c:v>
                </c:pt>
                <c:pt idx="1">
                  <c:v>0.08230189713687358</c:v>
                </c:pt>
                <c:pt idx="2">
                  <c:v>0.0807679199005605</c:v>
                </c:pt>
                <c:pt idx="3">
                  <c:v>0.07919559323333956</c:v>
                </c:pt>
                <c:pt idx="4">
                  <c:v>0.07769996542793431</c:v>
                </c:pt>
                <c:pt idx="5">
                  <c:v>0.07596273620780973</c:v>
                </c:pt>
                <c:pt idx="6">
                  <c:v>0.07463968084148968</c:v>
                </c:pt>
                <c:pt idx="7">
                  <c:v>0.07274138401155224</c:v>
                </c:pt>
                <c:pt idx="8">
                  <c:v>0.07134546472650732</c:v>
                </c:pt>
                <c:pt idx="9">
                  <c:v>0.07033303975054069</c:v>
                </c:pt>
                <c:pt idx="10">
                  <c:v>0.06951236192911317</c:v>
                </c:pt>
              </c:numCache>
            </c:numRef>
          </c:val>
          <c:smooth val="0"/>
        </c:ser>
        <c:ser>
          <c:idx val="1"/>
          <c:order val="1"/>
          <c:tx>
            <c:strRef>
              <c:strCache>
                <c:ptCount val="1"/>
                <c:pt idx="0">
                  <c:v>Likely Scenario</c:v>
                </c:pt>
              </c:strCache>
            </c:strRef>
          </c:tx>
          <c:spPr>
            <a:ln w="28575">
              <a:solidFill>
                <a:srgbClr val="8B1A1A"/>
              </a:solidFill>
            </a:ln>
          </c:spPr>
          <c:marker>
            <c:symbol val="circle"/>
            <c:size val="6"/>
            <c:spPr>
              <a:solidFill>
                <a:srgbClr val="8B1A1A"/>
              </a:solidFill>
              <a:ln>
                <a:solidFill>
                  <a:srgbClr val="8B1A1A"/>
                </a:solidFill>
              </a:ln>
            </c:spPr>
          </c:marker>
          <c:cat>
            <c:strRef>
              <c:strCache>
                <c:ptCount val="11"/>
                <c:pt idx="0">
                  <c:v>2026</c:v>
                </c:pt>
                <c:pt idx="1">
                  <c:v>2027</c:v>
                </c:pt>
                <c:pt idx="2">
                  <c:v>2028</c:v>
                </c:pt>
                <c:pt idx="3">
                  <c:v>2029</c:v>
                </c:pt>
                <c:pt idx="4">
                  <c:v>2030</c:v>
                </c:pt>
                <c:pt idx="5">
                  <c:v>2031</c:v>
                </c:pt>
                <c:pt idx="6">
                  <c:v>2032</c:v>
                </c:pt>
                <c:pt idx="7">
                  <c:v>2033</c:v>
                </c:pt>
                <c:pt idx="8">
                  <c:v>2034</c:v>
                </c:pt>
                <c:pt idx="9">
                  <c:v>2035</c:v>
                </c:pt>
                <c:pt idx="10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1"/>
                <c:pt idx="0">
                  <c:v>0.06473906399956986</c:v>
                </c:pt>
                <c:pt idx="1">
                  <c:v>0.06280906399956986</c:v>
                </c:pt>
                <c:pt idx="2">
                  <c:v>0.06078906399956986</c:v>
                </c:pt>
                <c:pt idx="3">
                  <c:v>0.058479063999569855</c:v>
                </c:pt>
                <c:pt idx="4">
                  <c:v>0.057599063999569856</c:v>
                </c:pt>
                <c:pt idx="5">
                  <c:v>0.05826906399956985</c:v>
                </c:pt>
                <c:pt idx="6">
                  <c:v>0.06064906399956986</c:v>
                </c:pt>
                <c:pt idx="7">
                  <c:v>0.062239063999569855</c:v>
                </c:pt>
                <c:pt idx="8">
                  <c:v>0.06209906399956985</c:v>
                </c:pt>
                <c:pt idx="9">
                  <c:v>0.06139906399956986</c:v>
                </c:pt>
                <c:pt idx="10">
                  <c:v>0.06085906399956986</c:v>
                </c:pt>
              </c:numCache>
            </c:numRef>
          </c:val>
          <c:smooth val="0"/>
        </c:ser>
        <c:ser>
          <c:idx val="2"/>
          <c:order val="2"/>
          <c:tx>
            <c:strRef>
              <c:strCache>
                <c:ptCount val="1"/>
                <c:pt idx="0">
                  <c:v>Conservative Scenario</c:v>
                </c:pt>
              </c:strCache>
            </c:strRef>
          </c:tx>
          <c:spPr>
            <a:ln w="28575">
              <a:solidFill>
                <a:srgbClr val="A08000"/>
              </a:solidFill>
            </a:ln>
          </c:spPr>
          <c:marker>
            <c:symbol val="circle"/>
            <c:size val="6"/>
            <c:spPr>
              <a:solidFill>
                <a:srgbClr val="A08000"/>
              </a:solidFill>
              <a:ln>
                <a:solidFill>
                  <a:srgbClr val="A08000"/>
                </a:solidFill>
              </a:ln>
            </c:spPr>
          </c:marker>
          <c:cat>
            <c:strRef>
              <c:strCache>
                <c:ptCount val="11"/>
                <c:pt idx="0">
                  <c:v>2026</c:v>
                </c:pt>
                <c:pt idx="1">
                  <c:v>2027</c:v>
                </c:pt>
                <c:pt idx="2">
                  <c:v>2028</c:v>
                </c:pt>
                <c:pt idx="3">
                  <c:v>2029</c:v>
                </c:pt>
                <c:pt idx="4">
                  <c:v>2030</c:v>
                </c:pt>
                <c:pt idx="5">
                  <c:v>2031</c:v>
                </c:pt>
                <c:pt idx="6">
                  <c:v>2032</c:v>
                </c:pt>
                <c:pt idx="7">
                  <c:v>2033</c:v>
                </c:pt>
                <c:pt idx="8">
                  <c:v>2034</c:v>
                </c:pt>
                <c:pt idx="9">
                  <c:v>2035</c:v>
                </c:pt>
                <c:pt idx="10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1"/>
                <c:pt idx="0">
                  <c:v>0.04857989219444839</c:v>
                </c:pt>
                <c:pt idx="1">
                  <c:v>0.047009892194448386</c:v>
                </c:pt>
                <c:pt idx="2">
                  <c:v>0.045659892194448395</c:v>
                </c:pt>
                <c:pt idx="3">
                  <c:v>0.04463989219444839</c:v>
                </c:pt>
                <c:pt idx="4">
                  <c:v>0.04457989219444839</c:v>
                </c:pt>
                <c:pt idx="5">
                  <c:v>0.04474989219444839</c:v>
                </c:pt>
                <c:pt idx="6">
                  <c:v>0.04531989219444839</c:v>
                </c:pt>
                <c:pt idx="7">
                  <c:v>0.04599989219444839</c:v>
                </c:pt>
                <c:pt idx="8">
                  <c:v>0.04588989219444839</c:v>
                </c:pt>
                <c:pt idx="9">
                  <c:v>0.04525989219444839</c:v>
                </c:pt>
                <c:pt idx="10">
                  <c:v>0.04474989219444839</c:v>
                </c:pt>
              </c:numCache>
            </c:numRef>
          </c:val>
          <c:smooth val="0"/>
        </c:ser>
        <c:marker val="1"/>
        <c:smooth val="0"/>
        <c:axId val="2118791784"/>
        <c:axId val="2140495176"/>
      </c:lineChart>
      <c:catAx>
        <c:axId val="2118791784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2140495176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2140495176"/>
        <c:scaling>
          <c:min val="0.0"/>
        </c:scaling>
        <c:delete val="0"/>
        <c:axPos val="l"/>
        <c:numFmt formatCode="0.00%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2118791784"/>
        <c:crosses val="autoZero"/>
      </c:valAx>
    </c:plotArea>
    <c:legend>
      <c:legendPos val="b"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Germany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18.19270394916239</c:v>
                </c:pt>
                <c:pt idx="1">
                  <c:v>17.772470840688058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United Kingdom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16.760524974213663</c:v>
                </c:pt>
                <c:pt idx="1">
                  <c:v>16.301526321254283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France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11.661944111823775</c:v>
                </c:pt>
                <c:pt idx="1">
                  <c:v>12.016059253106288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Italy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9.956489264585581</c:v>
                </c:pt>
                <c:pt idx="1">
                  <c:v>9.817948984183019</c:v>
                </c:pt>
              </c:numCache>
            </c:numRef>
          </c:val>
        </c:ser>
        <c:ser>
          <c:idx val="4"/>
          <c:order val="4"/>
          <c:tx>
            <c:strRef>
              <c:strCache>
                <c:ptCount val="1"/>
                <c:pt idx="0">
                  <c:v>Spain</c:v>
                </c:pt>
              </c:strCache>
            </c:strRef>
          </c:tx>
          <c:spPr>
            <a:solidFill>
              <a:srgbClr val="A35313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7.097466418485541</c:v>
                </c:pt>
                <c:pt idx="1">
                  <c:v>7.513584605267712</c:v>
                </c:pt>
              </c:numCache>
            </c:numRef>
          </c:val>
        </c:ser>
        <c:ser>
          <c:idx val="5"/>
          <c:order val="5"/>
          <c:tx>
            <c:strRef>
              <c:strCache>
                <c:ptCount val="1"/>
                <c:pt idx="0">
                  <c:v>Netherlands</c:v>
                </c:pt>
              </c:strCache>
            </c:strRef>
          </c:tx>
          <c:spPr>
            <a:solidFill>
              <a:srgbClr val="808080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4.838346354938528</c:v>
                </c:pt>
                <c:pt idx="1">
                  <c:v>5.249714463710934</c:v>
                </c:pt>
              </c:numCache>
            </c:numRef>
          </c:val>
        </c:ser>
        <c:ser>
          <c:idx val="6"/>
          <c:order val="6"/>
          <c:tx>
            <c:strRef>
              <c:strCache>
                <c:ptCount val="1"/>
                <c:pt idx="0">
                  <c:v>Poland</c:v>
                </c:pt>
              </c:strCache>
            </c:strRef>
          </c:tx>
          <c:spPr>
            <a:solidFill>
              <a:srgbClr val="0E72AE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4.124035235396635</c:v>
                </c:pt>
                <c:pt idx="1">
                  <c:v>3.823071332156578</c:v>
                </c:pt>
              </c:numCache>
            </c:numRef>
          </c:val>
        </c:ser>
        <c:ser>
          <c:idx val="7"/>
          <c:order val="7"/>
          <c:tx>
            <c:strRef>
              <c:strCache>
                <c:ptCount val="1"/>
                <c:pt idx="0">
                  <c:v>Other European Countries</c:v>
                </c:pt>
              </c:strCache>
            </c:strRef>
          </c:tx>
          <c:spPr>
            <a:solidFill>
              <a:srgbClr val="A86F00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2.8809560506004956</c:v>
                </c:pt>
                <c:pt idx="1">
                  <c:v>3.23953898868238</c:v>
                </c:pt>
              </c:numCache>
            </c:numRef>
          </c:val>
        </c:ser>
        <c:ser>
          <c:idx val="8"/>
          <c:order val="8"/>
          <c:tx>
            <c:strRef>
              <c:strCache>
                <c:ptCount val="1"/>
                <c:pt idx="0">
                  <c:v>Sweden</c:v>
                </c:pt>
              </c:strCache>
            </c:strRef>
          </c:tx>
          <c:spPr>
            <a:solidFill>
              <a:srgbClr val="0B2E4A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2.5709272410399895</c:v>
                </c:pt>
                <c:pt idx="1">
                  <c:v>2.8508635309590558</c:v>
                </c:pt>
              </c:numCache>
            </c:numRef>
          </c:val>
        </c:ser>
        <c:ser>
          <c:idx val="9"/>
          <c:order val="9"/>
          <c:tx>
            <c:strRef>
              <c:strCache>
                <c:ptCount val="1"/>
                <c:pt idx="0">
                  <c:v>Austria</c:v>
                </c:pt>
              </c:strCache>
            </c:strRef>
          </c:tx>
          <c:spPr>
            <a:solidFill>
              <a:srgbClr val="6C7A89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2.8453886919511064</c:v>
                </c:pt>
                <c:pt idx="1">
                  <c:v>2.727304191326619</c:v>
                </c:pt>
              </c:numCache>
            </c:numRef>
          </c:val>
        </c:ser>
        <c:ser>
          <c:idx val="10"/>
          <c:order val="10"/>
          <c:tx>
            <c:strRef>
              <c:strCache>
                <c:ptCount val="1"/>
                <c:pt idx="0">
                  <c:v>Switzerland</c:v>
                </c:pt>
              </c:strCache>
            </c:strRef>
          </c:tx>
          <c:spPr>
            <a:solidFill>
              <a:srgbClr val="B2B2B2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2E2E2E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2.4974213664979192</c:v>
                </c:pt>
                <c:pt idx="1">
                  <c:v>2.314747516699547</c:v>
                </c:pt>
              </c:numCache>
            </c:numRef>
          </c:val>
        </c:ser>
        <c:ser>
          <c:idx val="11"/>
          <c:order val="11"/>
          <c:tx>
            <c:strRef>
              <c:strCache>
                <c:ptCount val="1"/>
                <c:pt idx="0">
                  <c:v>Belgium</c:v>
                </c:pt>
              </c:strCache>
            </c:strRef>
          </c:tx>
          <c:spPr>
            <a:solidFill>
              <a:srgbClr val="5F5F5F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2.556107508269411</c:v>
                </c:pt>
                <c:pt idx="1">
                  <c:v>2.260062991035891</c:v>
                </c:pt>
              </c:numCache>
            </c:numRef>
          </c:val>
        </c:ser>
        <c:ser>
          <c:idx val="12"/>
          <c:order val="12"/>
          <c:tx>
            <c:strRef>
              <c:strCache>
                <c:ptCount val="1"/>
                <c:pt idx="0">
                  <c:v>Czech Republic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1.6295778154528318</c:v>
                </c:pt>
                <c:pt idx="1">
                  <c:v>1.6076558335929119</c:v>
                </c:pt>
              </c:numCache>
            </c:numRef>
          </c:val>
        </c:ser>
        <c:ser>
          <c:idx val="13"/>
          <c:order val="13"/>
          <c:tx>
            <c:strRef>
              <c:strCache>
                <c:ptCount val="1"/>
                <c:pt idx="0">
                  <c:v>Denmark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1.5797835133436873</c:v>
                </c:pt>
                <c:pt idx="1">
                  <c:v>1.5962343820302496</c:v>
                </c:pt>
              </c:numCache>
            </c:numRef>
          </c:val>
        </c:ser>
        <c:ser>
          <c:idx val="14"/>
          <c:order val="14"/>
          <c:tx>
            <c:strRef>
              <c:strCache>
                <c:ptCount val="1"/>
                <c:pt idx="0">
                  <c:v>Norway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1.5240613181263116</c:v>
                </c:pt>
                <c:pt idx="1">
                  <c:v>1.572699269719309</c:v>
                </c:pt>
              </c:numCache>
            </c:numRef>
          </c:val>
        </c:ser>
        <c:ser>
          <c:idx val="15"/>
          <c:order val="15"/>
          <c:tx>
            <c:strRef>
              <c:strCache>
                <c:ptCount val="1"/>
                <c:pt idx="0">
                  <c:v>Portugal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1.4790093305037524</c:v>
                </c:pt>
                <c:pt idx="1">
                  <c:v>1.5377427058457067</c:v>
                </c:pt>
              </c:numCache>
            </c:numRef>
          </c:val>
        </c:ser>
        <c:ser>
          <c:idx val="16"/>
          <c:order val="16"/>
          <c:tx>
            <c:strRef>
              <c:strCache>
                <c:ptCount val="1"/>
                <c:pt idx="0">
                  <c:v>Romania</c:v>
                </c:pt>
              </c:strCache>
            </c:strRef>
          </c:tx>
          <c:spPr>
            <a:solidFill>
              <a:srgbClr val="A35313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1.288131172418699</c:v>
                </c:pt>
                <c:pt idx="1">
                  <c:v>1.4242203994047</c:v>
                </c:pt>
              </c:numCache>
            </c:numRef>
          </c:val>
        </c:ser>
        <c:ser>
          <c:idx val="17"/>
          <c:order val="17"/>
          <c:tx>
            <c:strRef>
              <c:strCache>
                <c:ptCount val="1"/>
                <c:pt idx="0">
                  <c:v>Hungary</c:v>
                </c:pt>
              </c:strCache>
            </c:strRef>
          </c:tx>
          <c:spPr>
            <a:solidFill>
              <a:srgbClr val="808080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1.2584917068775414</c:v>
                </c:pt>
                <c:pt idx="1">
                  <c:v>1.2542830443359985</c:v>
                </c:pt>
              </c:numCache>
            </c:numRef>
          </c:val>
        </c:ser>
        <c:ser>
          <c:idx val="18"/>
          <c:order val="18"/>
          <c:tx>
            <c:strRef>
              <c:strCache>
                <c:ptCount val="1"/>
                <c:pt idx="0">
                  <c:v>Finland</c:v>
                </c:pt>
              </c:strCache>
            </c:strRef>
          </c:tx>
          <c:spPr>
            <a:solidFill>
              <a:srgbClr val="0E72AE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1.2223315589173296</c:v>
                </c:pt>
                <c:pt idx="1">
                  <c:v>1.113418475063164</c:v>
                </c:pt>
              </c:numCache>
            </c:numRef>
          </c:val>
        </c:ser>
        <c:ser>
          <c:idx val="19"/>
          <c:order val="19"/>
          <c:tx>
            <c:strRef>
              <c:strCache>
                <c:ptCount val="1"/>
                <c:pt idx="0">
                  <c:v>Ireland</c:v>
                </c:pt>
              </c:strCache>
            </c:strRef>
          </c:tx>
          <c:spPr>
            <a:solidFill>
              <a:srgbClr val="A86F00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1.1749084140514778</c:v>
                </c:pt>
                <c:pt idx="1">
                  <c:v>1.1044197556501574</c:v>
                </c:pt>
              </c:numCache>
            </c:numRef>
          </c:val>
        </c:ser>
        <c:ser>
          <c:idx val="20"/>
          <c:order val="20"/>
          <c:tx>
            <c:strRef>
              <c:strCache>
                <c:ptCount val="1"/>
                <c:pt idx="0">
                  <c:v>Greece</c:v>
                </c:pt>
              </c:strCache>
            </c:strRef>
          </c:tx>
          <c:spPr>
            <a:solidFill>
              <a:srgbClr val="0B2E4A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3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0.9253441141949328</c:v>
                </c:pt>
                <c:pt idx="1">
                  <c:v>0.9507493164434291</c:v>
                </c:pt>
              </c:numCache>
            </c:numRef>
          </c:val>
        </c:ser>
        <c:ser>
          <c:idx val="21"/>
          <c:order val="21"/>
          <c:tx>
            <c:strRef>
              <c:strCache>
                <c:ptCount val="1"/>
                <c:pt idx="0">
                  <c:v>Bulgaria</c:v>
                </c:pt>
              </c:strCache>
            </c:strRef>
          </c:tx>
          <c:spPr>
            <a:solidFill>
              <a:srgbClr val="6C7A89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3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3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0.6734086570950952</c:v>
                </c:pt>
                <c:pt idx="1">
                  <c:v>0.6247187900183435</c:v>
                </c:pt>
              </c:numCache>
            </c:numRef>
          </c:val>
        </c:ser>
        <c:ser>
          <c:idx val="22"/>
          <c:order val="22"/>
          <c:tx>
            <c:strRef>
              <c:strCache>
                <c:ptCount val="1"/>
                <c:pt idx="0">
                  <c:v>Croatia</c:v>
                </c:pt>
              </c:strCache>
            </c:strRef>
          </c:tx>
          <c:spPr>
            <a:solidFill>
              <a:srgbClr val="B2B2B2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3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3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2E2E2E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0.4937934959156816</c:v>
                </c:pt>
                <c:pt idx="1">
                  <c:v>0.5257328764752709</c:v>
                </c:pt>
              </c:numCache>
            </c:numRef>
          </c:val>
        </c:ser>
        <c:ser>
          <c:idx val="23"/>
          <c:order val="23"/>
          <c:tx>
            <c:strRef>
              <c:strCache>
                <c:ptCount val="1"/>
                <c:pt idx="0">
                  <c:v>Malta</c:v>
                </c:pt>
              </c:strCache>
            </c:strRef>
          </c:tx>
          <c:spPr>
            <a:solidFill>
              <a:srgbClr val="5F5F5F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3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3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0.4013183634272706</c:v>
                </c:pt>
                <c:pt idx="1">
                  <c:v>0.4187865572976153</c:v>
                </c:pt>
              </c:numCache>
            </c:numRef>
          </c:val>
        </c:ser>
        <c:ser>
          <c:idx val="24"/>
          <c:order val="24"/>
          <c:tx>
            <c:strRef>
              <c:strCache>
                <c:ptCount val="1"/>
                <c:pt idx="0">
                  <c:v>Slovenia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3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3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0.3675293727103513</c:v>
                </c:pt>
                <c:pt idx="1">
                  <c:v>0.382445575052781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Germany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16.62279215728076</c:v>
                </c:pt>
                <c:pt idx="1">
                  <c:v>16.342646979041884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United Kingdom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16.31954093875588</c:v>
                </c:pt>
                <c:pt idx="1">
                  <c:v>15.846693282099297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France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13.141129354616435</c:v>
                </c:pt>
                <c:pt idx="1">
                  <c:v>13.567866105142956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Italy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10.196905498811612</c:v>
                </c:pt>
                <c:pt idx="1">
                  <c:v>10.004471800007478</c:v>
                </c:pt>
              </c:numCache>
            </c:numRef>
          </c:val>
        </c:ser>
        <c:ser>
          <c:idx val="4"/>
          <c:order val="4"/>
          <c:tx>
            <c:strRef>
              <c:strCache>
                <c:ptCount val="1"/>
                <c:pt idx="0">
                  <c:v>Spain</c:v>
                </c:pt>
              </c:strCache>
            </c:strRef>
          </c:tx>
          <c:spPr>
            <a:solidFill>
              <a:srgbClr val="A35313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6.935598691949552</c:v>
                </c:pt>
                <c:pt idx="1">
                  <c:v>7.371657847429628</c:v>
                </c:pt>
              </c:numCache>
            </c:numRef>
          </c:val>
        </c:ser>
        <c:ser>
          <c:idx val="5"/>
          <c:order val="5"/>
          <c:tx>
            <c:strRef>
              <c:strCache>
                <c:ptCount val="1"/>
                <c:pt idx="0">
                  <c:v>Netherlands</c:v>
                </c:pt>
              </c:strCache>
            </c:strRef>
          </c:tx>
          <c:spPr>
            <a:solidFill>
              <a:srgbClr val="808080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4.484304790474631</c:v>
                </c:pt>
                <c:pt idx="1">
                  <c:v>4.820993687686467</c:v>
                </c:pt>
              </c:numCache>
            </c:numRef>
          </c:val>
        </c:ser>
        <c:ser>
          <c:idx val="6"/>
          <c:order val="6"/>
          <c:tx>
            <c:strRef>
              <c:strCache>
                <c:ptCount val="1"/>
                <c:pt idx="0">
                  <c:v>Poland</c:v>
                </c:pt>
              </c:strCache>
            </c:strRef>
          </c:tx>
          <c:spPr>
            <a:solidFill>
              <a:srgbClr val="0E72AE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4.445188904666369</c:v>
                </c:pt>
                <c:pt idx="1">
                  <c:v>4.034188640434096</c:v>
                </c:pt>
              </c:numCache>
            </c:numRef>
          </c:val>
        </c:ser>
        <c:ser>
          <c:idx val="7"/>
          <c:order val="7"/>
          <c:tx>
            <c:strRef>
              <c:strCache>
                <c:ptCount val="1"/>
                <c:pt idx="0">
                  <c:v>Other European Countries</c:v>
                </c:pt>
              </c:strCache>
            </c:strRef>
          </c:tx>
          <c:spPr>
            <a:solidFill>
              <a:srgbClr val="A86F00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3.235800584485872</c:v>
                </c:pt>
                <c:pt idx="1">
                  <c:v>3.617452696274184</c:v>
                </c:pt>
              </c:numCache>
            </c:numRef>
          </c:val>
        </c:ser>
        <c:ser>
          <c:idx val="8"/>
          <c:order val="8"/>
          <c:tx>
            <c:strRef>
              <c:strCache>
                <c:ptCount val="1"/>
                <c:pt idx="0">
                  <c:v>Sweden</c:v>
                </c:pt>
              </c:strCache>
            </c:strRef>
          </c:tx>
          <c:spPr>
            <a:solidFill>
              <a:srgbClr val="0B2E4A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2.910723145818185</c:v>
                </c:pt>
                <c:pt idx="1">
                  <c:v>3.1928336025133377</c:v>
                </c:pt>
              </c:numCache>
            </c:numRef>
          </c:val>
        </c:ser>
        <c:ser>
          <c:idx val="9"/>
          <c:order val="9"/>
          <c:tx>
            <c:strRef>
              <c:strCache>
                <c:ptCount val="1"/>
                <c:pt idx="0">
                  <c:v>Austria</c:v>
                </c:pt>
              </c:strCache>
            </c:strRef>
          </c:tx>
          <c:spPr>
            <a:solidFill>
              <a:srgbClr val="6C7A89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2.6147367592885162</c:v>
                </c:pt>
                <c:pt idx="1">
                  <c:v>2.5460817498415027</c:v>
                </c:pt>
              </c:numCache>
            </c:numRef>
          </c:val>
        </c:ser>
        <c:ser>
          <c:idx val="10"/>
          <c:order val="10"/>
          <c:tx>
            <c:strRef>
              <c:strCache>
                <c:ptCount val="1"/>
                <c:pt idx="0">
                  <c:v>Switzerland</c:v>
                </c:pt>
              </c:strCache>
            </c:strRef>
          </c:tx>
          <c:spPr>
            <a:solidFill>
              <a:srgbClr val="B2B2B2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2E2E2E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2.5433256814666203</c:v>
                </c:pt>
                <c:pt idx="1">
                  <c:v>2.3767608261189634</c:v>
                </c:pt>
              </c:numCache>
            </c:numRef>
          </c:val>
        </c:ser>
        <c:ser>
          <c:idx val="11"/>
          <c:order val="11"/>
          <c:tx>
            <c:strRef>
              <c:strCache>
                <c:ptCount val="1"/>
                <c:pt idx="0">
                  <c:v>Belgium</c:v>
                </c:pt>
              </c:strCache>
            </c:strRef>
          </c:tx>
          <c:spPr>
            <a:solidFill>
              <a:srgbClr val="5F5F5F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2.6038553733742957</c:v>
                </c:pt>
                <c:pt idx="1">
                  <c:v>2.2777913065188025</c:v>
                </c:pt>
              </c:numCache>
            </c:numRef>
          </c:val>
        </c:ser>
        <c:ser>
          <c:idx val="12"/>
          <c:order val="12"/>
          <c:tx>
            <c:strRef>
              <c:strCache>
                <c:ptCount val="1"/>
                <c:pt idx="0">
                  <c:v>Czech Republic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1.6540023831186876</c:v>
                </c:pt>
                <c:pt idx="1">
                  <c:v>1.6608163396447102</c:v>
                </c:pt>
              </c:numCache>
            </c:numRef>
          </c:val>
        </c:ser>
        <c:ser>
          <c:idx val="13"/>
          <c:order val="13"/>
          <c:tx>
            <c:strRef>
              <c:strCache>
                <c:ptCount val="1"/>
                <c:pt idx="0">
                  <c:v>Portugal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1.5930602771676166</c:v>
                </c:pt>
                <c:pt idx="1">
                  <c:v>1.6238234750363123</c:v>
                </c:pt>
              </c:numCache>
            </c:numRef>
          </c:val>
        </c:ser>
        <c:ser>
          <c:idx val="14"/>
          <c:order val="14"/>
          <c:tx>
            <c:strRef>
              <c:strCache>
                <c:ptCount val="1"/>
                <c:pt idx="0">
                  <c:v>Norway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1.5254878223650232</c:v>
                </c:pt>
                <c:pt idx="1">
                  <c:v>1.5360729589884845</c:v>
                </c:pt>
              </c:numCache>
            </c:numRef>
          </c:val>
        </c:ser>
        <c:ser>
          <c:idx val="15"/>
          <c:order val="15"/>
          <c:tx>
            <c:strRef>
              <c:strCache>
                <c:ptCount val="1"/>
                <c:pt idx="0">
                  <c:v>Denmark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1.4871967646435538</c:v>
                </c:pt>
                <c:pt idx="1">
                  <c:v>1.4841389801030356</c:v>
                </c:pt>
              </c:numCache>
            </c:numRef>
          </c:val>
        </c:ser>
        <c:ser>
          <c:idx val="16"/>
          <c:order val="16"/>
          <c:tx>
            <c:strRef>
              <c:strCache>
                <c:ptCount val="1"/>
                <c:pt idx="0">
                  <c:v>Romania</c:v>
                </c:pt>
              </c:strCache>
            </c:strRef>
          </c:tx>
          <c:spPr>
            <a:solidFill>
              <a:srgbClr val="A35313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1.2267414341603187</c:v>
                </c:pt>
                <c:pt idx="1">
                  <c:v>1.3284950575812284</c:v>
                </c:pt>
              </c:numCache>
            </c:numRef>
          </c:val>
        </c:ser>
        <c:ser>
          <c:idx val="17"/>
          <c:order val="17"/>
          <c:tx>
            <c:strRef>
              <c:strCache>
                <c:ptCount val="1"/>
                <c:pt idx="0">
                  <c:v>Finland</c:v>
                </c:pt>
              </c:strCache>
            </c:strRef>
          </c:tx>
          <c:spPr>
            <a:solidFill>
              <a:srgbClr val="808080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1.235814543115033</c:v>
                </c:pt>
                <c:pt idx="1">
                  <c:v>1.1370872692752225</c:v>
                </c:pt>
              </c:numCache>
            </c:numRef>
          </c:val>
        </c:ser>
        <c:ser>
          <c:idx val="18"/>
          <c:order val="18"/>
          <c:tx>
            <c:strRef>
              <c:strCache>
                <c:ptCount val="1"/>
                <c:pt idx="0">
                  <c:v>Ireland</c:v>
                </c:pt>
              </c:strCache>
            </c:strRef>
          </c:tx>
          <c:spPr>
            <a:solidFill>
              <a:srgbClr val="0E72AE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1.179218646698213</c:v>
                </c:pt>
                <c:pt idx="1">
                  <c:v>1.12462170977263</c:v>
                </c:pt>
              </c:numCache>
            </c:numRef>
          </c:val>
        </c:ser>
        <c:ser>
          <c:idx val="19"/>
          <c:order val="19"/>
          <c:tx>
            <c:strRef>
              <c:strCache>
                <c:ptCount val="1"/>
                <c:pt idx="0">
                  <c:v>Hungary</c:v>
                </c:pt>
              </c:strCache>
            </c:strRef>
          </c:tx>
          <c:spPr>
            <a:solidFill>
              <a:srgbClr val="A86F00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1.081635139199257</c:v>
                </c:pt>
                <c:pt idx="1">
                  <c:v>1.09098225624169</c:v>
                </c:pt>
              </c:numCache>
            </c:numRef>
          </c:val>
        </c:ser>
        <c:ser>
          <c:idx val="20"/>
          <c:order val="20"/>
          <c:tx>
            <c:strRef>
              <c:strCache>
                <c:ptCount val="1"/>
                <c:pt idx="0">
                  <c:v>Greece</c:v>
                </c:pt>
              </c:strCache>
            </c:strRef>
          </c:tx>
          <c:spPr>
            <a:solidFill>
              <a:srgbClr val="0B2E4A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1.0275771753571823</c:v>
                </c:pt>
                <c:pt idx="1">
                  <c:v>1.048897825075895</c:v>
                </c:pt>
              </c:numCache>
            </c:numRef>
          </c:val>
        </c:ser>
        <c:ser>
          <c:idx val="21"/>
          <c:order val="21"/>
          <c:tx>
            <c:strRef>
              <c:strCache>
                <c:ptCount val="1"/>
                <c:pt idx="0">
                  <c:v>Bulgaria</c:v>
                </c:pt>
              </c:strCache>
            </c:strRef>
          </c:tx>
          <c:spPr>
            <a:solidFill>
              <a:srgbClr val="6C7A89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0.6036789870603507</c:v>
                </c:pt>
                <c:pt idx="1">
                  <c:v>0.5690791269824408</c:v>
                </c:pt>
              </c:numCache>
            </c:numRef>
          </c:val>
        </c:ser>
        <c:ser>
          <c:idx val="22"/>
          <c:order val="22"/>
          <c:tx>
            <c:strRef>
              <c:strCache>
                <c:ptCount val="1"/>
                <c:pt idx="0">
                  <c:v>Croatia</c:v>
                </c:pt>
              </c:strCache>
            </c:strRef>
          </c:tx>
          <c:spPr>
            <a:solidFill>
              <a:srgbClr val="B2B2B2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3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3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2E2E2E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0.5066665143907122</c:v>
                </c:pt>
                <c:pt idx="1">
                  <c:v>0.5383365992513992</c:v>
                </c:pt>
              </c:numCache>
            </c:numRef>
          </c:val>
        </c:ser>
        <c:ser>
          <c:idx val="23"/>
          <c:order val="23"/>
          <c:tx>
            <c:strRef>
              <c:strCache>
                <c:ptCount val="1"/>
                <c:pt idx="0">
                  <c:v>Malta</c:v>
                </c:pt>
              </c:strCache>
            </c:strRef>
          </c:tx>
          <c:spPr>
            <a:solidFill>
              <a:srgbClr val="5F5F5F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3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3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0.42120163493616464</c:v>
                </c:pt>
                <c:pt idx="1">
                  <c:v>0.44846167095031275</c:v>
                </c:pt>
              </c:numCache>
            </c:numRef>
          </c:val>
        </c:ser>
        <c:ser>
          <c:idx val="24"/>
          <c:order val="24"/>
          <c:tx>
            <c:strRef>
              <c:strCache>
                <c:ptCount val="1"/>
                <c:pt idx="0">
                  <c:v>Slovenia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3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3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0.40381679679915944</c:v>
                </c:pt>
                <c:pt idx="1">
                  <c:v>0.4097482079880359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Germany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24533.0</c:v>
                </c:pt>
                <c:pt idx="1">
                  <c:v>25737.0</c:v>
                </c:pt>
                <c:pt idx="2">
                  <c:v>26730.0</c:v>
                </c:pt>
                <c:pt idx="3">
                  <c:v>27886.0</c:v>
                </c:pt>
                <c:pt idx="4">
                  <c:v>29263.0</c:v>
                </c:pt>
                <c:pt idx="5">
                  <c:v>30690.0</c:v>
                </c:pt>
                <c:pt idx="6">
                  <c:v>32450.0</c:v>
                </c:pt>
                <c:pt idx="7">
                  <c:v>34174.0</c:v>
                </c:pt>
                <c:pt idx="8">
                  <c:v>36084.0</c:v>
                </c:pt>
                <c:pt idx="9">
                  <c:v>37894.0</c:v>
                </c:pt>
                <c:pt idx="10">
                  <c:v>39840.0</c:v>
                </c:pt>
                <c:pt idx="11">
                  <c:v>41839.0</c:v>
                </c:pt>
                <c:pt idx="12">
                  <c:v>44238.0</c:v>
                </c:pt>
                <c:pt idx="13">
                  <c:v>46330.0</c:v>
                </c:pt>
                <c:pt idx="14">
                  <c:v>48743.0</c:v>
                </c:pt>
                <c:pt idx="15">
                  <c:v>51350.0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United Kingdom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22348.0</c:v>
                </c:pt>
                <c:pt idx="1">
                  <c:v>23422.0</c:v>
                </c:pt>
                <c:pt idx="2">
                  <c:v>24520.0</c:v>
                </c:pt>
                <c:pt idx="3">
                  <c:v>25684.0</c:v>
                </c:pt>
                <c:pt idx="4">
                  <c:v>26878.0</c:v>
                </c:pt>
                <c:pt idx="5">
                  <c:v>28274.0</c:v>
                </c:pt>
                <c:pt idx="6">
                  <c:v>29605.0</c:v>
                </c:pt>
                <c:pt idx="7">
                  <c:v>31236.0</c:v>
                </c:pt>
                <c:pt idx="8">
                  <c:v>32809.0</c:v>
                </c:pt>
                <c:pt idx="9">
                  <c:v>34520.0</c:v>
                </c:pt>
                <c:pt idx="10">
                  <c:v>36157.0</c:v>
                </c:pt>
                <c:pt idx="11">
                  <c:v>38146.0</c:v>
                </c:pt>
                <c:pt idx="12">
                  <c:v>40234.0</c:v>
                </c:pt>
                <c:pt idx="13">
                  <c:v>42551.0</c:v>
                </c:pt>
                <c:pt idx="14">
                  <c:v>44859.0</c:v>
                </c:pt>
                <c:pt idx="15">
                  <c:v>47100.0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France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15300.0</c:v>
                </c:pt>
                <c:pt idx="1">
                  <c:v>16067.0</c:v>
                </c:pt>
                <c:pt idx="2">
                  <c:v>16877.0</c:v>
                </c:pt>
                <c:pt idx="3">
                  <c:v>17620.0</c:v>
                </c:pt>
                <c:pt idx="4">
                  <c:v>18477.0</c:v>
                </c:pt>
                <c:pt idx="5">
                  <c:v>19673.0</c:v>
                </c:pt>
                <c:pt idx="6">
                  <c:v>20770.0</c:v>
                </c:pt>
                <c:pt idx="7">
                  <c:v>21932.0</c:v>
                </c:pt>
                <c:pt idx="8">
                  <c:v>23285.0</c:v>
                </c:pt>
                <c:pt idx="9">
                  <c:v>24565.0</c:v>
                </c:pt>
                <c:pt idx="10">
                  <c:v>26127.0</c:v>
                </c:pt>
                <c:pt idx="11">
                  <c:v>27611.0</c:v>
                </c:pt>
                <c:pt idx="12">
                  <c:v>29178.0</c:v>
                </c:pt>
                <c:pt idx="13">
                  <c:v>30860.0</c:v>
                </c:pt>
                <c:pt idx="14">
                  <c:v>32745.0</c:v>
                </c:pt>
                <c:pt idx="15">
                  <c:v>34718.0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Italy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13358.0</c:v>
                </c:pt>
                <c:pt idx="1">
                  <c:v>14013.0</c:v>
                </c:pt>
                <c:pt idx="2">
                  <c:v>14654.0</c:v>
                </c:pt>
                <c:pt idx="3">
                  <c:v>15374.0</c:v>
                </c:pt>
                <c:pt idx="4">
                  <c:v>15976.0</c:v>
                </c:pt>
                <c:pt idx="5">
                  <c:v>16796.0</c:v>
                </c:pt>
                <c:pt idx="6">
                  <c:v>17671.0</c:v>
                </c:pt>
                <c:pt idx="7">
                  <c:v>18723.0</c:v>
                </c:pt>
                <c:pt idx="8">
                  <c:v>19805.0</c:v>
                </c:pt>
                <c:pt idx="9">
                  <c:v>20772.0</c:v>
                </c:pt>
                <c:pt idx="10">
                  <c:v>21837.0</c:v>
                </c:pt>
                <c:pt idx="11">
                  <c:v>23031.0</c:v>
                </c:pt>
                <c:pt idx="12">
                  <c:v>24156.0</c:v>
                </c:pt>
                <c:pt idx="13">
                  <c:v>25526.0</c:v>
                </c:pt>
                <c:pt idx="14">
                  <c:v>26918.0</c:v>
                </c:pt>
                <c:pt idx="15">
                  <c:v>28367.0</c:v>
                </c:pt>
              </c:numCache>
            </c:numRef>
          </c:val>
        </c:ser>
        <c:ser>
          <c:idx val="4"/>
          <c:order val="4"/>
          <c:tx>
            <c:strRef>
              <c:strCache>
                <c:ptCount val="1"/>
                <c:pt idx="0">
                  <c:v>Spain</c:v>
                </c:pt>
              </c:strCache>
            </c:strRef>
          </c:tx>
          <c:spPr>
            <a:solidFill>
              <a:srgbClr val="A35313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9281.0</c:v>
                </c:pt>
                <c:pt idx="1">
                  <c:v>9785.0</c:v>
                </c:pt>
                <c:pt idx="2">
                  <c:v>10216.0</c:v>
                </c:pt>
                <c:pt idx="3">
                  <c:v>10673.0</c:v>
                </c:pt>
                <c:pt idx="4">
                  <c:v>11237.0</c:v>
                </c:pt>
                <c:pt idx="5">
                  <c:v>11973.0</c:v>
                </c:pt>
                <c:pt idx="6">
                  <c:v>12687.0</c:v>
                </c:pt>
                <c:pt idx="7">
                  <c:v>13473.0</c:v>
                </c:pt>
                <c:pt idx="8">
                  <c:v>14320.0</c:v>
                </c:pt>
                <c:pt idx="9">
                  <c:v>15235.0</c:v>
                </c:pt>
                <c:pt idx="10">
                  <c:v>16145.0</c:v>
                </c:pt>
                <c:pt idx="11">
                  <c:v>17122.0</c:v>
                </c:pt>
                <c:pt idx="12">
                  <c:v>18232.0</c:v>
                </c:pt>
                <c:pt idx="13">
                  <c:v>19350.0</c:v>
                </c:pt>
                <c:pt idx="14">
                  <c:v>20445.0</c:v>
                </c:pt>
                <c:pt idx="15">
                  <c:v>21709.0</c:v>
                </c:pt>
              </c:numCache>
            </c:numRef>
          </c:val>
        </c:ser>
        <c:ser>
          <c:idx val="5"/>
          <c:order val="5"/>
          <c:tx>
            <c:strRef>
              <c:strCache>
                <c:ptCount val="1"/>
                <c:pt idx="0">
                  <c:v>Netherlands</c:v>
                </c:pt>
              </c:strCache>
            </c:strRef>
          </c:tx>
          <c:spPr>
            <a:solidFill>
              <a:srgbClr val="808080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6273.0</c:v>
                </c:pt>
                <c:pt idx="1">
                  <c:v>6585.0</c:v>
                </c:pt>
                <c:pt idx="2">
                  <c:v>6914.0</c:v>
                </c:pt>
                <c:pt idx="3">
                  <c:v>7283.0</c:v>
                </c:pt>
                <c:pt idx="4">
                  <c:v>7685.0</c:v>
                </c:pt>
                <c:pt idx="5">
                  <c:v>8162.0</c:v>
                </c:pt>
                <c:pt idx="6">
                  <c:v>8681.0</c:v>
                </c:pt>
                <c:pt idx="7">
                  <c:v>9289.0</c:v>
                </c:pt>
                <c:pt idx="8">
                  <c:v>9875.0</c:v>
                </c:pt>
                <c:pt idx="9">
                  <c:v>10486.0</c:v>
                </c:pt>
                <c:pt idx="10">
                  <c:v>11131.0</c:v>
                </c:pt>
                <c:pt idx="11">
                  <c:v>11848.0</c:v>
                </c:pt>
                <c:pt idx="12">
                  <c:v>12587.0</c:v>
                </c:pt>
                <c:pt idx="13">
                  <c:v>13369.0</c:v>
                </c:pt>
                <c:pt idx="14">
                  <c:v>14171.0</c:v>
                </c:pt>
                <c:pt idx="15">
                  <c:v>15168.0</c:v>
                </c:pt>
              </c:numCache>
            </c:numRef>
          </c:val>
        </c:ser>
        <c:ser>
          <c:idx val="6"/>
          <c:order val="6"/>
          <c:tx>
            <c:strRef>
              <c:strCache>
                <c:ptCount val="1"/>
                <c:pt idx="0">
                  <c:v>Poland</c:v>
                </c:pt>
              </c:strCache>
            </c:strRef>
          </c:tx>
          <c:spPr>
            <a:solidFill>
              <a:srgbClr val="0E72AE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5641.0</c:v>
                </c:pt>
                <c:pt idx="1">
                  <c:v>5876.0</c:v>
                </c:pt>
                <c:pt idx="2">
                  <c:v>6126.0</c:v>
                </c:pt>
                <c:pt idx="3">
                  <c:v>6397.0</c:v>
                </c:pt>
                <c:pt idx="4">
                  <c:v>6673.0</c:v>
                </c:pt>
                <c:pt idx="5">
                  <c:v>6957.0</c:v>
                </c:pt>
                <c:pt idx="6">
                  <c:v>7249.0</c:v>
                </c:pt>
                <c:pt idx="7">
                  <c:v>7591.0</c:v>
                </c:pt>
                <c:pt idx="8">
                  <c:v>7953.0</c:v>
                </c:pt>
                <c:pt idx="9">
                  <c:v>8350.0</c:v>
                </c:pt>
                <c:pt idx="10">
                  <c:v>8712.0</c:v>
                </c:pt>
                <c:pt idx="11">
                  <c:v>9095.0</c:v>
                </c:pt>
                <c:pt idx="12">
                  <c:v>9544.0</c:v>
                </c:pt>
                <c:pt idx="13">
                  <c:v>10001.0</c:v>
                </c:pt>
                <c:pt idx="14">
                  <c:v>10488.0</c:v>
                </c:pt>
                <c:pt idx="15">
                  <c:v>11046.0</c:v>
                </c:pt>
              </c:numCache>
            </c:numRef>
          </c:val>
        </c:ser>
        <c:ser>
          <c:idx val="7"/>
          <c:order val="7"/>
          <c:tx>
            <c:strRef>
              <c:strCache>
                <c:ptCount val="1"/>
                <c:pt idx="0">
                  <c:v>Austria</c:v>
                </c:pt>
              </c:strCache>
            </c:strRef>
          </c:tx>
          <c:spPr>
            <a:solidFill>
              <a:srgbClr val="A86F00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3884.0</c:v>
                </c:pt>
                <c:pt idx="1">
                  <c:v>4028.0</c:v>
                </c:pt>
                <c:pt idx="2">
                  <c:v>4209.0</c:v>
                </c:pt>
                <c:pt idx="3">
                  <c:v>4390.0</c:v>
                </c:pt>
                <c:pt idx="4">
                  <c:v>4591.0</c:v>
                </c:pt>
                <c:pt idx="5">
                  <c:v>4800.0</c:v>
                </c:pt>
                <c:pt idx="6">
                  <c:v>5059.0</c:v>
                </c:pt>
                <c:pt idx="7">
                  <c:v>5293.0</c:v>
                </c:pt>
                <c:pt idx="8">
                  <c:v>5578.0</c:v>
                </c:pt>
                <c:pt idx="9">
                  <c:v>5830.0</c:v>
                </c:pt>
                <c:pt idx="10">
                  <c:v>6140.0</c:v>
                </c:pt>
                <c:pt idx="11">
                  <c:v>6435.0</c:v>
                </c:pt>
                <c:pt idx="12">
                  <c:v>6767.0</c:v>
                </c:pt>
                <c:pt idx="13">
                  <c:v>7137.0</c:v>
                </c:pt>
                <c:pt idx="14">
                  <c:v>7521.0</c:v>
                </c:pt>
                <c:pt idx="15">
                  <c:v>7880.0</c:v>
                </c:pt>
              </c:numCache>
            </c:numRef>
          </c:val>
        </c:ser>
        <c:ser>
          <c:idx val="8"/>
          <c:order val="8"/>
          <c:tx>
            <c:strRef>
              <c:strCache>
                <c:ptCount val="1"/>
                <c:pt idx="0">
                  <c:v>Other European Countries</c:v>
                </c:pt>
              </c:strCache>
            </c:strRef>
          </c:tx>
          <c:spPr>
            <a:solidFill>
              <a:srgbClr val="0B2E4A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3663.0</c:v>
                </c:pt>
                <c:pt idx="1">
                  <c:v>3859.0</c:v>
                </c:pt>
                <c:pt idx="2">
                  <c:v>4093.0</c:v>
                </c:pt>
                <c:pt idx="3">
                  <c:v>4344.0</c:v>
                </c:pt>
                <c:pt idx="4">
                  <c:v>4575.0</c:v>
                </c:pt>
                <c:pt idx="5">
                  <c:v>4860.0</c:v>
                </c:pt>
                <c:pt idx="6">
                  <c:v>5174.0</c:v>
                </c:pt>
                <c:pt idx="7">
                  <c:v>5525.0</c:v>
                </c:pt>
                <c:pt idx="8">
                  <c:v>5913.0</c:v>
                </c:pt>
                <c:pt idx="9">
                  <c:v>6287.0</c:v>
                </c:pt>
                <c:pt idx="10">
                  <c:v>6730.0</c:v>
                </c:pt>
                <c:pt idx="11">
                  <c:v>7215.0</c:v>
                </c:pt>
                <c:pt idx="12">
                  <c:v>7692.0</c:v>
                </c:pt>
                <c:pt idx="13">
                  <c:v>8229.0</c:v>
                </c:pt>
                <c:pt idx="14">
                  <c:v>8793.0</c:v>
                </c:pt>
                <c:pt idx="15">
                  <c:v>9360.0</c:v>
                </c:pt>
              </c:numCache>
            </c:numRef>
          </c:val>
        </c:ser>
        <c:ser>
          <c:idx val="9"/>
          <c:order val="9"/>
          <c:tx>
            <c:strRef>
              <c:strCache>
                <c:ptCount val="1"/>
                <c:pt idx="0">
                  <c:v>Belgium</c:v>
                </c:pt>
              </c:strCache>
            </c:strRef>
          </c:tx>
          <c:spPr>
            <a:solidFill>
              <a:srgbClr val="6C7A89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3523.0</c:v>
                </c:pt>
                <c:pt idx="1">
                  <c:v>3651.0</c:v>
                </c:pt>
                <c:pt idx="2">
                  <c:v>3801.0</c:v>
                </c:pt>
                <c:pt idx="3">
                  <c:v>3965.0</c:v>
                </c:pt>
                <c:pt idx="4">
                  <c:v>4129.0</c:v>
                </c:pt>
                <c:pt idx="5">
                  <c:v>4312.0</c:v>
                </c:pt>
                <c:pt idx="6">
                  <c:v>4484.0</c:v>
                </c:pt>
                <c:pt idx="7">
                  <c:v>4677.0</c:v>
                </c:pt>
                <c:pt idx="8">
                  <c:v>4913.0</c:v>
                </c:pt>
                <c:pt idx="9">
                  <c:v>5109.0</c:v>
                </c:pt>
                <c:pt idx="10">
                  <c:v>5321.0</c:v>
                </c:pt>
                <c:pt idx="11">
                  <c:v>5534.0</c:v>
                </c:pt>
                <c:pt idx="12">
                  <c:v>5768.0</c:v>
                </c:pt>
                <c:pt idx="13">
                  <c:v>6002.0</c:v>
                </c:pt>
                <c:pt idx="14">
                  <c:v>6257.0</c:v>
                </c:pt>
                <c:pt idx="15">
                  <c:v>6530.0</c:v>
                </c:pt>
              </c:numCache>
            </c:numRef>
          </c:val>
        </c:ser>
        <c:ser>
          <c:idx val="10"/>
          <c:order val="10"/>
          <c:tx>
            <c:strRef>
              <c:strCache>
                <c:ptCount val="1"/>
                <c:pt idx="0">
                  <c:v>Switzerland</c:v>
                </c:pt>
              </c:strCache>
            </c:strRef>
          </c:tx>
          <c:spPr>
            <a:solidFill>
              <a:srgbClr val="B2B2B2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3457.0</c:v>
                </c:pt>
                <c:pt idx="1">
                  <c:v>3585.0</c:v>
                </c:pt>
                <c:pt idx="2">
                  <c:v>3741.0</c:v>
                </c:pt>
                <c:pt idx="3">
                  <c:v>3866.0</c:v>
                </c:pt>
                <c:pt idx="4">
                  <c:v>4037.0</c:v>
                </c:pt>
                <c:pt idx="5">
                  <c:v>4213.0</c:v>
                </c:pt>
                <c:pt idx="6">
                  <c:v>4410.0</c:v>
                </c:pt>
                <c:pt idx="7">
                  <c:v>4612.0</c:v>
                </c:pt>
                <c:pt idx="8">
                  <c:v>4813.0</c:v>
                </c:pt>
                <c:pt idx="9">
                  <c:v>5046.0</c:v>
                </c:pt>
                <c:pt idx="10">
                  <c:v>5300.0</c:v>
                </c:pt>
                <c:pt idx="11">
                  <c:v>5563.0</c:v>
                </c:pt>
                <c:pt idx="12">
                  <c:v>5850.0</c:v>
                </c:pt>
                <c:pt idx="13">
                  <c:v>6134.0</c:v>
                </c:pt>
                <c:pt idx="14">
                  <c:v>6410.0</c:v>
                </c:pt>
                <c:pt idx="15">
                  <c:v>6688.0</c:v>
                </c:pt>
              </c:numCache>
            </c:numRef>
          </c:val>
        </c:ser>
        <c:ser>
          <c:idx val="11"/>
          <c:order val="11"/>
          <c:tx>
            <c:strRef>
              <c:strCache>
                <c:ptCount val="1"/>
                <c:pt idx="0">
                  <c:v>Sweden</c:v>
                </c:pt>
              </c:strCache>
            </c:strRef>
          </c:tx>
          <c:spPr>
            <a:solidFill>
              <a:srgbClr val="5F5F5F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3225.0</c:v>
                </c:pt>
                <c:pt idx="1">
                  <c:v>3409.0</c:v>
                </c:pt>
                <c:pt idx="2">
                  <c:v>3621.0</c:v>
                </c:pt>
                <c:pt idx="3">
                  <c:v>3824.0</c:v>
                </c:pt>
                <c:pt idx="4">
                  <c:v>4051.0</c:v>
                </c:pt>
                <c:pt idx="5">
                  <c:v>4337.0</c:v>
                </c:pt>
                <c:pt idx="6">
                  <c:v>4607.0</c:v>
                </c:pt>
                <c:pt idx="7">
                  <c:v>4903.0</c:v>
                </c:pt>
                <c:pt idx="8">
                  <c:v>5212.0</c:v>
                </c:pt>
                <c:pt idx="9">
                  <c:v>5560.0</c:v>
                </c:pt>
                <c:pt idx="10">
                  <c:v>5941.0</c:v>
                </c:pt>
                <c:pt idx="11">
                  <c:v>6350.0</c:v>
                </c:pt>
                <c:pt idx="12">
                  <c:v>6767.0</c:v>
                </c:pt>
                <c:pt idx="13">
                  <c:v>7226.0</c:v>
                </c:pt>
                <c:pt idx="14">
                  <c:v>7750.0</c:v>
                </c:pt>
                <c:pt idx="15">
                  <c:v>8237.0</c:v>
                </c:pt>
              </c:numCache>
            </c:numRef>
          </c:val>
        </c:ser>
        <c:ser>
          <c:idx val="12"/>
          <c:order val="12"/>
          <c:tx>
            <c:strRef>
              <c:strCache>
                <c:ptCount val="1"/>
                <c:pt idx="0">
                  <c:v>Czech Republic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2201.0</c:v>
                </c:pt>
                <c:pt idx="1">
                  <c:v>2309.0</c:v>
                </c:pt>
                <c:pt idx="2">
                  <c:v>2418.0</c:v>
                </c:pt>
                <c:pt idx="3">
                  <c:v>2513.0</c:v>
                </c:pt>
                <c:pt idx="4">
                  <c:v>2618.0</c:v>
                </c:pt>
                <c:pt idx="5">
                  <c:v>2749.0</c:v>
                </c:pt>
                <c:pt idx="6">
                  <c:v>2898.0</c:v>
                </c:pt>
                <c:pt idx="7">
                  <c:v>3056.0</c:v>
                </c:pt>
                <c:pt idx="8">
                  <c:v>3203.0</c:v>
                </c:pt>
                <c:pt idx="9">
                  <c:v>3382.0</c:v>
                </c:pt>
                <c:pt idx="10">
                  <c:v>3580.0</c:v>
                </c:pt>
                <c:pt idx="11">
                  <c:v>3782.0</c:v>
                </c:pt>
                <c:pt idx="12">
                  <c:v>3963.0</c:v>
                </c:pt>
                <c:pt idx="13">
                  <c:v>4183.0</c:v>
                </c:pt>
                <c:pt idx="14">
                  <c:v>4391.0</c:v>
                </c:pt>
                <c:pt idx="15">
                  <c:v>4645.0</c:v>
                </c:pt>
              </c:numCache>
            </c:numRef>
          </c:val>
        </c:ser>
        <c:ser>
          <c:idx val="13"/>
          <c:order val="13"/>
          <c:tx>
            <c:strRef>
              <c:strCache>
                <c:ptCount val="1"/>
                <c:pt idx="0">
                  <c:v>Denmark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2101.0</c:v>
                </c:pt>
                <c:pt idx="1">
                  <c:v>2190.0</c:v>
                </c:pt>
                <c:pt idx="2">
                  <c:v>2283.0</c:v>
                </c:pt>
                <c:pt idx="3">
                  <c:v>2401.0</c:v>
                </c:pt>
                <c:pt idx="4">
                  <c:v>2515.0</c:v>
                </c:pt>
                <c:pt idx="5">
                  <c:v>2665.0</c:v>
                </c:pt>
                <c:pt idx="6">
                  <c:v>2813.0</c:v>
                </c:pt>
                <c:pt idx="7">
                  <c:v>2961.0</c:v>
                </c:pt>
                <c:pt idx="8">
                  <c:v>3137.0</c:v>
                </c:pt>
                <c:pt idx="9">
                  <c:v>3307.0</c:v>
                </c:pt>
                <c:pt idx="10">
                  <c:v>3475.0</c:v>
                </c:pt>
                <c:pt idx="11">
                  <c:v>3667.0</c:v>
                </c:pt>
                <c:pt idx="12">
                  <c:v>3892.0</c:v>
                </c:pt>
                <c:pt idx="13">
                  <c:v>4109.0</c:v>
                </c:pt>
                <c:pt idx="14">
                  <c:v>4341.0</c:v>
                </c:pt>
                <c:pt idx="15">
                  <c:v>4612.0</c:v>
                </c:pt>
              </c:numCache>
            </c:numRef>
          </c:val>
        </c:ser>
        <c:ser>
          <c:idx val="14"/>
          <c:order val="14"/>
          <c:tx>
            <c:strRef>
              <c:strCache>
                <c:ptCount val="1"/>
                <c:pt idx="0">
                  <c:v>Norway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1992.0</c:v>
                </c:pt>
                <c:pt idx="1">
                  <c:v>2098.0</c:v>
                </c:pt>
                <c:pt idx="2">
                  <c:v>2208.0</c:v>
                </c:pt>
                <c:pt idx="3">
                  <c:v>2322.0</c:v>
                </c:pt>
                <c:pt idx="4">
                  <c:v>2433.0</c:v>
                </c:pt>
                <c:pt idx="5">
                  <c:v>2571.0</c:v>
                </c:pt>
                <c:pt idx="6">
                  <c:v>2708.0</c:v>
                </c:pt>
                <c:pt idx="7">
                  <c:v>2854.0</c:v>
                </c:pt>
                <c:pt idx="8">
                  <c:v>3004.0</c:v>
                </c:pt>
                <c:pt idx="9">
                  <c:v>3187.0</c:v>
                </c:pt>
                <c:pt idx="10">
                  <c:v>3390.0</c:v>
                </c:pt>
                <c:pt idx="11">
                  <c:v>3597.0</c:v>
                </c:pt>
                <c:pt idx="12">
                  <c:v>3807.0</c:v>
                </c:pt>
                <c:pt idx="13">
                  <c:v>4033.0</c:v>
                </c:pt>
                <c:pt idx="14">
                  <c:v>4277.0</c:v>
                </c:pt>
                <c:pt idx="15">
                  <c:v>4544.0</c:v>
                </c:pt>
              </c:numCache>
            </c:numRef>
          </c:val>
        </c:ser>
        <c:ser>
          <c:idx val="15"/>
          <c:order val="15"/>
          <c:tx>
            <c:strRef>
              <c:strCache>
                <c:ptCount val="1"/>
                <c:pt idx="0">
                  <c:v>Portugal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1941.0</c:v>
                </c:pt>
                <c:pt idx="1">
                  <c:v>2034.0</c:v>
                </c:pt>
                <c:pt idx="2">
                  <c:v>2137.0</c:v>
                </c:pt>
                <c:pt idx="3">
                  <c:v>2234.0</c:v>
                </c:pt>
                <c:pt idx="4">
                  <c:v>2349.0</c:v>
                </c:pt>
                <c:pt idx="5">
                  <c:v>2495.0</c:v>
                </c:pt>
                <c:pt idx="6">
                  <c:v>2646.0</c:v>
                </c:pt>
                <c:pt idx="7">
                  <c:v>2803.0</c:v>
                </c:pt>
                <c:pt idx="8">
                  <c:v>2973.0</c:v>
                </c:pt>
                <c:pt idx="9">
                  <c:v>3139.0</c:v>
                </c:pt>
                <c:pt idx="10">
                  <c:v>3336.0</c:v>
                </c:pt>
                <c:pt idx="11">
                  <c:v>3521.0</c:v>
                </c:pt>
                <c:pt idx="12">
                  <c:v>3735.0</c:v>
                </c:pt>
                <c:pt idx="13">
                  <c:v>3960.0</c:v>
                </c:pt>
                <c:pt idx="14">
                  <c:v>4203.0</c:v>
                </c:pt>
                <c:pt idx="15">
                  <c:v>4443.0</c:v>
                </c:pt>
              </c:numCache>
            </c:numRef>
          </c:val>
        </c:ser>
        <c:ser>
          <c:idx val="16"/>
          <c:order val="16"/>
          <c:tx>
            <c:strRef>
              <c:strCache>
                <c:ptCount val="1"/>
                <c:pt idx="0">
                  <c:v>Finland</c:v>
                </c:pt>
              </c:strCache>
            </c:strRef>
          </c:tx>
          <c:spPr>
            <a:solidFill>
              <a:srgbClr val="A35313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1687.0</c:v>
                </c:pt>
                <c:pt idx="1">
                  <c:v>1752.0</c:v>
                </c:pt>
                <c:pt idx="2">
                  <c:v>1822.0</c:v>
                </c:pt>
                <c:pt idx="3">
                  <c:v>1892.0</c:v>
                </c:pt>
                <c:pt idx="4">
                  <c:v>1962.0</c:v>
                </c:pt>
                <c:pt idx="5">
                  <c:v>2062.0</c:v>
                </c:pt>
                <c:pt idx="6">
                  <c:v>2146.0</c:v>
                </c:pt>
                <c:pt idx="7">
                  <c:v>2237.0</c:v>
                </c:pt>
                <c:pt idx="8">
                  <c:v>2342.0</c:v>
                </c:pt>
                <c:pt idx="9">
                  <c:v>2460.0</c:v>
                </c:pt>
                <c:pt idx="10">
                  <c:v>2568.0</c:v>
                </c:pt>
                <c:pt idx="11">
                  <c:v>2698.0</c:v>
                </c:pt>
                <c:pt idx="12">
                  <c:v>2825.0</c:v>
                </c:pt>
                <c:pt idx="13">
                  <c:v>2967.0</c:v>
                </c:pt>
                <c:pt idx="14">
                  <c:v>3090.0</c:v>
                </c:pt>
                <c:pt idx="15">
                  <c:v>3217.0</c:v>
                </c:pt>
              </c:numCache>
            </c:numRef>
          </c:val>
        </c:ser>
        <c:ser>
          <c:idx val="17"/>
          <c:order val="17"/>
          <c:tx>
            <c:strRef>
              <c:strCache>
                <c:ptCount val="1"/>
                <c:pt idx="0">
                  <c:v>Hungary</c:v>
                </c:pt>
              </c:strCache>
            </c:strRef>
          </c:tx>
          <c:spPr>
            <a:solidFill>
              <a:srgbClr val="808080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1684.0</c:v>
                </c:pt>
                <c:pt idx="1">
                  <c:v>1768.0</c:v>
                </c:pt>
                <c:pt idx="2">
                  <c:v>1843.0</c:v>
                </c:pt>
                <c:pt idx="3">
                  <c:v>1936.0</c:v>
                </c:pt>
                <c:pt idx="4">
                  <c:v>2016.0</c:v>
                </c:pt>
                <c:pt idx="5">
                  <c:v>2123.0</c:v>
                </c:pt>
                <c:pt idx="6">
                  <c:v>2229.0</c:v>
                </c:pt>
                <c:pt idx="7">
                  <c:v>2355.0</c:v>
                </c:pt>
                <c:pt idx="8">
                  <c:v>2497.0</c:v>
                </c:pt>
                <c:pt idx="9">
                  <c:v>2646.0</c:v>
                </c:pt>
                <c:pt idx="10">
                  <c:v>2789.0</c:v>
                </c:pt>
                <c:pt idx="11">
                  <c:v>2929.0</c:v>
                </c:pt>
                <c:pt idx="12">
                  <c:v>3082.0</c:v>
                </c:pt>
                <c:pt idx="13">
                  <c:v>3240.0</c:v>
                </c:pt>
                <c:pt idx="14">
                  <c:v>3427.0</c:v>
                </c:pt>
                <c:pt idx="15">
                  <c:v>3624.0</c:v>
                </c:pt>
              </c:numCache>
            </c:numRef>
          </c:val>
        </c:ser>
        <c:ser>
          <c:idx val="18"/>
          <c:order val="18"/>
          <c:tx>
            <c:strRef>
              <c:strCache>
                <c:ptCount val="1"/>
                <c:pt idx="0">
                  <c:v>Romania</c:v>
                </c:pt>
              </c:strCache>
            </c:strRef>
          </c:tx>
          <c:spPr>
            <a:solidFill>
              <a:srgbClr val="0E72AE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1648.0</c:v>
                </c:pt>
                <c:pt idx="1">
                  <c:v>1745.0</c:v>
                </c:pt>
                <c:pt idx="2">
                  <c:v>1849.0</c:v>
                </c:pt>
                <c:pt idx="3">
                  <c:v>1953.0</c:v>
                </c:pt>
                <c:pt idx="4">
                  <c:v>2049.0</c:v>
                </c:pt>
                <c:pt idx="5">
                  <c:v>2173.0</c:v>
                </c:pt>
                <c:pt idx="6">
                  <c:v>2319.0</c:v>
                </c:pt>
                <c:pt idx="7">
                  <c:v>2471.0</c:v>
                </c:pt>
                <c:pt idx="8">
                  <c:v>2635.0</c:v>
                </c:pt>
                <c:pt idx="9">
                  <c:v>2803.0</c:v>
                </c:pt>
                <c:pt idx="10">
                  <c:v>2986.0</c:v>
                </c:pt>
                <c:pt idx="11">
                  <c:v>3175.0</c:v>
                </c:pt>
                <c:pt idx="12">
                  <c:v>3373.0</c:v>
                </c:pt>
                <c:pt idx="13">
                  <c:v>3601.0</c:v>
                </c:pt>
                <c:pt idx="14">
                  <c:v>3844.0</c:v>
                </c:pt>
                <c:pt idx="15">
                  <c:v>4115.0</c:v>
                </c:pt>
              </c:numCache>
            </c:numRef>
          </c:val>
        </c:ser>
        <c:ser>
          <c:idx val="19"/>
          <c:order val="19"/>
          <c:tx>
            <c:strRef>
              <c:strCache>
                <c:ptCount val="1"/>
                <c:pt idx="0">
                  <c:v>Ireland</c:v>
                </c:pt>
              </c:strCache>
            </c:strRef>
          </c:tx>
          <c:spPr>
            <a:solidFill>
              <a:srgbClr val="A86F00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1623.0</c:v>
                </c:pt>
                <c:pt idx="1">
                  <c:v>1682.0</c:v>
                </c:pt>
                <c:pt idx="2">
                  <c:v>1754.0</c:v>
                </c:pt>
                <c:pt idx="3">
                  <c:v>1817.0</c:v>
                </c:pt>
                <c:pt idx="4">
                  <c:v>1895.0</c:v>
                </c:pt>
                <c:pt idx="5">
                  <c:v>1982.0</c:v>
                </c:pt>
                <c:pt idx="6">
                  <c:v>2074.0</c:v>
                </c:pt>
                <c:pt idx="7">
                  <c:v>2170.0</c:v>
                </c:pt>
                <c:pt idx="8">
                  <c:v>2271.0</c:v>
                </c:pt>
                <c:pt idx="9">
                  <c:v>2381.0</c:v>
                </c:pt>
                <c:pt idx="10">
                  <c:v>2497.0</c:v>
                </c:pt>
                <c:pt idx="11">
                  <c:v>2611.0</c:v>
                </c:pt>
                <c:pt idx="12">
                  <c:v>2746.0</c:v>
                </c:pt>
                <c:pt idx="13">
                  <c:v>2890.0</c:v>
                </c:pt>
                <c:pt idx="14">
                  <c:v>3037.0</c:v>
                </c:pt>
                <c:pt idx="15">
                  <c:v>3191.0</c:v>
                </c:pt>
              </c:numCache>
            </c:numRef>
          </c:val>
        </c:ser>
        <c:ser>
          <c:idx val="20"/>
          <c:order val="20"/>
          <c:tx>
            <c:strRef>
              <c:strCache>
                <c:ptCount val="1"/>
                <c:pt idx="0">
                  <c:v>Greece</c:v>
                </c:pt>
              </c:strCache>
            </c:strRef>
          </c:tx>
          <c:spPr>
            <a:solidFill>
              <a:srgbClr val="0B2E4A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1235.0</c:v>
                </c:pt>
                <c:pt idx="1">
                  <c:v>1289.0</c:v>
                </c:pt>
                <c:pt idx="2">
                  <c:v>1345.0</c:v>
                </c:pt>
                <c:pt idx="3">
                  <c:v>1405.0</c:v>
                </c:pt>
                <c:pt idx="4">
                  <c:v>1474.0</c:v>
                </c:pt>
                <c:pt idx="5">
                  <c:v>1561.0</c:v>
                </c:pt>
                <c:pt idx="6">
                  <c:v>1653.0</c:v>
                </c:pt>
                <c:pt idx="7">
                  <c:v>1746.0</c:v>
                </c:pt>
                <c:pt idx="8">
                  <c:v>1847.0</c:v>
                </c:pt>
                <c:pt idx="9">
                  <c:v>1953.0</c:v>
                </c:pt>
                <c:pt idx="10">
                  <c:v>2076.0</c:v>
                </c:pt>
                <c:pt idx="11">
                  <c:v>2192.0</c:v>
                </c:pt>
                <c:pt idx="12">
                  <c:v>2313.0</c:v>
                </c:pt>
                <c:pt idx="13">
                  <c:v>2462.0</c:v>
                </c:pt>
                <c:pt idx="14">
                  <c:v>2596.0</c:v>
                </c:pt>
                <c:pt idx="15">
                  <c:v>2747.0</c:v>
                </c:pt>
              </c:numCache>
            </c:numRef>
          </c:val>
        </c:ser>
        <c:ser>
          <c:idx val="21"/>
          <c:order val="21"/>
          <c:tx>
            <c:strRef>
              <c:strCache>
                <c:ptCount val="1"/>
                <c:pt idx="0">
                  <c:v>Bulgaria</c:v>
                </c:pt>
              </c:strCache>
            </c:strRef>
          </c:tx>
          <c:spPr>
            <a:solidFill>
              <a:srgbClr val="6C7A89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942.0</c:v>
                </c:pt>
                <c:pt idx="1">
                  <c:v>980.0</c:v>
                </c:pt>
                <c:pt idx="2">
                  <c:v>1015.0</c:v>
                </c:pt>
                <c:pt idx="3">
                  <c:v>1054.0</c:v>
                </c:pt>
                <c:pt idx="4">
                  <c:v>1090.0</c:v>
                </c:pt>
                <c:pt idx="5">
                  <c:v>1136.0</c:v>
                </c:pt>
                <c:pt idx="6">
                  <c:v>1190.0</c:v>
                </c:pt>
                <c:pt idx="7">
                  <c:v>1253.0</c:v>
                </c:pt>
                <c:pt idx="8">
                  <c:v>1312.0</c:v>
                </c:pt>
                <c:pt idx="9">
                  <c:v>1374.0</c:v>
                </c:pt>
                <c:pt idx="10">
                  <c:v>1440.0</c:v>
                </c:pt>
                <c:pt idx="11">
                  <c:v>1505.0</c:v>
                </c:pt>
                <c:pt idx="12">
                  <c:v>1577.0</c:v>
                </c:pt>
                <c:pt idx="13">
                  <c:v>1652.0</c:v>
                </c:pt>
                <c:pt idx="14">
                  <c:v>1729.0</c:v>
                </c:pt>
                <c:pt idx="15">
                  <c:v>1805.0</c:v>
                </c:pt>
              </c:numCache>
            </c:numRef>
          </c:val>
        </c:ser>
        <c:ser>
          <c:idx val="22"/>
          <c:order val="22"/>
          <c:tx>
            <c:strRef>
              <c:strCache>
                <c:ptCount val="1"/>
                <c:pt idx="0">
                  <c:v>Croatia</c:v>
                </c:pt>
              </c:strCache>
            </c:strRef>
          </c:tx>
          <c:spPr>
            <a:solidFill>
              <a:srgbClr val="B2B2B2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643.0</c:v>
                </c:pt>
                <c:pt idx="1">
                  <c:v>673.0</c:v>
                </c:pt>
                <c:pt idx="2">
                  <c:v>709.0</c:v>
                </c:pt>
                <c:pt idx="3">
                  <c:v>748.0</c:v>
                </c:pt>
                <c:pt idx="4">
                  <c:v>786.0</c:v>
                </c:pt>
                <c:pt idx="5">
                  <c:v>833.0</c:v>
                </c:pt>
                <c:pt idx="6">
                  <c:v>884.0</c:v>
                </c:pt>
                <c:pt idx="7">
                  <c:v>940.0</c:v>
                </c:pt>
                <c:pt idx="8">
                  <c:v>1001.0</c:v>
                </c:pt>
                <c:pt idx="9">
                  <c:v>1060.0</c:v>
                </c:pt>
                <c:pt idx="10">
                  <c:v>1124.0</c:v>
                </c:pt>
                <c:pt idx="11">
                  <c:v>1193.0</c:v>
                </c:pt>
                <c:pt idx="12">
                  <c:v>1271.0</c:v>
                </c:pt>
                <c:pt idx="13">
                  <c:v>1350.0</c:v>
                </c:pt>
                <c:pt idx="14">
                  <c:v>1425.0</c:v>
                </c:pt>
                <c:pt idx="15">
                  <c:v>1519.0</c:v>
                </c:pt>
              </c:numCache>
            </c:numRef>
          </c:val>
        </c:ser>
        <c:ser>
          <c:idx val="23"/>
          <c:order val="23"/>
          <c:tx>
            <c:strRef>
              <c:strCache>
                <c:ptCount val="1"/>
                <c:pt idx="0">
                  <c:v>Malta</c:v>
                </c:pt>
              </c:strCache>
            </c:strRef>
          </c:tx>
          <c:spPr>
            <a:solidFill>
              <a:srgbClr val="5F5F5F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521.0</c:v>
                </c:pt>
                <c:pt idx="1">
                  <c:v>549.0</c:v>
                </c:pt>
                <c:pt idx="2">
                  <c:v>578.0</c:v>
                </c:pt>
                <c:pt idx="3">
                  <c:v>608.0</c:v>
                </c:pt>
                <c:pt idx="4">
                  <c:v>639.0</c:v>
                </c:pt>
                <c:pt idx="5">
                  <c:v>677.0</c:v>
                </c:pt>
                <c:pt idx="6">
                  <c:v>721.0</c:v>
                </c:pt>
                <c:pt idx="7">
                  <c:v>762.0</c:v>
                </c:pt>
                <c:pt idx="8">
                  <c:v>805.0</c:v>
                </c:pt>
                <c:pt idx="9">
                  <c:v>854.0</c:v>
                </c:pt>
                <c:pt idx="10">
                  <c:v>906.0</c:v>
                </c:pt>
                <c:pt idx="11">
                  <c:v>962.0</c:v>
                </c:pt>
                <c:pt idx="12">
                  <c:v>1016.0</c:v>
                </c:pt>
                <c:pt idx="13">
                  <c:v>1076.0</c:v>
                </c:pt>
                <c:pt idx="14">
                  <c:v>1146.0</c:v>
                </c:pt>
                <c:pt idx="15">
                  <c:v>1210.0</c:v>
                </c:pt>
              </c:numCache>
            </c:numRef>
          </c:val>
        </c:ser>
        <c:ser>
          <c:idx val="24"/>
          <c:order val="24"/>
          <c:tx>
            <c:strRef>
              <c:strCache>
                <c:ptCount val="1"/>
                <c:pt idx="0">
                  <c:v>Slovenia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478.0</c:v>
                </c:pt>
                <c:pt idx="1">
                  <c:v>504.0</c:v>
                </c:pt>
                <c:pt idx="2">
                  <c:v>531.0</c:v>
                </c:pt>
                <c:pt idx="3">
                  <c:v>556.0</c:v>
                </c:pt>
                <c:pt idx="4">
                  <c:v>584.0</c:v>
                </c:pt>
                <c:pt idx="5">
                  <c:v>620.0</c:v>
                </c:pt>
                <c:pt idx="6">
                  <c:v>655.0</c:v>
                </c:pt>
                <c:pt idx="7">
                  <c:v>691.0</c:v>
                </c:pt>
                <c:pt idx="8">
                  <c:v>730.0</c:v>
                </c:pt>
                <c:pt idx="9">
                  <c:v>778.0</c:v>
                </c:pt>
                <c:pt idx="10">
                  <c:v>822.0</c:v>
                </c:pt>
                <c:pt idx="11">
                  <c:v>870.0</c:v>
                </c:pt>
                <c:pt idx="12">
                  <c:v>919.0</c:v>
                </c:pt>
                <c:pt idx="13">
                  <c:v>976.0</c:v>
                </c:pt>
                <c:pt idx="14">
                  <c:v>1042.0</c:v>
                </c:pt>
                <c:pt idx="15">
                  <c:v>1105.0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Germany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405.916</c:v>
                </c:pt>
                <c:pt idx="1">
                  <c:v>428.564</c:v>
                </c:pt>
                <c:pt idx="2">
                  <c:v>447.91</c:v>
                </c:pt>
                <c:pt idx="3">
                  <c:v>470.228</c:v>
                </c:pt>
                <c:pt idx="4">
                  <c:v>496.526</c:v>
                </c:pt>
                <c:pt idx="5">
                  <c:v>523.979</c:v>
                </c:pt>
                <c:pt idx="6">
                  <c:v>557.436</c:v>
                </c:pt>
                <c:pt idx="7">
                  <c:v>590.666</c:v>
                </c:pt>
                <c:pt idx="8">
                  <c:v>627.471</c:v>
                </c:pt>
                <c:pt idx="9">
                  <c:v>662.949</c:v>
                </c:pt>
                <c:pt idx="10">
                  <c:v>701.188</c:v>
                </c:pt>
                <c:pt idx="11">
                  <c:v>740.78</c:v>
                </c:pt>
                <c:pt idx="12">
                  <c:v>787.924</c:v>
                </c:pt>
                <c:pt idx="13">
                  <c:v>830.07</c:v>
                </c:pt>
                <c:pt idx="14">
                  <c:v>878.425</c:v>
                </c:pt>
                <c:pt idx="15">
                  <c:v>930.827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United Kingdom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395.784</c:v>
                </c:pt>
                <c:pt idx="1">
                  <c:v>417.07</c:v>
                </c:pt>
                <c:pt idx="2">
                  <c:v>438.996</c:v>
                </c:pt>
                <c:pt idx="3">
                  <c:v>462.337</c:v>
                </c:pt>
                <c:pt idx="4">
                  <c:v>486.432</c:v>
                </c:pt>
                <c:pt idx="5">
                  <c:v>514.42</c:v>
                </c:pt>
                <c:pt idx="6">
                  <c:v>541.512</c:v>
                </c:pt>
                <c:pt idx="7">
                  <c:v>574.378</c:v>
                </c:pt>
                <c:pt idx="8">
                  <c:v>606.482</c:v>
                </c:pt>
                <c:pt idx="9">
                  <c:v>641.439</c:v>
                </c:pt>
                <c:pt idx="10">
                  <c:v>675.365</c:v>
                </c:pt>
                <c:pt idx="11">
                  <c:v>716.206</c:v>
                </c:pt>
                <c:pt idx="12">
                  <c:v>759.306</c:v>
                </c:pt>
                <c:pt idx="13">
                  <c:v>807.157</c:v>
                </c:pt>
                <c:pt idx="14">
                  <c:v>855.288</c:v>
                </c:pt>
                <c:pt idx="15">
                  <c:v>902.579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France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312.956</c:v>
                </c:pt>
                <c:pt idx="1">
                  <c:v>330.571</c:v>
                </c:pt>
                <c:pt idx="2">
                  <c:v>349.276</c:v>
                </c:pt>
                <c:pt idx="3">
                  <c:v>366.761</c:v>
                </c:pt>
                <c:pt idx="4">
                  <c:v>386.827</c:v>
                </c:pt>
                <c:pt idx="5">
                  <c:v>414.231</c:v>
                </c:pt>
                <c:pt idx="6">
                  <c:v>439.844</c:v>
                </c:pt>
                <c:pt idx="7">
                  <c:v>467.084</c:v>
                </c:pt>
                <c:pt idx="8">
                  <c:v>498.688</c:v>
                </c:pt>
                <c:pt idx="9">
                  <c:v>529.071</c:v>
                </c:pt>
                <c:pt idx="10">
                  <c:v>565.842</c:v>
                </c:pt>
                <c:pt idx="11">
                  <c:v>601.315</c:v>
                </c:pt>
                <c:pt idx="12">
                  <c:v>638.936</c:v>
                </c:pt>
                <c:pt idx="13">
                  <c:v>679.484</c:v>
                </c:pt>
                <c:pt idx="14">
                  <c:v>724.933</c:v>
                </c:pt>
                <c:pt idx="15">
                  <c:v>772.784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Italy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249.28</c:v>
                </c:pt>
                <c:pt idx="1">
                  <c:v>262.826</c:v>
                </c:pt>
                <c:pt idx="2">
                  <c:v>276.25</c:v>
                </c:pt>
                <c:pt idx="3">
                  <c:v>291.274</c:v>
                </c:pt>
                <c:pt idx="4">
                  <c:v>304.215</c:v>
                </c:pt>
                <c:pt idx="5">
                  <c:v>321.424</c:v>
                </c:pt>
                <c:pt idx="6">
                  <c:v>339.834</c:v>
                </c:pt>
                <c:pt idx="7">
                  <c:v>361.859</c:v>
                </c:pt>
                <c:pt idx="8">
                  <c:v>384.649</c:v>
                </c:pt>
                <c:pt idx="9">
                  <c:v>405.396</c:v>
                </c:pt>
                <c:pt idx="10">
                  <c:v>428.265</c:v>
                </c:pt>
                <c:pt idx="11">
                  <c:v>453.871</c:v>
                </c:pt>
                <c:pt idx="12">
                  <c:v>478.339</c:v>
                </c:pt>
                <c:pt idx="13">
                  <c:v>507.894</c:v>
                </c:pt>
                <c:pt idx="14">
                  <c:v>538.143</c:v>
                </c:pt>
                <c:pt idx="15">
                  <c:v>569.824</c:v>
                </c:pt>
              </c:numCache>
            </c:numRef>
          </c:val>
        </c:ser>
        <c:ser>
          <c:idx val="4"/>
          <c:order val="4"/>
          <c:tx>
            <c:strRef>
              <c:strCache>
                <c:ptCount val="1"/>
                <c:pt idx="0">
                  <c:v>Spain</c:v>
                </c:pt>
              </c:strCache>
            </c:strRef>
          </c:tx>
          <c:spPr>
            <a:solidFill>
              <a:srgbClr val="A35313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164.462</c:v>
                </c:pt>
                <c:pt idx="1">
                  <c:v>174.452</c:v>
                </c:pt>
                <c:pt idx="2">
                  <c:v>183.227</c:v>
                </c:pt>
                <c:pt idx="3">
                  <c:v>192.586</c:v>
                </c:pt>
                <c:pt idx="4">
                  <c:v>203.983</c:v>
                </c:pt>
                <c:pt idx="5">
                  <c:v>218.622</c:v>
                </c:pt>
                <c:pt idx="6">
                  <c:v>233.03</c:v>
                </c:pt>
                <c:pt idx="7">
                  <c:v>248.931</c:v>
                </c:pt>
                <c:pt idx="8">
                  <c:v>266.125</c:v>
                </c:pt>
                <c:pt idx="9">
                  <c:v>284.776</c:v>
                </c:pt>
                <c:pt idx="10">
                  <c:v>303.526</c:v>
                </c:pt>
                <c:pt idx="11">
                  <c:v>323.756</c:v>
                </c:pt>
                <c:pt idx="12">
                  <c:v>346.71</c:v>
                </c:pt>
                <c:pt idx="13">
                  <c:v>370.056</c:v>
                </c:pt>
                <c:pt idx="14">
                  <c:v>393.213</c:v>
                </c:pt>
                <c:pt idx="15">
                  <c:v>419.867</c:v>
                </c:pt>
              </c:numCache>
            </c:numRef>
          </c:val>
        </c:ser>
        <c:ser>
          <c:idx val="5"/>
          <c:order val="5"/>
          <c:tx>
            <c:strRef>
              <c:strCache>
                <c:ptCount val="1"/>
                <c:pt idx="0">
                  <c:v>Poland</c:v>
                </c:pt>
              </c:strCache>
            </c:strRef>
          </c:tx>
          <c:spPr>
            <a:solidFill>
              <a:srgbClr val="808080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111.732</c:v>
                </c:pt>
                <c:pt idx="1">
                  <c:v>116.782</c:v>
                </c:pt>
                <c:pt idx="2">
                  <c:v>122.168</c:v>
                </c:pt>
                <c:pt idx="3">
                  <c:v>127.984</c:v>
                </c:pt>
                <c:pt idx="4">
                  <c:v>133.957</c:v>
                </c:pt>
                <c:pt idx="5">
                  <c:v>140.12</c:v>
                </c:pt>
                <c:pt idx="6">
                  <c:v>146.471</c:v>
                </c:pt>
                <c:pt idx="7">
                  <c:v>153.877</c:v>
                </c:pt>
                <c:pt idx="8">
                  <c:v>161.745</c:v>
                </c:pt>
                <c:pt idx="9">
                  <c:v>170.386</c:v>
                </c:pt>
                <c:pt idx="10">
                  <c:v>178.337</c:v>
                </c:pt>
                <c:pt idx="11">
                  <c:v>186.789</c:v>
                </c:pt>
                <c:pt idx="12">
                  <c:v>196.635</c:v>
                </c:pt>
                <c:pt idx="13">
                  <c:v>206.704</c:v>
                </c:pt>
                <c:pt idx="14">
                  <c:v>217.47</c:v>
                </c:pt>
                <c:pt idx="15">
                  <c:v>229.775</c:v>
                </c:pt>
              </c:numCache>
            </c:numRef>
          </c:val>
        </c:ser>
        <c:ser>
          <c:idx val="6"/>
          <c:order val="6"/>
          <c:tx>
            <c:strRef>
              <c:strCache>
                <c:ptCount val="1"/>
                <c:pt idx="0">
                  <c:v>Netherlands</c:v>
                </c:pt>
              </c:strCache>
            </c:strRef>
          </c:tx>
          <c:spPr>
            <a:solidFill>
              <a:srgbClr val="0E72AE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106.183</c:v>
                </c:pt>
                <c:pt idx="1">
                  <c:v>111.98</c:v>
                </c:pt>
                <c:pt idx="2">
                  <c:v>118.121</c:v>
                </c:pt>
                <c:pt idx="3">
                  <c:v>124.989</c:v>
                </c:pt>
                <c:pt idx="4">
                  <c:v>132.49</c:v>
                </c:pt>
                <c:pt idx="5">
                  <c:v>141.353</c:v>
                </c:pt>
                <c:pt idx="6">
                  <c:v>151.032</c:v>
                </c:pt>
                <c:pt idx="7">
                  <c:v>162.337</c:v>
                </c:pt>
                <c:pt idx="8">
                  <c:v>173.345</c:v>
                </c:pt>
                <c:pt idx="9">
                  <c:v>184.892</c:v>
                </c:pt>
                <c:pt idx="10">
                  <c:v>197.147</c:v>
                </c:pt>
                <c:pt idx="11">
                  <c:v>210.763</c:v>
                </c:pt>
                <c:pt idx="12">
                  <c:v>224.906</c:v>
                </c:pt>
                <c:pt idx="13">
                  <c:v>239.916</c:v>
                </c:pt>
                <c:pt idx="14">
                  <c:v>255.431</c:v>
                </c:pt>
                <c:pt idx="15">
                  <c:v>274.589</c:v>
                </c:pt>
              </c:numCache>
            </c:numRef>
          </c:val>
        </c:ser>
        <c:ser>
          <c:idx val="7"/>
          <c:order val="7"/>
          <c:tx>
            <c:strRef>
              <c:strCache>
                <c:ptCount val="1"/>
                <c:pt idx="0">
                  <c:v>Other European Countries</c:v>
                </c:pt>
              </c:strCache>
            </c:strRef>
          </c:tx>
          <c:spPr>
            <a:solidFill>
              <a:srgbClr val="A86F00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74.989</c:v>
                </c:pt>
                <c:pt idx="1">
                  <c:v>79.409</c:v>
                </c:pt>
                <c:pt idx="2">
                  <c:v>84.632</c:v>
                </c:pt>
                <c:pt idx="3">
                  <c:v>90.276</c:v>
                </c:pt>
                <c:pt idx="4">
                  <c:v>95.551</c:v>
                </c:pt>
                <c:pt idx="5">
                  <c:v>101.998</c:v>
                </c:pt>
                <c:pt idx="6">
                  <c:v>109.114</c:v>
                </c:pt>
                <c:pt idx="7">
                  <c:v>117.082</c:v>
                </c:pt>
                <c:pt idx="8">
                  <c:v>125.923</c:v>
                </c:pt>
                <c:pt idx="9">
                  <c:v>134.53</c:v>
                </c:pt>
                <c:pt idx="10">
                  <c:v>144.692</c:v>
                </c:pt>
                <c:pt idx="11">
                  <c:v>155.86</c:v>
                </c:pt>
                <c:pt idx="12">
                  <c:v>166.953</c:v>
                </c:pt>
                <c:pt idx="13">
                  <c:v>179.468</c:v>
                </c:pt>
                <c:pt idx="14">
                  <c:v>192.67</c:v>
                </c:pt>
                <c:pt idx="15">
                  <c:v>206.039</c:v>
                </c:pt>
              </c:numCache>
            </c:numRef>
          </c:val>
        </c:ser>
        <c:ser>
          <c:idx val="8"/>
          <c:order val="8"/>
          <c:tx>
            <c:strRef>
              <c:strCache>
                <c:ptCount val="1"/>
                <c:pt idx="0">
                  <c:v>Sweden</c:v>
                </c:pt>
              </c:strCache>
            </c:strRef>
          </c:tx>
          <c:spPr>
            <a:solidFill>
              <a:srgbClr val="0B2E4A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66.732</c:v>
                </c:pt>
                <c:pt idx="1">
                  <c:v>70.867</c:v>
                </c:pt>
                <c:pt idx="2">
                  <c:v>75.598</c:v>
                </c:pt>
                <c:pt idx="3">
                  <c:v>80.188</c:v>
                </c:pt>
                <c:pt idx="4">
                  <c:v>85.327</c:v>
                </c:pt>
                <c:pt idx="5">
                  <c:v>91.751</c:v>
                </c:pt>
                <c:pt idx="6">
                  <c:v>97.881</c:v>
                </c:pt>
                <c:pt idx="7">
                  <c:v>104.627</c:v>
                </c:pt>
                <c:pt idx="8">
                  <c:v>111.701</c:v>
                </c:pt>
                <c:pt idx="9">
                  <c:v>119.683</c:v>
                </c:pt>
                <c:pt idx="10">
                  <c:v>128.414</c:v>
                </c:pt>
                <c:pt idx="11">
                  <c:v>137.85</c:v>
                </c:pt>
                <c:pt idx="12">
                  <c:v>147.528</c:v>
                </c:pt>
                <c:pt idx="13">
                  <c:v>158.201</c:v>
                </c:pt>
                <c:pt idx="14">
                  <c:v>170.394</c:v>
                </c:pt>
                <c:pt idx="15">
                  <c:v>181.854</c:v>
                </c:pt>
              </c:numCache>
            </c:numRef>
          </c:val>
        </c:ser>
        <c:ser>
          <c:idx val="9"/>
          <c:order val="9"/>
          <c:tx>
            <c:strRef>
              <c:strCache>
                <c:ptCount val="1"/>
                <c:pt idx="0">
                  <c:v>Belgium</c:v>
                </c:pt>
              </c:strCache>
            </c:strRef>
          </c:tx>
          <c:spPr>
            <a:solidFill>
              <a:srgbClr val="6C7A89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65.606</c:v>
                </c:pt>
                <c:pt idx="1">
                  <c:v>68.289</c:v>
                </c:pt>
                <c:pt idx="2">
                  <c:v>71.415</c:v>
                </c:pt>
                <c:pt idx="3">
                  <c:v>74.815</c:v>
                </c:pt>
                <c:pt idx="4">
                  <c:v>78.249</c:v>
                </c:pt>
                <c:pt idx="5">
                  <c:v>82.078</c:v>
                </c:pt>
                <c:pt idx="6">
                  <c:v>85.738</c:v>
                </c:pt>
                <c:pt idx="7">
                  <c:v>89.815</c:v>
                </c:pt>
                <c:pt idx="8">
                  <c:v>94.759</c:v>
                </c:pt>
                <c:pt idx="9">
                  <c:v>98.965</c:v>
                </c:pt>
                <c:pt idx="10">
                  <c:v>103.5</c:v>
                </c:pt>
                <c:pt idx="11">
                  <c:v>108.102</c:v>
                </c:pt>
                <c:pt idx="12">
                  <c:v>113.155</c:v>
                </c:pt>
                <c:pt idx="13">
                  <c:v>118.252</c:v>
                </c:pt>
                <c:pt idx="14">
                  <c:v>123.794</c:v>
                </c:pt>
                <c:pt idx="15">
                  <c:v>129.736</c:v>
                </c:pt>
              </c:numCache>
            </c:numRef>
          </c:val>
        </c:ser>
        <c:ser>
          <c:idx val="10"/>
          <c:order val="10"/>
          <c:tx>
            <c:strRef>
              <c:strCache>
                <c:ptCount val="1"/>
                <c:pt idx="0">
                  <c:v>Austria</c:v>
                </c:pt>
              </c:strCache>
            </c:strRef>
          </c:tx>
          <c:spPr>
            <a:solidFill>
              <a:srgbClr val="B2B2B2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64.299</c:v>
                </c:pt>
                <c:pt idx="1">
                  <c:v>67.186</c:v>
                </c:pt>
                <c:pt idx="2">
                  <c:v>70.724</c:v>
                </c:pt>
                <c:pt idx="3">
                  <c:v>74.3</c:v>
                </c:pt>
                <c:pt idx="4">
                  <c:v>78.263</c:v>
                </c:pt>
                <c:pt idx="5">
                  <c:v>82.421</c:v>
                </c:pt>
                <c:pt idx="6">
                  <c:v>87.49</c:v>
                </c:pt>
                <c:pt idx="7">
                  <c:v>92.195</c:v>
                </c:pt>
                <c:pt idx="8">
                  <c:v>97.852</c:v>
                </c:pt>
                <c:pt idx="9">
                  <c:v>102.983</c:v>
                </c:pt>
                <c:pt idx="10">
                  <c:v>109.227</c:v>
                </c:pt>
                <c:pt idx="11">
                  <c:v>115.253</c:v>
                </c:pt>
                <c:pt idx="12">
                  <c:v>122.042</c:v>
                </c:pt>
                <c:pt idx="13">
                  <c:v>129.593</c:v>
                </c:pt>
                <c:pt idx="14">
                  <c:v>137.498</c:v>
                </c:pt>
                <c:pt idx="15">
                  <c:v>145.017</c:v>
                </c:pt>
              </c:numCache>
            </c:numRef>
          </c:val>
        </c:ser>
        <c:ser>
          <c:idx val="11"/>
          <c:order val="11"/>
          <c:tx>
            <c:strRef>
              <c:strCache>
                <c:ptCount val="1"/>
                <c:pt idx="0">
                  <c:v>Switzerland</c:v>
                </c:pt>
              </c:strCache>
            </c:strRef>
          </c:tx>
          <c:spPr>
            <a:solidFill>
              <a:srgbClr val="5F5F5F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63.683</c:v>
                </c:pt>
                <c:pt idx="1">
                  <c:v>66.47</c:v>
                </c:pt>
                <c:pt idx="2">
                  <c:v>69.828</c:v>
                </c:pt>
                <c:pt idx="3">
                  <c:v>72.63</c:v>
                </c:pt>
                <c:pt idx="4">
                  <c:v>76.328</c:v>
                </c:pt>
                <c:pt idx="5">
                  <c:v>80.17</c:v>
                </c:pt>
                <c:pt idx="6">
                  <c:v>84.445</c:v>
                </c:pt>
                <c:pt idx="7">
                  <c:v>88.876</c:v>
                </c:pt>
                <c:pt idx="8">
                  <c:v>93.326</c:v>
                </c:pt>
                <c:pt idx="9">
                  <c:v>98.465</c:v>
                </c:pt>
                <c:pt idx="10">
                  <c:v>104.065</c:v>
                </c:pt>
                <c:pt idx="11">
                  <c:v>109.91</c:v>
                </c:pt>
                <c:pt idx="12">
                  <c:v>116.275</c:v>
                </c:pt>
                <c:pt idx="13">
                  <c:v>122.676</c:v>
                </c:pt>
                <c:pt idx="14">
                  <c:v>128.97</c:v>
                </c:pt>
                <c:pt idx="15">
                  <c:v>135.373</c:v>
                </c:pt>
              </c:numCache>
            </c:numRef>
          </c:val>
        </c:ser>
        <c:ser>
          <c:idx val="12"/>
          <c:order val="12"/>
          <c:tx>
            <c:strRef>
              <c:strCache>
                <c:ptCount val="1"/>
                <c:pt idx="0">
                  <c:v>Czech Republic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40.203</c:v>
                </c:pt>
                <c:pt idx="1">
                  <c:v>42.507</c:v>
                </c:pt>
                <c:pt idx="2">
                  <c:v>44.849</c:v>
                </c:pt>
                <c:pt idx="3">
                  <c:v>46.963</c:v>
                </c:pt>
                <c:pt idx="4">
                  <c:v>49.296</c:v>
                </c:pt>
                <c:pt idx="5">
                  <c:v>52.137</c:v>
                </c:pt>
                <c:pt idx="6">
                  <c:v>55.364</c:v>
                </c:pt>
                <c:pt idx="7">
                  <c:v>58.82</c:v>
                </c:pt>
                <c:pt idx="8">
                  <c:v>62.094</c:v>
                </c:pt>
                <c:pt idx="9">
                  <c:v>66.026</c:v>
                </c:pt>
                <c:pt idx="10">
                  <c:v>70.394</c:v>
                </c:pt>
                <c:pt idx="11">
                  <c:v>74.893</c:v>
                </c:pt>
                <c:pt idx="12">
                  <c:v>79.049</c:v>
                </c:pt>
                <c:pt idx="13">
                  <c:v>84.007</c:v>
                </c:pt>
                <c:pt idx="14">
                  <c:v>88.794</c:v>
                </c:pt>
                <c:pt idx="15">
                  <c:v>94.595</c:v>
                </c:pt>
              </c:numCache>
            </c:numRef>
          </c:val>
        </c:ser>
        <c:ser>
          <c:idx val="13"/>
          <c:order val="13"/>
          <c:tx>
            <c:strRef>
              <c:strCache>
                <c:ptCount val="1"/>
                <c:pt idx="0">
                  <c:v>Portugal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38.392</c:v>
                </c:pt>
                <c:pt idx="1">
                  <c:v>40.38</c:v>
                </c:pt>
                <c:pt idx="2">
                  <c:v>42.567</c:v>
                </c:pt>
                <c:pt idx="3">
                  <c:v>44.641</c:v>
                </c:pt>
                <c:pt idx="4">
                  <c:v>47.105</c:v>
                </c:pt>
                <c:pt idx="5">
                  <c:v>50.216</c:v>
                </c:pt>
                <c:pt idx="6">
                  <c:v>53.429</c:v>
                </c:pt>
                <c:pt idx="7">
                  <c:v>56.793</c:v>
                </c:pt>
                <c:pt idx="8">
                  <c:v>60.438</c:v>
                </c:pt>
                <c:pt idx="9">
                  <c:v>64.041</c:v>
                </c:pt>
                <c:pt idx="10">
                  <c:v>68.282</c:v>
                </c:pt>
                <c:pt idx="11">
                  <c:v>72.32</c:v>
                </c:pt>
                <c:pt idx="12">
                  <c:v>76.972</c:v>
                </c:pt>
                <c:pt idx="13">
                  <c:v>81.885</c:v>
                </c:pt>
                <c:pt idx="14">
                  <c:v>87.192</c:v>
                </c:pt>
                <c:pt idx="15">
                  <c:v>92.488</c:v>
                </c:pt>
              </c:numCache>
            </c:numRef>
          </c:val>
        </c:ser>
        <c:ser>
          <c:idx val="14"/>
          <c:order val="14"/>
          <c:tx>
            <c:strRef>
              <c:strCache>
                <c:ptCount val="1"/>
                <c:pt idx="0">
                  <c:v>Norway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36.709</c:v>
                </c:pt>
                <c:pt idx="1">
                  <c:v>38.767</c:v>
                </c:pt>
                <c:pt idx="2">
                  <c:v>40.927</c:v>
                </c:pt>
                <c:pt idx="3">
                  <c:v>43.171</c:v>
                </c:pt>
                <c:pt idx="4">
                  <c:v>45.369</c:v>
                </c:pt>
                <c:pt idx="5">
                  <c:v>48.086</c:v>
                </c:pt>
                <c:pt idx="6">
                  <c:v>50.786</c:v>
                </c:pt>
                <c:pt idx="7">
                  <c:v>53.682</c:v>
                </c:pt>
                <c:pt idx="8">
                  <c:v>56.666</c:v>
                </c:pt>
                <c:pt idx="9">
                  <c:v>60.31</c:v>
                </c:pt>
                <c:pt idx="10">
                  <c:v>64.327</c:v>
                </c:pt>
                <c:pt idx="11">
                  <c:v>68.453</c:v>
                </c:pt>
                <c:pt idx="12">
                  <c:v>72.665</c:v>
                </c:pt>
                <c:pt idx="13">
                  <c:v>77.21</c:v>
                </c:pt>
                <c:pt idx="14">
                  <c:v>82.114</c:v>
                </c:pt>
                <c:pt idx="15">
                  <c:v>87.49</c:v>
                </c:pt>
              </c:numCache>
            </c:numRef>
          </c:val>
        </c:ser>
        <c:ser>
          <c:idx val="15"/>
          <c:order val="15"/>
          <c:tx>
            <c:strRef>
              <c:strCache>
                <c:ptCount val="1"/>
                <c:pt idx="0">
                  <c:v>Denmark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36.187</c:v>
                </c:pt>
                <c:pt idx="1">
                  <c:v>37.881</c:v>
                </c:pt>
                <c:pt idx="2">
                  <c:v>39.659</c:v>
                </c:pt>
                <c:pt idx="3">
                  <c:v>41.876</c:v>
                </c:pt>
                <c:pt idx="4">
                  <c:v>44.047</c:v>
                </c:pt>
                <c:pt idx="5">
                  <c:v>46.879</c:v>
                </c:pt>
                <c:pt idx="6">
                  <c:v>49.692</c:v>
                </c:pt>
                <c:pt idx="7">
                  <c:v>52.529</c:v>
                </c:pt>
                <c:pt idx="8">
                  <c:v>55.88</c:v>
                </c:pt>
                <c:pt idx="9">
                  <c:v>59.145</c:v>
                </c:pt>
                <c:pt idx="10">
                  <c:v>62.408</c:v>
                </c:pt>
                <c:pt idx="11">
                  <c:v>66.124</c:v>
                </c:pt>
                <c:pt idx="12">
                  <c:v>70.472</c:v>
                </c:pt>
                <c:pt idx="13">
                  <c:v>74.709</c:v>
                </c:pt>
                <c:pt idx="14">
                  <c:v>79.252</c:v>
                </c:pt>
                <c:pt idx="15">
                  <c:v>84.532</c:v>
                </c:pt>
              </c:numCache>
            </c:numRef>
          </c:val>
        </c:ser>
        <c:ser>
          <c:idx val="16"/>
          <c:order val="16"/>
          <c:tx>
            <c:strRef>
              <c:strCache>
                <c:ptCount val="1"/>
                <c:pt idx="0">
                  <c:v>Finland</c:v>
                </c:pt>
              </c:strCache>
            </c:strRef>
          </c:tx>
          <c:spPr>
            <a:solidFill>
              <a:srgbClr val="A35313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30.823</c:v>
                </c:pt>
                <c:pt idx="1">
                  <c:v>32.221</c:v>
                </c:pt>
                <c:pt idx="2">
                  <c:v>33.731</c:v>
                </c:pt>
                <c:pt idx="3">
                  <c:v>35.277</c:v>
                </c:pt>
                <c:pt idx="4">
                  <c:v>36.826</c:v>
                </c:pt>
                <c:pt idx="5">
                  <c:v>38.955</c:v>
                </c:pt>
                <c:pt idx="6">
                  <c:v>40.796</c:v>
                </c:pt>
                <c:pt idx="7">
                  <c:v>42.821</c:v>
                </c:pt>
                <c:pt idx="8">
                  <c:v>45.119</c:v>
                </c:pt>
                <c:pt idx="9">
                  <c:v>47.696</c:v>
                </c:pt>
                <c:pt idx="10">
                  <c:v>50.115</c:v>
                </c:pt>
                <c:pt idx="11">
                  <c:v>52.982</c:v>
                </c:pt>
                <c:pt idx="12">
                  <c:v>55.818</c:v>
                </c:pt>
                <c:pt idx="13">
                  <c:v>59.005</c:v>
                </c:pt>
                <c:pt idx="14">
                  <c:v>61.822</c:v>
                </c:pt>
                <c:pt idx="15">
                  <c:v>64.765</c:v>
                </c:pt>
              </c:numCache>
            </c:numRef>
          </c:val>
        </c:ser>
        <c:ser>
          <c:idx val="17"/>
          <c:order val="17"/>
          <c:tx>
            <c:strRef>
              <c:strCache>
                <c:ptCount val="1"/>
                <c:pt idx="0">
                  <c:v>Ireland</c:v>
                </c:pt>
              </c:strCache>
            </c:strRef>
          </c:tx>
          <c:spPr>
            <a:solidFill>
              <a:srgbClr val="808080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29.38</c:v>
                </c:pt>
                <c:pt idx="1">
                  <c:v>30.673</c:v>
                </c:pt>
                <c:pt idx="2">
                  <c:v>32.214</c:v>
                </c:pt>
                <c:pt idx="3">
                  <c:v>33.604</c:v>
                </c:pt>
                <c:pt idx="4">
                  <c:v>35.292</c:v>
                </c:pt>
                <c:pt idx="5">
                  <c:v>37.171</c:v>
                </c:pt>
                <c:pt idx="6">
                  <c:v>39.177</c:v>
                </c:pt>
                <c:pt idx="7">
                  <c:v>41.28</c:v>
                </c:pt>
                <c:pt idx="8">
                  <c:v>43.499</c:v>
                </c:pt>
                <c:pt idx="9">
                  <c:v>45.922</c:v>
                </c:pt>
                <c:pt idx="10">
                  <c:v>48.475</c:v>
                </c:pt>
                <c:pt idx="11">
                  <c:v>51.037</c:v>
                </c:pt>
                <c:pt idx="12">
                  <c:v>54.045</c:v>
                </c:pt>
                <c:pt idx="13">
                  <c:v>57.254</c:v>
                </c:pt>
                <c:pt idx="14">
                  <c:v>60.562</c:v>
                </c:pt>
                <c:pt idx="15">
                  <c:v>64.055</c:v>
                </c:pt>
              </c:numCache>
            </c:numRef>
          </c:val>
        </c:ser>
        <c:ser>
          <c:idx val="18"/>
          <c:order val="18"/>
          <c:tx>
            <c:strRef>
              <c:strCache>
                <c:ptCount val="1"/>
                <c:pt idx="0">
                  <c:v>Romania</c:v>
                </c:pt>
              </c:strCache>
            </c:strRef>
          </c:tx>
          <c:spPr>
            <a:solidFill>
              <a:srgbClr val="0E72AE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28.832</c:v>
                </c:pt>
                <c:pt idx="1">
                  <c:v>30.636</c:v>
                </c:pt>
                <c:pt idx="2">
                  <c:v>32.567</c:v>
                </c:pt>
                <c:pt idx="3">
                  <c:v>34.512</c:v>
                </c:pt>
                <c:pt idx="4">
                  <c:v>36.329</c:v>
                </c:pt>
                <c:pt idx="5">
                  <c:v>38.669</c:v>
                </c:pt>
                <c:pt idx="6">
                  <c:v>41.395</c:v>
                </c:pt>
                <c:pt idx="7">
                  <c:v>44.258</c:v>
                </c:pt>
                <c:pt idx="8">
                  <c:v>47.354</c:v>
                </c:pt>
                <c:pt idx="9">
                  <c:v>50.547</c:v>
                </c:pt>
                <c:pt idx="10">
                  <c:v>54.028</c:v>
                </c:pt>
                <c:pt idx="11">
                  <c:v>57.63</c:v>
                </c:pt>
                <c:pt idx="12">
                  <c:v>61.42</c:v>
                </c:pt>
                <c:pt idx="13">
                  <c:v>65.799</c:v>
                </c:pt>
                <c:pt idx="14">
                  <c:v>70.463</c:v>
                </c:pt>
                <c:pt idx="15">
                  <c:v>75.667</c:v>
                </c:pt>
              </c:numCache>
            </c:numRef>
          </c:val>
        </c:ser>
        <c:ser>
          <c:idx val="19"/>
          <c:order val="19"/>
          <c:tx>
            <c:strRef>
              <c:strCache>
                <c:ptCount val="1"/>
                <c:pt idx="0">
                  <c:v>Hungary</c:v>
                </c:pt>
              </c:strCache>
            </c:strRef>
          </c:tx>
          <c:spPr>
            <a:solidFill>
              <a:srgbClr val="A86F00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26.13</c:v>
                </c:pt>
                <c:pt idx="1">
                  <c:v>27.631</c:v>
                </c:pt>
                <c:pt idx="2">
                  <c:v>29.005</c:v>
                </c:pt>
                <c:pt idx="3">
                  <c:v>30.671</c:v>
                </c:pt>
                <c:pt idx="4">
                  <c:v>32.159</c:v>
                </c:pt>
                <c:pt idx="5">
                  <c:v>34.095</c:v>
                </c:pt>
                <c:pt idx="6">
                  <c:v>36.037</c:v>
                </c:pt>
                <c:pt idx="7">
                  <c:v>38.339</c:v>
                </c:pt>
                <c:pt idx="8">
                  <c:v>40.911</c:v>
                </c:pt>
                <c:pt idx="9">
                  <c:v>43.641</c:v>
                </c:pt>
                <c:pt idx="10">
                  <c:v>46.303</c:v>
                </c:pt>
                <c:pt idx="11">
                  <c:v>48.955</c:v>
                </c:pt>
                <c:pt idx="12">
                  <c:v>51.837</c:v>
                </c:pt>
                <c:pt idx="13">
                  <c:v>54.858</c:v>
                </c:pt>
                <c:pt idx="14">
                  <c:v>58.396</c:v>
                </c:pt>
                <c:pt idx="15">
                  <c:v>62.139</c:v>
                </c:pt>
              </c:numCache>
            </c:numRef>
          </c:val>
        </c:ser>
        <c:ser>
          <c:idx val="20"/>
          <c:order val="20"/>
          <c:tx>
            <c:strRef>
              <c:strCache>
                <c:ptCount val="1"/>
                <c:pt idx="0">
                  <c:v>Greece</c:v>
                </c:pt>
              </c:strCache>
            </c:strRef>
          </c:tx>
          <c:spPr>
            <a:solidFill>
              <a:srgbClr val="0B2E4A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25.017</c:v>
                </c:pt>
                <c:pt idx="1">
                  <c:v>26.234</c:v>
                </c:pt>
                <c:pt idx="2">
                  <c:v>27.512</c:v>
                </c:pt>
                <c:pt idx="3">
                  <c:v>28.887</c:v>
                </c:pt>
                <c:pt idx="4">
                  <c:v>30.438</c:v>
                </c:pt>
                <c:pt idx="5">
                  <c:v>32.391</c:v>
                </c:pt>
                <c:pt idx="6">
                  <c:v>34.462</c:v>
                </c:pt>
                <c:pt idx="7">
                  <c:v>36.591</c:v>
                </c:pt>
                <c:pt idx="8">
                  <c:v>38.883</c:v>
                </c:pt>
                <c:pt idx="9">
                  <c:v>41.315</c:v>
                </c:pt>
                <c:pt idx="10">
                  <c:v>44.11</c:v>
                </c:pt>
                <c:pt idx="11">
                  <c:v>46.792</c:v>
                </c:pt>
                <c:pt idx="12">
                  <c:v>49.618</c:v>
                </c:pt>
                <c:pt idx="13">
                  <c:v>53.046</c:v>
                </c:pt>
                <c:pt idx="14">
                  <c:v>56.199</c:v>
                </c:pt>
                <c:pt idx="15">
                  <c:v>59.742</c:v>
                </c:pt>
              </c:numCache>
            </c:numRef>
          </c:val>
        </c:ser>
        <c:ser>
          <c:idx val="21"/>
          <c:order val="21"/>
          <c:tx>
            <c:strRef>
              <c:strCache>
                <c:ptCount val="1"/>
                <c:pt idx="0">
                  <c:v>Bulgaria</c:v>
                </c:pt>
              </c:strCache>
            </c:strRef>
          </c:tx>
          <c:spPr>
            <a:solidFill>
              <a:srgbClr val="6C7A89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15.217</c:v>
                </c:pt>
                <c:pt idx="1">
                  <c:v>15.94</c:v>
                </c:pt>
                <c:pt idx="2">
                  <c:v>16.628</c:v>
                </c:pt>
                <c:pt idx="3">
                  <c:v>17.403</c:v>
                </c:pt>
                <c:pt idx="4">
                  <c:v>18.132</c:v>
                </c:pt>
                <c:pt idx="5">
                  <c:v>19.029</c:v>
                </c:pt>
                <c:pt idx="6">
                  <c:v>20.074</c:v>
                </c:pt>
                <c:pt idx="7">
                  <c:v>21.288</c:v>
                </c:pt>
                <c:pt idx="8">
                  <c:v>22.459</c:v>
                </c:pt>
                <c:pt idx="9">
                  <c:v>23.674</c:v>
                </c:pt>
                <c:pt idx="10">
                  <c:v>24.987</c:v>
                </c:pt>
                <c:pt idx="11">
                  <c:v>26.305</c:v>
                </c:pt>
                <c:pt idx="12">
                  <c:v>27.745</c:v>
                </c:pt>
                <c:pt idx="13">
                  <c:v>29.261</c:v>
                </c:pt>
                <c:pt idx="14">
                  <c:v>30.845</c:v>
                </c:pt>
                <c:pt idx="15">
                  <c:v>32.413</c:v>
                </c:pt>
              </c:numCache>
            </c:numRef>
          </c:val>
        </c:ser>
        <c:ser>
          <c:idx val="22"/>
          <c:order val="22"/>
          <c:tx>
            <c:strRef>
              <c:strCache>
                <c:ptCount val="1"/>
                <c:pt idx="0">
                  <c:v>Croatia</c:v>
                </c:pt>
              </c:strCache>
            </c:strRef>
          </c:tx>
          <c:spPr>
            <a:solidFill>
              <a:srgbClr val="B2B2B2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12.006</c:v>
                </c:pt>
                <c:pt idx="1">
                  <c:v>12.63</c:v>
                </c:pt>
                <c:pt idx="2">
                  <c:v>13.396</c:v>
                </c:pt>
                <c:pt idx="3">
                  <c:v>14.191</c:v>
                </c:pt>
                <c:pt idx="4">
                  <c:v>14.989</c:v>
                </c:pt>
                <c:pt idx="5">
                  <c:v>15.971</c:v>
                </c:pt>
                <c:pt idx="6">
                  <c:v>17.045</c:v>
                </c:pt>
                <c:pt idx="7">
                  <c:v>18.212</c:v>
                </c:pt>
                <c:pt idx="8">
                  <c:v>19.502</c:v>
                </c:pt>
                <c:pt idx="9">
                  <c:v>20.751</c:v>
                </c:pt>
                <c:pt idx="10">
                  <c:v>22.124</c:v>
                </c:pt>
                <c:pt idx="11">
                  <c:v>23.604</c:v>
                </c:pt>
                <c:pt idx="12">
                  <c:v>25.273</c:v>
                </c:pt>
                <c:pt idx="13">
                  <c:v>26.97</c:v>
                </c:pt>
                <c:pt idx="14">
                  <c:v>28.625</c:v>
                </c:pt>
                <c:pt idx="15">
                  <c:v>30.662</c:v>
                </c:pt>
              </c:numCache>
            </c:numRef>
          </c:val>
        </c:ser>
        <c:ser>
          <c:idx val="23"/>
          <c:order val="23"/>
          <c:tx>
            <c:strRef>
              <c:strCache>
                <c:ptCount val="1"/>
                <c:pt idx="0">
                  <c:v>Malta</c:v>
                </c:pt>
              </c:strCache>
            </c:strRef>
          </c:tx>
          <c:spPr>
            <a:solidFill>
              <a:srgbClr val="5F5F5F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9.82</c:v>
                </c:pt>
                <c:pt idx="1">
                  <c:v>10.428</c:v>
                </c:pt>
                <c:pt idx="2">
                  <c:v>11.079</c:v>
                </c:pt>
                <c:pt idx="3">
                  <c:v>11.75</c:v>
                </c:pt>
                <c:pt idx="4">
                  <c:v>12.43</c:v>
                </c:pt>
                <c:pt idx="5">
                  <c:v>13.277</c:v>
                </c:pt>
                <c:pt idx="6">
                  <c:v>14.253</c:v>
                </c:pt>
                <c:pt idx="7">
                  <c:v>15.17</c:v>
                </c:pt>
                <c:pt idx="8">
                  <c:v>16.153</c:v>
                </c:pt>
                <c:pt idx="9">
                  <c:v>17.26</c:v>
                </c:pt>
                <c:pt idx="10">
                  <c:v>18.453</c:v>
                </c:pt>
                <c:pt idx="11">
                  <c:v>19.745</c:v>
                </c:pt>
                <c:pt idx="12">
                  <c:v>21.003</c:v>
                </c:pt>
                <c:pt idx="13">
                  <c:v>22.395</c:v>
                </c:pt>
                <c:pt idx="14">
                  <c:v>24.019</c:v>
                </c:pt>
                <c:pt idx="15">
                  <c:v>25.543</c:v>
                </c:pt>
              </c:numCache>
            </c:numRef>
          </c:val>
        </c:ser>
        <c:ser>
          <c:idx val="24"/>
          <c:order val="24"/>
          <c:tx>
            <c:strRef>
              <c:strCache>
                <c:ptCount val="1"/>
                <c:pt idx="0">
                  <c:v>Slovenia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9.673</c:v>
                </c:pt>
                <c:pt idx="1">
                  <c:v>10.23</c:v>
                </c:pt>
                <c:pt idx="2">
                  <c:v>10.816</c:v>
                </c:pt>
                <c:pt idx="3">
                  <c:v>11.348</c:v>
                </c:pt>
                <c:pt idx="4">
                  <c:v>11.956</c:v>
                </c:pt>
                <c:pt idx="5">
                  <c:v>12.729</c:v>
                </c:pt>
                <c:pt idx="6">
                  <c:v>13.494</c:v>
                </c:pt>
                <c:pt idx="7">
                  <c:v>14.279</c:v>
                </c:pt>
                <c:pt idx="8">
                  <c:v>15.116</c:v>
                </c:pt>
                <c:pt idx="9">
                  <c:v>16.158</c:v>
                </c:pt>
                <c:pt idx="10">
                  <c:v>17.121</c:v>
                </c:pt>
                <c:pt idx="11">
                  <c:v>18.175</c:v>
                </c:pt>
                <c:pt idx="12">
                  <c:v>19.245</c:v>
                </c:pt>
                <c:pt idx="13">
                  <c:v>20.502</c:v>
                </c:pt>
                <c:pt idx="14">
                  <c:v>21.937</c:v>
                </c:pt>
                <c:pt idx="15">
                  <c:v>23.338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Shampoos &amp; Cleansing Products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29.432684891593112</c:v>
                </c:pt>
                <c:pt idx="1">
                  <c:v>33.775689958896066</c:v>
                </c:pt>
                <c:pt idx="2">
                  <c:v>37.310853117662404</c:v>
                </c:pt>
                <c:pt idx="3">
                  <c:v>34.856243830207305</c:v>
                </c:pt>
                <c:pt idx="4">
                  <c:v>27.358853756925495</c:v>
                </c:pt>
                <c:pt idx="5">
                  <c:v>32.10595770703917</c:v>
                </c:pt>
                <c:pt idx="6">
                  <c:v>33.680430879712745</c:v>
                </c:pt>
                <c:pt idx="7">
                  <c:v>38.24751022929051</c:v>
                </c:pt>
                <c:pt idx="8">
                  <c:v>36.71578669133682</c:v>
                </c:pt>
                <c:pt idx="9">
                  <c:v>40.2940932912186</c:v>
                </c:pt>
                <c:pt idx="10">
                  <c:v>29.35340442798523</c:v>
                </c:pt>
                <c:pt idx="11">
                  <c:v>36.20283273867446</c:v>
                </c:pt>
                <c:pt idx="12">
                  <c:v>36.85818489349331</c:v>
                </c:pt>
                <c:pt idx="13">
                  <c:v>46.35798853055436</c:v>
                </c:pt>
                <c:pt idx="14">
                  <c:v>33.536477262654024</c:v>
                </c:pt>
                <c:pt idx="15">
                  <c:v>27.6246560795482</c:v>
                </c:pt>
                <c:pt idx="16">
                  <c:v>29.496189250717602</c:v>
                </c:pt>
                <c:pt idx="17">
                  <c:v>33.350967535272446</c:v>
                </c:pt>
                <c:pt idx="18">
                  <c:v>26.43574611795836</c:v>
                </c:pt>
                <c:pt idx="19">
                  <c:v>30.2208027269847</c:v>
                </c:pt>
                <c:pt idx="20">
                  <c:v>27.628510933224092</c:v>
                </c:pt>
                <c:pt idx="21">
                  <c:v>35.03766075138991</c:v>
                </c:pt>
                <c:pt idx="22">
                  <c:v>37.50959198013409</c:v>
                </c:pt>
                <c:pt idx="23">
                  <c:v>34.89718362915198</c:v>
                </c:pt>
                <c:pt idx="24">
                  <c:v>47.883011558538804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Coat Conditioning &amp; Grooming Products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20.438769388979345</c:v>
                </c:pt>
                <c:pt idx="1">
                  <c:v>22.66196907418281</c:v>
                </c:pt>
                <c:pt idx="2">
                  <c:v>17.80915731802765</c:v>
                </c:pt>
                <c:pt idx="3">
                  <c:v>23.044175715695957</c:v>
                </c:pt>
                <c:pt idx="4">
                  <c:v>29.4076293456974</c:v>
                </c:pt>
                <c:pt idx="5">
                  <c:v>22.615790659499822</c:v>
                </c:pt>
                <c:pt idx="6">
                  <c:v>28.36312543907579</c:v>
                </c:pt>
                <c:pt idx="7">
                  <c:v>20.778198100826064</c:v>
                </c:pt>
                <c:pt idx="8">
                  <c:v>15.78933456684068</c:v>
                </c:pt>
                <c:pt idx="9">
                  <c:v>19.758431817912957</c:v>
                </c:pt>
                <c:pt idx="10">
                  <c:v>19.976225582644673</c:v>
                </c:pt>
                <c:pt idx="11">
                  <c:v>19.213969077738135</c:v>
                </c:pt>
                <c:pt idx="12">
                  <c:v>19.441830963581587</c:v>
                </c:pt>
                <c:pt idx="13">
                  <c:v>17.107818955417155</c:v>
                </c:pt>
                <c:pt idx="14">
                  <c:v>24.447448512247735</c:v>
                </c:pt>
                <c:pt idx="15">
                  <c:v>25.740075438390832</c:v>
                </c:pt>
                <c:pt idx="16">
                  <c:v>21.019059245328666</c:v>
                </c:pt>
                <c:pt idx="17">
                  <c:v>21.37799154528997</c:v>
                </c:pt>
                <c:pt idx="18">
                  <c:v>28.02207367174988</c:v>
                </c:pt>
                <c:pt idx="19">
                  <c:v>25.16888877558825</c:v>
                </c:pt>
                <c:pt idx="20">
                  <c:v>25.155108641546015</c:v>
                </c:pt>
                <c:pt idx="21">
                  <c:v>19.333688998708375</c:v>
                </c:pt>
                <c:pt idx="22">
                  <c:v>19.295764259214447</c:v>
                </c:pt>
                <c:pt idx="23">
                  <c:v>17.009683352168228</c:v>
                </c:pt>
                <c:pt idx="24">
                  <c:v>13.114359596358934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Skin, Paw &amp; Nose Care Products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20.198817379381268</c:v>
                </c:pt>
                <c:pt idx="1">
                  <c:v>19.134860050890584</c:v>
                </c:pt>
                <c:pt idx="2">
                  <c:v>13.41964518653796</c:v>
                </c:pt>
                <c:pt idx="3">
                  <c:v>16.942250740375126</c:v>
                </c:pt>
                <c:pt idx="4">
                  <c:v>15.081264750682088</c:v>
                </c:pt>
                <c:pt idx="5">
                  <c:v>14.292381473494478</c:v>
                </c:pt>
                <c:pt idx="6">
                  <c:v>16.43743657794083</c:v>
                </c:pt>
                <c:pt idx="7">
                  <c:v>13.437813633907203</c:v>
                </c:pt>
                <c:pt idx="8">
                  <c:v>17.778365162228244</c:v>
                </c:pt>
                <c:pt idx="9">
                  <c:v>10.003430694064898</c:v>
                </c:pt>
                <c:pt idx="10">
                  <c:v>15.27392014996171</c:v>
                </c:pt>
                <c:pt idx="11">
                  <c:v>9.593469564277221</c:v>
                </c:pt>
                <c:pt idx="12">
                  <c:v>12.835773560970454</c:v>
                </c:pt>
                <c:pt idx="13">
                  <c:v>12.249491274588395</c:v>
                </c:pt>
                <c:pt idx="14">
                  <c:v>11.68188399373578</c:v>
                </c:pt>
                <c:pt idx="15">
                  <c:v>15.806204704211172</c:v>
                </c:pt>
                <c:pt idx="16">
                  <c:v>18.622631341625695</c:v>
                </c:pt>
                <c:pt idx="17">
                  <c:v>16.398351768354537</c:v>
                </c:pt>
                <c:pt idx="18">
                  <c:v>12.642312513056192</c:v>
                </c:pt>
                <c:pt idx="19">
                  <c:v>14.12328971663104</c:v>
                </c:pt>
                <c:pt idx="20">
                  <c:v>17.90471744623893</c:v>
                </c:pt>
                <c:pt idx="21">
                  <c:v>19.429683551412367</c:v>
                </c:pt>
                <c:pt idx="22">
                  <c:v>13.291217045967743</c:v>
                </c:pt>
                <c:pt idx="23">
                  <c:v>16.33162711338607</c:v>
                </c:pt>
                <c:pt idx="24">
                  <c:v>9.396482912506835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Ear &amp; Eye Hygiene Products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9.898020395920817</c:v>
                </c:pt>
                <c:pt idx="1">
                  <c:v>7.907614014484244</c:v>
                </c:pt>
                <c:pt idx="2">
                  <c:v>9.154056874510827</c:v>
                </c:pt>
                <c:pt idx="3">
                  <c:v>7.329713721618954</c:v>
                </c:pt>
                <c:pt idx="4">
                  <c:v>7.801750832733541</c:v>
                </c:pt>
                <c:pt idx="5">
                  <c:v>6.763976954520583</c:v>
                </c:pt>
                <c:pt idx="6">
                  <c:v>7.2828038404496125</c:v>
                </c:pt>
                <c:pt idx="7">
                  <c:v>9.108314676136803</c:v>
                </c:pt>
                <c:pt idx="8">
                  <c:v>7.130112998083658</c:v>
                </c:pt>
                <c:pt idx="9">
                  <c:v>10.562988726029504</c:v>
                </c:pt>
                <c:pt idx="10">
                  <c:v>12.87361839774143</c:v>
                </c:pt>
                <c:pt idx="11">
                  <c:v>8.483079251811008</c:v>
                </c:pt>
                <c:pt idx="12">
                  <c:v>11.609493102172419</c:v>
                </c:pt>
                <c:pt idx="13">
                  <c:v>7.116760189924156</c:v>
                </c:pt>
                <c:pt idx="14">
                  <c:v>7.620482817717107</c:v>
                </c:pt>
                <c:pt idx="15">
                  <c:v>8.98778780711493</c:v>
                </c:pt>
                <c:pt idx="16">
                  <c:v>9.583512048126515</c:v>
                </c:pt>
                <c:pt idx="17">
                  <c:v>10.587315993574032</c:v>
                </c:pt>
                <c:pt idx="18">
                  <c:v>8.207558665831069</c:v>
                </c:pt>
                <c:pt idx="19">
                  <c:v>12.687325420901788</c:v>
                </c:pt>
                <c:pt idx="20">
                  <c:v>9.31485446581894</c:v>
                </c:pt>
                <c:pt idx="21">
                  <c:v>6.455502049755714</c:v>
                </c:pt>
                <c:pt idx="22">
                  <c:v>10.19926732153094</c:v>
                </c:pt>
                <c:pt idx="23">
                  <c:v>11.381705776773247</c:v>
                </c:pt>
                <c:pt idx="24">
                  <c:v>7.419960959447888</c:v>
                </c:pt>
              </c:numCache>
            </c:numRef>
          </c:val>
        </c:ser>
        <c:ser>
          <c:idx val="4"/>
          <c:order val="4"/>
          <c:tx>
            <c:strRef>
              <c:strCache>
                <c:ptCount val="1"/>
                <c:pt idx="0">
                  <c:v>Dental &amp; Oral Care Products</c:v>
                </c:pt>
              </c:strCache>
            </c:strRef>
          </c:tx>
          <c:spPr>
            <a:solidFill>
              <a:srgbClr val="A35313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12.854571942754307</c:v>
                </c:pt>
                <c:pt idx="1">
                  <c:v>8.698375415932666</c:v>
                </c:pt>
                <c:pt idx="2">
                  <c:v>15.108922515001302</c:v>
                </c:pt>
                <c:pt idx="3">
                  <c:v>10.322063178677197</c:v>
                </c:pt>
                <c:pt idx="4">
                  <c:v>11.40552031200308</c:v>
                </c:pt>
                <c:pt idx="5">
                  <c:v>12.641217934275323</c:v>
                </c:pt>
                <c:pt idx="6">
                  <c:v>7.709000078057918</c:v>
                </c:pt>
                <c:pt idx="7">
                  <c:v>10.081062302169382</c:v>
                </c:pt>
                <c:pt idx="8">
                  <c:v>12.198506575034694</c:v>
                </c:pt>
                <c:pt idx="9">
                  <c:v>10.333487123067275</c:v>
                </c:pt>
                <c:pt idx="10">
                  <c:v>15.005314953879918</c:v>
                </c:pt>
                <c:pt idx="11">
                  <c:v>15.080549248567415</c:v>
                </c:pt>
                <c:pt idx="12">
                  <c:v>10.9582958930176</c:v>
                </c:pt>
                <c:pt idx="13">
                  <c:v>9.323549361780847</c:v>
                </c:pt>
                <c:pt idx="14">
                  <c:v>12.102207251130219</c:v>
                </c:pt>
                <c:pt idx="15">
                  <c:v>12.784531682055453</c:v>
                </c:pt>
                <c:pt idx="16">
                  <c:v>11.801225158643744</c:v>
                </c:pt>
                <c:pt idx="17">
                  <c:v>11.264857624042051</c:v>
                </c:pt>
                <c:pt idx="18">
                  <c:v>11.797576770419887</c:v>
                </c:pt>
                <c:pt idx="19">
                  <c:v>11.898874317616514</c:v>
                </c:pt>
                <c:pt idx="20">
                  <c:v>12.61971052738129</c:v>
                </c:pt>
                <c:pt idx="21">
                  <c:v>13.134581905992027</c:v>
                </c:pt>
                <c:pt idx="22">
                  <c:v>11.455509387523762</c:v>
                </c:pt>
                <c:pt idx="23">
                  <c:v>12.219637040483944</c:v>
                </c:pt>
                <c:pt idx="24">
                  <c:v>13.396152023952892</c:v>
                </c:pt>
              </c:numCache>
            </c:numRef>
          </c:val>
        </c:ser>
        <c:ser>
          <c:idx val="5"/>
          <c:order val="5"/>
          <c:tx>
            <c:strRef>
              <c:strCache>
                <c:ptCount val="1"/>
                <c:pt idx="0">
                  <c:v>Fragrance &amp; Deodorizing Products</c:v>
                </c:pt>
              </c:strCache>
            </c:strRef>
          </c:tx>
          <c:spPr>
            <a:solidFill>
              <a:srgbClr val="808080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7.177136001371154</c:v>
                </c:pt>
                <c:pt idx="1">
                  <c:v>7.821491485613623</c:v>
                </c:pt>
                <c:pt idx="2">
                  <c:v>7.197364988259847</c:v>
                </c:pt>
                <c:pt idx="3">
                  <c:v>7.505552813425469</c:v>
                </c:pt>
                <c:pt idx="4">
                  <c:v>8.944981001958388</c:v>
                </c:pt>
                <c:pt idx="5">
                  <c:v>11.58067527117062</c:v>
                </c:pt>
                <c:pt idx="6">
                  <c:v>6.527203184763093</c:v>
                </c:pt>
                <c:pt idx="7">
                  <c:v>8.347101057670038</c:v>
                </c:pt>
                <c:pt idx="8">
                  <c:v>10.387894006475914</c:v>
                </c:pt>
                <c:pt idx="9">
                  <c:v>9.047568347706758</c:v>
                </c:pt>
                <c:pt idx="10">
                  <c:v>7.517516487787036</c:v>
                </c:pt>
                <c:pt idx="11">
                  <c:v>11.426100118931776</c:v>
                </c:pt>
                <c:pt idx="12">
                  <c:v>8.29642158676463</c:v>
                </c:pt>
                <c:pt idx="13">
                  <c:v>7.844391687735093</c:v>
                </c:pt>
                <c:pt idx="14">
                  <c:v>10.611500162515144</c:v>
                </c:pt>
                <c:pt idx="15">
                  <c:v>9.056744288679415</c:v>
                </c:pt>
                <c:pt idx="16">
                  <c:v>9.477382955557752</c:v>
                </c:pt>
                <c:pt idx="17">
                  <c:v>7.020515533466966</c:v>
                </c:pt>
                <c:pt idx="18">
                  <c:v>12.89473226098461</c:v>
                </c:pt>
                <c:pt idx="19">
                  <c:v>5.900819042277732</c:v>
                </c:pt>
                <c:pt idx="20">
                  <c:v>7.37709798579074</c:v>
                </c:pt>
                <c:pt idx="21">
                  <c:v>6.608882742741619</c:v>
                </c:pt>
                <c:pt idx="22">
                  <c:v>8.24865000562902</c:v>
                </c:pt>
                <c:pt idx="23">
                  <c:v>8.160163088036516</c:v>
                </c:pt>
                <c:pt idx="24">
                  <c:v>8.79003294919464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max val="100.0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6.xml><?xml version="1.0" encoding="utf-8"?>
<c:chartSpace xmlns:c="http://schemas.openxmlformats.org/drawingml/2006/chart" xmlns:a="http://schemas.openxmlformats.org/drawingml/2006/main" xmlns:r="http://schemas.openxmlformats.org/officeDocument/2006/relationships">
  <c:chart>
    <c:autoTitleDeleted val="1"/>
    <c:plotArea>
      <c:layout/>
      <c:bubbleChart>
        <c:varyColors val="0"/>
        <c:ser>
          <c:idx val="0"/>
          <c:order val="0"/>
          <c:tx>
            <c:strRef>
              <c:strCache>
                <c:ptCount val="1"/>
                <c:pt idx="0">
                  <c:v>Shampoos &amp; Cleansing Products</c:v>
                </c:pt>
              </c:strCache>
            </c:strRef>
          </c:tx>
          <c:spPr>
            <a:solidFill>
              <a:srgbClr val="3D85C6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106.65394472920214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208.3393265534601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2054.639</c:v>
                </c:pt>
              </c:numCache>
            </c:numRef>
          </c:bubbleSize>
          <c:bubble3D val="0"/>
        </c:ser>
        <c:ser>
          <c:idx val="1"/>
          <c:order val="1"/>
          <c:tx>
            <c:strRef>
              <c:strCache>
                <c:ptCount val="1"/>
                <c:pt idx="0">
                  <c:v>Coat Conditioning &amp; Grooming Products</c:v>
                </c:pt>
              </c:strCache>
            </c:strRef>
          </c:tx>
          <c:spPr>
            <a:solidFill>
              <a:srgbClr val="9E7E0A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91.71232846117702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123.52031439898764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1117.913</c:v>
                </c:pt>
              </c:numCache>
            </c:numRef>
          </c:bubbleSize>
          <c:bubble3D val="0"/>
        </c:ser>
        <c:ser>
          <c:idx val="2"/>
          <c:order val="2"/>
          <c:tx>
            <c:strRef>
              <c:strCache>
                <c:ptCount val="1"/>
                <c:pt idx="0">
                  <c:v>Skin, Paw &amp; Nose Care Products</c:v>
                </c:pt>
              </c:strCache>
            </c:strRef>
          </c:tx>
          <c:spPr>
            <a:solidFill>
              <a:srgbClr val="008189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95.93623868655277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89.09206442666692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826.198</c:v>
                </c:pt>
              </c:numCache>
            </c:numRef>
          </c:bubbleSize>
          <c:bubble3D val="0"/>
        </c:ser>
        <c:ser>
          <c:idx val="3"/>
          <c:order val="3"/>
          <c:tx>
            <c:strRef>
              <c:strCache>
                <c:ptCount val="1"/>
                <c:pt idx="0">
                  <c:v>Ear &amp; Eye Hygiene Products</c:v>
                </c:pt>
              </c:strCache>
            </c:strRef>
          </c:tx>
          <c:spPr>
            <a:solidFill>
              <a:srgbClr val="40315E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98.53665223342836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55.81311685621316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525.387</c:v>
                </c:pt>
              </c:numCache>
            </c:numRef>
          </c:bubbleSize>
          <c:bubble3D val="0"/>
        </c:ser>
        <c:ser>
          <c:idx val="4"/>
          <c:order val="4"/>
          <c:tx>
            <c:strRef>
              <c:strCache>
                <c:ptCount val="1"/>
                <c:pt idx="0">
                  <c:v>Dental &amp; Oral Care Products</c:v>
                </c:pt>
              </c:strCache>
            </c:strRef>
          </c:tx>
          <c:spPr>
            <a:solidFill>
              <a:srgbClr val="A35313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103.26519363463005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72.11824985494134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697.556</c:v>
                </c:pt>
              </c:numCache>
            </c:numRef>
          </c:bubbleSize>
          <c:bubble3D val="0"/>
        </c:ser>
        <c:ser>
          <c:idx val="5"/>
          <c:order val="5"/>
          <c:tx>
            <c:strRef>
              <c:strCache>
                <c:ptCount val="1"/>
                <c:pt idx="0">
                  <c:v>Fragrance &amp; Deodorizing Products</c:v>
                </c:pt>
              </c:strCache>
            </c:strRef>
          </c:tx>
          <c:spPr>
            <a:solidFill>
              <a:srgbClr val="808080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95.92400039081149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51.11692790973083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474.001</c:v>
                </c:pt>
              </c:numCache>
            </c:numRef>
          </c:bubbleSize>
          <c:bubble3D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bubbleScale val="100"/>
        <c:showNegBubbles val="0"/>
        <c:axId val="-2115720072"/>
        <c:axId val="-2115723560"/>
      </c:bubbleChart>
      <c:valAx>
        <c:axId val="-2115720072"/>
        <c:scaling>
          <c:orientation val="minMax"/>
        </c:scaling>
        <c:delete val="0"/>
        <c:axPos val="b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CAGR Index (100 = segment average growth)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3560"/>
        <c:crosses val="autoZero"/>
        <c:crossBetween val="midCat"/>
      </c:valAx>
      <c:valAx>
        <c:axId val="-2115723560"/>
        <c:scaling>
          <c:orientation val="minMax"/>
        </c:scaling>
        <c:delete val="0"/>
        <c:axPos val="l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Market Share Index (100 = equal share)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0072"/>
        <c:crosses val="autoZero"/>
        <c:crossBetween val="midCat"/>
      </c:valAx>
    </c:plotArea>
    <c:legend>
      <c:legendPos val="b"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1094.536</c:v>
                </c:pt>
                <c:pt idx="2">
                  <c:v>1241.772</c:v>
                </c:pt>
                <c:pt idx="3">
                  <c:v>1408.542</c:v>
                </c:pt>
                <c:pt idx="4">
                  <c:v>1596.077</c:v>
                </c:pt>
                <c:pt idx="5">
                  <c:v>1811.233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1094.536</c:v>
                </c:pt>
                <c:pt idx="1">
                  <c:v>147.23599999999988</c:v>
                </c:pt>
                <c:pt idx="2">
                  <c:v>166.76999999999998</c:v>
                </c:pt>
                <c:pt idx="3">
                  <c:v>187.53500000000008</c:v>
                </c:pt>
                <c:pt idx="4">
                  <c:v>215.15599999999995</c:v>
                </c:pt>
                <c:pt idx="5">
                  <c:v>243.40600000000018</c:v>
                </c:pt>
                <c:pt idx="6">
                  <c:v>2054.639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648.929</c:v>
                </c:pt>
                <c:pt idx="2">
                  <c:v>722.665</c:v>
                </c:pt>
                <c:pt idx="3">
                  <c:v>805.4449999999999</c:v>
                </c:pt>
                <c:pt idx="4">
                  <c:v>897.356</c:v>
                </c:pt>
                <c:pt idx="5">
                  <c:v>1001.741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648.929</c:v>
                </c:pt>
                <c:pt idx="1">
                  <c:v>73.73599999999999</c:v>
                </c:pt>
                <c:pt idx="2">
                  <c:v>82.77999999999997</c:v>
                </c:pt>
                <c:pt idx="3">
                  <c:v>91.91100000000006</c:v>
                </c:pt>
                <c:pt idx="4">
                  <c:v>104.38499999999999</c:v>
                </c:pt>
                <c:pt idx="5">
                  <c:v>116.17200000000003</c:v>
                </c:pt>
                <c:pt idx="6">
                  <c:v>1117.913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468.056</c:v>
                </c:pt>
                <c:pt idx="2">
                  <c:v>523.875</c:v>
                </c:pt>
                <c:pt idx="3">
                  <c:v>586.652</c:v>
                </c:pt>
                <c:pt idx="4">
                  <c:v>656.798</c:v>
                </c:pt>
                <c:pt idx="5">
                  <c:v>736.8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468.056</c:v>
                </c:pt>
                <c:pt idx="1">
                  <c:v>55.81900000000002</c:v>
                </c:pt>
                <c:pt idx="2">
                  <c:v>62.777000000000044</c:v>
                </c:pt>
                <c:pt idx="3">
                  <c:v>70.14599999999996</c:v>
                </c:pt>
                <c:pt idx="4">
                  <c:v>80.00199999999995</c:v>
                </c:pt>
                <c:pt idx="5">
                  <c:v>89.39800000000002</c:v>
                </c:pt>
                <c:pt idx="6">
                  <c:v>826.198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293.221</c:v>
                </c:pt>
                <c:pt idx="2">
                  <c:v>329.036</c:v>
                </c:pt>
                <c:pt idx="3">
                  <c:v>369.481</c:v>
                </c:pt>
                <c:pt idx="4">
                  <c:v>414.932</c:v>
                </c:pt>
                <c:pt idx="5">
                  <c:v>466.96400000000006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293.221</c:v>
                </c:pt>
                <c:pt idx="1">
                  <c:v>35.815</c:v>
                </c:pt>
                <c:pt idx="2">
                  <c:v>40.44499999999999</c:v>
                </c:pt>
                <c:pt idx="3">
                  <c:v>45.45100000000002</c:v>
                </c:pt>
                <c:pt idx="4">
                  <c:v>52.03200000000004</c:v>
                </c:pt>
                <c:pt idx="5">
                  <c:v>58.42299999999989</c:v>
                </c:pt>
                <c:pt idx="6">
                  <c:v>525.387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378.882</c:v>
                </c:pt>
                <c:pt idx="2">
                  <c:v>427.914</c:v>
                </c:pt>
                <c:pt idx="3">
                  <c:v>483.33299999999997</c:v>
                </c:pt>
                <c:pt idx="4">
                  <c:v>545.596</c:v>
                </c:pt>
                <c:pt idx="5">
                  <c:v>617.0269999999999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378.882</c:v>
                </c:pt>
                <c:pt idx="1">
                  <c:v>49.03199999999998</c:v>
                </c:pt>
                <c:pt idx="2">
                  <c:v>55.41899999999998</c:v>
                </c:pt>
                <c:pt idx="3">
                  <c:v>62.263000000000034</c:v>
                </c:pt>
                <c:pt idx="4">
                  <c:v>71.43099999999993</c:v>
                </c:pt>
                <c:pt idx="5">
                  <c:v>80.52900000000011</c:v>
                </c:pt>
                <c:pt idx="6">
                  <c:v>697.556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268.549</c:v>
                </c:pt>
                <c:pt idx="2">
                  <c:v>300.528</c:v>
                </c:pt>
                <c:pt idx="3">
                  <c:v>336.56899999999996</c:v>
                </c:pt>
                <c:pt idx="4">
                  <c:v>376.712</c:v>
                </c:pt>
                <c:pt idx="5">
                  <c:v>422.606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268.549</c:v>
                </c:pt>
                <c:pt idx="1">
                  <c:v>31.979000000000042</c:v>
                </c:pt>
                <c:pt idx="2">
                  <c:v>36.04099999999994</c:v>
                </c:pt>
                <c:pt idx="3">
                  <c:v>40.14300000000003</c:v>
                </c:pt>
                <c:pt idx="4">
                  <c:v>45.894000000000005</c:v>
                </c:pt>
                <c:pt idx="5">
                  <c:v>51.39499999999998</c:v>
                </c:pt>
                <c:pt idx="6">
                  <c:v>474.001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Shampoos &amp; Cleansing Products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33.96666378789187</c:v>
                </c:pt>
                <c:pt idx="1">
                  <c:v>34.72322109224336</c:v>
                </c:pt>
                <c:pt idx="2">
                  <c:v>36.07354959729227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Coat Conditioning &amp; Grooming Products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21.106185054530744</c:v>
                </c:pt>
                <c:pt idx="1">
                  <c:v>20.58671906649794</c:v>
                </c:pt>
                <c:pt idx="2">
                  <c:v>19.62733601910496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Skin, Paw &amp; Nose Care Products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15.038444040130397</c:v>
                </c:pt>
                <c:pt idx="1">
                  <c:v>14.84867740444449</c:v>
                </c:pt>
                <c:pt idx="2">
                  <c:v>14.505659889734243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Dental &amp; Oral Care Products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11.906970670794472</c:v>
                </c:pt>
                <c:pt idx="1">
                  <c:v>12.01970830915689</c:v>
                </c:pt>
                <c:pt idx="2">
                  <c:v>12.247076475667408</c:v>
                </c:pt>
              </c:numCache>
            </c:numRef>
          </c:val>
        </c:ser>
        <c:ser>
          <c:idx val="4"/>
          <c:order val="4"/>
          <c:tx>
            <c:strRef>
              <c:strCache>
                <c:ptCount val="1"/>
                <c:pt idx="0">
                  <c:v>Ear &amp; Eye Hygiene Products</c:v>
                </c:pt>
              </c:strCache>
            </c:strRef>
          </c:tx>
          <c:spPr>
            <a:solidFill>
              <a:srgbClr val="A35313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1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9.358800435204632</c:v>
                </c:pt>
                <c:pt idx="1">
                  <c:v>9.302186142702194</c:v>
                </c:pt>
                <c:pt idx="2">
                  <c:v>9.224284169760523</c:v>
                </c:pt>
              </c:numCache>
            </c:numRef>
          </c:val>
        </c:ser>
        <c:ser>
          <c:idx val="5"/>
          <c:order val="5"/>
          <c:tx>
            <c:strRef>
              <c:strCache>
                <c:ptCount val="1"/>
                <c:pt idx="0">
                  <c:v>Fragrance &amp; Deodorizing Products</c:v>
                </c:pt>
              </c:strCache>
            </c:strRef>
          </c:tx>
          <c:spPr>
            <a:solidFill>
              <a:srgbClr val="808080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1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8.622936011447882</c:v>
                </c:pt>
                <c:pt idx="1">
                  <c:v>8.51948798495514</c:v>
                </c:pt>
                <c:pt idx="2">
                  <c:v>8.322093848440593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Regular / Established Ingredients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54.16291725585979</c:v>
                </c:pt>
                <c:pt idx="1">
                  <c:v>56.58131704643332</c:v>
                </c:pt>
                <c:pt idx="2">
                  <c:v>50.50225034244341</c:v>
                </c:pt>
                <c:pt idx="3">
                  <c:v>62.73910897198568</c:v>
                </c:pt>
                <c:pt idx="4">
                  <c:v>56.74829681458296</c:v>
                </c:pt>
                <c:pt idx="5">
                  <c:v>61.618307343214404</c:v>
                </c:pt>
                <c:pt idx="6">
                  <c:v>44.67792799825147</c:v>
                </c:pt>
                <c:pt idx="7">
                  <c:v>53.17460317460318</c:v>
                </c:pt>
                <c:pt idx="8">
                  <c:v>65.3173155710623</c:v>
                </c:pt>
                <c:pt idx="9">
                  <c:v>59.9328073060225</c:v>
                </c:pt>
                <c:pt idx="10">
                  <c:v>62.97219142540376</c:v>
                </c:pt>
                <c:pt idx="11">
                  <c:v>58.93693167688432</c:v>
                </c:pt>
                <c:pt idx="12">
                  <c:v>64.37164362129477</c:v>
                </c:pt>
                <c:pt idx="13">
                  <c:v>47.00010790978742</c:v>
                </c:pt>
                <c:pt idx="14">
                  <c:v>53.008265805860674</c:v>
                </c:pt>
                <c:pt idx="15">
                  <c:v>59.4065482429525</c:v>
                </c:pt>
                <c:pt idx="16">
                  <c:v>55.84479857468079</c:v>
                </c:pt>
                <c:pt idx="17">
                  <c:v>59.28392197593659</c:v>
                </c:pt>
                <c:pt idx="18">
                  <c:v>66.98292220113852</c:v>
                </c:pt>
                <c:pt idx="19">
                  <c:v>58.839789065800396</c:v>
                </c:pt>
                <c:pt idx="20">
                  <c:v>53.78038178938468</c:v>
                </c:pt>
                <c:pt idx="21">
                  <c:v>59.713805866032075</c:v>
                </c:pt>
                <c:pt idx="22">
                  <c:v>57.43972442493634</c:v>
                </c:pt>
                <c:pt idx="23">
                  <c:v>58.211968149048445</c:v>
                </c:pt>
                <c:pt idx="24">
                  <c:v>56.36875205462676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Niche / Specialized Ingredients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28.73119938295411</c:v>
                </c:pt>
                <c:pt idx="1">
                  <c:v>28.29848876360504</c:v>
                </c:pt>
                <c:pt idx="2">
                  <c:v>31.524362402974365</c:v>
                </c:pt>
                <c:pt idx="3">
                  <c:v>24.31815377020856</c:v>
                </c:pt>
                <c:pt idx="4">
                  <c:v>27.96571868565977</c:v>
                </c:pt>
                <c:pt idx="5">
                  <c:v>27.28560163504401</c:v>
                </c:pt>
                <c:pt idx="6">
                  <c:v>42.414213007774684</c:v>
                </c:pt>
                <c:pt idx="7">
                  <c:v>36.17132975109629</c:v>
                </c:pt>
                <c:pt idx="8">
                  <c:v>25.041630322734115</c:v>
                </c:pt>
                <c:pt idx="9">
                  <c:v>23.21341961127607</c:v>
                </c:pt>
                <c:pt idx="10">
                  <c:v>27.58340857916814</c:v>
                </c:pt>
                <c:pt idx="11">
                  <c:v>26.68915631386033</c:v>
                </c:pt>
                <c:pt idx="12">
                  <c:v>25.680789885407414</c:v>
                </c:pt>
                <c:pt idx="13">
                  <c:v>39.766298231821054</c:v>
                </c:pt>
                <c:pt idx="14">
                  <c:v>34.79542315164319</c:v>
                </c:pt>
                <c:pt idx="15">
                  <c:v>31.357919126165395</c:v>
                </c:pt>
                <c:pt idx="16">
                  <c:v>28.309523023964278</c:v>
                </c:pt>
                <c:pt idx="17">
                  <c:v>28.57080455641893</c:v>
                </c:pt>
                <c:pt idx="18">
                  <c:v>25.40257298539421</c:v>
                </c:pt>
                <c:pt idx="19">
                  <c:v>28.349017437032938</c:v>
                </c:pt>
                <c:pt idx="20">
                  <c:v>33.05776856846844</c:v>
                </c:pt>
                <c:pt idx="21">
                  <c:v>23.514143865726727</c:v>
                </c:pt>
                <c:pt idx="22">
                  <c:v>29.825151659454647</c:v>
                </c:pt>
                <c:pt idx="23">
                  <c:v>25.504027902266728</c:v>
                </c:pt>
                <c:pt idx="24">
                  <c:v>31.371921282817627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Emerging Ingredients / Innovation Candidates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17.1058833611861</c:v>
                </c:pt>
                <c:pt idx="1">
                  <c:v>15.12019418996163</c:v>
                </c:pt>
                <c:pt idx="2">
                  <c:v>17.97338725458222</c:v>
                </c:pt>
                <c:pt idx="3">
                  <c:v>12.942737257805751</c:v>
                </c:pt>
                <c:pt idx="4">
                  <c:v>15.285984499757285</c:v>
                </c:pt>
                <c:pt idx="5">
                  <c:v>11.096091021741579</c:v>
                </c:pt>
                <c:pt idx="6">
                  <c:v>12.907858993973836</c:v>
                </c:pt>
                <c:pt idx="7">
                  <c:v>10.654067074300535</c:v>
                </c:pt>
                <c:pt idx="8">
                  <c:v>9.641054106203576</c:v>
                </c:pt>
                <c:pt idx="9">
                  <c:v>16.85377308270143</c:v>
                </c:pt>
                <c:pt idx="10">
                  <c:v>9.444399995428101</c:v>
                </c:pt>
                <c:pt idx="11">
                  <c:v>14.373912009255358</c:v>
                </c:pt>
                <c:pt idx="12">
                  <c:v>9.947566493297813</c:v>
                </c:pt>
                <c:pt idx="13">
                  <c:v>13.23359385839153</c:v>
                </c:pt>
                <c:pt idx="14">
                  <c:v>12.196311042496141</c:v>
                </c:pt>
                <c:pt idx="15">
                  <c:v>9.23553263088211</c:v>
                </c:pt>
                <c:pt idx="16">
                  <c:v>15.845678401354931</c:v>
                </c:pt>
                <c:pt idx="17">
                  <c:v>12.145273467644477</c:v>
                </c:pt>
                <c:pt idx="18">
                  <c:v>7.614504813467264</c:v>
                </c:pt>
                <c:pt idx="19">
                  <c:v>12.811193497166663</c:v>
                </c:pt>
                <c:pt idx="20">
                  <c:v>13.16184964214688</c:v>
                </c:pt>
                <c:pt idx="21">
                  <c:v>16.77205026824119</c:v>
                </c:pt>
                <c:pt idx="22">
                  <c:v>12.73512391560902</c:v>
                </c:pt>
                <c:pt idx="23">
                  <c:v>16.284003948684823</c:v>
                </c:pt>
                <c:pt idx="24">
                  <c:v>12.259326662555623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max val="100.0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5.xml><?xml version="1.0" encoding="utf-8"?>
<c:chartSpace xmlns:c="http://schemas.openxmlformats.org/drawingml/2006/chart" xmlns:a="http://schemas.openxmlformats.org/drawingml/2006/main" xmlns:r="http://schemas.openxmlformats.org/officeDocument/2006/relationships">
  <c:chart>
    <c:autoTitleDeleted val="1"/>
    <c:plotArea>
      <c:layout/>
      <c:bubbleChart>
        <c:varyColors val="0"/>
        <c:ser>
          <c:idx val="0"/>
          <c:order val="0"/>
          <c:tx>
            <c:strRef>
              <c:strCache>
                <c:ptCount val="1"/>
                <c:pt idx="0">
                  <c:v>Regular / Established Ingredients</c:v>
                </c:pt>
              </c:strCache>
            </c:strRef>
          </c:tx>
          <c:spPr>
            <a:solidFill>
              <a:srgbClr val="3D85C6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100.72868302943618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172.40128939787178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3286.876</c:v>
                </c:pt>
              </c:numCache>
            </c:numRef>
          </c:bubbleSize>
          <c:bubble3D val="0"/>
        </c:ser>
        <c:ser>
          <c:idx val="1"/>
          <c:order val="1"/>
          <c:tx>
            <c:strRef>
              <c:strCache>
                <c:ptCount val="1"/>
                <c:pt idx="0">
                  <c:v>Niche / Specialized Ingredients</c:v>
                </c:pt>
              </c:strCache>
            </c:strRef>
          </c:tx>
          <c:spPr>
            <a:solidFill>
              <a:srgbClr val="9E7E0A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98.38292165652088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87.38049895167424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1643.628</c:v>
                </c:pt>
              </c:numCache>
            </c:numRef>
          </c:bubbleSize>
          <c:bubble3D val="0"/>
        </c:ser>
        <c:ser>
          <c:idx val="2"/>
          <c:order val="2"/>
          <c:tx>
            <c:strRef>
              <c:strCache>
                <c:ptCount val="1"/>
                <c:pt idx="0">
                  <c:v>Emerging Ingredients / Innovation Candidates</c:v>
                </c:pt>
              </c:strCache>
            </c:strRef>
          </c:tx>
          <c:spPr>
            <a:solidFill>
              <a:srgbClr val="008189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100.368861424873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40.21821165045403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765.188</c:v>
                </c:pt>
              </c:numCache>
            </c:numRef>
          </c:bubbleSize>
          <c:bubble3D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bubbleScale val="100"/>
        <c:showNegBubbles val="0"/>
        <c:axId val="-2115720072"/>
        <c:axId val="-2115723560"/>
      </c:bubbleChart>
      <c:valAx>
        <c:axId val="-2115720072"/>
        <c:scaling>
          <c:orientation val="minMax"/>
        </c:scaling>
        <c:delete val="0"/>
        <c:axPos val="b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CAGR Index (100 = segment average growth)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3560"/>
        <c:crosses val="autoZero"/>
        <c:crossBetween val="midCat"/>
      </c:valAx>
      <c:valAx>
        <c:axId val="-2115723560"/>
        <c:scaling>
          <c:orientation val="minMax"/>
        </c:scaling>
        <c:delete val="0"/>
        <c:axPos val="l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Market Share Index (100 = equal share)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0072"/>
        <c:crosses val="autoZero"/>
        <c:crossBetween val="midCat"/>
      </c:valAx>
    </c:plotArea>
    <c:legend>
      <c:legendPos val="b"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1811.46</c:v>
                </c:pt>
                <c:pt idx="2">
                  <c:v>2039.769</c:v>
                </c:pt>
                <c:pt idx="3">
                  <c:v>2297.488</c:v>
                </c:pt>
                <c:pt idx="4">
                  <c:v>2586.095</c:v>
                </c:pt>
                <c:pt idx="5">
                  <c:v>2915.934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1811.46</c:v>
                </c:pt>
                <c:pt idx="1">
                  <c:v>228.30899999999997</c:v>
                </c:pt>
                <c:pt idx="2">
                  <c:v>257.7189999999998</c:v>
                </c:pt>
                <c:pt idx="3">
                  <c:v>288.60699999999997</c:v>
                </c:pt>
                <c:pt idx="4">
                  <c:v>329.8390000000004</c:v>
                </c:pt>
                <c:pt idx="5">
                  <c:v>370.942</c:v>
                </c:pt>
                <c:pt idx="6">
                  <c:v>3286.876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918.127</c:v>
                </c:pt>
                <c:pt idx="2">
                  <c:v>1030.617</c:v>
                </c:pt>
                <c:pt idx="3">
                  <c:v>1157.527</c:v>
                </c:pt>
                <c:pt idx="4">
                  <c:v>1299.451</c:v>
                </c:pt>
                <c:pt idx="5">
                  <c:v>1461.6370000000002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918.127</c:v>
                </c:pt>
                <c:pt idx="1">
                  <c:v>112.49000000000001</c:v>
                </c:pt>
                <c:pt idx="2">
                  <c:v>126.91000000000008</c:v>
                </c:pt>
                <c:pt idx="3">
                  <c:v>141.92399999999998</c:v>
                </c:pt>
                <c:pt idx="4">
                  <c:v>162.18600000000015</c:v>
                </c:pt>
                <c:pt idx="5">
                  <c:v>181.99099999999976</c:v>
                </c:pt>
                <c:pt idx="6">
                  <c:v>1643.628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422.582</c:v>
                </c:pt>
                <c:pt idx="2">
                  <c:v>475.403</c:v>
                </c:pt>
                <c:pt idx="3">
                  <c:v>535.006</c:v>
                </c:pt>
                <c:pt idx="4">
                  <c:v>601.926</c:v>
                </c:pt>
                <c:pt idx="5">
                  <c:v>678.803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422.582</c:v>
                </c:pt>
                <c:pt idx="1">
                  <c:v>52.821000000000026</c:v>
                </c:pt>
                <c:pt idx="2">
                  <c:v>59.60299999999995</c:v>
                </c:pt>
                <c:pt idx="3">
                  <c:v>66.92000000000007</c:v>
                </c:pt>
                <c:pt idx="4">
                  <c:v>76.87699999999995</c:v>
                </c:pt>
                <c:pt idx="5">
                  <c:v>86.38499999999999</c:v>
                </c:pt>
                <c:pt idx="6">
                  <c:v>765.188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Regular / Established Ingredients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57.27802777674472</c:v>
                </c:pt>
                <c:pt idx="1">
                  <c:v>57.467096465957255</c:v>
                </c:pt>
                <c:pt idx="2">
                  <c:v>57.708106407439175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Niche / Specialized Ingredients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29.305374771178627</c:v>
                </c:pt>
                <c:pt idx="1">
                  <c:v>29.12683298389141</c:v>
                </c:pt>
                <c:pt idx="2">
                  <c:v>28.85738905825666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Emerging Ingredients / Innovation Candidates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13.416597452076642</c:v>
                </c:pt>
                <c:pt idx="1">
                  <c:v>13.406070550151341</c:v>
                </c:pt>
                <c:pt idx="2">
                  <c:v>13.434504534304173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Liquid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32.96340731853629</c:v>
                </c:pt>
                <c:pt idx="1">
                  <c:v>37.701131425439456</c:v>
                </c:pt>
                <c:pt idx="2">
                  <c:v>29.51536103320071</c:v>
                </c:pt>
                <c:pt idx="3">
                  <c:v>24.814117792243852</c:v>
                </c:pt>
                <c:pt idx="4">
                  <c:v>33.429857891301076</c:v>
                </c:pt>
                <c:pt idx="5">
                  <c:v>31.578693273253943</c:v>
                </c:pt>
                <c:pt idx="6">
                  <c:v>31.34493794395441</c:v>
                </c:pt>
                <c:pt idx="7">
                  <c:v>35.123909519030335</c:v>
                </c:pt>
                <c:pt idx="8">
                  <c:v>28.113973066197946</c:v>
                </c:pt>
                <c:pt idx="9">
                  <c:v>28.17242970200986</c:v>
                </c:pt>
                <c:pt idx="10">
                  <c:v>23.952451708766716</c:v>
                </c:pt>
                <c:pt idx="11">
                  <c:v>29.328893165673758</c:v>
                </c:pt>
                <c:pt idx="12">
                  <c:v>28.72712665306511</c:v>
                </c:pt>
                <c:pt idx="13">
                  <c:v>29.432304312637292</c:v>
                </c:pt>
                <c:pt idx="14">
                  <c:v>32.012055490714616</c:v>
                </c:pt>
                <c:pt idx="15">
                  <c:v>35.78935028755051</c:v>
                </c:pt>
                <c:pt idx="16">
                  <c:v>32.5513873766868</c:v>
                </c:pt>
                <c:pt idx="17">
                  <c:v>29.081387504307433</c:v>
                </c:pt>
                <c:pt idx="18">
                  <c:v>33.00097921880101</c:v>
                </c:pt>
                <c:pt idx="19">
                  <c:v>25.5465441077392</c:v>
                </c:pt>
                <c:pt idx="20">
                  <c:v>29.022216506140026</c:v>
                </c:pt>
                <c:pt idx="21">
                  <c:v>34.54125228360385</c:v>
                </c:pt>
                <c:pt idx="22">
                  <c:v>33.583036893927535</c:v>
                </c:pt>
                <c:pt idx="23">
                  <c:v>29.138391210076904</c:v>
                </c:pt>
                <c:pt idx="24">
                  <c:v>31.97343443317731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Spray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24.256577255977373</c:v>
                </c:pt>
                <c:pt idx="1">
                  <c:v>15.115687272442546</c:v>
                </c:pt>
                <c:pt idx="2">
                  <c:v>16.704715935033594</c:v>
                </c:pt>
                <c:pt idx="3">
                  <c:v>22.407675932496225</c:v>
                </c:pt>
                <c:pt idx="4">
                  <c:v>23.05709455501063</c:v>
                </c:pt>
                <c:pt idx="5">
                  <c:v>22.980366913421303</c:v>
                </c:pt>
                <c:pt idx="6">
                  <c:v>15.744282257435016</c:v>
                </c:pt>
                <c:pt idx="7">
                  <c:v>19.254226820041687</c:v>
                </c:pt>
                <c:pt idx="8">
                  <c:v>25.123237342566775</c:v>
                </c:pt>
                <c:pt idx="9">
                  <c:v>24.467367773532224</c:v>
                </c:pt>
                <c:pt idx="10">
                  <c:v>22.275688650131446</c:v>
                </c:pt>
                <c:pt idx="11">
                  <c:v>21.92044459341111</c:v>
                </c:pt>
                <c:pt idx="12">
                  <c:v>21.812531052781804</c:v>
                </c:pt>
                <c:pt idx="13">
                  <c:v>19.898254133425826</c:v>
                </c:pt>
                <c:pt idx="14">
                  <c:v>22.571542541403815</c:v>
                </c:pt>
                <c:pt idx="15">
                  <c:v>19.876153305106953</c:v>
                </c:pt>
                <c:pt idx="16">
                  <c:v>15.768143675695889</c:v>
                </c:pt>
                <c:pt idx="17">
                  <c:v>19.519605511577907</c:v>
                </c:pt>
                <c:pt idx="18">
                  <c:v>18.28745511913829</c:v>
                </c:pt>
                <c:pt idx="19">
                  <c:v>21.95463037485114</c:v>
                </c:pt>
                <c:pt idx="20">
                  <c:v>20.998742461916603</c:v>
                </c:pt>
                <c:pt idx="21">
                  <c:v>18.861295525101653</c:v>
                </c:pt>
                <c:pt idx="22">
                  <c:v>19.571470904510065</c:v>
                </c:pt>
                <c:pt idx="23">
                  <c:v>28.09039430343494</c:v>
                </c:pt>
                <c:pt idx="24">
                  <c:v>20.19629813854102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Cream &amp; Balm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13.201645385208671</c:v>
                </c:pt>
                <c:pt idx="1">
                  <c:v>14.900364091923421</c:v>
                </c:pt>
                <c:pt idx="2">
                  <c:v>14.121714173896027</c:v>
                </c:pt>
                <c:pt idx="3">
                  <c:v>10.350785178786289</c:v>
                </c:pt>
                <c:pt idx="4">
                  <c:v>10.824699127931305</c:v>
                </c:pt>
                <c:pt idx="5">
                  <c:v>13.511425812681043</c:v>
                </c:pt>
                <c:pt idx="6">
                  <c:v>9.97424088673796</c:v>
                </c:pt>
                <c:pt idx="7">
                  <c:v>12.01883733498031</c:v>
                </c:pt>
                <c:pt idx="8">
                  <c:v>12.831221007836968</c:v>
                </c:pt>
                <c:pt idx="9">
                  <c:v>12.281594170324013</c:v>
                </c:pt>
                <c:pt idx="10">
                  <c:v>16.222425420048005</c:v>
                </c:pt>
                <c:pt idx="11">
                  <c:v>10.535306901361242</c:v>
                </c:pt>
                <c:pt idx="12">
                  <c:v>9.259278835481041</c:v>
                </c:pt>
                <c:pt idx="13">
                  <c:v>13.26550275561722</c:v>
                </c:pt>
                <c:pt idx="14">
                  <c:v>10.664529377871675</c:v>
                </c:pt>
                <c:pt idx="15">
                  <c:v>12.302610710394573</c:v>
                </c:pt>
                <c:pt idx="16">
                  <c:v>11.731388916383473</c:v>
                </c:pt>
                <c:pt idx="17">
                  <c:v>14.675376991734574</c:v>
                </c:pt>
                <c:pt idx="18">
                  <c:v>12.513110651724514</c:v>
                </c:pt>
                <c:pt idx="19">
                  <c:v>11.416334958792959</c:v>
                </c:pt>
                <c:pt idx="20">
                  <c:v>11.481941943658484</c:v>
                </c:pt>
                <c:pt idx="21">
                  <c:v>13.532974274467685</c:v>
                </c:pt>
                <c:pt idx="22">
                  <c:v>12.855096450103067</c:v>
                </c:pt>
                <c:pt idx="23">
                  <c:v>14.03965747042641</c:v>
                </c:pt>
                <c:pt idx="24">
                  <c:v>13.132057552998456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Gel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6.667237980975234</c:v>
                </c:pt>
                <c:pt idx="1">
                  <c:v>6.494930117840505</c:v>
                </c:pt>
                <c:pt idx="2">
                  <c:v>7.360902746070054</c:v>
                </c:pt>
                <c:pt idx="3">
                  <c:v>8.009132138339556</c:v>
                </c:pt>
                <c:pt idx="4">
                  <c:v>7.47033125219691</c:v>
                </c:pt>
                <c:pt idx="5">
                  <c:v>6.161892500804635</c:v>
                </c:pt>
                <c:pt idx="6">
                  <c:v>9.669815002732026</c:v>
                </c:pt>
                <c:pt idx="7">
                  <c:v>5.590982783911062</c:v>
                </c:pt>
                <c:pt idx="8">
                  <c:v>5.640503786326932</c:v>
                </c:pt>
                <c:pt idx="9">
                  <c:v>5.1518341949297906</c:v>
                </c:pt>
                <c:pt idx="10">
                  <c:v>6.165276031546463</c:v>
                </c:pt>
                <c:pt idx="11">
                  <c:v>9.330839343057013</c:v>
                </c:pt>
                <c:pt idx="12">
                  <c:v>8.879774200027486</c:v>
                </c:pt>
                <c:pt idx="13">
                  <c:v>8.241415192507803</c:v>
                </c:pt>
                <c:pt idx="14">
                  <c:v>5.549071461285032</c:v>
                </c:pt>
                <c:pt idx="15">
                  <c:v>6.15302927912397</c:v>
                </c:pt>
                <c:pt idx="16">
                  <c:v>6.326503678775282</c:v>
                </c:pt>
                <c:pt idx="17">
                  <c:v>7.49760967583807</c:v>
                </c:pt>
                <c:pt idx="18">
                  <c:v>7.193994124687195</c:v>
                </c:pt>
                <c:pt idx="19">
                  <c:v>7.230806769389889</c:v>
                </c:pt>
                <c:pt idx="20">
                  <c:v>4.871531052616537</c:v>
                </c:pt>
                <c:pt idx="21">
                  <c:v>4.794997744913771</c:v>
                </c:pt>
                <c:pt idx="22">
                  <c:v>6.7275030636025885</c:v>
                </c:pt>
                <c:pt idx="23">
                  <c:v>4.979841099781848</c:v>
                </c:pt>
                <c:pt idx="24">
                  <c:v>6.712618536809662</c:v>
                </c:pt>
              </c:numCache>
            </c:numRef>
          </c:val>
        </c:ser>
        <c:ser>
          <c:idx val="4"/>
          <c:order val="4"/>
          <c:tx>
            <c:strRef>
              <c:strCache>
                <c:ptCount val="1"/>
                <c:pt idx="0">
                  <c:v>Foam</c:v>
                </c:pt>
              </c:strCache>
            </c:strRef>
          </c:tx>
          <c:spPr>
            <a:solidFill>
              <a:srgbClr val="A35313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8.77110292227269</c:v>
                </c:pt>
                <c:pt idx="1">
                  <c:v>6.506675018596092</c:v>
                </c:pt>
                <c:pt idx="2">
                  <c:v>10.270041093209837</c:v>
                </c:pt>
                <c:pt idx="3">
                  <c:v>9.317249251843398</c:v>
                </c:pt>
                <c:pt idx="4">
                  <c:v>7.4050516378487865</c:v>
                </c:pt>
                <c:pt idx="5">
                  <c:v>5.048278081750885</c:v>
                </c:pt>
                <c:pt idx="6">
                  <c:v>9.27015845757552</c:v>
                </c:pt>
                <c:pt idx="7">
                  <c:v>8.907588975526902</c:v>
                </c:pt>
                <c:pt idx="8">
                  <c:v>9.41229333791481</c:v>
                </c:pt>
                <c:pt idx="9">
                  <c:v>7.235044302225164</c:v>
                </c:pt>
                <c:pt idx="10">
                  <c:v>7.853468967882045</c:v>
                </c:pt>
                <c:pt idx="11">
                  <c:v>6.389949075025138</c:v>
                </c:pt>
                <c:pt idx="12">
                  <c:v>9.964375191602272</c:v>
                </c:pt>
                <c:pt idx="13">
                  <c:v>9.030716460477125</c:v>
                </c:pt>
                <c:pt idx="14">
                  <c:v>7.652134087786429</c:v>
                </c:pt>
                <c:pt idx="15">
                  <c:v>8.552041815498765</c:v>
                </c:pt>
                <c:pt idx="16">
                  <c:v>10.27802522902988</c:v>
                </c:pt>
                <c:pt idx="17">
                  <c:v>6.976349137784594</c:v>
                </c:pt>
                <c:pt idx="18">
                  <c:v>8.397780437384398</c:v>
                </c:pt>
                <c:pt idx="19">
                  <c:v>10.046287360382243</c:v>
                </c:pt>
                <c:pt idx="20">
                  <c:v>6.32770299236903</c:v>
                </c:pt>
                <c:pt idx="21">
                  <c:v>6.995505621921192</c:v>
                </c:pt>
                <c:pt idx="22">
                  <c:v>6.432594919919304</c:v>
                </c:pt>
                <c:pt idx="23">
                  <c:v>7.072511104291149</c:v>
                </c:pt>
                <c:pt idx="24">
                  <c:v>9.122728234724102</c:v>
                </c:pt>
              </c:numCache>
            </c:numRef>
          </c:val>
        </c:ser>
        <c:ser>
          <c:idx val="5"/>
          <c:order val="5"/>
          <c:tx>
            <c:strRef>
              <c:strCache>
                <c:ptCount val="1"/>
                <c:pt idx="0">
                  <c:v>Wipe &amp; Pad</c:v>
                </c:pt>
              </c:strCache>
            </c:strRef>
          </c:tx>
          <c:spPr>
            <a:solidFill>
              <a:srgbClr val="808080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7.121432856285885</c:v>
                </c:pt>
                <c:pt idx="1">
                  <c:v>11.318169361468893</c:v>
                </c:pt>
                <c:pt idx="2">
                  <c:v>11.558280607918597</c:v>
                </c:pt>
                <c:pt idx="3">
                  <c:v>17.15669638725203</c:v>
                </c:pt>
                <c:pt idx="4">
                  <c:v>10.657315501397653</c:v>
                </c:pt>
                <c:pt idx="5">
                  <c:v>12.883810749919537</c:v>
                </c:pt>
                <c:pt idx="6">
                  <c:v>16.78713605495277</c:v>
                </c:pt>
                <c:pt idx="7">
                  <c:v>11.493862425692887</c:v>
                </c:pt>
                <c:pt idx="8">
                  <c:v>10.54753062761838</c:v>
                </c:pt>
                <c:pt idx="9">
                  <c:v>13.743745046313272</c:v>
                </c:pt>
                <c:pt idx="10">
                  <c:v>14.842839181620759</c:v>
                </c:pt>
                <c:pt idx="11">
                  <c:v>15.091524397495917</c:v>
                </c:pt>
                <c:pt idx="12">
                  <c:v>13.92961721830502</c:v>
                </c:pt>
                <c:pt idx="13">
                  <c:v>11.888079546768411</c:v>
                </c:pt>
                <c:pt idx="14">
                  <c:v>12.540812859190096</c:v>
                </c:pt>
                <c:pt idx="15">
                  <c:v>8.842350604752514</c:v>
                </c:pt>
                <c:pt idx="16">
                  <c:v>14.896565376620806</c:v>
                </c:pt>
                <c:pt idx="17">
                  <c:v>16.299826731832322</c:v>
                </c:pt>
                <c:pt idx="18">
                  <c:v>11.687085192035688</c:v>
                </c:pt>
                <c:pt idx="19">
                  <c:v>13.86399309513491</c:v>
                </c:pt>
                <c:pt idx="20">
                  <c:v>19.01740547029066</c:v>
                </c:pt>
                <c:pt idx="21">
                  <c:v>12.991753579620335</c:v>
                </c:pt>
                <c:pt idx="22">
                  <c:v>11.52768629744702</c:v>
                </c:pt>
                <c:pt idx="23">
                  <c:v>9.156649999612224</c:v>
                </c:pt>
                <c:pt idx="24">
                  <c:v>12.031425750594364</c:v>
                </c:pt>
              </c:numCache>
            </c:numRef>
          </c:val>
        </c:ser>
        <c:ser>
          <c:idx val="6"/>
          <c:order val="6"/>
          <c:tx>
            <c:strRef>
              <c:strCache>
                <c:ptCount val="1"/>
                <c:pt idx="0">
                  <c:v>Powder</c:v>
                </c:pt>
              </c:strCache>
            </c:strRef>
          </c:tx>
          <c:spPr>
            <a:solidFill>
              <a:srgbClr val="0E72AE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3.196503556431571</c:v>
                </c:pt>
                <c:pt idx="1">
                  <c:v>4.619660963864854</c:v>
                </c:pt>
                <c:pt idx="2">
                  <c:v>6.072663231361294</c:v>
                </c:pt>
                <c:pt idx="3">
                  <c:v>3.646684972079104</c:v>
                </c:pt>
                <c:pt idx="4">
                  <c:v>3.710895000251076</c:v>
                </c:pt>
                <c:pt idx="5">
                  <c:v>4.07145156099131</c:v>
                </c:pt>
                <c:pt idx="6">
                  <c:v>2.6898758879088285</c:v>
                </c:pt>
                <c:pt idx="7">
                  <c:v>3.9882652667335745</c:v>
                </c:pt>
                <c:pt idx="8">
                  <c:v>4.6532834657116044</c:v>
                </c:pt>
                <c:pt idx="9">
                  <c:v>4.8833000130126685</c:v>
                </c:pt>
                <c:pt idx="10">
                  <c:v>4.826837352840325</c:v>
                </c:pt>
                <c:pt idx="11">
                  <c:v>4.2264485506384535</c:v>
                </c:pt>
                <c:pt idx="12">
                  <c:v>3.6523356977494004</c:v>
                </c:pt>
                <c:pt idx="13">
                  <c:v>4.772806104751994</c:v>
                </c:pt>
                <c:pt idx="14">
                  <c:v>4.646387046257036</c:v>
                </c:pt>
                <c:pt idx="15">
                  <c:v>5.103504392558165</c:v>
                </c:pt>
                <c:pt idx="16">
                  <c:v>3.799751448964554</c:v>
                </c:pt>
                <c:pt idx="17">
                  <c:v>3.283844320735395</c:v>
                </c:pt>
                <c:pt idx="18">
                  <c:v>4.004352083560005</c:v>
                </c:pt>
                <c:pt idx="19">
                  <c:v>5.503497955125661</c:v>
                </c:pt>
                <c:pt idx="20">
                  <c:v>3.6709156210999647</c:v>
                </c:pt>
                <c:pt idx="21">
                  <c:v>4.4971859682743585</c:v>
                </c:pt>
                <c:pt idx="22">
                  <c:v>4.988722578007021</c:v>
                </c:pt>
                <c:pt idx="23">
                  <c:v>2.703253676409489</c:v>
                </c:pt>
                <c:pt idx="24">
                  <c:v>3.609578128743303</c:v>
                </c:pt>
              </c:numCache>
            </c:numRef>
          </c:val>
        </c:ser>
        <c:ser>
          <c:idx val="7"/>
          <c:order val="7"/>
          <c:tx>
            <c:strRef>
              <c:strCache>
                <c:ptCount val="1"/>
                <c:pt idx="0">
                  <c:v>Solid</c:v>
                </c:pt>
              </c:strCache>
            </c:strRef>
          </c:tx>
          <c:spPr>
            <a:solidFill>
              <a:srgbClr val="A86F00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3.82209272431228</c:v>
                </c:pt>
                <c:pt idx="1">
                  <c:v>3.3433817484242256</c:v>
                </c:pt>
                <c:pt idx="2">
                  <c:v>4.396321179309895</c:v>
                </c:pt>
                <c:pt idx="3">
                  <c:v>4.297658346959554</c:v>
                </c:pt>
                <c:pt idx="4">
                  <c:v>3.4447550340625672</c:v>
                </c:pt>
                <c:pt idx="5">
                  <c:v>3.7640811071773417</c:v>
                </c:pt>
                <c:pt idx="6">
                  <c:v>4.519553508703457</c:v>
                </c:pt>
                <c:pt idx="7">
                  <c:v>3.6223268740832233</c:v>
                </c:pt>
                <c:pt idx="8">
                  <c:v>3.677957365826582</c:v>
                </c:pt>
                <c:pt idx="9">
                  <c:v>4.064684797652987</c:v>
                </c:pt>
                <c:pt idx="10">
                  <c:v>3.8610126871642474</c:v>
                </c:pt>
                <c:pt idx="11">
                  <c:v>3.1765939733373703</c:v>
                </c:pt>
                <c:pt idx="12">
                  <c:v>3.7749611509878753</c:v>
                </c:pt>
                <c:pt idx="13">
                  <c:v>3.4709214938143136</c:v>
                </c:pt>
                <c:pt idx="14">
                  <c:v>4.363467135491305</c:v>
                </c:pt>
                <c:pt idx="15">
                  <c:v>3.3809596050145494</c:v>
                </c:pt>
                <c:pt idx="16">
                  <c:v>4.648234297843325</c:v>
                </c:pt>
                <c:pt idx="17">
                  <c:v>2.666000126189702</c:v>
                </c:pt>
                <c:pt idx="18">
                  <c:v>4.915243172668916</c:v>
                </c:pt>
                <c:pt idx="19">
                  <c:v>4.437905378583993</c:v>
                </c:pt>
                <c:pt idx="20">
                  <c:v>4.6095439519086945</c:v>
                </c:pt>
                <c:pt idx="21">
                  <c:v>3.7850350020971426</c:v>
                </c:pt>
                <c:pt idx="22">
                  <c:v>4.313888892483401</c:v>
                </c:pt>
                <c:pt idx="23">
                  <c:v>4.819301135967045</c:v>
                </c:pt>
                <c:pt idx="24">
                  <c:v>3.2218592244117876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max val="100.0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1.xml><?xml version="1.0" encoding="utf-8"?>
<c:chartSpace xmlns:c="http://schemas.openxmlformats.org/drawingml/2006/chart" xmlns:a="http://schemas.openxmlformats.org/drawingml/2006/main" xmlns:r="http://schemas.openxmlformats.org/officeDocument/2006/relationships">
  <c:chart>
    <c:autoTitleDeleted val="1"/>
    <c:plotArea>
      <c:layout/>
      <c:bubbleChart>
        <c:varyColors val="0"/>
        <c:ser>
          <c:idx val="0"/>
          <c:order val="0"/>
          <c:tx>
            <c:strRef>
              <c:strCache>
                <c:ptCount val="1"/>
                <c:pt idx="0">
                  <c:v>Liquid</c:v>
                </c:pt>
              </c:strCache>
            </c:strRef>
          </c:tx>
          <c:spPr>
            <a:solidFill>
              <a:srgbClr val="3D85C6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98.39293285263334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251.55530853011823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1774.511</c:v>
                </c:pt>
              </c:numCache>
            </c:numRef>
          </c:bubbleSize>
          <c:bubble3D val="0"/>
        </c:ser>
        <c:ser>
          <c:idx val="1"/>
          <c:order val="1"/>
          <c:tx>
            <c:strRef>
              <c:strCache>
                <c:ptCount val="1"/>
                <c:pt idx="0">
                  <c:v>Spray</c:v>
                </c:pt>
              </c:strCache>
            </c:strRef>
          </c:tx>
          <c:spPr>
            <a:solidFill>
              <a:srgbClr val="9E7E0A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100.60956846178696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170.397046861656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1217.416</c:v>
                </c:pt>
              </c:numCache>
            </c:numRef>
          </c:bubbleSize>
          <c:bubble3D val="0"/>
        </c:ser>
        <c:ser>
          <c:idx val="2"/>
          <c:order val="2"/>
          <c:tx>
            <c:strRef>
              <c:strCache>
                <c:ptCount val="1"/>
                <c:pt idx="0">
                  <c:v>Cream &amp; Balm</c:v>
                </c:pt>
              </c:strCache>
            </c:strRef>
          </c:tx>
          <c:spPr>
            <a:solidFill>
              <a:srgbClr val="008189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102.97781523206176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100.95845023685254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731.176</c:v>
                </c:pt>
              </c:numCache>
            </c:numRef>
          </c:bubbleSize>
          <c:bubble3D val="0"/>
        </c:ser>
        <c:ser>
          <c:idx val="3"/>
          <c:order val="3"/>
          <c:tx>
            <c:strRef>
              <c:strCache>
                <c:ptCount val="1"/>
                <c:pt idx="0">
                  <c:v>Gel</c:v>
                </c:pt>
              </c:strCache>
            </c:strRef>
          </c:tx>
          <c:spPr>
            <a:solidFill>
              <a:srgbClr val="40315E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97.43996637730741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50.58454932027819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354.881</c:v>
                </c:pt>
              </c:numCache>
            </c:numRef>
          </c:bubbleSize>
          <c:bubble3D val="0"/>
        </c:ser>
        <c:ser>
          <c:idx val="4"/>
          <c:order val="4"/>
          <c:tx>
            <c:strRef>
              <c:strCache>
                <c:ptCount val="1"/>
                <c:pt idx="0">
                  <c:v>Foam</c:v>
                </c:pt>
              </c:strCache>
            </c:strRef>
          </c:tx>
          <c:spPr>
            <a:solidFill>
              <a:srgbClr val="A35313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98.19231703441356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63.00062306244709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443.904</c:v>
                </c:pt>
              </c:numCache>
            </c:numRef>
          </c:bubbleSize>
          <c:bubble3D val="0"/>
        </c:ser>
        <c:ser>
          <c:idx val="5"/>
          <c:order val="5"/>
          <c:tx>
            <c:strRef>
              <c:strCache>
                <c:ptCount val="1"/>
                <c:pt idx="0">
                  <c:v>Wipe &amp; Pad</c:v>
                </c:pt>
              </c:strCache>
            </c:strRef>
          </c:tx>
          <c:spPr>
            <a:solidFill>
              <a:srgbClr val="808080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101.83026765731462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99.2889981891851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714.367</c:v>
                </c:pt>
              </c:numCache>
            </c:numRef>
          </c:bubbleSize>
          <c:bubble3D val="0"/>
        </c:ser>
        <c:ser>
          <c:idx val="6"/>
          <c:order val="6"/>
          <c:tx>
            <c:strRef>
              <c:strCache>
                <c:ptCount val="1"/>
                <c:pt idx="0">
                  <c:v>Powder</c:v>
                </c:pt>
              </c:strCache>
            </c:strRef>
          </c:tx>
          <c:spPr>
            <a:solidFill>
              <a:srgbClr val="0E72AE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97.39783430539022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32.60938806638723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228.719</c:v>
                </c:pt>
              </c:numCache>
            </c:numRef>
          </c:bubbleSize>
          <c:bubble3D val="0"/>
        </c:ser>
        <c:ser>
          <c:idx val="7"/>
          <c:order val="7"/>
          <c:tx>
            <c:strRef>
              <c:strCache>
                <c:ptCount val="1"/>
                <c:pt idx="0">
                  <c:v>Solid</c:v>
                </c:pt>
              </c:strCache>
            </c:strRef>
          </c:tx>
          <c:spPr>
            <a:solidFill>
              <a:srgbClr val="A86F00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104.35788577214015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31.605635733075477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230.717</c:v>
                </c:pt>
              </c:numCache>
            </c:numRef>
          </c:bubbleSize>
          <c:bubble3D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bubbleScale val="100"/>
        <c:showNegBubbles val="0"/>
        <c:axId val="-2115720072"/>
        <c:axId val="-2115723560"/>
      </c:bubbleChart>
      <c:valAx>
        <c:axId val="-2115720072"/>
        <c:scaling>
          <c:orientation val="minMax"/>
        </c:scaling>
        <c:delete val="0"/>
        <c:axPos val="b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CAGR Index (100 = segment average growth)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3560"/>
        <c:crosses val="autoZero"/>
        <c:crossBetween val="midCat"/>
      </c:valAx>
      <c:valAx>
        <c:axId val="-2115723560"/>
        <c:scaling>
          <c:orientation val="minMax"/>
        </c:scaling>
        <c:delete val="0"/>
        <c:axPos val="l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Market Share Index (100 = equal share)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0072"/>
        <c:crosses val="autoZero"/>
        <c:crossBetween val="midCat"/>
      </c:valAx>
    </c:plotArea>
    <c:legend>
      <c:legendPos val="b"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991.182</c:v>
                </c:pt>
                <c:pt idx="2">
                  <c:v>1113.078</c:v>
                </c:pt>
                <c:pt idx="3">
                  <c:v>1250.335</c:v>
                </c:pt>
                <c:pt idx="4">
                  <c:v>1403.683</c:v>
                </c:pt>
                <c:pt idx="5">
                  <c:v>1578.437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991.182</c:v>
                </c:pt>
                <c:pt idx="1">
                  <c:v>121.89599999999996</c:v>
                </c:pt>
                <c:pt idx="2">
                  <c:v>137.25700000000006</c:v>
                </c:pt>
                <c:pt idx="3">
                  <c:v>153.34799999999996</c:v>
                </c:pt>
                <c:pt idx="4">
                  <c:v>174.7539999999999</c:v>
                </c:pt>
                <c:pt idx="5">
                  <c:v>196.07400000000007</c:v>
                </c:pt>
                <c:pt idx="6">
                  <c:v>1774.511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671.401</c:v>
                </c:pt>
                <c:pt idx="2">
                  <c:v>755.787</c:v>
                </c:pt>
                <c:pt idx="3">
                  <c:v>850.991</c:v>
                </c:pt>
                <c:pt idx="4">
                  <c:v>957.632</c:v>
                </c:pt>
                <c:pt idx="5">
                  <c:v>1080.142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671.401</c:v>
                </c:pt>
                <c:pt idx="1">
                  <c:v>84.38600000000008</c:v>
                </c:pt>
                <c:pt idx="2">
                  <c:v>95.20399999999995</c:v>
                </c:pt>
                <c:pt idx="3">
                  <c:v>106.64099999999996</c:v>
                </c:pt>
                <c:pt idx="4">
                  <c:v>122.5100000000001</c:v>
                </c:pt>
                <c:pt idx="5">
                  <c:v>137.2739999999999</c:v>
                </c:pt>
                <c:pt idx="6">
                  <c:v>1217.416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397.798</c:v>
                </c:pt>
                <c:pt idx="2">
                  <c:v>448.935</c:v>
                </c:pt>
                <c:pt idx="3">
                  <c:v>506.911</c:v>
                </c:pt>
                <c:pt idx="4">
                  <c:v>572.064</c:v>
                </c:pt>
                <c:pt idx="5">
                  <c:v>646.845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397.798</c:v>
                </c:pt>
                <c:pt idx="1">
                  <c:v>51.137</c:v>
                </c:pt>
                <c:pt idx="2">
                  <c:v>57.976</c:v>
                </c:pt>
                <c:pt idx="3">
                  <c:v>65.15299999999996</c:v>
                </c:pt>
                <c:pt idx="4">
                  <c:v>74.78100000000006</c:v>
                </c:pt>
                <c:pt idx="5">
                  <c:v>84.33100000000002</c:v>
                </c:pt>
                <c:pt idx="6">
                  <c:v>731.176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199.314</c:v>
                </c:pt>
                <c:pt idx="2">
                  <c:v>223.507</c:v>
                </c:pt>
                <c:pt idx="3">
                  <c:v>250.757</c:v>
                </c:pt>
                <c:pt idx="4">
                  <c:v>281.22</c:v>
                </c:pt>
                <c:pt idx="5">
                  <c:v>315.886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199.314</c:v>
                </c:pt>
                <c:pt idx="1">
                  <c:v>24.193000000000012</c:v>
                </c:pt>
                <c:pt idx="2">
                  <c:v>27.25</c:v>
                </c:pt>
                <c:pt idx="3">
                  <c:v>30.463000000000022</c:v>
                </c:pt>
                <c:pt idx="4">
                  <c:v>34.666</c:v>
                </c:pt>
                <c:pt idx="5">
                  <c:v>38.99499999999995</c:v>
                </c:pt>
                <c:pt idx="6">
                  <c:v>354.881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248.236</c:v>
                </c:pt>
                <c:pt idx="2">
                  <c:v>278.631</c:v>
                </c:pt>
                <c:pt idx="3">
                  <c:v>312.818</c:v>
                </c:pt>
                <c:pt idx="4">
                  <c:v>351.053</c:v>
                </c:pt>
                <c:pt idx="5">
                  <c:v>394.768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248.236</c:v>
                </c:pt>
                <c:pt idx="1">
                  <c:v>30.394999999999982</c:v>
                </c:pt>
                <c:pt idx="2">
                  <c:v>34.18700000000001</c:v>
                </c:pt>
                <c:pt idx="3">
                  <c:v>38.235000000000014</c:v>
                </c:pt>
                <c:pt idx="4">
                  <c:v>43.714999999999975</c:v>
                </c:pt>
                <c:pt idx="5">
                  <c:v>49.136000000000024</c:v>
                </c:pt>
                <c:pt idx="6">
                  <c:v>443.904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391.22</c:v>
                </c:pt>
                <c:pt idx="2">
                  <c:v>440.994</c:v>
                </c:pt>
                <c:pt idx="3">
                  <c:v>497.346</c:v>
                </c:pt>
                <c:pt idx="4">
                  <c:v>560.581</c:v>
                </c:pt>
                <c:pt idx="5">
                  <c:v>632.902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391.22</c:v>
                </c:pt>
                <c:pt idx="1">
                  <c:v>49.774</c:v>
                </c:pt>
                <c:pt idx="2">
                  <c:v>56.351999999999975</c:v>
                </c:pt>
                <c:pt idx="3">
                  <c:v>63.235000000000014</c:v>
                </c:pt>
                <c:pt idx="4">
                  <c:v>72.32100000000003</c:v>
                </c:pt>
                <c:pt idx="5">
                  <c:v>81.46499999999992</c:v>
                </c:pt>
                <c:pt idx="6">
                  <c:v>714.367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128.488</c:v>
                </c:pt>
                <c:pt idx="2">
                  <c:v>144.072</c:v>
                </c:pt>
                <c:pt idx="3">
                  <c:v>161.624</c:v>
                </c:pt>
                <c:pt idx="4">
                  <c:v>181.254</c:v>
                </c:pt>
                <c:pt idx="5">
                  <c:v>203.555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128.488</c:v>
                </c:pt>
                <c:pt idx="1">
                  <c:v>15.584000000000003</c:v>
                </c:pt>
                <c:pt idx="2">
                  <c:v>17.551999999999992</c:v>
                </c:pt>
                <c:pt idx="3">
                  <c:v>19.629999999999995</c:v>
                </c:pt>
                <c:pt idx="4">
                  <c:v>22.301000000000016</c:v>
                </c:pt>
                <c:pt idx="5">
                  <c:v>25.163999999999987</c:v>
                </c:pt>
                <c:pt idx="6">
                  <c:v>228.719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124.533</c:v>
                </c:pt>
                <c:pt idx="2">
                  <c:v>140.786</c:v>
                </c:pt>
                <c:pt idx="3">
                  <c:v>159.24</c:v>
                </c:pt>
                <c:pt idx="4">
                  <c:v>179.983</c:v>
                </c:pt>
                <c:pt idx="5">
                  <c:v>203.837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124.533</c:v>
                </c:pt>
                <c:pt idx="1">
                  <c:v>16.253</c:v>
                </c:pt>
                <c:pt idx="2">
                  <c:v>18.454000000000008</c:v>
                </c:pt>
                <c:pt idx="3">
                  <c:v>20.742999999999995</c:v>
                </c:pt>
                <c:pt idx="4">
                  <c:v>23.853999999999985</c:v>
                </c:pt>
                <c:pt idx="5">
                  <c:v>26.880000000000024</c:v>
                </c:pt>
                <c:pt idx="6">
                  <c:v>230.717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4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Liquid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31.56777734986438</c:v>
                </c:pt>
                <c:pt idx="1">
                  <c:v>31.444413566264785</c:v>
                </c:pt>
                <c:pt idx="2">
                  <c:v>31.155324261797208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Spray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21.254398738518653</c:v>
                </c:pt>
                <c:pt idx="1">
                  <c:v>21.299630857707</c:v>
                </c:pt>
                <c:pt idx="2">
                  <c:v>21.374333684885645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Cream &amp; Balm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12.50894623663023</c:v>
                </c:pt>
                <c:pt idx="1">
                  <c:v>12.619806279606568</c:v>
                </c:pt>
                <c:pt idx="2">
                  <c:v>12.837353711779661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Wipe &amp; Pad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12.359029624646487</c:v>
                </c:pt>
                <c:pt idx="1">
                  <c:v>12.41112477364814</c:v>
                </c:pt>
                <c:pt idx="2">
                  <c:v>12.542235876208874</c:v>
                </c:pt>
              </c:numCache>
            </c:numRef>
          </c:val>
        </c:ser>
        <c:ser>
          <c:idx val="4"/>
          <c:order val="4"/>
          <c:tx>
            <c:strRef>
              <c:strCache>
                <c:ptCount val="1"/>
                <c:pt idx="0">
                  <c:v>Foam</c:v>
                </c:pt>
              </c:strCache>
            </c:strRef>
          </c:tx>
          <c:spPr>
            <a:solidFill>
              <a:srgbClr val="A35313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7.924836736346761</c:v>
                </c:pt>
                <c:pt idx="1">
                  <c:v>7.875077882805886</c:v>
                </c:pt>
                <c:pt idx="2">
                  <c:v>7.793681223226471</c:v>
                </c:pt>
              </c:numCache>
            </c:numRef>
          </c:val>
        </c:ser>
        <c:ser>
          <c:idx val="5"/>
          <c:order val="5"/>
          <c:tx>
            <c:strRef>
              <c:strCache>
                <c:ptCount val="1"/>
                <c:pt idx="0">
                  <c:v>Gel</c:v>
                </c:pt>
              </c:strCache>
            </c:strRef>
          </c:tx>
          <c:spPr>
            <a:solidFill>
              <a:srgbClr val="808080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1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6.376084085533459</c:v>
                </c:pt>
                <c:pt idx="1">
                  <c:v>6.323068665034776</c:v>
                </c:pt>
                <c:pt idx="2">
                  <c:v>6.230692641156271</c:v>
                </c:pt>
              </c:numCache>
            </c:numRef>
          </c:val>
        </c:ser>
        <c:ser>
          <c:idx val="6"/>
          <c:order val="6"/>
          <c:tx>
            <c:strRef>
              <c:strCache>
                <c:ptCount val="1"/>
                <c:pt idx="0">
                  <c:v>Solid</c:v>
                </c:pt>
              </c:strCache>
            </c:strRef>
          </c:tx>
          <c:spPr>
            <a:solidFill>
              <a:srgbClr val="0E72AE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1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3.896344315648021</c:v>
                </c:pt>
                <c:pt idx="1">
                  <c:v>3.9507044666344346</c:v>
                </c:pt>
                <c:pt idx="2">
                  <c:v>4.050728875565756</c:v>
                </c:pt>
              </c:numCache>
            </c:numRef>
          </c:val>
        </c:ser>
        <c:ser>
          <c:idx val="7"/>
          <c:order val="7"/>
          <c:tx>
            <c:strRef>
              <c:strCache>
                <c:ptCount val="1"/>
                <c:pt idx="0">
                  <c:v>Powder</c:v>
                </c:pt>
              </c:strCache>
            </c:strRef>
          </c:tx>
          <c:spPr>
            <a:solidFill>
              <a:srgbClr val="A86F00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1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4.112582912812003</c:v>
                </c:pt>
                <c:pt idx="1">
                  <c:v>4.076173508298405</c:v>
                </c:pt>
                <c:pt idx="2">
                  <c:v>4.015649725380116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4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Cleansing &amp; General Hygiene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28.27270000428504</c:v>
                </c:pt>
                <c:pt idx="1">
                  <c:v>23.105230191042907</c:v>
                </c:pt>
                <c:pt idx="2">
                  <c:v>28.815107139362713</c:v>
                </c:pt>
                <c:pt idx="3">
                  <c:v>30.88670862643465</c:v>
                </c:pt>
                <c:pt idx="4">
                  <c:v>29.6429587720326</c:v>
                </c:pt>
                <c:pt idx="5">
                  <c:v>21.371785380926326</c:v>
                </c:pt>
                <c:pt idx="6">
                  <c:v>24.706892514245574</c:v>
                </c:pt>
                <c:pt idx="7">
                  <c:v>24.031127443411666</c:v>
                </c:pt>
                <c:pt idx="8">
                  <c:v>30.388010783950946</c:v>
                </c:pt>
                <c:pt idx="9">
                  <c:v>21.303175128945256</c:v>
                </c:pt>
                <c:pt idx="10">
                  <c:v>27.065735480699992</c:v>
                </c:pt>
                <c:pt idx="11">
                  <c:v>31.246621256352036</c:v>
                </c:pt>
                <c:pt idx="12">
                  <c:v>21.490565040435538</c:v>
                </c:pt>
                <c:pt idx="13">
                  <c:v>30.405056461247927</c:v>
                </c:pt>
                <c:pt idx="14">
                  <c:v>26.750731318145547</c:v>
                </c:pt>
                <c:pt idx="15">
                  <c:v>29.047917859039156</c:v>
                </c:pt>
                <c:pt idx="16">
                  <c:v>31.783563828324763</c:v>
                </c:pt>
                <c:pt idx="17">
                  <c:v>28.233975121214915</c:v>
                </c:pt>
                <c:pt idx="18">
                  <c:v>23.554244133416894</c:v>
                </c:pt>
                <c:pt idx="19">
                  <c:v>33.21800946141324</c:v>
                </c:pt>
                <c:pt idx="20">
                  <c:v>32.56293614690261</c:v>
                </c:pt>
                <c:pt idx="21">
                  <c:v>25.326592070534065</c:v>
                </c:pt>
                <c:pt idx="22">
                  <c:v>35.260001164618885</c:v>
                </c:pt>
                <c:pt idx="23">
                  <c:v>29.424017177443744</c:v>
                </c:pt>
                <c:pt idx="24">
                  <c:v>20.39644231110118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Moisturizing &amp; Skin Barrier Care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13.699275828084156</c:v>
                </c:pt>
                <c:pt idx="1">
                  <c:v>13.97979956154087</c:v>
                </c:pt>
                <c:pt idx="2">
                  <c:v>11.816313884087277</c:v>
                </c:pt>
                <c:pt idx="3">
                  <c:v>17.12328767123288</c:v>
                </c:pt>
                <c:pt idx="4">
                  <c:v>17.41350161530607</c:v>
                </c:pt>
                <c:pt idx="5">
                  <c:v>20.155138562554317</c:v>
                </c:pt>
                <c:pt idx="6">
                  <c:v>16.12052142689876</c:v>
                </c:pt>
                <c:pt idx="7">
                  <c:v>13.547231572121174</c:v>
                </c:pt>
                <c:pt idx="8">
                  <c:v>17.33361526669134</c:v>
                </c:pt>
                <c:pt idx="9">
                  <c:v>17.30823830028865</c:v>
                </c:pt>
                <c:pt idx="10">
                  <c:v>13.552870712220102</c:v>
                </c:pt>
                <c:pt idx="11">
                  <c:v>11.175262190507084</c:v>
                </c:pt>
                <c:pt idx="12">
                  <c:v>12.199376288387333</c:v>
                </c:pt>
                <c:pt idx="13">
                  <c:v>17.81477627471384</c:v>
                </c:pt>
                <c:pt idx="14">
                  <c:v>13.38238335844931</c:v>
                </c:pt>
                <c:pt idx="15">
                  <c:v>16.897096242561318</c:v>
                </c:pt>
                <c:pt idx="16">
                  <c:v>13.301806384207199</c:v>
                </c:pt>
                <c:pt idx="17">
                  <c:v>17.38408747858415</c:v>
                </c:pt>
                <c:pt idx="18">
                  <c:v>14.620325882598706</c:v>
                </c:pt>
                <c:pt idx="19">
                  <c:v>10.428677040959396</c:v>
                </c:pt>
                <c:pt idx="20">
                  <c:v>16.983828327815758</c:v>
                </c:pt>
                <c:pt idx="21">
                  <c:v>12.263084741955412</c:v>
                </c:pt>
                <c:pt idx="22">
                  <c:v>9.684970593373318</c:v>
                </c:pt>
                <c:pt idx="23">
                  <c:v>11.498716455844862</c:v>
                </c:pt>
                <c:pt idx="24">
                  <c:v>17.477753701270586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Skin Soothing &amp; Comfort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15.546128465526843</c:v>
                </c:pt>
                <c:pt idx="1">
                  <c:v>14.234262449107424</c:v>
                </c:pt>
                <c:pt idx="2">
                  <c:v>16.16711783699162</c:v>
                </c:pt>
                <c:pt idx="3">
                  <c:v>11.616068122917438</c:v>
                </c:pt>
                <c:pt idx="4">
                  <c:v>13.966957365963072</c:v>
                </c:pt>
                <c:pt idx="5">
                  <c:v>9.71869065628118</c:v>
                </c:pt>
                <c:pt idx="6">
                  <c:v>12.511123253454063</c:v>
                </c:pt>
                <c:pt idx="7">
                  <c:v>9.965105147762715</c:v>
                </c:pt>
                <c:pt idx="8">
                  <c:v>8.327166041127029</c:v>
                </c:pt>
                <c:pt idx="9">
                  <c:v>14.891402072587898</c:v>
                </c:pt>
                <c:pt idx="10">
                  <c:v>17.13740327134317</c:v>
                </c:pt>
                <c:pt idx="11">
                  <c:v>12.138609579413991</c:v>
                </c:pt>
                <c:pt idx="12">
                  <c:v>13.50705639832972</c:v>
                </c:pt>
                <c:pt idx="13">
                  <c:v>8.646086252745981</c:v>
                </c:pt>
                <c:pt idx="14">
                  <c:v>12.35188960789528</c:v>
                </c:pt>
                <c:pt idx="15">
                  <c:v>11.871547866141679</c:v>
                </c:pt>
                <c:pt idx="16">
                  <c:v>13.924280333232522</c:v>
                </c:pt>
                <c:pt idx="17">
                  <c:v>13.357665296375925</c:v>
                </c:pt>
                <c:pt idx="18">
                  <c:v>10.929339878838523</c:v>
                </c:pt>
                <c:pt idx="19">
                  <c:v>13.198270870282494</c:v>
                </c:pt>
                <c:pt idx="20">
                  <c:v>8.577178650534691</c:v>
                </c:pt>
                <c:pt idx="21">
                  <c:v>16.609865502330546</c:v>
                </c:pt>
                <c:pt idx="22">
                  <c:v>15.40311988457333</c:v>
                </c:pt>
                <c:pt idx="23">
                  <c:v>11.410192348813789</c:v>
                </c:pt>
                <c:pt idx="24">
                  <c:v>14.23591228893814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Coat Conditioning &amp; Softening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22.75356729656768</c:v>
                </c:pt>
                <c:pt idx="1">
                  <c:v>15.592702787347324</c:v>
                </c:pt>
                <c:pt idx="2">
                  <c:v>16.943348227389844</c:v>
                </c:pt>
                <c:pt idx="3">
                  <c:v>18.27718129087992</c:v>
                </c:pt>
                <c:pt idx="4">
                  <c:v>15.508612175892603</c:v>
                </c:pt>
                <c:pt idx="5">
                  <c:v>19.8429302520197</c:v>
                </c:pt>
                <c:pt idx="6">
                  <c:v>11.905393802201235</c:v>
                </c:pt>
                <c:pt idx="7">
                  <c:v>22.94568137603063</c:v>
                </c:pt>
                <c:pt idx="8">
                  <c:v>16.033197652904796</c:v>
                </c:pt>
                <c:pt idx="9">
                  <c:v>16.19741636303412</c:v>
                </c:pt>
                <c:pt idx="10">
                  <c:v>16.594465463440283</c:v>
                </c:pt>
                <c:pt idx="11">
                  <c:v>18.955562763542005</c:v>
                </c:pt>
                <c:pt idx="12">
                  <c:v>16.3613298800148</c:v>
                </c:pt>
                <c:pt idx="13">
                  <c:v>14.068678459937562</c:v>
                </c:pt>
                <c:pt idx="14">
                  <c:v>16.83952368288863</c:v>
                </c:pt>
                <c:pt idx="15">
                  <c:v>12.70316303380936</c:v>
                </c:pt>
                <c:pt idx="16">
                  <c:v>18.41137169723131</c:v>
                </c:pt>
                <c:pt idx="17">
                  <c:v>16.52308543528167</c:v>
                </c:pt>
                <c:pt idx="18">
                  <c:v>20.358087876888796</c:v>
                </c:pt>
                <c:pt idx="19">
                  <c:v>17.19224003874882</c:v>
                </c:pt>
                <c:pt idx="20">
                  <c:v>15.484078405220666</c:v>
                </c:pt>
                <c:pt idx="21">
                  <c:v>18.16789043634526</c:v>
                </c:pt>
                <c:pt idx="22">
                  <c:v>15.211604780113486</c:v>
                </c:pt>
                <c:pt idx="23">
                  <c:v>14.472528166509527</c:v>
                </c:pt>
                <c:pt idx="24">
                  <c:v>22.709326847358646</c:v>
                </c:pt>
              </c:numCache>
            </c:numRef>
          </c:val>
        </c:ser>
        <c:ser>
          <c:idx val="4"/>
          <c:order val="4"/>
          <c:tx>
            <c:strRef>
              <c:strCache>
                <c:ptCount val="1"/>
                <c:pt idx="0">
                  <c:v>Dental &amp; Oral Hygiene</c:v>
                </c:pt>
              </c:strCache>
            </c:strRef>
          </c:tx>
          <c:spPr>
            <a:solidFill>
              <a:srgbClr val="A35313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9.778463384325319</c:v>
                </c:pt>
                <c:pt idx="1">
                  <c:v>11.458659567804572</c:v>
                </c:pt>
                <c:pt idx="2">
                  <c:v>12.220736440429208</c:v>
                </c:pt>
                <c:pt idx="3">
                  <c:v>8.296310008638775</c:v>
                </c:pt>
                <c:pt idx="4">
                  <c:v>10.006528179976899</c:v>
                </c:pt>
                <c:pt idx="5">
                  <c:v>10.565193601338954</c:v>
                </c:pt>
                <c:pt idx="6">
                  <c:v>14.960580750917183</c:v>
                </c:pt>
                <c:pt idx="7">
                  <c:v>13.553407652163171</c:v>
                </c:pt>
                <c:pt idx="8">
                  <c:v>12.59581328963366</c:v>
                </c:pt>
                <c:pt idx="9">
                  <c:v>11.516348838309751</c:v>
                </c:pt>
                <c:pt idx="10">
                  <c:v>10.513562014927933</c:v>
                </c:pt>
                <c:pt idx="11">
                  <c:v>9.063682560276787</c:v>
                </c:pt>
                <c:pt idx="12">
                  <c:v>16.986098631005863</c:v>
                </c:pt>
                <c:pt idx="13">
                  <c:v>11.2837707634794</c:v>
                </c:pt>
                <c:pt idx="14">
                  <c:v>13.592914339745294</c:v>
                </c:pt>
                <c:pt idx="15">
                  <c:v>11.641233217716298</c:v>
                </c:pt>
                <c:pt idx="16">
                  <c:v>8.5265733688928</c:v>
                </c:pt>
                <c:pt idx="17">
                  <c:v>8.080994374851363</c:v>
                </c:pt>
                <c:pt idx="18">
                  <c:v>11.55124991295871</c:v>
                </c:pt>
                <c:pt idx="19">
                  <c:v>8.998903816249012</c:v>
                </c:pt>
                <c:pt idx="20">
                  <c:v>9.989520565889443</c:v>
                </c:pt>
                <c:pt idx="21">
                  <c:v>10.230527320716574</c:v>
                </c:pt>
                <c:pt idx="22">
                  <c:v>10.088963942105503</c:v>
                </c:pt>
                <c:pt idx="23">
                  <c:v>14.131726973483763</c:v>
                </c:pt>
                <c:pt idx="24">
                  <c:v>8.716531178121869</c:v>
                </c:pt>
              </c:numCache>
            </c:numRef>
          </c:val>
        </c:ser>
        <c:ser>
          <c:idx val="5"/>
          <c:order val="5"/>
          <c:tx>
            <c:strRef>
              <c:strCache>
                <c:ptCount val="1"/>
                <c:pt idx="0">
                  <c:v>Body &amp; Coat Odor Management</c:v>
                </c:pt>
              </c:strCache>
            </c:strRef>
          </c:tx>
          <c:spPr>
            <a:solidFill>
              <a:srgbClr val="808080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5.450572052963105</c:v>
                </c:pt>
                <c:pt idx="1">
                  <c:v>12.590040714062011</c:v>
                </c:pt>
                <c:pt idx="2">
                  <c:v>8.258047682723982</c:v>
                </c:pt>
                <c:pt idx="3">
                  <c:v>6.2661977045538695</c:v>
                </c:pt>
                <c:pt idx="4">
                  <c:v>5.8519274869854865</c:v>
                </c:pt>
                <c:pt idx="5">
                  <c:v>9.324406965142105</c:v>
                </c:pt>
                <c:pt idx="6">
                  <c:v>11.91476075247834</c:v>
                </c:pt>
                <c:pt idx="7">
                  <c:v>9.545131704906895</c:v>
                </c:pt>
                <c:pt idx="8">
                  <c:v>7.394142834487499</c:v>
                </c:pt>
                <c:pt idx="9">
                  <c:v>9.127904225618702</c:v>
                </c:pt>
                <c:pt idx="10">
                  <c:v>9.034485123504064</c:v>
                </c:pt>
                <c:pt idx="11">
                  <c:v>10.687641907233216</c:v>
                </c:pt>
                <c:pt idx="12">
                  <c:v>11.654950050214067</c:v>
                </c:pt>
                <c:pt idx="13">
                  <c:v>10.089798435271899</c:v>
                </c:pt>
                <c:pt idx="14">
                  <c:v>8.786159619419081</c:v>
                </c:pt>
                <c:pt idx="15">
                  <c:v>9.967659410146258</c:v>
                </c:pt>
                <c:pt idx="16">
                  <c:v>7.935443072777764</c:v>
                </c:pt>
                <c:pt idx="17">
                  <c:v>10.018491644785694</c:v>
                </c:pt>
                <c:pt idx="18">
                  <c:v>11.746657614372259</c:v>
                </c:pt>
                <c:pt idx="19">
                  <c:v>7.0993375554009805</c:v>
                </c:pt>
                <c:pt idx="20">
                  <c:v>8.242789434825065</c:v>
                </c:pt>
                <c:pt idx="21">
                  <c:v>11.621658617397653</c:v>
                </c:pt>
                <c:pt idx="22">
                  <c:v>8.022412443305708</c:v>
                </c:pt>
                <c:pt idx="23">
                  <c:v>10.968347369039165</c:v>
                </c:pt>
                <c:pt idx="24">
                  <c:v>9.439972325744042</c:v>
                </c:pt>
              </c:numCache>
            </c:numRef>
          </c:val>
        </c:ser>
        <c:ser>
          <c:idx val="6"/>
          <c:order val="6"/>
          <c:tx>
            <c:strRef>
              <c:strCache>
                <c:ptCount val="1"/>
                <c:pt idx="0">
                  <c:v>Ear &amp; Eye-Area Hygiene</c:v>
                </c:pt>
              </c:strCache>
            </c:strRef>
          </c:tx>
          <c:spPr>
            <a:solidFill>
              <a:srgbClr val="0E72AE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4.499292968247846</c:v>
                </c:pt>
                <c:pt idx="1">
                  <c:v>9.039304729094894</c:v>
                </c:pt>
                <c:pt idx="2">
                  <c:v>5.779328789015361</c:v>
                </c:pt>
                <c:pt idx="3">
                  <c:v>7.534246575342467</c:v>
                </c:pt>
                <c:pt idx="4">
                  <c:v>7.6095144038432565</c:v>
                </c:pt>
                <c:pt idx="5">
                  <c:v>9.021854581737424</c:v>
                </c:pt>
                <c:pt idx="6">
                  <c:v>7.8807274998048555</c:v>
                </c:pt>
                <c:pt idx="7">
                  <c:v>6.412315103603743</c:v>
                </c:pt>
                <c:pt idx="8">
                  <c:v>7.928054131204738</c:v>
                </c:pt>
                <c:pt idx="9">
                  <c:v>9.655515071215635</c:v>
                </c:pt>
                <c:pt idx="10">
                  <c:v>6.1014779338644605</c:v>
                </c:pt>
                <c:pt idx="11">
                  <c:v>6.732619742674885</c:v>
                </c:pt>
                <c:pt idx="12">
                  <c:v>7.800623711612663</c:v>
                </c:pt>
                <c:pt idx="13">
                  <c:v>7.691833352603382</c:v>
                </c:pt>
                <c:pt idx="14">
                  <c:v>8.296398073456844</c:v>
                </c:pt>
                <c:pt idx="15">
                  <c:v>7.871382370585923</c:v>
                </c:pt>
                <c:pt idx="16">
                  <c:v>6.116961315333646</c:v>
                </c:pt>
                <c:pt idx="17">
                  <c:v>6.4017006489062735</c:v>
                </c:pt>
                <c:pt idx="18">
                  <c:v>7.24009470092612</c:v>
                </c:pt>
                <c:pt idx="19">
                  <c:v>9.864561216946054</c:v>
                </c:pt>
                <c:pt idx="20">
                  <c:v>8.159668468811777</c:v>
                </c:pt>
                <c:pt idx="21">
                  <c:v>5.780381310720504</c:v>
                </c:pt>
                <c:pt idx="22">
                  <c:v>6.328927191909781</c:v>
                </c:pt>
                <c:pt idx="23">
                  <c:v>8.094471508865151</c:v>
                </c:pt>
                <c:pt idx="24">
                  <c:v>7.02406134746554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max val="100.0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42.xml><?xml version="1.0" encoding="utf-8"?>
<c:chartSpace xmlns:c="http://schemas.openxmlformats.org/drawingml/2006/chart" xmlns:a="http://schemas.openxmlformats.org/drawingml/2006/main" xmlns:r="http://schemas.openxmlformats.org/officeDocument/2006/relationships">
  <c:chart>
    <c:autoTitleDeleted val="1"/>
    <c:plotArea>
      <c:layout/>
      <c:bubbleChart>
        <c:varyColors val="0"/>
        <c:ser>
          <c:idx val="0"/>
          <c:order val="0"/>
          <c:tx>
            <c:strRef>
              <c:strCache>
                <c:ptCount val="1"/>
                <c:pt idx="0">
                  <c:v>Cleansing &amp; General Hygiene</c:v>
                </c:pt>
              </c:strCache>
            </c:strRef>
          </c:tx>
          <c:spPr>
            <a:solidFill>
              <a:srgbClr val="3D85C6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100.54581662729633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195.49532544247302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1595.682</c:v>
                </c:pt>
              </c:numCache>
            </c:numRef>
          </c:bubbleSize>
          <c:bubble3D val="0"/>
        </c:ser>
        <c:ser>
          <c:idx val="1"/>
          <c:order val="1"/>
          <c:tx>
            <c:strRef>
              <c:strCache>
                <c:ptCount val="1"/>
                <c:pt idx="0">
                  <c:v>Moisturizing &amp; Skin Barrier Care</c:v>
                </c:pt>
              </c:strCache>
            </c:strRef>
          </c:tx>
          <c:spPr>
            <a:solidFill>
              <a:srgbClr val="9E7E0A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98.72156901234293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97.79707312740113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789.921</c:v>
                </c:pt>
              </c:numCache>
            </c:numRef>
          </c:bubbleSize>
          <c:bubble3D val="0"/>
        </c:ser>
        <c:ser>
          <c:idx val="2"/>
          <c:order val="2"/>
          <c:tx>
            <c:strRef>
              <c:strCache>
                <c:ptCount val="1"/>
                <c:pt idx="0">
                  <c:v>Skin Soothing &amp; Comfort</c:v>
                </c:pt>
              </c:strCache>
            </c:strRef>
          </c:tx>
          <c:spPr>
            <a:solidFill>
              <a:srgbClr val="008189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101.32416690396605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91.14299038440187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747.264</c:v>
                </c:pt>
              </c:numCache>
            </c:numRef>
          </c:bubbleSize>
          <c:bubble3D val="0"/>
        </c:ser>
        <c:ser>
          <c:idx val="3"/>
          <c:order val="3"/>
          <c:tx>
            <c:strRef>
              <c:strCache>
                <c:ptCount val="1"/>
                <c:pt idx="0">
                  <c:v>Coat Conditioning &amp; Softening</c:v>
                </c:pt>
              </c:strCache>
            </c:strRef>
          </c:tx>
          <c:spPr>
            <a:solidFill>
              <a:srgbClr val="40315E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101.17657404309728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120.47633852235127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986.9259999999999</c:v>
                </c:pt>
              </c:numCache>
            </c:numRef>
          </c:bubbleSize>
          <c:bubble3D val="0"/>
        </c:ser>
        <c:ser>
          <c:idx val="4"/>
          <c:order val="4"/>
          <c:tx>
            <c:strRef>
              <c:strCache>
                <c:ptCount val="1"/>
                <c:pt idx="0">
                  <c:v>Dental &amp; Oral Hygiene</c:v>
                </c:pt>
              </c:strCache>
            </c:strRef>
          </c:tx>
          <c:spPr>
            <a:solidFill>
              <a:srgbClr val="A35313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94.62379014562792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78.0451244698097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615.688</c:v>
                </c:pt>
              </c:numCache>
            </c:numRef>
          </c:bubbleSize>
          <c:bubble3D val="0"/>
        </c:ser>
        <c:ser>
          <c:idx val="5"/>
          <c:order val="5"/>
          <c:tx>
            <c:strRef>
              <c:strCache>
                <c:ptCount val="1"/>
                <c:pt idx="0">
                  <c:v>Body &amp; Coat Odor Management</c:v>
                </c:pt>
              </c:strCache>
            </c:strRef>
          </c:tx>
          <c:spPr>
            <a:solidFill>
              <a:srgbClr val="808080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101.18160085633238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66.52395016766228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544.971</c:v>
                </c:pt>
              </c:numCache>
            </c:numRef>
          </c:bubbleSize>
          <c:bubble3D val="0"/>
        </c:ser>
        <c:ser>
          <c:idx val="6"/>
          <c:order val="6"/>
          <c:tx>
            <c:strRef>
              <c:strCache>
                <c:ptCount val="1"/>
                <c:pt idx="0">
                  <c:v>Ear &amp; Eye-Area Hygiene</c:v>
                </c:pt>
              </c:strCache>
            </c:strRef>
          </c:tx>
          <c:spPr>
            <a:solidFill>
              <a:srgbClr val="0E72AE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101.76223775426334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50.51919788590082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415.24</c:v>
                </c:pt>
              </c:numCache>
            </c:numRef>
          </c:bubbleSize>
          <c:bubble3D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bubbleScale val="100"/>
        <c:showNegBubbles val="0"/>
        <c:axId val="-2115720072"/>
        <c:axId val="-2115723560"/>
      </c:bubbleChart>
      <c:valAx>
        <c:axId val="-2115720072"/>
        <c:scaling>
          <c:orientation val="minMax"/>
        </c:scaling>
        <c:delete val="0"/>
        <c:axPos val="b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CAGR Index (100 = segment average growth)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3560"/>
        <c:crosses val="autoZero"/>
        <c:crossBetween val="midCat"/>
      </c:valAx>
      <c:valAx>
        <c:axId val="-2115723560"/>
        <c:scaling>
          <c:orientation val="minMax"/>
        </c:scaling>
        <c:delete val="0"/>
        <c:axPos val="l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Market Share Index (100 = equal share)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0072"/>
        <c:crosses val="autoZero"/>
        <c:crossBetween val="midCat"/>
      </c:valAx>
    </c:plotArea>
    <c:legend>
      <c:legendPos val="b"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4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880.335</c:v>
                </c:pt>
                <c:pt idx="2">
                  <c:v>990.308</c:v>
                </c:pt>
                <c:pt idx="3">
                  <c:v>1114.8229999999999</c:v>
                </c:pt>
                <c:pt idx="4">
                  <c:v>1254.876</c:v>
                </c:pt>
                <c:pt idx="5">
                  <c:v>1415.138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880.335</c:v>
                </c:pt>
                <c:pt idx="1">
                  <c:v>109.97299999999996</c:v>
                </c:pt>
                <c:pt idx="2">
                  <c:v>124.51499999999987</c:v>
                </c:pt>
                <c:pt idx="3">
                  <c:v>140.0530000000001</c:v>
                </c:pt>
                <c:pt idx="4">
                  <c:v>160.26199999999994</c:v>
                </c:pt>
                <c:pt idx="5">
                  <c:v>180.5440000000001</c:v>
                </c:pt>
                <c:pt idx="6">
                  <c:v>1595.682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4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440.39</c:v>
                </c:pt>
                <c:pt idx="2">
                  <c:v>494.741</c:v>
                </c:pt>
                <c:pt idx="3">
                  <c:v>555.999</c:v>
                </c:pt>
                <c:pt idx="4">
                  <c:v>624.2470000000001</c:v>
                </c:pt>
                <c:pt idx="5">
                  <c:v>702.381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440.39</c:v>
                </c:pt>
                <c:pt idx="1">
                  <c:v>54.351</c:v>
                </c:pt>
                <c:pt idx="2">
                  <c:v>61.25800000000004</c:v>
                </c:pt>
                <c:pt idx="3">
                  <c:v>68.24800000000005</c:v>
                </c:pt>
                <c:pt idx="4">
                  <c:v>78.1339999999999</c:v>
                </c:pt>
                <c:pt idx="5">
                  <c:v>87.54000000000008</c:v>
                </c:pt>
                <c:pt idx="6">
                  <c:v>789.921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4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410.426</c:v>
                </c:pt>
                <c:pt idx="2">
                  <c:v>462.428</c:v>
                </c:pt>
                <c:pt idx="3">
                  <c:v>521.033</c:v>
                </c:pt>
                <c:pt idx="4">
                  <c:v>586.981</c:v>
                </c:pt>
                <c:pt idx="5">
                  <c:v>662.205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410.426</c:v>
                </c:pt>
                <c:pt idx="1">
                  <c:v>52.00200000000001</c:v>
                </c:pt>
                <c:pt idx="2">
                  <c:v>58.60500000000002</c:v>
                </c:pt>
                <c:pt idx="3">
                  <c:v>65.94799999999998</c:v>
                </c:pt>
                <c:pt idx="4">
                  <c:v>75.22400000000005</c:v>
                </c:pt>
                <c:pt idx="5">
                  <c:v>85.05899999999997</c:v>
                </c:pt>
                <c:pt idx="6">
                  <c:v>747.264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4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542.5169999999999</c:v>
                </c:pt>
                <c:pt idx="2">
                  <c:v>611.452</c:v>
                </c:pt>
                <c:pt idx="3">
                  <c:v>689.2470000000001</c:v>
                </c:pt>
                <c:pt idx="4">
                  <c:v>776.133</c:v>
                </c:pt>
                <c:pt idx="5">
                  <c:v>875.319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542.5169999999999</c:v>
                </c:pt>
                <c:pt idx="1">
                  <c:v>68.93500000000006</c:v>
                </c:pt>
                <c:pt idx="2">
                  <c:v>77.79500000000007</c:v>
                </c:pt>
                <c:pt idx="3">
                  <c:v>86.88599999999997</c:v>
                </c:pt>
                <c:pt idx="4">
                  <c:v>99.18599999999992</c:v>
                </c:pt>
                <c:pt idx="5">
                  <c:v>111.60699999999997</c:v>
                </c:pt>
                <c:pt idx="6">
                  <c:v>986.9259999999999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4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351.445</c:v>
                </c:pt>
                <c:pt idx="2">
                  <c:v>392.881</c:v>
                </c:pt>
                <c:pt idx="3">
                  <c:v>439.33500000000004</c:v>
                </c:pt>
                <c:pt idx="4">
                  <c:v>491.02700000000004</c:v>
                </c:pt>
                <c:pt idx="5">
                  <c:v>550.06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351.445</c:v>
                </c:pt>
                <c:pt idx="1">
                  <c:v>41.43599999999998</c:v>
                </c:pt>
                <c:pt idx="2">
                  <c:v>46.454000000000065</c:v>
                </c:pt>
                <c:pt idx="3">
                  <c:v>51.69200000000001</c:v>
                </c:pt>
                <c:pt idx="4">
                  <c:v>59.0329999999999</c:v>
                </c:pt>
                <c:pt idx="5">
                  <c:v>65.62800000000004</c:v>
                </c:pt>
                <c:pt idx="6">
                  <c:v>615.688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4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299.56399999999996</c:v>
                </c:pt>
                <c:pt idx="2">
                  <c:v>337.52</c:v>
                </c:pt>
                <c:pt idx="3">
                  <c:v>380.384</c:v>
                </c:pt>
                <c:pt idx="4">
                  <c:v>428.341</c:v>
                </c:pt>
                <c:pt idx="5">
                  <c:v>483.313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299.56399999999996</c:v>
                </c:pt>
                <c:pt idx="1">
                  <c:v>37.95600000000002</c:v>
                </c:pt>
                <c:pt idx="2">
                  <c:v>42.86400000000003</c:v>
                </c:pt>
                <c:pt idx="3">
                  <c:v>47.956999999999994</c:v>
                </c:pt>
                <c:pt idx="4">
                  <c:v>54.97199999999998</c:v>
                </c:pt>
                <c:pt idx="5">
                  <c:v>61.658000000000015</c:v>
                </c:pt>
                <c:pt idx="6">
                  <c:v>544.971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4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227.493</c:v>
                </c:pt>
                <c:pt idx="2">
                  <c:v>256.459</c:v>
                </c:pt>
                <c:pt idx="3">
                  <c:v>289.201</c:v>
                </c:pt>
                <c:pt idx="4">
                  <c:v>325.866</c:v>
                </c:pt>
                <c:pt idx="5">
                  <c:v>367.955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227.493</c:v>
                </c:pt>
                <c:pt idx="1">
                  <c:v>28.966000000000008</c:v>
                </c:pt>
                <c:pt idx="2">
                  <c:v>32.74200000000002</c:v>
                </c:pt>
                <c:pt idx="3">
                  <c:v>36.664999999999964</c:v>
                </c:pt>
                <c:pt idx="4">
                  <c:v>42.089</c:v>
                </c:pt>
                <c:pt idx="5">
                  <c:v>47.285000000000025</c:v>
                </c:pt>
                <c:pt idx="6">
                  <c:v>415.24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5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Cleansing &amp; General Hygiene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27.925256507204516</c:v>
                </c:pt>
                <c:pt idx="1">
                  <c:v>27.927903634638994</c:v>
                </c:pt>
                <c:pt idx="2">
                  <c:v>28.015594944389548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Coat Conditioning &amp; Softening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17.123441638670915</c:v>
                </c:pt>
                <c:pt idx="1">
                  <c:v>17.210905503193036</c:v>
                </c:pt>
                <c:pt idx="2">
                  <c:v>17.32758723610757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Moisturizing &amp; Skin Barrier Care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14.029652770029873</c:v>
                </c:pt>
                <c:pt idx="1">
                  <c:v>13.97101044677159</c:v>
                </c:pt>
                <c:pt idx="2">
                  <c:v>13.868745009386041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Skin Soothing &amp; Comfort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12.980483551720862</c:v>
                </c:pt>
                <c:pt idx="1">
                  <c:v>13.020427197771692</c:v>
                </c:pt>
                <c:pt idx="2">
                  <c:v>13.119810551553702</c:v>
                </c:pt>
              </c:numCache>
            </c:numRef>
          </c:val>
        </c:ser>
        <c:ser>
          <c:idx val="4"/>
          <c:order val="4"/>
          <c:tx>
            <c:strRef>
              <c:strCache>
                <c:ptCount val="1"/>
                <c:pt idx="0">
                  <c:v>Dental &amp; Oral Hygiene</c:v>
                </c:pt>
              </c:strCache>
            </c:strRef>
          </c:tx>
          <c:spPr>
            <a:solidFill>
              <a:srgbClr val="A35313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11.312969781116605</c:v>
                </c:pt>
                <c:pt idx="1">
                  <c:v>11.149303495687098</c:v>
                </c:pt>
                <c:pt idx="2">
                  <c:v>10.809713727497904</c:v>
                </c:pt>
              </c:numCache>
            </c:numRef>
          </c:val>
        </c:ser>
        <c:ser>
          <c:idx val="5"/>
          <c:order val="5"/>
          <c:tx>
            <c:strRef>
              <c:strCache>
                <c:ptCount val="1"/>
                <c:pt idx="0">
                  <c:v>Body &amp; Coat Odor Management</c:v>
                </c:pt>
              </c:strCache>
            </c:strRef>
          </c:tx>
          <c:spPr>
            <a:solidFill>
              <a:srgbClr val="808080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1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9.451696480593053</c:v>
                </c:pt>
                <c:pt idx="1">
                  <c:v>9.503421452523181</c:v>
                </c:pt>
                <c:pt idx="2">
                  <c:v>9.568126225926541</c:v>
                </c:pt>
              </c:numCache>
            </c:numRef>
          </c:val>
        </c:ser>
        <c:ser>
          <c:idx val="6"/>
          <c:order val="6"/>
          <c:tx>
            <c:strRef>
              <c:strCache>
                <c:ptCount val="1"/>
                <c:pt idx="0">
                  <c:v>Ear &amp; Eye-Area Hygiene</c:v>
                </c:pt>
              </c:strCache>
            </c:strRef>
          </c:tx>
          <c:spPr>
            <a:solidFill>
              <a:srgbClr val="0E72AE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1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7.17649927066417</c:v>
                </c:pt>
                <c:pt idx="1">
                  <c:v>7.217028269414404</c:v>
                </c:pt>
                <c:pt idx="2">
                  <c:v>7.290422305138692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5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Dogs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MMM&quot;;&quot;MMMM&quot;;&quot;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MMMM&quot;;&quot;MMMM&quot;;&quot;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MMMM&quot;;&quot;MMMM&quot;;&quot;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MMMM&quot;;&quot;MMMM&quot;;&quot;M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MMMM&quot;;&quot;MMMM&quot;;&quot;M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MMMM&quot;;&quot;MMMM&quot;;&quot;MMMM&quot;" sourceLinked="0"/>
              <c:spPr>
                <a:blipFill>
                  <a:blip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MMMM&quot;;&quot;MMMM&quot;;&quot;MMMM&quot;" sourceLinked="0"/>
              <c:spPr>
                <a:blipFill>
                  <a:blip r:embed="rId1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MMMM&quot;;&quot;MMMM&quot;;&quot;MMMM&quot;" sourceLinked="0"/>
              <c:spPr>
                <a:blipFill>
                  <a:blip r:embed="rId1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MMMM&quot;;&quot;MMMM&quot;;&quot;MMMM&quot;" sourceLinked="0"/>
              <c:spPr>
                <a:blipFill>
                  <a:blip r:embed="rId1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MMMM&quot;;&quot;MMMM&quot;;&quot;MMMM&quot;" sourceLinked="0"/>
              <c:spPr>
                <a:blipFill>
                  <a:blip r:embed="rId1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MMMM&quot;;&quot;MMMM&quot;;&quot;MMMM&quot;" sourceLinked="0"/>
              <c:spPr>
                <a:blipFill>
                  <a:blip r:embed="rId1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MMMM&quot;;&quot;MMMM&quot;;&quot;MMMM&quot;" sourceLinked="0"/>
              <c:spPr>
                <a:blipFill>
                  <a:blip r:embed="rId2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MMMM&quot;;&quot;MMMM&quot;;&quot;MMMM&quot;" sourceLinked="0"/>
              <c:spPr>
                <a:blipFill>
                  <a:blip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MMMM&quot;;&quot;MMMM&quot;;&quot;MMMM&quot;" sourceLinked="0"/>
              <c:spPr>
                <a:blipFill>
                  <a:blip r:embed="rId2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MMMM&quot;;&quot;MMMM&quot;;&quot;MMMM&quot;" sourceLinked="0"/>
              <c:spPr>
                <a:blipFill>
                  <a:blip r:embed="rId2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MMMM&quot;;&quot;MMMM&quot;;&quot;M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MMMM&quot;;&quot;MMMM&quot;;&quot;MMMM&quot;" sourceLinked="0"/>
              <c:spPr>
                <a:blipFill>
                  <a:blip r:embed="rId2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MMMM&quot;;&quot;MMMM&quot;;&quot;MMMM&quot;" sourceLinked="0"/>
              <c:spPr>
                <a:blipFill>
                  <a:blip r:embed="rId2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60.23223926643243</c:v>
                </c:pt>
                <c:pt idx="1">
                  <c:v>77.16791293113573</c:v>
                </c:pt>
                <c:pt idx="2">
                  <c:v>73.0448111669167</c:v>
                </c:pt>
                <c:pt idx="3">
                  <c:v>76.61432141424737</c:v>
                </c:pt>
                <c:pt idx="4">
                  <c:v>61.208844550826036</c:v>
                </c:pt>
                <c:pt idx="5">
                  <c:v>72.10930333606915</c:v>
                </c:pt>
                <c:pt idx="6">
                  <c:v>74.46569354461009</c:v>
                </c:pt>
                <c:pt idx="7">
                  <c:v>67.99765301710828</c:v>
                </c:pt>
                <c:pt idx="8">
                  <c:v>70.3288134697222</c:v>
                </c:pt>
                <c:pt idx="9">
                  <c:v>75.747358957069</c:v>
                </c:pt>
                <c:pt idx="10">
                  <c:v>77.86464584119148</c:v>
                </c:pt>
                <c:pt idx="11">
                  <c:v>72.823207585931</c:v>
                </c:pt>
                <c:pt idx="12">
                  <c:v>72.67009175863673</c:v>
                </c:pt>
                <c:pt idx="13">
                  <c:v>56.61111796263181</c:v>
                </c:pt>
                <c:pt idx="14">
                  <c:v>59.21638731504806</c:v>
                </c:pt>
                <c:pt idx="15">
                  <c:v>72.5961273238815</c:v>
                </c:pt>
                <c:pt idx="16">
                  <c:v>75.88120140332354</c:v>
                </c:pt>
                <c:pt idx="17">
                  <c:v>70.03528458204514</c:v>
                </c:pt>
                <c:pt idx="18">
                  <c:v>66.36811503377201</c:v>
                </c:pt>
                <c:pt idx="19">
                  <c:v>72.70803743763429</c:v>
                </c:pt>
                <c:pt idx="20">
                  <c:v>78.99310972284081</c:v>
                </c:pt>
                <c:pt idx="21">
                  <c:v>74.8230590902789</c:v>
                </c:pt>
                <c:pt idx="22">
                  <c:v>72.77764549990682</c:v>
                </c:pt>
                <c:pt idx="23">
                  <c:v>62.582222719562495</c:v>
                </c:pt>
                <c:pt idx="24">
                  <c:v>67.53159552570399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Cats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2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2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&quot;;&quot;MMMM&quot;;&quot;MMMM&quot;" sourceLinked="0"/>
              <c:spPr>
                <a:blipFill>
                  <a:blip r:embed="rId2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&quot;;&quot;MMMM&quot;;&quot;MMMM&quot;" sourceLinked="0"/>
              <c:spPr>
                <a:blipFill>
                  <a:blip r:embed="rId2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&quot;;&quot;MMMM&quot;;&quot;MMMM&quot;" sourceLinked="0"/>
              <c:spPr>
                <a:blipFill>
                  <a:blip r:embed="rId3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MMM&quot;;&quot;MMMM&quot;;&quot;MMMM&quot;" sourceLinked="0"/>
              <c:spPr>
                <a:blipFill>
                  <a:blip r:embed="rId3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MMM&quot;;&quot;MMMM&quot;;&quot;MMMM&quot;" sourceLinked="0"/>
              <c:spPr>
                <a:blipFill>
                  <a:blip r:embed="rId3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MMMM&quot;;&quot;MMMM&quot;;&quot;MMMM&quot;" sourceLinked="0"/>
              <c:spPr>
                <a:blipFill>
                  <a:blip r:embed="rId3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MMMM&quot;;&quot;MMMM&quot;;&quot;MMMM&quot;" sourceLinked="0"/>
              <c:spPr>
                <a:blipFill>
                  <a:blip r:embed="rId3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MMMM&quot;;&quot;MMMM&quot;;&quot;MMMM&quot;" sourceLinked="0"/>
              <c:spPr>
                <a:blipFill>
                  <a:blip r:embed="rId3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MMMM&quot;;&quot;MMMM&quot;;&quot;MMMM&quot;" sourceLinked="0"/>
              <c:spPr>
                <a:blipFill>
                  <a:blip r:embed="rId3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MMMM&quot;;&quot;MMMM&quot;;&quot;MMMM&quot;" sourceLinked="0"/>
              <c:spPr>
                <a:blipFill>
                  <a:blip r:embed="rId3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MMMM&quot;;&quot;MMMM&quot;;&quot;MMMM&quot;" sourceLinked="0"/>
              <c:spPr>
                <a:blipFill>
                  <a:blip r:embed="rId3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MMMM&quot;;&quot;MMMM&quot;;&quot;MMMM&quot;" sourceLinked="0"/>
              <c:spPr>
                <a:blipFill>
                  <a:blip r:embed="rId3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MMMM&quot;;&quot;MMMM&quot;;&quot;MMMM&quot;" sourceLinked="0"/>
              <c:spPr>
                <a:blipFill>
                  <a:blip r:embed="rId4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MMMM&quot;;&quot;MMMM&quot;;&quot;MMMM&quot;" sourceLinked="0"/>
              <c:spPr>
                <a:blipFill>
                  <a:blip r:embed="rId4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MMMM&quot;;&quot;MMMM&quot;;&quot;MMMM&quot;" sourceLinked="0"/>
              <c:spPr>
                <a:blipFill>
                  <a:blip r:embed="rId4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MMMM&quot;;&quot;MMMM&quot;;&quot;MMMM&quot;" sourceLinked="0"/>
              <c:spPr>
                <a:blipFill>
                  <a:blip r:embed="rId4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MMMM&quot;;&quot;MMMM&quot;;&quot;MMMM&quot;" sourceLinked="0"/>
              <c:spPr>
                <a:blipFill>
                  <a:blip r:embed="rId3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MMMM&quot;;&quot;MMMM&quot;;&quot;MMMM&quot;" sourceLinked="0"/>
              <c:spPr>
                <a:blipFill>
                  <a:blip r:embed="rId4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MMMM&quot;;&quot;MMMM&quot;;&quot;MMMM&quot;" sourceLinked="0"/>
              <c:spPr>
                <a:blipFill>
                  <a:blip r:embed="rId4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MMMM&quot;;&quot;MMMM&quot;;&quot;MMMM&quot;" sourceLinked="0"/>
              <c:spPr>
                <a:blipFill>
                  <a:blip r:embed="rId3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MMMM&quot;;&quot;MMMM&quot;;&quot;MMMM&quot;" sourceLinked="0"/>
              <c:spPr>
                <a:blipFill>
                  <a:blip r:embed="rId4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MMMM&quot;;&quot;MMMM&quot;;&quot;MMMM&quot;" sourceLinked="0"/>
              <c:spPr>
                <a:blipFill>
                  <a:blip r:embed="rId4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39.76776073356756</c:v>
                </c:pt>
                <c:pt idx="1">
                  <c:v>22.83208706886427</c:v>
                </c:pt>
                <c:pt idx="2">
                  <c:v>26.955188833083298</c:v>
                </c:pt>
                <c:pt idx="3">
                  <c:v>23.385678585752633</c:v>
                </c:pt>
                <c:pt idx="4">
                  <c:v>38.791155449173964</c:v>
                </c:pt>
                <c:pt idx="5">
                  <c:v>27.890696663930864</c:v>
                </c:pt>
                <c:pt idx="6">
                  <c:v>25.5343064553899</c:v>
                </c:pt>
                <c:pt idx="7">
                  <c:v>32.00234698289173</c:v>
                </c:pt>
                <c:pt idx="8">
                  <c:v>29.671186530277804</c:v>
                </c:pt>
                <c:pt idx="9">
                  <c:v>24.252641042930996</c:v>
                </c:pt>
                <c:pt idx="10">
                  <c:v>22.135354158808536</c:v>
                </c:pt>
                <c:pt idx="11">
                  <c:v>27.176792414069002</c:v>
                </c:pt>
                <c:pt idx="12">
                  <c:v>27.32990824136327</c:v>
                </c:pt>
                <c:pt idx="13">
                  <c:v>43.38888203736819</c:v>
                </c:pt>
                <c:pt idx="14">
                  <c:v>40.783612684951954</c:v>
                </c:pt>
                <c:pt idx="15">
                  <c:v>27.403872676118503</c:v>
                </c:pt>
                <c:pt idx="16">
                  <c:v>24.11879859667646</c:v>
                </c:pt>
                <c:pt idx="17">
                  <c:v>29.964715417954853</c:v>
                </c:pt>
                <c:pt idx="18">
                  <c:v>33.63188496622798</c:v>
                </c:pt>
                <c:pt idx="19">
                  <c:v>27.291962562365708</c:v>
                </c:pt>
                <c:pt idx="20">
                  <c:v>21.006890277159197</c:v>
                </c:pt>
                <c:pt idx="21">
                  <c:v>25.176940909721086</c:v>
                </c:pt>
                <c:pt idx="22">
                  <c:v>27.22235450009317</c:v>
                </c:pt>
                <c:pt idx="23">
                  <c:v>37.417777280437505</c:v>
                </c:pt>
                <c:pt idx="24">
                  <c:v>32.46840447429601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max val="100.0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52.xml><?xml version="1.0" encoding="utf-8"?>
<c:chartSpace xmlns:c="http://schemas.openxmlformats.org/drawingml/2006/chart" xmlns:a="http://schemas.openxmlformats.org/drawingml/2006/main" xmlns:r="http://schemas.openxmlformats.org/officeDocument/2006/relationships">
  <c:chart>
    <c:autoTitleDeleted val="1"/>
    <c:plotArea>
      <c:layout/>
      <c:bubbleChart>
        <c:varyColors val="0"/>
        <c:ser>
          <c:idx val="0"/>
          <c:order val="0"/>
          <c:tx>
            <c:strRef>
              <c:strCache>
                <c:ptCount val="1"/>
                <c:pt idx="0">
                  <c:v>Dogs</c:v>
                </c:pt>
              </c:strCache>
            </c:strRef>
          </c:tx>
          <c:spPr>
            <a:solidFill>
              <a:srgbClr val="3D85C6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99.17549261359355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140.51709725322817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3982.797</c:v>
                </c:pt>
              </c:numCache>
            </c:numRef>
          </c:bubbleSize>
          <c:bubble3D val="0"/>
        </c:ser>
        <c:ser>
          <c:idx val="1"/>
          <c:order val="1"/>
          <c:tx>
            <c:strRef>
              <c:strCache>
                <c:ptCount val="1"/>
                <c:pt idx="0">
                  <c:v>Cats</c:v>
                </c:pt>
              </c:strCache>
            </c:strRef>
          </c:tx>
          <c:spPr>
            <a:solidFill>
              <a:srgbClr val="9E7E0A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101.93389970118648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59.48290274677183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1712.895</c:v>
                </c:pt>
              </c:numCache>
            </c:numRef>
          </c:bubbleSize>
          <c:bubble3D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bubbleScale val="100"/>
        <c:showNegBubbles val="0"/>
        <c:axId val="-2115720072"/>
        <c:axId val="-2115723560"/>
      </c:bubbleChart>
      <c:valAx>
        <c:axId val="-2115720072"/>
        <c:scaling>
          <c:orientation val="minMax"/>
        </c:scaling>
        <c:delete val="0"/>
        <c:axPos val="b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CAGR Index (100 = segment average growth)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3560"/>
        <c:crosses val="autoZero"/>
        <c:crossBetween val="midCat"/>
      </c:valAx>
      <c:valAx>
        <c:axId val="-2115723560"/>
        <c:scaling>
          <c:orientation val="minMax"/>
        </c:scaling>
        <c:delete val="0"/>
        <c:axPos val="l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Market Share Index (100 = equal share)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0072"/>
        <c:crosses val="autoZero"/>
        <c:crossBetween val="midCat"/>
      </c:valAx>
    </c:plotArea>
    <c:legend>
      <c:legendPos val="b"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5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2214.6710000000003</c:v>
                </c:pt>
                <c:pt idx="2">
                  <c:v>2488.69</c:v>
                </c:pt>
                <c:pt idx="3">
                  <c:v>2797.814</c:v>
                </c:pt>
                <c:pt idx="4">
                  <c:v>3143.8050000000003</c:v>
                </c:pt>
                <c:pt idx="5">
                  <c:v>3538.791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2214.6710000000003</c:v>
                </c:pt>
                <c:pt idx="1">
                  <c:v>274.0189999999998</c:v>
                </c:pt>
                <c:pt idx="2">
                  <c:v>309.1239999999998</c:v>
                </c:pt>
                <c:pt idx="3">
                  <c:v>345.99100000000044</c:v>
                </c:pt>
                <c:pt idx="4">
                  <c:v>394.9859999999999</c:v>
                </c:pt>
                <c:pt idx="5">
                  <c:v>444.00599999999986</c:v>
                </c:pt>
                <c:pt idx="6">
                  <c:v>3982.797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5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937.502</c:v>
                </c:pt>
                <c:pt idx="2">
                  <c:v>1057.1</c:v>
                </c:pt>
                <c:pt idx="3">
                  <c:v>1192.207</c:v>
                </c:pt>
                <c:pt idx="4">
                  <c:v>1343.665</c:v>
                </c:pt>
                <c:pt idx="5">
                  <c:v>1517.5810000000001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937.502</c:v>
                </c:pt>
                <c:pt idx="1">
                  <c:v>119.59799999999996</c:v>
                </c:pt>
                <c:pt idx="2">
                  <c:v>135.1070000000002</c:v>
                </c:pt>
                <c:pt idx="3">
                  <c:v>151.45799999999986</c:v>
                </c:pt>
                <c:pt idx="4">
                  <c:v>173.91600000000017</c:v>
                </c:pt>
                <c:pt idx="5">
                  <c:v>195.31399999999985</c:v>
                </c:pt>
                <c:pt idx="6">
                  <c:v>1712.895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5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Dogs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70.45289069053433</c:v>
                </c:pt>
                <c:pt idx="1">
                  <c:v>70.25854862661409</c:v>
                </c:pt>
                <c:pt idx="2">
                  <c:v>69.92648127742862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Cats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29.547109309465664</c:v>
                </c:pt>
                <c:pt idx="1">
                  <c:v>29.741451373385914</c:v>
                </c:pt>
                <c:pt idx="2">
                  <c:v>30.073518722571375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5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Liquid, Gel &amp; Cream Products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61.140629017053726</c:v>
                </c:pt>
                <c:pt idx="1">
                  <c:v>61.96609638648554</c:v>
                </c:pt>
                <c:pt idx="2">
                  <c:v>63.567585194847545</c:v>
                </c:pt>
                <c:pt idx="3">
                  <c:v>62.37697078152479</c:v>
                </c:pt>
                <c:pt idx="4">
                  <c:v>67.07786555972149</c:v>
                </c:pt>
                <c:pt idx="5">
                  <c:v>67.206862145547</c:v>
                </c:pt>
                <c:pt idx="6">
                  <c:v>64.69697442782653</c:v>
                </c:pt>
                <c:pt idx="7">
                  <c:v>66.19263788524489</c:v>
                </c:pt>
                <c:pt idx="8">
                  <c:v>77.02829502953732</c:v>
                </c:pt>
                <c:pt idx="9">
                  <c:v>64.93280651114371</c:v>
                </c:pt>
                <c:pt idx="10">
                  <c:v>68.67949113602853</c:v>
                </c:pt>
                <c:pt idx="11">
                  <c:v>68.8921806072139</c:v>
                </c:pt>
                <c:pt idx="12">
                  <c:v>67.56699614144512</c:v>
                </c:pt>
                <c:pt idx="13">
                  <c:v>68.92867878862623</c:v>
                </c:pt>
                <c:pt idx="14">
                  <c:v>60.214370664755904</c:v>
                </c:pt>
                <c:pt idx="15">
                  <c:v>70.90685919581841</c:v>
                </c:pt>
                <c:pt idx="16">
                  <c:v>71.72645887864857</c:v>
                </c:pt>
                <c:pt idx="17">
                  <c:v>70.59474465875226</c:v>
                </c:pt>
                <c:pt idx="18">
                  <c:v>70.86776949423998</c:v>
                </c:pt>
                <c:pt idx="19">
                  <c:v>55.768845575354995</c:v>
                </c:pt>
                <c:pt idx="20">
                  <c:v>68.96255242731627</c:v>
                </c:pt>
                <c:pt idx="21">
                  <c:v>57.79115028096295</c:v>
                </c:pt>
                <c:pt idx="22">
                  <c:v>68.78062793824398</c:v>
                </c:pt>
                <c:pt idx="23">
                  <c:v>62.15958696182056</c:v>
                </c:pt>
                <c:pt idx="24">
                  <c:v>57.66001630807873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Solid, Powder &amp; Weight-Labeled Products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7.879852600908389</c:v>
                </c:pt>
                <c:pt idx="1">
                  <c:v>14.912108992679013</c:v>
                </c:pt>
                <c:pt idx="2">
                  <c:v>11.654981248980922</c:v>
                </c:pt>
                <c:pt idx="3">
                  <c:v>12.665453086914939</c:v>
                </c:pt>
                <c:pt idx="4">
                  <c:v>12.972013926084628</c:v>
                </c:pt>
                <c:pt idx="5">
                  <c:v>10.45897840290965</c:v>
                </c:pt>
                <c:pt idx="6">
                  <c:v>13.082711462203763</c:v>
                </c:pt>
                <c:pt idx="7">
                  <c:v>10.200111172873818</c:v>
                </c:pt>
                <c:pt idx="8">
                  <c:v>10.4100862991793</c:v>
                </c:pt>
                <c:pt idx="9">
                  <c:v>17.587422514550706</c:v>
                </c:pt>
                <c:pt idx="10">
                  <c:v>14.001760221284961</c:v>
                </c:pt>
                <c:pt idx="11">
                  <c:v>7.789118588357409</c:v>
                </c:pt>
                <c:pt idx="12">
                  <c:v>12.053491199323432</c:v>
                </c:pt>
                <c:pt idx="13">
                  <c:v>14.663511565706006</c:v>
                </c:pt>
                <c:pt idx="14">
                  <c:v>13.59724612736661</c:v>
                </c:pt>
                <c:pt idx="15">
                  <c:v>10.598757387064966</c:v>
                </c:pt>
                <c:pt idx="16">
                  <c:v>12.659745287376548</c:v>
                </c:pt>
                <c:pt idx="17">
                  <c:v>9.886040439142294</c:v>
                </c:pt>
                <c:pt idx="18">
                  <c:v>14.167460928829756</c:v>
                </c:pt>
                <c:pt idx="19">
                  <c:v>12.042085022233392</c:v>
                </c:pt>
                <c:pt idx="20">
                  <c:v>7.458552351101659</c:v>
                </c:pt>
                <c:pt idx="21">
                  <c:v>15.53246078627511</c:v>
                </c:pt>
                <c:pt idx="22">
                  <c:v>12.566011415882597</c:v>
                </c:pt>
                <c:pt idx="23">
                  <c:v>12.48975160096612</c:v>
                </c:pt>
                <c:pt idx="24">
                  <c:v>16.14231215897261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Wipes &amp; Other Count-Based Products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30.979518382037874</c:v>
                </c:pt>
                <c:pt idx="1">
                  <c:v>23.121794620835452</c:v>
                </c:pt>
                <c:pt idx="2">
                  <c:v>24.777433556171534</c:v>
                </c:pt>
                <c:pt idx="3">
                  <c:v>24.957576131560273</c:v>
                </c:pt>
                <c:pt idx="4">
                  <c:v>19.950120514193895</c:v>
                </c:pt>
                <c:pt idx="5">
                  <c:v>22.334159451543336</c:v>
                </c:pt>
                <c:pt idx="6">
                  <c:v>22.220314109969713</c:v>
                </c:pt>
                <c:pt idx="7">
                  <c:v>23.607250941881293</c:v>
                </c:pt>
                <c:pt idx="8">
                  <c:v>12.561618671283387</c:v>
                </c:pt>
                <c:pt idx="9">
                  <c:v>17.479770974305588</c:v>
                </c:pt>
                <c:pt idx="10">
                  <c:v>17.318748642686508</c:v>
                </c:pt>
                <c:pt idx="11">
                  <c:v>23.318700804428683</c:v>
                </c:pt>
                <c:pt idx="12">
                  <c:v>20.37951265923146</c:v>
                </c:pt>
                <c:pt idx="13">
                  <c:v>16.407809645667772</c:v>
                </c:pt>
                <c:pt idx="14">
                  <c:v>26.188383207877497</c:v>
                </c:pt>
                <c:pt idx="15">
                  <c:v>18.494383417116612</c:v>
                </c:pt>
                <c:pt idx="16">
                  <c:v>15.61379583397488</c:v>
                </c:pt>
                <c:pt idx="17">
                  <c:v>19.519214902105436</c:v>
                </c:pt>
                <c:pt idx="18">
                  <c:v>14.964769576930273</c:v>
                </c:pt>
                <c:pt idx="19">
                  <c:v>32.189069402411626</c:v>
                </c:pt>
                <c:pt idx="20">
                  <c:v>23.578895221582073</c:v>
                </c:pt>
                <c:pt idx="21">
                  <c:v>26.67638893276193</c:v>
                </c:pt>
                <c:pt idx="22">
                  <c:v>18.65336064587342</c:v>
                </c:pt>
                <c:pt idx="23">
                  <c:v>25.350661437213322</c:v>
                </c:pt>
                <c:pt idx="24">
                  <c:v>26.197671532948657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max val="100.0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57.xml><?xml version="1.0" encoding="utf-8"?>
<c:chartSpace xmlns:c="http://schemas.openxmlformats.org/drawingml/2006/chart" xmlns:a="http://schemas.openxmlformats.org/drawingml/2006/main" xmlns:r="http://schemas.openxmlformats.org/officeDocument/2006/relationships">
  <c:chart>
    <c:autoTitleDeleted val="1"/>
    <c:plotArea>
      <c:layout/>
      <c:bubbleChart>
        <c:varyColors val="0"/>
        <c:ser>
          <c:idx val="0"/>
          <c:order val="0"/>
          <c:tx>
            <c:strRef>
              <c:strCache>
                <c:ptCount val="1"/>
                <c:pt idx="0">
                  <c:v>Liquid, Gel &amp; Cream Products</c:v>
                </c:pt>
              </c:strCache>
            </c:strRef>
          </c:tx>
          <c:spPr>
            <a:solidFill>
              <a:srgbClr val="3D85C6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98.49742753907508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193.95042337487402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3650.612</c:v>
                </c:pt>
              </c:numCache>
            </c:numRef>
          </c:bubbleSize>
          <c:bubble3D val="0"/>
        </c:ser>
        <c:ser>
          <c:idx val="1"/>
          <c:order val="1"/>
          <c:tx>
            <c:strRef>
              <c:strCache>
                <c:ptCount val="1"/>
                <c:pt idx="0">
                  <c:v>Solid, Powder &amp; Weight-Labeled Products</c:v>
                </c:pt>
              </c:strCache>
            </c:strRef>
          </c:tx>
          <c:spPr>
            <a:solidFill>
              <a:srgbClr val="9E7E0A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102.84330580007624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38.236694646324715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737.893</c:v>
                </c:pt>
              </c:numCache>
            </c:numRef>
          </c:bubbleSize>
          <c:bubble3D val="0"/>
        </c:ser>
        <c:ser>
          <c:idx val="2"/>
          <c:order val="2"/>
          <c:tx>
            <c:strRef>
              <c:strCache>
                <c:ptCount val="1"/>
                <c:pt idx="0">
                  <c:v>Wipes &amp; Other Count-Based Products</c:v>
                </c:pt>
              </c:strCache>
            </c:strRef>
          </c:tx>
          <c:spPr>
            <a:solidFill>
              <a:srgbClr val="008189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102.64758253789827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67.81288197880127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1307.187</c:v>
                </c:pt>
              </c:numCache>
            </c:numRef>
          </c:bubbleSize>
          <c:bubble3D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bubbleScale val="100"/>
        <c:showNegBubbles val="0"/>
        <c:axId val="-2115720072"/>
        <c:axId val="-2115723560"/>
      </c:bubbleChart>
      <c:valAx>
        <c:axId val="-2115720072"/>
        <c:scaling>
          <c:orientation val="minMax"/>
        </c:scaling>
        <c:delete val="0"/>
        <c:axPos val="b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CAGR Index (100 = segment average growth)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3560"/>
        <c:crosses val="autoZero"/>
        <c:crossBetween val="midCat"/>
      </c:valAx>
      <c:valAx>
        <c:axId val="-2115723560"/>
        <c:scaling>
          <c:orientation val="minMax"/>
        </c:scaling>
        <c:delete val="0"/>
        <c:axPos val="l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Market Share Index (100 = equal share)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0072"/>
        <c:crosses val="autoZero"/>
        <c:crossBetween val="midCat"/>
      </c:valAx>
    </c:plotArea>
    <c:legend>
      <c:legendPos val="b"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5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2037.883</c:v>
                </c:pt>
                <c:pt idx="2">
                  <c:v>2288.147</c:v>
                </c:pt>
                <c:pt idx="3">
                  <c:v>2570.557</c:v>
                </c:pt>
                <c:pt idx="4">
                  <c:v>2886.309</c:v>
                </c:pt>
                <c:pt idx="5">
                  <c:v>3246.566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2037.883</c:v>
                </c:pt>
                <c:pt idx="1">
                  <c:v>250.2639999999999</c:v>
                </c:pt>
                <c:pt idx="2">
                  <c:v>282.40999999999985</c:v>
                </c:pt>
                <c:pt idx="3">
                  <c:v>315.7520000000004</c:v>
                </c:pt>
                <c:pt idx="4">
                  <c:v>360.2569999999996</c:v>
                </c:pt>
                <c:pt idx="5">
                  <c:v>404.0460000000003</c:v>
                </c:pt>
                <c:pt idx="6">
                  <c:v>3650.612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5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401.762</c:v>
                </c:pt>
                <c:pt idx="2">
                  <c:v>453.589</c:v>
                </c:pt>
                <c:pt idx="3">
                  <c:v>512.079</c:v>
                </c:pt>
                <c:pt idx="4">
                  <c:v>577.683</c:v>
                </c:pt>
                <c:pt idx="5">
                  <c:v>652.8820000000001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401.762</c:v>
                </c:pt>
                <c:pt idx="1">
                  <c:v>51.827</c:v>
                </c:pt>
                <c:pt idx="2">
                  <c:v>58.48999999999995</c:v>
                </c:pt>
                <c:pt idx="3">
                  <c:v>65.60400000000004</c:v>
                </c:pt>
                <c:pt idx="4">
                  <c:v>75.19900000000007</c:v>
                </c:pt>
                <c:pt idx="5">
                  <c:v>85.01099999999997</c:v>
                </c:pt>
                <c:pt idx="6">
                  <c:v>737.893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6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712.526</c:v>
                </c:pt>
                <c:pt idx="2">
                  <c:v>804.054</c:v>
                </c:pt>
                <c:pt idx="3">
                  <c:v>907.386</c:v>
                </c:pt>
                <c:pt idx="4">
                  <c:v>1023.4780000000001</c:v>
                </c:pt>
                <c:pt idx="5">
                  <c:v>1156.924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712.526</c:v>
                </c:pt>
                <c:pt idx="1">
                  <c:v>91.52800000000002</c:v>
                </c:pt>
                <c:pt idx="2">
                  <c:v>103.332</c:v>
                </c:pt>
                <c:pt idx="3">
                  <c:v>116.0920000000001</c:v>
                </c:pt>
                <c:pt idx="4">
                  <c:v>133.4459999999999</c:v>
                </c:pt>
                <c:pt idx="5">
                  <c:v>150.26299999999992</c:v>
                </c:pt>
                <c:pt idx="6">
                  <c:v>1307.187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6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Liquid, Gel &amp; Cream Products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64.9010976387317</c:v>
                </c:pt>
                <c:pt idx="1">
                  <c:v>64.65014112495801</c:v>
                </c:pt>
                <c:pt idx="2">
                  <c:v>64.09426633322167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Wipes &amp; Other Count-Based Products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22.468970208011278</c:v>
                </c:pt>
                <c:pt idx="1">
                  <c:v>22.60429399293376</c:v>
                </c:pt>
                <c:pt idx="2">
                  <c:v>22.950450972419155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Solid, Powder &amp; Weight-Labeled Products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12.629932153257025</c:v>
                </c:pt>
                <c:pt idx="1">
                  <c:v>12.745564882108237</c:v>
                </c:pt>
                <c:pt idx="2">
                  <c:v>12.955282694359177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6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Economy / Mass-Market: Below US$3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28.412888850801266</c:v>
                </c:pt>
                <c:pt idx="1">
                  <c:v>22.929961241827503</c:v>
                </c:pt>
                <c:pt idx="2">
                  <c:v>19.218602224178976</c:v>
                </c:pt>
                <c:pt idx="3">
                  <c:v>31.160336901860358</c:v>
                </c:pt>
                <c:pt idx="4">
                  <c:v>28.131434023534922</c:v>
                </c:pt>
                <c:pt idx="5">
                  <c:v>22.146765368522694</c:v>
                </c:pt>
                <c:pt idx="6">
                  <c:v>20.59824523058669</c:v>
                </c:pt>
                <c:pt idx="7">
                  <c:v>26.508144831313206</c:v>
                </c:pt>
                <c:pt idx="8">
                  <c:v>23.46068960048634</c:v>
                </c:pt>
                <c:pt idx="9">
                  <c:v>21.533602261838574</c:v>
                </c:pt>
                <c:pt idx="10">
                  <c:v>22.754600525774375</c:v>
                </c:pt>
                <c:pt idx="11">
                  <c:v>28.937808148084077</c:v>
                </c:pt>
                <c:pt idx="12">
                  <c:v>22.42824673608542</c:v>
                </c:pt>
                <c:pt idx="13">
                  <c:v>25.256098970979306</c:v>
                </c:pt>
                <c:pt idx="14">
                  <c:v>29.456173268131252</c:v>
                </c:pt>
                <c:pt idx="15">
                  <c:v>28.30269345874305</c:v>
                </c:pt>
                <c:pt idx="16">
                  <c:v>23.71242865155564</c:v>
                </c:pt>
                <c:pt idx="17">
                  <c:v>31.329353523587656</c:v>
                </c:pt>
                <c:pt idx="18">
                  <c:v>23.143074747035143</c:v>
                </c:pt>
                <c:pt idx="19">
                  <c:v>26.48940780584801</c:v>
                </c:pt>
                <c:pt idx="20">
                  <c:v>20.410272776855525</c:v>
                </c:pt>
                <c:pt idx="21">
                  <c:v>22.219804325889527</c:v>
                </c:pt>
                <c:pt idx="22">
                  <c:v>31.59550404770285</c:v>
                </c:pt>
                <c:pt idx="23">
                  <c:v>23.543619402158257</c:v>
                </c:pt>
                <c:pt idx="24">
                  <c:v>24.607176851527566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Mid-Range: US$3 to below US$6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33.04053475019282</c:v>
                </c:pt>
                <c:pt idx="1">
                  <c:v>42.332537290059896</c:v>
                </c:pt>
                <c:pt idx="2">
                  <c:v>41.45386948439487</c:v>
                </c:pt>
                <c:pt idx="3">
                  <c:v>33.33230493937617</c:v>
                </c:pt>
                <c:pt idx="4">
                  <c:v>37.34118946786963</c:v>
                </c:pt>
                <c:pt idx="5">
                  <c:v>47.22079176054071</c:v>
                </c:pt>
                <c:pt idx="6">
                  <c:v>35.793236956318104</c:v>
                </c:pt>
                <c:pt idx="7">
                  <c:v>35.52844900795183</c:v>
                </c:pt>
                <c:pt idx="8">
                  <c:v>48.318289346742965</c:v>
                </c:pt>
                <c:pt idx="9">
                  <c:v>37.13815906214142</c:v>
                </c:pt>
                <c:pt idx="10">
                  <c:v>39.60109726825923</c:v>
                </c:pt>
                <c:pt idx="11">
                  <c:v>30.698036502032693</c:v>
                </c:pt>
                <c:pt idx="12">
                  <c:v>41.13008087108197</c:v>
                </c:pt>
                <c:pt idx="13">
                  <c:v>34.883416194550435</c:v>
                </c:pt>
                <c:pt idx="14">
                  <c:v>39.88949133511605</c:v>
                </c:pt>
                <c:pt idx="15">
                  <c:v>32.68008109338151</c:v>
                </c:pt>
                <c:pt idx="16">
                  <c:v>34.933518096934904</c:v>
                </c:pt>
                <c:pt idx="17">
                  <c:v>40.00242671325957</c:v>
                </c:pt>
                <c:pt idx="18">
                  <c:v>39.080839952127086</c:v>
                </c:pt>
                <c:pt idx="19">
                  <c:v>32.76351201249868</c:v>
                </c:pt>
                <c:pt idx="20">
                  <c:v>37.54260277659354</c:v>
                </c:pt>
                <c:pt idx="21">
                  <c:v>33.79844689158952</c:v>
                </c:pt>
                <c:pt idx="22">
                  <c:v>31.455490796910908</c:v>
                </c:pt>
                <c:pt idx="23">
                  <c:v>39.678144873584614</c:v>
                </c:pt>
                <c:pt idx="24">
                  <c:v>42.751921411735374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Premium: US$6 to below US$12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28.202930842402946</c:v>
                </c:pt>
                <c:pt idx="1">
                  <c:v>25.110597815448454</c:v>
                </c:pt>
                <c:pt idx="2">
                  <c:v>30.54169520268728</c:v>
                </c:pt>
                <c:pt idx="3">
                  <c:v>24.34517014778021</c:v>
                </c:pt>
                <c:pt idx="4">
                  <c:v>25.490031971342958</c:v>
                </c:pt>
                <c:pt idx="5">
                  <c:v>20.175410363694883</c:v>
                </c:pt>
                <c:pt idx="6">
                  <c:v>31.83876104536797</c:v>
                </c:pt>
                <c:pt idx="7">
                  <c:v>26.985254381224426</c:v>
                </c:pt>
                <c:pt idx="8">
                  <c:v>19.365112929017933</c:v>
                </c:pt>
                <c:pt idx="9">
                  <c:v>32.143659872475844</c:v>
                </c:pt>
                <c:pt idx="10">
                  <c:v>26.25214310206881</c:v>
                </c:pt>
                <c:pt idx="11">
                  <c:v>32.755600726580745</c:v>
                </c:pt>
                <c:pt idx="12">
                  <c:v>27.458110893810456</c:v>
                </c:pt>
                <c:pt idx="13">
                  <c:v>30.476741049061552</c:v>
                </c:pt>
                <c:pt idx="14">
                  <c:v>19.78075553651366</c:v>
                </c:pt>
                <c:pt idx="15">
                  <c:v>28.59713966542084</c:v>
                </c:pt>
                <c:pt idx="16">
                  <c:v>27.01342835461414</c:v>
                </c:pt>
                <c:pt idx="17">
                  <c:v>18.63036303630363</c:v>
                </c:pt>
                <c:pt idx="18">
                  <c:v>25.45054945054945</c:v>
                </c:pt>
                <c:pt idx="19">
                  <c:v>27.933748256485146</c:v>
                </c:pt>
                <c:pt idx="20">
                  <c:v>30.97409417744191</c:v>
                </c:pt>
                <c:pt idx="21">
                  <c:v>32.0400122844733</c:v>
                </c:pt>
                <c:pt idx="22">
                  <c:v>25.96986997660407</c:v>
                </c:pt>
                <c:pt idx="23">
                  <c:v>25.92856034922112</c:v>
                </c:pt>
                <c:pt idx="24">
                  <c:v>25.631428430232926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Super-Premium / Luxury: US$12 and above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10.343645556602965</c:v>
                </c:pt>
                <c:pt idx="1">
                  <c:v>9.626903652664135</c:v>
                </c:pt>
                <c:pt idx="2">
                  <c:v>8.78583308873887</c:v>
                </c:pt>
                <c:pt idx="3">
                  <c:v>11.162188010983245</c:v>
                </c:pt>
                <c:pt idx="4">
                  <c:v>9.037344537252471</c:v>
                </c:pt>
                <c:pt idx="5">
                  <c:v>10.457032507241712</c:v>
                </c:pt>
                <c:pt idx="6">
                  <c:v>11.76975676772723</c:v>
                </c:pt>
                <c:pt idx="7">
                  <c:v>10.978151779510538</c:v>
                </c:pt>
                <c:pt idx="8">
                  <c:v>8.855908123752759</c:v>
                </c:pt>
                <c:pt idx="9">
                  <c:v>9.18457880354418</c:v>
                </c:pt>
                <c:pt idx="10">
                  <c:v>11.392159103897589</c:v>
                </c:pt>
                <c:pt idx="11">
                  <c:v>7.608554623302482</c:v>
                </c:pt>
                <c:pt idx="12">
                  <c:v>8.983561499022146</c:v>
                </c:pt>
                <c:pt idx="13">
                  <c:v>9.383743785408718</c:v>
                </c:pt>
                <c:pt idx="14">
                  <c:v>10.873579860239042</c:v>
                </c:pt>
                <c:pt idx="15">
                  <c:v>10.420085782454592</c:v>
                </c:pt>
                <c:pt idx="16">
                  <c:v>14.34062489689531</c:v>
                </c:pt>
                <c:pt idx="17">
                  <c:v>10.037856726849155</c:v>
                </c:pt>
                <c:pt idx="18">
                  <c:v>12.325535850288325</c:v>
                </c:pt>
                <c:pt idx="19">
                  <c:v>12.813331925168159</c:v>
                </c:pt>
                <c:pt idx="20">
                  <c:v>11.073030269109026</c:v>
                </c:pt>
                <c:pt idx="21">
                  <c:v>11.941736498047645</c:v>
                </c:pt>
                <c:pt idx="22">
                  <c:v>10.979135178782169</c:v>
                </c:pt>
                <c:pt idx="23">
                  <c:v>10.849675375036009</c:v>
                </c:pt>
                <c:pt idx="24">
                  <c:v>7.009473306504114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max val="100.0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63.xml><?xml version="1.0" encoding="utf-8"?>
<c:chartSpace xmlns:c="http://schemas.openxmlformats.org/drawingml/2006/chart" xmlns:a="http://schemas.openxmlformats.org/drawingml/2006/main" xmlns:r="http://schemas.openxmlformats.org/officeDocument/2006/relationships">
  <c:chart>
    <c:autoTitleDeleted val="1"/>
    <c:plotArea>
      <c:layout/>
      <c:bubbleChart>
        <c:varyColors val="0"/>
        <c:ser>
          <c:idx val="0"/>
          <c:order val="0"/>
          <c:tx>
            <c:strRef>
              <c:strCache>
                <c:ptCount val="1"/>
                <c:pt idx="0">
                  <c:v>Economy / Mass-Market: Below US$3</c:v>
                </c:pt>
              </c:strCache>
            </c:strRef>
          </c:tx>
          <c:spPr>
            <a:solidFill>
              <a:srgbClr val="3D85C6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106.72755731004122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97.20462500289484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1438.551</c:v>
                </c:pt>
              </c:numCache>
            </c:numRef>
          </c:bubbleSize>
          <c:bubble3D val="0"/>
        </c:ser>
        <c:ser>
          <c:idx val="1"/>
          <c:order val="1"/>
          <c:tx>
            <c:strRef>
              <c:strCache>
                <c:ptCount val="1"/>
                <c:pt idx="0">
                  <c:v>Mid-Range: US$3 to below US$6</c:v>
                </c:pt>
              </c:strCache>
            </c:strRef>
          </c:tx>
          <c:spPr>
            <a:solidFill>
              <a:srgbClr val="9E7E0A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94.82575215768047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154.1979797415813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2131.263</c:v>
                </c:pt>
              </c:numCache>
            </c:numRef>
          </c:bubbleSize>
          <c:bubble3D val="0"/>
        </c:ser>
        <c:ser>
          <c:idx val="2"/>
          <c:order val="2"/>
          <c:tx>
            <c:strRef>
              <c:strCache>
                <c:ptCount val="1"/>
                <c:pt idx="0">
                  <c:v>Premium: US$6 to below US$12</c:v>
                </c:pt>
              </c:strCache>
            </c:strRef>
          </c:tx>
          <c:spPr>
            <a:solidFill>
              <a:srgbClr val="008189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102.84916812234918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105.93828824641811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1533.352</c:v>
                </c:pt>
              </c:numCache>
            </c:numRef>
          </c:bubbleSize>
          <c:bubble3D val="0"/>
        </c:ser>
        <c:ser>
          <c:idx val="3"/>
          <c:order val="3"/>
          <c:tx>
            <c:strRef>
              <c:strCache>
                <c:ptCount val="1"/>
                <c:pt idx="0">
                  <c:v>Super-Premium / Luxury: US$12 and above</c:v>
                </c:pt>
              </c:strCache>
            </c:strRef>
          </c:tx>
          <c:spPr>
            <a:solidFill>
              <a:srgbClr val="40315E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95.68010027473595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42.659107009105796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592.526</c:v>
                </c:pt>
              </c:numCache>
            </c:numRef>
          </c:bubbleSize>
          <c:bubble3D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bubbleScale val="100"/>
        <c:showNegBubbles val="0"/>
        <c:axId val="-2115720072"/>
        <c:axId val="-2115723560"/>
      </c:bubbleChart>
      <c:valAx>
        <c:axId val="-2115720072"/>
        <c:scaling>
          <c:orientation val="minMax"/>
        </c:scaling>
        <c:delete val="0"/>
        <c:axPos val="b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CAGR Index (100 = segment average growth)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3560"/>
        <c:crosses val="autoZero"/>
        <c:crossBetween val="midCat"/>
      </c:valAx>
      <c:valAx>
        <c:axId val="-2115723560"/>
        <c:scaling>
          <c:orientation val="minMax"/>
        </c:scaling>
        <c:delete val="0"/>
        <c:axPos val="l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Market Share Index (100 = equal share)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0072"/>
        <c:crosses val="autoZero"/>
        <c:crossBetween val="midCat"/>
      </c:valAx>
    </c:plotArea>
    <c:legend>
      <c:legendPos val="b"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6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766.014</c:v>
                </c:pt>
                <c:pt idx="2">
                  <c:v>868.491</c:v>
                </c:pt>
                <c:pt idx="3">
                  <c:v>984.995</c:v>
                </c:pt>
                <c:pt idx="4">
                  <c:v>1116.646</c:v>
                </c:pt>
                <c:pt idx="5">
                  <c:v>1267.564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766.014</c:v>
                </c:pt>
                <c:pt idx="1">
                  <c:v>102.47699999999998</c:v>
                </c:pt>
                <c:pt idx="2">
                  <c:v>116.50400000000002</c:v>
                </c:pt>
                <c:pt idx="3">
                  <c:v>131.65099999999995</c:v>
                </c:pt>
                <c:pt idx="4">
                  <c:v>150.91800000000012</c:v>
                </c:pt>
                <c:pt idx="5">
                  <c:v>170.98699999999985</c:v>
                </c:pt>
                <c:pt idx="6">
                  <c:v>1438.551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6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1215.146</c:v>
                </c:pt>
                <c:pt idx="2">
                  <c:v>1358.968</c:v>
                </c:pt>
                <c:pt idx="3">
                  <c:v>1520.217</c:v>
                </c:pt>
                <c:pt idx="4">
                  <c:v>1699.399</c:v>
                </c:pt>
                <c:pt idx="5">
                  <c:v>1903.642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1215.146</c:v>
                </c:pt>
                <c:pt idx="1">
                  <c:v>143.82200000000012</c:v>
                </c:pt>
                <c:pt idx="2">
                  <c:v>161.24900000000002</c:v>
                </c:pt>
                <c:pt idx="3">
                  <c:v>179.1819999999998</c:v>
                </c:pt>
                <c:pt idx="4">
                  <c:v>204.24300000000017</c:v>
                </c:pt>
                <c:pt idx="5">
                  <c:v>227.62099999999987</c:v>
                </c:pt>
                <c:pt idx="6">
                  <c:v>2131.263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6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834.839</c:v>
                </c:pt>
                <c:pt idx="2">
                  <c:v>942.357</c:v>
                </c:pt>
                <c:pt idx="3">
                  <c:v>1063.984</c:v>
                </c:pt>
                <c:pt idx="4">
                  <c:v>1200.428</c:v>
                </c:pt>
                <c:pt idx="5">
                  <c:v>1356.9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834.839</c:v>
                </c:pt>
                <c:pt idx="1">
                  <c:v>107.51799999999992</c:v>
                </c:pt>
                <c:pt idx="2">
                  <c:v>121.62699999999995</c:v>
                </c:pt>
                <c:pt idx="3">
                  <c:v>136.4440000000002</c:v>
                </c:pt>
                <c:pt idx="4">
                  <c:v>156.47199999999998</c:v>
                </c:pt>
                <c:pt idx="5">
                  <c:v>176.452</c:v>
                </c:pt>
                <c:pt idx="6">
                  <c:v>1533.352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6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336.172</c:v>
                </c:pt>
                <c:pt idx="2">
                  <c:v>375.974</c:v>
                </c:pt>
                <c:pt idx="3">
                  <c:v>420.825</c:v>
                </c:pt>
                <c:pt idx="4">
                  <c:v>470.997</c:v>
                </c:pt>
                <c:pt idx="5">
                  <c:v>528.267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336.172</c:v>
                </c:pt>
                <c:pt idx="1">
                  <c:v>39.801999999999964</c:v>
                </c:pt>
                <c:pt idx="2">
                  <c:v>44.851</c:v>
                </c:pt>
                <c:pt idx="3">
                  <c:v>50.172000000000025</c:v>
                </c:pt>
                <c:pt idx="4">
                  <c:v>57.27000000000004</c:v>
                </c:pt>
                <c:pt idx="5">
                  <c:v>64.2589999999999</c:v>
                </c:pt>
                <c:pt idx="6">
                  <c:v>592.526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6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Mid-Range: US$3 to below US$6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39.10678955310965</c:v>
                </c:pt>
                <c:pt idx="1">
                  <c:v>38.549494935395316</c:v>
                </c:pt>
                <c:pt idx="2">
                  <c:v>37.41885972766786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Premium: US$6 to below US$12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26.263092910283092</c:v>
                </c:pt>
                <c:pt idx="1">
                  <c:v>26.484572061604528</c:v>
                </c:pt>
                <c:pt idx="2">
                  <c:v>26.921259084936477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Economy / Mass-Market: Below US$3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23.806865420502046</c:v>
                </c:pt>
                <c:pt idx="1">
                  <c:v>24.301156250723704</c:v>
                </c:pt>
                <c:pt idx="2">
                  <c:v>25.256825685096736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Super-Premium / Luxury: US$12 and above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10.823252116105207</c:v>
                </c:pt>
                <c:pt idx="1">
                  <c:v>10.664776752276445</c:v>
                </c:pt>
                <c:pt idx="2">
                  <c:v>10.40305550229893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6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E-commerce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31.7794249967865</c:v>
                </c:pt>
                <c:pt idx="1">
                  <c:v>29.88960225493266</c:v>
                </c:pt>
                <c:pt idx="2">
                  <c:v>24.178977921273194</c:v>
                </c:pt>
                <c:pt idx="3">
                  <c:v>19.988276670574443</c:v>
                </c:pt>
                <c:pt idx="4">
                  <c:v>32.71345596973704</c:v>
                </c:pt>
                <c:pt idx="5">
                  <c:v>28.795120616681956</c:v>
                </c:pt>
                <c:pt idx="6">
                  <c:v>25.620170166263367</c:v>
                </c:pt>
                <c:pt idx="7">
                  <c:v>34.360621313652224</c:v>
                </c:pt>
                <c:pt idx="8">
                  <c:v>31.757989057172313</c:v>
                </c:pt>
                <c:pt idx="9">
                  <c:v>22.649946764462324</c:v>
                </c:pt>
                <c:pt idx="10">
                  <c:v>25.337752886044118</c:v>
                </c:pt>
                <c:pt idx="11">
                  <c:v>22.581552001902974</c:v>
                </c:pt>
                <c:pt idx="12">
                  <c:v>33.975348316032054</c:v>
                </c:pt>
                <c:pt idx="13">
                  <c:v>27.609702706244164</c:v>
                </c:pt>
                <c:pt idx="14">
                  <c:v>22.362083739621195</c:v>
                </c:pt>
                <c:pt idx="15">
                  <c:v>23.53655088713737</c:v>
                </c:pt>
                <c:pt idx="16">
                  <c:v>28.924692749718183</c:v>
                </c:pt>
                <c:pt idx="17">
                  <c:v>21.824235452855557</c:v>
                </c:pt>
                <c:pt idx="18">
                  <c:v>27.1266548869759</c:v>
                </c:pt>
                <c:pt idx="19">
                  <c:v>32.31447727330665</c:v>
                </c:pt>
                <c:pt idx="20">
                  <c:v>34.07650517902098</c:v>
                </c:pt>
                <c:pt idx="21">
                  <c:v>26.308566534812627</c:v>
                </c:pt>
                <c:pt idx="22">
                  <c:v>32.24583810503569</c:v>
                </c:pt>
                <c:pt idx="23">
                  <c:v>31.000900754173884</c:v>
                </c:pt>
                <c:pt idx="24">
                  <c:v>41.90810967021798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Pet Specialty Retail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26.659239898881697</c:v>
                </c:pt>
                <c:pt idx="1">
                  <c:v>31.803946132164114</c:v>
                </c:pt>
                <c:pt idx="2">
                  <c:v>36.438052375827546</c:v>
                </c:pt>
                <c:pt idx="3">
                  <c:v>43.17887332634047</c:v>
                </c:pt>
                <c:pt idx="4">
                  <c:v>29.53986241065899</c:v>
                </c:pt>
                <c:pt idx="5">
                  <c:v>38.682630875939424</c:v>
                </c:pt>
                <c:pt idx="6">
                  <c:v>30.70174069159316</c:v>
                </c:pt>
                <c:pt idx="7">
                  <c:v>25.47478615322854</c:v>
                </c:pt>
                <c:pt idx="8">
                  <c:v>32.21790500356831</c:v>
                </c:pt>
                <c:pt idx="9">
                  <c:v>39.70069797704957</c:v>
                </c:pt>
                <c:pt idx="10">
                  <c:v>24.85884101040119</c:v>
                </c:pt>
                <c:pt idx="11">
                  <c:v>35.432006660395515</c:v>
                </c:pt>
                <c:pt idx="12">
                  <c:v>28.425548108839514</c:v>
                </c:pt>
                <c:pt idx="13">
                  <c:v>36.858413559740086</c:v>
                </c:pt>
                <c:pt idx="14">
                  <c:v>34.85506604024466</c:v>
                </c:pt>
                <c:pt idx="15">
                  <c:v>35.31379079694104</c:v>
                </c:pt>
                <c:pt idx="16">
                  <c:v>33.50306562921009</c:v>
                </c:pt>
                <c:pt idx="17">
                  <c:v>35.74649213490781</c:v>
                </c:pt>
                <c:pt idx="18">
                  <c:v>35.396084848590355</c:v>
                </c:pt>
                <c:pt idx="19">
                  <c:v>27.49855238192353</c:v>
                </c:pt>
                <c:pt idx="20">
                  <c:v>33.26529591513504</c:v>
                </c:pt>
                <c:pt idx="21">
                  <c:v>37.578577169712645</c:v>
                </c:pt>
                <c:pt idx="22">
                  <c:v>26.767859106996127</c:v>
                </c:pt>
                <c:pt idx="23">
                  <c:v>30.436295185895503</c:v>
                </c:pt>
                <c:pt idx="24">
                  <c:v>22.420385313275183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Veterinary &amp; Animal Health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10.52315866146793</c:v>
                </c:pt>
                <c:pt idx="1">
                  <c:v>8.56952709051049</c:v>
                </c:pt>
                <c:pt idx="2">
                  <c:v>15.044190066203566</c:v>
                </c:pt>
                <c:pt idx="3">
                  <c:v>12.901832541494418</c:v>
                </c:pt>
                <c:pt idx="4">
                  <c:v>10.528430108966742</c:v>
                </c:pt>
                <c:pt idx="5">
                  <c:v>9.069988252144386</c:v>
                </c:pt>
                <c:pt idx="6">
                  <c:v>13.916165795019902</c:v>
                </c:pt>
                <c:pt idx="7">
                  <c:v>13.331068770651267</c:v>
                </c:pt>
                <c:pt idx="8">
                  <c:v>13.239764226997597</c:v>
                </c:pt>
                <c:pt idx="9">
                  <c:v>13.34200875428842</c:v>
                </c:pt>
                <c:pt idx="10">
                  <c:v>16.009829694822265</c:v>
                </c:pt>
                <c:pt idx="11">
                  <c:v>13.218073891465828</c:v>
                </c:pt>
                <c:pt idx="12">
                  <c:v>10.500221992008289</c:v>
                </c:pt>
                <c:pt idx="13">
                  <c:v>9.096094406375975</c:v>
                </c:pt>
                <c:pt idx="14">
                  <c:v>15.47070295186597</c:v>
                </c:pt>
                <c:pt idx="15">
                  <c:v>14.803092051276742</c:v>
                </c:pt>
                <c:pt idx="16">
                  <c:v>11.773665832668886</c:v>
                </c:pt>
                <c:pt idx="17">
                  <c:v>12.183248639807415</c:v>
                </c:pt>
                <c:pt idx="18">
                  <c:v>12.390435819544422</c:v>
                </c:pt>
                <c:pt idx="19">
                  <c:v>15.766108620520122</c:v>
                </c:pt>
                <c:pt idx="20">
                  <c:v>9.64757887616793</c:v>
                </c:pt>
                <c:pt idx="21">
                  <c:v>11.615908125695393</c:v>
                </c:pt>
                <c:pt idx="22">
                  <c:v>14.841255976759385</c:v>
                </c:pt>
                <c:pt idx="23">
                  <c:v>11.244137619283451</c:v>
                </c:pt>
                <c:pt idx="24">
                  <c:v>10.680502391958978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General Retail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21.62046360169673</c:v>
                </c:pt>
                <c:pt idx="1">
                  <c:v>19.957720012527403</c:v>
                </c:pt>
                <c:pt idx="2">
                  <c:v>11.707921599321658</c:v>
                </c:pt>
                <c:pt idx="3">
                  <c:v>15.382242241006974</c:v>
                </c:pt>
                <c:pt idx="4">
                  <c:v>17.997087524898316</c:v>
                </c:pt>
                <c:pt idx="5">
                  <c:v>15.798451857931411</c:v>
                </c:pt>
                <c:pt idx="6">
                  <c:v>18.79478573101241</c:v>
                </c:pt>
                <c:pt idx="7">
                  <c:v>17.620356359818423</c:v>
                </c:pt>
                <c:pt idx="8">
                  <c:v>14.98955937937779</c:v>
                </c:pt>
                <c:pt idx="9">
                  <c:v>16.23447296817698</c:v>
                </c:pt>
                <c:pt idx="10">
                  <c:v>21.95222311121271</c:v>
                </c:pt>
                <c:pt idx="11">
                  <c:v>20.370430438872493</c:v>
                </c:pt>
                <c:pt idx="12">
                  <c:v>18.59975898010529</c:v>
                </c:pt>
                <c:pt idx="13">
                  <c:v>16.705334638537963</c:v>
                </c:pt>
                <c:pt idx="14">
                  <c:v>18.701799485861184</c:v>
                </c:pt>
                <c:pt idx="15">
                  <c:v>17.162815394057247</c:v>
                </c:pt>
                <c:pt idx="16">
                  <c:v>15.962167661048637</c:v>
                </c:pt>
                <c:pt idx="17">
                  <c:v>19.409620602124864</c:v>
                </c:pt>
                <c:pt idx="18">
                  <c:v>14.677465683671784</c:v>
                </c:pt>
                <c:pt idx="19">
                  <c:v>16.076026352111704</c:v>
                </c:pt>
                <c:pt idx="20">
                  <c:v>14.437667166031149</c:v>
                </c:pt>
                <c:pt idx="21">
                  <c:v>16.620628898147142</c:v>
                </c:pt>
                <c:pt idx="22">
                  <c:v>17.133614135885146</c:v>
                </c:pt>
                <c:pt idx="23">
                  <c:v>17.822412935406064</c:v>
                </c:pt>
                <c:pt idx="24">
                  <c:v>13.342006624216959</c:v>
                </c:pt>
              </c:numCache>
            </c:numRef>
          </c:val>
        </c:ser>
        <c:ser>
          <c:idx val="4"/>
          <c:order val="4"/>
          <c:tx>
            <c:strRef>
              <c:strCache>
                <c:ptCount val="1"/>
                <c:pt idx="0">
                  <c:v>Professional &amp; B2B</c:v>
                </c:pt>
              </c:strCache>
            </c:strRef>
          </c:tx>
          <c:spPr>
            <a:solidFill>
              <a:srgbClr val="A35313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9.417712841167146</c:v>
                </c:pt>
                <c:pt idx="1">
                  <c:v>9.779204509865332</c:v>
                </c:pt>
                <c:pt idx="2">
                  <c:v>12.630858037374034</c:v>
                </c:pt>
                <c:pt idx="3">
                  <c:v>8.548775220583698</c:v>
                </c:pt>
                <c:pt idx="4">
                  <c:v>9.221163985738915</c:v>
                </c:pt>
                <c:pt idx="5">
                  <c:v>7.653808397302821</c:v>
                </c:pt>
                <c:pt idx="6">
                  <c:v>10.967137616111154</c:v>
                </c:pt>
                <c:pt idx="7">
                  <c:v>9.213167402649537</c:v>
                </c:pt>
                <c:pt idx="8">
                  <c:v>7.794782332883991</c:v>
                </c:pt>
                <c:pt idx="9">
                  <c:v>8.072873536022716</c:v>
                </c:pt>
                <c:pt idx="10">
                  <c:v>11.841353297519715</c:v>
                </c:pt>
                <c:pt idx="11">
                  <c:v>8.397937007363197</c:v>
                </c:pt>
                <c:pt idx="12">
                  <c:v>8.499122603014865</c:v>
                </c:pt>
                <c:pt idx="13">
                  <c:v>9.730454689101798</c:v>
                </c:pt>
                <c:pt idx="14">
                  <c:v>8.610347782406999</c:v>
                </c:pt>
                <c:pt idx="15">
                  <c:v>9.183750870587584</c:v>
                </c:pt>
                <c:pt idx="16">
                  <c:v>9.836408127354213</c:v>
                </c:pt>
                <c:pt idx="17">
                  <c:v>10.836403170304363</c:v>
                </c:pt>
                <c:pt idx="18">
                  <c:v>10.409358761217543</c:v>
                </c:pt>
                <c:pt idx="19">
                  <c:v>8.344835372137997</c:v>
                </c:pt>
                <c:pt idx="20">
                  <c:v>8.572952863644918</c:v>
                </c:pt>
                <c:pt idx="21">
                  <c:v>7.876319271632195</c:v>
                </c:pt>
                <c:pt idx="22">
                  <c:v>9.011432675323666</c:v>
                </c:pt>
                <c:pt idx="23">
                  <c:v>9.496253505241103</c:v>
                </c:pt>
                <c:pt idx="24">
                  <c:v>11.648996000330888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max val="100.0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70.xml><?xml version="1.0" encoding="utf-8"?>
<c:chartSpace xmlns:c="http://schemas.openxmlformats.org/drawingml/2006/chart" xmlns:a="http://schemas.openxmlformats.org/drawingml/2006/main" xmlns:r="http://schemas.openxmlformats.org/officeDocument/2006/relationships">
  <c:chart>
    <c:autoTitleDeleted val="1"/>
    <c:plotArea>
      <c:layout/>
      <c:bubbleChart>
        <c:varyColors val="0"/>
        <c:ser>
          <c:idx val="0"/>
          <c:order val="0"/>
          <c:tx>
            <c:strRef>
              <c:strCache>
                <c:ptCount val="1"/>
                <c:pt idx="0">
                  <c:v>E-commerce</c:v>
                </c:pt>
              </c:strCache>
            </c:strRef>
          </c:tx>
          <c:spPr>
            <a:solidFill>
              <a:srgbClr val="3D85C6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105.3699609183212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151.88855434013297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1784.342</c:v>
                </c:pt>
              </c:numCache>
            </c:numRef>
          </c:bubbleSize>
          <c:bubble3D val="0"/>
        </c:ser>
        <c:ser>
          <c:idx val="1"/>
          <c:order val="1"/>
          <c:tx>
            <c:strRef>
              <c:strCache>
                <c:ptCount val="1"/>
                <c:pt idx="0">
                  <c:v>Pet Specialty Retail</c:v>
                </c:pt>
              </c:strCache>
            </c:strRef>
          </c:tx>
          <c:spPr>
            <a:solidFill>
              <a:srgbClr val="9E7E0A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99.41505280615995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153.12119607648438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1738.41</c:v>
                </c:pt>
              </c:numCache>
            </c:numRef>
          </c:bubbleSize>
          <c:bubble3D val="0"/>
        </c:ser>
        <c:ser>
          <c:idx val="2"/>
          <c:order val="2"/>
          <c:tx>
            <c:strRef>
              <c:strCache>
                <c:ptCount val="1"/>
                <c:pt idx="0">
                  <c:v>Veterinary &amp; Animal Health</c:v>
                </c:pt>
              </c:strCache>
            </c:strRef>
          </c:tx>
          <c:spPr>
            <a:solidFill>
              <a:srgbClr val="008189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95.6171879464121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62.58238364455251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695.153</c:v>
                </c:pt>
              </c:numCache>
            </c:numRef>
          </c:bubbleSize>
          <c:bubble3D val="0"/>
        </c:ser>
        <c:ser>
          <c:idx val="3"/>
          <c:order val="3"/>
          <c:tx>
            <c:strRef>
              <c:strCache>
                <c:ptCount val="1"/>
                <c:pt idx="0">
                  <c:v>General Retail</c:v>
                </c:pt>
              </c:strCache>
            </c:strRef>
          </c:tx>
          <c:spPr>
            <a:solidFill>
              <a:srgbClr val="40315E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94.01861832663839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84.95345908996747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934.995</c:v>
                </c:pt>
              </c:numCache>
            </c:numRef>
          </c:bubbleSize>
          <c:bubble3D val="0"/>
        </c:ser>
        <c:ser>
          <c:idx val="4"/>
          <c:order val="4"/>
          <c:tx>
            <c:strRef>
              <c:strCache>
                <c:ptCount val="1"/>
                <c:pt idx="0">
                  <c:v>Professional &amp; B2B</c:v>
                </c:pt>
              </c:strCache>
            </c:strRef>
          </c:tx>
          <c:spPr>
            <a:solidFill>
              <a:srgbClr val="A35313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100.71377869529124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47.45440684886267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542.792</c:v>
                </c:pt>
              </c:numCache>
            </c:numRef>
          </c:bubbleSize>
          <c:bubble3D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bubbleScale val="100"/>
        <c:showNegBubbles val="0"/>
        <c:axId val="-2115720072"/>
        <c:axId val="-2115723560"/>
      </c:bubbleChart>
      <c:valAx>
        <c:axId val="-2115720072"/>
        <c:scaling>
          <c:orientation val="minMax"/>
        </c:scaling>
        <c:delete val="0"/>
        <c:axPos val="b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CAGR Index (100 = segment average growth)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3560"/>
        <c:crosses val="autoZero"/>
        <c:crossBetween val="midCat"/>
      </c:valAx>
      <c:valAx>
        <c:axId val="-2115723560"/>
        <c:scaling>
          <c:orientation val="minMax"/>
        </c:scaling>
        <c:delete val="0"/>
        <c:axPos val="l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Market Share Index (100 = equal share)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0072"/>
        <c:crosses val="autoZero"/>
        <c:crossBetween val="midCat"/>
      </c:valAx>
    </c:plotArea>
    <c:legend>
      <c:legendPos val="b"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7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957.558</c:v>
                </c:pt>
                <c:pt idx="2">
                  <c:v>1084.027</c:v>
                </c:pt>
                <c:pt idx="3">
                  <c:v>1227.5430000000001</c:v>
                </c:pt>
                <c:pt idx="4">
                  <c:v>1388.909</c:v>
                </c:pt>
                <c:pt idx="5">
                  <c:v>1574.462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957.558</c:v>
                </c:pt>
                <c:pt idx="1">
                  <c:v>126.46900000000005</c:v>
                </c:pt>
                <c:pt idx="2">
                  <c:v>143.51600000000008</c:v>
                </c:pt>
                <c:pt idx="3">
                  <c:v>161.36599999999999</c:v>
                </c:pt>
                <c:pt idx="4">
                  <c:v>185.55299999999988</c:v>
                </c:pt>
                <c:pt idx="5">
                  <c:v>209.8800000000001</c:v>
                </c:pt>
                <c:pt idx="6">
                  <c:v>1784.342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7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965.329</c:v>
                </c:pt>
                <c:pt idx="2">
                  <c:v>1085.416</c:v>
                </c:pt>
                <c:pt idx="3">
                  <c:v>1220.81</c:v>
                </c:pt>
                <c:pt idx="4">
                  <c:v>1372.105</c:v>
                </c:pt>
                <c:pt idx="5">
                  <c:v>1544.873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965.329</c:v>
                </c:pt>
                <c:pt idx="1">
                  <c:v>120.08699999999999</c:v>
                </c:pt>
                <c:pt idx="2">
                  <c:v>135.394</c:v>
                </c:pt>
                <c:pt idx="3">
                  <c:v>151.29500000000007</c:v>
                </c:pt>
                <c:pt idx="4">
                  <c:v>172.76800000000003</c:v>
                </c:pt>
                <c:pt idx="5">
                  <c:v>193.53700000000003</c:v>
                </c:pt>
                <c:pt idx="6">
                  <c:v>1738.41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7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394.541</c:v>
                </c:pt>
                <c:pt idx="2">
                  <c:v>441.401</c:v>
                </c:pt>
                <c:pt idx="3">
                  <c:v>494.07800000000003</c:v>
                </c:pt>
                <c:pt idx="4">
                  <c:v>553.014</c:v>
                </c:pt>
                <c:pt idx="5">
                  <c:v>620.011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394.541</c:v>
                </c:pt>
                <c:pt idx="1">
                  <c:v>46.860000000000014</c:v>
                </c:pt>
                <c:pt idx="2">
                  <c:v>52.67700000000002</c:v>
                </c:pt>
                <c:pt idx="3">
                  <c:v>58.93599999999998</c:v>
                </c:pt>
                <c:pt idx="4">
                  <c:v>66.99699999999996</c:v>
                </c:pt>
                <c:pt idx="5">
                  <c:v>75.14200000000005</c:v>
                </c:pt>
                <c:pt idx="6">
                  <c:v>695.153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7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535.576</c:v>
                </c:pt>
                <c:pt idx="2">
                  <c:v>598.239</c:v>
                </c:pt>
                <c:pt idx="3">
                  <c:v>668.479</c:v>
                </c:pt>
                <c:pt idx="4">
                  <c:v>746.775</c:v>
                </c:pt>
                <c:pt idx="5">
                  <c:v>835.764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535.576</c:v>
                </c:pt>
                <c:pt idx="1">
                  <c:v>62.66300000000001</c:v>
                </c:pt>
                <c:pt idx="2">
                  <c:v>70.24000000000001</c:v>
                </c:pt>
                <c:pt idx="3">
                  <c:v>78.29599999999994</c:v>
                </c:pt>
                <c:pt idx="4">
                  <c:v>88.98900000000003</c:v>
                </c:pt>
                <c:pt idx="5">
                  <c:v>99.231</c:v>
                </c:pt>
                <c:pt idx="6">
                  <c:v>934.995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7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299.169</c:v>
                </c:pt>
                <c:pt idx="2">
                  <c:v>336.70500000000004</c:v>
                </c:pt>
                <c:pt idx="3">
                  <c:v>379.111</c:v>
                </c:pt>
                <c:pt idx="4">
                  <c:v>426.666</c:v>
                </c:pt>
                <c:pt idx="5">
                  <c:v>481.263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299.169</c:v>
                </c:pt>
                <c:pt idx="1">
                  <c:v>37.53600000000006</c:v>
                </c:pt>
                <c:pt idx="2">
                  <c:v>42.40599999999995</c:v>
                </c:pt>
                <c:pt idx="3">
                  <c:v>47.55500000000001</c:v>
                </c:pt>
                <c:pt idx="4">
                  <c:v>54.59699999999998</c:v>
                </c:pt>
                <c:pt idx="5">
                  <c:v>61.52900000000005</c:v>
                </c:pt>
                <c:pt idx="6">
                  <c:v>542.792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7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E-commerce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29.905843442098636</c:v>
                </c:pt>
                <c:pt idx="1">
                  <c:v>30.377710868026597</c:v>
                </c:pt>
                <c:pt idx="2">
                  <c:v>31.32792292841678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Pet Specialty Retail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30.63319520729649</c:v>
                </c:pt>
                <c:pt idx="1">
                  <c:v>30.62423921529688</c:v>
                </c:pt>
                <c:pt idx="2">
                  <c:v>30.521488872642692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General Retail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17.284211813825713</c:v>
                </c:pt>
                <c:pt idx="1">
                  <c:v>16.990691817993493</c:v>
                </c:pt>
                <c:pt idx="2">
                  <c:v>16.41582796260753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Veterinary &amp; Animal Health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12.687127171270223</c:v>
                </c:pt>
                <c:pt idx="1">
                  <c:v>12.516476728910503</c:v>
                </c:pt>
                <c:pt idx="2">
                  <c:v>12.204890994808006</c:v>
                </c:pt>
              </c:numCache>
            </c:numRef>
          </c:val>
        </c:ser>
        <c:ser>
          <c:idx val="4"/>
          <c:order val="4"/>
          <c:tx>
            <c:strRef>
              <c:strCache>
                <c:ptCount val="1"/>
                <c:pt idx="0">
                  <c:v>Professional &amp; B2B</c:v>
                </c:pt>
              </c:strCache>
            </c:strRef>
          </c:tx>
          <c:spPr>
            <a:solidFill>
              <a:srgbClr val="A35313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9.48962236550893</c:v>
                </c:pt>
                <c:pt idx="1">
                  <c:v>9.490881369772534</c:v>
                </c:pt>
                <c:pt idx="2">
                  <c:v>9.529869241524999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7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Cleansing &amp; General Hygiene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Ear &amp; Eye Hygiene Products</c:v>
                </c:pt>
                <c:pt idx="4">
                  <c:v>Dental &amp; Oral Care Products</c:v>
                </c:pt>
                <c:pt idx="5">
                  <c:v>Fragrance &amp; Deodorizing Products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27.532897772279718</c:v>
                </c:pt>
                <c:pt idx="1">
                  <c:v>28.57774668376153</c:v>
                </c:pt>
                <c:pt idx="2">
                  <c:v>28.30744973368628</c:v>
                </c:pt>
                <c:pt idx="3">
                  <c:v>27.679710253664457</c:v>
                </c:pt>
                <c:pt idx="4">
                  <c:v>27.290987024778556</c:v>
                </c:pt>
                <c:pt idx="5">
                  <c:v>28.479080089965297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Coat Conditioning &amp; Softening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Ear &amp; Eye Hygiene Products</c:v>
                </c:pt>
                <c:pt idx="4">
                  <c:v>Dental &amp; Oral Care Products</c:v>
                </c:pt>
                <c:pt idx="5">
                  <c:v>Fragrance &amp; Deodorizing Products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17.408615776495235</c:v>
                </c:pt>
                <c:pt idx="1">
                  <c:v>16.747466591054785</c:v>
                </c:pt>
                <c:pt idx="2">
                  <c:v>17.07762088805423</c:v>
                </c:pt>
                <c:pt idx="3">
                  <c:v>17.55529939772595</c:v>
                </c:pt>
                <c:pt idx="4">
                  <c:v>17.464816984976615</c:v>
                </c:pt>
                <c:pt idx="5">
                  <c:v>17.022282794882106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Moisturizing &amp; Skin Barrier Care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Ear &amp; Eye Hygiene Products</c:v>
                </c:pt>
                <c:pt idx="4">
                  <c:v>Dental &amp; Oral Care Products</c:v>
                </c:pt>
                <c:pt idx="5">
                  <c:v>Fragrance &amp; Deodorizing Products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14.081973309018418</c:v>
                </c:pt>
                <c:pt idx="1">
                  <c:v>13.896302825583117</c:v>
                </c:pt>
                <c:pt idx="2">
                  <c:v>14.008336591483516</c:v>
                </c:pt>
                <c:pt idx="3">
                  <c:v>13.229566676443103</c:v>
                </c:pt>
                <c:pt idx="4">
                  <c:v>14.105934395422251</c:v>
                </c:pt>
                <c:pt idx="5">
                  <c:v>14.253317842620314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Skin Soothing &amp; Comfort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Ear &amp; Eye Hygiene Products</c:v>
                </c:pt>
                <c:pt idx="4">
                  <c:v>Dental &amp; Oral Care Products</c:v>
                </c:pt>
                <c:pt idx="5">
                  <c:v>Fragrance &amp; Deodorizing Products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13.074688883874039</c:v>
                </c:pt>
                <c:pt idx="1">
                  <c:v>12.869070220425069</c:v>
                </c:pt>
                <c:pt idx="2">
                  <c:v>12.98303411763952</c:v>
                </c:pt>
                <c:pt idx="3">
                  <c:v>13.300502690794005</c:v>
                </c:pt>
                <c:pt idx="4">
                  <c:v>13.621343130734068</c:v>
                </c:pt>
                <c:pt idx="5">
                  <c:v>12.07679818877817</c:v>
                </c:pt>
              </c:numCache>
            </c:numRef>
          </c:val>
        </c:ser>
        <c:ser>
          <c:idx val="4"/>
          <c:order val="4"/>
          <c:tx>
            <c:strRef>
              <c:strCache>
                <c:ptCount val="1"/>
                <c:pt idx="0">
                  <c:v>Dental &amp; Oral Hygiene</c:v>
                </c:pt>
              </c:strCache>
            </c:strRef>
          </c:tx>
          <c:spPr>
            <a:solidFill>
              <a:srgbClr val="A35313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Ear &amp; Eye Hygiene Products</c:v>
                </c:pt>
                <c:pt idx="4">
                  <c:v>Dental &amp; Oral Care Products</c:v>
                </c:pt>
                <c:pt idx="5">
                  <c:v>Fragrance &amp; Deodorizing Products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10.98437955390776</c:v>
                </c:pt>
                <c:pt idx="1">
                  <c:v>11.075650919670593</c:v>
                </c:pt>
                <c:pt idx="2">
                  <c:v>11.296273744437107</c:v>
                </c:pt>
                <c:pt idx="3">
                  <c:v>11.64714789476915</c:v>
                </c:pt>
                <c:pt idx="4">
                  <c:v>10.983540789070831</c:v>
                </c:pt>
                <c:pt idx="5">
                  <c:v>11.43073119144436</c:v>
                </c:pt>
              </c:numCache>
            </c:numRef>
          </c:val>
        </c:ser>
        <c:ser>
          <c:idx val="5"/>
          <c:order val="5"/>
          <c:tx>
            <c:strRef>
              <c:strCache>
                <c:ptCount val="1"/>
                <c:pt idx="0">
                  <c:v>Body &amp; Coat Odor Management</c:v>
                </c:pt>
              </c:strCache>
            </c:strRef>
          </c:tx>
          <c:spPr>
            <a:solidFill>
              <a:srgbClr val="808080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Ear &amp; Eye Hygiene Products</c:v>
                </c:pt>
                <c:pt idx="4">
                  <c:v>Dental &amp; Oral Care Products</c:v>
                </c:pt>
                <c:pt idx="5">
                  <c:v>Fragrance &amp; Deodorizing Products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9.650561384049913</c:v>
                </c:pt>
                <c:pt idx="1">
                  <c:v>9.716948567483605</c:v>
                </c:pt>
                <c:pt idx="2">
                  <c:v>9.264683574863746</c:v>
                </c:pt>
                <c:pt idx="3">
                  <c:v>9.290571648784878</c:v>
                </c:pt>
                <c:pt idx="4">
                  <c:v>9.360582354121139</c:v>
                </c:pt>
                <c:pt idx="5">
                  <c:v>9.238199502509794</c:v>
                </c:pt>
              </c:numCache>
            </c:numRef>
          </c:val>
        </c:ser>
        <c:ser>
          <c:idx val="6"/>
          <c:order val="6"/>
          <c:tx>
            <c:strRef>
              <c:strCache>
                <c:ptCount val="1"/>
                <c:pt idx="0">
                  <c:v>Ear &amp; Eye-Area Hygiene</c:v>
                </c:pt>
              </c:strCache>
            </c:strRef>
          </c:tx>
          <c:spPr>
            <a:solidFill>
              <a:srgbClr val="0E72AE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Ear &amp; Eye Hygiene Products</c:v>
                </c:pt>
                <c:pt idx="4">
                  <c:v>Dental &amp; Oral Care Products</c:v>
                </c:pt>
                <c:pt idx="5">
                  <c:v>Fragrance &amp; Deodorizing Products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7.26688332037492</c:v>
                </c:pt>
                <c:pt idx="1">
                  <c:v>7.1168141920213035</c:v>
                </c:pt>
                <c:pt idx="2">
                  <c:v>7.062601349835597</c:v>
                </c:pt>
                <c:pt idx="3">
                  <c:v>7.297201437818443</c:v>
                </c:pt>
                <c:pt idx="4">
                  <c:v>7.1727953208965465</c:v>
                </c:pt>
                <c:pt idx="5">
                  <c:v>7.499590389799961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7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Regular / Established Ingredients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Ear &amp; Eye Hygiene Products</c:v>
                </c:pt>
                <c:pt idx="4">
                  <c:v>Dental &amp; Oral Care Products</c:v>
                </c:pt>
                <c:pt idx="5">
                  <c:v>Fragrance &amp; Deodorizing Products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57.514289264413534</c:v>
                </c:pt>
                <c:pt idx="1">
                  <c:v>57.48366516673858</c:v>
                </c:pt>
                <c:pt idx="2">
                  <c:v>57.430576029876136</c:v>
                </c:pt>
                <c:pt idx="3">
                  <c:v>57.95420440903635</c:v>
                </c:pt>
                <c:pt idx="4">
                  <c:v>57.393404331129496</c:v>
                </c:pt>
                <c:pt idx="5">
                  <c:v>56.87011956938637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Niche / Specialized Ingredients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Ear &amp; Eye Hygiene Products</c:v>
                </c:pt>
                <c:pt idx="4">
                  <c:v>Dental &amp; Oral Care Products</c:v>
                </c:pt>
                <c:pt idx="5">
                  <c:v>Fragrance &amp; Deodorizing Products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29.01259721085253</c:v>
                </c:pt>
                <c:pt idx="1">
                  <c:v>29.120692843493813</c:v>
                </c:pt>
                <c:pt idx="2">
                  <c:v>29.143112296129175</c:v>
                </c:pt>
                <c:pt idx="3">
                  <c:v>28.745361781076063</c:v>
                </c:pt>
                <c:pt idx="4">
                  <c:v>29.19117938160656</c:v>
                </c:pt>
                <c:pt idx="5">
                  <c:v>29.904634942859165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Emerging Ingredients / Innovation Candidates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Ear &amp; Eye Hygiene Products</c:v>
                </c:pt>
                <c:pt idx="4">
                  <c:v>Dental &amp; Oral Care Products</c:v>
                </c:pt>
                <c:pt idx="5">
                  <c:v>Fragrance &amp; Deodorizing Products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13.473113524733952</c:v>
                </c:pt>
                <c:pt idx="1">
                  <c:v>13.395641989767615</c:v>
                </c:pt>
                <c:pt idx="2">
                  <c:v>13.426311673994693</c:v>
                </c:pt>
                <c:pt idx="3">
                  <c:v>13.30043380988759</c:v>
                </c:pt>
                <c:pt idx="4">
                  <c:v>13.415416287263945</c:v>
                </c:pt>
                <c:pt idx="5">
                  <c:v>13.225245487754469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7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Volume (MT)</c:v>
                </c:pt>
              </c:strCache>
            </c:strRef>
          </c:tx>
          <c:spPr>
            <a:solidFill>
              <a:srgbClr val="69B1E0"/>
            </a:solidFill>
            <a:ln>
              <a:noFill/>
            </a:ln>
          </c:spPr>
          <c:dLbls>
            <c:dLbl>
              <c:idx val="0"/>
              <c:numFmt formatCode="&quot;MMMMMMMM&quot;;&quot;MMMMMMMM&quot;;&quot;MMMM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MMMM&quot;;&quot;MMMMMMMM&quot;;&quot;MMMM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MMMM&quot;;&quot;MMMMMMMM&quot;;&quot;MMMM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MMMM&quot;;&quot;MMMMMMMM&quot;;&quot;MMMM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MMMM&quot;;&quot;MMMMMMMM&quot;;&quot;MMMM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MMMM&quot;;&quot;MMMMMMMM&quot;;&quot;MMMM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MMMMMMM&quot;;&quot;MMMMMMMM&quot;;&quot;MMMM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MMMMMMM&quot;;&quot;MMMMMMMM&quot;;&quot;MMMM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MMMMMMMM&quot;;&quot;MMMMMMMM&quot;;&quot;MMMM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MMMMMMMM&quot;;&quot;MMMMMMMM&quot;;&quot;MMMM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MMMMMMMM&quot;;&quot;MMMMMMMM&quot;;&quot;MMMMM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MMMMMMMM&quot;;&quot;MMMMMMMM&quot;;&quot;MMMMM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MMMMMMMM&quot;;&quot;MMMMMMMM&quot;;&quot;MMMMMMMM&quot;" sourceLinked="0"/>
              <c:spPr>
                <a:blipFill>
                  <a:blip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MMMMMMMM&quot;;&quot;MMMMMMMM&quot;;&quot;MMMMMMMM&quot;" sourceLinked="0"/>
              <c:spPr>
                <a:blipFill>
                  <a:blip r:embed="rId1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MMMMMMMM&quot;;&quot;MMMMMMMM&quot;;&quot;MMMMMMMM&quot;" sourceLinked="0"/>
              <c:spPr>
                <a:blipFill>
                  <a:blip r:embed="rId1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MMMMMMMM&quot;;&quot;MMMMMMMM&quot;;&quot;MMMMMMMM&quot;" sourceLinked="0"/>
              <c:spPr>
                <a:blipFill>
                  <a:blip r:embed="rId1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solidFill>
                      <a:srgbClr val="6C7A89"/>
                    </a:solidFill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24532.0</c:v>
                </c:pt>
                <c:pt idx="1">
                  <c:v>25736.0</c:v>
                </c:pt>
                <c:pt idx="2">
                  <c:v>26732.0</c:v>
                </c:pt>
                <c:pt idx="3">
                  <c:v>27888.0</c:v>
                </c:pt>
                <c:pt idx="4">
                  <c:v>29261.0</c:v>
                </c:pt>
                <c:pt idx="5">
                  <c:v>30690.0</c:v>
                </c:pt>
                <c:pt idx="6">
                  <c:v>32448.0</c:v>
                </c:pt>
                <c:pt idx="7">
                  <c:v>34176.0</c:v>
                </c:pt>
                <c:pt idx="8">
                  <c:v>36087.0</c:v>
                </c:pt>
                <c:pt idx="9">
                  <c:v>37894.0</c:v>
                </c:pt>
                <c:pt idx="10">
                  <c:v>39839.0</c:v>
                </c:pt>
                <c:pt idx="11">
                  <c:v>41841.0</c:v>
                </c:pt>
                <c:pt idx="12">
                  <c:v>44237.0</c:v>
                </c:pt>
                <c:pt idx="13">
                  <c:v>46329.0</c:v>
                </c:pt>
                <c:pt idx="14">
                  <c:v>48743.0</c:v>
                </c:pt>
                <c:pt idx="15">
                  <c:v>51354.0</c:v>
                </c:pt>
              </c:numCache>
            </c:numRef>
          </c:val>
        </c:ser>
        <c:gapWidth val="50"/>
        <c:axId val="-2068027336"/>
        <c:axId val="-2113994440"/>
      </c:barChart>
      <c:barChart>
        <c:barDir val="col"/>
        <c:grouping val="clustered"/>
        <c:varyColors val="0"/>
        <c:ser>
          <c:idx val="1"/>
          <c:order val="1"/>
          <c:tx>
            <c:strRef>
              <c:strCache>
                <c:ptCount val="1"/>
                <c:pt idx="0">
                  <c:v>Previous Year Volume</c:v>
                </c:pt>
              </c:strCache>
            </c:strRef>
          </c:tx>
          <c:spPr>
            <a:solidFill>
              <a:srgbClr val="C55A11"/>
            </a:solidFill>
            <a:ln>
              <a:noFill/>
            </a:ln>
          </c:spPr>
          <c:dLbls>
            <c:dLbl>
              <c:idx val="1"/>
              <c:numFmt formatCode="&quot;MMMMMMMM&quot;;&quot;MMMMMMMM&quot;;&quot;MMMM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MMMM&quot;;&quot;MMMMMMMM&quot;;&quot;MMMM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MMMM&quot;;&quot;MMMMMMMM&quot;;&quot;MMMM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MMMM&quot;;&quot;MMMMMMMM&quot;;&quot;MMMM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MMMM&quot;;&quot;MMMMMMMM&quot;;&quot;MMMM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MMMMMMM&quot;;&quot;MMMMMMMM&quot;;&quot;MMMM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MMMMMMM&quot;;&quot;MMMMMMMM&quot;;&quot;MMMM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MMMMMMMM&quot;;&quot;MMMMMMMM&quot;;&quot;MMMM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MMMMMMMM&quot;;&quot;MMMMMMMM&quot;;&quot;MMMM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MMMMMMMM&quot;;&quot;MMMMMMMM&quot;;&quot;MMMM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MMMMMMMM&quot;;&quot;MMMMMMMM&quot;;&quot;MMMMM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MMMMMMMM&quot;;&quot;MMMMMMMM&quot;;&quot;MMMMM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MMMMMMMM&quot;;&quot;MMMMMMMM&quot;;&quot;MMMMMMMM&quot;" sourceLinked="0"/>
              <c:spPr>
                <a:blipFill>
                  <a:blip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MMMMMMMM&quot;;&quot;MMMMMMMM&quot;;&quot;MMMMMMMM&quot;" sourceLinked="0"/>
              <c:spPr>
                <a:blipFill>
                  <a:blip r:embed="rId1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MMMMMMMM&quot;;&quot;MMMMMMMM&quot;;&quot;MMMMMMMM&quot;" sourceLinked="0"/>
              <c:spPr>
                <a:blipFill>
                  <a:blip r:embed="rId1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1">
                  <c:v>24532.0</c:v>
                </c:pt>
                <c:pt idx="2">
                  <c:v>25736.0</c:v>
                </c:pt>
                <c:pt idx="3">
                  <c:v>26732.0</c:v>
                </c:pt>
                <c:pt idx="4">
                  <c:v>27888.0</c:v>
                </c:pt>
                <c:pt idx="5">
                  <c:v>29261.0</c:v>
                </c:pt>
                <c:pt idx="6">
                  <c:v>30690.0</c:v>
                </c:pt>
                <c:pt idx="7">
                  <c:v>32448.0</c:v>
                </c:pt>
                <c:pt idx="8">
                  <c:v>34176.0</c:v>
                </c:pt>
                <c:pt idx="9">
                  <c:v>36087.0</c:v>
                </c:pt>
                <c:pt idx="10">
                  <c:v>37894.0</c:v>
                </c:pt>
                <c:pt idx="11">
                  <c:v>39839.0</c:v>
                </c:pt>
                <c:pt idx="12">
                  <c:v>41841.0</c:v>
                </c:pt>
                <c:pt idx="13">
                  <c:v>44237.0</c:v>
                </c:pt>
                <c:pt idx="14">
                  <c:v>46329.0</c:v>
                </c:pt>
                <c:pt idx="15">
                  <c:v>48743.0</c:v>
                </c:pt>
              </c:numCache>
            </c:numRef>
          </c:val>
        </c:ser>
        <c:gapWidth val="219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max val="60598"/>
          <c:min val="0"/>
        </c:scaling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8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Series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Pt>
            <c:idx val="0"/>
            <c:spPr>
              <a:solidFill>
                <a:srgbClr val="3D85C6"/>
              </a:solidFill>
            </c:spPr>
          </c:dPt>
          <c:dPt>
            <c:idx val="1"/>
            <c:spPr>
              <a:solidFill>
                <a:srgbClr val="9E7E0A"/>
              </a:solidFill>
            </c:spPr>
          </c:dPt>
          <c:dLbls>
            <c:dLbl>
              <c:idx val="0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.0&quot;%&quot;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Germany</c:v>
                </c:pt>
                <c:pt idx="1">
                  <c:v>Europe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5.282875716221902</c:v>
                </c:pt>
                <c:pt idx="1">
                  <c:v>5.528600737066491</c:v>
                </c:pt>
              </c:numCache>
            </c:numRef>
          </c:val>
        </c:ser>
        <c:dLbls>
          <c:numFmt formatCode="0.0&quot;%&quot;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7.187180958186439"/>
          <c:min val="0.0"/>
        </c:scaling>
        <c:delete val="0"/>
        <c:axPos val="l"/>
        <c:numFmt formatCode="0&quot;%&quot;" sourceLinked="0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8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12"/>
                <c:pt idx="0">
                  <c:v>2026</c:v>
                </c:pt>
                <c:pt idx="1">
                  <c:v>2027</c:v>
                </c:pt>
                <c:pt idx="2">
                  <c:v>2028</c:v>
                </c:pt>
                <c:pt idx="3">
                  <c:v>2029</c:v>
                </c:pt>
                <c:pt idx="4">
                  <c:v>2030</c:v>
                </c:pt>
                <c:pt idx="5">
                  <c:v>2031</c:v>
                </c:pt>
                <c:pt idx="6">
                  <c:v>2032</c:v>
                </c:pt>
                <c:pt idx="7">
                  <c:v>2033</c:v>
                </c:pt>
                <c:pt idx="8">
                  <c:v>2034</c:v>
                </c:pt>
                <c:pt idx="9">
                  <c:v>2035</c:v>
                </c:pt>
                <c:pt idx="10">
                  <c:v>2036</c:v>
                </c:pt>
                <c:pt idx="11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12"/>
                <c:pt idx="0">
                  <c:v>0.0</c:v>
                </c:pt>
                <c:pt idx="1">
                  <c:v>30690.0</c:v>
                </c:pt>
                <c:pt idx="2">
                  <c:v>32448.0</c:v>
                </c:pt>
                <c:pt idx="3">
                  <c:v>34176.0</c:v>
                </c:pt>
                <c:pt idx="4">
                  <c:v>36087.0</c:v>
                </c:pt>
                <c:pt idx="5">
                  <c:v>37894.0</c:v>
                </c:pt>
                <c:pt idx="6">
                  <c:v>39839.0</c:v>
                </c:pt>
                <c:pt idx="7">
                  <c:v>41841.0</c:v>
                </c:pt>
                <c:pt idx="8">
                  <c:v>44237.0</c:v>
                </c:pt>
                <c:pt idx="9">
                  <c:v>46329.0</c:v>
                </c:pt>
                <c:pt idx="10">
                  <c:v>48743.0</c:v>
                </c:pt>
                <c:pt idx="11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08189"/>
              </a:solidFill>
            </c:spPr>
          </c:dPt>
          <c:dPt>
            <c:idx val="7"/>
            <c:spPr>
              <a:solidFill>
                <a:srgbClr val="008189"/>
              </a:solidFill>
            </c:spPr>
          </c:dPt>
          <c:dPt>
            <c:idx val="8"/>
            <c:spPr>
              <a:solidFill>
                <a:srgbClr val="008189"/>
              </a:solidFill>
            </c:spPr>
          </c:dPt>
          <c:dPt>
            <c:idx val="9"/>
            <c:spPr>
              <a:solidFill>
                <a:srgbClr val="008189"/>
              </a:solidFill>
            </c:spPr>
          </c:dPt>
          <c:dPt>
            <c:idx val="10"/>
            <c:spPr>
              <a:solidFill>
                <a:srgbClr val="008189"/>
              </a:solidFill>
            </c:spPr>
          </c:dPt>
          <c:dPt>
            <c:idx val="11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2"/>
                <c:pt idx="0">
                  <c:v>2026</c:v>
                </c:pt>
                <c:pt idx="1">
                  <c:v>2027</c:v>
                </c:pt>
                <c:pt idx="2">
                  <c:v>2028</c:v>
                </c:pt>
                <c:pt idx="3">
                  <c:v>2029</c:v>
                </c:pt>
                <c:pt idx="4">
                  <c:v>2030</c:v>
                </c:pt>
                <c:pt idx="5">
                  <c:v>2031</c:v>
                </c:pt>
                <c:pt idx="6">
                  <c:v>2032</c:v>
                </c:pt>
                <c:pt idx="7">
                  <c:v>2033</c:v>
                </c:pt>
                <c:pt idx="8">
                  <c:v>2034</c:v>
                </c:pt>
                <c:pt idx="9">
                  <c:v>2035</c:v>
                </c:pt>
                <c:pt idx="10">
                  <c:v>2036</c:v>
                </c:pt>
                <c:pt idx="11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12"/>
                <c:pt idx="0">
                  <c:v>30690.0</c:v>
                </c:pt>
                <c:pt idx="1">
                  <c:v>1758.0</c:v>
                </c:pt>
                <c:pt idx="2">
                  <c:v>1728.0</c:v>
                </c:pt>
                <c:pt idx="3">
                  <c:v>1911.0</c:v>
                </c:pt>
                <c:pt idx="4">
                  <c:v>1807.0</c:v>
                </c:pt>
                <c:pt idx="5">
                  <c:v>1945.0</c:v>
                </c:pt>
                <c:pt idx="6">
                  <c:v>2002.0</c:v>
                </c:pt>
                <c:pt idx="7">
                  <c:v>2396.0</c:v>
                </c:pt>
                <c:pt idx="8">
                  <c:v>2092.0</c:v>
                </c:pt>
                <c:pt idx="9">
                  <c:v>2414.0</c:v>
                </c:pt>
                <c:pt idx="10">
                  <c:v>2611.0</c:v>
                </c:pt>
                <c:pt idx="11">
                  <c:v>51354.0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8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Series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Pt>
            <c:idx val="0"/>
            <c:spPr>
              <a:solidFill>
                <a:srgbClr val="3D85C6"/>
              </a:solidFill>
            </c:spPr>
          </c:dPt>
          <c:dLbls>
            <c:dLbl>
              <c:idx val="0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.0%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"/>
                <c:pt idx="0">
                  <c:v>Share of Europe</c:v>
                </c:pt>
              </c:strCache>
            </c:strRef>
          </c:cat>
          <c:val>
            <c:numRef>
              <c:numCache>
                <c:formatCode>General</c:formatCode>
                <c:ptCount val="1"/>
                <c:pt idx="0">
                  <c:v>0.1819270394916239</c:v>
                </c:pt>
              </c:numCache>
            </c:numRef>
          </c:val>
        </c:ser>
        <c:dLbls>
          <c:numFmt formatCode="0.0%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0.2328666105492786"/>
          <c:min val="0.0"/>
        </c:scaling>
        <c:delete val="0"/>
        <c:axPos val="b"/>
        <c:numFmt formatCode="0%" sourceLinked="0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8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Value (US$ Mn)</c:v>
                </c:pt>
              </c:strCache>
            </c:strRef>
          </c:tx>
          <c:spPr>
            <a:solidFill>
              <a:srgbClr val="69B1E0"/>
            </a:solidFill>
            <a:ln>
              <a:noFill/>
            </a:ln>
          </c:spPr>
          <c:dLbls>
            <c:dLbl>
              <c:idx val="0"/>
              <c:numFmt formatCode="&quot;MMMMM&quot;;&quot;MMMMM&quot;;&quot;M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M&quot;;&quot;MMMMM&quot;;&quot;M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M&quot;;&quot;MMMMM&quot;;&quot;M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M&quot;;&quot;MMMMM&quot;;&quot;M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M&quot;;&quot;MMMMM&quot;;&quot;M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M&quot;;&quot;MMMMM&quot;;&quot;M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MMMM&quot;;&quot;MMMMM&quot;;&quot;M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MMMM&quot;;&quot;MMMMM&quot;;&quot;M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MMMMM&quot;;&quot;MMMMM&quot;;&quot;M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MMMMM&quot;;&quot;MMMMM&quot;;&quot;M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MMMMM&quot;;&quot;MMMMM&quot;;&quot;MM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MMMMM&quot;;&quot;MMMMM&quot;;&quot;MM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MMMMM&quot;;&quot;MMMMM&quot;;&quot;MMMMM&quot;" sourceLinked="0"/>
              <c:spPr>
                <a:blipFill>
                  <a:blip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MMMMM&quot;;&quot;MMMMM&quot;;&quot;MMMMM&quot;" sourceLinked="0"/>
              <c:spPr>
                <a:blipFill>
                  <a:blip r:embed="rId1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MMMMM&quot;;&quot;MMMMM&quot;;&quot;MMMMM&quot;" sourceLinked="0"/>
              <c:spPr>
                <a:blipFill>
                  <a:blip r:embed="rId1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MMMMM&quot;;&quot;MMMMM&quot;;&quot;MMMMM&quot;" sourceLinked="0"/>
              <c:spPr>
                <a:blipFill>
                  <a:blip r:embed="rId1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solidFill>
                      <a:srgbClr val="6C7A89"/>
                    </a:solidFill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405.91600000000005</c:v>
                </c:pt>
                <c:pt idx="1">
                  <c:v>428.566</c:v>
                </c:pt>
                <c:pt idx="2">
                  <c:v>447.909</c:v>
                </c:pt>
                <c:pt idx="3">
                  <c:v>470.2289999999999</c:v>
                </c:pt>
                <c:pt idx="4">
                  <c:v>496.5279999999999</c:v>
                </c:pt>
                <c:pt idx="5">
                  <c:v>523.9780000000001</c:v>
                </c:pt>
                <c:pt idx="6">
                  <c:v>557.437</c:v>
                </c:pt>
                <c:pt idx="7">
                  <c:v>590.6650000000001</c:v>
                </c:pt>
                <c:pt idx="8">
                  <c:v>627.469</c:v>
                </c:pt>
                <c:pt idx="9">
                  <c:v>662.952</c:v>
                </c:pt>
                <c:pt idx="10">
                  <c:v>701.1880000000001</c:v>
                </c:pt>
                <c:pt idx="11">
                  <c:v>740.782</c:v>
                </c:pt>
                <c:pt idx="12">
                  <c:v>787.925</c:v>
                </c:pt>
                <c:pt idx="13">
                  <c:v>830.0680000000001</c:v>
                </c:pt>
                <c:pt idx="14">
                  <c:v>878.423</c:v>
                </c:pt>
                <c:pt idx="15">
                  <c:v>930.8270000000001</c:v>
                </c:pt>
              </c:numCache>
            </c:numRef>
          </c:val>
        </c:ser>
        <c:gapWidth val="50"/>
        <c:axId val="-2068027336"/>
        <c:axId val="-2113994440"/>
      </c:barChart>
      <c:barChart>
        <c:barDir val="col"/>
        <c:grouping val="clustered"/>
        <c:varyColors val="0"/>
        <c:ser>
          <c:idx val="1"/>
          <c:order val="1"/>
          <c:tx>
            <c:strRef>
              <c:strCache>
                <c:ptCount val="1"/>
                <c:pt idx="0">
                  <c:v>Previous Year Value</c:v>
                </c:pt>
              </c:strCache>
            </c:strRef>
          </c:tx>
          <c:spPr>
            <a:solidFill>
              <a:srgbClr val="C55A11"/>
            </a:solidFill>
            <a:ln>
              <a:noFill/>
            </a:ln>
          </c:spPr>
          <c:dLbls>
            <c:dLbl>
              <c:idx val="1"/>
              <c:numFmt formatCode="&quot;MMMMM&quot;;&quot;MMMMM&quot;;&quot;M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M&quot;;&quot;MMMMM&quot;;&quot;M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M&quot;;&quot;MMMMM&quot;;&quot;M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M&quot;;&quot;MMMMM&quot;;&quot;M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M&quot;;&quot;MMMMM&quot;;&quot;M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MMMM&quot;;&quot;MMMMM&quot;;&quot;M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MMMM&quot;;&quot;MMMMM&quot;;&quot;M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MMMMM&quot;;&quot;MMMMM&quot;;&quot;M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MMMMM&quot;;&quot;MMMMM&quot;;&quot;M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MMMMM&quot;;&quot;MMMMM&quot;;&quot;M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MMMMM&quot;;&quot;MMMMM&quot;;&quot;MM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MMMMM&quot;;&quot;MMMMM&quot;;&quot;MM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MMMMM&quot;;&quot;MMMMM&quot;;&quot;MMMMM&quot;" sourceLinked="0"/>
              <c:spPr>
                <a:blipFill>
                  <a:blip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MMMMM&quot;;&quot;MMMMM&quot;;&quot;MMMMM&quot;" sourceLinked="0"/>
              <c:spPr>
                <a:blipFill>
                  <a:blip r:embed="rId1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MMMMM&quot;;&quot;MMMMM&quot;;&quot;MMMMM&quot;" sourceLinked="0"/>
              <c:spPr>
                <a:blipFill>
                  <a:blip r:embed="rId1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1">
                  <c:v>405.91600000000005</c:v>
                </c:pt>
                <c:pt idx="2">
                  <c:v>428.566</c:v>
                </c:pt>
                <c:pt idx="3">
                  <c:v>447.909</c:v>
                </c:pt>
                <c:pt idx="4">
                  <c:v>470.2289999999999</c:v>
                </c:pt>
                <c:pt idx="5">
                  <c:v>496.5279999999999</c:v>
                </c:pt>
                <c:pt idx="6">
                  <c:v>523.9780000000001</c:v>
                </c:pt>
                <c:pt idx="7">
                  <c:v>557.437</c:v>
                </c:pt>
                <c:pt idx="8">
                  <c:v>590.6650000000001</c:v>
                </c:pt>
                <c:pt idx="9">
                  <c:v>627.469</c:v>
                </c:pt>
                <c:pt idx="10">
                  <c:v>662.952</c:v>
                </c:pt>
                <c:pt idx="11">
                  <c:v>701.1880000000001</c:v>
                </c:pt>
                <c:pt idx="12">
                  <c:v>740.782</c:v>
                </c:pt>
                <c:pt idx="13">
                  <c:v>787.925</c:v>
                </c:pt>
                <c:pt idx="14">
                  <c:v>830.0680000000001</c:v>
                </c:pt>
                <c:pt idx="15">
                  <c:v>878.423</c:v>
                </c:pt>
              </c:numCache>
            </c:numRef>
          </c:val>
        </c:ser>
        <c:gapWidth val="219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max val="1098"/>
          <c:min val="0"/>
        </c:scaling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8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Series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Pt>
            <c:idx val="0"/>
            <c:spPr>
              <a:solidFill>
                <a:srgbClr val="3D85C6"/>
              </a:solidFill>
            </c:spPr>
          </c:dPt>
          <c:dPt>
            <c:idx val="1"/>
            <c:spPr>
              <a:solidFill>
                <a:srgbClr val="9E7E0A"/>
              </a:solidFill>
            </c:spPr>
          </c:dPt>
          <c:dLbls>
            <c:dLbl>
              <c:idx val="0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.0&quot;%&quot;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Germany</c:v>
                </c:pt>
                <c:pt idx="1">
                  <c:v>Europe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5.914541845776666</c:v>
                </c:pt>
                <c:pt idx="1">
                  <c:v>6.0946929912261805</c:v>
                </c:pt>
              </c:numCache>
            </c:numRef>
          </c:val>
        </c:ser>
        <c:dLbls>
          <c:numFmt formatCode="0.0&quot;%&quot;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7.923100888594035"/>
          <c:min val="0.0"/>
        </c:scaling>
        <c:delete val="0"/>
        <c:axPos val="l"/>
        <c:numFmt formatCode="0&quot;%&quot;" sourceLinked="0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8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12"/>
                <c:pt idx="0">
                  <c:v>2026</c:v>
                </c:pt>
                <c:pt idx="1">
                  <c:v>2027</c:v>
                </c:pt>
                <c:pt idx="2">
                  <c:v>2028</c:v>
                </c:pt>
                <c:pt idx="3">
                  <c:v>2029</c:v>
                </c:pt>
                <c:pt idx="4">
                  <c:v>2030</c:v>
                </c:pt>
                <c:pt idx="5">
                  <c:v>2031</c:v>
                </c:pt>
                <c:pt idx="6">
                  <c:v>2032</c:v>
                </c:pt>
                <c:pt idx="7">
                  <c:v>2033</c:v>
                </c:pt>
                <c:pt idx="8">
                  <c:v>2034</c:v>
                </c:pt>
                <c:pt idx="9">
                  <c:v>2035</c:v>
                </c:pt>
                <c:pt idx="10">
                  <c:v>2036</c:v>
                </c:pt>
                <c:pt idx="11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12"/>
                <c:pt idx="0">
                  <c:v>0.0</c:v>
                </c:pt>
                <c:pt idx="1">
                  <c:v>523.9780000000001</c:v>
                </c:pt>
                <c:pt idx="2">
                  <c:v>557.437</c:v>
                </c:pt>
                <c:pt idx="3">
                  <c:v>590.6650000000001</c:v>
                </c:pt>
                <c:pt idx="4">
                  <c:v>627.469</c:v>
                </c:pt>
                <c:pt idx="5">
                  <c:v>662.952</c:v>
                </c:pt>
                <c:pt idx="6">
                  <c:v>701.1880000000001</c:v>
                </c:pt>
                <c:pt idx="7">
                  <c:v>740.782</c:v>
                </c:pt>
                <c:pt idx="8">
                  <c:v>787.925</c:v>
                </c:pt>
                <c:pt idx="9">
                  <c:v>830.0680000000001</c:v>
                </c:pt>
                <c:pt idx="10">
                  <c:v>878.423</c:v>
                </c:pt>
                <c:pt idx="11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08189"/>
              </a:solidFill>
            </c:spPr>
          </c:dPt>
          <c:dPt>
            <c:idx val="7"/>
            <c:spPr>
              <a:solidFill>
                <a:srgbClr val="008189"/>
              </a:solidFill>
            </c:spPr>
          </c:dPt>
          <c:dPt>
            <c:idx val="8"/>
            <c:spPr>
              <a:solidFill>
                <a:srgbClr val="008189"/>
              </a:solidFill>
            </c:spPr>
          </c:dPt>
          <c:dPt>
            <c:idx val="9"/>
            <c:spPr>
              <a:solidFill>
                <a:srgbClr val="008189"/>
              </a:solidFill>
            </c:spPr>
          </c:dPt>
          <c:dPt>
            <c:idx val="10"/>
            <c:spPr>
              <a:solidFill>
                <a:srgbClr val="008189"/>
              </a:solidFill>
            </c:spPr>
          </c:dPt>
          <c:dPt>
            <c:idx val="11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2"/>
                <c:pt idx="0">
                  <c:v>2026</c:v>
                </c:pt>
                <c:pt idx="1">
                  <c:v>2027</c:v>
                </c:pt>
                <c:pt idx="2">
                  <c:v>2028</c:v>
                </c:pt>
                <c:pt idx="3">
                  <c:v>2029</c:v>
                </c:pt>
                <c:pt idx="4">
                  <c:v>2030</c:v>
                </c:pt>
                <c:pt idx="5">
                  <c:v>2031</c:v>
                </c:pt>
                <c:pt idx="6">
                  <c:v>2032</c:v>
                </c:pt>
                <c:pt idx="7">
                  <c:v>2033</c:v>
                </c:pt>
                <c:pt idx="8">
                  <c:v>2034</c:v>
                </c:pt>
                <c:pt idx="9">
                  <c:v>2035</c:v>
                </c:pt>
                <c:pt idx="10">
                  <c:v>2036</c:v>
                </c:pt>
                <c:pt idx="11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12"/>
                <c:pt idx="0">
                  <c:v>523.9780000000001</c:v>
                </c:pt>
                <c:pt idx="1">
                  <c:v>33.458999999999946</c:v>
                </c:pt>
                <c:pt idx="2">
                  <c:v>33.228000000000065</c:v>
                </c:pt>
                <c:pt idx="3">
                  <c:v>36.803999999999974</c:v>
                </c:pt>
                <c:pt idx="4">
                  <c:v>35.48299999999995</c:v>
                </c:pt>
                <c:pt idx="5">
                  <c:v>38.236000000000104</c:v>
                </c:pt>
                <c:pt idx="6">
                  <c:v>39.59399999999994</c:v>
                </c:pt>
                <c:pt idx="7">
                  <c:v>47.142999999999915</c:v>
                </c:pt>
                <c:pt idx="8">
                  <c:v>42.14300000000014</c:v>
                </c:pt>
                <c:pt idx="9">
                  <c:v>48.354999999999905</c:v>
                </c:pt>
                <c:pt idx="10">
                  <c:v>52.40400000000011</c:v>
                </c:pt>
                <c:pt idx="11">
                  <c:v>930.8270000000001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8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Series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Pt>
            <c:idx val="0"/>
            <c:spPr>
              <a:solidFill>
                <a:srgbClr val="3D85C6"/>
              </a:solidFill>
            </c:spPr>
          </c:dPt>
          <c:dLbls>
            <c:dLbl>
              <c:idx val="0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.0%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"/>
                <c:pt idx="0">
                  <c:v>Share of Europe</c:v>
                </c:pt>
              </c:strCache>
            </c:strRef>
          </c:cat>
          <c:val>
            <c:numRef>
              <c:numCache>
                <c:formatCode>General</c:formatCode>
                <c:ptCount val="1"/>
                <c:pt idx="0">
                  <c:v>0.16622760433123576</c:v>
                </c:pt>
              </c:numCache>
            </c:numRef>
          </c:val>
        </c:ser>
        <c:dLbls>
          <c:numFmt formatCode="0.0%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0.21277133354398178"/>
          <c:min val="0.0"/>
        </c:scaling>
        <c:delete val="0"/>
        <c:axPos val="b"/>
        <c:numFmt formatCode="0%" sourceLinked="0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8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Series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Pt>
            <c:idx val="0"/>
            <c:spPr>
              <a:solidFill>
                <a:srgbClr val="FFFFFF"/>
              </a:solidFill>
            </c:spPr>
          </c:dPt>
          <c:dPt>
            <c:idx val="1"/>
            <c:spPr>
              <a:solidFill>
                <a:srgbClr val="FFFFFF"/>
              </a:solidFill>
            </c:spPr>
          </c:dPt>
          <c:dPt>
            <c:idx val="2"/>
            <c:spPr>
              <a:solidFill>
                <a:srgbClr val="9EC6DE"/>
              </a:solidFill>
            </c:spPr>
          </c:dPt>
          <c:dPt>
            <c:idx val="3"/>
            <c:spPr>
              <a:solidFill>
                <a:srgbClr val="81B5D4"/>
              </a:solidFill>
            </c:spPr>
          </c:dPt>
          <c:dPt>
            <c:idx val="4"/>
            <c:spPr>
              <a:solidFill>
                <a:srgbClr val="64A4CB"/>
              </a:solidFill>
            </c:spPr>
          </c:dPt>
          <c:dPt>
            <c:idx val="5"/>
            <c:spPr>
              <a:solidFill>
                <a:srgbClr val="4793C1"/>
              </a:solidFill>
            </c:spPr>
          </c:dPt>
          <c:dPt>
            <c:idx val="6"/>
            <c:spPr>
              <a:solidFill>
                <a:srgbClr val="2A82B7"/>
              </a:solidFill>
            </c:spPr>
          </c:dPt>
          <c:dPt>
            <c:idx val="7"/>
            <c:spPr>
              <a:solidFill>
                <a:srgbClr val="0E72AE"/>
              </a:solidFill>
            </c:spPr>
          </c:dPt>
          <c:dLbls>
            <c:dLbl>
              <c:idx val="2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8"/>
                <c:pt idx="0">
                  <c:v> </c:v>
                </c:pt>
                <c:pt idx="1">
                  <c:v>  </c:v>
                </c:pt>
                <c:pt idx="2">
                  <c:v>Ear &amp; Eye Hygiene Pro…</c:v>
                </c:pt>
                <c:pt idx="3">
                  <c:v>Fragrance &amp; Deodorizi…</c:v>
                </c:pt>
                <c:pt idx="4">
                  <c:v>Skin, Paw &amp; Nose Care…</c:v>
                </c:pt>
                <c:pt idx="5">
                  <c:v>Dental &amp; Oral Care Pr…</c:v>
                </c:pt>
                <c:pt idx="6">
                  <c:v>Coat Conditioning &amp; G…</c:v>
                </c:pt>
                <c:pt idx="7">
                  <c:v>Shampoos &amp; Cleansing…</c:v>
                </c:pt>
              </c:strCache>
            </c:strRef>
          </c:cat>
          <c:val>
            <c:numRef>
              <c:numCache>
                <c:formatCode>General</c:formatCode>
                <c:ptCount val="8"/>
                <c:pt idx="2">
                  <c:v>40.718</c:v>
                </c:pt>
                <c:pt idx="3">
                  <c:v>43.306</c:v>
                </c:pt>
                <c:pt idx="4">
                  <c:v>59.513</c:v>
                </c:pt>
                <c:pt idx="5">
                  <c:v>69.303</c:v>
                </c:pt>
                <c:pt idx="6">
                  <c:v>79.935</c:v>
                </c:pt>
                <c:pt idx="7">
                  <c:v>231.203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309.81202"/>
          <c:min val="0.0"/>
        </c:scaling>
        <c:delete val="0"/>
        <c:axPos val="b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8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Series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Pt>
            <c:idx val="0"/>
            <c:spPr>
              <a:solidFill>
                <a:srgbClr val="FFFFFF"/>
              </a:solidFill>
            </c:spPr>
          </c:dPt>
          <c:dPt>
            <c:idx val="1"/>
            <c:spPr>
              <a:solidFill>
                <a:srgbClr val="FFFFFF"/>
              </a:solidFill>
            </c:spPr>
          </c:dPt>
          <c:dPt>
            <c:idx val="2"/>
            <c:spPr>
              <a:solidFill>
                <a:srgbClr val="FFFFFF"/>
              </a:solidFill>
            </c:spPr>
          </c:dPt>
          <c:dPt>
            <c:idx val="3"/>
            <c:spPr>
              <a:solidFill>
                <a:srgbClr val="FFFFFF"/>
              </a:solidFill>
            </c:spPr>
          </c:dPt>
          <c:dPt>
            <c:idx val="4"/>
            <c:spPr>
              <a:solidFill>
                <a:srgbClr val="FFFFFF"/>
              </a:solidFill>
            </c:spPr>
          </c:dPt>
          <c:dPt>
            <c:idx val="5"/>
            <c:spPr>
              <a:solidFill>
                <a:srgbClr val="9DABB6"/>
              </a:solidFill>
            </c:spPr>
          </c:dPt>
          <c:dPt>
            <c:idx val="6"/>
            <c:spPr>
              <a:solidFill>
                <a:srgbClr val="546C80"/>
              </a:solidFill>
            </c:spPr>
          </c:dPt>
          <c:dPt>
            <c:idx val="7"/>
            <c:spPr>
              <a:solidFill>
                <a:srgbClr val="0B2E4A"/>
              </a:solidFill>
            </c:spPr>
          </c:dPt>
          <c:dLbls>
            <c:dLbl>
              <c:idx val="5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8"/>
                <c:pt idx="0">
                  <c:v> </c:v>
                </c:pt>
                <c:pt idx="1">
                  <c:v>  </c:v>
                </c:pt>
                <c:pt idx="2">
                  <c:v>   </c:v>
                </c:pt>
                <c:pt idx="3">
                  <c:v>    </c:v>
                </c:pt>
                <c:pt idx="4">
                  <c:v>     </c:v>
                </c:pt>
                <c:pt idx="5">
                  <c:v>Emerging Ingredients…</c:v>
                </c:pt>
                <c:pt idx="6">
                  <c:v>Niche / Specialized I…</c:v>
                </c:pt>
                <c:pt idx="7">
                  <c:v>Regular / Established…</c:v>
                </c:pt>
              </c:strCache>
            </c:strRef>
          </c:cat>
          <c:val>
            <c:numRef>
              <c:numCache>
                <c:formatCode>General</c:formatCode>
                <c:ptCount val="8"/>
                <c:pt idx="5">
                  <c:v>66.334</c:v>
                </c:pt>
                <c:pt idx="6">
                  <c:v>169.798</c:v>
                </c:pt>
                <c:pt idx="7">
                  <c:v>287.847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385.71497999999997"/>
          <c:min val="0.0"/>
        </c:scaling>
        <c:delete val="0"/>
        <c:axPos val="b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8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Series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Pt>
            <c:idx val="0"/>
            <c:spPr>
              <a:solidFill>
                <a:srgbClr val="C5B1E6"/>
              </a:solidFill>
            </c:spPr>
          </c:dPt>
          <c:dPt>
            <c:idx val="1"/>
            <c:spPr>
              <a:solidFill>
                <a:srgbClr val="B9A0E1"/>
              </a:solidFill>
            </c:spPr>
          </c:dPt>
          <c:dPt>
            <c:idx val="2"/>
            <c:spPr>
              <a:solidFill>
                <a:srgbClr val="AC8FDC"/>
              </a:solidFill>
            </c:spPr>
          </c:dPt>
          <c:dPt>
            <c:idx val="3"/>
            <c:spPr>
              <a:solidFill>
                <a:srgbClr val="A07ED6"/>
              </a:solidFill>
            </c:spPr>
          </c:dPt>
          <c:dPt>
            <c:idx val="4"/>
            <c:spPr>
              <a:solidFill>
                <a:srgbClr val="946ED1"/>
              </a:solidFill>
            </c:spPr>
          </c:dPt>
          <c:dPt>
            <c:idx val="5"/>
            <c:spPr>
              <a:solidFill>
                <a:srgbClr val="875DCC"/>
              </a:solidFill>
            </c:spPr>
          </c:dPt>
          <c:dPt>
            <c:idx val="6"/>
            <c:spPr>
              <a:solidFill>
                <a:srgbClr val="7B4CC7"/>
              </a:solidFill>
            </c:spPr>
          </c:dPt>
          <c:dPt>
            <c:idx val="7"/>
            <c:spPr>
              <a:solidFill>
                <a:srgbClr val="6F3CC2"/>
              </a:solidFill>
            </c:spPr>
          </c:dPt>
          <c:dLbls>
            <c:dLbl>
              <c:idx val="0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8"/>
                <c:pt idx="0">
                  <c:v>Solid</c:v>
                </c:pt>
                <c:pt idx="1">
                  <c:v>Powder</c:v>
                </c:pt>
                <c:pt idx="2">
                  <c:v>Gel</c:v>
                </c:pt>
                <c:pt idx="3">
                  <c:v>Foam</c:v>
                </c:pt>
                <c:pt idx="4">
                  <c:v>Cream &amp; Balm</c:v>
                </c:pt>
                <c:pt idx="5">
                  <c:v>Wipe &amp; Pad</c:v>
                </c:pt>
                <c:pt idx="6">
                  <c:v>Spray</c:v>
                </c:pt>
                <c:pt idx="7">
                  <c:v>Liquid</c:v>
                </c:pt>
              </c:strCache>
            </c:strRef>
          </c:cat>
          <c:val>
            <c:numRef>
              <c:numCache>
                <c:formatCode>General</c:formatCode>
                <c:ptCount val="8"/>
                <c:pt idx="0">
                  <c:v>16.971</c:v>
                </c:pt>
                <c:pt idx="1">
                  <c:v>20.311</c:v>
                </c:pt>
                <c:pt idx="2">
                  <c:v>31.71</c:v>
                </c:pt>
                <c:pt idx="3">
                  <c:v>43.95</c:v>
                </c:pt>
                <c:pt idx="4">
                  <c:v>60.037</c:v>
                </c:pt>
                <c:pt idx="5">
                  <c:v>65.975</c:v>
                </c:pt>
                <c:pt idx="6">
                  <c:v>112.093</c:v>
                </c:pt>
                <c:pt idx="7">
                  <c:v>172.931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231.72754000000003"/>
          <c:min val="0.0"/>
        </c:scaling>
        <c:delete val="0"/>
        <c:axPos val="b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9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Series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Pt>
            <c:idx val="0"/>
            <c:spPr>
              <a:solidFill>
                <a:srgbClr val="FFFFFF"/>
              </a:solidFill>
            </c:spPr>
          </c:dPt>
          <c:dPt>
            <c:idx val="1"/>
            <c:spPr>
              <a:solidFill>
                <a:srgbClr val="DABAA0"/>
              </a:solidFill>
            </c:spPr>
          </c:dPt>
          <c:dPt>
            <c:idx val="2"/>
            <c:spPr>
              <a:solidFill>
                <a:srgbClr val="D1A989"/>
              </a:solidFill>
            </c:spPr>
          </c:dPt>
          <c:dPt>
            <c:idx val="3"/>
            <c:spPr>
              <a:solidFill>
                <a:srgbClr val="C79771"/>
              </a:solidFill>
            </c:spPr>
          </c:dPt>
          <c:dPt>
            <c:idx val="4"/>
            <c:spPr>
              <a:solidFill>
                <a:srgbClr val="BE8659"/>
              </a:solidFill>
            </c:spPr>
          </c:dPt>
          <c:dPt>
            <c:idx val="5"/>
            <c:spPr>
              <a:solidFill>
                <a:srgbClr val="B57542"/>
              </a:solidFill>
            </c:spPr>
          </c:dPt>
          <c:dPt>
            <c:idx val="6"/>
            <c:spPr>
              <a:solidFill>
                <a:srgbClr val="AC642A"/>
              </a:solidFill>
            </c:spPr>
          </c:dPt>
          <c:dPt>
            <c:idx val="7"/>
            <c:spPr>
              <a:solidFill>
                <a:srgbClr val="A35313"/>
              </a:solidFill>
            </c:spPr>
          </c:dPt>
          <c:dLbls>
            <c:dLbl>
              <c:idx val="1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8"/>
                <c:pt idx="0">
                  <c:v> </c:v>
                </c:pt>
                <c:pt idx="1">
                  <c:v>Ear &amp; Eye-Area Hygiene</c:v>
                </c:pt>
                <c:pt idx="2">
                  <c:v>Body &amp; Coat Odor Mana…</c:v>
                </c:pt>
                <c:pt idx="3">
                  <c:v>Dental &amp; Oral Hygiene</c:v>
                </c:pt>
                <c:pt idx="4">
                  <c:v>Skin Soothing &amp; Comfo…</c:v>
                </c:pt>
                <c:pt idx="5">
                  <c:v>Moisturizing &amp; Skin B…</c:v>
                </c:pt>
                <c:pt idx="6">
                  <c:v>Coat Conditioning &amp; S…</c:v>
                </c:pt>
                <c:pt idx="7">
                  <c:v>Cleansing &amp; General H…</c:v>
                </c:pt>
              </c:strCache>
            </c:strRef>
          </c:cat>
          <c:val>
            <c:numRef>
              <c:numCache>
                <c:formatCode>General</c:formatCode>
                <c:ptCount val="8"/>
                <c:pt idx="1">
                  <c:v>40.012</c:v>
                </c:pt>
                <c:pt idx="2">
                  <c:v>46.452</c:v>
                </c:pt>
                <c:pt idx="3">
                  <c:v>52.713</c:v>
                </c:pt>
                <c:pt idx="4">
                  <c:v>75.09899999999999</c:v>
                </c:pt>
                <c:pt idx="5">
                  <c:v>87.08</c:v>
                </c:pt>
                <c:pt idx="6">
                  <c:v>108.513</c:v>
                </c:pt>
                <c:pt idx="7">
                  <c:v>114.107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152.90338"/>
          <c:min val="0.0"/>
        </c:scaling>
        <c:delete val="0"/>
        <c:axPos val="b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9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Series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Pt>
            <c:idx val="0"/>
            <c:spPr>
              <a:solidFill>
                <a:srgbClr val="FFFFFF"/>
              </a:solidFill>
            </c:spPr>
          </c:dPt>
          <c:dPt>
            <c:idx val="1"/>
            <c:spPr>
              <a:solidFill>
                <a:srgbClr val="FFFFFF"/>
              </a:solidFill>
            </c:spPr>
          </c:dPt>
          <c:dPt>
            <c:idx val="2"/>
            <c:spPr>
              <a:solidFill>
                <a:srgbClr val="FFFFFF"/>
              </a:solidFill>
            </c:spPr>
          </c:dPt>
          <c:dPt>
            <c:idx val="3"/>
            <c:spPr>
              <a:solidFill>
                <a:srgbClr val="FFFFFF"/>
              </a:solidFill>
            </c:spPr>
          </c:dPt>
          <c:dPt>
            <c:idx val="4"/>
            <c:spPr>
              <a:solidFill>
                <a:srgbClr val="FFFFFF"/>
              </a:solidFill>
            </c:spPr>
          </c:dPt>
          <c:dPt>
            <c:idx val="5"/>
            <c:spPr>
              <a:solidFill>
                <a:srgbClr val="FFFFFF"/>
              </a:solidFill>
            </c:spPr>
          </c:dPt>
          <c:dPt>
            <c:idx val="6"/>
            <c:spPr>
              <a:solidFill>
                <a:srgbClr val="DCC599"/>
              </a:solidFill>
            </c:spPr>
          </c:dPt>
          <c:dPt>
            <c:idx val="7"/>
            <c:spPr>
              <a:solidFill>
                <a:srgbClr val="A86F00"/>
              </a:solidFill>
            </c:spPr>
          </c:dPt>
          <c:dLbls>
            <c:dLbl>
              <c:idx val="6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8"/>
                <c:pt idx="0">
                  <c:v> </c:v>
                </c:pt>
                <c:pt idx="1">
                  <c:v>  </c:v>
                </c:pt>
                <c:pt idx="2">
                  <c:v>   </c:v>
                </c:pt>
                <c:pt idx="3">
                  <c:v>    </c:v>
                </c:pt>
                <c:pt idx="4">
                  <c:v>     </c:v>
                </c:pt>
                <c:pt idx="5">
                  <c:v>      </c:v>
                </c:pt>
                <c:pt idx="6">
                  <c:v>Cats</c:v>
                </c:pt>
                <c:pt idx="7">
                  <c:v>Dogs</c:v>
                </c:pt>
              </c:strCache>
            </c:strRef>
          </c:cat>
          <c:val>
            <c:numRef>
              <c:numCache>
                <c:formatCode>General</c:formatCode>
                <c:ptCount val="8"/>
                <c:pt idx="6">
                  <c:v>169.149</c:v>
                </c:pt>
                <c:pt idx="7">
                  <c:v>354.829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475.47086"/>
          <c:min val="0.0"/>
        </c:scaling>
        <c:delete val="0"/>
        <c:axPos val="b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9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Series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Pt>
            <c:idx val="0"/>
            <c:spPr>
              <a:solidFill>
                <a:srgbClr val="FFFFFF"/>
              </a:solidFill>
            </c:spPr>
          </c:dPt>
          <c:dPt>
            <c:idx val="1"/>
            <c:spPr>
              <a:solidFill>
                <a:srgbClr val="FFFFFF"/>
              </a:solidFill>
            </c:spPr>
          </c:dPt>
          <c:dPt>
            <c:idx val="2"/>
            <c:spPr>
              <a:solidFill>
                <a:srgbClr val="FFFFFF"/>
              </a:solidFill>
            </c:spPr>
          </c:dPt>
          <c:dPt>
            <c:idx val="3"/>
            <c:spPr>
              <a:solidFill>
                <a:srgbClr val="FFFFFF"/>
              </a:solidFill>
            </c:spPr>
          </c:dPt>
          <c:dPt>
            <c:idx val="4"/>
            <c:spPr>
              <a:solidFill>
                <a:srgbClr val="FFFFFF"/>
              </a:solidFill>
            </c:spPr>
          </c:dPt>
          <c:dPt>
            <c:idx val="5"/>
            <c:spPr>
              <a:solidFill>
                <a:srgbClr val="E59999"/>
              </a:solidFill>
            </c:spPr>
          </c:dPt>
          <c:dPt>
            <c:idx val="6"/>
            <c:spPr>
              <a:solidFill>
                <a:srgbClr val="D24C4C"/>
              </a:solidFill>
            </c:spPr>
          </c:dPt>
          <c:dPt>
            <c:idx val="7"/>
            <c:spPr>
              <a:solidFill>
                <a:srgbClr val="C00000"/>
              </a:solidFill>
            </c:spPr>
          </c:dPt>
          <c:dLbls>
            <c:dLbl>
              <c:idx val="5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8"/>
                <c:pt idx="0">
                  <c:v> </c:v>
                </c:pt>
                <c:pt idx="1">
                  <c:v>  </c:v>
                </c:pt>
                <c:pt idx="2">
                  <c:v>   </c:v>
                </c:pt>
                <c:pt idx="3">
                  <c:v>    </c:v>
                </c:pt>
                <c:pt idx="4">
                  <c:v>     </c:v>
                </c:pt>
                <c:pt idx="5">
                  <c:v>Solid, Powder &amp; Weigh…</c:v>
                </c:pt>
                <c:pt idx="6">
                  <c:v>Wipes &amp; Other Count-B…</c:v>
                </c:pt>
                <c:pt idx="7">
                  <c:v>Liquid, Gel &amp; Cream P…</c:v>
                </c:pt>
              </c:strCache>
            </c:strRef>
          </c:cat>
          <c:val>
            <c:numRef>
              <c:numCache>
                <c:formatCode>General</c:formatCode>
                <c:ptCount val="8"/>
                <c:pt idx="5">
                  <c:v>84.313</c:v>
                </c:pt>
                <c:pt idx="6">
                  <c:v>125.249</c:v>
                </c:pt>
                <c:pt idx="7">
                  <c:v>314.415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421.31610000000006"/>
          <c:min val="0.0"/>
        </c:scaling>
        <c:delete val="0"/>
        <c:axPos val="b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9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Series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Pt>
            <c:idx val="0"/>
            <c:spPr>
              <a:solidFill>
                <a:srgbClr val="FFFFFF"/>
              </a:solidFill>
            </c:spPr>
          </c:dPt>
          <c:dPt>
            <c:idx val="1"/>
            <c:spPr>
              <a:solidFill>
                <a:srgbClr val="FFFFFF"/>
              </a:solidFill>
            </c:spPr>
          </c:dPt>
          <c:dPt>
            <c:idx val="2"/>
            <c:spPr>
              <a:solidFill>
                <a:srgbClr val="FFFFFF"/>
              </a:solidFill>
            </c:spPr>
          </c:dPt>
          <c:dPt>
            <c:idx val="3"/>
            <c:spPr>
              <a:solidFill>
                <a:srgbClr val="FFFFFF"/>
              </a:solidFill>
            </c:spPr>
          </c:dPt>
          <c:dPt>
            <c:idx val="4"/>
            <c:spPr>
              <a:solidFill>
                <a:srgbClr val="C4C9CF"/>
              </a:solidFill>
            </c:spPr>
          </c:dPt>
          <c:dPt>
            <c:idx val="5"/>
            <c:spPr>
              <a:solidFill>
                <a:srgbClr val="A6AFB8"/>
              </a:solidFill>
            </c:spPr>
          </c:dPt>
          <c:dPt>
            <c:idx val="6"/>
            <c:spPr>
              <a:solidFill>
                <a:srgbClr val="8994A0"/>
              </a:solidFill>
            </c:spPr>
          </c:dPt>
          <c:dPt>
            <c:idx val="7"/>
            <c:spPr>
              <a:solidFill>
                <a:srgbClr val="6C7A89"/>
              </a:solidFill>
            </c:spPr>
          </c:dPt>
          <c:dLbls>
            <c:dLbl>
              <c:idx val="4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8"/>
                <c:pt idx="0">
                  <c:v> </c:v>
                </c:pt>
                <c:pt idx="1">
                  <c:v>  </c:v>
                </c:pt>
                <c:pt idx="2">
                  <c:v>   </c:v>
                </c:pt>
                <c:pt idx="3">
                  <c:v>    </c:v>
                </c:pt>
                <c:pt idx="4">
                  <c:v>Super-Premium / Luxur…</c:v>
                </c:pt>
                <c:pt idx="5">
                  <c:v>Economy / Mass-Market…</c:v>
                </c:pt>
                <c:pt idx="6">
                  <c:v>Premium: US$6 to belo…</c:v>
                </c:pt>
                <c:pt idx="7">
                  <c:v>Mid-Range: US$3 to be…</c:v>
                </c:pt>
              </c:strCache>
            </c:strRef>
          </c:cat>
          <c:val>
            <c:numRef>
              <c:numCache>
                <c:formatCode>General</c:formatCode>
                <c:ptCount val="8"/>
                <c:pt idx="4">
                  <c:v>45.702</c:v>
                </c:pt>
                <c:pt idx="5">
                  <c:v>127.144</c:v>
                </c:pt>
                <c:pt idx="6">
                  <c:v>137.685</c:v>
                </c:pt>
                <c:pt idx="7">
                  <c:v>213.449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286.02166000000005"/>
          <c:min val="0.0"/>
        </c:scaling>
        <c:delete val="0"/>
        <c:axPos val="b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9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Series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Pt>
            <c:idx val="0"/>
            <c:spPr>
              <a:solidFill>
                <a:srgbClr val="FFFFFF"/>
              </a:solidFill>
            </c:spPr>
          </c:dPt>
          <c:dPt>
            <c:idx val="1"/>
            <c:spPr>
              <a:solidFill>
                <a:srgbClr val="FFFFFF"/>
              </a:solidFill>
            </c:spPr>
          </c:dPt>
          <c:dPt>
            <c:idx val="2"/>
            <c:spPr>
              <a:solidFill>
                <a:srgbClr val="FFFFFF"/>
              </a:solidFill>
            </c:spPr>
          </c:dPt>
          <c:dPt>
            <c:idx val="3"/>
            <c:spPr>
              <a:solidFill>
                <a:srgbClr val="9EC6DE"/>
              </a:solidFill>
            </c:spPr>
          </c:dPt>
          <c:dPt>
            <c:idx val="4"/>
            <c:spPr>
              <a:solidFill>
                <a:srgbClr val="7AB1D2"/>
              </a:solidFill>
            </c:spPr>
          </c:dPt>
          <c:dPt>
            <c:idx val="5"/>
            <c:spPr>
              <a:solidFill>
                <a:srgbClr val="569CC6"/>
              </a:solidFill>
            </c:spPr>
          </c:dPt>
          <c:dPt>
            <c:idx val="6"/>
            <c:spPr>
              <a:solidFill>
                <a:srgbClr val="3287BA"/>
              </a:solidFill>
            </c:spPr>
          </c:dPt>
          <c:dPt>
            <c:idx val="7"/>
            <c:spPr>
              <a:solidFill>
                <a:srgbClr val="0E72AE"/>
              </a:solidFill>
            </c:spPr>
          </c:dPt>
          <c:dLbls>
            <c:dLbl>
              <c:idx val="3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8"/>
                <c:pt idx="0">
                  <c:v> </c:v>
                </c:pt>
                <c:pt idx="1">
                  <c:v>  </c:v>
                </c:pt>
                <c:pt idx="2">
                  <c:v>   </c:v>
                </c:pt>
                <c:pt idx="3">
                  <c:v>Veterinary &amp; Animal H…</c:v>
                </c:pt>
                <c:pt idx="4">
                  <c:v>Professional &amp; B2B</c:v>
                </c:pt>
                <c:pt idx="5">
                  <c:v>General Retail</c:v>
                </c:pt>
                <c:pt idx="6">
                  <c:v>Pet Specialty Retail</c:v>
                </c:pt>
                <c:pt idx="7">
                  <c:v>E-commerce</c:v>
                </c:pt>
              </c:strCache>
            </c:strRef>
          </c:cat>
          <c:val>
            <c:numRef>
              <c:numCache>
                <c:formatCode>General</c:formatCode>
                <c:ptCount val="8"/>
                <c:pt idx="3">
                  <c:v>59.143</c:v>
                </c:pt>
                <c:pt idx="4">
                  <c:v>61.311</c:v>
                </c:pt>
                <c:pt idx="5">
                  <c:v>80.73599999999999</c:v>
                </c:pt>
                <c:pt idx="6">
                  <c:v>131.249</c:v>
                </c:pt>
                <c:pt idx="7">
                  <c:v>191.538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256.66092000000003"/>
          <c:min val="0.0"/>
        </c:scaling>
        <c:delete val="0"/>
        <c:axPos val="b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9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Series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Pt>
            <c:idx val="0"/>
            <c:spPr>
              <a:solidFill>
                <a:srgbClr val="FFFFFF"/>
              </a:solidFill>
            </c:spPr>
          </c:dPt>
          <c:dPt>
            <c:idx val="1"/>
            <c:spPr>
              <a:solidFill>
                <a:srgbClr val="FFFFFF"/>
              </a:solidFill>
            </c:spPr>
          </c:dPt>
          <c:dPt>
            <c:idx val="2"/>
            <c:spPr>
              <a:solidFill>
                <a:srgbClr val="9DABB6"/>
              </a:solidFill>
            </c:spPr>
          </c:dPt>
          <c:dPt>
            <c:idx val="3"/>
            <c:spPr>
              <a:solidFill>
                <a:srgbClr val="8092A0"/>
              </a:solidFill>
            </c:spPr>
          </c:dPt>
          <c:dPt>
            <c:idx val="4"/>
            <c:spPr>
              <a:solidFill>
                <a:srgbClr val="62798B"/>
              </a:solidFill>
            </c:spPr>
          </c:dPt>
          <c:dPt>
            <c:idx val="5"/>
            <c:spPr>
              <a:solidFill>
                <a:srgbClr val="456075"/>
              </a:solidFill>
            </c:spPr>
          </c:dPt>
          <c:dPt>
            <c:idx val="6"/>
            <c:spPr>
              <a:solidFill>
                <a:srgbClr val="28475F"/>
              </a:solidFill>
            </c:spPr>
          </c:dPt>
          <c:dPt>
            <c:idx val="7"/>
            <c:spPr>
              <a:solidFill>
                <a:srgbClr val="0B2E4A"/>
              </a:solidFill>
            </c:spPr>
          </c:dPt>
          <c:dLbls>
            <c:dLbl>
              <c:idx val="2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8"/>
                <c:pt idx="0">
                  <c:v> </c:v>
                </c:pt>
                <c:pt idx="1">
                  <c:v>  </c:v>
                </c:pt>
                <c:pt idx="2">
                  <c:v>Ear &amp; Eye Hygiene Pro…</c:v>
                </c:pt>
                <c:pt idx="3">
                  <c:v>Fragrance &amp; Deodorizi…</c:v>
                </c:pt>
                <c:pt idx="4">
                  <c:v>Skin, Paw &amp; Nose Care…</c:v>
                </c:pt>
                <c:pt idx="5">
                  <c:v>Dental &amp; Oral Care Pr…</c:v>
                </c:pt>
                <c:pt idx="6">
                  <c:v>Coat Conditioning &amp; G…</c:v>
                </c:pt>
                <c:pt idx="7">
                  <c:v>Shampoos &amp; Cleansing…</c:v>
                </c:pt>
              </c:strCache>
            </c:strRef>
          </c:cat>
          <c:val>
            <c:numRef>
              <c:numCache>
                <c:formatCode>General</c:formatCode>
                <c:ptCount val="8"/>
                <c:pt idx="2">
                  <c:v>40.717</c:v>
                </c:pt>
                <c:pt idx="3">
                  <c:v>43.304</c:v>
                </c:pt>
                <c:pt idx="4">
                  <c:v>59.52</c:v>
                </c:pt>
                <c:pt idx="5">
                  <c:v>69.30499999999999</c:v>
                </c:pt>
                <c:pt idx="6">
                  <c:v>79.934</c:v>
                </c:pt>
                <c:pt idx="7">
                  <c:v>231.207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309.81738"/>
          <c:min val="0.0"/>
        </c:scaling>
        <c:delete val="0"/>
        <c:axPos val="b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9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Series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Pt>
            <c:idx val="0"/>
            <c:spPr>
              <a:solidFill>
                <a:srgbClr val="FFFFFF"/>
              </a:solidFill>
            </c:spPr>
          </c:dPt>
          <c:dPt>
            <c:idx val="1"/>
            <c:spPr>
              <a:solidFill>
                <a:srgbClr val="FFFFFF"/>
              </a:solidFill>
            </c:spPr>
          </c:dPt>
          <c:dPt>
            <c:idx val="2"/>
            <c:spPr>
              <a:solidFill>
                <a:srgbClr val="C5B1E6"/>
              </a:solidFill>
            </c:spPr>
          </c:dPt>
          <c:dPt>
            <c:idx val="3"/>
            <c:spPr>
              <a:solidFill>
                <a:srgbClr val="B499DF"/>
              </a:solidFill>
            </c:spPr>
          </c:dPt>
          <c:dPt>
            <c:idx val="4"/>
            <c:spPr>
              <a:solidFill>
                <a:srgbClr val="A282D7"/>
              </a:solidFill>
            </c:spPr>
          </c:dPt>
          <c:dPt>
            <c:idx val="5"/>
            <c:spPr>
              <a:solidFill>
                <a:srgbClr val="916AD0"/>
              </a:solidFill>
            </c:spPr>
          </c:dPt>
          <c:dPt>
            <c:idx val="6"/>
            <c:spPr>
              <a:solidFill>
                <a:srgbClr val="8053C9"/>
              </a:solidFill>
            </c:spPr>
          </c:dPt>
          <c:dPt>
            <c:idx val="7"/>
            <c:spPr>
              <a:solidFill>
                <a:srgbClr val="6F3CC2"/>
              </a:solidFill>
            </c:spPr>
          </c:dPt>
          <c:dLbls>
            <c:dLbl>
              <c:idx val="2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8"/>
                <c:pt idx="0">
                  <c:v> </c:v>
                </c:pt>
                <c:pt idx="1">
                  <c:v>  </c:v>
                </c:pt>
                <c:pt idx="2">
                  <c:v>Ear &amp; Eye Hygiene Pro…</c:v>
                </c:pt>
                <c:pt idx="3">
                  <c:v>Fragrance &amp; Deodorizi…</c:v>
                </c:pt>
                <c:pt idx="4">
                  <c:v>Skin, Paw &amp; Nose Care…</c:v>
                </c:pt>
                <c:pt idx="5">
                  <c:v>Dental &amp; Oral Care Pr…</c:v>
                </c:pt>
                <c:pt idx="6">
                  <c:v>Coat Conditioning &amp; G…</c:v>
                </c:pt>
                <c:pt idx="7">
                  <c:v>Shampoos &amp; Cleansing…</c:v>
                </c:pt>
              </c:strCache>
            </c:strRef>
          </c:cat>
          <c:val>
            <c:numRef>
              <c:numCache>
                <c:formatCode>General</c:formatCode>
                <c:ptCount val="8"/>
                <c:pt idx="2">
                  <c:v>40.717</c:v>
                </c:pt>
                <c:pt idx="3">
                  <c:v>43.307</c:v>
                </c:pt>
                <c:pt idx="4">
                  <c:v>59.517</c:v>
                </c:pt>
                <c:pt idx="5">
                  <c:v>69.306</c:v>
                </c:pt>
                <c:pt idx="6">
                  <c:v>79.937</c:v>
                </c:pt>
                <c:pt idx="7">
                  <c:v>231.207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309.81738"/>
          <c:min val="0.0"/>
        </c:scaling>
        <c:delete val="0"/>
        <c:axPos val="b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9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8"/>
                <c:pt idx="0">
                  <c:v>2026</c:v>
                </c:pt>
                <c:pt idx="1">
                  <c:v>Shampoos &amp; Cleansing Products</c:v>
                </c:pt>
                <c:pt idx="2">
                  <c:v>Coat Conditioning &amp; Grooming Products</c:v>
                </c:pt>
                <c:pt idx="3">
                  <c:v>Skin, Paw &amp; Nose Care Products</c:v>
                </c:pt>
                <c:pt idx="4">
                  <c:v>Ear &amp; Eye Hygiene Products</c:v>
                </c:pt>
                <c:pt idx="5">
                  <c:v>Dental &amp; Oral Care Products</c:v>
                </c:pt>
                <c:pt idx="6">
                  <c:v>Fragrance &amp; Deodorizing Products</c:v>
                </c:pt>
                <c:pt idx="7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8"/>
                <c:pt idx="0">
                  <c:v>0.0</c:v>
                </c:pt>
                <c:pt idx="1">
                  <c:v>523.9780000000001</c:v>
                </c:pt>
                <c:pt idx="2">
                  <c:v>738.4830000000001</c:v>
                </c:pt>
                <c:pt idx="3">
                  <c:v>780.6200000000001</c:v>
                </c:pt>
                <c:pt idx="4">
                  <c:v>808.5720000000001</c:v>
                </c:pt>
                <c:pt idx="5">
                  <c:v>836.9210000000002</c:v>
                </c:pt>
                <c:pt idx="6">
                  <c:v>892.3130000000001</c:v>
                </c:pt>
                <c:pt idx="7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08189"/>
              </a:solidFill>
            </c:spPr>
          </c:dPt>
          <c:dPt>
            <c:idx val="7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8"/>
                <c:pt idx="0">
                  <c:v>2026</c:v>
                </c:pt>
                <c:pt idx="1">
                  <c:v>Shampoos &amp; Cleansing Products</c:v>
                </c:pt>
                <c:pt idx="2">
                  <c:v>Coat Conditioning &amp; Grooming Products</c:v>
                </c:pt>
                <c:pt idx="3">
                  <c:v>Skin, Paw &amp; Nose Care Products</c:v>
                </c:pt>
                <c:pt idx="4">
                  <c:v>Ear &amp; Eye Hygiene Products</c:v>
                </c:pt>
                <c:pt idx="5">
                  <c:v>Dental &amp; Oral Care Products</c:v>
                </c:pt>
                <c:pt idx="6">
                  <c:v>Fragrance &amp; Deodorizing Products</c:v>
                </c:pt>
                <c:pt idx="7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8"/>
                <c:pt idx="0">
                  <c:v>523.9780000000001</c:v>
                </c:pt>
                <c:pt idx="1">
                  <c:v>214.50500000000002</c:v>
                </c:pt>
                <c:pt idx="2">
                  <c:v>42.137</c:v>
                </c:pt>
                <c:pt idx="3">
                  <c:v>27.952000000000005</c:v>
                </c:pt>
                <c:pt idx="4">
                  <c:v>28.349000000000004</c:v>
                </c:pt>
                <c:pt idx="5">
                  <c:v>55.391999999999996</c:v>
                </c:pt>
                <c:pt idx="6">
                  <c:v>38.51400000000001</c:v>
                </c:pt>
                <c:pt idx="7">
                  <c:v>930.8270000000001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9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Ear &amp; Eye Hygiene Products</c:v>
                </c:pt>
                <c:pt idx="4">
                  <c:v>Dental &amp; Oral Care Products</c:v>
                </c:pt>
                <c:pt idx="5">
                  <c:v>Fragrance &amp; Deodorizing Products</c:v>
                </c:pt>
                <c:pt idx="6">
                  <c:v>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214.50500000000002</c:v>
                </c:pt>
                <c:pt idx="2">
                  <c:v>256.64200000000005</c:v>
                </c:pt>
                <c:pt idx="3">
                  <c:v>284.59400000000005</c:v>
                </c:pt>
                <c:pt idx="4">
                  <c:v>312.94300000000004</c:v>
                </c:pt>
                <c:pt idx="5">
                  <c:v>368.33500000000004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08189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Ear &amp; Eye Hygiene Products</c:v>
                </c:pt>
                <c:pt idx="4">
                  <c:v>Dental &amp; Oral Care Products</c:v>
                </c:pt>
                <c:pt idx="5">
                  <c:v>Fragrance &amp; Deodorizing Products</c:v>
                </c:pt>
                <c:pt idx="6">
                  <c:v>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214.50500000000002</c:v>
                </c:pt>
                <c:pt idx="1">
                  <c:v>42.137</c:v>
                </c:pt>
                <c:pt idx="2">
                  <c:v>27.952000000000005</c:v>
                </c:pt>
                <c:pt idx="3">
                  <c:v>28.349000000000004</c:v>
                </c:pt>
                <c:pt idx="4">
                  <c:v>55.391999999999996</c:v>
                </c:pt>
                <c:pt idx="5">
                  <c:v>38.51400000000001</c:v>
                </c:pt>
                <c:pt idx="6">
                  <c:v>406.84900000000005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9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5"/>
                <c:pt idx="0">
                  <c:v>2026</c:v>
                </c:pt>
                <c:pt idx="1">
                  <c:v>Regular / Established Ingredients</c:v>
                </c:pt>
                <c:pt idx="2">
                  <c:v>Niche / Specialized Ingredients</c:v>
                </c:pt>
                <c:pt idx="3">
                  <c:v>Emerging Ingredients / Innovation Candidates</c:v>
                </c:pt>
                <c:pt idx="4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0.0</c:v>
                </c:pt>
                <c:pt idx="1">
                  <c:v>523.979</c:v>
                </c:pt>
                <c:pt idx="2">
                  <c:v>760.8270000000001</c:v>
                </c:pt>
                <c:pt idx="3">
                  <c:v>883.0470000000001</c:v>
                </c:pt>
                <c:pt idx="4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5"/>
                <c:pt idx="0">
                  <c:v>2026</c:v>
                </c:pt>
                <c:pt idx="1">
                  <c:v>Regular / Established Ingredients</c:v>
                </c:pt>
                <c:pt idx="2">
                  <c:v>Niche / Specialized Ingredients</c:v>
                </c:pt>
                <c:pt idx="3">
                  <c:v>Emerging Ingredients / Innovation Candidates</c:v>
                </c:pt>
                <c:pt idx="4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523.979</c:v>
                </c:pt>
                <c:pt idx="1">
                  <c:v>236.84800000000007</c:v>
                </c:pt>
                <c:pt idx="2">
                  <c:v>122.22000000000003</c:v>
                </c:pt>
                <c:pt idx="3">
                  <c:v>47.778999999999996</c:v>
                </c:pt>
                <c:pt idx="4">
                  <c:v>930.826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0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4"/>
                <c:pt idx="0">
                  <c:v>Regular / Established Ingredients</c:v>
                </c:pt>
                <c:pt idx="1">
                  <c:v>Niche / Specialized Ingredients</c:v>
                </c:pt>
                <c:pt idx="2">
                  <c:v>Emerging Ingredients / Innovation Candidates</c:v>
                </c:pt>
                <c:pt idx="3">
                  <c:v>Total</c:v>
                </c:pt>
              </c:strCache>
            </c:strRef>
          </c:cat>
          <c:val>
            <c:numRef>
              <c:numCache>
                <c:formatCode>General</c:formatCode>
                <c:ptCount val="4"/>
                <c:pt idx="0">
                  <c:v>0.0</c:v>
                </c:pt>
                <c:pt idx="1">
                  <c:v>236.84800000000007</c:v>
                </c:pt>
                <c:pt idx="2">
                  <c:v>359.0680000000001</c:v>
                </c:pt>
                <c:pt idx="3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08189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4"/>
                <c:pt idx="0">
                  <c:v>Regular / Established Ingredients</c:v>
                </c:pt>
                <c:pt idx="1">
                  <c:v>Niche / Specialized Ingredients</c:v>
                </c:pt>
                <c:pt idx="2">
                  <c:v>Emerging Ingredients / Innovation Candidates</c:v>
                </c:pt>
                <c:pt idx="3">
                  <c:v>Total</c:v>
                </c:pt>
              </c:strCache>
            </c:strRef>
          </c:cat>
          <c:val>
            <c:numRef>
              <c:numCache>
                <c:formatCode>General</c:formatCode>
                <c:ptCount val="4"/>
                <c:pt idx="0">
                  <c:v>236.84800000000007</c:v>
                </c:pt>
                <c:pt idx="1">
                  <c:v>122.22000000000003</c:v>
                </c:pt>
                <c:pt idx="2">
                  <c:v>47.778999999999996</c:v>
                </c:pt>
                <c:pt idx="3">
                  <c:v>406.8470000000001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0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10"/>
                <c:pt idx="0">
                  <c:v>2026</c:v>
                </c:pt>
                <c:pt idx="1">
                  <c:v>Liquid</c:v>
                </c:pt>
                <c:pt idx="2">
                  <c:v>Spray</c:v>
                </c:pt>
                <c:pt idx="3">
                  <c:v>Cream &amp; Balm</c:v>
                </c:pt>
                <c:pt idx="4">
                  <c:v>Gel</c:v>
                </c:pt>
                <c:pt idx="5">
                  <c:v>Foam</c:v>
                </c:pt>
                <c:pt idx="6">
                  <c:v>Wipe &amp; Pad</c:v>
                </c:pt>
                <c:pt idx="7">
                  <c:v>Powder</c:v>
                </c:pt>
                <c:pt idx="8">
                  <c:v>Solid</c:v>
                </c:pt>
                <c:pt idx="9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10"/>
                <c:pt idx="0">
                  <c:v>0.0</c:v>
                </c:pt>
                <c:pt idx="1">
                  <c:v>523.9780000000001</c:v>
                </c:pt>
                <c:pt idx="2">
                  <c:v>648.6650000000001</c:v>
                </c:pt>
                <c:pt idx="3">
                  <c:v>724.565</c:v>
                </c:pt>
                <c:pt idx="4">
                  <c:v>786.7650000000001</c:v>
                </c:pt>
                <c:pt idx="5">
                  <c:v>817.5380000000001</c:v>
                </c:pt>
                <c:pt idx="6">
                  <c:v>858.5050000000001</c:v>
                </c:pt>
                <c:pt idx="7">
                  <c:v>904.5220000000002</c:v>
                </c:pt>
                <c:pt idx="8">
                  <c:v>917.8100000000002</c:v>
                </c:pt>
                <c:pt idx="9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08189"/>
              </a:solidFill>
            </c:spPr>
          </c:dPt>
          <c:dPt>
            <c:idx val="7"/>
            <c:spPr>
              <a:solidFill>
                <a:srgbClr val="008189"/>
              </a:solidFill>
            </c:spPr>
          </c:dPt>
          <c:dPt>
            <c:idx val="8"/>
            <c:spPr>
              <a:solidFill>
                <a:srgbClr val="008189"/>
              </a:solidFill>
            </c:spPr>
          </c:dPt>
          <c:dPt>
            <c:idx val="9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0"/>
                <c:pt idx="0">
                  <c:v>2026</c:v>
                </c:pt>
                <c:pt idx="1">
                  <c:v>Liquid</c:v>
                </c:pt>
                <c:pt idx="2">
                  <c:v>Spray</c:v>
                </c:pt>
                <c:pt idx="3">
                  <c:v>Cream &amp; Balm</c:v>
                </c:pt>
                <c:pt idx="4">
                  <c:v>Gel</c:v>
                </c:pt>
                <c:pt idx="5">
                  <c:v>Foam</c:v>
                </c:pt>
                <c:pt idx="6">
                  <c:v>Wipe &amp; Pad</c:v>
                </c:pt>
                <c:pt idx="7">
                  <c:v>Powder</c:v>
                </c:pt>
                <c:pt idx="8">
                  <c:v>Solid</c:v>
                </c:pt>
                <c:pt idx="9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10"/>
                <c:pt idx="0">
                  <c:v>523.9780000000001</c:v>
                </c:pt>
                <c:pt idx="1">
                  <c:v>124.68699999999998</c:v>
                </c:pt>
                <c:pt idx="2">
                  <c:v>75.89999999999999</c:v>
                </c:pt>
                <c:pt idx="3">
                  <c:v>62.199999999999996</c:v>
                </c:pt>
                <c:pt idx="4">
                  <c:v>30.772999999999996</c:v>
                </c:pt>
                <c:pt idx="5">
                  <c:v>40.967</c:v>
                </c:pt>
                <c:pt idx="6">
                  <c:v>46.01700000000001</c:v>
                </c:pt>
                <c:pt idx="7">
                  <c:v>13.287999999999997</c:v>
                </c:pt>
                <c:pt idx="8">
                  <c:v>13.018999999999998</c:v>
                </c:pt>
                <c:pt idx="9">
                  <c:v>930.829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0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9"/>
                <c:pt idx="0">
                  <c:v>Liquid</c:v>
                </c:pt>
                <c:pt idx="1">
                  <c:v>Spray</c:v>
                </c:pt>
                <c:pt idx="2">
                  <c:v>Cream &amp; Balm</c:v>
                </c:pt>
                <c:pt idx="3">
                  <c:v>Gel</c:v>
                </c:pt>
                <c:pt idx="4">
                  <c:v>Foam</c:v>
                </c:pt>
                <c:pt idx="5">
                  <c:v>Wipe &amp; Pad</c:v>
                </c:pt>
                <c:pt idx="6">
                  <c:v>Powder</c:v>
                </c:pt>
                <c:pt idx="7">
                  <c:v>Solid</c:v>
                </c:pt>
                <c:pt idx="8">
                  <c:v>Total</c:v>
                </c:pt>
              </c:strCache>
            </c:strRef>
          </c:cat>
          <c:val>
            <c:numRef>
              <c:numCache>
                <c:formatCode>General</c:formatCode>
                <c:ptCount val="9"/>
                <c:pt idx="0">
                  <c:v>0.0</c:v>
                </c:pt>
                <c:pt idx="1">
                  <c:v>124.68699999999998</c:v>
                </c:pt>
                <c:pt idx="2">
                  <c:v>200.587</c:v>
                </c:pt>
                <c:pt idx="3">
                  <c:v>262.787</c:v>
                </c:pt>
                <c:pt idx="4">
                  <c:v>293.55999999999995</c:v>
                </c:pt>
                <c:pt idx="5">
                  <c:v>334.52699999999993</c:v>
                </c:pt>
                <c:pt idx="6">
                  <c:v>380.5439999999999</c:v>
                </c:pt>
                <c:pt idx="7">
                  <c:v>393.83199999999994</c:v>
                </c:pt>
                <c:pt idx="8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08189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08189"/>
              </a:solidFill>
            </c:spPr>
          </c:dPt>
          <c:dPt>
            <c:idx val="7"/>
            <c:spPr>
              <a:solidFill>
                <a:srgbClr val="008189"/>
              </a:solidFill>
            </c:spPr>
          </c:dPt>
          <c:dPt>
            <c:idx val="8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9"/>
                <c:pt idx="0">
                  <c:v>Liquid</c:v>
                </c:pt>
                <c:pt idx="1">
                  <c:v>Spray</c:v>
                </c:pt>
                <c:pt idx="2">
                  <c:v>Cream &amp; Balm</c:v>
                </c:pt>
                <c:pt idx="3">
                  <c:v>Gel</c:v>
                </c:pt>
                <c:pt idx="4">
                  <c:v>Foam</c:v>
                </c:pt>
                <c:pt idx="5">
                  <c:v>Wipe &amp; Pad</c:v>
                </c:pt>
                <c:pt idx="6">
                  <c:v>Powder</c:v>
                </c:pt>
                <c:pt idx="7">
                  <c:v>Solid</c:v>
                </c:pt>
                <c:pt idx="8">
                  <c:v>Total</c:v>
                </c:pt>
              </c:strCache>
            </c:strRef>
          </c:cat>
          <c:val>
            <c:numRef>
              <c:numCache>
                <c:formatCode>General</c:formatCode>
                <c:ptCount val="9"/>
                <c:pt idx="0">
                  <c:v>124.68699999999998</c:v>
                </c:pt>
                <c:pt idx="1">
                  <c:v>75.89999999999999</c:v>
                </c:pt>
                <c:pt idx="2">
                  <c:v>62.199999999999996</c:v>
                </c:pt>
                <c:pt idx="3">
                  <c:v>30.772999999999996</c:v>
                </c:pt>
                <c:pt idx="4">
                  <c:v>40.967</c:v>
                </c:pt>
                <c:pt idx="5">
                  <c:v>46.01700000000001</c:v>
                </c:pt>
                <c:pt idx="6">
                  <c:v>13.287999999999997</c:v>
                </c:pt>
                <c:pt idx="7">
                  <c:v>13.018999999999998</c:v>
                </c:pt>
                <c:pt idx="8">
                  <c:v>406.85099999999994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0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9"/>
                <c:pt idx="0">
                  <c:v>2026</c:v>
                </c:pt>
                <c:pt idx="1">
                  <c:v>Cleansing &amp; General Hygiene</c:v>
                </c:pt>
                <c:pt idx="2">
                  <c:v>Moisturizing &amp; Skin Barrier Care</c:v>
                </c:pt>
                <c:pt idx="3">
                  <c:v>Skin Soothing &amp; Comfort</c:v>
                </c:pt>
                <c:pt idx="4">
                  <c:v>Coat Conditioning &amp; Softening</c:v>
                </c:pt>
                <c:pt idx="5">
                  <c:v>Dental &amp; Oral Hygiene</c:v>
                </c:pt>
                <c:pt idx="6">
                  <c:v>Body &amp; Coat Odor Management</c:v>
                </c:pt>
                <c:pt idx="7">
                  <c:v>Ear &amp; Eye-Area Hygiene</c:v>
                </c:pt>
                <c:pt idx="8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9"/>
                <c:pt idx="0">
                  <c:v>0.0</c:v>
                </c:pt>
                <c:pt idx="1">
                  <c:v>523.976</c:v>
                </c:pt>
                <c:pt idx="2">
                  <c:v>599.725</c:v>
                </c:pt>
                <c:pt idx="3">
                  <c:v>675.333</c:v>
                </c:pt>
                <c:pt idx="4">
                  <c:v>732.746</c:v>
                </c:pt>
                <c:pt idx="5">
                  <c:v>835.6179999999999</c:v>
                </c:pt>
                <c:pt idx="6">
                  <c:v>864.0409999999999</c:v>
                </c:pt>
                <c:pt idx="7">
                  <c:v>905.459</c:v>
                </c:pt>
                <c:pt idx="8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08189"/>
              </a:solidFill>
            </c:spPr>
          </c:dPt>
          <c:dPt>
            <c:idx val="7"/>
            <c:spPr>
              <a:solidFill>
                <a:srgbClr val="008189"/>
              </a:solidFill>
            </c:spPr>
          </c:dPt>
          <c:dPt>
            <c:idx val="8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9"/>
                <c:pt idx="0">
                  <c:v>2026</c:v>
                </c:pt>
                <c:pt idx="1">
                  <c:v>Cleansing &amp; General Hygiene</c:v>
                </c:pt>
                <c:pt idx="2">
                  <c:v>Moisturizing &amp; Skin Barrier Care</c:v>
                </c:pt>
                <c:pt idx="3">
                  <c:v>Skin Soothing &amp; Comfort</c:v>
                </c:pt>
                <c:pt idx="4">
                  <c:v>Coat Conditioning &amp; Softening</c:v>
                </c:pt>
                <c:pt idx="5">
                  <c:v>Dental &amp; Oral Hygiene</c:v>
                </c:pt>
                <c:pt idx="6">
                  <c:v>Body &amp; Coat Odor Management</c:v>
                </c:pt>
                <c:pt idx="7">
                  <c:v>Ear &amp; Eye-Area Hygiene</c:v>
                </c:pt>
                <c:pt idx="8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9"/>
                <c:pt idx="0">
                  <c:v>523.976</c:v>
                </c:pt>
                <c:pt idx="1">
                  <c:v>75.749</c:v>
                </c:pt>
                <c:pt idx="2">
                  <c:v>75.60799999999999</c:v>
                </c:pt>
                <c:pt idx="3">
                  <c:v>57.41300000000001</c:v>
                </c:pt>
                <c:pt idx="4">
                  <c:v>102.87199999999999</c:v>
                </c:pt>
                <c:pt idx="5">
                  <c:v>28.422999999999995</c:v>
                </c:pt>
                <c:pt idx="6">
                  <c:v>41.418000000000006</c:v>
                </c:pt>
                <c:pt idx="7">
                  <c:v>25.370000000000005</c:v>
                </c:pt>
                <c:pt idx="8">
                  <c:v>930.829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0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8"/>
                <c:pt idx="0">
                  <c:v>Cleansing &amp; General Hygiene</c:v>
                </c:pt>
                <c:pt idx="1">
                  <c:v>Moisturizing &amp; Skin Barrier Care</c:v>
                </c:pt>
                <c:pt idx="2">
                  <c:v>Skin Soothing &amp; Comfort</c:v>
                </c:pt>
                <c:pt idx="3">
                  <c:v>Coat Conditioning &amp; Softening</c:v>
                </c:pt>
                <c:pt idx="4">
                  <c:v>Dental &amp; Oral Hygiene</c:v>
                </c:pt>
                <c:pt idx="5">
                  <c:v>Body &amp; Coat Odor Management</c:v>
                </c:pt>
                <c:pt idx="6">
                  <c:v>Ear &amp; Eye-Area Hygiene</c:v>
                </c:pt>
                <c:pt idx="7">
                  <c:v>Total</c:v>
                </c:pt>
              </c:strCache>
            </c:strRef>
          </c:cat>
          <c:val>
            <c:numRef>
              <c:numCache>
                <c:formatCode>General</c:formatCode>
                <c:ptCount val="8"/>
                <c:pt idx="0">
                  <c:v>0.0</c:v>
                </c:pt>
                <c:pt idx="1">
                  <c:v>75.749</c:v>
                </c:pt>
                <c:pt idx="2">
                  <c:v>151.35699999999997</c:v>
                </c:pt>
                <c:pt idx="3">
                  <c:v>208.76999999999998</c:v>
                </c:pt>
                <c:pt idx="4">
                  <c:v>311.64199999999994</c:v>
                </c:pt>
                <c:pt idx="5">
                  <c:v>340.06499999999994</c:v>
                </c:pt>
                <c:pt idx="6">
                  <c:v>381.48299999999995</c:v>
                </c:pt>
                <c:pt idx="7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08189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08189"/>
              </a:solidFill>
            </c:spPr>
          </c:dPt>
          <c:dPt>
            <c:idx val="7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8"/>
                <c:pt idx="0">
                  <c:v>Cleansing &amp; General Hygiene</c:v>
                </c:pt>
                <c:pt idx="1">
                  <c:v>Moisturizing &amp; Skin Barrier Care</c:v>
                </c:pt>
                <c:pt idx="2">
                  <c:v>Skin Soothing &amp; Comfort</c:v>
                </c:pt>
                <c:pt idx="3">
                  <c:v>Coat Conditioning &amp; Softening</c:v>
                </c:pt>
                <c:pt idx="4">
                  <c:v>Dental &amp; Oral Hygiene</c:v>
                </c:pt>
                <c:pt idx="5">
                  <c:v>Body &amp; Coat Odor Management</c:v>
                </c:pt>
                <c:pt idx="6">
                  <c:v>Ear &amp; Eye-Area Hygiene</c:v>
                </c:pt>
                <c:pt idx="7">
                  <c:v>Total</c:v>
                </c:pt>
              </c:strCache>
            </c:strRef>
          </c:cat>
          <c:val>
            <c:numRef>
              <c:numCache>
                <c:formatCode>General</c:formatCode>
                <c:ptCount val="8"/>
                <c:pt idx="0">
                  <c:v>75.749</c:v>
                </c:pt>
                <c:pt idx="1">
                  <c:v>75.60799999999999</c:v>
                </c:pt>
                <c:pt idx="2">
                  <c:v>57.41300000000001</c:v>
                </c:pt>
                <c:pt idx="3">
                  <c:v>102.87199999999999</c:v>
                </c:pt>
                <c:pt idx="4">
                  <c:v>28.422999999999995</c:v>
                </c:pt>
                <c:pt idx="5">
                  <c:v>41.418000000000006</c:v>
                </c:pt>
                <c:pt idx="6">
                  <c:v>25.370000000000005</c:v>
                </c:pt>
                <c:pt idx="7">
                  <c:v>406.85299999999995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0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4"/>
                <c:pt idx="0">
                  <c:v>2026</c:v>
                </c:pt>
                <c:pt idx="1">
                  <c:v>Dogs</c:v>
                </c:pt>
                <c:pt idx="2">
                  <c:v>Cats</c:v>
                </c:pt>
                <c:pt idx="3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4"/>
                <c:pt idx="0">
                  <c:v>0.0</c:v>
                </c:pt>
                <c:pt idx="1">
                  <c:v>523.9780000000001</c:v>
                </c:pt>
                <c:pt idx="2">
                  <c:v>797.752</c:v>
                </c:pt>
                <c:pt idx="3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4"/>
                <c:pt idx="0">
                  <c:v>2026</c:v>
                </c:pt>
                <c:pt idx="1">
                  <c:v>Dogs</c:v>
                </c:pt>
                <c:pt idx="2">
                  <c:v>Cats</c:v>
                </c:pt>
                <c:pt idx="3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4"/>
                <c:pt idx="0">
                  <c:v>523.9780000000001</c:v>
                </c:pt>
                <c:pt idx="1">
                  <c:v>273.77399999999994</c:v>
                </c:pt>
                <c:pt idx="2">
                  <c:v>133.07600000000002</c:v>
                </c:pt>
                <c:pt idx="3">
                  <c:v>930.828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0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3"/>
                <c:pt idx="0">
                  <c:v>Dogs</c:v>
                </c:pt>
                <c:pt idx="1">
                  <c:v>Cats</c:v>
                </c:pt>
                <c:pt idx="2">
                  <c:v>Total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0.0</c:v>
                </c:pt>
                <c:pt idx="1">
                  <c:v>273.77399999999994</c:v>
                </c:pt>
                <c:pt idx="2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08189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Dogs</c:v>
                </c:pt>
                <c:pt idx="1">
                  <c:v>Cats</c:v>
                </c:pt>
                <c:pt idx="2">
                  <c:v>Total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273.77399999999994</c:v>
                </c:pt>
                <c:pt idx="1">
                  <c:v>133.07600000000002</c:v>
                </c:pt>
                <c:pt idx="2">
                  <c:v>406.84999999999997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0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5"/>
                <c:pt idx="0">
                  <c:v>2026</c:v>
                </c:pt>
                <c:pt idx="1">
                  <c:v>Liquid, Gel &amp; Cream Products</c:v>
                </c:pt>
                <c:pt idx="2">
                  <c:v>Solid, Powder &amp; Weight-Labeled Products</c:v>
                </c:pt>
                <c:pt idx="3">
                  <c:v>Wipes &amp; Other Count-Based Products</c:v>
                </c:pt>
                <c:pt idx="4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0.0</c:v>
                </c:pt>
                <c:pt idx="1">
                  <c:v>523.977</c:v>
                </c:pt>
                <c:pt idx="2">
                  <c:v>746.277</c:v>
                </c:pt>
                <c:pt idx="3">
                  <c:v>812.221</c:v>
                </c:pt>
                <c:pt idx="4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5"/>
                <c:pt idx="0">
                  <c:v>2026</c:v>
                </c:pt>
                <c:pt idx="1">
                  <c:v>Liquid, Gel &amp; Cream Products</c:v>
                </c:pt>
                <c:pt idx="2">
                  <c:v>Solid, Powder &amp; Weight-Labeled Products</c:v>
                </c:pt>
                <c:pt idx="3">
                  <c:v>Wipes &amp; Other Count-Based Products</c:v>
                </c:pt>
                <c:pt idx="4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523.977</c:v>
                </c:pt>
                <c:pt idx="1">
                  <c:v>222.3</c:v>
                </c:pt>
                <c:pt idx="2">
                  <c:v>65.944</c:v>
                </c:pt>
                <c:pt idx="3">
                  <c:v>118.60600000000002</c:v>
                </c:pt>
                <c:pt idx="4">
                  <c:v>930.827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0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4"/>
                <c:pt idx="0">
                  <c:v>Liquid, Gel &amp; Cream Products</c:v>
                </c:pt>
                <c:pt idx="1">
                  <c:v>Solid, Powder &amp; Weight-Labeled Products</c:v>
                </c:pt>
                <c:pt idx="2">
                  <c:v>Wipes &amp; Other Count-Based Products</c:v>
                </c:pt>
                <c:pt idx="3">
                  <c:v>Total</c:v>
                </c:pt>
              </c:strCache>
            </c:strRef>
          </c:cat>
          <c:val>
            <c:numRef>
              <c:numCache>
                <c:formatCode>General</c:formatCode>
                <c:ptCount val="4"/>
                <c:pt idx="0">
                  <c:v>0.0</c:v>
                </c:pt>
                <c:pt idx="1">
                  <c:v>222.3</c:v>
                </c:pt>
                <c:pt idx="2">
                  <c:v>288.244</c:v>
                </c:pt>
                <c:pt idx="3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08189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4"/>
                <c:pt idx="0">
                  <c:v>Liquid, Gel &amp; Cream Products</c:v>
                </c:pt>
                <c:pt idx="1">
                  <c:v>Solid, Powder &amp; Weight-Labeled Products</c:v>
                </c:pt>
                <c:pt idx="2">
                  <c:v>Wipes &amp; Other Count-Based Products</c:v>
                </c:pt>
                <c:pt idx="3">
                  <c:v>Total</c:v>
                </c:pt>
              </c:strCache>
            </c:strRef>
          </c:cat>
          <c:val>
            <c:numRef>
              <c:numCache>
                <c:formatCode>General</c:formatCode>
                <c:ptCount val="4"/>
                <c:pt idx="0">
                  <c:v>222.3</c:v>
                </c:pt>
                <c:pt idx="1">
                  <c:v>65.944</c:v>
                </c:pt>
                <c:pt idx="2">
                  <c:v>118.60600000000002</c:v>
                </c:pt>
                <c:pt idx="3">
                  <c:v>406.85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0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6"/>
                <c:pt idx="0">
                  <c:v>2026</c:v>
                </c:pt>
                <c:pt idx="1">
                  <c:v>Economy / Mass-Market: Below US$3</c:v>
                </c:pt>
                <c:pt idx="2">
                  <c:v>Mid-Range: US$3 to below US$6</c:v>
                </c:pt>
                <c:pt idx="3">
                  <c:v>Premium: US$6 to below US$12</c:v>
                </c:pt>
                <c:pt idx="4">
                  <c:v>Super-Premium / Luxury: US$12 and above</c:v>
                </c:pt>
                <c:pt idx="5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0.0</c:v>
                </c:pt>
                <c:pt idx="1">
                  <c:v>523.98</c:v>
                </c:pt>
                <c:pt idx="2">
                  <c:v>625.886</c:v>
                </c:pt>
                <c:pt idx="3">
                  <c:v>810.383</c:v>
                </c:pt>
                <c:pt idx="4">
                  <c:v>911.282</c:v>
                </c:pt>
                <c:pt idx="5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2026</c:v>
                </c:pt>
                <c:pt idx="1">
                  <c:v>Economy / Mass-Market: Below US$3</c:v>
                </c:pt>
                <c:pt idx="2">
                  <c:v>Mid-Range: US$3 to below US$6</c:v>
                </c:pt>
                <c:pt idx="3">
                  <c:v>Premium: US$6 to below US$12</c:v>
                </c:pt>
                <c:pt idx="4">
                  <c:v>Super-Premium / Luxury: US$12 and above</c:v>
                </c:pt>
                <c:pt idx="5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523.98</c:v>
                </c:pt>
                <c:pt idx="1">
                  <c:v>101.906</c:v>
                </c:pt>
                <c:pt idx="2">
                  <c:v>184.497</c:v>
                </c:pt>
                <c:pt idx="3">
                  <c:v>100.899</c:v>
                </c:pt>
                <c:pt idx="4">
                  <c:v>19.543999999999997</c:v>
                </c:pt>
                <c:pt idx="5">
                  <c:v>930.8260000000001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1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5"/>
                <c:pt idx="0">
                  <c:v>Economy / Mass-Market: Below US$3</c:v>
                </c:pt>
                <c:pt idx="1">
                  <c:v>Mid-Range: US$3 to below US$6</c:v>
                </c:pt>
                <c:pt idx="2">
                  <c:v>Premium: US$6 to below US$12</c:v>
                </c:pt>
                <c:pt idx="3">
                  <c:v>Super-Premium / Luxury: US$12 and above</c:v>
                </c:pt>
                <c:pt idx="4">
                  <c:v>Total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0.0</c:v>
                </c:pt>
                <c:pt idx="1">
                  <c:v>101.906</c:v>
                </c:pt>
                <c:pt idx="2">
                  <c:v>286.403</c:v>
                </c:pt>
                <c:pt idx="3">
                  <c:v>387.302</c:v>
                </c:pt>
                <c:pt idx="4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08189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5"/>
                <c:pt idx="0">
                  <c:v>Economy / Mass-Market: Below US$3</c:v>
                </c:pt>
                <c:pt idx="1">
                  <c:v>Mid-Range: US$3 to below US$6</c:v>
                </c:pt>
                <c:pt idx="2">
                  <c:v>Premium: US$6 to below US$12</c:v>
                </c:pt>
                <c:pt idx="3">
                  <c:v>Super-Premium / Luxury: US$12 and above</c:v>
                </c:pt>
                <c:pt idx="4">
                  <c:v>Total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101.906</c:v>
                </c:pt>
                <c:pt idx="1">
                  <c:v>184.497</c:v>
                </c:pt>
                <c:pt idx="2">
                  <c:v>100.899</c:v>
                </c:pt>
                <c:pt idx="3">
                  <c:v>19.543999999999997</c:v>
                </c:pt>
                <c:pt idx="4">
                  <c:v>406.846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1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E-commerce</c:v>
                </c:pt>
                <c:pt idx="2">
                  <c:v>Pet Specialty Retail</c:v>
                </c:pt>
                <c:pt idx="3">
                  <c:v>Veterinary &amp; Animal Health</c:v>
                </c:pt>
                <c:pt idx="4">
                  <c:v>General Retail</c:v>
                </c:pt>
                <c:pt idx="5">
                  <c:v>Professional &amp; B2B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523.9770000000001</c:v>
                </c:pt>
                <c:pt idx="2">
                  <c:v>722.5310000000001</c:v>
                </c:pt>
                <c:pt idx="3">
                  <c:v>799.9770000000001</c:v>
                </c:pt>
                <c:pt idx="4">
                  <c:v>840.2510000000001</c:v>
                </c:pt>
                <c:pt idx="5">
                  <c:v>883.7060000000001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E-commerce</c:v>
                </c:pt>
                <c:pt idx="2">
                  <c:v>Pet Specialty Retail</c:v>
                </c:pt>
                <c:pt idx="3">
                  <c:v>Veterinary &amp; Animal Health</c:v>
                </c:pt>
                <c:pt idx="4">
                  <c:v>General Retail</c:v>
                </c:pt>
                <c:pt idx="5">
                  <c:v>Professional &amp; B2B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523.9770000000001</c:v>
                </c:pt>
                <c:pt idx="1">
                  <c:v>198.55399999999997</c:v>
                </c:pt>
                <c:pt idx="2">
                  <c:v>77.446</c:v>
                </c:pt>
                <c:pt idx="3">
                  <c:v>40.274</c:v>
                </c:pt>
                <c:pt idx="4">
                  <c:v>43.45500000000001</c:v>
                </c:pt>
                <c:pt idx="5">
                  <c:v>47.121</c:v>
                </c:pt>
                <c:pt idx="6">
                  <c:v>930.8270000000001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1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6"/>
                <c:pt idx="0">
                  <c:v>E-commerce</c:v>
                </c:pt>
                <c:pt idx="1">
                  <c:v>Pet Specialty Retail</c:v>
                </c:pt>
                <c:pt idx="2">
                  <c:v>Veterinary &amp; Animal Health</c:v>
                </c:pt>
                <c:pt idx="3">
                  <c:v>General Retail</c:v>
                </c:pt>
                <c:pt idx="4">
                  <c:v>Professional &amp; B2B</c:v>
                </c:pt>
                <c:pt idx="5">
                  <c:v>Total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0.0</c:v>
                </c:pt>
                <c:pt idx="1">
                  <c:v>198.55399999999997</c:v>
                </c:pt>
                <c:pt idx="2">
                  <c:v>276.0</c:v>
                </c:pt>
                <c:pt idx="3">
                  <c:v>316.274</c:v>
                </c:pt>
                <c:pt idx="4">
                  <c:v>359.72900000000004</c:v>
                </c:pt>
                <c:pt idx="5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08189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E-commerce</c:v>
                </c:pt>
                <c:pt idx="1">
                  <c:v>Pet Specialty Retail</c:v>
                </c:pt>
                <c:pt idx="2">
                  <c:v>Veterinary &amp; Animal Health</c:v>
                </c:pt>
                <c:pt idx="3">
                  <c:v>General Retail</c:v>
                </c:pt>
                <c:pt idx="4">
                  <c:v>Professional &amp; B2B</c:v>
                </c:pt>
                <c:pt idx="5">
                  <c:v>Total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198.55399999999997</c:v>
                </c:pt>
                <c:pt idx="1">
                  <c:v>77.446</c:v>
                </c:pt>
                <c:pt idx="2">
                  <c:v>40.274</c:v>
                </c:pt>
                <c:pt idx="3">
                  <c:v>43.45500000000001</c:v>
                </c:pt>
                <c:pt idx="4">
                  <c:v>47.121</c:v>
                </c:pt>
                <c:pt idx="5">
                  <c:v>406.85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1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Cleansing &amp; General Hygiene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Ear &amp; Eye Hygiene Products</c:v>
                </c:pt>
                <c:pt idx="4">
                  <c:v>Dental &amp; Oral Care Products</c:v>
                </c:pt>
                <c:pt idx="5">
                  <c:v>Fragrance &amp; Deodorizing Products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20.724286029402222</c:v>
                </c:pt>
                <c:pt idx="1">
                  <c:v>22.38972152025421</c:v>
                </c:pt>
                <c:pt idx="2">
                  <c:v>23.0057123655914</c:v>
                </c:pt>
                <c:pt idx="3">
                  <c:v>20.306014686740184</c:v>
                </c:pt>
                <c:pt idx="4">
                  <c:v>24.6432436332155</c:v>
                </c:pt>
                <c:pt idx="5">
                  <c:v>21.376778126731942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Coat Conditioning &amp; Softening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Ear &amp; Eye Hygiene Products</c:v>
                </c:pt>
                <c:pt idx="4">
                  <c:v>Dental &amp; Oral Care Products</c:v>
                </c:pt>
                <c:pt idx="5">
                  <c:v>Fragrance &amp; Deodorizing Products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21.84579186616322</c:v>
                </c:pt>
                <c:pt idx="1">
                  <c:v>18.939374984362097</c:v>
                </c:pt>
                <c:pt idx="2">
                  <c:v>20.571236559139784</c:v>
                </c:pt>
                <c:pt idx="3">
                  <c:v>21.25893361495199</c:v>
                </c:pt>
                <c:pt idx="4">
                  <c:v>18.932255969987736</c:v>
                </c:pt>
                <c:pt idx="5">
                  <c:v>20.423055606872346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Moisturizing &amp; Skin Barrier Care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Ear &amp; Eye Hygiene Products</c:v>
                </c:pt>
                <c:pt idx="4">
                  <c:v>Dental &amp; Oral Care Products</c:v>
                </c:pt>
                <c:pt idx="5">
                  <c:v>Fragrance &amp; Deodorizing Products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16.496472857655693</c:v>
                </c:pt>
                <c:pt idx="1">
                  <c:v>15.704205969925189</c:v>
                </c:pt>
                <c:pt idx="2">
                  <c:v>15.840053763440862</c:v>
                </c:pt>
                <c:pt idx="3">
                  <c:v>16.739936635803225</c:v>
                </c:pt>
                <c:pt idx="4">
                  <c:v>17.535531346944666</c:v>
                </c:pt>
                <c:pt idx="5">
                  <c:v>18.45556992425642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Skin Soothing &amp; Comfort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Ear &amp; Eye Hygiene Products</c:v>
                </c:pt>
                <c:pt idx="4">
                  <c:v>Dental &amp; Oral Care Products</c:v>
                </c:pt>
                <c:pt idx="5">
                  <c:v>Fragrance &amp; Deodorizing Products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14.181664049963885</c:v>
                </c:pt>
                <c:pt idx="1">
                  <c:v>15.342657692596392</c:v>
                </c:pt>
                <c:pt idx="2">
                  <c:v>14.34811827956989</c:v>
                </c:pt>
                <c:pt idx="3">
                  <c:v>15.83122528673527</c:v>
                </c:pt>
                <c:pt idx="4">
                  <c:v>15.039318952456535</c:v>
                </c:pt>
                <c:pt idx="5">
                  <c:v>10.710326990578237</c:v>
                </c:pt>
              </c:numCache>
            </c:numRef>
          </c:val>
        </c:ser>
        <c:ser>
          <c:idx val="4"/>
          <c:order val="4"/>
          <c:tx>
            <c:strRef>
              <c:strCache>
                <c:ptCount val="1"/>
                <c:pt idx="0">
                  <c:v>Dental &amp; Oral Hygiene</c:v>
                </c:pt>
              </c:strCache>
            </c:strRef>
          </c:tx>
          <c:spPr>
            <a:solidFill>
              <a:srgbClr val="A35313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Ear &amp; Eye Hygiene Products</c:v>
                </c:pt>
                <c:pt idx="4">
                  <c:v>Dental &amp; Oral Care Products</c:v>
                </c:pt>
                <c:pt idx="5">
                  <c:v>Fragrance &amp; Deodorizing Products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10.370360758973563</c:v>
                </c:pt>
                <c:pt idx="1">
                  <c:v>11.400655540821178</c:v>
                </c:pt>
                <c:pt idx="2">
                  <c:v>9.768145161290324</c:v>
                </c:pt>
                <c:pt idx="3">
                  <c:v>8.22506569737456</c:v>
                </c:pt>
                <c:pt idx="4">
                  <c:v>8.860832551763943</c:v>
                </c:pt>
                <c:pt idx="5">
                  <c:v>9.980602253833364</c:v>
                </c:pt>
              </c:numCache>
            </c:numRef>
          </c:val>
        </c:ser>
        <c:ser>
          <c:idx val="5"/>
          <c:order val="5"/>
          <c:tx>
            <c:strRef>
              <c:strCache>
                <c:ptCount val="1"/>
                <c:pt idx="0">
                  <c:v>Body &amp; Coat Odor Management</c:v>
                </c:pt>
              </c:strCache>
            </c:strRef>
          </c:tx>
          <c:spPr>
            <a:solidFill>
              <a:srgbClr val="808080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Ear &amp; Eye Hygiene Products</c:v>
                </c:pt>
                <c:pt idx="4">
                  <c:v>Dental &amp; Oral Care Products</c:v>
                </c:pt>
                <c:pt idx="5">
                  <c:v>Fragrance &amp; Deodorizing Products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8.884246584229718</c:v>
                </c:pt>
                <c:pt idx="1">
                  <c:v>8.000350288988416</c:v>
                </c:pt>
                <c:pt idx="2">
                  <c:v>9.507728494623656</c:v>
                </c:pt>
                <c:pt idx="3">
                  <c:v>10.192302969275733</c:v>
                </c:pt>
                <c:pt idx="4">
                  <c:v>8.01962340379482</c:v>
                </c:pt>
                <c:pt idx="5">
                  <c:v>9.581101053020506</c:v>
                </c:pt>
              </c:numCache>
            </c:numRef>
          </c:val>
        </c:ser>
        <c:ser>
          <c:idx val="6"/>
          <c:order val="6"/>
          <c:tx>
            <c:strRef>
              <c:strCache>
                <c:ptCount val="1"/>
                <c:pt idx="0">
                  <c:v>Ear &amp; Eye-Area Hygiene</c:v>
                </c:pt>
              </c:strCache>
            </c:strRef>
          </c:tx>
          <c:spPr>
            <a:solidFill>
              <a:srgbClr val="0E72AE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Ear &amp; Eye Hygiene Products</c:v>
                </c:pt>
                <c:pt idx="4">
                  <c:v>Dental &amp; Oral Care Products</c:v>
                </c:pt>
                <c:pt idx="5">
                  <c:v>Fragrance &amp; Deodorizing Products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7.4971778536117</c:v>
                </c:pt>
                <c:pt idx="1">
                  <c:v>8.223034003052518</c:v>
                </c:pt>
                <c:pt idx="2">
                  <c:v>6.959005376344087</c:v>
                </c:pt>
                <c:pt idx="3">
                  <c:v>7.4465211091190415</c:v>
                </c:pt>
                <c:pt idx="4">
                  <c:v>6.96919414183681</c:v>
                </c:pt>
                <c:pt idx="5">
                  <c:v>9.472566044707186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1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Regular / Established Ingredients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Ear &amp; Eye Hygiene Products</c:v>
                </c:pt>
                <c:pt idx="4">
                  <c:v>Dental &amp; Oral Care Products</c:v>
                </c:pt>
                <c:pt idx="5">
                  <c:v>Fragrance &amp; Deodorizing Products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55.617260723075</c:v>
                </c:pt>
                <c:pt idx="1">
                  <c:v>54.93325994220448</c:v>
                </c:pt>
                <c:pt idx="2">
                  <c:v>53.89216526370616</c:v>
                </c:pt>
                <c:pt idx="3">
                  <c:v>59.00483827393964</c:v>
                </c:pt>
                <c:pt idx="4">
                  <c:v>54.344501197587505</c:v>
                </c:pt>
                <c:pt idx="5">
                  <c:v>49.83028147874477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Niche / Specialized Ingredients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Ear &amp; Eye Hygiene Products</c:v>
                </c:pt>
                <c:pt idx="4">
                  <c:v>Dental &amp; Oral Care Products</c:v>
                </c:pt>
                <c:pt idx="5">
                  <c:v>Fragrance &amp; Deodorizing Products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31.87922510996639</c:v>
                </c:pt>
                <c:pt idx="1">
                  <c:v>31.564857325143553</c:v>
                </c:pt>
                <c:pt idx="2">
                  <c:v>33.66601139170321</c:v>
                </c:pt>
                <c:pt idx="3">
                  <c:v>29.1548984453668</c:v>
                </c:pt>
                <c:pt idx="4">
                  <c:v>32.8441981935186</c:v>
                </c:pt>
                <c:pt idx="5">
                  <c:v>37.38194749116771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Emerging Ingredients / Innovation Candidates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Ear &amp; Eye Hygiene Products</c:v>
                </c:pt>
                <c:pt idx="4">
                  <c:v>Dental &amp; Oral Care Products</c:v>
                </c:pt>
                <c:pt idx="5">
                  <c:v>Fragrance &amp; Deodorizing Products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12.503514166958613</c:v>
                </c:pt>
                <c:pt idx="1">
                  <c:v>13.501882732651966</c:v>
                </c:pt>
                <c:pt idx="2">
                  <c:v>12.441823344590622</c:v>
                </c:pt>
                <c:pt idx="3">
                  <c:v>11.840263280693568</c:v>
                </c:pt>
                <c:pt idx="4">
                  <c:v>12.811300608893891</c:v>
                </c:pt>
                <c:pt idx="5">
                  <c:v>12.787771030087514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1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roundedCorners val="0"/>
  <c:chart>
    <c:autoTitleDeleted val="1"/>
    <c:plotArea>
      <c:layout>
        <c:manualLayout>
          <c:layoutTarget val="inner"/>
          <c:xMode val="edge"/>
          <c:yMode val="edge"/>
          <c:x val="0.01"/>
          <c:y val="0.04"/>
          <c:w val="0.68"/>
          <c:h val="0.92"/>
        </c:manualLayout>
      </c:layout>
      <c:doughnutChart>
        <c:varyColors val="0"/>
        <c:ser>
          <c:idx val="0"/>
          <c:order val="0"/>
          <c:tx>
            <c:strRef>
              <c:strCache>
                <c:ptCount val="1"/>
                <c:pt idx="0">
                  <c:v>Share</c:v>
                </c:pt>
              </c:strCache>
            </c:strRef>
          </c:tx>
          <c:spPr/>
          <c:dPt>
            <c:idx val="0"/>
            <c:spPr>
              <a:solidFill>
                <a:srgbClr val="3D85C6"/>
              </a:solidFill>
            </c:spPr>
          </c:dPt>
          <c:dPt>
            <c:idx val="1"/>
            <c:spPr>
              <a:solidFill>
                <a:srgbClr val="9E7E0A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40315E"/>
              </a:solidFill>
            </c:spPr>
          </c:dPt>
          <c:dPt>
            <c:idx val="4"/>
            <c:spPr>
              <a:solidFill>
                <a:srgbClr val="A35313"/>
              </a:solidFill>
            </c:spPr>
          </c:dPt>
          <c:dPt>
            <c:idx val="5"/>
            <c:spPr>
              <a:solidFill>
                <a:srgbClr val="808080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Pt>
            <c:idx val="7"/>
            <c:spPr>
              <a:solidFill>
                <a:srgbClr val="A86F00"/>
              </a:solidFill>
            </c:spPr>
          </c:dPt>
          <c:dPt>
            <c:idx val="8"/>
            <c:spPr>
              <a:solidFill>
                <a:srgbClr val="0B2E4A"/>
              </a:solidFill>
            </c:spPr>
          </c:dPt>
          <c:dPt>
            <c:idx val="9"/>
            <c:spPr>
              <a:solidFill>
                <a:srgbClr val="6C7A89"/>
              </a:solidFill>
            </c:spPr>
          </c:dPt>
          <c:dPt>
            <c:idx val="10"/>
            <c:spPr>
              <a:solidFill>
                <a:srgbClr val="B9B3AC"/>
              </a:solidFill>
            </c:spPr>
          </c:dPt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&quot;;&quot;MMM&quot;;&quot;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&quot;;&quot;MMM&quot;;&quot;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&quot;;&quot;MMM&quot;;&quot;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MM&quot;;&quot;MMM&quot;;&quot;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MM&quot;;&quot;MMM&quot;;&quot;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MMM&quot;;&quot;MMM&quot;;&quot;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MMM&quot;;&quot;MMM&quot;;&quot;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MMMM&quot;;&quot;MMMM&quot;;&quot;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1"/>
                <c:pt idx="0">
                  <c:v>Beaphar</c:v>
                </c:pt>
                <c:pt idx="1">
                  <c:v>Laboratoire Biogance</c:v>
                </c:pt>
                <c:pt idx="2">
                  <c:v>Laboratoire Francodex</c:v>
                </c:pt>
                <c:pt idx="3">
                  <c:v>Group55</c:v>
                </c:pt>
                <c:pt idx="4">
                  <c:v>Lakeland Cosmetics</c:v>
                </c:pt>
                <c:pt idx="5">
                  <c:v>Laboratorios Bilper</c:v>
                </c:pt>
                <c:pt idx="6">
                  <c:v>Artero</c:v>
                </c:pt>
                <c:pt idx="7">
                  <c:v>Iv San Bernard</c:v>
                </c:pt>
                <c:pt idx="8">
                  <c:v>Cosmetica Veneta</c:v>
                </c:pt>
                <c:pt idx="9">
                  <c:v>K9 Competition</c:v>
                </c:pt>
                <c:pt idx="10">
                  <c:v>Others</c:v>
                </c:pt>
              </c:strCache>
            </c:strRef>
          </c:cat>
          <c:val>
            <c:numRef>
              <c:numCache>
                <c:formatCode>General</c:formatCode>
                <c:ptCount val="11"/>
                <c:pt idx="0">
                  <c:v>17.074931814674855</c:v>
                </c:pt>
                <c:pt idx="1">
                  <c:v>12.550885260107192</c:v>
                </c:pt>
                <c:pt idx="2">
                  <c:v>8.380043562697718</c:v>
                </c:pt>
                <c:pt idx="3">
                  <c:v>7.444952014860334</c:v>
                </c:pt>
                <c:pt idx="4">
                  <c:v>8.04660708305492</c:v>
                </c:pt>
                <c:pt idx="5">
                  <c:v>6.919214229256515</c:v>
                </c:pt>
                <c:pt idx="6">
                  <c:v>4.691071174682332</c:v>
                </c:pt>
                <c:pt idx="7">
                  <c:v>2.86510879859984</c:v>
                </c:pt>
                <c:pt idx="8">
                  <c:v>2.560369933335589</c:v>
                </c:pt>
                <c:pt idx="9">
                  <c:v>2.6169804142295043</c:v>
                </c:pt>
                <c:pt idx="10">
                  <c:v>26.849835714501204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/>
    </a:p>
  </c:txPr>
</c:chartSpace>
</file>

<file path=ppt/charts/chart11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roundedCorners val="0"/>
  <c:chart>
    <c:autoTitleDeleted val="1"/>
    <c:plotArea>
      <c:layout>
        <c:manualLayout>
          <c:layoutTarget val="inner"/>
          <c:xMode val="edge"/>
          <c:yMode val="edge"/>
          <c:x val="0.01"/>
          <c:y val="0.04"/>
          <c:w val="0.68"/>
          <c:h val="0.92"/>
        </c:manualLayout>
      </c:layout>
      <c:doughnutChart>
        <c:varyColors val="0"/>
        <c:ser>
          <c:idx val="0"/>
          <c:order val="0"/>
          <c:tx>
            <c:strRef>
              <c:strCache>
                <c:ptCount val="1"/>
                <c:pt idx="0">
                  <c:v>Share</c:v>
                </c:pt>
              </c:strCache>
            </c:strRef>
          </c:tx>
          <c:spPr/>
          <c:dPt>
            <c:idx val="0"/>
            <c:spPr>
              <a:solidFill>
                <a:srgbClr val="3D85C6"/>
              </a:solidFill>
            </c:spPr>
          </c:dPt>
          <c:dPt>
            <c:idx val="1"/>
            <c:spPr>
              <a:solidFill>
                <a:srgbClr val="9E7E0A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40315E"/>
              </a:solidFill>
            </c:spPr>
          </c:dPt>
          <c:dPt>
            <c:idx val="4"/>
            <c:spPr>
              <a:solidFill>
                <a:srgbClr val="A35313"/>
              </a:solidFill>
            </c:spPr>
          </c:dPt>
          <c:dPt>
            <c:idx val="5"/>
            <c:spPr>
              <a:solidFill>
                <a:srgbClr val="808080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Pt>
            <c:idx val="7"/>
            <c:spPr>
              <a:solidFill>
                <a:srgbClr val="A86F00"/>
              </a:solidFill>
            </c:spPr>
          </c:dPt>
          <c:dPt>
            <c:idx val="8"/>
            <c:spPr>
              <a:solidFill>
                <a:srgbClr val="0B2E4A"/>
              </a:solidFill>
            </c:spPr>
          </c:dPt>
          <c:dPt>
            <c:idx val="9"/>
            <c:spPr>
              <a:solidFill>
                <a:srgbClr val="6C7A89"/>
              </a:solidFill>
            </c:spPr>
          </c:dPt>
          <c:dPt>
            <c:idx val="10"/>
            <c:spPr>
              <a:solidFill>
                <a:srgbClr val="B9B3AC"/>
              </a:solidFill>
            </c:spPr>
          </c:dPt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&quot;;&quot;MMM&quot;;&quot;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&quot;;&quot;MMM&quot;;&quot;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MM&quot;;&quot;MMM&quot;;&quot;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MM&quot;;&quot;MMM&quot;;&quot;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MMM&quot;;&quot;MMM&quot;;&quot;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MMM&quot;;&quot;MMM&quot;;&quot;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MMMM&quot;;&quot;MMMM&quot;;&quot;M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1"/>
                <c:pt idx="0">
                  <c:v>Beaphar</c:v>
                </c:pt>
                <c:pt idx="1">
                  <c:v>Laboratoire Biogance</c:v>
                </c:pt>
                <c:pt idx="2">
                  <c:v>Laboratoire Francodex</c:v>
                </c:pt>
                <c:pt idx="3">
                  <c:v>Group55</c:v>
                </c:pt>
                <c:pt idx="4">
                  <c:v>Lakeland Cosmetics</c:v>
                </c:pt>
                <c:pt idx="5">
                  <c:v>Laboratorios Bilper</c:v>
                </c:pt>
                <c:pt idx="6">
                  <c:v>Artero</c:v>
                </c:pt>
                <c:pt idx="7">
                  <c:v>Iv San Bernard</c:v>
                </c:pt>
                <c:pt idx="8">
                  <c:v>Cosmetica Veneta</c:v>
                </c:pt>
                <c:pt idx="9">
                  <c:v>K9 Competition</c:v>
                </c:pt>
                <c:pt idx="10">
                  <c:v>Others</c:v>
                </c:pt>
              </c:strCache>
            </c:strRef>
          </c:cat>
          <c:val>
            <c:numRef>
              <c:numCache>
                <c:formatCode>General</c:formatCode>
                <c:ptCount val="11"/>
                <c:pt idx="0">
                  <c:v>11.693602256562977</c:v>
                </c:pt>
                <c:pt idx="1">
                  <c:v>9.98907014549872</c:v>
                </c:pt>
                <c:pt idx="2">
                  <c:v>11.264513875278551</c:v>
                </c:pt>
                <c:pt idx="3">
                  <c:v>11.542462021743303</c:v>
                </c:pt>
                <c:pt idx="4">
                  <c:v>9.170712625473369</c:v>
                </c:pt>
                <c:pt idx="5">
                  <c:v>5.69371565484273</c:v>
                </c:pt>
                <c:pt idx="6">
                  <c:v>3.7515880157620747</c:v>
                </c:pt>
                <c:pt idx="7">
                  <c:v>3.240076671241286</c:v>
                </c:pt>
                <c:pt idx="8">
                  <c:v>3.3901784262482124</c:v>
                </c:pt>
                <c:pt idx="9">
                  <c:v>3.0300946920704144</c:v>
                </c:pt>
                <c:pt idx="10">
                  <c:v>27.23398561527836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/>
    </a:p>
  </c:txPr>
</c:chartSpace>
</file>

<file path=ppt/charts/chart11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roundedCorners val="0"/>
  <c:chart>
    <c:autoTitleDeleted val="1"/>
    <c:plotArea>
      <c:layout>
        <c:manualLayout>
          <c:layoutTarget val="inner"/>
          <c:xMode val="edge"/>
          <c:yMode val="edge"/>
          <c:x val="0.01"/>
          <c:y val="0.04"/>
          <c:w val="0.68"/>
          <c:h val="0.92"/>
        </c:manualLayout>
      </c:layout>
      <c:doughnutChart>
        <c:varyColors val="0"/>
        <c:ser>
          <c:idx val="0"/>
          <c:order val="0"/>
          <c:tx>
            <c:strRef>
              <c:strCache>
                <c:ptCount val="1"/>
                <c:pt idx="0">
                  <c:v>Share</c:v>
                </c:pt>
              </c:strCache>
            </c:strRef>
          </c:tx>
          <c:spPr/>
          <c:dPt>
            <c:idx val="0"/>
            <c:spPr>
              <a:solidFill>
                <a:srgbClr val="3D85C6"/>
              </a:solidFill>
            </c:spPr>
          </c:dPt>
          <c:dPt>
            <c:idx val="1"/>
            <c:spPr>
              <a:solidFill>
                <a:srgbClr val="9E7E0A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40315E"/>
              </a:solidFill>
            </c:spPr>
          </c:dPt>
          <c:dPt>
            <c:idx val="4"/>
            <c:spPr>
              <a:solidFill>
                <a:srgbClr val="A35313"/>
              </a:solidFill>
            </c:spPr>
          </c:dPt>
          <c:dPt>
            <c:idx val="5"/>
            <c:spPr>
              <a:solidFill>
                <a:srgbClr val="808080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Pt>
            <c:idx val="7"/>
            <c:spPr>
              <a:solidFill>
                <a:srgbClr val="A86F00"/>
              </a:solidFill>
            </c:spPr>
          </c:dPt>
          <c:dPt>
            <c:idx val="8"/>
            <c:spPr>
              <a:solidFill>
                <a:srgbClr val="0B2E4A"/>
              </a:solidFill>
            </c:spPr>
          </c:dPt>
          <c:dPt>
            <c:idx val="9"/>
            <c:spPr>
              <a:solidFill>
                <a:srgbClr val="6C7A89"/>
              </a:solidFill>
            </c:spPr>
          </c:dPt>
          <c:dPt>
            <c:idx val="10"/>
            <c:spPr>
              <a:solidFill>
                <a:srgbClr val="B9B3AC"/>
              </a:solidFill>
            </c:spPr>
          </c:dPt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&quot;;&quot;MMM&quot;;&quot;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&quot;;&quot;MMM&quot;;&quot;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MM&quot;;&quot;MMM&quot;;&quot;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MM&quot;;&quot;MMM&quot;;&quot;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MMM&quot;;&quot;MMM&quot;;&quot;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MMM&quot;;&quot;MMM&quot;;&quot;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MMMM&quot;;&quot;MMMM&quot;;&quot;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1"/>
                <c:pt idx="0">
                  <c:v>Beaphar</c:v>
                </c:pt>
                <c:pt idx="1">
                  <c:v>Laboratoire Biogance</c:v>
                </c:pt>
                <c:pt idx="2">
                  <c:v>Laboratoire Francodex</c:v>
                </c:pt>
                <c:pt idx="3">
                  <c:v>Group55</c:v>
                </c:pt>
                <c:pt idx="4">
                  <c:v>Lakeland Cosmetics</c:v>
                </c:pt>
                <c:pt idx="5">
                  <c:v>Laboratorios Bilper</c:v>
                </c:pt>
                <c:pt idx="6">
                  <c:v>Artero</c:v>
                </c:pt>
                <c:pt idx="7">
                  <c:v>Iv San Bernard</c:v>
                </c:pt>
                <c:pt idx="8">
                  <c:v>Cosmetica Veneta</c:v>
                </c:pt>
                <c:pt idx="9">
                  <c:v>K9 Competition</c:v>
                </c:pt>
                <c:pt idx="10">
                  <c:v>Others</c:v>
                </c:pt>
              </c:strCache>
            </c:strRef>
          </c:cat>
          <c:val>
            <c:numRef>
              <c:numCache>
                <c:formatCode>General</c:formatCode>
                <c:ptCount val="11"/>
                <c:pt idx="0">
                  <c:v>12.127056022733685</c:v>
                </c:pt>
                <c:pt idx="1">
                  <c:v>13.515963661294228</c:v>
                </c:pt>
                <c:pt idx="2">
                  <c:v>13.672509787055716</c:v>
                </c:pt>
                <c:pt idx="3">
                  <c:v>10.747277583816313</c:v>
                </c:pt>
                <c:pt idx="4">
                  <c:v>6.853819923875349</c:v>
                </c:pt>
                <c:pt idx="5">
                  <c:v>4.527540451517601</c:v>
                </c:pt>
                <c:pt idx="6">
                  <c:v>4.351504519294602</c:v>
                </c:pt>
                <c:pt idx="7">
                  <c:v>4.386878793633664</c:v>
                </c:pt>
                <c:pt idx="8">
                  <c:v>3.8343075690671227</c:v>
                </c:pt>
                <c:pt idx="9">
                  <c:v>2.614124464284719</c:v>
                </c:pt>
                <c:pt idx="10">
                  <c:v>23.369017223427004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/>
    </a:p>
  </c:txPr>
</c:chartSpace>
</file>

<file path=ppt/charts/chart11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roundedCorners val="0"/>
  <c:chart>
    <c:autoTitleDeleted val="1"/>
    <c:plotArea>
      <c:layout>
        <c:manualLayout>
          <c:layoutTarget val="inner"/>
          <c:xMode val="edge"/>
          <c:yMode val="edge"/>
          <c:x val="0.01"/>
          <c:y val="0.04"/>
          <c:w val="0.68"/>
          <c:h val="0.92"/>
        </c:manualLayout>
      </c:layout>
      <c:doughnutChart>
        <c:varyColors val="0"/>
        <c:ser>
          <c:idx val="0"/>
          <c:order val="0"/>
          <c:tx>
            <c:strRef>
              <c:strCache>
                <c:ptCount val="1"/>
                <c:pt idx="0">
                  <c:v>Share</c:v>
                </c:pt>
              </c:strCache>
            </c:strRef>
          </c:tx>
          <c:spPr/>
          <c:dPt>
            <c:idx val="0"/>
            <c:spPr>
              <a:solidFill>
                <a:srgbClr val="3D85C6"/>
              </a:solidFill>
            </c:spPr>
          </c:dPt>
          <c:dPt>
            <c:idx val="1"/>
            <c:spPr>
              <a:solidFill>
                <a:srgbClr val="9E7E0A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40315E"/>
              </a:solidFill>
            </c:spPr>
          </c:dPt>
          <c:dPt>
            <c:idx val="4"/>
            <c:spPr>
              <a:solidFill>
                <a:srgbClr val="A35313"/>
              </a:solidFill>
            </c:spPr>
          </c:dPt>
          <c:dPt>
            <c:idx val="5"/>
            <c:spPr>
              <a:solidFill>
                <a:srgbClr val="808080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Pt>
            <c:idx val="7"/>
            <c:spPr>
              <a:solidFill>
                <a:srgbClr val="A86F00"/>
              </a:solidFill>
            </c:spPr>
          </c:dPt>
          <c:dPt>
            <c:idx val="8"/>
            <c:spPr>
              <a:solidFill>
                <a:srgbClr val="0B2E4A"/>
              </a:solidFill>
            </c:spPr>
          </c:dPt>
          <c:dPt>
            <c:idx val="9"/>
            <c:spPr>
              <a:solidFill>
                <a:srgbClr val="6C7A89"/>
              </a:solidFill>
            </c:spPr>
          </c:dPt>
          <c:dPt>
            <c:idx val="10"/>
            <c:spPr>
              <a:solidFill>
                <a:srgbClr val="B9B3AC"/>
              </a:solidFill>
            </c:spPr>
          </c:dPt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&quot;;&quot;MMM&quot;;&quot;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&quot;;&quot;MMM&quot;;&quot;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&quot;;&quot;MMM&quot;;&quot;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MM&quot;;&quot;MMM&quot;;&quot;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MM&quot;;&quot;MMM&quot;;&quot;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MMM&quot;;&quot;MMM&quot;;&quot;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MMM&quot;;&quot;MMM&quot;;&quot;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MMMM&quot;;&quot;MMMM&quot;;&quot;M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1"/>
                <c:pt idx="0">
                  <c:v>Beaphar</c:v>
                </c:pt>
                <c:pt idx="1">
                  <c:v>Laboratoire Biogance</c:v>
                </c:pt>
                <c:pt idx="2">
                  <c:v>Laboratoire Francodex</c:v>
                </c:pt>
                <c:pt idx="3">
                  <c:v>Group55</c:v>
                </c:pt>
                <c:pt idx="4">
                  <c:v>Lakeland Cosmetics</c:v>
                </c:pt>
                <c:pt idx="5">
                  <c:v>Laboratorios Bilper</c:v>
                </c:pt>
                <c:pt idx="6">
                  <c:v>Artero</c:v>
                </c:pt>
                <c:pt idx="7">
                  <c:v>Iv San Bernard</c:v>
                </c:pt>
                <c:pt idx="8">
                  <c:v>Cosmetica Veneta</c:v>
                </c:pt>
                <c:pt idx="9">
                  <c:v>K9 Competition</c:v>
                </c:pt>
                <c:pt idx="10">
                  <c:v>Others</c:v>
                </c:pt>
              </c:strCache>
            </c:strRef>
          </c:cat>
          <c:val>
            <c:numRef>
              <c:numCache>
                <c:formatCode>General</c:formatCode>
                <c:ptCount val="11"/>
                <c:pt idx="0">
                  <c:v>16.616982878130067</c:v>
                </c:pt>
                <c:pt idx="1">
                  <c:v>15.838373751146182</c:v>
                </c:pt>
                <c:pt idx="2">
                  <c:v>12.226323321243273</c:v>
                </c:pt>
                <c:pt idx="3">
                  <c:v>7.956018792951128</c:v>
                </c:pt>
                <c:pt idx="4">
                  <c:v>5.814138033935409</c:v>
                </c:pt>
                <c:pt idx="5">
                  <c:v>5.618762435113717</c:v>
                </c:pt>
                <c:pt idx="6">
                  <c:v>5.851259038190952</c:v>
                </c:pt>
                <c:pt idx="7">
                  <c:v>4.767350351372047</c:v>
                </c:pt>
                <c:pt idx="8">
                  <c:v>3.1905899020099833</c:v>
                </c:pt>
                <c:pt idx="9">
                  <c:v>1.9266097914653117</c:v>
                </c:pt>
                <c:pt idx="10">
                  <c:v>20.193591704441936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/>
    </a:p>
  </c:txPr>
</c:chartSpace>
</file>

<file path=ppt/charts/chart11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roundedCorners val="0"/>
  <c:chart>
    <c:autoTitleDeleted val="1"/>
    <c:plotArea>
      <c:layout>
        <c:manualLayout>
          <c:layoutTarget val="inner"/>
          <c:xMode val="edge"/>
          <c:yMode val="edge"/>
          <c:x val="0.01"/>
          <c:y val="0.04"/>
          <c:w val="0.68"/>
          <c:h val="0.92"/>
        </c:manualLayout>
      </c:layout>
      <c:doughnutChart>
        <c:varyColors val="0"/>
        <c:ser>
          <c:idx val="0"/>
          <c:order val="0"/>
          <c:tx>
            <c:strRef>
              <c:strCache>
                <c:ptCount val="1"/>
                <c:pt idx="0">
                  <c:v>Share</c:v>
                </c:pt>
              </c:strCache>
            </c:strRef>
          </c:tx>
          <c:spPr/>
          <c:dPt>
            <c:idx val="0"/>
            <c:spPr>
              <a:solidFill>
                <a:srgbClr val="3D85C6"/>
              </a:solidFill>
            </c:spPr>
          </c:dPt>
          <c:dPt>
            <c:idx val="1"/>
            <c:spPr>
              <a:solidFill>
                <a:srgbClr val="9E7E0A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40315E"/>
              </a:solidFill>
            </c:spPr>
          </c:dPt>
          <c:dPt>
            <c:idx val="4"/>
            <c:spPr>
              <a:solidFill>
                <a:srgbClr val="A35313"/>
              </a:solidFill>
            </c:spPr>
          </c:dPt>
          <c:dPt>
            <c:idx val="5"/>
            <c:spPr>
              <a:solidFill>
                <a:srgbClr val="808080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Pt>
            <c:idx val="7"/>
            <c:spPr>
              <a:solidFill>
                <a:srgbClr val="A86F00"/>
              </a:solidFill>
            </c:spPr>
          </c:dPt>
          <c:dPt>
            <c:idx val="8"/>
            <c:spPr>
              <a:solidFill>
                <a:srgbClr val="0B2E4A"/>
              </a:solidFill>
            </c:spPr>
          </c:dPt>
          <c:dPt>
            <c:idx val="9"/>
            <c:spPr>
              <a:solidFill>
                <a:srgbClr val="6C7A89"/>
              </a:solidFill>
            </c:spPr>
          </c:dPt>
          <c:dPt>
            <c:idx val="10"/>
            <c:spPr>
              <a:solidFill>
                <a:srgbClr val="B9B3AC"/>
              </a:solidFill>
            </c:spPr>
          </c:dPt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&quot;;&quot;MMM&quot;;&quot;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&quot;;&quot;MMM&quot;;&quot;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&quot;;&quot;MMM&quot;;&quot;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MM&quot;;&quot;MMM&quot;;&quot;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MM&quot;;&quot;MMM&quot;;&quot;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MMM&quot;;&quot;MMM&quot;;&quot;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MMM&quot;;&quot;MMM&quot;;&quot;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MMMM&quot;;&quot;MMMM&quot;;&quot;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1"/>
                <c:pt idx="0">
                  <c:v>Beaphar</c:v>
                </c:pt>
                <c:pt idx="1">
                  <c:v>Laboratoire Biogance</c:v>
                </c:pt>
                <c:pt idx="2">
                  <c:v>Laboratoire Francodex</c:v>
                </c:pt>
                <c:pt idx="3">
                  <c:v>Group55</c:v>
                </c:pt>
                <c:pt idx="4">
                  <c:v>Lakeland Cosmetics</c:v>
                </c:pt>
                <c:pt idx="5">
                  <c:v>Laboratorios Bilper</c:v>
                </c:pt>
                <c:pt idx="6">
                  <c:v>Artero</c:v>
                </c:pt>
                <c:pt idx="7">
                  <c:v>Iv San Bernard</c:v>
                </c:pt>
                <c:pt idx="8">
                  <c:v>Cosmetica Veneta</c:v>
                </c:pt>
                <c:pt idx="9">
                  <c:v>K9 Competition</c:v>
                </c:pt>
                <c:pt idx="10">
                  <c:v>Others</c:v>
                </c:pt>
              </c:strCache>
            </c:strRef>
          </c:cat>
          <c:val>
            <c:numRef>
              <c:numCache>
                <c:formatCode>General</c:formatCode>
                <c:ptCount val="11"/>
                <c:pt idx="0">
                  <c:v>17.074931814674855</c:v>
                </c:pt>
                <c:pt idx="1">
                  <c:v>12.550885260107192</c:v>
                </c:pt>
                <c:pt idx="2">
                  <c:v>8.380043562697718</c:v>
                </c:pt>
                <c:pt idx="3">
                  <c:v>7.444952014860334</c:v>
                </c:pt>
                <c:pt idx="4">
                  <c:v>8.04660708305492</c:v>
                </c:pt>
                <c:pt idx="5">
                  <c:v>6.919214229256515</c:v>
                </c:pt>
                <c:pt idx="6">
                  <c:v>4.691071174682332</c:v>
                </c:pt>
                <c:pt idx="7">
                  <c:v>2.86510879859984</c:v>
                </c:pt>
                <c:pt idx="8">
                  <c:v>2.560369933335589</c:v>
                </c:pt>
                <c:pt idx="9">
                  <c:v>2.6169804142295043</c:v>
                </c:pt>
                <c:pt idx="10">
                  <c:v>26.849835714501204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/>
    </a:p>
  </c:txPr>
</c:chartSpace>
</file>

<file path=ppt/charts/chart12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S1</c:v>
                </c:pt>
              </c:strCache>
            </c:strRef>
          </c:tx>
          <c:spPr>
            <a:solidFill>
              <a:srgbClr val="1668A8"/>
            </a:solidFill>
            <a:ln>
              <a:noFill/>
            </a:ln>
          </c:spPr>
          <c:dLbls>
            <c:dLbl>
              <c:idx val="0"/>
              <c:numFmt formatCode="&quot;MMMMM&quot;;&quot;MMMMM&quot;;&quot;M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M&quot;;&quot;MMMMM&quot;;&quot;M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M&quot;;&quot;MMMMM&quot;;&quot;M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M&quot;;&quot;MMMMM&quot;;&quot;M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4"/>
                <c:pt idx="0">
                  <c:v>E-commerce</c:v>
                </c:pt>
                <c:pt idx="1">
                  <c:v>Pet Specialty Retail</c:v>
                </c:pt>
                <c:pt idx="2">
                  <c:v>Veterinary &amp; Animal Health</c:v>
                </c:pt>
                <c:pt idx="3">
                  <c:v>General Retail</c:v>
                </c:pt>
              </c:strCache>
            </c:strRef>
          </c:cat>
          <c:val>
            <c:numRef>
              <c:numCache>
                <c:formatCode>General</c:formatCode>
                <c:ptCount val="4"/>
                <c:pt idx="0">
                  <c:v>245.06593474654844</c:v>
                </c:pt>
                <c:pt idx="1">
                  <c:v>136.3388649495522</c:v>
                </c:pt>
                <c:pt idx="2">
                  <c:v>171.61181912838902</c:v>
                </c:pt>
                <c:pt idx="3">
                  <c:v>324.19092878122404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427.93202599121577"/>
          <c:min val="0.0"/>
        </c:scaling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2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S1</c:v>
                </c:pt>
              </c:strCache>
            </c:strRef>
          </c:tx>
          <c:spPr>
            <a:solidFill>
              <a:srgbClr val="0E3A5F"/>
            </a:solidFill>
            <a:ln>
              <a:noFill/>
            </a:ln>
          </c:spPr>
          <c:dLbls>
            <c:dLbl>
              <c:idx val="0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"/>
                <c:pt idx="0">
                  <c:v>Europe</c:v>
                </c:pt>
              </c:strCache>
            </c:strRef>
          </c:cat>
          <c:val>
            <c:numRef>
              <c:numCache>
                <c:formatCode>General</c:formatCode>
                <c:ptCount val="1"/>
                <c:pt idx="0">
                  <c:v>877.2075476057138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1157.9139628395421"/>
          <c:min val="0.0"/>
        </c:scaling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2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roundedCorners val="0"/>
  <c:chart>
    <c:autoTitleDeleted val="1"/>
    <c:plotArea>
      <c:layout>
        <c:manualLayout>
          <c:layoutTarget val="inner"/>
          <c:xMode val="edge"/>
          <c:yMode val="edge"/>
          <c:x val="0.01"/>
          <c:y val="0.04"/>
          <c:w val="0.68"/>
          <c:h val="0.92"/>
        </c:manualLayout>
      </c:layout>
      <c:doughnutChart>
        <c:varyColors val="0"/>
        <c:ser>
          <c:idx val="0"/>
          <c:order val="0"/>
          <c:tx>
            <c:strRef>
              <c:strCache>
                <c:ptCount val="1"/>
                <c:pt idx="0">
                  <c:v>Share</c:v>
                </c:pt>
              </c:strCache>
            </c:strRef>
          </c:tx>
          <c:spPr/>
          <c:dPt>
            <c:idx val="0"/>
            <c:spPr>
              <a:solidFill>
                <a:srgbClr val="3D85C6"/>
              </a:solidFill>
            </c:spPr>
          </c:dPt>
          <c:dPt>
            <c:idx val="1"/>
            <c:spPr>
              <a:solidFill>
                <a:srgbClr val="9E7E0A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40315E"/>
              </a:solidFill>
            </c:spPr>
          </c:dPt>
          <c:dLbls>
            <c:dLbl>
              <c:idx val="0"/>
              <c:numFmt formatCode="&quot;MMMMM&quot;;&quot;MMMMM&quot;;&quot;M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M&quot;;&quot;MMMMM&quot;;&quot;M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M&quot;;&quot;MMMMM&quot;;&quot;M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M&quot;;&quot;MMMMM&quot;;&quot;M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4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Dental &amp; Oral Care Products</c:v>
                </c:pt>
              </c:strCache>
            </c:strRef>
          </c:cat>
          <c:val>
            <c:numRef>
              <c:numCache>
                <c:formatCode>General</c:formatCode>
                <c:ptCount val="4"/>
                <c:pt idx="0">
                  <c:v>101.07072628683687</c:v>
                </c:pt>
                <c:pt idx="1">
                  <c:v>140.51179942064496</c:v>
                </c:pt>
                <c:pt idx="2">
                  <c:v>262.0091088541116</c:v>
                </c:pt>
                <c:pt idx="3">
                  <c:v>373.6159130441202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/>
    </a:p>
  </c:txPr>
</c:chartSpace>
</file>

<file path=ppt/charts/chart12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SAM</c:v>
                </c:pt>
              </c:strCache>
            </c:strRef>
          </c:tx>
          <c:spPr>
            <a:solidFill>
              <a:srgbClr val="69B1E0"/>
            </a:solidFill>
            <a:ln>
              <a:noFill/>
            </a:ln>
          </c:spPr>
          <c:dLbls>
            <c:dLbl>
              <c:idx val="0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.0&quot;%&quot;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"/>
                <c:pt idx="0">
                  <c:v>Europe</c:v>
                </c:pt>
              </c:strCache>
            </c:strRef>
          </c:cat>
          <c:val>
            <c:numRef>
              <c:numCache>
                <c:formatCode>General</c:formatCode>
                <c:ptCount val="1"/>
                <c:pt idx="0">
                  <c:v>4442.64132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SOM</c:v>
                </c:pt>
              </c:strCache>
            </c:strRef>
          </c:tx>
          <c:spPr>
            <a:solidFill>
              <a:srgbClr val="0E72AE"/>
            </a:solidFill>
            <a:ln>
              <a:noFill/>
            </a:ln>
          </c:spPr>
          <c:dLbls>
            <c:dLbl>
              <c:idx val="0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.0&quot;%&quot;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"/>
                <c:pt idx="0">
                  <c:v>Europe</c:v>
                </c:pt>
              </c:strCache>
            </c:strRef>
          </c:cat>
          <c:val>
            <c:numRef>
              <c:numCache>
                <c:formatCode>General</c:formatCode>
                <c:ptCount val="1"/>
                <c:pt idx="0">
                  <c:v>877.2075476057138</c:v>
                </c:pt>
              </c:numCache>
            </c:numRef>
          </c:val>
        </c:ser>
        <c:dLbls>
          <c:numFmt formatCode="0.0&quot;%&quot;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5686.5808896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2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S1</c:v>
                </c:pt>
              </c:strCache>
            </c:strRef>
          </c:tx>
          <c:spPr>
            <a:solidFill>
              <a:srgbClr val="1668A8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M&quot;;&quot;MMMMM&quot;;&quot;M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M&quot;;&quot;MMMMM&quot;;&quot;M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M&quot;;&quot;MMMMM&quot;;&quot;M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4"/>
                <c:pt idx="0">
                  <c:v>E-commerce</c:v>
                </c:pt>
                <c:pt idx="1">
                  <c:v>Pet Specialty Retail</c:v>
                </c:pt>
                <c:pt idx="2">
                  <c:v>Veterinary &amp; Animal Health</c:v>
                </c:pt>
                <c:pt idx="3">
                  <c:v>General Retail</c:v>
                </c:pt>
              </c:strCache>
            </c:strRef>
          </c:cat>
          <c:val>
            <c:numRef>
              <c:numCache>
                <c:formatCode>General</c:formatCode>
                <c:ptCount val="4"/>
                <c:pt idx="0">
                  <c:v>88.48338129732075</c:v>
                </c:pt>
                <c:pt idx="1">
                  <c:v>123.0124644560787</c:v>
                </c:pt>
                <c:pt idx="2">
                  <c:v>229.3785028942541</c:v>
                </c:pt>
                <c:pt idx="3">
                  <c:v>327.08579929275714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431.75325506643946"/>
          <c:min val="0.0"/>
        </c:scaling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2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S1</c:v>
                </c:pt>
              </c:strCache>
            </c:strRef>
          </c:tx>
          <c:spPr>
            <a:solidFill>
              <a:srgbClr val="0E3A5F"/>
            </a:solidFill>
            <a:ln>
              <a:noFill/>
            </a:ln>
          </c:spPr>
          <c:dLbls>
            <c:dLbl>
              <c:idx val="0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"/>
                <c:pt idx="0">
                  <c:v>Europe</c:v>
                </c:pt>
              </c:strCache>
            </c:strRef>
          </c:cat>
          <c:val>
            <c:numRef>
              <c:numCache>
                <c:formatCode>General</c:formatCode>
                <c:ptCount val="1"/>
                <c:pt idx="0">
                  <c:v>767.9601479404107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1013.7073952813422"/>
          <c:min val="0.0"/>
        </c:scaling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2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roundedCorners val="0"/>
  <c:chart>
    <c:autoTitleDeleted val="1"/>
    <c:plotArea>
      <c:layout>
        <c:manualLayout>
          <c:layoutTarget val="inner"/>
          <c:xMode val="edge"/>
          <c:yMode val="edge"/>
          <c:x val="0.01"/>
          <c:y val="0.04"/>
          <c:w val="0.68"/>
          <c:h val="0.92"/>
        </c:manualLayout>
      </c:layout>
      <c:doughnutChart>
        <c:varyColors val="0"/>
        <c:ser>
          <c:idx val="0"/>
          <c:order val="0"/>
          <c:tx>
            <c:strRef>
              <c:strCache>
                <c:ptCount val="1"/>
                <c:pt idx="0">
                  <c:v>Share</c:v>
                </c:pt>
              </c:strCache>
            </c:strRef>
          </c:tx>
          <c:spPr/>
          <c:dPt>
            <c:idx val="0"/>
            <c:spPr>
              <a:solidFill>
                <a:srgbClr val="3D85C6"/>
              </a:solidFill>
            </c:spPr>
          </c:dPt>
          <c:dPt>
            <c:idx val="1"/>
            <c:spPr>
              <a:solidFill>
                <a:srgbClr val="9E7E0A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40315E"/>
              </a:solidFill>
            </c:spPr>
          </c:dPt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M&quot;;&quot;MMMMM&quot;;&quot;M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M&quot;;&quot;MMMMM&quot;;&quot;M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M&quot;;&quot;MMMMM&quot;;&quot;M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4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Dental &amp; Oral Care Products</c:v>
                </c:pt>
              </c:strCache>
            </c:strRef>
          </c:cat>
          <c:val>
            <c:numRef>
              <c:numCache>
                <c:formatCode>General</c:formatCode>
                <c:ptCount val="4"/>
                <c:pt idx="0">
                  <c:v>97.25199699062335</c:v>
                </c:pt>
                <c:pt idx="1">
                  <c:v>177.90845212012633</c:v>
                </c:pt>
                <c:pt idx="2">
                  <c:v>245.01436968888936</c:v>
                </c:pt>
                <c:pt idx="3">
                  <c:v>247.78532914077164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/>
    </a:p>
  </c:txPr>
</c:chartSpace>
</file>

<file path=ppt/charts/chart12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SAM</c:v>
                </c:pt>
              </c:strCache>
            </c:strRef>
          </c:tx>
          <c:spPr>
            <a:solidFill>
              <a:srgbClr val="69B1E0"/>
            </a:solidFill>
            <a:ln>
              <a:noFill/>
            </a:ln>
          </c:spPr>
          <c:dLbls>
            <c:dLbl>
              <c:idx val="0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.0&quot;%&quot;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"/>
                <c:pt idx="0">
                  <c:v>Europe</c:v>
                </c:pt>
              </c:strCache>
            </c:strRef>
          </c:cat>
          <c:val>
            <c:numRef>
              <c:numCache>
                <c:formatCode>General</c:formatCode>
                <c:ptCount val="1"/>
                <c:pt idx="0">
                  <c:v>4698.94755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SOM</c:v>
                </c:pt>
              </c:strCache>
            </c:strRef>
          </c:tx>
          <c:spPr>
            <a:solidFill>
              <a:srgbClr val="0E72AE"/>
            </a:solidFill>
            <a:ln>
              <a:noFill/>
            </a:ln>
          </c:spPr>
          <c:dLbls>
            <c:dLbl>
              <c:idx val="0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.0&quot;%&quot;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"/>
                <c:pt idx="0">
                  <c:v>Europe</c:v>
                </c:pt>
              </c:strCache>
            </c:strRef>
          </c:cat>
          <c:val>
            <c:numRef>
              <c:numCache>
                <c:formatCode>General</c:formatCode>
                <c:ptCount val="1"/>
                <c:pt idx="0">
                  <c:v>767.9601479404107</c:v>
                </c:pt>
              </c:numCache>
            </c:numRef>
          </c:val>
        </c:ser>
        <c:dLbls>
          <c:numFmt formatCode="0.0&quot;%&quot;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6014.652864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2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S1</c:v>
                </c:pt>
              </c:strCache>
            </c:strRef>
          </c:tx>
          <c:spPr>
            <a:solidFill>
              <a:srgbClr val="1668A8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M&quot;;&quot;MMMMM&quot;;&quot;M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M&quot;;&quot;MMMMM&quot;;&quot;M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M&quot;;&quot;MMMMM&quot;;&quot;M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4"/>
                <c:pt idx="0">
                  <c:v>E-commerce</c:v>
                </c:pt>
                <c:pt idx="1">
                  <c:v>Pet Specialty Retail</c:v>
                </c:pt>
                <c:pt idx="2">
                  <c:v>Veterinary &amp; Animal Health</c:v>
                </c:pt>
                <c:pt idx="3">
                  <c:v>General Retail</c:v>
                </c:pt>
              </c:strCache>
            </c:strRef>
          </c:cat>
          <c:val>
            <c:numRef>
              <c:numCache>
                <c:formatCode>General</c:formatCode>
                <c:ptCount val="4"/>
                <c:pt idx="0">
                  <c:v>67.07477453248384</c:v>
                </c:pt>
                <c:pt idx="1">
                  <c:v>122.70359152142879</c:v>
                </c:pt>
                <c:pt idx="2">
                  <c:v>168.98659269367417</c:v>
                </c:pt>
                <c:pt idx="3">
                  <c:v>170.89772548503046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225.58499764024023"/>
          <c:min val="0.0"/>
        </c:scaling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2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S1</c:v>
                </c:pt>
              </c:strCache>
            </c:strRef>
          </c:tx>
          <c:spPr>
            <a:solidFill>
              <a:srgbClr val="0E3A5F"/>
            </a:solidFill>
            <a:ln>
              <a:noFill/>
            </a:ln>
          </c:spPr>
          <c:dLbls>
            <c:dLbl>
              <c:idx val="0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"/>
                <c:pt idx="0">
                  <c:v>Europe</c:v>
                </c:pt>
              </c:strCache>
            </c:strRef>
          </c:cat>
          <c:val>
            <c:numRef>
              <c:numCache>
                <c:formatCode>General</c:formatCode>
                <c:ptCount val="1"/>
                <c:pt idx="0">
                  <c:v>529.6626842326173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699.1547431870548"/>
          <c:min val="0.0"/>
        </c:scaling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3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roundedCorners val="0"/>
  <c:chart>
    <c:autoTitleDeleted val="1"/>
    <c:plotArea>
      <c:layout>
        <c:manualLayout>
          <c:layoutTarget val="inner"/>
          <c:xMode val="edge"/>
          <c:yMode val="edge"/>
          <c:x val="0.01"/>
          <c:y val="0.04"/>
          <c:w val="0.68"/>
          <c:h val="0.92"/>
        </c:manualLayout>
      </c:layout>
      <c:doughnutChart>
        <c:varyColors val="0"/>
        <c:ser>
          <c:idx val="0"/>
          <c:order val="0"/>
          <c:tx>
            <c:strRef>
              <c:strCache>
                <c:ptCount val="1"/>
                <c:pt idx="0">
                  <c:v>Share</c:v>
                </c:pt>
              </c:strCache>
            </c:strRef>
          </c:tx>
          <c:spPr/>
          <c:dPt>
            <c:idx val="0"/>
            <c:spPr>
              <a:solidFill>
                <a:srgbClr val="3D85C6"/>
              </a:solidFill>
            </c:spPr>
          </c:dPt>
          <c:dPt>
            <c:idx val="1"/>
            <c:spPr>
              <a:solidFill>
                <a:srgbClr val="9E7E0A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40315E"/>
              </a:solidFill>
            </c:spPr>
          </c:dPt>
          <c:dLbls>
            <c:dLbl>
              <c:idx val="0"/>
              <c:numFmt formatCode="&quot;MMMMM&quot;;&quot;MMMMM&quot;;&quot;M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M&quot;;&quot;MMMMM&quot;;&quot;M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M&quot;;&quot;MMMMM&quot;;&quot;M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M&quot;;&quot;MMMMM&quot;;&quot;M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4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Dental &amp; Oral Care Products</c:v>
                </c:pt>
              </c:strCache>
            </c:strRef>
          </c:cat>
          <c:val>
            <c:numRef>
              <c:numCache>
                <c:formatCode>General</c:formatCode>
                <c:ptCount val="4"/>
                <c:pt idx="0">
                  <c:v>116.06171433202267</c:v>
                </c:pt>
                <c:pt idx="1">
                  <c:v>154.3744414705741</c:v>
                </c:pt>
                <c:pt idx="2">
                  <c:v>150.9181148593944</c:v>
                </c:pt>
                <c:pt idx="3">
                  <c:v>108.30841357062604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/>
    </a:p>
  </c:txPr>
</c:chartSpace>
</file>

<file path=ppt/charts/chart13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SAM</c:v>
                </c:pt>
              </c:strCache>
            </c:strRef>
          </c:tx>
          <c:spPr>
            <a:solidFill>
              <a:srgbClr val="69B1E0"/>
            </a:solidFill>
            <a:ln>
              <a:noFill/>
            </a:ln>
          </c:spPr>
          <c:dLbls>
            <c:dLbl>
              <c:idx val="0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.0&quot;%&quot;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"/>
                <c:pt idx="0">
                  <c:v>Europe</c:v>
                </c:pt>
              </c:strCache>
            </c:strRef>
          </c:cat>
          <c:val>
            <c:numRef>
              <c:numCache>
                <c:formatCode>General</c:formatCode>
                <c:ptCount val="1"/>
                <c:pt idx="0">
                  <c:v>4955.25378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SOM</c:v>
                </c:pt>
              </c:strCache>
            </c:strRef>
          </c:tx>
          <c:spPr>
            <a:solidFill>
              <a:srgbClr val="0E72AE"/>
            </a:solidFill>
            <a:ln>
              <a:noFill/>
            </a:ln>
          </c:spPr>
          <c:dLbls>
            <c:dLbl>
              <c:idx val="0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.0&quot;%&quot;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"/>
                <c:pt idx="0">
                  <c:v>Europe</c:v>
                </c:pt>
              </c:strCache>
            </c:strRef>
          </c:cat>
          <c:val>
            <c:numRef>
              <c:numCache>
                <c:formatCode>General</c:formatCode>
                <c:ptCount val="1"/>
                <c:pt idx="0">
                  <c:v>529.6626842326173</c:v>
                </c:pt>
              </c:numCache>
            </c:numRef>
          </c:val>
        </c:ser>
        <c:dLbls>
          <c:numFmt formatCode="0.0&quot;%&quot;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6342.7248384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notesMasters/_rels/notesMaster1.xml.rels><?xml version='1.0' encoding='UTF-8' standalone='yes'?>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p="http://schemas.openxmlformats.org/presentationml/2006/main" xmlns:r="http://schemas.openxmlformats.org/officeDocument/2006/relationships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0F89C1C7-3DCD-1040-A9CF-14679D8B5DDD}" type="datetimeFigureOut">
              <a:rPr lang="en-US" smtClean="0"/>
              <a:t>10/17/16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BB5E49A5-4136-284D-997B-48E1D791AD6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23252185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.xml"/></Relationships>
</file>

<file path=ppt/notesSlides/_rels/notesSlide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.xml"/></Relationships>
</file>

<file path=ppt/notesSlides/_rels/notesSlide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.xml"/></Relationships>
</file>

<file path=ppt/notesSlides/_rels/notesSlide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.xml"/></Relationships>
</file>

<file path=ppt/notesSlides/_rels/notesSlide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.xml"/></Relationships>
</file>

<file path=ppt/notesSlides/_rels/notesSlide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0.xml"/></Relationships>
</file>

<file path=ppt/notesSlides/_rels/notesSlide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9.xml"/></Relationships>
</file>

<file path=ppt/notesSlides/_rels/notesSlide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1.xml"/></Relationships>
</file>

<file path=ppt/notesSlides/_rels/notesSlide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2.xml"/></Relationships>
</file>

<file path=ppt/notesSlides/_rels/notesSlide1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3.xml"/></Relationships>
</file>

<file path=ppt/notesSlides/_rels/notesSlide1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4.xml"/></Relationships>
</file>

<file path=ppt/notesSlides/_rels/notesSlide1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5.xml"/></Relationships>
</file>

<file path=ppt/notesSlides/_rels/notesSlide1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6.xml"/></Relationships>
</file>

<file path=ppt/notesSlides/_rels/notesSlide1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7.xml"/></Relationships>
</file>

<file path=ppt/notesSlides/_rels/notesSlide1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8.xml"/></Relationships>
</file>

<file path=ppt/notesSlides/_rels/notesSlide1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9.xml"/></Relationships>
</file>

<file path=ppt/notesSlides/_rels/notesSlide1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0.xml"/></Relationships>
</file>

<file path=ppt/notesSlides/_rels/notesSlide1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2.xml"/></Relationships>
</file>

<file path=ppt/notesSlides/_rels/notesSlide1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3.xml"/></Relationships>
</file>

<file path=ppt/notesSlides/_rels/notesSlide2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4.xml"/></Relationships>
</file>

<file path=ppt/notesSlides/_rels/notesSlide2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5.xml"/></Relationships>
</file>

<file path=ppt/notesSlides/_rels/notesSlide2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6.xml"/></Relationships>
</file>

<file path=ppt/notesSlides/_rels/notesSlide2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7.xml"/></Relationships>
</file>

<file path=ppt/notesSlides/_rels/notesSlide2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8.xml"/></Relationships>
</file>

<file path=ppt/notesSlides/_rels/notesSlide2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9.xml"/></Relationships>
</file>

<file path=ppt/notesSlides/_rels/notesSlide2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0.xml"/></Relationships>
</file>

<file path=ppt/notesSlides/_rels/notesSlide2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1.xml"/></Relationships>
</file>

<file path=ppt/notesSlides/_rels/notesSlide2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2.xml"/></Relationships>
</file>

<file path=ppt/notesSlides/_rels/notesSlide2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3.xml"/></Relationships>
</file>

<file path=ppt/notesSlides/_rels/notesSlide3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6.xml"/></Relationships>
</file>

<file path=ppt/notesSlides/_rels/notesSlide3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7.xml"/></Relationships>
</file>

<file path=ppt/notesSlides/_rels/notesSlide3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8.xml"/></Relationships>
</file>

<file path=ppt/notesSlides/_rels/notesSlide3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9.xml"/></Relationships>
</file>

<file path=ppt/notesSlides/_rels/notesSlide3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0.xml"/></Relationships>
</file>

<file path=ppt/notesSlides/_rels/notesSlide3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1.xml"/></Relationships>
</file>

<file path=ppt/notesSlides/_rels/notesSlide3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2.xml"/></Relationships>
</file>

<file path=ppt/notesSlides/_rels/notesSlide3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3.xml"/></Relationships>
</file>

<file path=ppt/notesSlides/_rels/notesSlide3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4.xml"/></Relationships>
</file>

<file path=ppt/notesSlides/_rels/notesSlide3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6.xml"/></Relationships>
</file>

<file path=ppt/notesSlides/_rels/notesSlide4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7.xml"/></Relationships>
</file>

<file path=ppt/notesSlides/_rels/notesSlide4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8.xml"/></Relationships>
</file>

<file path=ppt/notesSlides/_rels/notesSlide4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9.xml"/></Relationships>
</file>

<file path=ppt/notesSlides/_rels/notesSlide4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0.xml"/></Relationships>
</file>

<file path=ppt/notesSlides/_rels/notesSlide4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1.xml"/></Relationships>
</file>

<file path=ppt/notesSlides/_rels/notesSlide4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2.xml"/></Relationships>
</file>

<file path=ppt/notesSlides/_rels/notesSlide4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3.xml"/></Relationships>
</file>

<file path=ppt/notesSlides/_rels/notesSlide4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5.xml"/></Relationships>
</file>

<file path=ppt/notesSlides/_rels/notesSlide4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6.xml"/></Relationships>
</file>

<file path=ppt/notesSlides/_rels/notesSlide4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7.xml"/></Relationships>
</file>

<file path=ppt/notesSlides/_rels/notesSlide5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8.xml"/></Relationships>
</file>

<file path=ppt/notesSlides/_rels/notesSlide5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9.xml"/></Relationships>
</file>

<file path=ppt/notesSlides/_rels/notesSlide5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0.xml"/></Relationships>
</file>

<file path=ppt/notesSlides/_rels/notesSlide5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1.xml"/></Relationships>
</file>

<file path=ppt/notesSlides/_rels/notesSlide5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2.xml"/></Relationships>
</file>

<file path=ppt/notesSlides/_rels/notesSlide5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3.xml"/></Relationships>
</file>

<file path=ppt/notesSlides/_rels/notesSlide5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5.xml"/></Relationships>
</file>

<file path=ppt/notesSlides/_rels/notesSlide5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6.xml"/></Relationships>
</file>

<file path=ppt/notesSlides/_rels/notesSlide5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7.xml"/></Relationships>
</file>

<file path=ppt/notesSlides/_rels/notesSlide5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8.xml"/></Relationships>
</file>

<file path=ppt/notesSlides/_rels/notesSlide6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9.xml"/></Relationships>
</file>

<file path=ppt/notesSlides/_rels/notesSlide6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0.xml"/></Relationships>
</file>

<file path=ppt/notesSlides/_rels/notesSlide6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1.xml"/></Relationships>
</file>

<file path=ppt/notesSlides/_rels/notesSlide6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2.xml"/></Relationships>
</file>

<file path=ppt/notesSlides/_rels/notesSlide6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3.xml"/></Relationships>
</file>

<file path=ppt/notesSlides/_rels/notesSlide6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5.xml"/></Relationships>
</file>

<file path=ppt/notesSlides/_rels/notesSlide6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6.xml"/></Relationships>
</file>

<file path=ppt/notesSlides/_rels/notesSlide6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7.xml"/></Relationships>
</file>

<file path=ppt/notesSlides/_rels/notesSlide6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8.xml"/></Relationships>
</file>

<file path=ppt/notesSlides/_rels/notesSlide6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9.xml"/></Relationships>
</file>

<file path=ppt/notesSlides/_rels/notesSlide7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00.xml"/></Relationships>
</file>

<file path=ppt/notesSlides/_rels/notesSlide7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01.xml"/></Relationships>
</file>

<file path=ppt/notesSlides/_rels/notesSlide7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02.xml"/></Relationships>
</file>

<file path=ppt/notesSlides/_rels/notesSlide7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04.xml"/></Relationships>
</file>

<file path=ppt/notesSlides/_rels/notesSlide7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05.xml"/></Relationships>
</file>

<file path=ppt/notesSlides/_rels/notesSlide7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06.xml"/></Relationships>
</file>

<file path=ppt/notesSlides/_rels/notesSlide7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07.xml"/></Relationships>
</file>

<file path=ppt/notesSlides/_rels/notesSlide7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08.xml"/></Relationships>
</file>

<file path=ppt/notesSlides/_rels/notesSlide7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09.xml"/></Relationships>
</file>

<file path=ppt/notesSlides/_rels/notesSlide7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10.xml"/></Relationships>
</file>

<file path=ppt/notesSlides/_rels/notesSlide8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11.xml"/></Relationships>
</file>

<file path=ppt/notesSlides/_rels/notesSlide8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13.xml"/></Relationships>
</file>

<file path=ppt/notesSlides/_rels/notesSlide8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14.xml"/></Relationships>
</file>

<file path=ppt/notesSlides/_rels/notesSlide8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15.xml"/></Relationships>
</file>

<file path=ppt/notesSlides/_rels/notesSlide8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16.xml"/></Relationships>
</file>

<file path=ppt/notesSlides/_rels/notesSlide8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17.xml"/></Relationships>
</file>

<file path=ppt/notesSlides/_rels/notesSlide8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18.xml"/></Relationships>
</file>

<file path=ppt/notesSlides/_rels/notesSlide8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19.xml"/></Relationships>
</file>

<file path=ppt/notesSlides/_rels/notesSlide8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20.xml"/></Relationships>
</file>

<file path=ppt/notesSlides/_rels/notesSlide8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22.xml"/></Relationships>
</file>

<file path=ppt/notesSlides/_rels/notesSlide9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23.xml"/></Relationships>
</file>

<file path=ppt/notesSlides/_rels/notesSlide9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24.xml"/></Relationships>
</file>

<file path=ppt/notesSlides/_rels/notesSlide9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25.xml"/></Relationships>
</file>

<file path=ppt/notesSlides/_rels/notesSlide9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26.xml"/></Relationships>
</file>

<file path=ppt/notesSlides/_rels/notesSlide9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27.xml"/></Relationships>
</file>

<file path=ppt/notesSlides/_rels/notesSlide9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28.xml"/></Relationships>
</file>

<file path=ppt/notesSlides/_rels/notesSlide9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29.xml"/></Relationships>
</file>

<file path=ppt/notesSlides/_rels/notesSlide9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30.xml"/></Relationships>
</file>

<file path=ppt/notesSlides/_rels/notesSlide9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33.xml"/></Relationships>
</file>

<file path=ppt/notesSlides/_rels/notesSlide9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34.xml"/></Relationships>
</file>

<file path=ppt/notesSlides/_rels/notesSlide10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35.xml"/></Relationships>
</file>

<file path=ppt/notesSlides/_rels/notesSlide10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36.xml"/></Relationships>
</file>

<file path=ppt/notesSlides/_rels/notesSlide10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37.xml"/></Relationships>
</file>

<file path=ppt/notesSlides/_rels/notesSlide10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38.xml"/></Relationships>
</file>

<file path=ppt/notesSlides/_rels/notesSlide10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40.xml"/></Relationships>
</file>

<file path=ppt/notesSlides/_rels/notesSlide10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41.xml"/></Relationships>
</file>

<file path=ppt/notesSlides/_rels/notesSlide10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42.xml"/></Relationships>
</file>

<file path=ppt/notesSlides/_rels/notesSlide10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43.xml"/></Relationships>
</file>

<file path=ppt/notesSlides/_rels/notesSlide10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44.xml"/></Relationships>
</file>

<file path=ppt/notesSlides/_rels/notesSlide10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45.xml"/></Relationships>
</file>

<file path=ppt/notesSlides/_rels/notesSlide11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46.xml"/></Relationships>
</file>

<file path=ppt/notesSlides/_rels/notesSlide11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48.xml"/></Relationships>
</file>

<file path=ppt/notesSlides/_rels/notesSlide11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49.xml"/></Relationships>
</file>

<file path=ppt/notesSlides/_rels/notesSlide11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50.xml"/></Relationships>
</file>

<file path=ppt/notesSlides/_rels/notesSlide11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51.xml"/></Relationships>
</file>

<file path=ppt/notesSlides/_rels/notesSlide11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54.xml"/></Relationships>
</file>

<file path=ppt/notesSlides/_rels/notesSlide11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55.xml"/></Relationships>
</file>

<file path=ppt/notesSlides/_rels/notesSlide11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56.xml"/></Relationships>
</file>

<file path=ppt/notesSlides/_rels/notesSlide11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58.xml"/></Relationships>
</file>

<file path=ppt/notesSlides/_rels/notesSlide11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59.xml"/></Relationships>
</file>

<file path=ppt/notesSlides/_rels/notesSlide12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60.xml"/></Relationships>
</file>

<file path=ppt/notesSlides/_rels/notesSlide12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62.xml"/></Relationships>
</file>

<file path=ppt/notesSlides/_rels/notesSlide12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63.xml"/></Relationships>
</file>

<file path=ppt/notesSlides/_rels/notesSlide12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64.xml"/></Relationships>
</file>

<file path=ppt/notesSlides/_rels/notesSlide12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65.xml"/></Relationships>
</file>

<file path=ppt/notesSlides/_rels/notesSlide12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67.xml"/></Relationships>
</file>

<file path=ppt/notesSlides/_rels/notesSlide12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68.xml"/></Relationships>
</file>

<file path=ppt/notesSlides/_rels/notesSlide12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69.xml"/></Relationships>
</file>

<file path=ppt/notesSlides/_rels/notesSlide12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71.xml"/></Relationships>
</file>

<file path=ppt/notesSlides/_rels/notesSlide12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72.xml"/></Relationships>
</file>

<file path=ppt/notesSlides/_rels/notesSlide13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73.xml"/></Relationships>
</file>

<file path=ppt/notesSlides/_rels/notesSlide13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75.xml"/></Relationships>
</file>

<file path=ppt/notesSlides/_rels/notesSlide13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76.xml"/></Relationships>
</file>

<file path=ppt/notesSlides/_rels/notesSlide13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77.xml"/></Relationships>
</file>

<file path=ppt/notesSlides/_rels/notesSlide13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79.xml"/></Relationships>
</file>

<file path=ppt/notesSlides/_rels/notesSlide13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80.xml"/></Relationships>
</file>

<file path=ppt/notesSlides/_rels/notesSlide13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81.xml"/></Relationships>
</file>

<file path=ppt/notesSlides/_rels/notesSlide13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83.xml"/></Relationships>
</file>

<file path=ppt/notesSlides/_rels/notesSlide13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84.xml"/></Relationships>
</file>

<file path=ppt/notesSlides/_rels/notesSlide13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85.xml"/></Relationships>
</file>

<file path=ppt/notesSlides/_rels/notesSlide14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88.xml"/></Relationships>
</file>

<file path=ppt/notesSlides/_rels/notesSlide14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89.xml"/></Relationships>
</file>

<file path=ppt/notesSlides/_rels/notesSlide14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90.xml"/></Relationships>
</file>

<file path=ppt/notesSlides/_rels/notesSlide14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91.xml"/></Relationships>
</file>

<file path=ppt/notesSlides/_rels/notesSlide14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92.xml"/></Relationships>
</file>

<file path=ppt/notesSlides/_rels/notesSlide14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93.xml"/></Relationships>
</file>

<file path=ppt/notesSlides/_rels/notesSlide14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95.xml"/></Relationships>
</file>

<file path=ppt/notesSlides/_rels/notesSlide14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96.xml"/></Relationships>
</file>

<file path=ppt/notesSlides/_rels/notesSlide14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97.xml"/></Relationships>
</file>

<file path=ppt/notesSlides/_rels/notesSlide14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98.xml"/></Relationships>
</file>

<file path=ppt/notesSlides/_rels/notesSlide15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99.xml"/></Relationships>
</file>

<file path=ppt/notesSlides/_rels/notesSlide15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00.xml"/></Relationships>
</file>

<file path=ppt/notesSlides/_rels/notesSlide15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01.xml"/></Relationships>
</file>

<file path=ppt/notesSlides/_rels/notesSlide15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03.xml"/></Relationships>
</file>

<file path=ppt/notesSlides/_rels/notesSlide15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04.xml"/></Relationships>
</file>

<file path=ppt/notesSlides/_rels/notesSlide15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05.xml"/></Relationships>
</file>

<file path=ppt/notesSlides/_rels/notesSlide15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06.xml"/></Relationships>
</file>

<file path=ppt/notesSlides/_rels/notesSlide15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07.xml"/></Relationships>
</file>

<file path=ppt/notesSlides/_rels/notesSlide15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08.xml"/></Relationships>
</file>

<file path=ppt/notesSlides/_rels/notesSlide15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09.xml"/></Relationships>
</file>

<file path=ppt/notesSlides/_rels/notesSlide16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10.xml"/></Relationships>
</file>

<file path=ppt/notesSlides/_rels/notesSlide16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11.xml"/></Relationships>
</file>

<file path=ppt/notesSlides/_rels/notesSlide16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12.xml"/></Relationships>
</file>

<file path=ppt/notesSlides/_rels/notesSlide16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13.xml"/></Relationships>
</file>

<file path=ppt/notesSlides/_rels/notesSlide16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15.xml"/></Relationships>
</file>

<file path=ppt/notesSlides/_rels/notesSlide16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16.xml"/></Relationships>
</file>

<file path=ppt/notesSlides/_rels/notesSlide16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17.xml"/></Relationships>
</file>

<file path=ppt/notesSlides/_rels/notesSlide16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18.xml"/></Relationships>
</file>

<file path=ppt/notesSlides/_rels/notesSlide16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20.xml"/></Relationships>
</file>

<file path=ppt/notesSlides/_rels/notesSlide16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21.xml"/></Relationships>
</file>

<file path=ppt/notesSlides/_rels/notesSlide17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22.xml"/></Relationships>
</file>

<file path=ppt/notesSlides/_rels/notesSlide17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23.xml"/></Relationships>
</file>

<file path=ppt/notesSlides/_rels/notesSlide17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24.xml"/></Relationships>
</file>

<file path=ppt/notesSlides/_rels/notesSlide17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25.xml"/></Relationships>
</file>

<file path=ppt/notesSlides/_rels/notesSlide17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26.xml"/></Relationships>
</file>

<file path=ppt/notesSlides/_rels/notesSlide17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27.xml"/></Relationships>
</file>

<file path=ppt/notesSlides/_rels/notesSlide17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28.xml"/></Relationships>
</file>

<file path=ppt/notesSlides/_rels/notesSlide17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30.xml"/></Relationships>
</file>

<file path=ppt/notesSlides/_rels/notesSlide17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31.xml"/></Relationships>
</file>

<file path=ppt/notesSlides/_rels/notesSlide17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32.xml"/></Relationships>
</file>

<file path=ppt/notesSlides/_rels/notesSlide18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33.xml"/></Relationships>
</file>

<file path=ppt/notesSlides/_rels/notesSlide18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34.xml"/></Relationships>
</file>

<file path=ppt/notesSlides/_rels/notesSlide18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35.xml"/></Relationships>
</file>

<file path=ppt/notesSlides/_rels/notesSlide18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36.xml"/></Relationships>
</file>

<file path=ppt/notesSlides/_rels/notesSlide18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37.xml"/></Relationships>
</file>

<file path=ppt/notesSlides/_rels/notesSlide18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38.xml"/></Relationships>
</file>

<file path=ppt/notesSlides/_rels/notesSlide18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39.xml"/></Relationships>
</file>

<file path=ppt/notesSlides/_rels/notesSlide18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40.xml"/></Relationships>
</file>

<file path=ppt/notesSlides/_rels/notesSlide18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41.xml"/></Relationships>
</file>

<file path=ppt/notesSlides/_rels/notesSlide18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42.xml"/></Relationships>
</file>

<file path=ppt/notesSlides/_rels/notesSlide19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44.xml"/></Relationships>
</file>

<file path=ppt/notesSlides/_rels/notesSlide19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45.xml"/></Relationships>
</file>

<file path=ppt/notesSlides/_rels/notesSlide19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46.xml"/></Relationships>
</file>

<file path=ppt/notesSlides/_rels/notesSlide19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47.xml"/></Relationships>
</file>

<file path=ppt/notesSlides/_rels/notesSlide19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48.xml"/></Relationships>
</file>

<file path=ppt/notesSlides/_rels/notesSlide19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50.xml"/></Relationships>
</file>

<file path=ppt/notesSlides/_rels/notesSlide19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51.xml"/></Relationships>
</file>

<file path=ppt/notesSlides/_rels/notesSlide19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52.xml"/></Relationships>
</file>

<file path=ppt/notesSlides/_rels/notesSlide19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53.xml"/></Relationships>
</file>

<file path=ppt/notesSlides/_rels/notesSlide19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54.xml"/></Relationships>
</file>

<file path=ppt/notesSlides/_rels/notesSlide20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55.xml"/></Relationships>
</file>

<file path=ppt/notesSlides/_rels/notesSlide20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56.xml"/></Relationships>
</file>

<file path=ppt/notesSlides/_rels/notesSlide20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57.xml"/></Relationships>
</file>

<file path=ppt/notesSlides/_rels/notesSlide20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58.xml"/></Relationships>
</file>

<file path=ppt/notesSlides/_rels/notesSlide20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59.xml"/></Relationships>
</file>

<file path=ppt/notesSlides/_rels/notesSlide20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60.xml"/></Relationships>
</file>

<file path=ppt/notesSlides/_rels/notesSlide20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61.xml"/></Relationships>
</file>

<file path=ppt/notesSlides/_rels/notesSlide20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62.xml"/></Relationships>
</file>

<file path=ppt/notesSlides/_rels/notesSlide20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63.xml"/></Relationships>
</file>

<file path=ppt/notesSlides/_rels/notesSlide20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64.xml"/></Relationships>
</file>

<file path=ppt/notesSlides/_rels/notesSlide21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2.xml"/></Relationships>
</file>

<file path=ppt/notesSlides/_rels/notesSlide21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3.xml"/></Relationships>
</file>

<file path=ppt/notesSlides/_rels/notesSlide21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4.xml"/></Relationships>
</file>

<file path=ppt/notesSlides/_rels/notesSlide21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5.xml"/></Relationships>
</file>

<file path=ppt/notesSlides/_rels/notesSlide21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6.xml"/></Relationships>
</file>

<file path=ppt/notesSlides/_rels/notesSlide21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7.xml"/></Relationships>
</file>

<file path=ppt/notesSlides/_rels/notesSlide21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8.xml"/></Relationships>
</file>

<file path=ppt/notesSlides/_rels/notesSlide21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9.xml"/></Relationships>
</file>

<file path=ppt/notesSlides/_rels/notesSlide21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1.xml"/></Relationships>
</file>

<file path=ppt/notesSlides/_rels/notesSlide21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2.xml"/></Relationships>
</file>

<file path=ppt/notesSlides/_rels/notesSlide22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3.xml"/></Relationships>
</file>

<file path=ppt/notesSlides/_rels/notesSlide22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4.xml"/></Relationships>
</file>

<file path=ppt/notesSlides/_rels/notesSlide22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5.xml"/></Relationships>
</file>

<file path=ppt/notesSlides/_rels/notesSlide22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6.xml"/></Relationships>
</file>

<file path=ppt/notesSlides/_rels/notesSlide22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7.xml"/></Relationships>
</file>

<file path=ppt/notesSlides/_rels/notesSlide22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8.xml"/></Relationships>
</file>

<file path=ppt/notesSlides/notesSlide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Market Signals Market Signals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Market Overview (section breaker)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Market Taxonomy Geographic Coverage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Market Taxonomy Market Segments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Market Taxonomy Market Segments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Market Taxonomy Company Coverage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Europe Market Outlook (section breaker)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Europe Overview Volume Market Summary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Europe Overview Pricing &amp; Price Index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Europe Overview Value Market Summary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Europe Overview Market Volume &amp; Value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Europe Overview Country Outlook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Europe Overview Country Outlook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Europe Overview Market Overview (1/4)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Europe Overview Supply Side Trends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Europe Overview Analysis and Recommendation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Europe Overview Scenario Outlook (4/4)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By Region Europe Pet Cosmetic Products – Regional Outlook  (1/4)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By Region Europe Pet Cosmetic Products – Regional Outlook  (2/4)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By Region Europe Pet Cosmetic Products – Regional Outlook  (3/4)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By Region Europe Pet Cosmetic Products – Regional Outlook  (4/4)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By Region Market Analysis By Region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By Region Market Analysis By Region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By Region Volume Share Analysis By Region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By Region Volume Share Analysis By Region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By Region Value Share Analysis By Region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By Region Value Share Analysis By Region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By Region Market Trends By Region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By Region Top Countries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By Product Type Segment Outlook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Market Structure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Absolute $ Analysis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Absolute $ Analysis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Market Volume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Market Value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Value &amp; Share Shift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YoY Analysis Volume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YoY Analysis Value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Ingredient Type By Ingredient Type Segment Outlook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Ingredient Type Market Structure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Ingredient Type Absolute $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Ingredient Type Market Volume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Ingredient Type Market Value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Ingredient Type Value &amp; Share Shift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Ingredient Type YoY Analysis Volume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Ingredient Type YoY Analysis Value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Format By Product Format Segment Outlook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Format Market Structure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Format Absolute $ Analysis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Format Absolute $ Analysis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Format Market Volume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Format Market Value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Format Value &amp; Share Shift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Format YoY Analysis Volume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Format YoY Analysis Value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Primary Product Function / Benefit By Primary Product Function / Benefit Segment Outlook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Primary Product Function / Benefit Market Structure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Primary Product Function / Benefit Absolute $ Analysis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Primary Product Function / Benefit Absolute $ Analysis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Primary Product Function / Benefit Market Volume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Primary Product Function / Benefit Market Value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Primary Product Function / Benefit Value &amp; Share Shift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Primary Product Function / Benefit YoY Analysis Volume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Primary Product Function / Benefit YoY Analysis Value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Pet Type By Pet Type Segment Outlook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Pet Type Market Structure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Pet Type Absolute $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Pet Type Market Volume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Pet Type Market Value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Pet Type Value &amp; Share Shift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Pet Type YoY Analysis Volume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Pet Type YoY Analysis Value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Pack Size By Pack Size Segment Outlook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Pack Size Market Structure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Pack Size Absolute $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Pack Size Market Volume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Pack Size Market Value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Pack Size Value &amp; Share Shift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Pack Size YoY Analysis Volume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Pack Size YoY Analysis Value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Price Tier By Price Tier Segment Outlook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Price Tier Market Structure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Price Tier Absolute $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Price Tier Market Volume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Price Tier Market Value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Price Tier Value &amp; Share Shift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Price Tier YoY Analysis Volume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Price Tier YoY Analysis Value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Sales Channels By Sales Channels Segment Outlook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Sales Channels Market Structure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Sales Channels Absolute $ Analysis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Sales Channels Absolute $ Analysis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Sales Channels Market Volume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Sales Channels Market Value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Sales Channels Value &amp; Share Shift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Sales Channels YoY Analysis Volume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Sales Channels YoY Analysis Value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× Primary Product Function / Benefit Market Snapshot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× Primary Product Function / Benefit Market Share Analysis  (1/4)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0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× Primary Product Function / Benefit Market Share Analysis  (2/4)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0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× Primary Product Function / Benefit Market Share Analysis  (3/4)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0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× Primary Product Function / Benefit Market Share Analysis  (4/4)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0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× Primary Product Function / Benefit Absolute $ Opportunity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0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× Ingredient Type Market Snapshot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0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× Ingredient Type Market Share Analysis  (1/4)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0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× Ingredient Type Market Share Analysis  (2/4)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0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× Ingredient Type Market Share Analysis  (3/4)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0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× Ingredient Type Market Share Analysis  (4/4)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0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× Ingredient Type Absolute $ Opportunity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1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Country Market Outlook (section breaker)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1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Overview Volume Overview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1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Overview Value Overview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1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Overview Key Segments (Value)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1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Overview Key Segments (Value)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1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Product Type Segmental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1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Product Type Table (Volume &amp; Value)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1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Product Type YoY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1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Ingredient Type Segmental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1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Ingredient Type Table (Volume &amp; Value)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2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Ingredient Type YoY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2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Product Format Segmental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2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Product Format Table (Volume &amp; Value)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2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Product Format Table (Volume &amp; Value)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2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Product Format YoY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2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Primary Product Function / Benefit Segmental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2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Primary Product Function / Benefit Table (Volume &amp; Value)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2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Primary Product Function / Benefit YoY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2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Pet Type Segmental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2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Pet Type Table (Volume &amp; Value)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3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Pet Type YoY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3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Pack Size Segmental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3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Pack Size Table (Volume &amp; Value)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3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Pack Size YoY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3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Price Tier Segmental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3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Price Tier Table (Volume &amp; Value)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3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Price Tier YoY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3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Sales Channels Segmental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3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Sales Channels Table (Volume &amp; Value)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3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Sales Channels YoY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4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× Primary Product Function / Benefit Market Snapshot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4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× Primary Product Function / Benefit Market Share Analysis  (1/4)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4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× Primary Product Function / Benefit Market Share Analysis  (2/4)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4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× Primary Product Function / Benefit Market Share Analysis  (3/4)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4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× Primary Product Function / Benefit Market Share Analysis  (4/4)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4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× Primary Product Function / Benefit Absolute $ Opportunity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4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× Ingredient Type Market Snapshot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4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× Ingredient Type Market Share Analysis  (1/4)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4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× Ingredient Type Market Share Analysis  (2/4)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4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× Ingredient Type Market Share Analysis  (3/4)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5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× Ingredient Type Market Share Analysis  (4/4)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5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× Ingredient Type Absolute $ Opportunity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5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Pricing Assessment (section breaker)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5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Pricing Product Pricing &amp; Regional Price Index Trends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5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Pricing Europe Pricing Assessment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5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Pricing Price Positioning &amp; Key Findings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5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Pricing Key Pricing Drivers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5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Pricing Factors Impacting Pricing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5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Pricing Regional Price Assessment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5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Pricing Europe Pricing Benchmarking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6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Pricing Price Forecast &amp; Dynamics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6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Pricing Price Forecast &amp; Dynamics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6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Pricing Competitor Pricing Strategies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6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Supply Chain Analysis (section breaker)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6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Supply Chain Analysis Value Chain &amp; Stakeholder Mapping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6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Supply Chain Analysis Operating Margin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6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Supply Chain Analysis Buyers Assessment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6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Market Dynamics (section breaker)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6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Market Dynamics Market Dynamics &amp; Forces Market Dynamics by Geography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6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Market Dynamics Market Dynamics &amp; Forces Market Dynamics by Geography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7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Market Dynamics Market Dynamics &amp; Forces Driving Factors Supply Side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7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Market Dynamics Market Dynamics &amp; Forces Driving Factors Demand Side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7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Market Dynamics Market Dynamics &amp; Forces Market Restraints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7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Market Dynamics Market Dynamics &amp; Forces Market Opportunities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7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Market Dynamics Market Dynamics &amp; Forces Recent Developments &amp; Milestones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7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Market Dynamics Market Dynamics &amp; Forces Five Forces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7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Competition Assessment (section breaker)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7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Competitive Landscape Competitive Landscape at a Glance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7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Competitive Landscape Segment Leadership Map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7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Competitive Landscape Value Chain Positioning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8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Competitive Landscape Player Landscape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8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Competitive Landscape Corporate Scorecard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8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Competitive Landscape Offering Scorecard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8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Competitive Landscape Execution Scorecard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8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Competitive Landscape Success Factors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8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Competitive Landscape Strategic Activity Tracker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8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Competitive Landscape Strategic Activity by Function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8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Competitive Landscape Industry Structure Landscape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8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Competitive Landscape Industry Structure Landscape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8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Competitive Landscape Competitive Dashboard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9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Market Share by Leading Players Advice for Vendors &amp; Suppliers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9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Market Share by Leading Players Company Value Share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9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Market Share by Leading Players Company Share by Product Type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9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Market Share by Leading Players Company Share by Region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9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Market Share by Leading Players Who Shaped Growth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9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Company Profiles &amp; Strategic Benchmarking Beaphar Snapshot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9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Company Profiles &amp; Strategic Benchmarking Beaphar Penetration &amp; Win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9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Company Profiles &amp; Strategic Benchmarking Beaphar SWOT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9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Company Profiles &amp; Strategic Benchmarking Beaphar Key Financials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9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Company Profiles &amp; Strategic Benchmarking Beaphar Strategy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0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Company Profiles &amp; Strategic Benchmarking Laboratoire Biogance Snapshot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0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Company Profiles &amp; Strategic Benchmarking Laboratoire Biogance Penetration &amp; Win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0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Company Profiles &amp; Strategic Benchmarking Laboratoire Biogance SWOT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0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Company Profiles &amp; Strategic Benchmarking Laboratoire Biogance Key Financials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0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Company Profiles &amp; Strategic Benchmarking Laboratoire Biogance Strategy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0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Company Profiles &amp; Strategic Benchmarking Laboratoire Francodex Snapshot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0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Company Profiles &amp; Strategic Benchmarking Laboratoire Francodex Penetration &amp; Win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0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Company Profiles &amp; Strategic Benchmarking Laboratoire Francodex SWOT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0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Company Profiles &amp; Strategic Benchmarking Laboratoire Francodex Key Financials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0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Company Profiles &amp; Strategic Benchmarking Laboratoire Francodex Strategy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1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Table of Contents  (1/8)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1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Table of Contents  (2/8)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1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Table of Contents  (3/8)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1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Table of Contents  (4/8)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1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Table of Contents  (5/8)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1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Table of Contents  (6/8)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1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Table of Contents  (7/8)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1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Table of Contents  (8/8)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1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List of Figures  (1/4)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1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List of Figures  (2/4)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2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List of Figures  (3/4)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2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List of Figures  (4/4)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2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List of Tables  (1/4)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2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List of Tables  (2/4)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2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List of Tables  (3/4)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2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List of Tables  (4/4)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slideLayouts/_rels/slideLayout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smtClean="0"/>
              <a:t>Click to edit Master subtitle style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68075583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14314258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82244947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90158736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12999818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40726560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89236939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10927964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12223792"/>
      </p:ext>
    </p:extLst>
  </p:cSld>
  <p:clrMapOvr>
    <a:masterClrMapping/>
  </p:clrMapOvr>
</p:sldLayout>
</file>

<file path=ppt/slideMasters/_rels/slideMaster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Relationship Id="rId9" Type="http://schemas.openxmlformats.org/officeDocument/2006/relationships/slideLayout" Target="../slideLayouts/slideLayout9.xml"/><Relationship Id="rId10" Type="http://schemas.openxmlformats.org/officeDocument/2006/relationships/slideLayout" Target="../slideLayouts/slideLayout10.xml"/><Relationship Id="rId11" Type="http://schemas.openxmlformats.org/officeDocument/2006/relationships/slideLayout" Target="../slideLayouts/slideLayout11.xml"/><Relationship Id="rId12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0997751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ctr" defTabSz="4572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457200" rtl="0" eaLnBrk="1" latinLnBrk="0" hangingPunct="1">
        <a:spcBef>
          <a:spcPct val="20000"/>
        </a:spcBef>
        <a:buFont typeface="Arial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457200" rtl="0" eaLnBrk="1" latinLnBrk="0" hangingPunct="1">
        <a:spcBef>
          <a:spcPct val="20000"/>
        </a:spcBef>
        <a:buFont typeface="Arial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457200" rtl="0" eaLnBrk="1" latinLnBrk="0" hangingPunct="1">
        <a:spcBef>
          <a:spcPct val="20000"/>
        </a:spcBef>
        <a:buFont typeface="Arial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457200" rtl="0" eaLnBrk="1" latinLnBrk="0" hangingPunct="1">
        <a:spcBef>
          <a:spcPct val="20000"/>
        </a:spcBef>
        <a:buFont typeface="Arial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457200" rtl="0" eaLnBrk="1" latinLnBrk="0" hangingPunct="1">
        <a:spcBef>
          <a:spcPct val="20000"/>
        </a:spcBef>
        <a:buFont typeface="Arial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slide" Target="slide3.xml"/><Relationship Id="rId4" Type="http://schemas.openxmlformats.org/officeDocument/2006/relationships/slide" Target="slide5.xml"/><Relationship Id="rId5" Type="http://schemas.openxmlformats.org/officeDocument/2006/relationships/slide" Target="slide6.xml"/><Relationship Id="rId6" Type="http://schemas.openxmlformats.org/officeDocument/2006/relationships/slide" Target="slide11.xml"/><Relationship Id="rId7" Type="http://schemas.openxmlformats.org/officeDocument/2006/relationships/slide" Target="slide20.xml"/><Relationship Id="rId8" Type="http://schemas.openxmlformats.org/officeDocument/2006/relationships/slide" Target="slide29.xml"/><Relationship Id="rId9" Type="http://schemas.openxmlformats.org/officeDocument/2006/relationships/slide" Target="slide30.xml"/><Relationship Id="rId10" Type="http://schemas.openxmlformats.org/officeDocument/2006/relationships/slide" Target="slide41.xml"/><Relationship Id="rId11" Type="http://schemas.openxmlformats.org/officeDocument/2006/relationships/slide" Target="slide54.xml"/><Relationship Id="rId12" Type="http://schemas.openxmlformats.org/officeDocument/2006/relationships/slide" Target="slide131.xml"/><Relationship Id="rId13" Type="http://schemas.openxmlformats.org/officeDocument/2006/relationships/slide" Target="slide146.xml"/><Relationship Id="rId14" Type="http://schemas.openxmlformats.org/officeDocument/2006/relationships/slide" Target="slide147.xml"/><Relationship Id="rId15" Type="http://schemas.openxmlformats.org/officeDocument/2006/relationships/slide" Target="slide152.xml"/><Relationship Id="rId16" Type="http://schemas.openxmlformats.org/officeDocument/2006/relationships/slide" Target="slide186.xml"/><Relationship Id="rId17" Type="http://schemas.openxmlformats.org/officeDocument/2006/relationships/slide" Target="slide201.xml"/><Relationship Id="rId18" Type="http://schemas.openxmlformats.org/officeDocument/2006/relationships/slide" Target="slide202.xml"/><Relationship Id="rId19" Type="http://schemas.openxmlformats.org/officeDocument/2006/relationships/slide" Target="slide214.xml"/><Relationship Id="rId20" Type="http://schemas.openxmlformats.org/officeDocument/2006/relationships/slide" Target="slide218.xml"/><Relationship Id="rId21" Type="http://schemas.openxmlformats.org/officeDocument/2006/relationships/slide" Target="slide219.xml"/><Relationship Id="rId22" Type="http://schemas.openxmlformats.org/officeDocument/2006/relationships/slide" Target="slide228.xml"/><Relationship Id="rId23" Type="http://schemas.openxmlformats.org/officeDocument/2006/relationships/slide" Target="slide229.xml"/><Relationship Id="rId24" Type="http://schemas.openxmlformats.org/officeDocument/2006/relationships/slide" Target="slide243.xml"/><Relationship Id="rId25" Type="http://schemas.openxmlformats.org/officeDocument/2006/relationships/slide" Target="slide249.xml"/></Relationships>
</file>

<file path=ppt/slides/_rels/slide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.xml"/><Relationship Id="rId4" Type="http://schemas.openxmlformats.org/officeDocument/2006/relationships/image" Target="../media/image2.png"/><Relationship Id="rId5" Type="http://schemas.openxmlformats.org/officeDocument/2006/relationships/image" Target="../media/image3.png"/></Relationships>
</file>

<file path=ppt/slides/_rels/slide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.xml"/></Relationships>
</file>

<file path=ppt/slides/_rels/slide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.xml"/></Relationships>
</file>

<file path=ppt/slides/_rels/slide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.xml"/></Relationships>
</file>

<file path=ppt/slides/_rels/slide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5.xml"/></Relationships>
</file>

<file path=ppt/slides/_rels/slide1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6.xml"/><Relationship Id="rId4" Type="http://schemas.openxmlformats.org/officeDocument/2006/relationships/image" Target="../media/image2.png"/></Relationships>
</file>

<file path=ppt/slides/_rels/slide1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10.xml"/></Relationships>
</file>

<file path=ppt/slides/_rels/slide1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11.xml"/></Relationships>
</file>

<file path=ppt/slides/_rels/slide1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12.xml"/></Relationships>
</file>

<file path=ppt/slides/_rels/slide1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13.xml"/></Relationships>
</file>

<file path=ppt/slides/_rels/slide1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14.xml"/></Relationships>
</file>

<file path=ppt/slides/_rels/slide1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15.xml"/></Relationships>
</file>

<file path=ppt/slides/_rels/slide1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16.xml"/></Relationships>
</file>

<file path=ppt/slides/_rels/slide1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17.xml"/></Relationships>
</file>

<file path=ppt/slides/_rels/slide2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2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18.xml"/></Relationships>
</file>

<file path=ppt/slides/_rels/slide2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19.xml"/></Relationships>
</file>

<file path=ppt/slides/_rels/slide2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20.xml"/></Relationships>
</file>

<file path=ppt/slides/_rels/slide2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21.xml"/></Relationships>
</file>

<file path=ppt/slides/_rels/slide2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22.xml"/></Relationships>
</file>

<file path=ppt/slides/_rels/slide2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23.xml"/></Relationships>
</file>

<file path=ppt/slides/_rels/slide2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24.xml"/></Relationships>
</file>

<file path=ppt/slides/_rels/slide2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25.xml"/></Relationships>
</file>

<file path=ppt/slides/_rels/slide2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7.xml"/></Relationships>
</file>

<file path=ppt/slides/_rels/slide3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3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.xml"/><Relationship Id="rId4" Type="http://schemas.openxmlformats.org/officeDocument/2006/relationships/chart" Target="../charts/chart2.xml"/><Relationship Id="rId5" Type="http://schemas.openxmlformats.org/officeDocument/2006/relationships/notesSlide" Target="../notesSlides/notesSlide8.xml"/><Relationship Id="rId6" Type="http://schemas.openxmlformats.org/officeDocument/2006/relationships/image" Target="../media/image2.png"/></Relationships>
</file>

<file path=ppt/slides/_rels/slide3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9.xml"/><Relationship Id="rId4" Type="http://schemas.openxmlformats.org/officeDocument/2006/relationships/image" Target="../media/image2.png"/></Relationships>
</file>

<file path=ppt/slides/_rels/slide3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3.xml"/><Relationship Id="rId4" Type="http://schemas.openxmlformats.org/officeDocument/2006/relationships/chart" Target="../charts/chart4.xml"/><Relationship Id="rId5" Type="http://schemas.openxmlformats.org/officeDocument/2006/relationships/notesSlide" Target="../notesSlides/notesSlide10.xml"/><Relationship Id="rId6" Type="http://schemas.openxmlformats.org/officeDocument/2006/relationships/image" Target="../media/image2.png"/></Relationships>
</file>

<file path=ppt/slides/_rels/slide3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5.xml"/><Relationship Id="rId4" Type="http://schemas.openxmlformats.org/officeDocument/2006/relationships/chart" Target="../charts/chart6.xml"/><Relationship Id="rId5" Type="http://schemas.openxmlformats.org/officeDocument/2006/relationships/notesSlide" Target="../notesSlides/notesSlide11.xml"/><Relationship Id="rId6" Type="http://schemas.openxmlformats.org/officeDocument/2006/relationships/image" Target="../media/image2.png"/></Relationships>
</file>

<file path=ppt/slides/_rels/slide3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7.xml"/><Relationship Id="rId4" Type="http://schemas.openxmlformats.org/officeDocument/2006/relationships/chart" Target="../charts/chart8.xml"/><Relationship Id="rId5" Type="http://schemas.openxmlformats.org/officeDocument/2006/relationships/notesSlide" Target="../notesSlides/notesSlide12.xml"/><Relationship Id="rId6" Type="http://schemas.openxmlformats.org/officeDocument/2006/relationships/image" Target="../media/image2.png"/><Relationship Id="rId7" Type="http://schemas.openxmlformats.org/officeDocument/2006/relationships/image" Target="../media/image46.png"/><Relationship Id="rId8" Type="http://schemas.openxmlformats.org/officeDocument/2006/relationships/image" Target="../media/image47.png"/><Relationship Id="rId9" Type="http://schemas.openxmlformats.org/officeDocument/2006/relationships/image" Target="../media/image48.png"/><Relationship Id="rId10" Type="http://schemas.openxmlformats.org/officeDocument/2006/relationships/image" Target="../media/image49.png"/><Relationship Id="rId11" Type="http://schemas.openxmlformats.org/officeDocument/2006/relationships/image" Target="../media/image50.png"/><Relationship Id="rId12" Type="http://schemas.openxmlformats.org/officeDocument/2006/relationships/image" Target="../media/image51.png"/><Relationship Id="rId13" Type="http://schemas.openxmlformats.org/officeDocument/2006/relationships/image" Target="../media/image52.png"/><Relationship Id="rId14" Type="http://schemas.openxmlformats.org/officeDocument/2006/relationships/image" Target="../media/image53.png"/><Relationship Id="rId15" Type="http://schemas.openxmlformats.org/officeDocument/2006/relationships/image" Target="../media/image54.png"/><Relationship Id="rId16" Type="http://schemas.openxmlformats.org/officeDocument/2006/relationships/image" Target="../media/image55.png"/><Relationship Id="rId17" Type="http://schemas.openxmlformats.org/officeDocument/2006/relationships/image" Target="../media/image56.png"/><Relationship Id="rId18" Type="http://schemas.openxmlformats.org/officeDocument/2006/relationships/image" Target="../media/image57.png"/><Relationship Id="rId19" Type="http://schemas.openxmlformats.org/officeDocument/2006/relationships/image" Target="../media/image58.png"/><Relationship Id="rId20" Type="http://schemas.openxmlformats.org/officeDocument/2006/relationships/image" Target="../media/image59.png"/><Relationship Id="rId21" Type="http://schemas.openxmlformats.org/officeDocument/2006/relationships/image" Target="../media/image68.png"/><Relationship Id="rId22" Type="http://schemas.openxmlformats.org/officeDocument/2006/relationships/image" Target="../media/image69.png"/><Relationship Id="rId23" Type="http://schemas.openxmlformats.org/officeDocument/2006/relationships/image" Target="../media/image70.png"/><Relationship Id="rId24" Type="http://schemas.openxmlformats.org/officeDocument/2006/relationships/image" Target="../media/image71.png"/><Relationship Id="rId25" Type="http://schemas.openxmlformats.org/officeDocument/2006/relationships/image" Target="../media/image72.png"/><Relationship Id="rId26" Type="http://schemas.openxmlformats.org/officeDocument/2006/relationships/image" Target="../media/image73.png"/><Relationship Id="rId27" Type="http://schemas.openxmlformats.org/officeDocument/2006/relationships/image" Target="../media/image74.png"/><Relationship Id="rId28" Type="http://schemas.openxmlformats.org/officeDocument/2006/relationships/image" Target="../media/image75.png"/><Relationship Id="rId29" Type="http://schemas.openxmlformats.org/officeDocument/2006/relationships/image" Target="../media/image76.png"/><Relationship Id="rId30" Type="http://schemas.openxmlformats.org/officeDocument/2006/relationships/image" Target="../media/image77.png"/><Relationship Id="rId31" Type="http://schemas.openxmlformats.org/officeDocument/2006/relationships/image" Target="../media/image78.png"/><Relationship Id="rId32" Type="http://schemas.openxmlformats.org/officeDocument/2006/relationships/image" Target="../media/image79.png"/><Relationship Id="rId33" Type="http://schemas.openxmlformats.org/officeDocument/2006/relationships/image" Target="../media/image80.png"/><Relationship Id="rId34" Type="http://schemas.openxmlformats.org/officeDocument/2006/relationships/image" Target="../media/image81.png"/></Relationships>
</file>

<file path=ppt/slides/_rels/slide3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3.xml"/><Relationship Id="rId4" Type="http://schemas.openxmlformats.org/officeDocument/2006/relationships/image" Target="../media/image57.png"/><Relationship Id="rId5" Type="http://schemas.openxmlformats.org/officeDocument/2006/relationships/image" Target="../media/image80.png"/><Relationship Id="rId6" Type="http://schemas.openxmlformats.org/officeDocument/2006/relationships/image" Target="../media/image81.png"/><Relationship Id="rId7" Type="http://schemas.openxmlformats.org/officeDocument/2006/relationships/image" Target="../media/image82.png"/><Relationship Id="rId8" Type="http://schemas.openxmlformats.org/officeDocument/2006/relationships/image" Target="../media/image83.png"/><Relationship Id="rId9" Type="http://schemas.openxmlformats.org/officeDocument/2006/relationships/image" Target="../media/image75.png"/><Relationship Id="rId10" Type="http://schemas.openxmlformats.org/officeDocument/2006/relationships/image" Target="../media/image76.png"/><Relationship Id="rId11" Type="http://schemas.openxmlformats.org/officeDocument/2006/relationships/image" Target="../media/image84.png"/><Relationship Id="rId12" Type="http://schemas.openxmlformats.org/officeDocument/2006/relationships/image" Target="../media/image85.png"/><Relationship Id="rId13" Type="http://schemas.openxmlformats.org/officeDocument/2006/relationships/image" Target="../media/image86.png"/><Relationship Id="rId14" Type="http://schemas.openxmlformats.org/officeDocument/2006/relationships/image" Target="../media/image87.png"/><Relationship Id="rId15" Type="http://schemas.openxmlformats.org/officeDocument/2006/relationships/image" Target="../media/image88.png"/><Relationship Id="rId16" Type="http://schemas.openxmlformats.org/officeDocument/2006/relationships/image" Target="../media/image2.png"/><Relationship Id="rId17" Type="http://schemas.openxmlformats.org/officeDocument/2006/relationships/image" Target="../media/image89.png"/><Relationship Id="rId18" Type="http://schemas.openxmlformats.org/officeDocument/2006/relationships/image" Target="../media/image53.png"/><Relationship Id="rId19" Type="http://schemas.openxmlformats.org/officeDocument/2006/relationships/image" Target="../media/image56.png"/><Relationship Id="rId20" Type="http://schemas.openxmlformats.org/officeDocument/2006/relationships/image" Target="../media/image90.png"/><Relationship Id="rId21" Type="http://schemas.openxmlformats.org/officeDocument/2006/relationships/image" Target="../media/image47.png"/><Relationship Id="rId22" Type="http://schemas.openxmlformats.org/officeDocument/2006/relationships/image" Target="../media/image48.png"/><Relationship Id="rId23" Type="http://schemas.openxmlformats.org/officeDocument/2006/relationships/image" Target="../media/image50.png"/><Relationship Id="rId24" Type="http://schemas.openxmlformats.org/officeDocument/2006/relationships/image" Target="../media/image51.png"/><Relationship Id="rId25" Type="http://schemas.openxmlformats.org/officeDocument/2006/relationships/image" Target="../media/image91.png"/><Relationship Id="rId26" Type="http://schemas.openxmlformats.org/officeDocument/2006/relationships/image" Target="../media/image92.png"/><Relationship Id="rId27" Type="http://schemas.openxmlformats.org/officeDocument/2006/relationships/image" Target="../media/image93.png"/><Relationship Id="rId28" Type="http://schemas.openxmlformats.org/officeDocument/2006/relationships/image" Target="../media/image72.png"/><Relationship Id="rId29" Type="http://schemas.openxmlformats.org/officeDocument/2006/relationships/image" Target="../media/image94.png"/></Relationships>
</file>

<file path=ppt/slides/_rels/slide3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4.xml"/><Relationship Id="rId4" Type="http://schemas.openxmlformats.org/officeDocument/2006/relationships/image" Target="../media/image2.png"/></Relationships>
</file>

<file path=ppt/slides/_rels/slide3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9.xml"/><Relationship Id="rId4" Type="http://schemas.openxmlformats.org/officeDocument/2006/relationships/notesSlide" Target="../notesSlides/notesSlide15.xml"/><Relationship Id="rId5" Type="http://schemas.openxmlformats.org/officeDocument/2006/relationships/image" Target="../media/image2.png"/></Relationships>
</file>

<file path=ppt/slides/_rels/slide3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6.xml"/><Relationship Id="rId4" Type="http://schemas.openxmlformats.org/officeDocument/2006/relationships/image" Target="../media/image2.png"/></Relationships>
</file>

<file path=ppt/slides/_rels/slide4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0.xml"/><Relationship Id="rId4" Type="http://schemas.openxmlformats.org/officeDocument/2006/relationships/notesSlide" Target="../notesSlides/notesSlide17.xml"/><Relationship Id="rId5" Type="http://schemas.openxmlformats.org/officeDocument/2006/relationships/image" Target="../media/image2.png"/></Relationships>
</file>

<file path=ppt/slides/_rels/slide4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4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8.xml"/><Relationship Id="rId4" Type="http://schemas.openxmlformats.org/officeDocument/2006/relationships/image" Target="../media/image101.png"/><Relationship Id="rId5" Type="http://schemas.openxmlformats.org/officeDocument/2006/relationships/image" Target="../media/image102.png"/><Relationship Id="rId6" Type="http://schemas.openxmlformats.org/officeDocument/2006/relationships/image" Target="../media/image69.png"/><Relationship Id="rId7" Type="http://schemas.openxmlformats.org/officeDocument/2006/relationships/image" Target="../media/image103.png"/><Relationship Id="rId8" Type="http://schemas.openxmlformats.org/officeDocument/2006/relationships/image" Target="../media/image104.png"/><Relationship Id="rId9" Type="http://schemas.openxmlformats.org/officeDocument/2006/relationships/image" Target="../media/image72.png"/><Relationship Id="rId10" Type="http://schemas.openxmlformats.org/officeDocument/2006/relationships/image" Target="../media/image105.png"/><Relationship Id="rId11" Type="http://schemas.openxmlformats.org/officeDocument/2006/relationships/image" Target="../media/image106.png"/><Relationship Id="rId12" Type="http://schemas.openxmlformats.org/officeDocument/2006/relationships/image" Target="../media/image75.png"/><Relationship Id="rId13" Type="http://schemas.openxmlformats.org/officeDocument/2006/relationships/image" Target="../media/image107.png"/><Relationship Id="rId14" Type="http://schemas.openxmlformats.org/officeDocument/2006/relationships/image" Target="../media/image108.png"/><Relationship Id="rId15" Type="http://schemas.openxmlformats.org/officeDocument/2006/relationships/image" Target="../media/image109.png"/><Relationship Id="rId16" Type="http://schemas.openxmlformats.org/officeDocument/2006/relationships/image" Target="../media/image110.png"/><Relationship Id="rId17" Type="http://schemas.openxmlformats.org/officeDocument/2006/relationships/image" Target="../media/image80.png"/><Relationship Id="rId18" Type="http://schemas.openxmlformats.org/officeDocument/2006/relationships/image" Target="../media/image111.png"/><Relationship Id="rId19" Type="http://schemas.openxmlformats.org/officeDocument/2006/relationships/image" Target="../media/image112.png"/><Relationship Id="rId20" Type="http://schemas.openxmlformats.org/officeDocument/2006/relationships/image" Target="../media/image53.png"/><Relationship Id="rId21" Type="http://schemas.openxmlformats.org/officeDocument/2006/relationships/image" Target="../media/image113.png"/><Relationship Id="rId22" Type="http://schemas.openxmlformats.org/officeDocument/2006/relationships/image" Target="../media/image114.png"/><Relationship Id="rId23" Type="http://schemas.openxmlformats.org/officeDocument/2006/relationships/image" Target="../media/image91.png"/><Relationship Id="rId24" Type="http://schemas.openxmlformats.org/officeDocument/2006/relationships/image" Target="../media/image2.png"/></Relationships>
</file>

<file path=ppt/slides/_rels/slide4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9.xml"/><Relationship Id="rId4" Type="http://schemas.openxmlformats.org/officeDocument/2006/relationships/image" Target="../media/image115.png"/><Relationship Id="rId5" Type="http://schemas.openxmlformats.org/officeDocument/2006/relationships/image" Target="../media/image116.png"/><Relationship Id="rId6" Type="http://schemas.openxmlformats.org/officeDocument/2006/relationships/image" Target="../media/image47.png"/><Relationship Id="rId7" Type="http://schemas.openxmlformats.org/officeDocument/2006/relationships/image" Target="../media/image117.png"/><Relationship Id="rId8" Type="http://schemas.openxmlformats.org/officeDocument/2006/relationships/image" Target="../media/image118.png"/><Relationship Id="rId9" Type="http://schemas.openxmlformats.org/officeDocument/2006/relationships/image" Target="../media/image50.png"/><Relationship Id="rId10" Type="http://schemas.openxmlformats.org/officeDocument/2006/relationships/image" Target="../media/image119.png"/><Relationship Id="rId11" Type="http://schemas.openxmlformats.org/officeDocument/2006/relationships/image" Target="../media/image120.png"/><Relationship Id="rId12" Type="http://schemas.openxmlformats.org/officeDocument/2006/relationships/image" Target="../media/image72.png"/><Relationship Id="rId13" Type="http://schemas.openxmlformats.org/officeDocument/2006/relationships/image" Target="../media/image121.png"/><Relationship Id="rId14" Type="http://schemas.openxmlformats.org/officeDocument/2006/relationships/image" Target="../media/image122.png"/><Relationship Id="rId15" Type="http://schemas.openxmlformats.org/officeDocument/2006/relationships/image" Target="../media/image123.png"/><Relationship Id="rId16" Type="http://schemas.openxmlformats.org/officeDocument/2006/relationships/image" Target="../media/image124.png"/><Relationship Id="rId17" Type="http://schemas.openxmlformats.org/officeDocument/2006/relationships/image" Target="../media/image125.png"/><Relationship Id="rId18" Type="http://schemas.openxmlformats.org/officeDocument/2006/relationships/image" Target="../media/image126.png"/><Relationship Id="rId19" Type="http://schemas.openxmlformats.org/officeDocument/2006/relationships/image" Target="../media/image127.png"/><Relationship Id="rId20" Type="http://schemas.openxmlformats.org/officeDocument/2006/relationships/image" Target="../media/image128.png"/><Relationship Id="rId21" Type="http://schemas.openxmlformats.org/officeDocument/2006/relationships/image" Target="../media/image129.png"/><Relationship Id="rId22" Type="http://schemas.openxmlformats.org/officeDocument/2006/relationships/image" Target="../media/image130.png"/><Relationship Id="rId23" Type="http://schemas.openxmlformats.org/officeDocument/2006/relationships/image" Target="../media/image131.png"/><Relationship Id="rId24" Type="http://schemas.openxmlformats.org/officeDocument/2006/relationships/image" Target="../media/image85.png"/><Relationship Id="rId25" Type="http://schemas.openxmlformats.org/officeDocument/2006/relationships/image" Target="../media/image2.png"/></Relationships>
</file>

<file path=ppt/slides/_rels/slide4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0.xml"/><Relationship Id="rId4" Type="http://schemas.openxmlformats.org/officeDocument/2006/relationships/image" Target="../media/image132.png"/><Relationship Id="rId5" Type="http://schemas.openxmlformats.org/officeDocument/2006/relationships/image" Target="../media/image133.png"/><Relationship Id="rId6" Type="http://schemas.openxmlformats.org/officeDocument/2006/relationships/image" Target="../media/image134.png"/><Relationship Id="rId7" Type="http://schemas.openxmlformats.org/officeDocument/2006/relationships/image" Target="../media/image135.png"/><Relationship Id="rId8" Type="http://schemas.openxmlformats.org/officeDocument/2006/relationships/image" Target="../media/image136.png"/><Relationship Id="rId9" Type="http://schemas.openxmlformats.org/officeDocument/2006/relationships/image" Target="../media/image129.png"/><Relationship Id="rId10" Type="http://schemas.openxmlformats.org/officeDocument/2006/relationships/image" Target="../media/image137.png"/><Relationship Id="rId11" Type="http://schemas.openxmlformats.org/officeDocument/2006/relationships/image" Target="../media/image138.png"/><Relationship Id="rId12" Type="http://schemas.openxmlformats.org/officeDocument/2006/relationships/image" Target="../media/image139.png"/><Relationship Id="rId13" Type="http://schemas.openxmlformats.org/officeDocument/2006/relationships/image" Target="../media/image140.png"/><Relationship Id="rId14" Type="http://schemas.openxmlformats.org/officeDocument/2006/relationships/image" Target="../media/image141.png"/><Relationship Id="rId15" Type="http://schemas.openxmlformats.org/officeDocument/2006/relationships/image" Target="../media/image53.png"/><Relationship Id="rId16" Type="http://schemas.openxmlformats.org/officeDocument/2006/relationships/image" Target="../media/image142.png"/><Relationship Id="rId17" Type="http://schemas.openxmlformats.org/officeDocument/2006/relationships/image" Target="../media/image143.png"/><Relationship Id="rId18" Type="http://schemas.openxmlformats.org/officeDocument/2006/relationships/image" Target="../media/image144.png"/><Relationship Id="rId19" Type="http://schemas.openxmlformats.org/officeDocument/2006/relationships/image" Target="../media/image145.png"/><Relationship Id="rId20" Type="http://schemas.openxmlformats.org/officeDocument/2006/relationships/image" Target="../media/image146.png"/><Relationship Id="rId21" Type="http://schemas.openxmlformats.org/officeDocument/2006/relationships/image" Target="../media/image147.png"/><Relationship Id="rId22" Type="http://schemas.openxmlformats.org/officeDocument/2006/relationships/image" Target="../media/image148.png"/><Relationship Id="rId23" Type="http://schemas.openxmlformats.org/officeDocument/2006/relationships/image" Target="../media/image85.png"/><Relationship Id="rId24" Type="http://schemas.openxmlformats.org/officeDocument/2006/relationships/image" Target="../media/image2.png"/></Relationships>
</file>

<file path=ppt/slides/_rels/slide4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1.xml"/><Relationship Id="rId4" Type="http://schemas.openxmlformats.org/officeDocument/2006/relationships/image" Target="../media/image149.png"/><Relationship Id="rId5" Type="http://schemas.openxmlformats.org/officeDocument/2006/relationships/image" Target="../media/image147.png"/><Relationship Id="rId6" Type="http://schemas.openxmlformats.org/officeDocument/2006/relationships/image" Target="../media/image150.png"/><Relationship Id="rId7" Type="http://schemas.openxmlformats.org/officeDocument/2006/relationships/image" Target="../media/image67.png"/><Relationship Id="rId8" Type="http://schemas.openxmlformats.org/officeDocument/2006/relationships/image" Target="../media/image151.png"/><Relationship Id="rId9" Type="http://schemas.openxmlformats.org/officeDocument/2006/relationships/image" Target="../media/image80.png"/><Relationship Id="rId10" Type="http://schemas.openxmlformats.org/officeDocument/2006/relationships/image" Target="../media/image152.png"/><Relationship Id="rId11" Type="http://schemas.openxmlformats.org/officeDocument/2006/relationships/image" Target="../media/image153.png"/><Relationship Id="rId12" Type="http://schemas.openxmlformats.org/officeDocument/2006/relationships/image" Target="../media/image58.png"/><Relationship Id="rId13" Type="http://schemas.openxmlformats.org/officeDocument/2006/relationships/image" Target="../media/image154.png"/><Relationship Id="rId14" Type="http://schemas.openxmlformats.org/officeDocument/2006/relationships/image" Target="../media/image155.png"/><Relationship Id="rId15" Type="http://schemas.openxmlformats.org/officeDocument/2006/relationships/image" Target="../media/image134.png"/><Relationship Id="rId16" Type="http://schemas.openxmlformats.org/officeDocument/2006/relationships/image" Target="../media/image2.png"/></Relationships>
</file>

<file path=ppt/slides/_rels/slide4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1.xml"/><Relationship Id="rId4" Type="http://schemas.openxmlformats.org/officeDocument/2006/relationships/notesSlide" Target="../notesSlides/notesSlide22.xml"/><Relationship Id="rId5" Type="http://schemas.openxmlformats.org/officeDocument/2006/relationships/image" Target="../media/image2.png"/></Relationships>
</file>

<file path=ppt/slides/_rels/slide4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2.xml"/><Relationship Id="rId4" Type="http://schemas.openxmlformats.org/officeDocument/2006/relationships/notesSlide" Target="../notesSlides/notesSlide23.xml"/><Relationship Id="rId5" Type="http://schemas.openxmlformats.org/officeDocument/2006/relationships/image" Target="../media/image2.png"/></Relationships>
</file>

<file path=ppt/slides/_rels/slide4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4.xml"/><Relationship Id="rId4" Type="http://schemas.openxmlformats.org/officeDocument/2006/relationships/image" Target="../media/image2.png"/></Relationships>
</file>

<file path=ppt/slides/_rels/slide4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5.xml"/><Relationship Id="rId4" Type="http://schemas.openxmlformats.org/officeDocument/2006/relationships/image" Target="../media/image2.png"/></Relationships>
</file>

<file path=ppt/slides/_rels/slide5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6.xml"/><Relationship Id="rId4" Type="http://schemas.openxmlformats.org/officeDocument/2006/relationships/image" Target="../media/image2.png"/></Relationships>
</file>

<file path=ppt/slides/_rels/slide5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7.xml"/><Relationship Id="rId4" Type="http://schemas.openxmlformats.org/officeDocument/2006/relationships/image" Target="../media/image2.png"/></Relationships>
</file>

<file path=ppt/slides/_rels/slide5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3.xml"/><Relationship Id="rId4" Type="http://schemas.openxmlformats.org/officeDocument/2006/relationships/chart" Target="../charts/chart14.xml"/><Relationship Id="rId5" Type="http://schemas.openxmlformats.org/officeDocument/2006/relationships/notesSlide" Target="../notesSlides/notesSlide28.xml"/><Relationship Id="rId6" Type="http://schemas.openxmlformats.org/officeDocument/2006/relationships/image" Target="../media/image2.png"/></Relationships>
</file>

<file path=ppt/slides/_rels/slide5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9.xml"/><Relationship Id="rId4" Type="http://schemas.openxmlformats.org/officeDocument/2006/relationships/image" Target="../media/image2.png"/></Relationships>
</file>

<file path=ppt/slides/_rels/slide5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5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5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0.xml"/><Relationship Id="rId4" Type="http://schemas.openxmlformats.org/officeDocument/2006/relationships/image" Target="../media/image219.png"/><Relationship Id="rId5" Type="http://schemas.openxmlformats.org/officeDocument/2006/relationships/image" Target="../media/image220.png"/><Relationship Id="rId6" Type="http://schemas.openxmlformats.org/officeDocument/2006/relationships/image" Target="../media/image221.png"/><Relationship Id="rId7" Type="http://schemas.openxmlformats.org/officeDocument/2006/relationships/image" Target="../media/image222.png"/><Relationship Id="rId8" Type="http://schemas.openxmlformats.org/officeDocument/2006/relationships/image" Target="../media/image223.png"/><Relationship Id="rId9" Type="http://schemas.openxmlformats.org/officeDocument/2006/relationships/image" Target="../media/image144.png"/><Relationship Id="rId10" Type="http://schemas.openxmlformats.org/officeDocument/2006/relationships/image" Target="../media/image224.png"/><Relationship Id="rId11" Type="http://schemas.openxmlformats.org/officeDocument/2006/relationships/image" Target="../media/image97.png"/><Relationship Id="rId12" Type="http://schemas.openxmlformats.org/officeDocument/2006/relationships/image" Target="../media/image72.png"/><Relationship Id="rId13" Type="http://schemas.openxmlformats.org/officeDocument/2006/relationships/image" Target="../media/image225.png"/><Relationship Id="rId14" Type="http://schemas.openxmlformats.org/officeDocument/2006/relationships/image" Target="../media/image99.png"/><Relationship Id="rId15" Type="http://schemas.openxmlformats.org/officeDocument/2006/relationships/image" Target="../media/image85.png"/><Relationship Id="rId16" Type="http://schemas.openxmlformats.org/officeDocument/2006/relationships/image" Target="../media/image226.png"/><Relationship Id="rId17" Type="http://schemas.openxmlformats.org/officeDocument/2006/relationships/image" Target="../media/image98.png"/><Relationship Id="rId18" Type="http://schemas.openxmlformats.org/officeDocument/2006/relationships/image" Target="../media/image227.png"/><Relationship Id="rId19" Type="http://schemas.openxmlformats.org/officeDocument/2006/relationships/image" Target="../media/image228.png"/><Relationship Id="rId20" Type="http://schemas.openxmlformats.org/officeDocument/2006/relationships/image" Target="../media/image100.png"/><Relationship Id="rId21" Type="http://schemas.openxmlformats.org/officeDocument/2006/relationships/image" Target="../media/image2.png"/></Relationships>
</file>

<file path=ppt/slides/_rels/slide5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5.xml"/><Relationship Id="rId4" Type="http://schemas.openxmlformats.org/officeDocument/2006/relationships/chart" Target="../charts/chart16.xml"/><Relationship Id="rId5" Type="http://schemas.openxmlformats.org/officeDocument/2006/relationships/notesSlide" Target="../notesSlides/notesSlide31.xml"/><Relationship Id="rId6" Type="http://schemas.openxmlformats.org/officeDocument/2006/relationships/image" Target="../media/image2.png"/></Relationships>
</file>

<file path=ppt/slides/_rels/slide5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7.xml"/><Relationship Id="rId4" Type="http://schemas.openxmlformats.org/officeDocument/2006/relationships/chart" Target="../charts/chart18.xml"/><Relationship Id="rId5" Type="http://schemas.openxmlformats.org/officeDocument/2006/relationships/chart" Target="../charts/chart19.xml"/><Relationship Id="rId6" Type="http://schemas.openxmlformats.org/officeDocument/2006/relationships/chart" Target="../charts/chart20.xml"/><Relationship Id="rId7" Type="http://schemas.openxmlformats.org/officeDocument/2006/relationships/notesSlide" Target="../notesSlides/notesSlide32.xml"/><Relationship Id="rId8" Type="http://schemas.openxmlformats.org/officeDocument/2006/relationships/image" Target="../media/image2.png"/></Relationships>
</file>

<file path=ppt/slides/_rels/slide5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21.xml"/><Relationship Id="rId4" Type="http://schemas.openxmlformats.org/officeDocument/2006/relationships/chart" Target="../charts/chart22.xml"/><Relationship Id="rId5" Type="http://schemas.openxmlformats.org/officeDocument/2006/relationships/notesSlide" Target="../notesSlides/notesSlide33.xml"/><Relationship Id="rId6" Type="http://schemas.openxmlformats.org/officeDocument/2006/relationships/image" Target="../media/image2.png"/></Relationships>
</file>

<file path=ppt/slides/_rels/slide6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4.xml"/><Relationship Id="rId4" Type="http://schemas.openxmlformats.org/officeDocument/2006/relationships/image" Target="../media/image2.png"/></Relationships>
</file>

<file path=ppt/slides/_rels/slide6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5.xml"/><Relationship Id="rId4" Type="http://schemas.openxmlformats.org/officeDocument/2006/relationships/image" Target="../media/image2.png"/></Relationships>
</file>

<file path=ppt/slides/_rels/slide6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23.xml"/><Relationship Id="rId4" Type="http://schemas.openxmlformats.org/officeDocument/2006/relationships/notesSlide" Target="../notesSlides/notesSlide36.xml"/><Relationship Id="rId5" Type="http://schemas.openxmlformats.org/officeDocument/2006/relationships/image" Target="../media/image2.png"/></Relationships>
</file>

<file path=ppt/slides/_rels/slide6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7.xml"/><Relationship Id="rId4" Type="http://schemas.openxmlformats.org/officeDocument/2006/relationships/image" Target="../media/image2.png"/></Relationships>
</file>

<file path=ppt/slides/_rels/slide6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8.xml"/><Relationship Id="rId4" Type="http://schemas.openxmlformats.org/officeDocument/2006/relationships/image" Target="../media/image2.png"/></Relationships>
</file>

<file path=ppt/slides/_rels/slide6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6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9.xml"/><Relationship Id="rId4" Type="http://schemas.openxmlformats.org/officeDocument/2006/relationships/image" Target="../media/image247.png"/><Relationship Id="rId5" Type="http://schemas.openxmlformats.org/officeDocument/2006/relationships/image" Target="../media/image248.png"/><Relationship Id="rId6" Type="http://schemas.openxmlformats.org/officeDocument/2006/relationships/image" Target="../media/image129.png"/><Relationship Id="rId7" Type="http://schemas.openxmlformats.org/officeDocument/2006/relationships/image" Target="../media/image249.png"/><Relationship Id="rId8" Type="http://schemas.openxmlformats.org/officeDocument/2006/relationships/image" Target="../media/image250.png"/><Relationship Id="rId9" Type="http://schemas.openxmlformats.org/officeDocument/2006/relationships/image" Target="../media/image227.png"/><Relationship Id="rId10" Type="http://schemas.openxmlformats.org/officeDocument/2006/relationships/image" Target="../media/image251.png"/><Relationship Id="rId11" Type="http://schemas.openxmlformats.org/officeDocument/2006/relationships/image" Target="../media/image252.png"/><Relationship Id="rId12" Type="http://schemas.openxmlformats.org/officeDocument/2006/relationships/image" Target="../media/image2.png"/></Relationships>
</file>

<file path=ppt/slides/_rels/slide6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24.xml"/><Relationship Id="rId4" Type="http://schemas.openxmlformats.org/officeDocument/2006/relationships/chart" Target="../charts/chart25.xml"/><Relationship Id="rId5" Type="http://schemas.openxmlformats.org/officeDocument/2006/relationships/notesSlide" Target="../notesSlides/notesSlide40.xml"/><Relationship Id="rId6" Type="http://schemas.openxmlformats.org/officeDocument/2006/relationships/image" Target="../media/image2.png"/></Relationships>
</file>

<file path=ppt/slides/_rels/slide6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26.xml"/><Relationship Id="rId4" Type="http://schemas.openxmlformats.org/officeDocument/2006/relationships/chart" Target="../charts/chart27.xml"/><Relationship Id="rId5" Type="http://schemas.openxmlformats.org/officeDocument/2006/relationships/chart" Target="../charts/chart28.xml"/><Relationship Id="rId6" Type="http://schemas.openxmlformats.org/officeDocument/2006/relationships/notesSlide" Target="../notesSlides/notesSlide41.xml"/><Relationship Id="rId7" Type="http://schemas.openxmlformats.org/officeDocument/2006/relationships/image" Target="../media/image2.png"/></Relationships>
</file>

<file path=ppt/slides/_rels/slide6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2.xml"/><Relationship Id="rId4" Type="http://schemas.openxmlformats.org/officeDocument/2006/relationships/image" Target="../media/image2.png"/></Relationships>
</file>

<file path=ppt/slides/_rels/slide7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3.xml"/><Relationship Id="rId4" Type="http://schemas.openxmlformats.org/officeDocument/2006/relationships/image" Target="../media/image2.png"/></Relationships>
</file>

<file path=ppt/slides/_rels/slide7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29.xml"/><Relationship Id="rId4" Type="http://schemas.openxmlformats.org/officeDocument/2006/relationships/notesSlide" Target="../notesSlides/notesSlide44.xml"/><Relationship Id="rId5" Type="http://schemas.openxmlformats.org/officeDocument/2006/relationships/image" Target="../media/image2.png"/></Relationships>
</file>

<file path=ppt/slides/_rels/slide7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5.xml"/><Relationship Id="rId4" Type="http://schemas.openxmlformats.org/officeDocument/2006/relationships/image" Target="../media/image2.png"/></Relationships>
</file>

<file path=ppt/slides/_rels/slide7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6.xml"/><Relationship Id="rId4" Type="http://schemas.openxmlformats.org/officeDocument/2006/relationships/image" Target="../media/image2.png"/></Relationships>
</file>

<file path=ppt/slides/_rels/slide7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7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7.xml"/><Relationship Id="rId4" Type="http://schemas.openxmlformats.org/officeDocument/2006/relationships/image" Target="../media/image260.png"/><Relationship Id="rId5" Type="http://schemas.openxmlformats.org/officeDocument/2006/relationships/image" Target="../media/image261.png"/><Relationship Id="rId6" Type="http://schemas.openxmlformats.org/officeDocument/2006/relationships/image" Target="../media/image227.png"/><Relationship Id="rId7" Type="http://schemas.openxmlformats.org/officeDocument/2006/relationships/image" Target="../media/image262.png"/><Relationship Id="rId8" Type="http://schemas.openxmlformats.org/officeDocument/2006/relationships/image" Target="../media/image263.png"/><Relationship Id="rId9" Type="http://schemas.openxmlformats.org/officeDocument/2006/relationships/image" Target="../media/image129.png"/><Relationship Id="rId10" Type="http://schemas.openxmlformats.org/officeDocument/2006/relationships/image" Target="../media/image264.png"/><Relationship Id="rId11" Type="http://schemas.openxmlformats.org/officeDocument/2006/relationships/image" Target="../media/image265.png"/><Relationship Id="rId12" Type="http://schemas.openxmlformats.org/officeDocument/2006/relationships/image" Target="../media/image85.png"/><Relationship Id="rId13" Type="http://schemas.openxmlformats.org/officeDocument/2006/relationships/image" Target="../media/image266.png"/><Relationship Id="rId14" Type="http://schemas.openxmlformats.org/officeDocument/2006/relationships/image" Target="../media/image267.png"/><Relationship Id="rId15" Type="http://schemas.openxmlformats.org/officeDocument/2006/relationships/image" Target="../media/image134.png"/><Relationship Id="rId16" Type="http://schemas.openxmlformats.org/officeDocument/2006/relationships/image" Target="../media/image268.png"/><Relationship Id="rId17" Type="http://schemas.openxmlformats.org/officeDocument/2006/relationships/image" Target="../media/image269.png"/><Relationship Id="rId18" Type="http://schemas.openxmlformats.org/officeDocument/2006/relationships/image" Target="../media/image270.png"/><Relationship Id="rId19" Type="http://schemas.openxmlformats.org/officeDocument/2006/relationships/image" Target="../media/image271.png"/><Relationship Id="rId20" Type="http://schemas.openxmlformats.org/officeDocument/2006/relationships/image" Target="../media/image69.png"/><Relationship Id="rId21" Type="http://schemas.openxmlformats.org/officeDocument/2006/relationships/image" Target="../media/image272.png"/><Relationship Id="rId22" Type="http://schemas.openxmlformats.org/officeDocument/2006/relationships/image" Target="../media/image273.png"/><Relationship Id="rId23" Type="http://schemas.openxmlformats.org/officeDocument/2006/relationships/image" Target="../media/image274.png"/><Relationship Id="rId24" Type="http://schemas.openxmlformats.org/officeDocument/2006/relationships/image" Target="../media/image275.png"/><Relationship Id="rId25" Type="http://schemas.openxmlformats.org/officeDocument/2006/relationships/image" Target="../media/image75.png"/><Relationship Id="rId26" Type="http://schemas.openxmlformats.org/officeDocument/2006/relationships/image" Target="../media/image2.png"/></Relationships>
</file>

<file path=ppt/slides/_rels/slide7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30.xml"/><Relationship Id="rId4" Type="http://schemas.openxmlformats.org/officeDocument/2006/relationships/chart" Target="../charts/chart31.xml"/><Relationship Id="rId5" Type="http://schemas.openxmlformats.org/officeDocument/2006/relationships/notesSlide" Target="../notesSlides/notesSlide48.xml"/><Relationship Id="rId6" Type="http://schemas.openxmlformats.org/officeDocument/2006/relationships/image" Target="../media/image2.png"/></Relationships>
</file>

<file path=ppt/slides/_rels/slide7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32.xml"/><Relationship Id="rId4" Type="http://schemas.openxmlformats.org/officeDocument/2006/relationships/chart" Target="../charts/chart33.xml"/><Relationship Id="rId5" Type="http://schemas.openxmlformats.org/officeDocument/2006/relationships/chart" Target="../charts/chart34.xml"/><Relationship Id="rId6" Type="http://schemas.openxmlformats.org/officeDocument/2006/relationships/chart" Target="../charts/chart35.xml"/><Relationship Id="rId7" Type="http://schemas.openxmlformats.org/officeDocument/2006/relationships/notesSlide" Target="../notesSlides/notesSlide49.xml"/><Relationship Id="rId8" Type="http://schemas.openxmlformats.org/officeDocument/2006/relationships/image" Target="../media/image2.png"/></Relationships>
</file>

<file path=ppt/slides/_rels/slide7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36.xml"/><Relationship Id="rId4" Type="http://schemas.openxmlformats.org/officeDocument/2006/relationships/chart" Target="../charts/chart37.xml"/><Relationship Id="rId5" Type="http://schemas.openxmlformats.org/officeDocument/2006/relationships/chart" Target="../charts/chart38.xml"/><Relationship Id="rId6" Type="http://schemas.openxmlformats.org/officeDocument/2006/relationships/chart" Target="../charts/chart39.xml"/><Relationship Id="rId7" Type="http://schemas.openxmlformats.org/officeDocument/2006/relationships/notesSlide" Target="../notesSlides/notesSlide50.xml"/><Relationship Id="rId8" Type="http://schemas.openxmlformats.org/officeDocument/2006/relationships/image" Target="../media/image2.png"/></Relationships>
</file>

<file path=ppt/slides/_rels/slide7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51.xml"/><Relationship Id="rId4" Type="http://schemas.openxmlformats.org/officeDocument/2006/relationships/image" Target="../media/image2.png"/></Relationships>
</file>

<file path=ppt/slides/_rels/slide8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52.xml"/><Relationship Id="rId4" Type="http://schemas.openxmlformats.org/officeDocument/2006/relationships/image" Target="../media/image2.png"/></Relationships>
</file>

<file path=ppt/slides/_rels/slide8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40.xml"/><Relationship Id="rId4" Type="http://schemas.openxmlformats.org/officeDocument/2006/relationships/notesSlide" Target="../notesSlides/notesSlide53.xml"/><Relationship Id="rId5" Type="http://schemas.openxmlformats.org/officeDocument/2006/relationships/image" Target="../media/image2.png"/></Relationships>
</file>

<file path=ppt/slides/_rels/slide8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54.xml"/><Relationship Id="rId4" Type="http://schemas.openxmlformats.org/officeDocument/2006/relationships/image" Target="../media/image2.png"/></Relationships>
</file>

<file path=ppt/slides/_rels/slide8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55.xml"/><Relationship Id="rId4" Type="http://schemas.openxmlformats.org/officeDocument/2006/relationships/image" Target="../media/image2.png"/></Relationships>
</file>

<file path=ppt/slides/_rels/slide8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8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56.xml"/><Relationship Id="rId4" Type="http://schemas.openxmlformats.org/officeDocument/2006/relationships/image" Target="../media/image293.png"/><Relationship Id="rId5" Type="http://schemas.openxmlformats.org/officeDocument/2006/relationships/image" Target="../media/image294.png"/><Relationship Id="rId6" Type="http://schemas.openxmlformats.org/officeDocument/2006/relationships/image" Target="../media/image129.png"/><Relationship Id="rId7" Type="http://schemas.openxmlformats.org/officeDocument/2006/relationships/image" Target="../media/image295.png"/><Relationship Id="rId8" Type="http://schemas.openxmlformats.org/officeDocument/2006/relationships/image" Target="../media/image296.png"/><Relationship Id="rId9" Type="http://schemas.openxmlformats.org/officeDocument/2006/relationships/image" Target="../media/image134.png"/><Relationship Id="rId10" Type="http://schemas.openxmlformats.org/officeDocument/2006/relationships/image" Target="../media/image297.png"/><Relationship Id="rId11" Type="http://schemas.openxmlformats.org/officeDocument/2006/relationships/image" Target="../media/image298.png"/><Relationship Id="rId12" Type="http://schemas.openxmlformats.org/officeDocument/2006/relationships/image" Target="../media/image227.png"/><Relationship Id="rId13" Type="http://schemas.openxmlformats.org/officeDocument/2006/relationships/image" Target="../media/image299.png"/><Relationship Id="rId14" Type="http://schemas.openxmlformats.org/officeDocument/2006/relationships/image" Target="../media/image300.png"/><Relationship Id="rId15" Type="http://schemas.openxmlformats.org/officeDocument/2006/relationships/image" Target="../media/image301.png"/><Relationship Id="rId16" Type="http://schemas.openxmlformats.org/officeDocument/2006/relationships/image" Target="../media/image302.png"/><Relationship Id="rId17" Type="http://schemas.openxmlformats.org/officeDocument/2006/relationships/image" Target="../media/image72.png"/><Relationship Id="rId18" Type="http://schemas.openxmlformats.org/officeDocument/2006/relationships/image" Target="../media/image303.png"/><Relationship Id="rId19" Type="http://schemas.openxmlformats.org/officeDocument/2006/relationships/image" Target="../media/image304.png"/><Relationship Id="rId20" Type="http://schemas.openxmlformats.org/officeDocument/2006/relationships/image" Target="../media/image305.png"/><Relationship Id="rId21" Type="http://schemas.openxmlformats.org/officeDocument/2006/relationships/image" Target="../media/image306.png"/><Relationship Id="rId22" Type="http://schemas.openxmlformats.org/officeDocument/2006/relationships/image" Target="../media/image2.png"/></Relationships>
</file>

<file path=ppt/slides/_rels/slide8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41.xml"/><Relationship Id="rId4" Type="http://schemas.openxmlformats.org/officeDocument/2006/relationships/chart" Target="../charts/chart42.xml"/><Relationship Id="rId5" Type="http://schemas.openxmlformats.org/officeDocument/2006/relationships/notesSlide" Target="../notesSlides/notesSlide57.xml"/><Relationship Id="rId6" Type="http://schemas.openxmlformats.org/officeDocument/2006/relationships/image" Target="../media/image2.png"/></Relationships>
</file>

<file path=ppt/slides/_rels/slide8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43.xml"/><Relationship Id="rId4" Type="http://schemas.openxmlformats.org/officeDocument/2006/relationships/chart" Target="../charts/chart44.xml"/><Relationship Id="rId5" Type="http://schemas.openxmlformats.org/officeDocument/2006/relationships/chart" Target="../charts/chart45.xml"/><Relationship Id="rId6" Type="http://schemas.openxmlformats.org/officeDocument/2006/relationships/chart" Target="../charts/chart46.xml"/><Relationship Id="rId7" Type="http://schemas.openxmlformats.org/officeDocument/2006/relationships/notesSlide" Target="../notesSlides/notesSlide58.xml"/><Relationship Id="rId8" Type="http://schemas.openxmlformats.org/officeDocument/2006/relationships/image" Target="../media/image2.png"/></Relationships>
</file>

<file path=ppt/slides/_rels/slide8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47.xml"/><Relationship Id="rId4" Type="http://schemas.openxmlformats.org/officeDocument/2006/relationships/chart" Target="../charts/chart48.xml"/><Relationship Id="rId5" Type="http://schemas.openxmlformats.org/officeDocument/2006/relationships/chart" Target="../charts/chart49.xml"/><Relationship Id="rId6" Type="http://schemas.openxmlformats.org/officeDocument/2006/relationships/notesSlide" Target="../notesSlides/notesSlide59.xml"/><Relationship Id="rId7" Type="http://schemas.openxmlformats.org/officeDocument/2006/relationships/image" Target="../media/image2.png"/></Relationships>
</file>

<file path=ppt/slides/_rels/slide8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60.xml"/><Relationship Id="rId4" Type="http://schemas.openxmlformats.org/officeDocument/2006/relationships/image" Target="../media/image2.png"/></Relationships>
</file>

<file path=ppt/slides/_rels/slide9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61.xml"/><Relationship Id="rId4" Type="http://schemas.openxmlformats.org/officeDocument/2006/relationships/image" Target="../media/image2.png"/></Relationships>
</file>

<file path=ppt/slides/_rels/slide9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50.xml"/><Relationship Id="rId4" Type="http://schemas.openxmlformats.org/officeDocument/2006/relationships/notesSlide" Target="../notesSlides/notesSlide62.xml"/><Relationship Id="rId5" Type="http://schemas.openxmlformats.org/officeDocument/2006/relationships/image" Target="../media/image2.png"/></Relationships>
</file>

<file path=ppt/slides/_rels/slide9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63.xml"/><Relationship Id="rId4" Type="http://schemas.openxmlformats.org/officeDocument/2006/relationships/image" Target="../media/image2.png"/></Relationships>
</file>

<file path=ppt/slides/_rels/slide9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64.xml"/><Relationship Id="rId4" Type="http://schemas.openxmlformats.org/officeDocument/2006/relationships/image" Target="../media/image2.png"/></Relationships>
</file>

<file path=ppt/slides/_rels/slide9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9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65.xml"/><Relationship Id="rId4" Type="http://schemas.openxmlformats.org/officeDocument/2006/relationships/image" Target="../media/image323.png"/><Relationship Id="rId5" Type="http://schemas.openxmlformats.org/officeDocument/2006/relationships/image" Target="../media/image324.png"/><Relationship Id="rId6" Type="http://schemas.openxmlformats.org/officeDocument/2006/relationships/image" Target="../media/image227.png"/><Relationship Id="rId7" Type="http://schemas.openxmlformats.org/officeDocument/2006/relationships/image" Target="../media/image325.png"/><Relationship Id="rId8" Type="http://schemas.openxmlformats.org/officeDocument/2006/relationships/image" Target="../media/image326.png"/><Relationship Id="rId9" Type="http://schemas.openxmlformats.org/officeDocument/2006/relationships/image" Target="../media/image134.png"/><Relationship Id="rId10" Type="http://schemas.openxmlformats.org/officeDocument/2006/relationships/image" Target="../media/image2.png"/></Relationships>
</file>

<file path=ppt/slides/_rels/slide9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51.xml"/><Relationship Id="rId4" Type="http://schemas.openxmlformats.org/officeDocument/2006/relationships/chart" Target="../charts/chart52.xml"/><Relationship Id="rId5" Type="http://schemas.openxmlformats.org/officeDocument/2006/relationships/notesSlide" Target="../notesSlides/notesSlide66.xml"/><Relationship Id="rId6" Type="http://schemas.openxmlformats.org/officeDocument/2006/relationships/image" Target="../media/image2.png"/></Relationships>
</file>

<file path=ppt/slides/_rels/slide9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53.xml"/><Relationship Id="rId4" Type="http://schemas.openxmlformats.org/officeDocument/2006/relationships/chart" Target="../charts/chart54.xml"/><Relationship Id="rId5" Type="http://schemas.openxmlformats.org/officeDocument/2006/relationships/notesSlide" Target="../notesSlides/notesSlide67.xml"/><Relationship Id="rId6" Type="http://schemas.openxmlformats.org/officeDocument/2006/relationships/image" Target="../media/image2.png"/></Relationships>
</file>

<file path=ppt/slides/_rels/slide9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68.xml"/><Relationship Id="rId4" Type="http://schemas.openxmlformats.org/officeDocument/2006/relationships/image" Target="../media/image2.png"/></Relationships>
</file>

<file path=ppt/slides/_rels/slide9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69.xml"/><Relationship Id="rId4" Type="http://schemas.openxmlformats.org/officeDocument/2006/relationships/image" Target="../media/image2.png"/></Relationships>
</file>

<file path=ppt/slides/_rels/slide10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55.xml"/><Relationship Id="rId4" Type="http://schemas.openxmlformats.org/officeDocument/2006/relationships/notesSlide" Target="../notesSlides/notesSlide70.xml"/><Relationship Id="rId5" Type="http://schemas.openxmlformats.org/officeDocument/2006/relationships/image" Target="../media/image2.png"/></Relationships>
</file>

<file path=ppt/slides/_rels/slide10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71.xml"/><Relationship Id="rId4" Type="http://schemas.openxmlformats.org/officeDocument/2006/relationships/image" Target="../media/image379.png"/><Relationship Id="rId5" Type="http://schemas.openxmlformats.org/officeDocument/2006/relationships/image" Target="../media/image380.png"/><Relationship Id="rId6" Type="http://schemas.openxmlformats.org/officeDocument/2006/relationships/image" Target="../media/image381.png"/><Relationship Id="rId7" Type="http://schemas.openxmlformats.org/officeDocument/2006/relationships/image" Target="../media/image382.png"/><Relationship Id="rId8" Type="http://schemas.openxmlformats.org/officeDocument/2006/relationships/image" Target="../media/image383.png"/><Relationship Id="rId9" Type="http://schemas.openxmlformats.org/officeDocument/2006/relationships/image" Target="../media/image384.png"/><Relationship Id="rId10" Type="http://schemas.openxmlformats.org/officeDocument/2006/relationships/image" Target="../media/image385.png"/><Relationship Id="rId11" Type="http://schemas.openxmlformats.org/officeDocument/2006/relationships/image" Target="../media/image386.png"/><Relationship Id="rId12" Type="http://schemas.openxmlformats.org/officeDocument/2006/relationships/image" Target="../media/image387.png"/><Relationship Id="rId13" Type="http://schemas.openxmlformats.org/officeDocument/2006/relationships/image" Target="../media/image388.png"/><Relationship Id="rId14" Type="http://schemas.openxmlformats.org/officeDocument/2006/relationships/image" Target="../media/image389.png"/><Relationship Id="rId15" Type="http://schemas.openxmlformats.org/officeDocument/2006/relationships/image" Target="../media/image390.png"/><Relationship Id="rId16" Type="http://schemas.openxmlformats.org/officeDocument/2006/relationships/image" Target="../media/image2.png"/></Relationships>
</file>

<file path=ppt/slides/_rels/slide10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72.xml"/><Relationship Id="rId4" Type="http://schemas.openxmlformats.org/officeDocument/2006/relationships/image" Target="../media/image384.png"/><Relationship Id="rId5" Type="http://schemas.openxmlformats.org/officeDocument/2006/relationships/image" Target="../media/image391.png"/><Relationship Id="rId6" Type="http://schemas.openxmlformats.org/officeDocument/2006/relationships/image" Target="../media/image392.png"/><Relationship Id="rId7" Type="http://schemas.openxmlformats.org/officeDocument/2006/relationships/image" Target="../media/image393.png"/><Relationship Id="rId8" Type="http://schemas.openxmlformats.org/officeDocument/2006/relationships/image" Target="../media/image394.png"/><Relationship Id="rId9" Type="http://schemas.openxmlformats.org/officeDocument/2006/relationships/image" Target="../media/image395.png"/><Relationship Id="rId10" Type="http://schemas.openxmlformats.org/officeDocument/2006/relationships/image" Target="../media/image396.png"/><Relationship Id="rId11" Type="http://schemas.openxmlformats.org/officeDocument/2006/relationships/image" Target="../media/image385.png"/><Relationship Id="rId12" Type="http://schemas.openxmlformats.org/officeDocument/2006/relationships/image" Target="../media/image383.png"/><Relationship Id="rId13" Type="http://schemas.openxmlformats.org/officeDocument/2006/relationships/image" Target="../media/image397.png"/><Relationship Id="rId14" Type="http://schemas.openxmlformats.org/officeDocument/2006/relationships/image" Target="../media/image2.png"/></Relationships>
</file>

<file path=ppt/slides/_rels/slide10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0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73.xml"/><Relationship Id="rId4" Type="http://schemas.openxmlformats.org/officeDocument/2006/relationships/image" Target="../media/image398.png"/><Relationship Id="rId5" Type="http://schemas.openxmlformats.org/officeDocument/2006/relationships/image" Target="../media/image399.png"/><Relationship Id="rId6" Type="http://schemas.openxmlformats.org/officeDocument/2006/relationships/image" Target="../media/image227.png"/><Relationship Id="rId7" Type="http://schemas.openxmlformats.org/officeDocument/2006/relationships/image" Target="../media/image400.png"/><Relationship Id="rId8" Type="http://schemas.openxmlformats.org/officeDocument/2006/relationships/image" Target="../media/image401.png"/><Relationship Id="rId9" Type="http://schemas.openxmlformats.org/officeDocument/2006/relationships/image" Target="../media/image85.png"/><Relationship Id="rId10" Type="http://schemas.openxmlformats.org/officeDocument/2006/relationships/image" Target="../media/image402.png"/><Relationship Id="rId11" Type="http://schemas.openxmlformats.org/officeDocument/2006/relationships/image" Target="../media/image403.png"/><Relationship Id="rId12" Type="http://schemas.openxmlformats.org/officeDocument/2006/relationships/image" Target="../media/image2.png"/></Relationships>
</file>

<file path=ppt/slides/_rels/slide10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56.xml"/><Relationship Id="rId4" Type="http://schemas.openxmlformats.org/officeDocument/2006/relationships/chart" Target="../charts/chart57.xml"/><Relationship Id="rId5" Type="http://schemas.openxmlformats.org/officeDocument/2006/relationships/notesSlide" Target="../notesSlides/notesSlide74.xml"/><Relationship Id="rId6" Type="http://schemas.openxmlformats.org/officeDocument/2006/relationships/image" Target="../media/image2.png"/></Relationships>
</file>

<file path=ppt/slides/_rels/slide10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58.xml"/><Relationship Id="rId4" Type="http://schemas.openxmlformats.org/officeDocument/2006/relationships/chart" Target="../charts/chart59.xml"/><Relationship Id="rId5" Type="http://schemas.openxmlformats.org/officeDocument/2006/relationships/chart" Target="../charts/chart60.xml"/><Relationship Id="rId6" Type="http://schemas.openxmlformats.org/officeDocument/2006/relationships/notesSlide" Target="../notesSlides/notesSlide75.xml"/><Relationship Id="rId7" Type="http://schemas.openxmlformats.org/officeDocument/2006/relationships/image" Target="../media/image2.png"/></Relationships>
</file>

<file path=ppt/slides/_rels/slide10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76.xml"/><Relationship Id="rId4" Type="http://schemas.openxmlformats.org/officeDocument/2006/relationships/image" Target="../media/image2.png"/></Relationships>
</file>

<file path=ppt/slides/_rels/slide10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77.xml"/><Relationship Id="rId4" Type="http://schemas.openxmlformats.org/officeDocument/2006/relationships/image" Target="../media/image2.png"/></Relationships>
</file>

<file path=ppt/slides/_rels/slide10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61.xml"/><Relationship Id="rId4" Type="http://schemas.openxmlformats.org/officeDocument/2006/relationships/notesSlide" Target="../notesSlides/notesSlide78.xml"/><Relationship Id="rId5" Type="http://schemas.openxmlformats.org/officeDocument/2006/relationships/image" Target="../media/image2.png"/></Relationships>
</file>

<file path=ppt/slides/_rels/slide11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79.xml"/><Relationship Id="rId4" Type="http://schemas.openxmlformats.org/officeDocument/2006/relationships/image" Target="../media/image2.png"/></Relationships>
</file>

<file path=ppt/slides/_rels/slide11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80.xml"/><Relationship Id="rId4" Type="http://schemas.openxmlformats.org/officeDocument/2006/relationships/image" Target="../media/image2.png"/></Relationships>
</file>

<file path=ppt/slides/_rels/slide11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1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81.xml"/><Relationship Id="rId4" Type="http://schemas.openxmlformats.org/officeDocument/2006/relationships/image" Target="../media/image413.png"/><Relationship Id="rId5" Type="http://schemas.openxmlformats.org/officeDocument/2006/relationships/image" Target="../media/image414.png"/><Relationship Id="rId6" Type="http://schemas.openxmlformats.org/officeDocument/2006/relationships/image" Target="../media/image72.png"/><Relationship Id="rId7" Type="http://schemas.openxmlformats.org/officeDocument/2006/relationships/image" Target="../media/image415.png"/><Relationship Id="rId8" Type="http://schemas.openxmlformats.org/officeDocument/2006/relationships/image" Target="../media/image416.png"/><Relationship Id="rId9" Type="http://schemas.openxmlformats.org/officeDocument/2006/relationships/image" Target="../media/image85.png"/><Relationship Id="rId10" Type="http://schemas.openxmlformats.org/officeDocument/2006/relationships/image" Target="../media/image417.png"/><Relationship Id="rId11" Type="http://schemas.openxmlformats.org/officeDocument/2006/relationships/image" Target="../media/image418.png"/><Relationship Id="rId12" Type="http://schemas.openxmlformats.org/officeDocument/2006/relationships/image" Target="../media/image221.png"/><Relationship Id="rId13" Type="http://schemas.openxmlformats.org/officeDocument/2006/relationships/image" Target="../media/image419.png"/><Relationship Id="rId14" Type="http://schemas.openxmlformats.org/officeDocument/2006/relationships/image" Target="../media/image420.png"/><Relationship Id="rId15" Type="http://schemas.openxmlformats.org/officeDocument/2006/relationships/image" Target="../media/image2.png"/></Relationships>
</file>

<file path=ppt/slides/_rels/slide11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62.xml"/><Relationship Id="rId4" Type="http://schemas.openxmlformats.org/officeDocument/2006/relationships/chart" Target="../charts/chart63.xml"/><Relationship Id="rId5" Type="http://schemas.openxmlformats.org/officeDocument/2006/relationships/notesSlide" Target="../notesSlides/notesSlide82.xml"/><Relationship Id="rId6" Type="http://schemas.openxmlformats.org/officeDocument/2006/relationships/image" Target="../media/image2.png"/></Relationships>
</file>

<file path=ppt/slides/_rels/slide11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64.xml"/><Relationship Id="rId4" Type="http://schemas.openxmlformats.org/officeDocument/2006/relationships/chart" Target="../charts/chart65.xml"/><Relationship Id="rId5" Type="http://schemas.openxmlformats.org/officeDocument/2006/relationships/chart" Target="../charts/chart66.xml"/><Relationship Id="rId6" Type="http://schemas.openxmlformats.org/officeDocument/2006/relationships/chart" Target="../charts/chart67.xml"/><Relationship Id="rId7" Type="http://schemas.openxmlformats.org/officeDocument/2006/relationships/notesSlide" Target="../notesSlides/notesSlide83.xml"/><Relationship Id="rId8" Type="http://schemas.openxmlformats.org/officeDocument/2006/relationships/image" Target="../media/image2.png"/></Relationships>
</file>

<file path=ppt/slides/_rels/slide11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84.xml"/><Relationship Id="rId4" Type="http://schemas.openxmlformats.org/officeDocument/2006/relationships/image" Target="../media/image2.png"/></Relationships>
</file>

<file path=ppt/slides/_rels/slide11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85.xml"/><Relationship Id="rId4" Type="http://schemas.openxmlformats.org/officeDocument/2006/relationships/image" Target="../media/image2.png"/></Relationships>
</file>

<file path=ppt/slides/_rels/slide11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68.xml"/><Relationship Id="rId4" Type="http://schemas.openxmlformats.org/officeDocument/2006/relationships/notesSlide" Target="../notesSlides/notesSlide86.xml"/><Relationship Id="rId5" Type="http://schemas.openxmlformats.org/officeDocument/2006/relationships/image" Target="../media/image2.png"/></Relationships>
</file>

<file path=ppt/slides/_rels/slide11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87.xml"/><Relationship Id="rId4" Type="http://schemas.openxmlformats.org/officeDocument/2006/relationships/image" Target="../media/image2.png"/></Relationships>
</file>

<file path=ppt/slides/_rels/slide12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88.xml"/><Relationship Id="rId4" Type="http://schemas.openxmlformats.org/officeDocument/2006/relationships/image" Target="../media/image2.png"/></Relationships>
</file>

<file path=ppt/slides/_rels/slide12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2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89.xml"/><Relationship Id="rId4" Type="http://schemas.openxmlformats.org/officeDocument/2006/relationships/image" Target="../media/image433.png"/><Relationship Id="rId5" Type="http://schemas.openxmlformats.org/officeDocument/2006/relationships/image" Target="../media/image434.png"/><Relationship Id="rId6" Type="http://schemas.openxmlformats.org/officeDocument/2006/relationships/image" Target="../media/image129.png"/><Relationship Id="rId7" Type="http://schemas.openxmlformats.org/officeDocument/2006/relationships/image" Target="../media/image435.png"/><Relationship Id="rId8" Type="http://schemas.openxmlformats.org/officeDocument/2006/relationships/image" Target="../media/image436.png"/><Relationship Id="rId9" Type="http://schemas.openxmlformats.org/officeDocument/2006/relationships/image" Target="../media/image75.png"/><Relationship Id="rId10" Type="http://schemas.openxmlformats.org/officeDocument/2006/relationships/image" Target="../media/image437.png"/><Relationship Id="rId11" Type="http://schemas.openxmlformats.org/officeDocument/2006/relationships/image" Target="../media/image438.png"/><Relationship Id="rId12" Type="http://schemas.openxmlformats.org/officeDocument/2006/relationships/image" Target="../media/image439.png"/><Relationship Id="rId13" Type="http://schemas.openxmlformats.org/officeDocument/2006/relationships/image" Target="../media/image440.png"/><Relationship Id="rId14" Type="http://schemas.openxmlformats.org/officeDocument/2006/relationships/image" Target="../media/image441.png"/><Relationship Id="rId15" Type="http://schemas.openxmlformats.org/officeDocument/2006/relationships/image" Target="../media/image72.png"/><Relationship Id="rId16" Type="http://schemas.openxmlformats.org/officeDocument/2006/relationships/image" Target="../media/image442.png"/><Relationship Id="rId17" Type="http://schemas.openxmlformats.org/officeDocument/2006/relationships/image" Target="../media/image443.png"/><Relationship Id="rId18" Type="http://schemas.openxmlformats.org/officeDocument/2006/relationships/image" Target="../media/image2.png"/></Relationships>
</file>

<file path=ppt/slides/_rels/slide12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69.xml"/><Relationship Id="rId4" Type="http://schemas.openxmlformats.org/officeDocument/2006/relationships/chart" Target="../charts/chart70.xml"/><Relationship Id="rId5" Type="http://schemas.openxmlformats.org/officeDocument/2006/relationships/notesSlide" Target="../notesSlides/notesSlide90.xml"/><Relationship Id="rId6" Type="http://schemas.openxmlformats.org/officeDocument/2006/relationships/image" Target="../media/image2.png"/></Relationships>
</file>

<file path=ppt/slides/_rels/slide12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71.xml"/><Relationship Id="rId4" Type="http://schemas.openxmlformats.org/officeDocument/2006/relationships/chart" Target="../charts/chart72.xml"/><Relationship Id="rId5" Type="http://schemas.openxmlformats.org/officeDocument/2006/relationships/chart" Target="../charts/chart73.xml"/><Relationship Id="rId6" Type="http://schemas.openxmlformats.org/officeDocument/2006/relationships/chart" Target="../charts/chart74.xml"/><Relationship Id="rId7" Type="http://schemas.openxmlformats.org/officeDocument/2006/relationships/notesSlide" Target="../notesSlides/notesSlide91.xml"/><Relationship Id="rId8" Type="http://schemas.openxmlformats.org/officeDocument/2006/relationships/image" Target="../media/image2.png"/></Relationships>
</file>

<file path=ppt/slides/_rels/slide12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75.xml"/><Relationship Id="rId4" Type="http://schemas.openxmlformats.org/officeDocument/2006/relationships/notesSlide" Target="../notesSlides/notesSlide92.xml"/><Relationship Id="rId5" Type="http://schemas.openxmlformats.org/officeDocument/2006/relationships/image" Target="../media/image2.png"/></Relationships>
</file>

<file path=ppt/slides/_rels/slide12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93.xml"/><Relationship Id="rId4" Type="http://schemas.openxmlformats.org/officeDocument/2006/relationships/image" Target="../media/image2.png"/></Relationships>
</file>

<file path=ppt/slides/_rels/slide12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94.xml"/><Relationship Id="rId4" Type="http://schemas.openxmlformats.org/officeDocument/2006/relationships/image" Target="../media/image2.png"/></Relationships>
</file>

<file path=ppt/slides/_rels/slide12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76.xml"/><Relationship Id="rId4" Type="http://schemas.openxmlformats.org/officeDocument/2006/relationships/notesSlide" Target="../notesSlides/notesSlide95.xml"/><Relationship Id="rId5" Type="http://schemas.openxmlformats.org/officeDocument/2006/relationships/image" Target="../media/image2.png"/></Relationships>
</file>

<file path=ppt/slides/_rels/slide12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96.xml"/><Relationship Id="rId4" Type="http://schemas.openxmlformats.org/officeDocument/2006/relationships/image" Target="../media/image2.png"/></Relationships>
</file>

<file path=ppt/slides/_rels/slide13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97.xml"/><Relationship Id="rId4" Type="http://schemas.openxmlformats.org/officeDocument/2006/relationships/image" Target="../media/image2.png"/></Relationships>
</file>

<file path=ppt/slides/_rels/slide13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3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3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98.xml"/><Relationship Id="rId4" Type="http://schemas.openxmlformats.org/officeDocument/2006/relationships/image" Target="../media/image2.png"/></Relationships>
</file>

<file path=ppt/slides/_rels/slide13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77.xml"/><Relationship Id="rId4" Type="http://schemas.openxmlformats.org/officeDocument/2006/relationships/notesSlide" Target="../notesSlides/notesSlide99.xml"/><Relationship Id="rId5" Type="http://schemas.openxmlformats.org/officeDocument/2006/relationships/image" Target="../media/image2.png"/></Relationships>
</file>

<file path=ppt/slides/_rels/slide13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00.xml"/><Relationship Id="rId4" Type="http://schemas.openxmlformats.org/officeDocument/2006/relationships/image" Target="../media/image2.png"/></Relationships>
</file>

<file path=ppt/slides/_rels/slide13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01.xml"/><Relationship Id="rId4" Type="http://schemas.openxmlformats.org/officeDocument/2006/relationships/image" Target="../media/image2.png"/></Relationships>
</file>

<file path=ppt/slides/_rels/slide13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02.xml"/><Relationship Id="rId4" Type="http://schemas.openxmlformats.org/officeDocument/2006/relationships/image" Target="../media/image456.png"/><Relationship Id="rId5" Type="http://schemas.openxmlformats.org/officeDocument/2006/relationships/image" Target="../media/image457.png"/><Relationship Id="rId6" Type="http://schemas.openxmlformats.org/officeDocument/2006/relationships/image" Target="../media/image458.png"/><Relationship Id="rId7" Type="http://schemas.openxmlformats.org/officeDocument/2006/relationships/image" Target="../media/image459.png"/><Relationship Id="rId8" Type="http://schemas.openxmlformats.org/officeDocument/2006/relationships/image" Target="../media/image460.png"/><Relationship Id="rId9" Type="http://schemas.openxmlformats.org/officeDocument/2006/relationships/image" Target="../media/image2.png"/></Relationships>
</file>

<file path=ppt/slides/_rels/slide13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03.xml"/><Relationship Id="rId4" Type="http://schemas.openxmlformats.org/officeDocument/2006/relationships/image" Target="../media/image2.png"/></Relationships>
</file>

<file path=ppt/slides/_rels/slide13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4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04.xml"/><Relationship Id="rId4" Type="http://schemas.openxmlformats.org/officeDocument/2006/relationships/image" Target="../media/image2.png"/></Relationships>
</file>

<file path=ppt/slides/_rels/slide14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78.xml"/><Relationship Id="rId4" Type="http://schemas.openxmlformats.org/officeDocument/2006/relationships/notesSlide" Target="../notesSlides/notesSlide105.xml"/><Relationship Id="rId5" Type="http://schemas.openxmlformats.org/officeDocument/2006/relationships/image" Target="../media/image461.png"/><Relationship Id="rId6" Type="http://schemas.openxmlformats.org/officeDocument/2006/relationships/image" Target="../media/image462.png"/><Relationship Id="rId7" Type="http://schemas.openxmlformats.org/officeDocument/2006/relationships/image" Target="../media/image463.png"/><Relationship Id="rId8" Type="http://schemas.openxmlformats.org/officeDocument/2006/relationships/image" Target="../media/image464.png"/><Relationship Id="rId9" Type="http://schemas.openxmlformats.org/officeDocument/2006/relationships/image" Target="../media/image465.png"/><Relationship Id="rId10" Type="http://schemas.openxmlformats.org/officeDocument/2006/relationships/image" Target="../media/image466.png"/><Relationship Id="rId11" Type="http://schemas.openxmlformats.org/officeDocument/2006/relationships/image" Target="../media/image467.png"/><Relationship Id="rId12" Type="http://schemas.openxmlformats.org/officeDocument/2006/relationships/image" Target="../media/image468.png"/><Relationship Id="rId13" Type="http://schemas.openxmlformats.org/officeDocument/2006/relationships/image" Target="../media/image469.png"/><Relationship Id="rId14" Type="http://schemas.openxmlformats.org/officeDocument/2006/relationships/image" Target="../media/image470.png"/><Relationship Id="rId15" Type="http://schemas.openxmlformats.org/officeDocument/2006/relationships/image" Target="../media/image471.png"/><Relationship Id="rId16" Type="http://schemas.openxmlformats.org/officeDocument/2006/relationships/image" Target="../media/image472.png"/><Relationship Id="rId17" Type="http://schemas.openxmlformats.org/officeDocument/2006/relationships/image" Target="../media/image473.png"/><Relationship Id="rId18" Type="http://schemas.openxmlformats.org/officeDocument/2006/relationships/image" Target="../media/image474.png"/><Relationship Id="rId19" Type="http://schemas.openxmlformats.org/officeDocument/2006/relationships/image" Target="../media/image2.png"/></Relationships>
</file>

<file path=ppt/slides/_rels/slide14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06.xml"/><Relationship Id="rId4" Type="http://schemas.openxmlformats.org/officeDocument/2006/relationships/image" Target="../media/image2.png"/></Relationships>
</file>

<file path=ppt/slides/_rels/slide14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07.xml"/><Relationship Id="rId4" Type="http://schemas.openxmlformats.org/officeDocument/2006/relationships/image" Target="../media/image2.png"/></Relationships>
</file>

<file path=ppt/slides/_rels/slide14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08.xml"/><Relationship Id="rId4" Type="http://schemas.openxmlformats.org/officeDocument/2006/relationships/image" Target="../media/image2.png"/></Relationships>
</file>

<file path=ppt/slides/_rels/slide14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09.xml"/><Relationship Id="rId4" Type="http://schemas.openxmlformats.org/officeDocument/2006/relationships/image" Target="../media/image2.png"/></Relationships>
</file>

<file path=ppt/slides/_rels/slide14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10.xml"/></Relationships>
</file>

<file path=ppt/slides/_rels/slide14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4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79.xml"/><Relationship Id="rId4" Type="http://schemas.openxmlformats.org/officeDocument/2006/relationships/chart" Target="../charts/chart80.xml"/><Relationship Id="rId5" Type="http://schemas.openxmlformats.org/officeDocument/2006/relationships/chart" Target="../charts/chart81.xml"/><Relationship Id="rId6" Type="http://schemas.openxmlformats.org/officeDocument/2006/relationships/chart" Target="../charts/chart82.xml"/><Relationship Id="rId7" Type="http://schemas.openxmlformats.org/officeDocument/2006/relationships/notesSlide" Target="../notesSlides/notesSlide111.xml"/><Relationship Id="rId8" Type="http://schemas.openxmlformats.org/officeDocument/2006/relationships/image" Target="../media/image2.png"/></Relationships>
</file>

<file path=ppt/slides/_rels/slide14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83.xml"/><Relationship Id="rId4" Type="http://schemas.openxmlformats.org/officeDocument/2006/relationships/chart" Target="../charts/chart84.xml"/><Relationship Id="rId5" Type="http://schemas.openxmlformats.org/officeDocument/2006/relationships/chart" Target="../charts/chart85.xml"/><Relationship Id="rId6" Type="http://schemas.openxmlformats.org/officeDocument/2006/relationships/chart" Target="../charts/chart86.xml"/><Relationship Id="rId7" Type="http://schemas.openxmlformats.org/officeDocument/2006/relationships/notesSlide" Target="../notesSlides/notesSlide112.xml"/><Relationship Id="rId8" Type="http://schemas.openxmlformats.org/officeDocument/2006/relationships/image" Target="../media/image2.png"/></Relationships>
</file>

<file path=ppt/slides/_rels/slide15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87.xml"/><Relationship Id="rId4" Type="http://schemas.openxmlformats.org/officeDocument/2006/relationships/chart" Target="../charts/chart88.xml"/><Relationship Id="rId5" Type="http://schemas.openxmlformats.org/officeDocument/2006/relationships/chart" Target="../charts/chart89.xml"/><Relationship Id="rId6" Type="http://schemas.openxmlformats.org/officeDocument/2006/relationships/chart" Target="../charts/chart90.xml"/><Relationship Id="rId7" Type="http://schemas.openxmlformats.org/officeDocument/2006/relationships/chart" Target="../charts/chart91.xml"/><Relationship Id="rId8" Type="http://schemas.openxmlformats.org/officeDocument/2006/relationships/chart" Target="../charts/chart92.xml"/><Relationship Id="rId9" Type="http://schemas.openxmlformats.org/officeDocument/2006/relationships/chart" Target="../charts/chart93.xml"/><Relationship Id="rId10" Type="http://schemas.openxmlformats.org/officeDocument/2006/relationships/chart" Target="../charts/chart94.xml"/><Relationship Id="rId11" Type="http://schemas.openxmlformats.org/officeDocument/2006/relationships/chart" Target="../charts/chart95.xml"/><Relationship Id="rId12" Type="http://schemas.openxmlformats.org/officeDocument/2006/relationships/chart" Target="../charts/chart96.xml"/><Relationship Id="rId13" Type="http://schemas.openxmlformats.org/officeDocument/2006/relationships/notesSlide" Target="../notesSlides/notesSlide113.xml"/></Relationships>
</file>

<file path=ppt/slides/_rels/slide15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14.xml"/><Relationship Id="rId4" Type="http://schemas.openxmlformats.org/officeDocument/2006/relationships/image" Target="../media/image2.png"/></Relationships>
</file>

<file path=ppt/slides/_rels/slide15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5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5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97.xml"/><Relationship Id="rId4" Type="http://schemas.openxmlformats.org/officeDocument/2006/relationships/chart" Target="../charts/chart98.xml"/><Relationship Id="rId5" Type="http://schemas.openxmlformats.org/officeDocument/2006/relationships/notesSlide" Target="../notesSlides/notesSlide115.xml"/><Relationship Id="rId6" Type="http://schemas.openxmlformats.org/officeDocument/2006/relationships/image" Target="../media/image2.png"/><Relationship Id="rId7" Type="http://schemas.openxmlformats.org/officeDocument/2006/relationships/image" Target="../media/image521.png"/><Relationship Id="rId8" Type="http://schemas.openxmlformats.org/officeDocument/2006/relationships/image" Target="../media/image522.png"/><Relationship Id="rId9" Type="http://schemas.openxmlformats.org/officeDocument/2006/relationships/image" Target="../media/image523.png"/><Relationship Id="rId10" Type="http://schemas.openxmlformats.org/officeDocument/2006/relationships/image" Target="../media/image58.png"/><Relationship Id="rId11" Type="http://schemas.openxmlformats.org/officeDocument/2006/relationships/image" Target="../media/image524.png"/><Relationship Id="rId12" Type="http://schemas.openxmlformats.org/officeDocument/2006/relationships/image" Target="../media/image525.png"/><Relationship Id="rId13" Type="http://schemas.openxmlformats.org/officeDocument/2006/relationships/image" Target="../media/image526.png"/><Relationship Id="rId14" Type="http://schemas.openxmlformats.org/officeDocument/2006/relationships/image" Target="../media/image527.png"/><Relationship Id="rId15" Type="http://schemas.openxmlformats.org/officeDocument/2006/relationships/image" Target="../media/image528.png"/><Relationship Id="rId16" Type="http://schemas.openxmlformats.org/officeDocument/2006/relationships/image" Target="../media/image529.png"/><Relationship Id="rId17" Type="http://schemas.openxmlformats.org/officeDocument/2006/relationships/image" Target="../media/image530.png"/><Relationship Id="rId18" Type="http://schemas.openxmlformats.org/officeDocument/2006/relationships/image" Target="../media/image531.png"/><Relationship Id="rId19" Type="http://schemas.openxmlformats.org/officeDocument/2006/relationships/image" Target="../media/image532.png"/><Relationship Id="rId20" Type="http://schemas.openxmlformats.org/officeDocument/2006/relationships/image" Target="../media/image533.png"/><Relationship Id="rId21" Type="http://schemas.openxmlformats.org/officeDocument/2006/relationships/image" Target="../media/image534.png"/><Relationship Id="rId22" Type="http://schemas.openxmlformats.org/officeDocument/2006/relationships/image" Target="../media/image126.png"/><Relationship Id="rId23" Type="http://schemas.openxmlformats.org/officeDocument/2006/relationships/image" Target="../media/image474.png"/><Relationship Id="rId24" Type="http://schemas.openxmlformats.org/officeDocument/2006/relationships/image" Target="../media/image466.png"/><Relationship Id="rId25" Type="http://schemas.openxmlformats.org/officeDocument/2006/relationships/image" Target="../media/image535.png"/><Relationship Id="rId26" Type="http://schemas.openxmlformats.org/officeDocument/2006/relationships/image" Target="../media/image227.png"/><Relationship Id="rId27" Type="http://schemas.openxmlformats.org/officeDocument/2006/relationships/image" Target="../media/image536.png"/><Relationship Id="rId28" Type="http://schemas.openxmlformats.org/officeDocument/2006/relationships/image" Target="../media/image537.png"/><Relationship Id="rId29" Type="http://schemas.openxmlformats.org/officeDocument/2006/relationships/image" Target="../media/image538.png"/><Relationship Id="rId30" Type="http://schemas.openxmlformats.org/officeDocument/2006/relationships/image" Target="../media/image539.png"/><Relationship Id="rId31" Type="http://schemas.openxmlformats.org/officeDocument/2006/relationships/image" Target="../media/image540.png"/><Relationship Id="rId32" Type="http://schemas.openxmlformats.org/officeDocument/2006/relationships/image" Target="../media/image541.png"/><Relationship Id="rId33" Type="http://schemas.openxmlformats.org/officeDocument/2006/relationships/image" Target="../media/image129.png"/><Relationship Id="rId34" Type="http://schemas.openxmlformats.org/officeDocument/2006/relationships/image" Target="../media/image542.png"/><Relationship Id="rId35" Type="http://schemas.openxmlformats.org/officeDocument/2006/relationships/image" Target="../media/image543.png"/><Relationship Id="rId36" Type="http://schemas.openxmlformats.org/officeDocument/2006/relationships/image" Target="../media/image544.png"/><Relationship Id="rId37" Type="http://schemas.openxmlformats.org/officeDocument/2006/relationships/image" Target="../media/image545.png"/><Relationship Id="rId38" Type="http://schemas.openxmlformats.org/officeDocument/2006/relationships/image" Target="../media/image546.png"/><Relationship Id="rId39" Type="http://schemas.openxmlformats.org/officeDocument/2006/relationships/image" Target="../media/image547.png"/><Relationship Id="rId40" Type="http://schemas.openxmlformats.org/officeDocument/2006/relationships/image" Target="../media/image548.png"/><Relationship Id="rId41" Type="http://schemas.openxmlformats.org/officeDocument/2006/relationships/image" Target="../media/image549.png"/><Relationship Id="rId42" Type="http://schemas.openxmlformats.org/officeDocument/2006/relationships/image" Target="../media/image470.png"/><Relationship Id="rId43" Type="http://schemas.openxmlformats.org/officeDocument/2006/relationships/image" Target="../media/image550.png"/><Relationship Id="rId44" Type="http://schemas.openxmlformats.org/officeDocument/2006/relationships/image" Target="../media/image551.png"/><Relationship Id="rId45" Type="http://schemas.openxmlformats.org/officeDocument/2006/relationships/image" Target="../media/image552.png"/><Relationship Id="rId46" Type="http://schemas.openxmlformats.org/officeDocument/2006/relationships/image" Target="../media/image553.png"/><Relationship Id="rId47" Type="http://schemas.openxmlformats.org/officeDocument/2006/relationships/image" Target="../media/image69.png"/></Relationships>
</file>

<file path=ppt/slides/_rels/slide15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16.xml"/><Relationship Id="rId4" Type="http://schemas.openxmlformats.org/officeDocument/2006/relationships/image" Target="../media/image2.png"/></Relationships>
</file>

<file path=ppt/slides/_rels/slide15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17.xml"/><Relationship Id="rId4" Type="http://schemas.openxmlformats.org/officeDocument/2006/relationships/image" Target="../media/image2.png"/></Relationships>
</file>

<file path=ppt/slides/_rels/slide15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5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99.xml"/><Relationship Id="rId4" Type="http://schemas.openxmlformats.org/officeDocument/2006/relationships/chart" Target="../charts/chart100.xml"/><Relationship Id="rId5" Type="http://schemas.openxmlformats.org/officeDocument/2006/relationships/notesSlide" Target="../notesSlides/notesSlide118.xml"/><Relationship Id="rId6" Type="http://schemas.openxmlformats.org/officeDocument/2006/relationships/image" Target="../media/image2.png"/><Relationship Id="rId7" Type="http://schemas.openxmlformats.org/officeDocument/2006/relationships/image" Target="../media/image554.png"/><Relationship Id="rId8" Type="http://schemas.openxmlformats.org/officeDocument/2006/relationships/image" Target="../media/image555.png"/><Relationship Id="rId9" Type="http://schemas.openxmlformats.org/officeDocument/2006/relationships/image" Target="../media/image556.png"/><Relationship Id="rId10" Type="http://schemas.openxmlformats.org/officeDocument/2006/relationships/image" Target="../media/image134.png"/><Relationship Id="rId11" Type="http://schemas.openxmlformats.org/officeDocument/2006/relationships/image" Target="../media/image557.png"/><Relationship Id="rId12" Type="http://schemas.openxmlformats.org/officeDocument/2006/relationships/image" Target="../media/image558.png"/><Relationship Id="rId13" Type="http://schemas.openxmlformats.org/officeDocument/2006/relationships/image" Target="../media/image559.png"/><Relationship Id="rId14" Type="http://schemas.openxmlformats.org/officeDocument/2006/relationships/image" Target="../media/image144.png"/><Relationship Id="rId15" Type="http://schemas.openxmlformats.org/officeDocument/2006/relationships/image" Target="../media/image560.png"/><Relationship Id="rId16" Type="http://schemas.openxmlformats.org/officeDocument/2006/relationships/image" Target="../media/image561.png"/><Relationship Id="rId17" Type="http://schemas.openxmlformats.org/officeDocument/2006/relationships/image" Target="../media/image562.png"/><Relationship Id="rId18" Type="http://schemas.openxmlformats.org/officeDocument/2006/relationships/image" Target="../media/image563.png"/><Relationship Id="rId19" Type="http://schemas.openxmlformats.org/officeDocument/2006/relationships/image" Target="../media/image564.png"/><Relationship Id="rId20" Type="http://schemas.openxmlformats.org/officeDocument/2006/relationships/image" Target="../media/image565.png"/><Relationship Id="rId21" Type="http://schemas.openxmlformats.org/officeDocument/2006/relationships/image" Target="../media/image150.png"/><Relationship Id="rId22" Type="http://schemas.openxmlformats.org/officeDocument/2006/relationships/image" Target="../media/image566.png"/><Relationship Id="rId23" Type="http://schemas.openxmlformats.org/officeDocument/2006/relationships/image" Target="../media/image567.png"/><Relationship Id="rId24" Type="http://schemas.openxmlformats.org/officeDocument/2006/relationships/image" Target="../media/image568.png"/><Relationship Id="rId25" Type="http://schemas.openxmlformats.org/officeDocument/2006/relationships/image" Target="../media/image569.png"/><Relationship Id="rId26" Type="http://schemas.openxmlformats.org/officeDocument/2006/relationships/image" Target="../media/image570.png"/><Relationship Id="rId27" Type="http://schemas.openxmlformats.org/officeDocument/2006/relationships/image" Target="../media/image571.png"/></Relationships>
</file>

<file path=ppt/slides/_rels/slide15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19.xml"/><Relationship Id="rId4" Type="http://schemas.openxmlformats.org/officeDocument/2006/relationships/image" Target="../media/image2.png"/></Relationships>
</file>

<file path=ppt/slides/_rels/slide16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20.xml"/><Relationship Id="rId4" Type="http://schemas.openxmlformats.org/officeDocument/2006/relationships/image" Target="../media/image2.png"/></Relationships>
</file>

<file path=ppt/slides/_rels/slide16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6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01.xml"/><Relationship Id="rId4" Type="http://schemas.openxmlformats.org/officeDocument/2006/relationships/chart" Target="../charts/chart102.xml"/><Relationship Id="rId5" Type="http://schemas.openxmlformats.org/officeDocument/2006/relationships/notesSlide" Target="../notesSlides/notesSlide121.xml"/><Relationship Id="rId6" Type="http://schemas.openxmlformats.org/officeDocument/2006/relationships/image" Target="../media/image2.png"/><Relationship Id="rId7" Type="http://schemas.openxmlformats.org/officeDocument/2006/relationships/image" Target="../media/image572.png"/><Relationship Id="rId8" Type="http://schemas.openxmlformats.org/officeDocument/2006/relationships/image" Target="../media/image573.png"/><Relationship Id="rId9" Type="http://schemas.openxmlformats.org/officeDocument/2006/relationships/image" Target="../media/image559.png"/><Relationship Id="rId10" Type="http://schemas.openxmlformats.org/officeDocument/2006/relationships/image" Target="../media/image144.png"/><Relationship Id="rId11" Type="http://schemas.openxmlformats.org/officeDocument/2006/relationships/image" Target="../media/image574.png"/><Relationship Id="rId12" Type="http://schemas.openxmlformats.org/officeDocument/2006/relationships/image" Target="../media/image575.png"/><Relationship Id="rId13" Type="http://schemas.openxmlformats.org/officeDocument/2006/relationships/image" Target="../media/image576.png"/><Relationship Id="rId14" Type="http://schemas.openxmlformats.org/officeDocument/2006/relationships/image" Target="../media/image577.png"/><Relationship Id="rId15" Type="http://schemas.openxmlformats.org/officeDocument/2006/relationships/image" Target="../media/image578.png"/><Relationship Id="rId16" Type="http://schemas.openxmlformats.org/officeDocument/2006/relationships/image" Target="../media/image525.png"/><Relationship Id="rId17" Type="http://schemas.openxmlformats.org/officeDocument/2006/relationships/image" Target="../media/image579.png"/><Relationship Id="rId18" Type="http://schemas.openxmlformats.org/officeDocument/2006/relationships/image" Target="../media/image533.png"/><Relationship Id="rId19" Type="http://schemas.openxmlformats.org/officeDocument/2006/relationships/image" Target="../media/image129.png"/><Relationship Id="rId20" Type="http://schemas.openxmlformats.org/officeDocument/2006/relationships/image" Target="../media/image80.png"/><Relationship Id="rId21" Type="http://schemas.openxmlformats.org/officeDocument/2006/relationships/image" Target="../media/image580.png"/><Relationship Id="rId22" Type="http://schemas.openxmlformats.org/officeDocument/2006/relationships/image" Target="../media/image581.png"/><Relationship Id="rId23" Type="http://schemas.openxmlformats.org/officeDocument/2006/relationships/image" Target="../media/image582.png"/><Relationship Id="rId24" Type="http://schemas.openxmlformats.org/officeDocument/2006/relationships/image" Target="../media/image583.png"/><Relationship Id="rId25" Type="http://schemas.openxmlformats.org/officeDocument/2006/relationships/image" Target="../media/image584.png"/><Relationship Id="rId26" Type="http://schemas.openxmlformats.org/officeDocument/2006/relationships/image" Target="../media/image58.png"/><Relationship Id="rId27" Type="http://schemas.openxmlformats.org/officeDocument/2006/relationships/image" Target="../media/image585.png"/><Relationship Id="rId28" Type="http://schemas.openxmlformats.org/officeDocument/2006/relationships/image" Target="../media/image586.png"/><Relationship Id="rId29" Type="http://schemas.openxmlformats.org/officeDocument/2006/relationships/image" Target="../media/image587.png"/><Relationship Id="rId30" Type="http://schemas.openxmlformats.org/officeDocument/2006/relationships/image" Target="../media/image126.png"/><Relationship Id="rId31" Type="http://schemas.openxmlformats.org/officeDocument/2006/relationships/image" Target="../media/image531.png"/><Relationship Id="rId32" Type="http://schemas.openxmlformats.org/officeDocument/2006/relationships/image" Target="../media/image588.png"/><Relationship Id="rId33" Type="http://schemas.openxmlformats.org/officeDocument/2006/relationships/image" Target="../media/image589.png"/><Relationship Id="rId34" Type="http://schemas.openxmlformats.org/officeDocument/2006/relationships/image" Target="../media/image139.png"/><Relationship Id="rId35" Type="http://schemas.openxmlformats.org/officeDocument/2006/relationships/image" Target="../media/image590.png"/><Relationship Id="rId36" Type="http://schemas.openxmlformats.org/officeDocument/2006/relationships/image" Target="../media/image591.png"/><Relationship Id="rId37" Type="http://schemas.openxmlformats.org/officeDocument/2006/relationships/image" Target="../media/image69.png"/><Relationship Id="rId38" Type="http://schemas.openxmlformats.org/officeDocument/2006/relationships/image" Target="../media/image592.png"/><Relationship Id="rId39" Type="http://schemas.openxmlformats.org/officeDocument/2006/relationships/image" Target="../media/image593.png"/><Relationship Id="rId40" Type="http://schemas.openxmlformats.org/officeDocument/2006/relationships/image" Target="../media/image594.png"/><Relationship Id="rId41" Type="http://schemas.openxmlformats.org/officeDocument/2006/relationships/image" Target="../media/image595.png"/><Relationship Id="rId42" Type="http://schemas.openxmlformats.org/officeDocument/2006/relationships/image" Target="../media/image596.png"/><Relationship Id="rId43" Type="http://schemas.openxmlformats.org/officeDocument/2006/relationships/image" Target="../media/image597.png"/><Relationship Id="rId44" Type="http://schemas.openxmlformats.org/officeDocument/2006/relationships/image" Target="../media/image123.png"/><Relationship Id="rId45" Type="http://schemas.openxmlformats.org/officeDocument/2006/relationships/image" Target="../media/image544.png"/><Relationship Id="rId46" Type="http://schemas.openxmlformats.org/officeDocument/2006/relationships/image" Target="../media/image560.png"/><Relationship Id="rId47" Type="http://schemas.openxmlformats.org/officeDocument/2006/relationships/image" Target="../media/image598.png"/><Relationship Id="rId48" Type="http://schemas.openxmlformats.org/officeDocument/2006/relationships/image" Target="../media/image221.png"/><Relationship Id="rId49" Type="http://schemas.openxmlformats.org/officeDocument/2006/relationships/image" Target="../media/image599.png"/><Relationship Id="rId50" Type="http://schemas.openxmlformats.org/officeDocument/2006/relationships/image" Target="../media/image75.png"/><Relationship Id="rId51" Type="http://schemas.openxmlformats.org/officeDocument/2006/relationships/image" Target="../media/image600.png"/><Relationship Id="rId52" Type="http://schemas.openxmlformats.org/officeDocument/2006/relationships/image" Target="../media/image601.png"/><Relationship Id="rId53" Type="http://schemas.openxmlformats.org/officeDocument/2006/relationships/image" Target="../media/image602.png"/><Relationship Id="rId54" Type="http://schemas.openxmlformats.org/officeDocument/2006/relationships/image" Target="../media/image134.png"/><Relationship Id="rId55" Type="http://schemas.openxmlformats.org/officeDocument/2006/relationships/image" Target="../media/image603.png"/><Relationship Id="rId56" Type="http://schemas.openxmlformats.org/officeDocument/2006/relationships/image" Target="../media/image604.png"/><Relationship Id="rId57" Type="http://schemas.openxmlformats.org/officeDocument/2006/relationships/image" Target="../media/image549.png"/><Relationship Id="rId58" Type="http://schemas.openxmlformats.org/officeDocument/2006/relationships/image" Target="../media/image605.png"/><Relationship Id="rId59" Type="http://schemas.openxmlformats.org/officeDocument/2006/relationships/image" Target="../media/image606.png"/><Relationship Id="rId60" Type="http://schemas.openxmlformats.org/officeDocument/2006/relationships/image" Target="../media/image607.png"/><Relationship Id="rId61" Type="http://schemas.openxmlformats.org/officeDocument/2006/relationships/image" Target="../media/image608.png"/></Relationships>
</file>

<file path=ppt/slides/_rels/slide16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22.xml"/><Relationship Id="rId4" Type="http://schemas.openxmlformats.org/officeDocument/2006/relationships/image" Target="../media/image2.png"/></Relationships>
</file>

<file path=ppt/slides/_rels/slide16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23.xml"/><Relationship Id="rId4" Type="http://schemas.openxmlformats.org/officeDocument/2006/relationships/image" Target="../media/image2.png"/></Relationships>
</file>

<file path=ppt/slides/_rels/slide16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24.xml"/><Relationship Id="rId4" Type="http://schemas.openxmlformats.org/officeDocument/2006/relationships/image" Target="../media/image2.png"/></Relationships>
</file>

<file path=ppt/slides/_rels/slide16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6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03.xml"/><Relationship Id="rId4" Type="http://schemas.openxmlformats.org/officeDocument/2006/relationships/chart" Target="../charts/chart104.xml"/><Relationship Id="rId5" Type="http://schemas.openxmlformats.org/officeDocument/2006/relationships/notesSlide" Target="../notesSlides/notesSlide125.xml"/><Relationship Id="rId6" Type="http://schemas.openxmlformats.org/officeDocument/2006/relationships/image" Target="../media/image2.png"/><Relationship Id="rId7" Type="http://schemas.openxmlformats.org/officeDocument/2006/relationships/image" Target="../media/image595.png"/><Relationship Id="rId8" Type="http://schemas.openxmlformats.org/officeDocument/2006/relationships/image" Target="../media/image609.png"/><Relationship Id="rId9" Type="http://schemas.openxmlformats.org/officeDocument/2006/relationships/image" Target="../media/image610.png"/><Relationship Id="rId10" Type="http://schemas.openxmlformats.org/officeDocument/2006/relationships/image" Target="../media/image139.png"/><Relationship Id="rId11" Type="http://schemas.openxmlformats.org/officeDocument/2006/relationships/image" Target="../media/image611.png"/><Relationship Id="rId12" Type="http://schemas.openxmlformats.org/officeDocument/2006/relationships/image" Target="../media/image612.png"/><Relationship Id="rId13" Type="http://schemas.openxmlformats.org/officeDocument/2006/relationships/image" Target="../media/image613.png"/><Relationship Id="rId14" Type="http://schemas.openxmlformats.org/officeDocument/2006/relationships/image" Target="../media/image75.png"/><Relationship Id="rId15" Type="http://schemas.openxmlformats.org/officeDocument/2006/relationships/image" Target="../media/image614.png"/><Relationship Id="rId16" Type="http://schemas.openxmlformats.org/officeDocument/2006/relationships/image" Target="../media/image615.png"/><Relationship Id="rId17" Type="http://schemas.openxmlformats.org/officeDocument/2006/relationships/image" Target="../media/image616.png"/><Relationship Id="rId18" Type="http://schemas.openxmlformats.org/officeDocument/2006/relationships/image" Target="../media/image72.png"/><Relationship Id="rId19" Type="http://schemas.openxmlformats.org/officeDocument/2006/relationships/image" Target="../media/image617.png"/><Relationship Id="rId20" Type="http://schemas.openxmlformats.org/officeDocument/2006/relationships/image" Target="../media/image618.png"/><Relationship Id="rId21" Type="http://schemas.openxmlformats.org/officeDocument/2006/relationships/image" Target="../media/image619.png"/><Relationship Id="rId22" Type="http://schemas.openxmlformats.org/officeDocument/2006/relationships/image" Target="../media/image53.png"/><Relationship Id="rId23" Type="http://schemas.openxmlformats.org/officeDocument/2006/relationships/image" Target="../media/image620.png"/><Relationship Id="rId24" Type="http://schemas.openxmlformats.org/officeDocument/2006/relationships/image" Target="../media/image621.png"/><Relationship Id="rId25" Type="http://schemas.openxmlformats.org/officeDocument/2006/relationships/image" Target="../media/image622.png"/><Relationship Id="rId26" Type="http://schemas.openxmlformats.org/officeDocument/2006/relationships/image" Target="../media/image623.png"/><Relationship Id="rId27" Type="http://schemas.openxmlformats.org/officeDocument/2006/relationships/image" Target="../media/image600.png"/><Relationship Id="rId28" Type="http://schemas.openxmlformats.org/officeDocument/2006/relationships/image" Target="../media/image529.png"/><Relationship Id="rId29" Type="http://schemas.openxmlformats.org/officeDocument/2006/relationships/image" Target="../media/image624.png"/><Relationship Id="rId30" Type="http://schemas.openxmlformats.org/officeDocument/2006/relationships/image" Target="../media/image539.png"/><Relationship Id="rId31" Type="http://schemas.openxmlformats.org/officeDocument/2006/relationships/image" Target="../media/image625.png"/><Relationship Id="rId32" Type="http://schemas.openxmlformats.org/officeDocument/2006/relationships/image" Target="../media/image581.png"/><Relationship Id="rId33" Type="http://schemas.openxmlformats.org/officeDocument/2006/relationships/image" Target="../media/image626.png"/><Relationship Id="rId34" Type="http://schemas.openxmlformats.org/officeDocument/2006/relationships/image" Target="../media/image594.png"/><Relationship Id="rId35" Type="http://schemas.openxmlformats.org/officeDocument/2006/relationships/image" Target="../media/image627.png"/><Relationship Id="rId36" Type="http://schemas.openxmlformats.org/officeDocument/2006/relationships/image" Target="../media/image574.png"/><Relationship Id="rId37" Type="http://schemas.openxmlformats.org/officeDocument/2006/relationships/image" Target="../media/image628.png"/><Relationship Id="rId38" Type="http://schemas.openxmlformats.org/officeDocument/2006/relationships/image" Target="../media/image629.png"/><Relationship Id="rId39" Type="http://schemas.openxmlformats.org/officeDocument/2006/relationships/image" Target="../media/image630.png"/><Relationship Id="rId40" Type="http://schemas.openxmlformats.org/officeDocument/2006/relationships/image" Target="../media/image631.png"/><Relationship Id="rId41" Type="http://schemas.openxmlformats.org/officeDocument/2006/relationships/image" Target="../media/image632.png"/><Relationship Id="rId42" Type="http://schemas.openxmlformats.org/officeDocument/2006/relationships/image" Target="../media/image633.png"/><Relationship Id="rId43" Type="http://schemas.openxmlformats.org/officeDocument/2006/relationships/image" Target="../media/image634.png"/><Relationship Id="rId44" Type="http://schemas.openxmlformats.org/officeDocument/2006/relationships/image" Target="../media/image635.png"/><Relationship Id="rId45" Type="http://schemas.openxmlformats.org/officeDocument/2006/relationships/image" Target="../media/image636.png"/><Relationship Id="rId46" Type="http://schemas.openxmlformats.org/officeDocument/2006/relationships/image" Target="../media/image637.png"/><Relationship Id="rId47" Type="http://schemas.openxmlformats.org/officeDocument/2006/relationships/image" Target="../media/image85.png"/><Relationship Id="rId48" Type="http://schemas.openxmlformats.org/officeDocument/2006/relationships/image" Target="../media/image638.png"/><Relationship Id="rId49" Type="http://schemas.openxmlformats.org/officeDocument/2006/relationships/image" Target="../media/image551.png"/><Relationship Id="rId50" Type="http://schemas.openxmlformats.org/officeDocument/2006/relationships/image" Target="../media/image639.png"/><Relationship Id="rId51" Type="http://schemas.openxmlformats.org/officeDocument/2006/relationships/image" Target="../media/image640.png"/><Relationship Id="rId52" Type="http://schemas.openxmlformats.org/officeDocument/2006/relationships/image" Target="../media/image583.png"/><Relationship Id="rId53" Type="http://schemas.openxmlformats.org/officeDocument/2006/relationships/image" Target="../media/image601.png"/><Relationship Id="rId54" Type="http://schemas.openxmlformats.org/officeDocument/2006/relationships/image" Target="../media/image641.png"/><Relationship Id="rId55" Type="http://schemas.openxmlformats.org/officeDocument/2006/relationships/image" Target="../media/image69.png"/><Relationship Id="rId56" Type="http://schemas.openxmlformats.org/officeDocument/2006/relationships/image" Target="../media/image47.png"/><Relationship Id="rId57" Type="http://schemas.openxmlformats.org/officeDocument/2006/relationships/image" Target="../media/image80.png"/><Relationship Id="rId58" Type="http://schemas.openxmlformats.org/officeDocument/2006/relationships/image" Target="../media/image642.png"/></Relationships>
</file>

<file path=ppt/slides/_rels/slide16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26.xml"/><Relationship Id="rId4" Type="http://schemas.openxmlformats.org/officeDocument/2006/relationships/image" Target="../media/image2.png"/></Relationships>
</file>

<file path=ppt/slides/_rels/slide16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27.xml"/><Relationship Id="rId4" Type="http://schemas.openxmlformats.org/officeDocument/2006/relationships/image" Target="../media/image2.png"/></Relationships>
</file>

<file path=ppt/slides/_rels/slide17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7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05.xml"/><Relationship Id="rId4" Type="http://schemas.openxmlformats.org/officeDocument/2006/relationships/chart" Target="../charts/chart106.xml"/><Relationship Id="rId5" Type="http://schemas.openxmlformats.org/officeDocument/2006/relationships/notesSlide" Target="../notesSlides/notesSlide128.xml"/><Relationship Id="rId6" Type="http://schemas.openxmlformats.org/officeDocument/2006/relationships/image" Target="../media/image2.png"/><Relationship Id="rId7" Type="http://schemas.openxmlformats.org/officeDocument/2006/relationships/image" Target="../media/image643.png"/><Relationship Id="rId8" Type="http://schemas.openxmlformats.org/officeDocument/2006/relationships/image" Target="../media/image644.png"/><Relationship Id="rId9" Type="http://schemas.openxmlformats.org/officeDocument/2006/relationships/image" Target="../media/image645.png"/><Relationship Id="rId10" Type="http://schemas.openxmlformats.org/officeDocument/2006/relationships/image" Target="../media/image69.png"/><Relationship Id="rId11" Type="http://schemas.openxmlformats.org/officeDocument/2006/relationships/image" Target="../media/image646.png"/><Relationship Id="rId12" Type="http://schemas.openxmlformats.org/officeDocument/2006/relationships/image" Target="../media/image593.png"/><Relationship Id="rId13" Type="http://schemas.openxmlformats.org/officeDocument/2006/relationships/image" Target="../media/image227.png"/><Relationship Id="rId14" Type="http://schemas.openxmlformats.org/officeDocument/2006/relationships/image" Target="../media/image647.png"/><Relationship Id="rId15" Type="http://schemas.openxmlformats.org/officeDocument/2006/relationships/image" Target="../media/image648.png"/><Relationship Id="rId16" Type="http://schemas.openxmlformats.org/officeDocument/2006/relationships/image" Target="../media/image649.png"/><Relationship Id="rId17" Type="http://schemas.openxmlformats.org/officeDocument/2006/relationships/image" Target="../media/image577.png"/><Relationship Id="rId18" Type="http://schemas.openxmlformats.org/officeDocument/2006/relationships/image" Target="../media/image650.png"/><Relationship Id="rId19" Type="http://schemas.openxmlformats.org/officeDocument/2006/relationships/image" Target="../media/image651.png"/><Relationship Id="rId20" Type="http://schemas.openxmlformats.org/officeDocument/2006/relationships/image" Target="../media/image126.png"/></Relationships>
</file>

<file path=ppt/slides/_rels/slide17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29.xml"/><Relationship Id="rId4" Type="http://schemas.openxmlformats.org/officeDocument/2006/relationships/image" Target="../media/image2.png"/></Relationships>
</file>

<file path=ppt/slides/_rels/slide17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30.xml"/><Relationship Id="rId4" Type="http://schemas.openxmlformats.org/officeDocument/2006/relationships/image" Target="../media/image388.png"/><Relationship Id="rId5" Type="http://schemas.openxmlformats.org/officeDocument/2006/relationships/image" Target="../media/image652.png"/><Relationship Id="rId6" Type="http://schemas.openxmlformats.org/officeDocument/2006/relationships/image" Target="../media/image653.png"/><Relationship Id="rId7" Type="http://schemas.openxmlformats.org/officeDocument/2006/relationships/image" Target="../media/image379.png"/><Relationship Id="rId8" Type="http://schemas.openxmlformats.org/officeDocument/2006/relationships/image" Target="../media/image389.png"/><Relationship Id="rId9" Type="http://schemas.openxmlformats.org/officeDocument/2006/relationships/image" Target="../media/image384.png"/><Relationship Id="rId10" Type="http://schemas.openxmlformats.org/officeDocument/2006/relationships/image" Target="../media/image386.png"/><Relationship Id="rId11" Type="http://schemas.openxmlformats.org/officeDocument/2006/relationships/image" Target="../media/image387.png"/><Relationship Id="rId12" Type="http://schemas.openxmlformats.org/officeDocument/2006/relationships/image" Target="../media/image391.png"/><Relationship Id="rId13" Type="http://schemas.openxmlformats.org/officeDocument/2006/relationships/image" Target="../media/image382.png"/><Relationship Id="rId14" Type="http://schemas.openxmlformats.org/officeDocument/2006/relationships/image" Target="../media/image392.png"/><Relationship Id="rId15" Type="http://schemas.openxmlformats.org/officeDocument/2006/relationships/image" Target="../media/image654.png"/><Relationship Id="rId16" Type="http://schemas.openxmlformats.org/officeDocument/2006/relationships/image" Target="../media/image655.png"/><Relationship Id="rId17" Type="http://schemas.openxmlformats.org/officeDocument/2006/relationships/image" Target="../media/image390.png"/><Relationship Id="rId18" Type="http://schemas.openxmlformats.org/officeDocument/2006/relationships/image" Target="../media/image383.png"/><Relationship Id="rId19" Type="http://schemas.openxmlformats.org/officeDocument/2006/relationships/image" Target="../media/image2.png"/><Relationship Id="rId20" Type="http://schemas.openxmlformats.org/officeDocument/2006/relationships/image" Target="../media/image385.png"/><Relationship Id="rId21" Type="http://schemas.openxmlformats.org/officeDocument/2006/relationships/image" Target="../media/image380.png"/><Relationship Id="rId22" Type="http://schemas.openxmlformats.org/officeDocument/2006/relationships/image" Target="../media/image656.png"/><Relationship Id="rId23" Type="http://schemas.openxmlformats.org/officeDocument/2006/relationships/image" Target="../media/image394.png"/><Relationship Id="rId24" Type="http://schemas.openxmlformats.org/officeDocument/2006/relationships/image" Target="../media/image396.png"/><Relationship Id="rId25" Type="http://schemas.openxmlformats.org/officeDocument/2006/relationships/image" Target="../media/image397.png"/><Relationship Id="rId26" Type="http://schemas.openxmlformats.org/officeDocument/2006/relationships/image" Target="../media/image381.png"/><Relationship Id="rId27" Type="http://schemas.openxmlformats.org/officeDocument/2006/relationships/image" Target="../media/image657.png"/><Relationship Id="rId28" Type="http://schemas.openxmlformats.org/officeDocument/2006/relationships/image" Target="../media/image393.png"/></Relationships>
</file>

<file path=ppt/slides/_rels/slide17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7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07.xml"/><Relationship Id="rId4" Type="http://schemas.openxmlformats.org/officeDocument/2006/relationships/chart" Target="../charts/chart108.xml"/><Relationship Id="rId5" Type="http://schemas.openxmlformats.org/officeDocument/2006/relationships/notesSlide" Target="../notesSlides/notesSlide131.xml"/><Relationship Id="rId6" Type="http://schemas.openxmlformats.org/officeDocument/2006/relationships/image" Target="../media/image2.png"/><Relationship Id="rId7" Type="http://schemas.openxmlformats.org/officeDocument/2006/relationships/image" Target="../media/image658.png"/><Relationship Id="rId8" Type="http://schemas.openxmlformats.org/officeDocument/2006/relationships/image" Target="../media/image659.png"/><Relationship Id="rId9" Type="http://schemas.openxmlformats.org/officeDocument/2006/relationships/image" Target="../media/image660.png"/><Relationship Id="rId10" Type="http://schemas.openxmlformats.org/officeDocument/2006/relationships/image" Target="../media/image150.png"/><Relationship Id="rId11" Type="http://schemas.openxmlformats.org/officeDocument/2006/relationships/image" Target="../media/image661.png"/><Relationship Id="rId12" Type="http://schemas.openxmlformats.org/officeDocument/2006/relationships/image" Target="../media/image662.png"/><Relationship Id="rId13" Type="http://schemas.openxmlformats.org/officeDocument/2006/relationships/image" Target="../media/image69.png"/><Relationship Id="rId14" Type="http://schemas.openxmlformats.org/officeDocument/2006/relationships/image" Target="../media/image663.png"/><Relationship Id="rId15" Type="http://schemas.openxmlformats.org/officeDocument/2006/relationships/image" Target="../media/image664.png"/><Relationship Id="rId16" Type="http://schemas.openxmlformats.org/officeDocument/2006/relationships/image" Target="../media/image665.png"/><Relationship Id="rId17" Type="http://schemas.openxmlformats.org/officeDocument/2006/relationships/image" Target="../media/image53.png"/><Relationship Id="rId18" Type="http://schemas.openxmlformats.org/officeDocument/2006/relationships/image" Target="../media/image666.png"/><Relationship Id="rId19" Type="http://schemas.openxmlformats.org/officeDocument/2006/relationships/image" Target="../media/image667.png"/><Relationship Id="rId20" Type="http://schemas.openxmlformats.org/officeDocument/2006/relationships/image" Target="../media/image668.png"/><Relationship Id="rId21" Type="http://schemas.openxmlformats.org/officeDocument/2006/relationships/image" Target="../media/image569.png"/><Relationship Id="rId22" Type="http://schemas.openxmlformats.org/officeDocument/2006/relationships/image" Target="../media/image669.png"/><Relationship Id="rId23" Type="http://schemas.openxmlformats.org/officeDocument/2006/relationships/image" Target="../media/image577.png"/><Relationship Id="rId24" Type="http://schemas.openxmlformats.org/officeDocument/2006/relationships/image" Target="../media/image670.png"/><Relationship Id="rId25" Type="http://schemas.openxmlformats.org/officeDocument/2006/relationships/image" Target="../media/image671.png"/><Relationship Id="rId26" Type="http://schemas.openxmlformats.org/officeDocument/2006/relationships/image" Target="../media/image672.png"/><Relationship Id="rId27" Type="http://schemas.openxmlformats.org/officeDocument/2006/relationships/image" Target="../media/image134.png"/></Relationships>
</file>

<file path=ppt/slides/_rels/slide17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32.xml"/><Relationship Id="rId4" Type="http://schemas.openxmlformats.org/officeDocument/2006/relationships/image" Target="../media/image2.png"/></Relationships>
</file>

<file path=ppt/slides/_rels/slide17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33.xml"/><Relationship Id="rId4" Type="http://schemas.openxmlformats.org/officeDocument/2006/relationships/image" Target="../media/image2.png"/></Relationships>
</file>

<file path=ppt/slides/_rels/slide17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7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09.xml"/><Relationship Id="rId4" Type="http://schemas.openxmlformats.org/officeDocument/2006/relationships/chart" Target="../charts/chart110.xml"/><Relationship Id="rId5" Type="http://schemas.openxmlformats.org/officeDocument/2006/relationships/notesSlide" Target="../notesSlides/notesSlide134.xml"/><Relationship Id="rId6" Type="http://schemas.openxmlformats.org/officeDocument/2006/relationships/image" Target="../media/image2.png"/><Relationship Id="rId7" Type="http://schemas.openxmlformats.org/officeDocument/2006/relationships/image" Target="../media/image673.png"/><Relationship Id="rId8" Type="http://schemas.openxmlformats.org/officeDocument/2006/relationships/image" Target="../media/image674.png"/><Relationship Id="rId9" Type="http://schemas.openxmlformats.org/officeDocument/2006/relationships/image" Target="../media/image675.png"/><Relationship Id="rId10" Type="http://schemas.openxmlformats.org/officeDocument/2006/relationships/image" Target="../media/image129.png"/><Relationship Id="rId11" Type="http://schemas.openxmlformats.org/officeDocument/2006/relationships/image" Target="../media/image676.png"/><Relationship Id="rId12" Type="http://schemas.openxmlformats.org/officeDocument/2006/relationships/image" Target="../media/image677.png"/><Relationship Id="rId13" Type="http://schemas.openxmlformats.org/officeDocument/2006/relationships/image" Target="../media/image678.png"/><Relationship Id="rId14" Type="http://schemas.openxmlformats.org/officeDocument/2006/relationships/image" Target="../media/image75.png"/><Relationship Id="rId15" Type="http://schemas.openxmlformats.org/officeDocument/2006/relationships/image" Target="../media/image679.png"/><Relationship Id="rId16" Type="http://schemas.openxmlformats.org/officeDocument/2006/relationships/image" Target="../media/image680.png"/><Relationship Id="rId17" Type="http://schemas.openxmlformats.org/officeDocument/2006/relationships/image" Target="../media/image681.png"/><Relationship Id="rId18" Type="http://schemas.openxmlformats.org/officeDocument/2006/relationships/image" Target="../media/image439.png"/><Relationship Id="rId19" Type="http://schemas.openxmlformats.org/officeDocument/2006/relationships/image" Target="../media/image621.png"/><Relationship Id="rId20" Type="http://schemas.openxmlformats.org/officeDocument/2006/relationships/image" Target="../media/image581.png"/><Relationship Id="rId21" Type="http://schemas.openxmlformats.org/officeDocument/2006/relationships/image" Target="../media/image682.png"/><Relationship Id="rId22" Type="http://schemas.openxmlformats.org/officeDocument/2006/relationships/image" Target="../media/image588.png"/><Relationship Id="rId23" Type="http://schemas.openxmlformats.org/officeDocument/2006/relationships/image" Target="../media/image683.png"/><Relationship Id="rId24" Type="http://schemas.openxmlformats.org/officeDocument/2006/relationships/image" Target="../media/image684.png"/><Relationship Id="rId25" Type="http://schemas.openxmlformats.org/officeDocument/2006/relationships/image" Target="../media/image685.png"/><Relationship Id="rId26" Type="http://schemas.openxmlformats.org/officeDocument/2006/relationships/image" Target="../media/image126.png"/><Relationship Id="rId27" Type="http://schemas.openxmlformats.org/officeDocument/2006/relationships/image" Target="../media/image686.png"/><Relationship Id="rId28" Type="http://schemas.openxmlformats.org/officeDocument/2006/relationships/image" Target="../media/image687.png"/><Relationship Id="rId29" Type="http://schemas.openxmlformats.org/officeDocument/2006/relationships/image" Target="../media/image688.png"/><Relationship Id="rId30" Type="http://schemas.openxmlformats.org/officeDocument/2006/relationships/image" Target="../media/image72.png"/><Relationship Id="rId31" Type="http://schemas.openxmlformats.org/officeDocument/2006/relationships/image" Target="../media/image689.png"/><Relationship Id="rId32" Type="http://schemas.openxmlformats.org/officeDocument/2006/relationships/image" Target="../media/image690.png"/><Relationship Id="rId33" Type="http://schemas.openxmlformats.org/officeDocument/2006/relationships/image" Target="../media/image691.png"/><Relationship Id="rId34" Type="http://schemas.openxmlformats.org/officeDocument/2006/relationships/image" Target="../media/image594.png"/><Relationship Id="rId35" Type="http://schemas.openxmlformats.org/officeDocument/2006/relationships/image" Target="../media/image692.png"/><Relationship Id="rId36" Type="http://schemas.openxmlformats.org/officeDocument/2006/relationships/image" Target="../media/image625.png"/><Relationship Id="rId37" Type="http://schemas.openxmlformats.org/officeDocument/2006/relationships/image" Target="../media/image693.png"/><Relationship Id="rId38" Type="http://schemas.openxmlformats.org/officeDocument/2006/relationships/image" Target="../media/image694.png"/></Relationships>
</file>

<file path=ppt/slides/_rels/slide18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35.xml"/><Relationship Id="rId4" Type="http://schemas.openxmlformats.org/officeDocument/2006/relationships/image" Target="../media/image2.png"/></Relationships>
</file>

<file path=ppt/slides/_rels/slide18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36.xml"/><Relationship Id="rId4" Type="http://schemas.openxmlformats.org/officeDocument/2006/relationships/image" Target="../media/image2.png"/></Relationships>
</file>

<file path=ppt/slides/_rels/slide18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8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11.xml"/><Relationship Id="rId4" Type="http://schemas.openxmlformats.org/officeDocument/2006/relationships/chart" Target="../charts/chart112.xml"/><Relationship Id="rId5" Type="http://schemas.openxmlformats.org/officeDocument/2006/relationships/notesSlide" Target="../notesSlides/notesSlide137.xml"/><Relationship Id="rId6" Type="http://schemas.openxmlformats.org/officeDocument/2006/relationships/image" Target="../media/image2.png"/><Relationship Id="rId7" Type="http://schemas.openxmlformats.org/officeDocument/2006/relationships/image" Target="../media/image695.png"/><Relationship Id="rId8" Type="http://schemas.openxmlformats.org/officeDocument/2006/relationships/image" Target="../media/image696.png"/><Relationship Id="rId9" Type="http://schemas.openxmlformats.org/officeDocument/2006/relationships/image" Target="../media/image697.png"/><Relationship Id="rId10" Type="http://schemas.openxmlformats.org/officeDocument/2006/relationships/image" Target="../media/image533.png"/><Relationship Id="rId11" Type="http://schemas.openxmlformats.org/officeDocument/2006/relationships/image" Target="../media/image698.png"/><Relationship Id="rId12" Type="http://schemas.openxmlformats.org/officeDocument/2006/relationships/image" Target="../media/image699.png"/><Relationship Id="rId13" Type="http://schemas.openxmlformats.org/officeDocument/2006/relationships/image" Target="../media/image700.png"/><Relationship Id="rId14" Type="http://schemas.openxmlformats.org/officeDocument/2006/relationships/image" Target="../media/image123.png"/><Relationship Id="rId15" Type="http://schemas.openxmlformats.org/officeDocument/2006/relationships/image" Target="../media/image701.png"/><Relationship Id="rId16" Type="http://schemas.openxmlformats.org/officeDocument/2006/relationships/image" Target="../media/image702.png"/><Relationship Id="rId17" Type="http://schemas.openxmlformats.org/officeDocument/2006/relationships/image" Target="../media/image626.png"/><Relationship Id="rId18" Type="http://schemas.openxmlformats.org/officeDocument/2006/relationships/image" Target="../media/image577.png"/><Relationship Id="rId19" Type="http://schemas.openxmlformats.org/officeDocument/2006/relationships/image" Target="../media/image542.png"/><Relationship Id="rId20" Type="http://schemas.openxmlformats.org/officeDocument/2006/relationships/image" Target="../media/image470.png"/><Relationship Id="rId21" Type="http://schemas.openxmlformats.org/officeDocument/2006/relationships/image" Target="../media/image703.png"/><Relationship Id="rId22" Type="http://schemas.openxmlformats.org/officeDocument/2006/relationships/image" Target="../media/image623.png"/><Relationship Id="rId23" Type="http://schemas.openxmlformats.org/officeDocument/2006/relationships/image" Target="../media/image704.png"/><Relationship Id="rId24" Type="http://schemas.openxmlformats.org/officeDocument/2006/relationships/image" Target="../media/image705.png"/><Relationship Id="rId25" Type="http://schemas.openxmlformats.org/officeDocument/2006/relationships/image" Target="../media/image662.png"/><Relationship Id="rId26" Type="http://schemas.openxmlformats.org/officeDocument/2006/relationships/image" Target="../media/image69.png"/><Relationship Id="rId27" Type="http://schemas.openxmlformats.org/officeDocument/2006/relationships/image" Target="../media/image706.png"/><Relationship Id="rId28" Type="http://schemas.openxmlformats.org/officeDocument/2006/relationships/image" Target="../media/image707.png"/><Relationship Id="rId29" Type="http://schemas.openxmlformats.org/officeDocument/2006/relationships/image" Target="../media/image708.png"/><Relationship Id="rId30" Type="http://schemas.openxmlformats.org/officeDocument/2006/relationships/image" Target="../media/image58.png"/><Relationship Id="rId31" Type="http://schemas.openxmlformats.org/officeDocument/2006/relationships/image" Target="../media/image709.png"/><Relationship Id="rId32" Type="http://schemas.openxmlformats.org/officeDocument/2006/relationships/image" Target="../media/image663.png"/><Relationship Id="rId33" Type="http://schemas.openxmlformats.org/officeDocument/2006/relationships/image" Target="../media/image710.png"/><Relationship Id="rId34" Type="http://schemas.openxmlformats.org/officeDocument/2006/relationships/image" Target="../media/image605.png"/><Relationship Id="rId35" Type="http://schemas.openxmlformats.org/officeDocument/2006/relationships/image" Target="../media/image603.png"/><Relationship Id="rId36" Type="http://schemas.openxmlformats.org/officeDocument/2006/relationships/image" Target="../media/image711.png"/><Relationship Id="rId37" Type="http://schemas.openxmlformats.org/officeDocument/2006/relationships/image" Target="../media/image712.png"/><Relationship Id="rId38" Type="http://schemas.openxmlformats.org/officeDocument/2006/relationships/image" Target="../media/image570.png"/><Relationship Id="rId39" Type="http://schemas.openxmlformats.org/officeDocument/2006/relationships/image" Target="../media/image713.png"/><Relationship Id="rId40" Type="http://schemas.openxmlformats.org/officeDocument/2006/relationships/image" Target="../media/image543.png"/><Relationship Id="rId41" Type="http://schemas.openxmlformats.org/officeDocument/2006/relationships/image" Target="../media/image714.png"/></Relationships>
</file>

<file path=ppt/slides/_rels/slide18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38.xml"/><Relationship Id="rId4" Type="http://schemas.openxmlformats.org/officeDocument/2006/relationships/image" Target="../media/image2.png"/></Relationships>
</file>

<file path=ppt/slides/_rels/slide18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39.xml"/><Relationship Id="rId4" Type="http://schemas.openxmlformats.org/officeDocument/2006/relationships/image" Target="../media/image2.png"/></Relationships>
</file>

<file path=ppt/slides/_rels/slide18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8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8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40.xml"/><Relationship Id="rId4" Type="http://schemas.openxmlformats.org/officeDocument/2006/relationships/image" Target="../media/image2.png"/></Relationships>
</file>

<file path=ppt/slides/_rels/slide18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13.xml"/><Relationship Id="rId4" Type="http://schemas.openxmlformats.org/officeDocument/2006/relationships/notesSlide" Target="../notesSlides/notesSlide141.xml"/><Relationship Id="rId5" Type="http://schemas.openxmlformats.org/officeDocument/2006/relationships/image" Target="../media/image2.png"/></Relationships>
</file>

<file path=ppt/slides/_rels/slide19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42.xml"/><Relationship Id="rId4" Type="http://schemas.openxmlformats.org/officeDocument/2006/relationships/image" Target="../media/image2.png"/></Relationships>
</file>

<file path=ppt/slides/_rels/slide19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43.xml"/><Relationship Id="rId4" Type="http://schemas.openxmlformats.org/officeDocument/2006/relationships/image" Target="../media/image2.png"/></Relationships>
</file>

<file path=ppt/slides/_rels/slide19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44.xml"/><Relationship Id="rId4" Type="http://schemas.openxmlformats.org/officeDocument/2006/relationships/image" Target="../media/image715.png"/><Relationship Id="rId5" Type="http://schemas.openxmlformats.org/officeDocument/2006/relationships/image" Target="../media/image590.png"/><Relationship Id="rId6" Type="http://schemas.openxmlformats.org/officeDocument/2006/relationships/image" Target="../media/image694.png"/><Relationship Id="rId7" Type="http://schemas.openxmlformats.org/officeDocument/2006/relationships/image" Target="../media/image716.png"/><Relationship Id="rId8" Type="http://schemas.openxmlformats.org/officeDocument/2006/relationships/image" Target="../media/image608.png"/><Relationship Id="rId9" Type="http://schemas.openxmlformats.org/officeDocument/2006/relationships/image" Target="../media/image717.png"/><Relationship Id="rId10" Type="http://schemas.openxmlformats.org/officeDocument/2006/relationships/image" Target="../media/image718.png"/><Relationship Id="rId11" Type="http://schemas.openxmlformats.org/officeDocument/2006/relationships/image" Target="../media/image457.png"/><Relationship Id="rId12" Type="http://schemas.openxmlformats.org/officeDocument/2006/relationships/image" Target="../media/image719.png"/><Relationship Id="rId13" Type="http://schemas.openxmlformats.org/officeDocument/2006/relationships/image" Target="../media/image547.png"/><Relationship Id="rId14" Type="http://schemas.openxmlformats.org/officeDocument/2006/relationships/image" Target="../media/image459.png"/><Relationship Id="rId15" Type="http://schemas.openxmlformats.org/officeDocument/2006/relationships/image" Target="../media/image458.png"/><Relationship Id="rId16" Type="http://schemas.openxmlformats.org/officeDocument/2006/relationships/image" Target="../media/image543.png"/><Relationship Id="rId17" Type="http://schemas.openxmlformats.org/officeDocument/2006/relationships/image" Target="../media/image720.png"/><Relationship Id="rId18" Type="http://schemas.openxmlformats.org/officeDocument/2006/relationships/image" Target="../media/image2.png"/></Relationships>
</file>

<file path=ppt/slides/_rels/slide19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45.xml"/><Relationship Id="rId4" Type="http://schemas.openxmlformats.org/officeDocument/2006/relationships/image" Target="../media/image2.png"/></Relationships>
</file>

<file path=ppt/slides/_rels/slide19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9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46.xml"/><Relationship Id="rId4" Type="http://schemas.openxmlformats.org/officeDocument/2006/relationships/image" Target="../media/image2.png"/></Relationships>
</file>

<file path=ppt/slides/_rels/slide19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14.xml"/><Relationship Id="rId4" Type="http://schemas.openxmlformats.org/officeDocument/2006/relationships/notesSlide" Target="../notesSlides/notesSlide147.xml"/><Relationship Id="rId5" Type="http://schemas.openxmlformats.org/officeDocument/2006/relationships/image" Target="../media/image721.png"/><Relationship Id="rId6" Type="http://schemas.openxmlformats.org/officeDocument/2006/relationships/image" Target="../media/image722.png"/><Relationship Id="rId7" Type="http://schemas.openxmlformats.org/officeDocument/2006/relationships/image" Target="../media/image571.png"/><Relationship Id="rId8" Type="http://schemas.openxmlformats.org/officeDocument/2006/relationships/image" Target="../media/image464.png"/><Relationship Id="rId9" Type="http://schemas.openxmlformats.org/officeDocument/2006/relationships/image" Target="../media/image554.png"/><Relationship Id="rId10" Type="http://schemas.openxmlformats.org/officeDocument/2006/relationships/image" Target="../media/image723.png"/><Relationship Id="rId11" Type="http://schemas.openxmlformats.org/officeDocument/2006/relationships/image" Target="../media/image463.png"/><Relationship Id="rId12" Type="http://schemas.openxmlformats.org/officeDocument/2006/relationships/image" Target="../media/image724.png"/><Relationship Id="rId13" Type="http://schemas.openxmlformats.org/officeDocument/2006/relationships/image" Target="../media/image725.png"/><Relationship Id="rId14" Type="http://schemas.openxmlformats.org/officeDocument/2006/relationships/image" Target="../media/image726.png"/><Relationship Id="rId15" Type="http://schemas.openxmlformats.org/officeDocument/2006/relationships/image" Target="../media/image727.png"/><Relationship Id="rId16" Type="http://schemas.openxmlformats.org/officeDocument/2006/relationships/image" Target="../media/image471.png"/><Relationship Id="rId17" Type="http://schemas.openxmlformats.org/officeDocument/2006/relationships/image" Target="../media/image728.png"/><Relationship Id="rId18" Type="http://schemas.openxmlformats.org/officeDocument/2006/relationships/image" Target="../media/image729.png"/><Relationship Id="rId19" Type="http://schemas.openxmlformats.org/officeDocument/2006/relationships/image" Target="../media/image730.png"/><Relationship Id="rId20" Type="http://schemas.openxmlformats.org/officeDocument/2006/relationships/image" Target="../media/image731.png"/><Relationship Id="rId21" Type="http://schemas.openxmlformats.org/officeDocument/2006/relationships/image" Target="../media/image732.png"/><Relationship Id="rId22" Type="http://schemas.openxmlformats.org/officeDocument/2006/relationships/image" Target="../media/image733.png"/><Relationship Id="rId23" Type="http://schemas.openxmlformats.org/officeDocument/2006/relationships/image" Target="../media/image557.png"/><Relationship Id="rId24" Type="http://schemas.openxmlformats.org/officeDocument/2006/relationships/image" Target="../media/image560.png"/><Relationship Id="rId25" Type="http://schemas.openxmlformats.org/officeDocument/2006/relationships/image" Target="../media/image2.png"/></Relationships>
</file>

<file path=ppt/slides/_rels/slide19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48.xml"/><Relationship Id="rId4" Type="http://schemas.openxmlformats.org/officeDocument/2006/relationships/image" Target="../media/image2.png"/></Relationships>
</file>

<file path=ppt/slides/_rels/slide19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49.xml"/><Relationship Id="rId4" Type="http://schemas.openxmlformats.org/officeDocument/2006/relationships/image" Target="../media/image2.png"/></Relationships>
</file>

<file path=ppt/slides/_rels/slide19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50.xml"/><Relationship Id="rId4" Type="http://schemas.openxmlformats.org/officeDocument/2006/relationships/image" Target="../media/image2.png"/></Relationships>
</file>

<file path=ppt/slides/_rels/slide20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51.xml"/><Relationship Id="rId4" Type="http://schemas.openxmlformats.org/officeDocument/2006/relationships/image" Target="../media/image2.png"/></Relationships>
</file>

<file path=ppt/slides/_rels/slide20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52.xml"/></Relationships>
</file>

<file path=ppt/slides/_rels/slide20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20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53.xml"/><Relationship Id="rId4" Type="http://schemas.openxmlformats.org/officeDocument/2006/relationships/image" Target="../media/image2.png"/></Relationships>
</file>

<file path=ppt/slides/_rels/slide20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54.xml"/><Relationship Id="rId4" Type="http://schemas.openxmlformats.org/officeDocument/2006/relationships/image" Target="../media/image2.png"/></Relationships>
</file>

<file path=ppt/slides/_rels/slide20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55.xml"/><Relationship Id="rId4" Type="http://schemas.openxmlformats.org/officeDocument/2006/relationships/image" Target="../media/image2.png"/></Relationships>
</file>

<file path=ppt/slides/_rels/slide20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56.xml"/><Relationship Id="rId4" Type="http://schemas.openxmlformats.org/officeDocument/2006/relationships/image" Target="../media/image2.png"/></Relationships>
</file>

<file path=ppt/slides/_rels/slide20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57.xml"/><Relationship Id="rId4" Type="http://schemas.openxmlformats.org/officeDocument/2006/relationships/image" Target="../media/image734.png"/><Relationship Id="rId5" Type="http://schemas.openxmlformats.org/officeDocument/2006/relationships/image" Target="../media/image735.png"/><Relationship Id="rId6" Type="http://schemas.openxmlformats.org/officeDocument/2006/relationships/image" Target="../media/image165.png"/><Relationship Id="rId7" Type="http://schemas.openxmlformats.org/officeDocument/2006/relationships/image" Target="../media/image245.png"/><Relationship Id="rId8" Type="http://schemas.openxmlformats.org/officeDocument/2006/relationships/image" Target="../media/image736.png"/><Relationship Id="rId9" Type="http://schemas.openxmlformats.org/officeDocument/2006/relationships/image" Target="../media/image737.png"/><Relationship Id="rId10" Type="http://schemas.openxmlformats.org/officeDocument/2006/relationships/image" Target="../media/image198.png"/><Relationship Id="rId11" Type="http://schemas.openxmlformats.org/officeDocument/2006/relationships/image" Target="../media/image738.png"/><Relationship Id="rId12" Type="http://schemas.openxmlformats.org/officeDocument/2006/relationships/image" Target="../media/image739.png"/><Relationship Id="rId13" Type="http://schemas.openxmlformats.org/officeDocument/2006/relationships/image" Target="../media/image2.png"/></Relationships>
</file>

<file path=ppt/slides/_rels/slide20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58.xml"/><Relationship Id="rId4" Type="http://schemas.openxmlformats.org/officeDocument/2006/relationships/image" Target="../media/image740.png"/><Relationship Id="rId5" Type="http://schemas.openxmlformats.org/officeDocument/2006/relationships/image" Target="../media/image741.png"/><Relationship Id="rId6" Type="http://schemas.openxmlformats.org/officeDocument/2006/relationships/image" Target="../media/image742.png"/><Relationship Id="rId7" Type="http://schemas.openxmlformats.org/officeDocument/2006/relationships/image" Target="../media/image743.png"/><Relationship Id="rId8" Type="http://schemas.openxmlformats.org/officeDocument/2006/relationships/image" Target="../media/image2.png"/><Relationship Id="rId9" Type="http://schemas.openxmlformats.org/officeDocument/2006/relationships/image" Target="../media/image744.png"/><Relationship Id="rId10" Type="http://schemas.openxmlformats.org/officeDocument/2006/relationships/image" Target="../media/image745.png"/><Relationship Id="rId11" Type="http://schemas.openxmlformats.org/officeDocument/2006/relationships/image" Target="../media/image746.png"/></Relationships>
</file>

<file path=ppt/slides/_rels/slide20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59.xml"/><Relationship Id="rId4" Type="http://schemas.openxmlformats.org/officeDocument/2006/relationships/image" Target="../media/image747.png"/><Relationship Id="rId5" Type="http://schemas.openxmlformats.org/officeDocument/2006/relationships/image" Target="../media/image748.png"/><Relationship Id="rId6" Type="http://schemas.openxmlformats.org/officeDocument/2006/relationships/image" Target="../media/image749.png"/><Relationship Id="rId7" Type="http://schemas.openxmlformats.org/officeDocument/2006/relationships/image" Target="../media/image750.png"/><Relationship Id="rId8" Type="http://schemas.openxmlformats.org/officeDocument/2006/relationships/image" Target="../media/image751.png"/><Relationship Id="rId9" Type="http://schemas.openxmlformats.org/officeDocument/2006/relationships/image" Target="../media/image752.png"/><Relationship Id="rId10" Type="http://schemas.openxmlformats.org/officeDocument/2006/relationships/image" Target="../media/image742.png"/><Relationship Id="rId11" Type="http://schemas.openxmlformats.org/officeDocument/2006/relationships/image" Target="../media/image2.png"/></Relationships>
</file>

<file path=ppt/slides/_rels/slide21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60.xml"/><Relationship Id="rId4" Type="http://schemas.openxmlformats.org/officeDocument/2006/relationships/image" Target="../media/image753.png"/><Relationship Id="rId5" Type="http://schemas.openxmlformats.org/officeDocument/2006/relationships/image" Target="../media/image754.png"/><Relationship Id="rId6" Type="http://schemas.openxmlformats.org/officeDocument/2006/relationships/image" Target="../media/image755.png"/><Relationship Id="rId7" Type="http://schemas.openxmlformats.org/officeDocument/2006/relationships/image" Target="../media/image756.png"/><Relationship Id="rId8" Type="http://schemas.openxmlformats.org/officeDocument/2006/relationships/image" Target="../media/image757.png"/><Relationship Id="rId9" Type="http://schemas.openxmlformats.org/officeDocument/2006/relationships/image" Target="../media/image758.png"/><Relationship Id="rId10" Type="http://schemas.openxmlformats.org/officeDocument/2006/relationships/image" Target="../media/image2.png"/></Relationships>
</file>

<file path=ppt/slides/_rels/slide21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61.xml"/><Relationship Id="rId4" Type="http://schemas.openxmlformats.org/officeDocument/2006/relationships/image" Target="../media/image759.png"/><Relationship Id="rId5" Type="http://schemas.openxmlformats.org/officeDocument/2006/relationships/image" Target="../media/image760.png"/><Relationship Id="rId6" Type="http://schemas.openxmlformats.org/officeDocument/2006/relationships/image" Target="../media/image761.png"/><Relationship Id="rId7" Type="http://schemas.openxmlformats.org/officeDocument/2006/relationships/image" Target="../media/image762.png"/><Relationship Id="rId8" Type="http://schemas.openxmlformats.org/officeDocument/2006/relationships/image" Target="../media/image763.png"/><Relationship Id="rId9" Type="http://schemas.openxmlformats.org/officeDocument/2006/relationships/image" Target="../media/image764.png"/><Relationship Id="rId10" Type="http://schemas.openxmlformats.org/officeDocument/2006/relationships/image" Target="../media/image765.png"/><Relationship Id="rId11" Type="http://schemas.openxmlformats.org/officeDocument/2006/relationships/image" Target="../media/image766.png"/><Relationship Id="rId12" Type="http://schemas.openxmlformats.org/officeDocument/2006/relationships/image" Target="../media/image767.png"/><Relationship Id="rId13" Type="http://schemas.openxmlformats.org/officeDocument/2006/relationships/image" Target="../media/image768.png"/><Relationship Id="rId14" Type="http://schemas.openxmlformats.org/officeDocument/2006/relationships/image" Target="../media/image769.png"/><Relationship Id="rId15" Type="http://schemas.openxmlformats.org/officeDocument/2006/relationships/image" Target="../media/image770.png"/><Relationship Id="rId16" Type="http://schemas.openxmlformats.org/officeDocument/2006/relationships/image" Target="../media/image771.png"/><Relationship Id="rId17" Type="http://schemas.openxmlformats.org/officeDocument/2006/relationships/image" Target="../media/image772.png"/><Relationship Id="rId18" Type="http://schemas.openxmlformats.org/officeDocument/2006/relationships/image" Target="../media/image773.png"/><Relationship Id="rId19" Type="http://schemas.openxmlformats.org/officeDocument/2006/relationships/image" Target="../media/image774.png"/><Relationship Id="rId20" Type="http://schemas.openxmlformats.org/officeDocument/2006/relationships/image" Target="../media/image775.png"/><Relationship Id="rId21" Type="http://schemas.openxmlformats.org/officeDocument/2006/relationships/image" Target="../media/image776.png"/><Relationship Id="rId22" Type="http://schemas.openxmlformats.org/officeDocument/2006/relationships/image" Target="../media/image777.png"/><Relationship Id="rId23" Type="http://schemas.openxmlformats.org/officeDocument/2006/relationships/image" Target="../media/image778.png"/><Relationship Id="rId24" Type="http://schemas.openxmlformats.org/officeDocument/2006/relationships/image" Target="../media/image779.png"/><Relationship Id="rId25" Type="http://schemas.openxmlformats.org/officeDocument/2006/relationships/image" Target="../media/image780.png"/><Relationship Id="rId26" Type="http://schemas.openxmlformats.org/officeDocument/2006/relationships/image" Target="../media/image781.png"/><Relationship Id="rId27" Type="http://schemas.openxmlformats.org/officeDocument/2006/relationships/image" Target="../media/image782.png"/><Relationship Id="rId28" Type="http://schemas.openxmlformats.org/officeDocument/2006/relationships/image" Target="../media/image783.png"/><Relationship Id="rId29" Type="http://schemas.openxmlformats.org/officeDocument/2006/relationships/image" Target="../media/image784.png"/><Relationship Id="rId30" Type="http://schemas.openxmlformats.org/officeDocument/2006/relationships/image" Target="../media/image785.png"/><Relationship Id="rId31" Type="http://schemas.openxmlformats.org/officeDocument/2006/relationships/image" Target="../media/image786.png"/><Relationship Id="rId32" Type="http://schemas.openxmlformats.org/officeDocument/2006/relationships/image" Target="../media/image787.png"/><Relationship Id="rId33" Type="http://schemas.openxmlformats.org/officeDocument/2006/relationships/image" Target="../media/image788.png"/><Relationship Id="rId34" Type="http://schemas.openxmlformats.org/officeDocument/2006/relationships/image" Target="../media/image2.png"/></Relationships>
</file>

<file path=ppt/slides/_rels/slide21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62.xml"/><Relationship Id="rId4" Type="http://schemas.openxmlformats.org/officeDocument/2006/relationships/image" Target="../media/image789.png"/><Relationship Id="rId5" Type="http://schemas.openxmlformats.org/officeDocument/2006/relationships/image" Target="../media/image790.png"/><Relationship Id="rId6" Type="http://schemas.openxmlformats.org/officeDocument/2006/relationships/image" Target="../media/image791.png"/><Relationship Id="rId7" Type="http://schemas.openxmlformats.org/officeDocument/2006/relationships/image" Target="../media/image792.png"/><Relationship Id="rId8" Type="http://schemas.openxmlformats.org/officeDocument/2006/relationships/image" Target="../media/image793.png"/><Relationship Id="rId9" Type="http://schemas.openxmlformats.org/officeDocument/2006/relationships/image" Target="../media/image794.png"/><Relationship Id="rId10" Type="http://schemas.openxmlformats.org/officeDocument/2006/relationships/image" Target="../media/image2.png"/></Relationships>
</file>

<file path=ppt/slides/_rels/slide21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63.xml"/></Relationships>
</file>

<file path=ppt/slides/_rels/slide21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21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64.xml"/><Relationship Id="rId4" Type="http://schemas.openxmlformats.org/officeDocument/2006/relationships/image" Target="../media/image2.png"/></Relationships>
</file>

<file path=ppt/slides/_rels/slide21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65.xml"/><Relationship Id="rId4" Type="http://schemas.openxmlformats.org/officeDocument/2006/relationships/image" Target="../media/image795.png"/><Relationship Id="rId5" Type="http://schemas.openxmlformats.org/officeDocument/2006/relationships/image" Target="../media/image796.png"/><Relationship Id="rId6" Type="http://schemas.openxmlformats.org/officeDocument/2006/relationships/image" Target="../media/image797.png"/><Relationship Id="rId7" Type="http://schemas.openxmlformats.org/officeDocument/2006/relationships/image" Target="../media/image798.png"/><Relationship Id="rId8" Type="http://schemas.openxmlformats.org/officeDocument/2006/relationships/image" Target="../media/image638.png"/><Relationship Id="rId9" Type="http://schemas.openxmlformats.org/officeDocument/2006/relationships/image" Target="../media/image799.png"/><Relationship Id="rId10" Type="http://schemas.openxmlformats.org/officeDocument/2006/relationships/image" Target="../media/image561.png"/><Relationship Id="rId11" Type="http://schemas.openxmlformats.org/officeDocument/2006/relationships/image" Target="../media/image800.png"/><Relationship Id="rId12" Type="http://schemas.openxmlformats.org/officeDocument/2006/relationships/image" Target="../media/image2.png"/></Relationships>
</file>

<file path=ppt/slides/_rels/slide21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66.xml"/><Relationship Id="rId4" Type="http://schemas.openxmlformats.org/officeDocument/2006/relationships/image" Target="../media/image801.png"/><Relationship Id="rId5" Type="http://schemas.openxmlformats.org/officeDocument/2006/relationships/image" Target="../media/image802.png"/><Relationship Id="rId6" Type="http://schemas.openxmlformats.org/officeDocument/2006/relationships/image" Target="../media/image803.png"/><Relationship Id="rId7" Type="http://schemas.openxmlformats.org/officeDocument/2006/relationships/image" Target="../media/image804.png"/><Relationship Id="rId8" Type="http://schemas.openxmlformats.org/officeDocument/2006/relationships/image" Target="../media/image805.png"/><Relationship Id="rId9" Type="http://schemas.openxmlformats.org/officeDocument/2006/relationships/image" Target="../media/image806.png"/><Relationship Id="rId10" Type="http://schemas.openxmlformats.org/officeDocument/2006/relationships/image" Target="../media/image807.png"/><Relationship Id="rId11" Type="http://schemas.openxmlformats.org/officeDocument/2006/relationships/image" Target="../media/image808.png"/><Relationship Id="rId12" Type="http://schemas.openxmlformats.org/officeDocument/2006/relationships/image" Target="../media/image809.png"/><Relationship Id="rId13" Type="http://schemas.openxmlformats.org/officeDocument/2006/relationships/image" Target="../media/image810.png"/><Relationship Id="rId14" Type="http://schemas.openxmlformats.org/officeDocument/2006/relationships/image" Target="../media/image811.png"/><Relationship Id="rId15" Type="http://schemas.openxmlformats.org/officeDocument/2006/relationships/image" Target="../media/image812.png"/><Relationship Id="rId16" Type="http://schemas.openxmlformats.org/officeDocument/2006/relationships/image" Target="../media/image813.png"/><Relationship Id="rId17" Type="http://schemas.openxmlformats.org/officeDocument/2006/relationships/image" Target="../media/image814.png"/><Relationship Id="rId18" Type="http://schemas.openxmlformats.org/officeDocument/2006/relationships/image" Target="../media/image815.png"/><Relationship Id="rId19" Type="http://schemas.openxmlformats.org/officeDocument/2006/relationships/image" Target="../media/image816.png"/><Relationship Id="rId20" Type="http://schemas.openxmlformats.org/officeDocument/2006/relationships/image" Target="../media/image817.png"/><Relationship Id="rId21" Type="http://schemas.openxmlformats.org/officeDocument/2006/relationships/image" Target="../media/image818.png"/><Relationship Id="rId22" Type="http://schemas.openxmlformats.org/officeDocument/2006/relationships/image" Target="../media/image819.png"/><Relationship Id="rId23" Type="http://schemas.openxmlformats.org/officeDocument/2006/relationships/image" Target="../media/image820.png"/><Relationship Id="rId24" Type="http://schemas.openxmlformats.org/officeDocument/2006/relationships/image" Target="../media/image821.png"/><Relationship Id="rId25" Type="http://schemas.openxmlformats.org/officeDocument/2006/relationships/image" Target="../media/image822.png"/><Relationship Id="rId26" Type="http://schemas.openxmlformats.org/officeDocument/2006/relationships/image" Target="../media/image823.png"/><Relationship Id="rId27" Type="http://schemas.openxmlformats.org/officeDocument/2006/relationships/image" Target="../media/image824.png"/><Relationship Id="rId28" Type="http://schemas.openxmlformats.org/officeDocument/2006/relationships/image" Target="../media/image825.png"/><Relationship Id="rId29" Type="http://schemas.openxmlformats.org/officeDocument/2006/relationships/image" Target="../media/image826.png"/><Relationship Id="rId30" Type="http://schemas.openxmlformats.org/officeDocument/2006/relationships/image" Target="../media/image827.png"/><Relationship Id="rId31" Type="http://schemas.openxmlformats.org/officeDocument/2006/relationships/image" Target="../media/image828.png"/><Relationship Id="rId32" Type="http://schemas.openxmlformats.org/officeDocument/2006/relationships/image" Target="../media/image829.png"/><Relationship Id="rId33" Type="http://schemas.openxmlformats.org/officeDocument/2006/relationships/image" Target="../media/image830.png"/><Relationship Id="rId34" Type="http://schemas.openxmlformats.org/officeDocument/2006/relationships/image" Target="../media/image2.png"/></Relationships>
</file>

<file path=ppt/slides/_rels/slide21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67.xml"/></Relationships>
</file>

<file path=ppt/slides/_rels/slide21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22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68.xml"/><Relationship Id="rId4" Type="http://schemas.openxmlformats.org/officeDocument/2006/relationships/image" Target="../media/image2.png"/></Relationships>
</file>

<file path=ppt/slides/_rels/slide22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69.xml"/><Relationship Id="rId4" Type="http://schemas.openxmlformats.org/officeDocument/2006/relationships/image" Target="../media/image2.png"/></Relationships>
</file>

<file path=ppt/slides/_rels/slide22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70.xml"/><Relationship Id="rId4" Type="http://schemas.openxmlformats.org/officeDocument/2006/relationships/image" Target="../media/image2.png"/></Relationships>
</file>

<file path=ppt/slides/_rels/slide22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71.xml"/><Relationship Id="rId4" Type="http://schemas.openxmlformats.org/officeDocument/2006/relationships/image" Target="../media/image2.png"/></Relationships>
</file>

<file path=ppt/slides/_rels/slide22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72.xml"/><Relationship Id="rId4" Type="http://schemas.openxmlformats.org/officeDocument/2006/relationships/image" Target="../media/image2.png"/></Relationships>
</file>

<file path=ppt/slides/_rels/slide22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73.xml"/><Relationship Id="rId4" Type="http://schemas.openxmlformats.org/officeDocument/2006/relationships/image" Target="../media/image2.png"/></Relationships>
</file>

<file path=ppt/slides/_rels/slide22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74.xml"/><Relationship Id="rId4" Type="http://schemas.openxmlformats.org/officeDocument/2006/relationships/image" Target="../media/image2.png"/></Relationships>
</file>

<file path=ppt/slides/_rels/slide22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75.xml"/><Relationship Id="rId4" Type="http://schemas.openxmlformats.org/officeDocument/2006/relationships/image" Target="../media/image2.png"/></Relationships>
</file>

<file path=ppt/slides/_rels/slide22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76.xml"/></Relationships>
</file>

<file path=ppt/slides/_rels/slide22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23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77.xml"/><Relationship Id="rId4" Type="http://schemas.openxmlformats.org/officeDocument/2006/relationships/image" Target="../media/image2.png"/></Relationships>
</file>

<file path=ppt/slides/_rels/slide23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78.xml"/><Relationship Id="rId4" Type="http://schemas.openxmlformats.org/officeDocument/2006/relationships/image" Target="../media/image2.png"/></Relationships>
</file>

<file path=ppt/slides/_rels/slide23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79.xml"/><Relationship Id="rId4" Type="http://schemas.openxmlformats.org/officeDocument/2006/relationships/image" Target="../media/image2.png"/></Relationships>
</file>

<file path=ppt/slides/_rels/slide23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80.xml"/><Relationship Id="rId4" Type="http://schemas.openxmlformats.org/officeDocument/2006/relationships/image" Target="../media/image2.png"/></Relationships>
</file>

<file path=ppt/slides/_rels/slide23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81.xml"/><Relationship Id="rId4" Type="http://schemas.openxmlformats.org/officeDocument/2006/relationships/image" Target="../media/image2.png"/></Relationships>
</file>

<file path=ppt/slides/_rels/slide23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82.xml"/></Relationships>
</file>

<file path=ppt/slides/_rels/slide23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83.xml"/></Relationships>
</file>

<file path=ppt/slides/_rels/slide23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84.xml"/><Relationship Id="rId4" Type="http://schemas.openxmlformats.org/officeDocument/2006/relationships/image" Target="../media/image2.png"/></Relationships>
</file>

<file path=ppt/slides/_rels/slide23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85.xml"/></Relationships>
</file>

<file path=ppt/slides/_rels/slide23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86.xml"/></Relationships>
</file>

<file path=ppt/slides/_rels/slide24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87.xml"/><Relationship Id="rId4" Type="http://schemas.openxmlformats.org/officeDocument/2006/relationships/image" Target="../media/image2.png"/></Relationships>
</file>

<file path=ppt/slides/_rels/slide24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88.xml"/><Relationship Id="rId4" Type="http://schemas.openxmlformats.org/officeDocument/2006/relationships/image" Target="../media/image2.png"/></Relationships>
</file>

<file path=ppt/slides/_rels/slide24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89.xml"/><Relationship Id="rId4" Type="http://schemas.openxmlformats.org/officeDocument/2006/relationships/image" Target="../media/image2.png"/></Relationships>
</file>

<file path=ppt/slides/_rels/slide24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24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90.xml"/><Relationship Id="rId4" Type="http://schemas.openxmlformats.org/officeDocument/2006/relationships/image" Target="../media/image2.png"/></Relationships>
</file>

<file path=ppt/slides/_rels/slide24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15.xml"/><Relationship Id="rId4" Type="http://schemas.openxmlformats.org/officeDocument/2006/relationships/notesSlide" Target="../notesSlides/notesSlide191.xml"/><Relationship Id="rId5" Type="http://schemas.openxmlformats.org/officeDocument/2006/relationships/image" Target="../media/image2.png"/></Relationships>
</file>

<file path=ppt/slides/_rels/slide24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16.xml"/><Relationship Id="rId4" Type="http://schemas.openxmlformats.org/officeDocument/2006/relationships/chart" Target="../charts/chart117.xml"/><Relationship Id="rId5" Type="http://schemas.openxmlformats.org/officeDocument/2006/relationships/chart" Target="../charts/chart118.xml"/><Relationship Id="rId6" Type="http://schemas.openxmlformats.org/officeDocument/2006/relationships/notesSlide" Target="../notesSlides/notesSlide192.xml"/><Relationship Id="rId7" Type="http://schemas.openxmlformats.org/officeDocument/2006/relationships/image" Target="../media/image2.png"/></Relationships>
</file>

<file path=ppt/slides/_rels/slide24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19.xml"/><Relationship Id="rId4" Type="http://schemas.openxmlformats.org/officeDocument/2006/relationships/notesSlide" Target="../notesSlides/notesSlide193.xml"/><Relationship Id="rId5" Type="http://schemas.openxmlformats.org/officeDocument/2006/relationships/image" Target="../media/image2.png"/></Relationships>
</file>

<file path=ppt/slides/_rels/slide24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94.xml"/><Relationship Id="rId4" Type="http://schemas.openxmlformats.org/officeDocument/2006/relationships/image" Target="../media/image2.png"/></Relationships>
</file>

<file path=ppt/slides/_rels/slide24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25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20.xml"/><Relationship Id="rId4" Type="http://schemas.openxmlformats.org/officeDocument/2006/relationships/chart" Target="../charts/chart121.xml"/><Relationship Id="rId5" Type="http://schemas.openxmlformats.org/officeDocument/2006/relationships/chart" Target="../charts/chart122.xml"/><Relationship Id="rId6" Type="http://schemas.openxmlformats.org/officeDocument/2006/relationships/notesSlide" Target="../notesSlides/notesSlide195.xml"/><Relationship Id="rId7" Type="http://schemas.openxmlformats.org/officeDocument/2006/relationships/image" Target="../media/image2.png"/></Relationships>
</file>

<file path=ppt/slides/_rels/slide25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23.xml"/><Relationship Id="rId4" Type="http://schemas.openxmlformats.org/officeDocument/2006/relationships/notesSlide" Target="../notesSlides/notesSlide196.xml"/><Relationship Id="rId5" Type="http://schemas.openxmlformats.org/officeDocument/2006/relationships/image" Target="../media/image2.png"/></Relationships>
</file>

<file path=ppt/slides/_rels/slide25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97.xml"/><Relationship Id="rId4" Type="http://schemas.openxmlformats.org/officeDocument/2006/relationships/image" Target="../media/image2.png"/></Relationships>
</file>

<file path=ppt/slides/_rels/slide25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98.xml"/><Relationship Id="rId4" Type="http://schemas.openxmlformats.org/officeDocument/2006/relationships/image" Target="../media/image893.png"/><Relationship Id="rId5" Type="http://schemas.openxmlformats.org/officeDocument/2006/relationships/image" Target="../media/image894.png"/><Relationship Id="rId6" Type="http://schemas.openxmlformats.org/officeDocument/2006/relationships/image" Target="../media/image895.png"/><Relationship Id="rId7" Type="http://schemas.openxmlformats.org/officeDocument/2006/relationships/image" Target="../media/image896.png"/><Relationship Id="rId8" Type="http://schemas.openxmlformats.org/officeDocument/2006/relationships/image" Target="../media/image897.png"/><Relationship Id="rId9" Type="http://schemas.openxmlformats.org/officeDocument/2006/relationships/image" Target="../media/image898.png"/><Relationship Id="rId10" Type="http://schemas.openxmlformats.org/officeDocument/2006/relationships/image" Target="../media/image899.png"/><Relationship Id="rId11" Type="http://schemas.openxmlformats.org/officeDocument/2006/relationships/image" Target="../media/image900.png"/><Relationship Id="rId12" Type="http://schemas.openxmlformats.org/officeDocument/2006/relationships/image" Target="../media/image901.png"/><Relationship Id="rId13" Type="http://schemas.openxmlformats.org/officeDocument/2006/relationships/image" Target="../media/image902.png"/><Relationship Id="rId14" Type="http://schemas.openxmlformats.org/officeDocument/2006/relationships/image" Target="../media/image903.png"/><Relationship Id="rId15" Type="http://schemas.openxmlformats.org/officeDocument/2006/relationships/image" Target="../media/image904.png"/><Relationship Id="rId16" Type="http://schemas.openxmlformats.org/officeDocument/2006/relationships/image" Target="../media/image905.png"/><Relationship Id="rId17" Type="http://schemas.openxmlformats.org/officeDocument/2006/relationships/image" Target="../media/image906.png"/><Relationship Id="rId18" Type="http://schemas.openxmlformats.org/officeDocument/2006/relationships/image" Target="../media/image907.png"/><Relationship Id="rId19" Type="http://schemas.openxmlformats.org/officeDocument/2006/relationships/image" Target="../media/image908.png"/><Relationship Id="rId20" Type="http://schemas.openxmlformats.org/officeDocument/2006/relationships/image" Target="../media/image909.png"/><Relationship Id="rId21" Type="http://schemas.openxmlformats.org/officeDocument/2006/relationships/image" Target="../media/image910.png"/><Relationship Id="rId22" Type="http://schemas.openxmlformats.org/officeDocument/2006/relationships/image" Target="../media/image911.png"/><Relationship Id="rId23" Type="http://schemas.openxmlformats.org/officeDocument/2006/relationships/image" Target="../media/image912.png"/><Relationship Id="rId24" Type="http://schemas.openxmlformats.org/officeDocument/2006/relationships/image" Target="../media/image2.png"/><Relationship Id="rId25" Type="http://schemas.openxmlformats.org/officeDocument/2006/relationships/image" Target="../media/image913.png"/><Relationship Id="rId26" Type="http://schemas.openxmlformats.org/officeDocument/2006/relationships/image" Target="../media/image914.png"/><Relationship Id="rId27" Type="http://schemas.openxmlformats.org/officeDocument/2006/relationships/image" Target="../media/image586.png"/><Relationship Id="rId28" Type="http://schemas.openxmlformats.org/officeDocument/2006/relationships/image" Target="../media/image915.png"/><Relationship Id="rId29" Type="http://schemas.openxmlformats.org/officeDocument/2006/relationships/image" Target="../media/image634.png"/><Relationship Id="rId30" Type="http://schemas.openxmlformats.org/officeDocument/2006/relationships/image" Target="../media/image712.png"/><Relationship Id="rId31" Type="http://schemas.openxmlformats.org/officeDocument/2006/relationships/image" Target="../media/image581.png"/><Relationship Id="rId32" Type="http://schemas.openxmlformats.org/officeDocument/2006/relationships/image" Target="../media/image533.png"/><Relationship Id="rId33" Type="http://schemas.openxmlformats.org/officeDocument/2006/relationships/image" Target="../media/image532.png"/><Relationship Id="rId34" Type="http://schemas.openxmlformats.org/officeDocument/2006/relationships/image" Target="../media/image916.png"/><Relationship Id="rId35" Type="http://schemas.openxmlformats.org/officeDocument/2006/relationships/image" Target="../media/image917.png"/><Relationship Id="rId36" Type="http://schemas.openxmlformats.org/officeDocument/2006/relationships/image" Target="../media/image918.png"/><Relationship Id="rId37" Type="http://schemas.openxmlformats.org/officeDocument/2006/relationships/image" Target="../media/image919.png"/><Relationship Id="rId38" Type="http://schemas.openxmlformats.org/officeDocument/2006/relationships/image" Target="../media/image920.png"/><Relationship Id="rId39" Type="http://schemas.openxmlformats.org/officeDocument/2006/relationships/image" Target="../media/image921.png"/><Relationship Id="rId40" Type="http://schemas.openxmlformats.org/officeDocument/2006/relationships/image" Target="../media/image922.png"/><Relationship Id="rId41" Type="http://schemas.openxmlformats.org/officeDocument/2006/relationships/image" Target="../media/image923.png"/><Relationship Id="rId42" Type="http://schemas.openxmlformats.org/officeDocument/2006/relationships/image" Target="../media/image924.png"/></Relationships>
</file>

<file path=ppt/slides/_rels/slide25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99.xml"/><Relationship Id="rId4" Type="http://schemas.openxmlformats.org/officeDocument/2006/relationships/image" Target="../media/image2.png"/></Relationships>
</file>

<file path=ppt/slides/_rels/slide25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24.xml"/><Relationship Id="rId4" Type="http://schemas.openxmlformats.org/officeDocument/2006/relationships/chart" Target="../charts/chart125.xml"/><Relationship Id="rId5" Type="http://schemas.openxmlformats.org/officeDocument/2006/relationships/chart" Target="../charts/chart126.xml"/><Relationship Id="rId6" Type="http://schemas.openxmlformats.org/officeDocument/2006/relationships/notesSlide" Target="../notesSlides/notesSlide200.xml"/><Relationship Id="rId7" Type="http://schemas.openxmlformats.org/officeDocument/2006/relationships/image" Target="../media/image2.png"/></Relationships>
</file>

<file path=ppt/slides/_rels/slide25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27.xml"/><Relationship Id="rId4" Type="http://schemas.openxmlformats.org/officeDocument/2006/relationships/notesSlide" Target="../notesSlides/notesSlide201.xml"/><Relationship Id="rId5" Type="http://schemas.openxmlformats.org/officeDocument/2006/relationships/image" Target="../media/image2.png"/></Relationships>
</file>

<file path=ppt/slides/_rels/slide25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02.xml"/><Relationship Id="rId4" Type="http://schemas.openxmlformats.org/officeDocument/2006/relationships/image" Target="../media/image2.png"/></Relationships>
</file>

<file path=ppt/slides/_rels/slide25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03.xml"/><Relationship Id="rId4" Type="http://schemas.openxmlformats.org/officeDocument/2006/relationships/image" Target="../media/image935.png"/><Relationship Id="rId5" Type="http://schemas.openxmlformats.org/officeDocument/2006/relationships/image" Target="../media/image936.png"/><Relationship Id="rId6" Type="http://schemas.openxmlformats.org/officeDocument/2006/relationships/image" Target="../media/image937.png"/><Relationship Id="rId7" Type="http://schemas.openxmlformats.org/officeDocument/2006/relationships/image" Target="../media/image938.png"/><Relationship Id="rId8" Type="http://schemas.openxmlformats.org/officeDocument/2006/relationships/image" Target="../media/image939.png"/><Relationship Id="rId9" Type="http://schemas.openxmlformats.org/officeDocument/2006/relationships/image" Target="../media/image940.png"/><Relationship Id="rId10" Type="http://schemas.openxmlformats.org/officeDocument/2006/relationships/image" Target="../media/image941.png"/><Relationship Id="rId11" Type="http://schemas.openxmlformats.org/officeDocument/2006/relationships/image" Target="../media/image942.png"/><Relationship Id="rId12" Type="http://schemas.openxmlformats.org/officeDocument/2006/relationships/image" Target="../media/image943.png"/><Relationship Id="rId13" Type="http://schemas.openxmlformats.org/officeDocument/2006/relationships/image" Target="../media/image944.png"/><Relationship Id="rId14" Type="http://schemas.openxmlformats.org/officeDocument/2006/relationships/image" Target="../media/image945.png"/><Relationship Id="rId15" Type="http://schemas.openxmlformats.org/officeDocument/2006/relationships/image" Target="../media/image946.png"/><Relationship Id="rId16" Type="http://schemas.openxmlformats.org/officeDocument/2006/relationships/image" Target="../media/image947.png"/><Relationship Id="rId17" Type="http://schemas.openxmlformats.org/officeDocument/2006/relationships/image" Target="../media/image948.png"/><Relationship Id="rId18" Type="http://schemas.openxmlformats.org/officeDocument/2006/relationships/image" Target="../media/image949.png"/><Relationship Id="rId19" Type="http://schemas.openxmlformats.org/officeDocument/2006/relationships/image" Target="../media/image950.png"/><Relationship Id="rId20" Type="http://schemas.openxmlformats.org/officeDocument/2006/relationships/image" Target="../media/image951.png"/><Relationship Id="rId21" Type="http://schemas.openxmlformats.org/officeDocument/2006/relationships/image" Target="../media/image952.png"/><Relationship Id="rId22" Type="http://schemas.openxmlformats.org/officeDocument/2006/relationships/image" Target="../media/image953.png"/><Relationship Id="rId23" Type="http://schemas.openxmlformats.org/officeDocument/2006/relationships/image" Target="../media/image954.png"/><Relationship Id="rId24" Type="http://schemas.openxmlformats.org/officeDocument/2006/relationships/image" Target="../media/image2.png"/><Relationship Id="rId25" Type="http://schemas.openxmlformats.org/officeDocument/2006/relationships/image" Target="../media/image955.png"/><Relationship Id="rId26" Type="http://schemas.openxmlformats.org/officeDocument/2006/relationships/image" Target="../media/image956.png"/><Relationship Id="rId27" Type="http://schemas.openxmlformats.org/officeDocument/2006/relationships/image" Target="../media/image561.png"/><Relationship Id="rId28" Type="http://schemas.openxmlformats.org/officeDocument/2006/relationships/image" Target="../media/image915.png"/><Relationship Id="rId29" Type="http://schemas.openxmlformats.org/officeDocument/2006/relationships/image" Target="../media/image634.png"/><Relationship Id="rId30" Type="http://schemas.openxmlformats.org/officeDocument/2006/relationships/image" Target="../media/image712.png"/><Relationship Id="rId31" Type="http://schemas.openxmlformats.org/officeDocument/2006/relationships/image" Target="../media/image914.png"/><Relationship Id="rId32" Type="http://schemas.openxmlformats.org/officeDocument/2006/relationships/image" Target="../media/image957.png"/><Relationship Id="rId33" Type="http://schemas.openxmlformats.org/officeDocument/2006/relationships/image" Target="../media/image958.png"/><Relationship Id="rId34" Type="http://schemas.openxmlformats.org/officeDocument/2006/relationships/image" Target="../media/image959.png"/><Relationship Id="rId35" Type="http://schemas.openxmlformats.org/officeDocument/2006/relationships/image" Target="../media/image536.png"/><Relationship Id="rId36" Type="http://schemas.openxmlformats.org/officeDocument/2006/relationships/image" Target="../media/image621.png"/><Relationship Id="rId37" Type="http://schemas.openxmlformats.org/officeDocument/2006/relationships/image" Target="../media/image583.png"/><Relationship Id="rId38" Type="http://schemas.openxmlformats.org/officeDocument/2006/relationships/image" Target="../media/image960.png"/><Relationship Id="rId39" Type="http://schemas.openxmlformats.org/officeDocument/2006/relationships/image" Target="../media/image961.png"/><Relationship Id="rId40" Type="http://schemas.openxmlformats.org/officeDocument/2006/relationships/image" Target="../media/image962.png"/><Relationship Id="rId41" Type="http://schemas.openxmlformats.org/officeDocument/2006/relationships/image" Target="../media/image963.png"/><Relationship Id="rId42" Type="http://schemas.openxmlformats.org/officeDocument/2006/relationships/image" Target="../media/image964.png"/><Relationship Id="rId43" Type="http://schemas.openxmlformats.org/officeDocument/2006/relationships/image" Target="../media/image965.png"/><Relationship Id="rId44" Type="http://schemas.openxmlformats.org/officeDocument/2006/relationships/image" Target="../media/image966.png"/><Relationship Id="rId45" Type="http://schemas.openxmlformats.org/officeDocument/2006/relationships/image" Target="../media/image967.png"/></Relationships>
</file>

<file path=ppt/slides/_rels/slide25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04.xml"/><Relationship Id="rId4" Type="http://schemas.openxmlformats.org/officeDocument/2006/relationships/image" Target="../media/image2.png"/></Relationships>
</file>

<file path=ppt/slides/_rels/slide26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28.xml"/><Relationship Id="rId4" Type="http://schemas.openxmlformats.org/officeDocument/2006/relationships/chart" Target="../charts/chart129.xml"/><Relationship Id="rId5" Type="http://schemas.openxmlformats.org/officeDocument/2006/relationships/chart" Target="../charts/chart130.xml"/><Relationship Id="rId6" Type="http://schemas.openxmlformats.org/officeDocument/2006/relationships/notesSlide" Target="../notesSlides/notesSlide205.xml"/><Relationship Id="rId7" Type="http://schemas.openxmlformats.org/officeDocument/2006/relationships/image" Target="../media/image2.png"/></Relationships>
</file>

<file path=ppt/slides/_rels/slide26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31.xml"/><Relationship Id="rId4" Type="http://schemas.openxmlformats.org/officeDocument/2006/relationships/notesSlide" Target="../notesSlides/notesSlide206.xml"/><Relationship Id="rId5" Type="http://schemas.openxmlformats.org/officeDocument/2006/relationships/image" Target="../media/image2.png"/></Relationships>
</file>

<file path=ppt/slides/_rels/slide26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07.xml"/><Relationship Id="rId4" Type="http://schemas.openxmlformats.org/officeDocument/2006/relationships/image" Target="../media/image2.png"/></Relationships>
</file>

<file path=ppt/slides/_rels/slide26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08.xml"/><Relationship Id="rId4" Type="http://schemas.openxmlformats.org/officeDocument/2006/relationships/image" Target="../media/image978.png"/><Relationship Id="rId5" Type="http://schemas.openxmlformats.org/officeDocument/2006/relationships/image" Target="../media/image979.png"/><Relationship Id="rId6" Type="http://schemas.openxmlformats.org/officeDocument/2006/relationships/image" Target="../media/image980.png"/><Relationship Id="rId7" Type="http://schemas.openxmlformats.org/officeDocument/2006/relationships/image" Target="../media/image981.png"/><Relationship Id="rId8" Type="http://schemas.openxmlformats.org/officeDocument/2006/relationships/image" Target="../media/image982.png"/><Relationship Id="rId9" Type="http://schemas.openxmlformats.org/officeDocument/2006/relationships/image" Target="../media/image983.png"/><Relationship Id="rId10" Type="http://schemas.openxmlformats.org/officeDocument/2006/relationships/image" Target="../media/image984.png"/><Relationship Id="rId11" Type="http://schemas.openxmlformats.org/officeDocument/2006/relationships/image" Target="../media/image985.png"/><Relationship Id="rId12" Type="http://schemas.openxmlformats.org/officeDocument/2006/relationships/image" Target="../media/image986.png"/><Relationship Id="rId13" Type="http://schemas.openxmlformats.org/officeDocument/2006/relationships/image" Target="../media/image987.png"/><Relationship Id="rId14" Type="http://schemas.openxmlformats.org/officeDocument/2006/relationships/image" Target="../media/image988.png"/><Relationship Id="rId15" Type="http://schemas.openxmlformats.org/officeDocument/2006/relationships/image" Target="../media/image989.png"/><Relationship Id="rId16" Type="http://schemas.openxmlformats.org/officeDocument/2006/relationships/image" Target="../media/image990.png"/><Relationship Id="rId17" Type="http://schemas.openxmlformats.org/officeDocument/2006/relationships/image" Target="../media/image991.png"/><Relationship Id="rId18" Type="http://schemas.openxmlformats.org/officeDocument/2006/relationships/image" Target="../media/image992.png"/><Relationship Id="rId19" Type="http://schemas.openxmlformats.org/officeDocument/2006/relationships/image" Target="../media/image993.png"/><Relationship Id="rId20" Type="http://schemas.openxmlformats.org/officeDocument/2006/relationships/image" Target="../media/image109.png"/><Relationship Id="rId21" Type="http://schemas.openxmlformats.org/officeDocument/2006/relationships/image" Target="../media/image994.png"/><Relationship Id="rId22" Type="http://schemas.openxmlformats.org/officeDocument/2006/relationships/image" Target="../media/image995.png"/><Relationship Id="rId23" Type="http://schemas.openxmlformats.org/officeDocument/2006/relationships/image" Target="../media/image996.png"/><Relationship Id="rId24" Type="http://schemas.openxmlformats.org/officeDocument/2006/relationships/image" Target="../media/image2.png"/><Relationship Id="rId25" Type="http://schemas.openxmlformats.org/officeDocument/2006/relationships/image" Target="../media/image997.png"/><Relationship Id="rId26" Type="http://schemas.openxmlformats.org/officeDocument/2006/relationships/image" Target="../media/image630.png"/><Relationship Id="rId27" Type="http://schemas.openxmlformats.org/officeDocument/2006/relationships/image" Target="../media/image585.png"/><Relationship Id="rId28" Type="http://schemas.openxmlformats.org/officeDocument/2006/relationships/image" Target="../media/image634.png"/><Relationship Id="rId29" Type="http://schemas.openxmlformats.org/officeDocument/2006/relationships/image" Target="../media/image712.png"/><Relationship Id="rId30" Type="http://schemas.openxmlformats.org/officeDocument/2006/relationships/image" Target="../media/image914.png"/><Relationship Id="rId31" Type="http://schemas.openxmlformats.org/officeDocument/2006/relationships/image" Target="../media/image957.png"/><Relationship Id="rId32" Type="http://schemas.openxmlformats.org/officeDocument/2006/relationships/image" Target="../media/image998.png"/><Relationship Id="rId33" Type="http://schemas.openxmlformats.org/officeDocument/2006/relationships/image" Target="../media/image999.png"/><Relationship Id="rId34" Type="http://schemas.openxmlformats.org/officeDocument/2006/relationships/image" Target="../media/image582.png"/><Relationship Id="rId35" Type="http://schemas.openxmlformats.org/officeDocument/2006/relationships/image" Target="../media/image537.png"/><Relationship Id="rId36" Type="http://schemas.openxmlformats.org/officeDocument/2006/relationships/image" Target="../media/image545.png"/><Relationship Id="rId37" Type="http://schemas.openxmlformats.org/officeDocument/2006/relationships/image" Target="../media/image1000.png"/><Relationship Id="rId38" Type="http://schemas.openxmlformats.org/officeDocument/2006/relationships/image" Target="../media/image1001.png"/><Relationship Id="rId39" Type="http://schemas.openxmlformats.org/officeDocument/2006/relationships/image" Target="../media/image1002.png"/><Relationship Id="rId40" Type="http://schemas.openxmlformats.org/officeDocument/2006/relationships/image" Target="../media/image1003.png"/><Relationship Id="rId41" Type="http://schemas.openxmlformats.org/officeDocument/2006/relationships/image" Target="../media/image1004.png"/><Relationship Id="rId42" Type="http://schemas.openxmlformats.org/officeDocument/2006/relationships/image" Target="../media/image1005.png"/><Relationship Id="rId43" Type="http://schemas.openxmlformats.org/officeDocument/2006/relationships/image" Target="../media/image1006.png"/><Relationship Id="rId44" Type="http://schemas.openxmlformats.org/officeDocument/2006/relationships/image" Target="../media/image1007.png"/><Relationship Id="rId45" Type="http://schemas.openxmlformats.org/officeDocument/2006/relationships/image" Target="../media/image1008.png"/></Relationships>
</file>

<file path=ppt/slides/_rels/slide26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09.xml"/><Relationship Id="rId4" Type="http://schemas.openxmlformats.org/officeDocument/2006/relationships/image" Target="../media/image2.png"/></Relationships>
</file>

<file path=ppt/slides/slide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8F8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Oval 2"/>
          <p:cNvSpPr/>
          <p:nvPr/>
        </p:nvSpPr>
        <p:spPr>
          <a:xfrm>
            <a:off x="-1905000" y="4476750"/>
            <a:ext cx="5334000" cy="5334000"/>
          </a:xfrm>
          <a:prstGeom prst="ellipse">
            <a:avLst/>
          </a:prstGeom>
          <a:solidFill>
            <a:srgbClr val="EAF6FB">
              <a:alpha val="4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Oval 3"/>
          <p:cNvSpPr/>
          <p:nvPr/>
        </p:nvSpPr>
        <p:spPr>
          <a:xfrm>
            <a:off x="8001000" y="-2000250"/>
            <a:ext cx="5334000" cy="5334000"/>
          </a:xfrm>
          <a:prstGeom prst="ellipse">
            <a:avLst/>
          </a:prstGeom>
          <a:noFill/>
          <a:ln w="19050">
            <a:solidFill>
              <a:srgbClr val="B2B2B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Oval 4"/>
          <p:cNvSpPr/>
          <p:nvPr/>
        </p:nvSpPr>
        <p:spPr>
          <a:xfrm>
            <a:off x="8715375" y="-1285875"/>
            <a:ext cx="3905250" cy="3905250"/>
          </a:xfrm>
          <a:prstGeom prst="ellipse">
            <a:avLst/>
          </a:prstGeom>
          <a:noFill/>
          <a:ln w="19050">
            <a:solidFill>
              <a:srgbClr val="B2B2B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Oval 5"/>
          <p:cNvSpPr/>
          <p:nvPr/>
        </p:nvSpPr>
        <p:spPr>
          <a:xfrm>
            <a:off x="9382125" y="-619125"/>
            <a:ext cx="2571750" cy="2571750"/>
          </a:xfrm>
          <a:prstGeom prst="ellipse">
            <a:avLst/>
          </a:prstGeom>
          <a:noFill/>
          <a:ln w="19050">
            <a:solidFill>
              <a:srgbClr val="B2B2B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Oval 6"/>
          <p:cNvSpPr/>
          <p:nvPr/>
        </p:nvSpPr>
        <p:spPr>
          <a:xfrm>
            <a:off x="10096500" y="95250"/>
            <a:ext cx="1143000" cy="1143000"/>
          </a:xfrm>
          <a:prstGeom prst="ellipse">
            <a:avLst/>
          </a:prstGeom>
          <a:solidFill>
            <a:srgbClr val="EAF6FB">
              <a:alpha val="2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ounded Rectangle 7"/>
          <p:cNvSpPr/>
          <p:nvPr/>
        </p:nvSpPr>
        <p:spPr>
          <a:xfrm>
            <a:off x="9010650" y="5848350"/>
            <a:ext cx="228600" cy="247650"/>
          </a:xfrm>
          <a:prstGeom prst="roundRect">
            <a:avLst/>
          </a:prstGeom>
          <a:solidFill>
            <a:srgbClr val="3D85C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Rounded Rectangle 8"/>
          <p:cNvSpPr/>
          <p:nvPr/>
        </p:nvSpPr>
        <p:spPr>
          <a:xfrm>
            <a:off x="9391650" y="5676900"/>
            <a:ext cx="228600" cy="419100"/>
          </a:xfrm>
          <a:prstGeom prst="roundRect">
            <a:avLst/>
          </a:prstGeom>
          <a:solidFill>
            <a:srgbClr val="3D85C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" name="Rounded Rectangle 9"/>
          <p:cNvSpPr/>
          <p:nvPr/>
        </p:nvSpPr>
        <p:spPr>
          <a:xfrm>
            <a:off x="9772650" y="5772150"/>
            <a:ext cx="228600" cy="323850"/>
          </a:xfrm>
          <a:prstGeom prst="roundRect">
            <a:avLst/>
          </a:prstGeom>
          <a:solidFill>
            <a:srgbClr val="3D85C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Rounded Rectangle 10"/>
          <p:cNvSpPr/>
          <p:nvPr/>
        </p:nvSpPr>
        <p:spPr>
          <a:xfrm>
            <a:off x="10153650" y="5524500"/>
            <a:ext cx="228600" cy="571500"/>
          </a:xfrm>
          <a:prstGeom prst="roundRect">
            <a:avLst/>
          </a:prstGeom>
          <a:solidFill>
            <a:srgbClr val="3D85C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ounded Rectangle 11"/>
          <p:cNvSpPr/>
          <p:nvPr/>
        </p:nvSpPr>
        <p:spPr>
          <a:xfrm>
            <a:off x="10534650" y="5314950"/>
            <a:ext cx="228600" cy="781050"/>
          </a:xfrm>
          <a:prstGeom prst="roundRect">
            <a:avLst/>
          </a:prstGeom>
          <a:solidFill>
            <a:srgbClr val="3D85C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Rounded Rectangle 12"/>
          <p:cNvSpPr/>
          <p:nvPr/>
        </p:nvSpPr>
        <p:spPr>
          <a:xfrm>
            <a:off x="10915650" y="5600700"/>
            <a:ext cx="228600" cy="495300"/>
          </a:xfrm>
          <a:prstGeom prst="roundRect">
            <a:avLst/>
          </a:prstGeom>
          <a:solidFill>
            <a:srgbClr val="3D85C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Rounded Rectangle 13"/>
          <p:cNvSpPr/>
          <p:nvPr/>
        </p:nvSpPr>
        <p:spPr>
          <a:xfrm>
            <a:off x="11296650" y="5181600"/>
            <a:ext cx="228600" cy="914400"/>
          </a:xfrm>
          <a:prstGeom prst="roundRect">
            <a:avLst/>
          </a:prstGeom>
          <a:solidFill>
            <a:srgbClr val="3D85C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15" name="Picture 14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914400" y="381000"/>
            <a:ext cx="1307592" cy="1325880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1143000" y="2667000"/>
            <a:ext cx="9334500" cy="18097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3400" b="1">
                <a:solidFill>
                  <a:srgbClr val="0B2E4A"/>
                </a:solidFill>
                <a:latin typeface="Calibri"/>
              </a:rPr>
              <a:t>Europe Pet Cosmetic Products Market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162050" y="4686300"/>
            <a:ext cx="9334500" cy="8572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600" b="0">
                <a:solidFill>
                  <a:srgbClr val="6C7A89"/>
                </a:solidFill>
                <a:latin typeface="Calibri"/>
              </a:rPr>
              <a:t>Value (US$ Mn) and Volume (MT) Analysis and Forecast, 2021–2036</a:t>
            </a:r>
          </a:p>
          <a:p>
            <a:pPr algn="l"/>
            <a:r>
              <a:rPr sz="1100" b="0">
                <a:solidFill>
                  <a:srgbClr val="8FCBE6"/>
                </a:solidFill>
                <a:latin typeface="Calibri"/>
              </a:rPr>
              <a:t>Region focus: Europe   ·   Country focus: Germany   ·   Generated 06 Oct 2026   ·   Source: FMI Analysis, 2026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Agenda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Storyline of the report by section · click a section card to jump to it</a:t>
            </a:r>
          </a:p>
        </p:txBody>
      </p:sp>
      <p:sp>
        <p:nvSpPr>
          <p:cNvPr id="10" name="Rounded Rectangle 9">
            <a:hlinkClick action="ppaction://hlinksldjump" r:id="rId3"/>
          </p:cNvPr>
          <p:cNvSpPr/>
          <p:nvPr/>
        </p:nvSpPr>
        <p:spPr>
          <a:xfrm>
            <a:off x="314325" y="1135037"/>
            <a:ext cx="5657850" cy="328567"/>
          </a:xfrm>
          <a:prstGeom prst="roundRect">
            <a:avLst>
              <a:gd name="adj" fmla="val 22222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1. Market Signals</a:t>
            </a:r>
          </a:p>
        </p:txBody>
      </p:sp>
      <p:sp>
        <p:nvSpPr>
          <p:cNvPr id="11" name="Rounded Rectangle 10">
            <a:hlinkClick action="ppaction://hlinksldjump" r:id="rId4"/>
          </p:cNvPr>
          <p:cNvSpPr/>
          <p:nvPr/>
        </p:nvSpPr>
        <p:spPr>
          <a:xfrm>
            <a:off x="142875" y="1698873"/>
            <a:ext cx="5829300" cy="310313"/>
          </a:xfrm>
          <a:prstGeom prst="roundRect">
            <a:avLst>
              <a:gd name="adj" fmla="val 23529"/>
            </a:avLst>
          </a:prstGeom>
          <a:solidFill>
            <a:srgbClr val="E0E8EF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Market Overview</a:t>
            </a:r>
          </a:p>
        </p:txBody>
      </p:sp>
      <p:sp>
        <p:nvSpPr>
          <p:cNvPr id="12" name="Rounded Rectangle 11">
            <a:hlinkClick action="ppaction://hlinksldjump" r:id="rId5"/>
          </p:cNvPr>
          <p:cNvSpPr/>
          <p:nvPr/>
        </p:nvSpPr>
        <p:spPr>
          <a:xfrm>
            <a:off x="314325" y="2244456"/>
            <a:ext cx="5657850" cy="328567"/>
          </a:xfrm>
          <a:prstGeom prst="roundRect">
            <a:avLst>
              <a:gd name="adj" fmla="val 22222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2. Market Taxonomy</a:t>
            </a:r>
          </a:p>
        </p:txBody>
      </p:sp>
      <p:sp>
        <p:nvSpPr>
          <p:cNvPr id="13" name="Rounded Rectangle 12">
            <a:hlinkClick action="ppaction://hlinksldjump" r:id="rId6"/>
          </p:cNvPr>
          <p:cNvSpPr/>
          <p:nvPr/>
        </p:nvSpPr>
        <p:spPr>
          <a:xfrm>
            <a:off x="314325" y="2808293"/>
            <a:ext cx="5657850" cy="328567"/>
          </a:xfrm>
          <a:prstGeom prst="roundRect">
            <a:avLst>
              <a:gd name="adj" fmla="val 22222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3. Table of Contents</a:t>
            </a:r>
          </a:p>
        </p:txBody>
      </p:sp>
      <p:sp>
        <p:nvSpPr>
          <p:cNvPr id="14" name="Rounded Rectangle 13">
            <a:hlinkClick action="ppaction://hlinksldjump" r:id="rId7"/>
          </p:cNvPr>
          <p:cNvSpPr/>
          <p:nvPr/>
        </p:nvSpPr>
        <p:spPr>
          <a:xfrm>
            <a:off x="314325" y="3372129"/>
            <a:ext cx="5657850" cy="328567"/>
          </a:xfrm>
          <a:prstGeom prst="roundRect">
            <a:avLst>
              <a:gd name="adj" fmla="val 22222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4. List of Figures, List of Tables</a:t>
            </a:r>
          </a:p>
        </p:txBody>
      </p:sp>
      <p:sp>
        <p:nvSpPr>
          <p:cNvPr id="15" name="Rounded Rectangle 14">
            <a:hlinkClick action="ppaction://hlinksldjump" r:id="rId8"/>
          </p:cNvPr>
          <p:cNvSpPr/>
          <p:nvPr/>
        </p:nvSpPr>
        <p:spPr>
          <a:xfrm>
            <a:off x="142875" y="3935966"/>
            <a:ext cx="5829300" cy="310313"/>
          </a:xfrm>
          <a:prstGeom prst="roundRect">
            <a:avLst>
              <a:gd name="adj" fmla="val 23529"/>
            </a:avLst>
          </a:prstGeom>
          <a:solidFill>
            <a:srgbClr val="E0E8EF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Market Outlook</a:t>
            </a:r>
          </a:p>
        </p:txBody>
      </p:sp>
      <p:sp>
        <p:nvSpPr>
          <p:cNvPr id="16" name="Rounded Rectangle 15">
            <a:hlinkClick action="ppaction://hlinksldjump" r:id="rId9"/>
          </p:cNvPr>
          <p:cNvSpPr/>
          <p:nvPr/>
        </p:nvSpPr>
        <p:spPr>
          <a:xfrm>
            <a:off x="314325" y="4481548"/>
            <a:ext cx="5657850" cy="328567"/>
          </a:xfrm>
          <a:prstGeom prst="roundRect">
            <a:avLst>
              <a:gd name="adj" fmla="val 22222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5. Europe Overview</a:t>
            </a:r>
          </a:p>
        </p:txBody>
      </p:sp>
      <p:sp>
        <p:nvSpPr>
          <p:cNvPr id="17" name="Rounded Rectangle 16">
            <a:hlinkClick action="ppaction://hlinksldjump" r:id="rId10"/>
          </p:cNvPr>
          <p:cNvSpPr/>
          <p:nvPr/>
        </p:nvSpPr>
        <p:spPr>
          <a:xfrm>
            <a:off x="314325" y="5045384"/>
            <a:ext cx="5657850" cy="328567"/>
          </a:xfrm>
          <a:prstGeom prst="roundRect">
            <a:avLst>
              <a:gd name="adj" fmla="val 22222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6. Europe Market Analysis By Region</a:t>
            </a:r>
          </a:p>
        </p:txBody>
      </p:sp>
      <p:sp>
        <p:nvSpPr>
          <p:cNvPr id="18" name="Rounded Rectangle 17">
            <a:hlinkClick action="ppaction://hlinksldjump" r:id="rId11"/>
          </p:cNvPr>
          <p:cNvSpPr/>
          <p:nvPr/>
        </p:nvSpPr>
        <p:spPr>
          <a:xfrm>
            <a:off x="314325" y="5609221"/>
            <a:ext cx="5657850" cy="328567"/>
          </a:xfrm>
          <a:prstGeom prst="roundRect">
            <a:avLst>
              <a:gd name="adj" fmla="val 22222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7. Europe Market Analysis By Segments</a:t>
            </a:r>
          </a:p>
        </p:txBody>
      </p:sp>
      <p:sp>
        <p:nvSpPr>
          <p:cNvPr id="19" name="Rounded Rectangle 18">
            <a:hlinkClick action="ppaction://hlinksldjump" r:id="rId12"/>
          </p:cNvPr>
          <p:cNvSpPr/>
          <p:nvPr/>
        </p:nvSpPr>
        <p:spPr>
          <a:xfrm>
            <a:off x="314325" y="6173058"/>
            <a:ext cx="5657850" cy="328567"/>
          </a:xfrm>
          <a:prstGeom prst="roundRect">
            <a:avLst>
              <a:gd name="adj" fmla="val 22222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8. Cross-sectional Assessment</a:t>
            </a:r>
          </a:p>
        </p:txBody>
      </p:sp>
      <p:sp>
        <p:nvSpPr>
          <p:cNvPr id="20" name="Rounded Rectangle 19">
            <a:hlinkClick action="ppaction://hlinksldjump" r:id="rId13"/>
          </p:cNvPr>
          <p:cNvSpPr/>
          <p:nvPr/>
        </p:nvSpPr>
        <p:spPr>
          <a:xfrm>
            <a:off x="6219825" y="1135037"/>
            <a:ext cx="5829300" cy="310313"/>
          </a:xfrm>
          <a:prstGeom prst="roundRect">
            <a:avLst>
              <a:gd name="adj" fmla="val 23529"/>
            </a:avLst>
          </a:prstGeom>
          <a:solidFill>
            <a:srgbClr val="E0E8EF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Country Market Outlook</a:t>
            </a:r>
          </a:p>
        </p:txBody>
      </p:sp>
      <p:sp>
        <p:nvSpPr>
          <p:cNvPr id="21" name="Rounded Rectangle 20">
            <a:hlinkClick action="ppaction://hlinksldjump" r:id="rId14"/>
          </p:cNvPr>
          <p:cNvSpPr/>
          <p:nvPr/>
        </p:nvSpPr>
        <p:spPr>
          <a:xfrm>
            <a:off x="6391275" y="1542703"/>
            <a:ext cx="5657850" cy="328567"/>
          </a:xfrm>
          <a:prstGeom prst="roundRect">
            <a:avLst>
              <a:gd name="adj" fmla="val 22222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9. Pet Cosmetic Products Market Overview (Volume &amp; Value)</a:t>
            </a:r>
          </a:p>
        </p:txBody>
      </p:sp>
      <p:sp>
        <p:nvSpPr>
          <p:cNvPr id="22" name="Rounded Rectangle 21">
            <a:hlinkClick action="ppaction://hlinksldjump" r:id="rId15"/>
          </p:cNvPr>
          <p:cNvSpPr/>
          <p:nvPr/>
        </p:nvSpPr>
        <p:spPr>
          <a:xfrm>
            <a:off x="6391275" y="1968623"/>
            <a:ext cx="5657850" cy="328567"/>
          </a:xfrm>
          <a:prstGeom prst="roundRect">
            <a:avLst>
              <a:gd name="adj" fmla="val 22222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10. Segment Overview (Volume &amp; Value)</a:t>
            </a:r>
          </a:p>
        </p:txBody>
      </p:sp>
      <p:sp>
        <p:nvSpPr>
          <p:cNvPr id="23" name="Rounded Rectangle 22">
            <a:hlinkClick action="ppaction://hlinksldjump" r:id="rId16"/>
          </p:cNvPr>
          <p:cNvSpPr/>
          <p:nvPr/>
        </p:nvSpPr>
        <p:spPr>
          <a:xfrm>
            <a:off x="6391275" y="2394542"/>
            <a:ext cx="5657850" cy="328567"/>
          </a:xfrm>
          <a:prstGeom prst="roundRect">
            <a:avLst>
              <a:gd name="adj" fmla="val 22222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11. Cross-sectional Assessment</a:t>
            </a:r>
          </a:p>
        </p:txBody>
      </p:sp>
      <p:sp>
        <p:nvSpPr>
          <p:cNvPr id="24" name="Rounded Rectangle 23">
            <a:hlinkClick action="ppaction://hlinksldjump" r:id="rId17"/>
          </p:cNvPr>
          <p:cNvSpPr/>
          <p:nvPr/>
        </p:nvSpPr>
        <p:spPr>
          <a:xfrm>
            <a:off x="6219825" y="2820462"/>
            <a:ext cx="5829300" cy="310313"/>
          </a:xfrm>
          <a:prstGeom prst="roundRect">
            <a:avLst>
              <a:gd name="adj" fmla="val 23529"/>
            </a:avLst>
          </a:prstGeom>
          <a:solidFill>
            <a:srgbClr val="E0E8EF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Pricing Assessment</a:t>
            </a:r>
          </a:p>
        </p:txBody>
      </p:sp>
      <p:sp>
        <p:nvSpPr>
          <p:cNvPr id="25" name="Rounded Rectangle 24">
            <a:hlinkClick action="ppaction://hlinksldjump" r:id="rId18"/>
          </p:cNvPr>
          <p:cNvSpPr/>
          <p:nvPr/>
        </p:nvSpPr>
        <p:spPr>
          <a:xfrm>
            <a:off x="6391275" y="3228128"/>
            <a:ext cx="5657850" cy="328567"/>
          </a:xfrm>
          <a:prstGeom prst="roundRect">
            <a:avLst>
              <a:gd name="adj" fmla="val 22222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12. Pet Cosmetic Products Market Pricing Analysis</a:t>
            </a:r>
          </a:p>
        </p:txBody>
      </p:sp>
      <p:sp>
        <p:nvSpPr>
          <p:cNvPr id="26" name="Rounded Rectangle 25">
            <a:hlinkClick action="ppaction://hlinksldjump" r:id="rId19"/>
          </p:cNvPr>
          <p:cNvSpPr/>
          <p:nvPr/>
        </p:nvSpPr>
        <p:spPr>
          <a:xfrm>
            <a:off x="6391275" y="3654047"/>
            <a:ext cx="5657850" cy="328567"/>
          </a:xfrm>
          <a:prstGeom prst="roundRect">
            <a:avLst>
              <a:gd name="adj" fmla="val 22222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13. Supply Chain Analysis</a:t>
            </a:r>
          </a:p>
        </p:txBody>
      </p:sp>
      <p:sp>
        <p:nvSpPr>
          <p:cNvPr id="27" name="Rounded Rectangle 26">
            <a:hlinkClick action="ppaction://hlinksldjump" r:id="rId20"/>
          </p:cNvPr>
          <p:cNvSpPr/>
          <p:nvPr/>
        </p:nvSpPr>
        <p:spPr>
          <a:xfrm>
            <a:off x="6219825" y="4079967"/>
            <a:ext cx="5829300" cy="310313"/>
          </a:xfrm>
          <a:prstGeom prst="roundRect">
            <a:avLst>
              <a:gd name="adj" fmla="val 23529"/>
            </a:avLst>
          </a:prstGeom>
          <a:solidFill>
            <a:srgbClr val="E0E8EF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Market Dynamics</a:t>
            </a:r>
          </a:p>
        </p:txBody>
      </p:sp>
      <p:sp>
        <p:nvSpPr>
          <p:cNvPr id="28" name="Rounded Rectangle 27">
            <a:hlinkClick action="ppaction://hlinksldjump" r:id="rId21"/>
          </p:cNvPr>
          <p:cNvSpPr/>
          <p:nvPr/>
        </p:nvSpPr>
        <p:spPr>
          <a:xfrm>
            <a:off x="6391275" y="4487633"/>
            <a:ext cx="5657850" cy="328567"/>
          </a:xfrm>
          <a:prstGeom prst="roundRect">
            <a:avLst>
              <a:gd name="adj" fmla="val 22222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14. Market Dynamics &amp; Forces</a:t>
            </a:r>
          </a:p>
        </p:txBody>
      </p:sp>
      <p:sp>
        <p:nvSpPr>
          <p:cNvPr id="29" name="Rounded Rectangle 28">
            <a:hlinkClick action="ppaction://hlinksldjump" r:id="rId22"/>
          </p:cNvPr>
          <p:cNvSpPr/>
          <p:nvPr/>
        </p:nvSpPr>
        <p:spPr>
          <a:xfrm>
            <a:off x="6219825" y="4913552"/>
            <a:ext cx="5829300" cy="310313"/>
          </a:xfrm>
          <a:prstGeom prst="roundRect">
            <a:avLst>
              <a:gd name="adj" fmla="val 23529"/>
            </a:avLst>
          </a:prstGeom>
          <a:solidFill>
            <a:srgbClr val="E0E8EF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Competition Assessment</a:t>
            </a:r>
          </a:p>
        </p:txBody>
      </p:sp>
      <p:sp>
        <p:nvSpPr>
          <p:cNvPr id="30" name="Rounded Rectangle 29">
            <a:hlinkClick action="ppaction://hlinksldjump" r:id="rId23"/>
          </p:cNvPr>
          <p:cNvSpPr/>
          <p:nvPr/>
        </p:nvSpPr>
        <p:spPr>
          <a:xfrm>
            <a:off x="6391275" y="5321218"/>
            <a:ext cx="5657850" cy="328567"/>
          </a:xfrm>
          <a:prstGeom prst="roundRect">
            <a:avLst>
              <a:gd name="adj" fmla="val 22222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15. Competitive Landscape</a:t>
            </a:r>
          </a:p>
        </p:txBody>
      </p:sp>
      <p:sp>
        <p:nvSpPr>
          <p:cNvPr id="31" name="Rounded Rectangle 30">
            <a:hlinkClick action="ppaction://hlinksldjump" r:id="rId24"/>
          </p:cNvPr>
          <p:cNvSpPr/>
          <p:nvPr/>
        </p:nvSpPr>
        <p:spPr>
          <a:xfrm>
            <a:off x="6391275" y="5747138"/>
            <a:ext cx="5657850" cy="328567"/>
          </a:xfrm>
          <a:prstGeom prst="roundRect">
            <a:avLst>
              <a:gd name="adj" fmla="val 22222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16. Market Share by Leading Players</a:t>
            </a:r>
          </a:p>
        </p:txBody>
      </p:sp>
      <p:sp>
        <p:nvSpPr>
          <p:cNvPr id="32" name="Rounded Rectangle 31">
            <a:hlinkClick action="ppaction://hlinksldjump" r:id="rId25"/>
          </p:cNvPr>
          <p:cNvSpPr/>
          <p:nvPr/>
        </p:nvSpPr>
        <p:spPr>
          <a:xfrm>
            <a:off x="6391275" y="6173058"/>
            <a:ext cx="5657850" cy="328567"/>
          </a:xfrm>
          <a:prstGeom prst="roundRect">
            <a:avLst>
              <a:gd name="adj" fmla="val 22222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17. Company Profiles &amp; Strategic Benchmarking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31464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4893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Market Signals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4175125"/>
            <a:ext cx="8458200" cy="4889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Signals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Market Signals Reshaping Pet Cosmetic Products Demand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Signals reshaping Pet Cosmetic Products demand, the evidence behind each and what it implies for the Europe market</a:t>
            </a:r>
          </a:p>
        </p:txBody>
      </p:sp>
      <p:graphicFrame>
        <p:nvGraphicFramePr>
          <p:cNvPr id="10" name="Table 9"/>
          <p:cNvGraphicFramePr>
            <a:graphicFrameLocks noGrp="1"/>
          </p:cNvGraphicFramePr>
          <p:nvPr/>
        </p:nvGraphicFramePr>
        <p:xfrm>
          <a:off x="142875" y="1062022"/>
          <a:ext cx="11906250" cy="554912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571875"/>
                <a:gridCol w="5000625"/>
                <a:gridCol w="3333750"/>
              </a:tblGrid>
              <a:tr h="346820">
                <a:tc>
                  <a:txBody>
                    <a:bodyPr wrap="squar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QUESTIONS WE'RE HEARING</a:t>
                      </a:r>
                    </a:p>
                  </a:txBody>
                  <a:tcPr marL="70000" marR="70000" marT="45000" marB="45000" anchor="ctr">
                    <a:solidFill>
                      <a:srgbClr val="EAF1F8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WHAT WE'RE OBSERVING</a:t>
                      </a:r>
                    </a:p>
                  </a:txBody>
                  <a:tcPr marL="70000" marR="70000" marT="45000" marB="45000" anchor="ctr">
                    <a:solidFill>
                      <a:srgbClr val="EAF1F8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SELECT DATA POINTS</a:t>
                      </a:r>
                    </a:p>
                  </a:txBody>
                  <a:tcPr marL="70000" marR="70000" marT="45000" marB="45000" anchor="ctr">
                    <a:solidFill>
                      <a:srgbClr val="EAF1F8"/>
                    </a:solidFill>
                  </a:tcPr>
                </a:tc>
              </a:tr>
              <a:tr h="1040461">
                <a:tc>
                  <a:txBody>
                    <a:bodyPr wrap="squar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How fast is Pet Cosmetic Products demand set to grow through 2036?</a:t>
                      </a:r>
                    </a:p>
                  </a:txBody>
                  <a:tcPr marL="70000" marR="70000" marT="45000" marB="45000" anchor="ctr">
                    <a:solidFill>
                      <a:srgbClr val="FFFFF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/>
                      </a:r>
                    </a:p>
                  </a:txBody>
                  <a:tcPr marL="70000" marR="70000" marT="45000" marB="45000" anchor="ctr">
                    <a:solidFill>
                      <a:srgbClr val="FFFFF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l"/>
                      <a:r>
                        <a:rPr sz="1100"/>
                        <a:t> </a:t>
                      </a:r>
                    </a:p>
                  </a:txBody>
                  <a:tcPr marL="70000" marR="70000" marT="45000" marB="45000" anchor="ctr">
                    <a:solidFill>
                      <a:srgbClr val="FFFFFF"/>
                    </a:solidFill>
                  </a:tcPr>
                </a:tc>
              </a:tr>
              <a:tr h="1040461">
                <a:tc>
                  <a:txBody>
                    <a:bodyPr wrap="squar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Which product type categories are buyers prioritising?</a:t>
                      </a:r>
                    </a:p>
                  </a:txBody>
                  <a:tcPr marL="70000" marR="70000" marT="45000" marB="45000" anchor="ctr">
                    <a:solidFill>
                      <a:srgbClr val="F6F9FC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/>
                      </a:r>
                    </a:p>
                  </a:txBody>
                  <a:tcPr marL="70000" marR="70000" marT="45000" marB="45000" anchor="ctr">
                    <a:solidFill>
                      <a:srgbClr val="F6F9FC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/>
                      </a:r>
                    </a:p>
                  </a:txBody>
                  <a:tcPr marL="70000" marR="70000" marT="45000" marB="45000" anchor="ctr">
                    <a:solidFill>
                      <a:srgbClr val="F6F9FC"/>
                    </a:solidFill>
                  </a:tcPr>
                </a:tc>
              </a:tr>
              <a:tr h="1040461">
                <a:tc>
                  <a:txBody>
                    <a:bodyPr wrap="squar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Where is incremental demand concentrating?</a:t>
                      </a:r>
                    </a:p>
                  </a:txBody>
                  <a:tcPr marL="70000" marR="70000" marT="45000" marB="45000" anchor="ctr">
                    <a:solidFill>
                      <a:srgbClr val="FFFFF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/>
                      </a:r>
                    </a:p>
                  </a:txBody>
                  <a:tcPr marL="70000" marR="70000" marT="45000" marB="45000" anchor="ctr">
                    <a:solidFill>
                      <a:srgbClr val="FFFFF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/>
                      </a:r>
                    </a:p>
                  </a:txBody>
                  <a:tcPr marL="70000" marR="70000" marT="45000" marB="45000" anchor="ctr">
                    <a:solidFill>
                      <a:srgbClr val="FFFFFF"/>
                    </a:solidFill>
                  </a:tcPr>
                </a:tc>
              </a:tr>
              <a:tr h="1040461">
                <a:tc>
                  <a:txBody>
                    <a:bodyPr wrap="squar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Which regions will drive the next wave of Pet Cosmetic Products demand?</a:t>
                      </a:r>
                    </a:p>
                  </a:txBody>
                  <a:tcPr marL="70000" marR="70000" marT="45000" marB="45000" anchor="ctr">
                    <a:solidFill>
                      <a:srgbClr val="F6F9FC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/>
                      </a:r>
                    </a:p>
                  </a:txBody>
                  <a:tcPr marL="70000" marR="70000" marT="45000" marB="45000" anchor="ctr">
                    <a:solidFill>
                      <a:srgbClr val="F6F9FC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/>
                      </a:r>
                    </a:p>
                  </a:txBody>
                  <a:tcPr marL="70000" marR="70000" marT="45000" marB="45000" anchor="ctr">
                    <a:solidFill>
                      <a:srgbClr val="F6F9FC"/>
                    </a:solidFill>
                  </a:tcPr>
                </a:tc>
              </a:tr>
              <a:tr h="1040461">
                <a:tc>
                  <a:txBody>
                    <a:bodyPr wrap="squar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Where should suppliers focus investment?</a:t>
                      </a:r>
                    </a:p>
                  </a:txBody>
                  <a:tcPr marL="70000" marR="70000" marT="45000" marB="45000" anchor="ctr">
                    <a:solidFill>
                      <a:srgbClr val="FFFFF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/>
                      </a:r>
                    </a:p>
                  </a:txBody>
                  <a:tcPr marL="70000" marR="70000" marT="45000" marB="45000" anchor="ctr">
                    <a:solidFill>
                      <a:srgbClr val="FFFFF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/>
                      </a:r>
                    </a:p>
                  </a:txBody>
                  <a:tcPr marL="70000" marR="70000" marT="45000" marB="4500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3784750" y="1761432"/>
            <a:ext cx="173049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Europe demand expands at a</a:t>
            </a:r>
          </a:p>
        </p:txBody>
      </p:sp>
      <p:pic>
        <p:nvPicPr>
          <p:cNvPr id="13" name="Picture 1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463300" y="1751653"/>
            <a:ext cx="128699" cy="187198"/>
          </a:xfrm>
          <a:prstGeom prst="rect">
            <a:avLst/>
          </a:prstGeom>
        </p:spPr>
      </p:pic>
      <p:sp>
        <p:nvSpPr>
          <p:cNvPr id="14" name="TextBox 13"/>
          <p:cNvSpPr txBox="1"/>
          <p:nvPr/>
        </p:nvSpPr>
        <p:spPr>
          <a:xfrm>
            <a:off x="5630796" y="1761432"/>
            <a:ext cx="270810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forecast CAGR (2026–2036), accelerating from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286957" y="1751653"/>
            <a:ext cx="128699" cy="187198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784750" y="1929072"/>
            <a:ext cx="11378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2021–2025.</a:t>
            </a:r>
          </a:p>
        </p:txBody>
      </p:sp>
      <p:pic>
        <p:nvPicPr>
          <p:cNvPr id="17" name="Picture 16" descr="3_152___5_696_US__Mn_____CAGR_6_1_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671072" y="1796357"/>
            <a:ext cx="5422335" cy="265429"/>
          </a:xfrm>
          <a:prstGeom prst="rect">
            <a:avLst/>
          </a:prstGeom>
        </p:spPr>
      </p:pic>
      <p:pic>
        <p:nvPicPr>
          <p:cNvPr id="18" name="Picture 1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214228" y="1689042"/>
            <a:ext cx="330041" cy="480060"/>
          </a:xfrm>
          <a:prstGeom prst="rect">
            <a:avLst/>
          </a:prstGeom>
        </p:spPr>
      </p:pic>
      <p:sp>
        <p:nvSpPr>
          <p:cNvPr id="19" name="TextBox 18"/>
          <p:cNvSpPr txBox="1"/>
          <p:nvPr/>
        </p:nvSpPr>
        <p:spPr>
          <a:xfrm>
            <a:off x="3784750" y="2801893"/>
            <a:ext cx="319653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Shampoos &amp; Cleansing Products leads Product Type, at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29332" y="2792114"/>
            <a:ext cx="128699" cy="187198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7096827" y="2801893"/>
            <a:ext cx="136760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2036 value, within a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3784750" y="2969533"/>
            <a:ext cx="164509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mix of 6 tracked categories.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8785375" y="2801893"/>
            <a:ext cx="230676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Lead: Shampoos &amp; Cleansing Products ·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040188" y="2792114"/>
            <a:ext cx="128699" cy="187198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11207683" y="2801893"/>
            <a:ext cx="38943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8785375" y="2969533"/>
            <a:ext cx="44454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(2036)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3784750" y="3842354"/>
            <a:ext cx="360932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E-commerce is the fastest-growing part of Sales Channels, at a</a:t>
            </a:r>
          </a:p>
        </p:txBody>
      </p:sp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42126" y="3832575"/>
            <a:ext cx="128699" cy="187198"/>
          </a:xfrm>
          <a:prstGeom prst="rect">
            <a:avLst/>
          </a:prstGeom>
        </p:spPr>
      </p:pic>
      <p:sp>
        <p:nvSpPr>
          <p:cNvPr id="29" name="TextBox 28"/>
          <p:cNvSpPr txBox="1"/>
          <p:nvPr/>
        </p:nvSpPr>
        <p:spPr>
          <a:xfrm>
            <a:off x="7509622" y="3842354"/>
            <a:ext cx="88928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forecast CAGR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3784750" y="4009994"/>
            <a:ext cx="169229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outpacing the wider market.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8785375" y="3926174"/>
            <a:ext cx="132986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Fastest: E-commerce ·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063289" y="3916395"/>
            <a:ext cx="128699" cy="187198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10230785" y="3926174"/>
            <a:ext cx="50237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F-CAGR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3784750" y="4882815"/>
            <a:ext cx="224673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Europe is the largest regional market (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979535" y="4873036"/>
            <a:ext cx="128699" cy="187198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6147031" y="4882815"/>
            <a:ext cx="248738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2036 value), while Europe grows fastest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3784750" y="5050455"/>
            <a:ext cx="18997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at</a:t>
            </a:r>
          </a:p>
        </p:txBody>
      </p:sp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922780" y="5040676"/>
            <a:ext cx="128699" cy="187198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4090276" y="5050455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8785375" y="4966635"/>
            <a:ext cx="103745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Largest: Europe (</a:t>
            </a:r>
          </a:p>
        </p:txBody>
      </p:sp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770882" y="4956856"/>
            <a:ext cx="128699" cy="187198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9938378" y="4966635"/>
            <a:ext cx="117054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 · Fastest: Europe (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056977" y="4956856"/>
            <a:ext cx="128699" cy="187198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11224473" y="4966635"/>
            <a:ext cx="11849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3784750" y="5923276"/>
            <a:ext cx="94577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An incremental</a:t>
            </a:r>
          </a:p>
        </p:txBody>
      </p:sp>
      <p:pic>
        <p:nvPicPr>
          <p:cNvPr id="46" name="Picture 4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78579" y="5913497"/>
            <a:ext cx="128699" cy="187198"/>
          </a:xfrm>
          <a:prstGeom prst="rect">
            <a:avLst/>
          </a:prstGeom>
        </p:spPr>
      </p:pic>
      <p:sp>
        <p:nvSpPr>
          <p:cNvPr id="47" name="TextBox 46"/>
          <p:cNvSpPr txBox="1"/>
          <p:nvPr/>
        </p:nvSpPr>
        <p:spPr>
          <a:xfrm>
            <a:off x="4846075" y="5923276"/>
            <a:ext cx="312504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 of demand is added between 2026 and 2036,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3784750" y="6090916"/>
            <a:ext cx="33244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front-loaded in the leading categories and regions above.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8785375" y="6007096"/>
            <a:ext cx="85791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$ opportunity</a:t>
            </a:r>
          </a:p>
        </p:txBody>
      </p:sp>
      <p:pic>
        <p:nvPicPr>
          <p:cNvPr id="50" name="Picture 4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591346" y="5997317"/>
            <a:ext cx="128699" cy="187198"/>
          </a:xfrm>
          <a:prstGeom prst="rect">
            <a:avLst/>
          </a:prstGeom>
        </p:spPr>
      </p:pic>
      <p:sp>
        <p:nvSpPr>
          <p:cNvPr id="51" name="TextBox 50"/>
          <p:cNvSpPr txBox="1"/>
          <p:nvPr/>
        </p:nvSpPr>
        <p:spPr>
          <a:xfrm>
            <a:off x="9758842" y="6007096"/>
            <a:ext cx="134577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 (2026–2036) ·</a:t>
            </a:r>
          </a:p>
        </p:txBody>
      </p:sp>
      <p:pic>
        <p:nvPicPr>
          <p:cNvPr id="52" name="Picture 5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052672" y="5997317"/>
            <a:ext cx="128699" cy="187198"/>
          </a:xfrm>
          <a:prstGeom prst="rect">
            <a:avLst/>
          </a:prstGeom>
        </p:spPr>
      </p:pic>
      <p:sp>
        <p:nvSpPr>
          <p:cNvPr id="53" name="TextBox 52"/>
          <p:cNvSpPr txBox="1"/>
          <p:nvPr/>
        </p:nvSpPr>
        <p:spPr>
          <a:xfrm>
            <a:off x="11220167" y="6007096"/>
            <a:ext cx="52831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by 2031</a:t>
            </a:r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A2A63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FMI Section Breaker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0A2A63"/>
              </a:gs>
              <a:gs pos="100000">
                <a:srgbClr val="0F3F8F"/>
              </a:gs>
            </a:gsLst>
            <a:lin scaled="0" ang="195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399064" y="525547"/>
            <a:ext cx="1340395" cy="823424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4" name="Picture 3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5" name="TextBox 4"/>
          <p:cNvSpPr txBox="1"/>
          <p:nvPr/>
        </p:nvSpPr>
        <p:spPr>
          <a:xfrm>
            <a:off x="914400" y="3000375"/>
            <a:ext cx="7239000" cy="24765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400" b="0">
                <a:solidFill>
                  <a:srgbClr val="8FC8F2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6" name="FMI Breaker Title"/>
          <p:cNvSpPr txBox="1"/>
          <p:nvPr/>
        </p:nvSpPr>
        <p:spPr>
          <a:xfrm>
            <a:off x="914400" y="3305175"/>
            <a:ext cx="72390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 cap="all" spc="400">
                <a:solidFill>
                  <a:srgbClr val="FFFFFF"/>
                </a:solidFill>
                <a:latin typeface="Calibri"/>
              </a:rPr>
              <a:t>Market Overview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914400" y="4010025"/>
            <a:ext cx="71247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</a:t>
            </a:r>
            <a:r>
              <a:rPr sz="2000" b="0">
                <a:solidFill>
                  <a:srgbClr val="FFD447"/>
                </a:solidFill>
                <a:latin typeface="Calibri"/>
              </a:rPr>
              <a:t>Market Taxonomy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</a:t>
            </a:r>
            <a:r>
              <a:rPr sz="2000" b="0">
                <a:solidFill>
                  <a:srgbClr val="FFD447"/>
                </a:solidFill>
                <a:latin typeface="Calibri"/>
              </a:rPr>
              <a:t>Table of Contents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</a:t>
            </a:r>
            <a:r>
              <a:rPr sz="2000" b="0">
                <a:solidFill>
                  <a:srgbClr val="FFD447"/>
                </a:solidFill>
                <a:latin typeface="Calibri"/>
              </a:rPr>
              <a:t>List of Figures, List of Tables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4000500" y="6734175"/>
            <a:ext cx="8020050" cy="123825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r"/>
            <a:r>
              <a:rPr sz="700" b="0">
                <a:solidFill>
                  <a:srgbClr val="C9DCEE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2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Market Taxonomy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Geographic Coverage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Segments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Company Coverage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Market Taxonomy Regions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Geographic scope of the study: the Europe market broken into 25 countries and the countries assessed under each</a:t>
            </a:r>
          </a:p>
        </p:txBody>
      </p:sp>
      <p:cxnSp>
        <p:nvCxnSpPr>
          <p:cNvPr id="10" name="Connector 9"/>
          <p:cNvCxnSpPr/>
          <p:nvPr/>
        </p:nvCxnSpPr>
        <p:spPr>
          <a:xfrm>
            <a:off x="6096000" y="1445350"/>
            <a:ext cx="0" cy="182537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>
            <a:off x="6096000" y="1627887"/>
            <a:ext cx="0" cy="182537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6096000" y="2111610"/>
            <a:ext cx="0" cy="100395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 flipH="1">
            <a:off x="4086225" y="2212005"/>
            <a:ext cx="2009775" cy="0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>
            <a:off x="4086225" y="2212005"/>
            <a:ext cx="0" cy="4234858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" name="Connector 14"/>
          <p:cNvCxnSpPr/>
          <p:nvPr/>
        </p:nvCxnSpPr>
        <p:spPr>
          <a:xfrm flipH="1">
            <a:off x="3990975" y="2412796"/>
            <a:ext cx="95250" cy="0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" name="Connector 15"/>
          <p:cNvCxnSpPr/>
          <p:nvPr/>
        </p:nvCxnSpPr>
        <p:spPr>
          <a:xfrm flipH="1">
            <a:off x="3990975" y="2923899"/>
            <a:ext cx="95250" cy="0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" name="Connector 16"/>
          <p:cNvCxnSpPr/>
          <p:nvPr/>
        </p:nvCxnSpPr>
        <p:spPr>
          <a:xfrm flipH="1">
            <a:off x="3990975" y="3416749"/>
            <a:ext cx="95250" cy="0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" name="Connector 17"/>
          <p:cNvCxnSpPr/>
          <p:nvPr/>
        </p:nvCxnSpPr>
        <p:spPr>
          <a:xfrm flipH="1">
            <a:off x="3990975" y="3927853"/>
            <a:ext cx="95250" cy="0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" name="Connector 18"/>
          <p:cNvCxnSpPr/>
          <p:nvPr/>
        </p:nvCxnSpPr>
        <p:spPr>
          <a:xfrm flipH="1">
            <a:off x="3990975" y="4420703"/>
            <a:ext cx="95250" cy="0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" name="Connector 19"/>
          <p:cNvCxnSpPr/>
          <p:nvPr/>
        </p:nvCxnSpPr>
        <p:spPr>
          <a:xfrm flipH="1">
            <a:off x="3990975" y="4931806"/>
            <a:ext cx="95250" cy="0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 flipH="1">
            <a:off x="3990975" y="5442910"/>
            <a:ext cx="95250" cy="0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 flipH="1">
            <a:off x="3990975" y="5935759"/>
            <a:ext cx="95250" cy="0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 flipH="1">
            <a:off x="3990975" y="6446863"/>
            <a:ext cx="95250" cy="0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6096000" y="2111610"/>
            <a:ext cx="0" cy="155156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6096000" y="2567952"/>
            <a:ext cx="0" cy="200791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6096000" y="3069929"/>
            <a:ext cx="0" cy="200791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7" name="Connector 26"/>
          <p:cNvCxnSpPr/>
          <p:nvPr/>
        </p:nvCxnSpPr>
        <p:spPr>
          <a:xfrm>
            <a:off x="6096000" y="3571906"/>
            <a:ext cx="0" cy="200791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8" name="Connector 27"/>
          <p:cNvCxnSpPr/>
          <p:nvPr/>
        </p:nvCxnSpPr>
        <p:spPr>
          <a:xfrm>
            <a:off x="6096000" y="4073882"/>
            <a:ext cx="0" cy="200791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9" name="Connector 28"/>
          <p:cNvCxnSpPr/>
          <p:nvPr/>
        </p:nvCxnSpPr>
        <p:spPr>
          <a:xfrm>
            <a:off x="6096000" y="4575859"/>
            <a:ext cx="0" cy="209918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6096000" y="5086963"/>
            <a:ext cx="0" cy="200791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6096000" y="5588939"/>
            <a:ext cx="0" cy="200791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6096000" y="6090916"/>
            <a:ext cx="0" cy="200791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6096000" y="2111610"/>
            <a:ext cx="0" cy="100395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6096000" y="2212005"/>
            <a:ext cx="2000250" cy="0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8096250" y="2212005"/>
            <a:ext cx="0" cy="3249158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>
            <a:off x="8096250" y="2412796"/>
            <a:ext cx="95250" cy="0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7" name="Connector 36"/>
          <p:cNvCxnSpPr/>
          <p:nvPr/>
        </p:nvCxnSpPr>
        <p:spPr>
          <a:xfrm>
            <a:off x="8096250" y="2923899"/>
            <a:ext cx="95250" cy="0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8" name="Connector 37"/>
          <p:cNvCxnSpPr/>
          <p:nvPr/>
        </p:nvCxnSpPr>
        <p:spPr>
          <a:xfrm>
            <a:off x="8096250" y="3435003"/>
            <a:ext cx="95250" cy="0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9" name="Connector 38"/>
          <p:cNvCxnSpPr/>
          <p:nvPr/>
        </p:nvCxnSpPr>
        <p:spPr>
          <a:xfrm>
            <a:off x="8096250" y="3927853"/>
            <a:ext cx="95250" cy="0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0" name="Connector 39"/>
          <p:cNvCxnSpPr/>
          <p:nvPr/>
        </p:nvCxnSpPr>
        <p:spPr>
          <a:xfrm>
            <a:off x="8096250" y="4438956"/>
            <a:ext cx="95250" cy="0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1" name="Connector 40"/>
          <p:cNvCxnSpPr/>
          <p:nvPr/>
        </p:nvCxnSpPr>
        <p:spPr>
          <a:xfrm>
            <a:off x="8096250" y="4950060"/>
            <a:ext cx="95250" cy="0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2" name="Connector 41"/>
          <p:cNvCxnSpPr/>
          <p:nvPr/>
        </p:nvCxnSpPr>
        <p:spPr>
          <a:xfrm>
            <a:off x="8096250" y="5461163"/>
            <a:ext cx="95250" cy="0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3" name="Rounded Rectangle 42"/>
          <p:cNvSpPr/>
          <p:nvPr/>
        </p:nvSpPr>
        <p:spPr>
          <a:xfrm>
            <a:off x="4667250" y="1080276"/>
            <a:ext cx="2857500" cy="365074"/>
          </a:xfrm>
          <a:prstGeom prst="roundRect">
            <a:avLst>
              <a:gd name="adj" fmla="val 17500"/>
            </a:avLst>
          </a:prstGeom>
          <a:solidFill>
            <a:srgbClr val="0B2E4A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44" name="Rounded Rectangle 43"/>
          <p:cNvSpPr/>
          <p:nvPr/>
        </p:nvSpPr>
        <p:spPr>
          <a:xfrm>
            <a:off x="1990725" y="1810424"/>
            <a:ext cx="8201025" cy="301186"/>
          </a:xfrm>
          <a:prstGeom prst="roundRect">
            <a:avLst>
              <a:gd name="adj" fmla="val 21212"/>
            </a:avLst>
          </a:prstGeom>
          <a:solidFill>
            <a:srgbClr val="0E72AE"/>
          </a:solidFill>
          <a:ln w="12700">
            <a:solidFill>
              <a:srgbClr val="0E72A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Europe</a:t>
            </a:r>
          </a:p>
        </p:txBody>
      </p:sp>
      <p:sp>
        <p:nvSpPr>
          <p:cNvPr id="45" name="Rounded Rectangle 44"/>
          <p:cNvSpPr/>
          <p:nvPr/>
        </p:nvSpPr>
        <p:spPr>
          <a:xfrm>
            <a:off x="1990725" y="2266766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Austria</a:t>
            </a:r>
          </a:p>
        </p:txBody>
      </p:sp>
      <p:sp>
        <p:nvSpPr>
          <p:cNvPr id="46" name="Rounded Rectangle 45"/>
          <p:cNvSpPr/>
          <p:nvPr/>
        </p:nvSpPr>
        <p:spPr>
          <a:xfrm>
            <a:off x="1990725" y="2768743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Belgium</a:t>
            </a:r>
          </a:p>
        </p:txBody>
      </p:sp>
      <p:sp>
        <p:nvSpPr>
          <p:cNvPr id="47" name="Rounded Rectangle 46"/>
          <p:cNvSpPr/>
          <p:nvPr/>
        </p:nvSpPr>
        <p:spPr>
          <a:xfrm>
            <a:off x="1990725" y="3270720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Bulgaria</a:t>
            </a:r>
          </a:p>
        </p:txBody>
      </p:sp>
      <p:sp>
        <p:nvSpPr>
          <p:cNvPr id="48" name="Rounded Rectangle 47"/>
          <p:cNvSpPr/>
          <p:nvPr/>
        </p:nvSpPr>
        <p:spPr>
          <a:xfrm>
            <a:off x="1990725" y="3772696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Croatia</a:t>
            </a:r>
          </a:p>
        </p:txBody>
      </p:sp>
      <p:sp>
        <p:nvSpPr>
          <p:cNvPr id="49" name="Rounded Rectangle 48"/>
          <p:cNvSpPr/>
          <p:nvPr/>
        </p:nvSpPr>
        <p:spPr>
          <a:xfrm>
            <a:off x="1990725" y="4274673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Czech Republic</a:t>
            </a:r>
          </a:p>
        </p:txBody>
      </p:sp>
      <p:sp>
        <p:nvSpPr>
          <p:cNvPr id="50" name="Rounded Rectangle 49"/>
          <p:cNvSpPr/>
          <p:nvPr/>
        </p:nvSpPr>
        <p:spPr>
          <a:xfrm>
            <a:off x="1990725" y="4785777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Denmark</a:t>
            </a:r>
          </a:p>
        </p:txBody>
      </p:sp>
      <p:sp>
        <p:nvSpPr>
          <p:cNvPr id="51" name="Rounded Rectangle 50"/>
          <p:cNvSpPr/>
          <p:nvPr/>
        </p:nvSpPr>
        <p:spPr>
          <a:xfrm>
            <a:off x="1990725" y="5287753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Finland</a:t>
            </a:r>
          </a:p>
        </p:txBody>
      </p:sp>
      <p:sp>
        <p:nvSpPr>
          <p:cNvPr id="52" name="Rounded Rectangle 51"/>
          <p:cNvSpPr/>
          <p:nvPr/>
        </p:nvSpPr>
        <p:spPr>
          <a:xfrm>
            <a:off x="1990725" y="5789730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France</a:t>
            </a:r>
          </a:p>
        </p:txBody>
      </p:sp>
      <p:sp>
        <p:nvSpPr>
          <p:cNvPr id="53" name="Rounded Rectangle 52"/>
          <p:cNvSpPr/>
          <p:nvPr/>
        </p:nvSpPr>
        <p:spPr>
          <a:xfrm>
            <a:off x="1990725" y="6291707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54" name="Rounded Rectangle 53"/>
          <p:cNvSpPr/>
          <p:nvPr/>
        </p:nvSpPr>
        <p:spPr>
          <a:xfrm>
            <a:off x="5095875" y="2266766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Greece</a:t>
            </a:r>
          </a:p>
        </p:txBody>
      </p:sp>
      <p:sp>
        <p:nvSpPr>
          <p:cNvPr id="55" name="Rounded Rectangle 54"/>
          <p:cNvSpPr/>
          <p:nvPr/>
        </p:nvSpPr>
        <p:spPr>
          <a:xfrm>
            <a:off x="5095875" y="2768743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Hungary</a:t>
            </a:r>
          </a:p>
        </p:txBody>
      </p:sp>
      <p:sp>
        <p:nvSpPr>
          <p:cNvPr id="56" name="Rounded Rectangle 55"/>
          <p:cNvSpPr/>
          <p:nvPr/>
        </p:nvSpPr>
        <p:spPr>
          <a:xfrm>
            <a:off x="5095875" y="3270720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Ireland</a:t>
            </a:r>
          </a:p>
        </p:txBody>
      </p:sp>
      <p:sp>
        <p:nvSpPr>
          <p:cNvPr id="57" name="Rounded Rectangle 56"/>
          <p:cNvSpPr/>
          <p:nvPr/>
        </p:nvSpPr>
        <p:spPr>
          <a:xfrm>
            <a:off x="5095875" y="3772696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Italy</a:t>
            </a:r>
          </a:p>
        </p:txBody>
      </p:sp>
      <p:sp>
        <p:nvSpPr>
          <p:cNvPr id="58" name="Rounded Rectangle 57"/>
          <p:cNvSpPr/>
          <p:nvPr/>
        </p:nvSpPr>
        <p:spPr>
          <a:xfrm>
            <a:off x="5095875" y="4274673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Malta</a:t>
            </a:r>
          </a:p>
        </p:txBody>
      </p:sp>
      <p:sp>
        <p:nvSpPr>
          <p:cNvPr id="59" name="Rounded Rectangle 58"/>
          <p:cNvSpPr/>
          <p:nvPr/>
        </p:nvSpPr>
        <p:spPr>
          <a:xfrm>
            <a:off x="5095875" y="4785777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Netherlands</a:t>
            </a:r>
          </a:p>
        </p:txBody>
      </p:sp>
      <p:sp>
        <p:nvSpPr>
          <p:cNvPr id="60" name="Rounded Rectangle 59"/>
          <p:cNvSpPr/>
          <p:nvPr/>
        </p:nvSpPr>
        <p:spPr>
          <a:xfrm>
            <a:off x="5095875" y="5287753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Norway</a:t>
            </a:r>
          </a:p>
        </p:txBody>
      </p:sp>
      <p:sp>
        <p:nvSpPr>
          <p:cNvPr id="61" name="Rounded Rectangle 60"/>
          <p:cNvSpPr/>
          <p:nvPr/>
        </p:nvSpPr>
        <p:spPr>
          <a:xfrm>
            <a:off x="5095875" y="5789730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Poland</a:t>
            </a:r>
          </a:p>
        </p:txBody>
      </p:sp>
      <p:sp>
        <p:nvSpPr>
          <p:cNvPr id="62" name="Rounded Rectangle 61"/>
          <p:cNvSpPr/>
          <p:nvPr/>
        </p:nvSpPr>
        <p:spPr>
          <a:xfrm>
            <a:off x="5095875" y="6291707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Portugal</a:t>
            </a:r>
          </a:p>
        </p:txBody>
      </p:sp>
      <p:sp>
        <p:nvSpPr>
          <p:cNvPr id="63" name="Rounded Rectangle 62"/>
          <p:cNvSpPr/>
          <p:nvPr/>
        </p:nvSpPr>
        <p:spPr>
          <a:xfrm>
            <a:off x="8191500" y="2266766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Romania</a:t>
            </a:r>
          </a:p>
        </p:txBody>
      </p:sp>
      <p:sp>
        <p:nvSpPr>
          <p:cNvPr id="64" name="Rounded Rectangle 63"/>
          <p:cNvSpPr/>
          <p:nvPr/>
        </p:nvSpPr>
        <p:spPr>
          <a:xfrm>
            <a:off x="8191500" y="2777870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Slovenia</a:t>
            </a:r>
          </a:p>
        </p:txBody>
      </p:sp>
      <p:sp>
        <p:nvSpPr>
          <p:cNvPr id="65" name="Rounded Rectangle 64"/>
          <p:cNvSpPr/>
          <p:nvPr/>
        </p:nvSpPr>
        <p:spPr>
          <a:xfrm>
            <a:off x="8191500" y="3279846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Spain</a:t>
            </a:r>
          </a:p>
        </p:txBody>
      </p:sp>
      <p:sp>
        <p:nvSpPr>
          <p:cNvPr id="66" name="Rounded Rectangle 65"/>
          <p:cNvSpPr/>
          <p:nvPr/>
        </p:nvSpPr>
        <p:spPr>
          <a:xfrm>
            <a:off x="8191500" y="3781823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Sweden</a:t>
            </a:r>
          </a:p>
        </p:txBody>
      </p:sp>
      <p:sp>
        <p:nvSpPr>
          <p:cNvPr id="67" name="Rounded Rectangle 66"/>
          <p:cNvSpPr/>
          <p:nvPr/>
        </p:nvSpPr>
        <p:spPr>
          <a:xfrm>
            <a:off x="8191500" y="4292927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Switzerland</a:t>
            </a:r>
          </a:p>
        </p:txBody>
      </p:sp>
      <p:sp>
        <p:nvSpPr>
          <p:cNvPr id="68" name="Rounded Rectangle 67"/>
          <p:cNvSpPr/>
          <p:nvPr/>
        </p:nvSpPr>
        <p:spPr>
          <a:xfrm>
            <a:off x="8191500" y="4804030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United Kingdom</a:t>
            </a:r>
          </a:p>
        </p:txBody>
      </p:sp>
      <p:sp>
        <p:nvSpPr>
          <p:cNvPr id="69" name="Rounded Rectangle 68"/>
          <p:cNvSpPr/>
          <p:nvPr/>
        </p:nvSpPr>
        <p:spPr>
          <a:xfrm>
            <a:off x="8191500" y="5306007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Other European Countries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Market Taxonomy Segments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Segmentation framework of the study: 8 axes and the sub-segments sized under each</a:t>
            </a:r>
          </a:p>
        </p:txBody>
      </p:sp>
      <p:sp>
        <p:nvSpPr>
          <p:cNvPr id="10" name="Rectangle 9"/>
          <p:cNvSpPr/>
          <p:nvPr/>
        </p:nvSpPr>
        <p:spPr>
          <a:xfrm>
            <a:off x="142875" y="1028700"/>
            <a:ext cx="2876550" cy="5543550"/>
          </a:xfrm>
          <a:prstGeom prst="rect">
            <a:avLst/>
          </a:prstGeom>
          <a:solidFill>
            <a:srgbClr val="FFFFFF"/>
          </a:solidFill>
          <a:ln w="1270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Rectangle 10"/>
          <p:cNvSpPr/>
          <p:nvPr/>
        </p:nvSpPr>
        <p:spPr>
          <a:xfrm>
            <a:off x="142875" y="1028700"/>
            <a:ext cx="2876550" cy="228600"/>
          </a:xfrm>
          <a:prstGeom prst="rect">
            <a:avLst/>
          </a:prstGeom>
          <a:solidFill>
            <a:srgbClr val="0B2E4A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19075" y="1028700"/>
            <a:ext cx="27241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By Product Type (1/2)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200025" y="125730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390525" y="125730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Shampoos &amp; Cleansing Products</a:t>
            </a:r>
          </a:p>
        </p:txBody>
      </p:sp>
      <p:cxnSp>
        <p:nvCxnSpPr>
          <p:cNvPr id="15" name="Connector 14"/>
          <p:cNvCxnSpPr/>
          <p:nvPr/>
        </p:nvCxnSpPr>
        <p:spPr>
          <a:xfrm>
            <a:off x="152400" y="143446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" name="TextBox 15"/>
          <p:cNvSpPr txBox="1"/>
          <p:nvPr/>
        </p:nvSpPr>
        <p:spPr>
          <a:xfrm>
            <a:off x="371475" y="143446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561975" y="143446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Regular Shampoos</a:t>
            </a:r>
          </a:p>
        </p:txBody>
      </p:sp>
      <p:cxnSp>
        <p:nvCxnSpPr>
          <p:cNvPr id="18" name="Connector 17"/>
          <p:cNvCxnSpPr/>
          <p:nvPr/>
        </p:nvCxnSpPr>
        <p:spPr>
          <a:xfrm>
            <a:off x="152400" y="161163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" name="TextBox 18"/>
          <p:cNvSpPr txBox="1"/>
          <p:nvPr/>
        </p:nvSpPr>
        <p:spPr>
          <a:xfrm>
            <a:off x="371475" y="161163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561975" y="161163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Sensitive &amp; Hypoallergenic Shampoos</a:t>
            </a:r>
          </a:p>
        </p:txBody>
      </p:sp>
      <p:cxnSp>
        <p:nvCxnSpPr>
          <p:cNvPr id="21" name="Connector 20"/>
          <p:cNvCxnSpPr/>
          <p:nvPr/>
        </p:nvCxnSpPr>
        <p:spPr>
          <a:xfrm>
            <a:off x="152400" y="178879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" name="TextBox 21"/>
          <p:cNvSpPr txBox="1"/>
          <p:nvPr/>
        </p:nvSpPr>
        <p:spPr>
          <a:xfrm>
            <a:off x="371475" y="178879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61975" y="178879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Functional &amp; Specialized Shampoos</a:t>
            </a:r>
          </a:p>
        </p:txBody>
      </p:sp>
      <p:cxnSp>
        <p:nvCxnSpPr>
          <p:cNvPr id="24" name="Connector 23"/>
          <p:cNvCxnSpPr/>
          <p:nvPr/>
        </p:nvCxnSpPr>
        <p:spPr>
          <a:xfrm>
            <a:off x="152400" y="196596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" name="TextBox 24"/>
          <p:cNvSpPr txBox="1"/>
          <p:nvPr/>
        </p:nvSpPr>
        <p:spPr>
          <a:xfrm>
            <a:off x="371475" y="196596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561975" y="196596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Waterless &amp; Dry Shampoos</a:t>
            </a:r>
          </a:p>
        </p:txBody>
      </p:sp>
      <p:cxnSp>
        <p:nvCxnSpPr>
          <p:cNvPr id="27" name="Connector 26"/>
          <p:cNvCxnSpPr/>
          <p:nvPr/>
        </p:nvCxnSpPr>
        <p:spPr>
          <a:xfrm>
            <a:off x="152400" y="214312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8" name="TextBox 27"/>
          <p:cNvSpPr txBox="1"/>
          <p:nvPr/>
        </p:nvSpPr>
        <p:spPr>
          <a:xfrm>
            <a:off x="371475" y="214312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561975" y="214312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Cleansing Foams</a:t>
            </a:r>
          </a:p>
        </p:txBody>
      </p:sp>
      <p:cxnSp>
        <p:nvCxnSpPr>
          <p:cNvPr id="30" name="Connector 29"/>
          <p:cNvCxnSpPr/>
          <p:nvPr/>
        </p:nvCxnSpPr>
        <p:spPr>
          <a:xfrm>
            <a:off x="152400" y="232029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1" name="TextBox 30"/>
          <p:cNvSpPr txBox="1"/>
          <p:nvPr/>
        </p:nvSpPr>
        <p:spPr>
          <a:xfrm>
            <a:off x="371475" y="232029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561975" y="232029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Body &amp; Facial Cleansing Wipes</a:t>
            </a:r>
          </a:p>
        </p:txBody>
      </p:sp>
      <p:cxnSp>
        <p:nvCxnSpPr>
          <p:cNvPr id="33" name="Connector 32"/>
          <p:cNvCxnSpPr/>
          <p:nvPr/>
        </p:nvCxnSpPr>
        <p:spPr>
          <a:xfrm>
            <a:off x="152400" y="249745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4" name="TextBox 33"/>
          <p:cNvSpPr txBox="1"/>
          <p:nvPr/>
        </p:nvSpPr>
        <p:spPr>
          <a:xfrm>
            <a:off x="200025" y="249745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390525" y="2497455"/>
            <a:ext cx="2590800" cy="35433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1">
                <a:solidFill>
                  <a:srgbClr val="2E2E2E"/>
                </a:solidFill>
                <a:latin typeface="Calibri"/>
              </a:rPr>
              <a:t>Coat Conditioning &amp; Grooming Products</a:t>
            </a:r>
          </a:p>
        </p:txBody>
      </p:sp>
      <p:cxnSp>
        <p:nvCxnSpPr>
          <p:cNvPr id="36" name="Connector 35"/>
          <p:cNvCxnSpPr/>
          <p:nvPr/>
        </p:nvCxnSpPr>
        <p:spPr>
          <a:xfrm>
            <a:off x="152400" y="285178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7" name="TextBox 36"/>
          <p:cNvSpPr txBox="1"/>
          <p:nvPr/>
        </p:nvSpPr>
        <p:spPr>
          <a:xfrm>
            <a:off x="371475" y="285178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561975" y="285178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Rinse-Out Conditioners</a:t>
            </a:r>
          </a:p>
        </p:txBody>
      </p:sp>
      <p:cxnSp>
        <p:nvCxnSpPr>
          <p:cNvPr id="39" name="Connector 38"/>
          <p:cNvCxnSpPr/>
          <p:nvPr/>
        </p:nvCxnSpPr>
        <p:spPr>
          <a:xfrm>
            <a:off x="152400" y="302895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0" name="TextBox 39"/>
          <p:cNvSpPr txBox="1"/>
          <p:nvPr/>
        </p:nvSpPr>
        <p:spPr>
          <a:xfrm>
            <a:off x="371475" y="302895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561975" y="302895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Leave-In Conditioners</a:t>
            </a:r>
          </a:p>
        </p:txBody>
      </p:sp>
      <p:cxnSp>
        <p:nvCxnSpPr>
          <p:cNvPr id="42" name="Connector 41"/>
          <p:cNvCxnSpPr/>
          <p:nvPr/>
        </p:nvCxnSpPr>
        <p:spPr>
          <a:xfrm>
            <a:off x="152400" y="320611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3" name="TextBox 42"/>
          <p:cNvSpPr txBox="1"/>
          <p:nvPr/>
        </p:nvSpPr>
        <p:spPr>
          <a:xfrm>
            <a:off x="371475" y="320611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561975" y="320611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Detangling Sprays</a:t>
            </a:r>
          </a:p>
        </p:txBody>
      </p:sp>
      <p:cxnSp>
        <p:nvCxnSpPr>
          <p:cNvPr id="45" name="Connector 44"/>
          <p:cNvCxnSpPr/>
          <p:nvPr/>
        </p:nvCxnSpPr>
        <p:spPr>
          <a:xfrm>
            <a:off x="152400" y="338328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6" name="TextBox 45"/>
          <p:cNvSpPr txBox="1"/>
          <p:nvPr/>
        </p:nvSpPr>
        <p:spPr>
          <a:xfrm>
            <a:off x="371475" y="338328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561975" y="338328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De-shedding Products</a:t>
            </a:r>
          </a:p>
        </p:txBody>
      </p:sp>
      <p:cxnSp>
        <p:nvCxnSpPr>
          <p:cNvPr id="48" name="Connector 47"/>
          <p:cNvCxnSpPr/>
          <p:nvPr/>
        </p:nvCxnSpPr>
        <p:spPr>
          <a:xfrm>
            <a:off x="152400" y="356044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9" name="TextBox 48"/>
          <p:cNvSpPr txBox="1"/>
          <p:nvPr/>
        </p:nvSpPr>
        <p:spPr>
          <a:xfrm>
            <a:off x="371475" y="356044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561975" y="356044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Coat Shine Sprays</a:t>
            </a:r>
          </a:p>
        </p:txBody>
      </p:sp>
      <p:cxnSp>
        <p:nvCxnSpPr>
          <p:cNvPr id="51" name="Connector 50"/>
          <p:cNvCxnSpPr/>
          <p:nvPr/>
        </p:nvCxnSpPr>
        <p:spPr>
          <a:xfrm>
            <a:off x="152400" y="373761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2" name="TextBox 51"/>
          <p:cNvSpPr txBox="1"/>
          <p:nvPr/>
        </p:nvSpPr>
        <p:spPr>
          <a:xfrm>
            <a:off x="371475" y="373761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561975" y="373761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Coat Conditioning Treatments</a:t>
            </a:r>
          </a:p>
        </p:txBody>
      </p:sp>
      <p:cxnSp>
        <p:nvCxnSpPr>
          <p:cNvPr id="54" name="Connector 53"/>
          <p:cNvCxnSpPr/>
          <p:nvPr/>
        </p:nvCxnSpPr>
        <p:spPr>
          <a:xfrm>
            <a:off x="152400" y="391477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5" name="TextBox 54"/>
          <p:cNvSpPr txBox="1"/>
          <p:nvPr/>
        </p:nvSpPr>
        <p:spPr>
          <a:xfrm>
            <a:off x="200025" y="391477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390525" y="391477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Skin, Paw &amp; Nose Care Products</a:t>
            </a:r>
          </a:p>
        </p:txBody>
      </p:sp>
      <p:cxnSp>
        <p:nvCxnSpPr>
          <p:cNvPr id="57" name="Connector 56"/>
          <p:cNvCxnSpPr/>
          <p:nvPr/>
        </p:nvCxnSpPr>
        <p:spPr>
          <a:xfrm>
            <a:off x="152400" y="409194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8" name="TextBox 57"/>
          <p:cNvSpPr txBox="1"/>
          <p:nvPr/>
        </p:nvSpPr>
        <p:spPr>
          <a:xfrm>
            <a:off x="371475" y="409194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561975" y="409194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Skin Creams &amp; Lotions</a:t>
            </a:r>
          </a:p>
        </p:txBody>
      </p:sp>
      <p:cxnSp>
        <p:nvCxnSpPr>
          <p:cNvPr id="60" name="Connector 59"/>
          <p:cNvCxnSpPr/>
          <p:nvPr/>
        </p:nvCxnSpPr>
        <p:spPr>
          <a:xfrm>
            <a:off x="152400" y="426910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1" name="TextBox 60"/>
          <p:cNvSpPr txBox="1"/>
          <p:nvPr/>
        </p:nvSpPr>
        <p:spPr>
          <a:xfrm>
            <a:off x="371475" y="426910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561975" y="426910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Moisturizing &amp; Soothing Treatments</a:t>
            </a:r>
          </a:p>
        </p:txBody>
      </p:sp>
      <p:cxnSp>
        <p:nvCxnSpPr>
          <p:cNvPr id="63" name="Connector 62"/>
          <p:cNvCxnSpPr/>
          <p:nvPr/>
        </p:nvCxnSpPr>
        <p:spPr>
          <a:xfrm>
            <a:off x="152400" y="444627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4" name="TextBox 63"/>
          <p:cNvSpPr txBox="1"/>
          <p:nvPr/>
        </p:nvSpPr>
        <p:spPr>
          <a:xfrm>
            <a:off x="371475" y="444627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561975" y="444627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Moisturizing Sprays &amp; Serums</a:t>
            </a:r>
          </a:p>
        </p:txBody>
      </p:sp>
      <p:cxnSp>
        <p:nvCxnSpPr>
          <p:cNvPr id="66" name="Connector 65"/>
          <p:cNvCxnSpPr/>
          <p:nvPr/>
        </p:nvCxnSpPr>
        <p:spPr>
          <a:xfrm>
            <a:off x="152400" y="462343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7" name="TextBox 66"/>
          <p:cNvSpPr txBox="1"/>
          <p:nvPr/>
        </p:nvSpPr>
        <p:spPr>
          <a:xfrm>
            <a:off x="371475" y="462343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561975" y="462343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Paw Balms &amp; Creams</a:t>
            </a:r>
          </a:p>
        </p:txBody>
      </p:sp>
      <p:cxnSp>
        <p:nvCxnSpPr>
          <p:cNvPr id="69" name="Connector 68"/>
          <p:cNvCxnSpPr/>
          <p:nvPr/>
        </p:nvCxnSpPr>
        <p:spPr>
          <a:xfrm>
            <a:off x="152400" y="480060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0" name="TextBox 69"/>
          <p:cNvSpPr txBox="1"/>
          <p:nvPr/>
        </p:nvSpPr>
        <p:spPr>
          <a:xfrm>
            <a:off x="371475" y="480060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561975" y="480060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Nose Balms</a:t>
            </a:r>
          </a:p>
        </p:txBody>
      </p:sp>
      <p:cxnSp>
        <p:nvCxnSpPr>
          <p:cNvPr id="72" name="Connector 71"/>
          <p:cNvCxnSpPr/>
          <p:nvPr/>
        </p:nvCxnSpPr>
        <p:spPr>
          <a:xfrm>
            <a:off x="152400" y="497776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3" name="TextBox 72"/>
          <p:cNvSpPr txBox="1"/>
          <p:nvPr/>
        </p:nvSpPr>
        <p:spPr>
          <a:xfrm>
            <a:off x="371475" y="497776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561975" y="497776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Sunscreens</a:t>
            </a:r>
          </a:p>
        </p:txBody>
      </p:sp>
      <p:cxnSp>
        <p:nvCxnSpPr>
          <p:cNvPr id="75" name="Connector 74"/>
          <p:cNvCxnSpPr/>
          <p:nvPr/>
        </p:nvCxnSpPr>
        <p:spPr>
          <a:xfrm>
            <a:off x="152400" y="515493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6" name="TextBox 75"/>
          <p:cNvSpPr txBox="1"/>
          <p:nvPr/>
        </p:nvSpPr>
        <p:spPr>
          <a:xfrm>
            <a:off x="200025" y="515493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390525" y="515493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Ear &amp; Eye Hygiene Products</a:t>
            </a:r>
          </a:p>
        </p:txBody>
      </p:sp>
      <p:cxnSp>
        <p:nvCxnSpPr>
          <p:cNvPr id="78" name="Connector 77"/>
          <p:cNvCxnSpPr/>
          <p:nvPr/>
        </p:nvCxnSpPr>
        <p:spPr>
          <a:xfrm>
            <a:off x="152400" y="533209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9" name="TextBox 78"/>
          <p:cNvSpPr txBox="1"/>
          <p:nvPr/>
        </p:nvSpPr>
        <p:spPr>
          <a:xfrm>
            <a:off x="371475" y="533209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561975" y="533209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Ear Cleansers</a:t>
            </a:r>
          </a:p>
        </p:txBody>
      </p:sp>
      <p:cxnSp>
        <p:nvCxnSpPr>
          <p:cNvPr id="81" name="Connector 80"/>
          <p:cNvCxnSpPr/>
          <p:nvPr/>
        </p:nvCxnSpPr>
        <p:spPr>
          <a:xfrm>
            <a:off x="152400" y="550926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2" name="TextBox 81"/>
          <p:cNvSpPr txBox="1"/>
          <p:nvPr/>
        </p:nvSpPr>
        <p:spPr>
          <a:xfrm>
            <a:off x="371475" y="550926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561975" y="550926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Eye-Area Cleansers</a:t>
            </a:r>
          </a:p>
        </p:txBody>
      </p:sp>
      <p:cxnSp>
        <p:nvCxnSpPr>
          <p:cNvPr id="84" name="Connector 83"/>
          <p:cNvCxnSpPr/>
          <p:nvPr/>
        </p:nvCxnSpPr>
        <p:spPr>
          <a:xfrm>
            <a:off x="152400" y="568642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5" name="TextBox 84"/>
          <p:cNvSpPr txBox="1"/>
          <p:nvPr/>
        </p:nvSpPr>
        <p:spPr>
          <a:xfrm>
            <a:off x="371475" y="568642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86" name="TextBox 85"/>
          <p:cNvSpPr txBox="1"/>
          <p:nvPr/>
        </p:nvSpPr>
        <p:spPr>
          <a:xfrm>
            <a:off x="561975" y="568642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Tear-Stain Removers</a:t>
            </a:r>
          </a:p>
        </p:txBody>
      </p:sp>
      <p:cxnSp>
        <p:nvCxnSpPr>
          <p:cNvPr id="87" name="Connector 86"/>
          <p:cNvCxnSpPr/>
          <p:nvPr/>
        </p:nvCxnSpPr>
        <p:spPr>
          <a:xfrm>
            <a:off x="152400" y="586359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8" name="TextBox 87"/>
          <p:cNvSpPr txBox="1"/>
          <p:nvPr/>
        </p:nvSpPr>
        <p:spPr>
          <a:xfrm>
            <a:off x="200025" y="586359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89" name="TextBox 88"/>
          <p:cNvSpPr txBox="1"/>
          <p:nvPr/>
        </p:nvSpPr>
        <p:spPr>
          <a:xfrm>
            <a:off x="390525" y="586359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Dental &amp; Oral Care Products</a:t>
            </a:r>
          </a:p>
        </p:txBody>
      </p:sp>
      <p:cxnSp>
        <p:nvCxnSpPr>
          <p:cNvPr id="90" name="Connector 89"/>
          <p:cNvCxnSpPr/>
          <p:nvPr/>
        </p:nvCxnSpPr>
        <p:spPr>
          <a:xfrm>
            <a:off x="152400" y="604075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1" name="TextBox 90"/>
          <p:cNvSpPr txBox="1"/>
          <p:nvPr/>
        </p:nvSpPr>
        <p:spPr>
          <a:xfrm>
            <a:off x="371475" y="604075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561975" y="604075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Toothpaste</a:t>
            </a:r>
          </a:p>
        </p:txBody>
      </p:sp>
      <p:cxnSp>
        <p:nvCxnSpPr>
          <p:cNvPr id="93" name="Connector 92"/>
          <p:cNvCxnSpPr/>
          <p:nvPr/>
        </p:nvCxnSpPr>
        <p:spPr>
          <a:xfrm>
            <a:off x="152400" y="621792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4" name="TextBox 93"/>
          <p:cNvSpPr txBox="1"/>
          <p:nvPr/>
        </p:nvSpPr>
        <p:spPr>
          <a:xfrm>
            <a:off x="371475" y="621792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95" name="TextBox 94"/>
          <p:cNvSpPr txBox="1"/>
          <p:nvPr/>
        </p:nvSpPr>
        <p:spPr>
          <a:xfrm>
            <a:off x="561975" y="621792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Oral Gels</a:t>
            </a:r>
          </a:p>
        </p:txBody>
      </p:sp>
      <p:cxnSp>
        <p:nvCxnSpPr>
          <p:cNvPr id="96" name="Connector 95"/>
          <p:cNvCxnSpPr/>
          <p:nvPr/>
        </p:nvCxnSpPr>
        <p:spPr>
          <a:xfrm>
            <a:off x="152400" y="639508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7" name="TextBox 96"/>
          <p:cNvSpPr txBox="1"/>
          <p:nvPr/>
        </p:nvSpPr>
        <p:spPr>
          <a:xfrm>
            <a:off x="371475" y="639508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98" name="TextBox 97"/>
          <p:cNvSpPr txBox="1"/>
          <p:nvPr/>
        </p:nvSpPr>
        <p:spPr>
          <a:xfrm>
            <a:off x="561975" y="639508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Dental Sprays</a:t>
            </a:r>
          </a:p>
        </p:txBody>
      </p:sp>
      <p:sp>
        <p:nvSpPr>
          <p:cNvPr id="99" name="Rectangle 98"/>
          <p:cNvSpPr/>
          <p:nvPr/>
        </p:nvSpPr>
        <p:spPr>
          <a:xfrm>
            <a:off x="3152775" y="1028700"/>
            <a:ext cx="2876550" cy="1468755"/>
          </a:xfrm>
          <a:prstGeom prst="rect">
            <a:avLst/>
          </a:prstGeom>
          <a:solidFill>
            <a:srgbClr val="FFFFFF"/>
          </a:solidFill>
          <a:ln w="1270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3152775" y="1028700"/>
            <a:ext cx="2876550" cy="228600"/>
          </a:xfrm>
          <a:prstGeom prst="rect">
            <a:avLst/>
          </a:prstGeom>
          <a:solidFill>
            <a:srgbClr val="0B2E4A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TextBox 100"/>
          <p:cNvSpPr txBox="1"/>
          <p:nvPr/>
        </p:nvSpPr>
        <p:spPr>
          <a:xfrm>
            <a:off x="3228975" y="1028700"/>
            <a:ext cx="27241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By Product Type (2/2)</a:t>
            </a:r>
          </a:p>
        </p:txBody>
      </p:sp>
      <p:sp>
        <p:nvSpPr>
          <p:cNvPr id="102" name="TextBox 101"/>
          <p:cNvSpPr txBox="1"/>
          <p:nvPr/>
        </p:nvSpPr>
        <p:spPr>
          <a:xfrm>
            <a:off x="3209925" y="125730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3400425" y="125730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Dental &amp; Oral Care Products</a:t>
            </a:r>
          </a:p>
        </p:txBody>
      </p:sp>
      <p:cxnSp>
        <p:nvCxnSpPr>
          <p:cNvPr id="104" name="Connector 103"/>
          <p:cNvCxnSpPr/>
          <p:nvPr/>
        </p:nvCxnSpPr>
        <p:spPr>
          <a:xfrm>
            <a:off x="3162300" y="143446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5" name="TextBox 104"/>
          <p:cNvSpPr txBox="1"/>
          <p:nvPr/>
        </p:nvSpPr>
        <p:spPr>
          <a:xfrm>
            <a:off x="3381375" y="143446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06" name="TextBox 105"/>
          <p:cNvSpPr txBox="1"/>
          <p:nvPr/>
        </p:nvSpPr>
        <p:spPr>
          <a:xfrm>
            <a:off x="3571875" y="143446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Dental Wipes</a:t>
            </a:r>
          </a:p>
        </p:txBody>
      </p:sp>
      <p:cxnSp>
        <p:nvCxnSpPr>
          <p:cNvPr id="107" name="Connector 106"/>
          <p:cNvCxnSpPr/>
          <p:nvPr/>
        </p:nvCxnSpPr>
        <p:spPr>
          <a:xfrm>
            <a:off x="3162300" y="161163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8" name="TextBox 107"/>
          <p:cNvSpPr txBox="1"/>
          <p:nvPr/>
        </p:nvSpPr>
        <p:spPr>
          <a:xfrm>
            <a:off x="3381375" y="161163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3571875" y="161163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Water Additives</a:t>
            </a:r>
          </a:p>
        </p:txBody>
      </p:sp>
      <p:cxnSp>
        <p:nvCxnSpPr>
          <p:cNvPr id="110" name="Connector 109"/>
          <p:cNvCxnSpPr/>
          <p:nvPr/>
        </p:nvCxnSpPr>
        <p:spPr>
          <a:xfrm>
            <a:off x="3162300" y="178879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1" name="TextBox 110"/>
          <p:cNvSpPr txBox="1"/>
          <p:nvPr/>
        </p:nvSpPr>
        <p:spPr>
          <a:xfrm>
            <a:off x="3209925" y="178879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3400425" y="178879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Fragrance &amp; Deodorizing Products</a:t>
            </a:r>
          </a:p>
        </p:txBody>
      </p:sp>
      <p:cxnSp>
        <p:nvCxnSpPr>
          <p:cNvPr id="113" name="Connector 112"/>
          <p:cNvCxnSpPr/>
          <p:nvPr/>
        </p:nvCxnSpPr>
        <p:spPr>
          <a:xfrm>
            <a:off x="3162300" y="196596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4" name="TextBox 113"/>
          <p:cNvSpPr txBox="1"/>
          <p:nvPr/>
        </p:nvSpPr>
        <p:spPr>
          <a:xfrm>
            <a:off x="3381375" y="196596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3571875" y="196596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Pet Perfumes &amp; Colognes</a:t>
            </a:r>
          </a:p>
        </p:txBody>
      </p:sp>
      <p:cxnSp>
        <p:nvCxnSpPr>
          <p:cNvPr id="116" name="Connector 115"/>
          <p:cNvCxnSpPr/>
          <p:nvPr/>
        </p:nvCxnSpPr>
        <p:spPr>
          <a:xfrm>
            <a:off x="3162300" y="214312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7" name="TextBox 116"/>
          <p:cNvSpPr txBox="1"/>
          <p:nvPr/>
        </p:nvSpPr>
        <p:spPr>
          <a:xfrm>
            <a:off x="3381375" y="214312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18" name="TextBox 117"/>
          <p:cNvSpPr txBox="1"/>
          <p:nvPr/>
        </p:nvSpPr>
        <p:spPr>
          <a:xfrm>
            <a:off x="3571875" y="2143125"/>
            <a:ext cx="2419350" cy="35433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Deodorizing &amp; Odor-Neutralizing Sprays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6162675" y="1028700"/>
            <a:ext cx="2876550" cy="5543550"/>
          </a:xfrm>
          <a:prstGeom prst="rect">
            <a:avLst/>
          </a:prstGeom>
          <a:solidFill>
            <a:srgbClr val="FFFFFF"/>
          </a:solidFill>
          <a:ln w="1270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6162675" y="1028700"/>
            <a:ext cx="2876550" cy="228600"/>
          </a:xfrm>
          <a:prstGeom prst="rect">
            <a:avLst/>
          </a:prstGeom>
          <a:solidFill>
            <a:srgbClr val="0B2E4A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TextBox 120"/>
          <p:cNvSpPr txBox="1"/>
          <p:nvPr/>
        </p:nvSpPr>
        <p:spPr>
          <a:xfrm>
            <a:off x="6238875" y="1028700"/>
            <a:ext cx="27241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By Ingredient Type (1/2)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6219825" y="125730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6410325" y="125730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Regular / Established Ingredients</a:t>
            </a:r>
          </a:p>
        </p:txBody>
      </p:sp>
      <p:cxnSp>
        <p:nvCxnSpPr>
          <p:cNvPr id="124" name="Connector 123"/>
          <p:cNvCxnSpPr/>
          <p:nvPr/>
        </p:nvCxnSpPr>
        <p:spPr>
          <a:xfrm>
            <a:off x="6172200" y="143446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5" name="TextBox 124"/>
          <p:cNvSpPr txBox="1"/>
          <p:nvPr/>
        </p:nvSpPr>
        <p:spPr>
          <a:xfrm>
            <a:off x="6391275" y="143446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26" name="TextBox 125"/>
          <p:cNvSpPr txBox="1"/>
          <p:nvPr/>
        </p:nvSpPr>
        <p:spPr>
          <a:xfrm>
            <a:off x="6581775" y="143446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Cocamidopropyl Betaine</a:t>
            </a:r>
          </a:p>
        </p:txBody>
      </p:sp>
      <p:cxnSp>
        <p:nvCxnSpPr>
          <p:cNvPr id="127" name="Connector 126"/>
          <p:cNvCxnSpPr/>
          <p:nvPr/>
        </p:nvCxnSpPr>
        <p:spPr>
          <a:xfrm>
            <a:off x="6172200" y="161163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8" name="TextBox 127"/>
          <p:cNvSpPr txBox="1"/>
          <p:nvPr/>
        </p:nvSpPr>
        <p:spPr>
          <a:xfrm>
            <a:off x="6391275" y="161163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29" name="TextBox 128"/>
          <p:cNvSpPr txBox="1"/>
          <p:nvPr/>
        </p:nvSpPr>
        <p:spPr>
          <a:xfrm>
            <a:off x="6581775" y="161163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Alkyl Glucosides</a:t>
            </a:r>
          </a:p>
        </p:txBody>
      </p:sp>
      <p:cxnSp>
        <p:nvCxnSpPr>
          <p:cNvPr id="130" name="Connector 129"/>
          <p:cNvCxnSpPr/>
          <p:nvPr/>
        </p:nvCxnSpPr>
        <p:spPr>
          <a:xfrm>
            <a:off x="6172200" y="178879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1" name="TextBox 130"/>
          <p:cNvSpPr txBox="1"/>
          <p:nvPr/>
        </p:nvSpPr>
        <p:spPr>
          <a:xfrm>
            <a:off x="6391275" y="178879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32" name="TextBox 131"/>
          <p:cNvSpPr txBox="1"/>
          <p:nvPr/>
        </p:nvSpPr>
        <p:spPr>
          <a:xfrm>
            <a:off x="6581775" y="178879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Glycerin</a:t>
            </a:r>
          </a:p>
        </p:txBody>
      </p:sp>
      <p:cxnSp>
        <p:nvCxnSpPr>
          <p:cNvPr id="133" name="Connector 132"/>
          <p:cNvCxnSpPr/>
          <p:nvPr/>
        </p:nvCxnSpPr>
        <p:spPr>
          <a:xfrm>
            <a:off x="6172200" y="196596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4" name="TextBox 133"/>
          <p:cNvSpPr txBox="1"/>
          <p:nvPr/>
        </p:nvSpPr>
        <p:spPr>
          <a:xfrm>
            <a:off x="6391275" y="196596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35" name="TextBox 134"/>
          <p:cNvSpPr txBox="1"/>
          <p:nvPr/>
        </p:nvSpPr>
        <p:spPr>
          <a:xfrm>
            <a:off x="6581775" y="196596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Aloe Vera</a:t>
            </a:r>
          </a:p>
        </p:txBody>
      </p:sp>
      <p:cxnSp>
        <p:nvCxnSpPr>
          <p:cNvPr id="136" name="Connector 135"/>
          <p:cNvCxnSpPr/>
          <p:nvPr/>
        </p:nvCxnSpPr>
        <p:spPr>
          <a:xfrm>
            <a:off x="6172200" y="214312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7" name="TextBox 136"/>
          <p:cNvSpPr txBox="1"/>
          <p:nvPr/>
        </p:nvSpPr>
        <p:spPr>
          <a:xfrm>
            <a:off x="6391275" y="214312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6581775" y="214312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Colloidal Oatmeal</a:t>
            </a:r>
          </a:p>
        </p:txBody>
      </p:sp>
      <p:cxnSp>
        <p:nvCxnSpPr>
          <p:cNvPr id="139" name="Connector 138"/>
          <p:cNvCxnSpPr/>
          <p:nvPr/>
        </p:nvCxnSpPr>
        <p:spPr>
          <a:xfrm>
            <a:off x="6172200" y="232029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0" name="TextBox 139"/>
          <p:cNvSpPr txBox="1"/>
          <p:nvPr/>
        </p:nvSpPr>
        <p:spPr>
          <a:xfrm>
            <a:off x="6391275" y="232029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41" name="TextBox 140"/>
          <p:cNvSpPr txBox="1"/>
          <p:nvPr/>
        </p:nvSpPr>
        <p:spPr>
          <a:xfrm>
            <a:off x="6581775" y="232029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Coconut Oil</a:t>
            </a:r>
          </a:p>
        </p:txBody>
      </p:sp>
      <p:cxnSp>
        <p:nvCxnSpPr>
          <p:cNvPr id="142" name="Connector 141"/>
          <p:cNvCxnSpPr/>
          <p:nvPr/>
        </p:nvCxnSpPr>
        <p:spPr>
          <a:xfrm>
            <a:off x="6172200" y="249745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3" name="TextBox 142"/>
          <p:cNvSpPr txBox="1"/>
          <p:nvPr/>
        </p:nvSpPr>
        <p:spPr>
          <a:xfrm>
            <a:off x="6391275" y="249745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44" name="TextBox 143"/>
          <p:cNvSpPr txBox="1"/>
          <p:nvPr/>
        </p:nvSpPr>
        <p:spPr>
          <a:xfrm>
            <a:off x="6581775" y="249745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Panthenol</a:t>
            </a:r>
          </a:p>
        </p:txBody>
      </p:sp>
      <p:cxnSp>
        <p:nvCxnSpPr>
          <p:cNvPr id="145" name="Connector 144"/>
          <p:cNvCxnSpPr/>
          <p:nvPr/>
        </p:nvCxnSpPr>
        <p:spPr>
          <a:xfrm>
            <a:off x="6172200" y="267462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6" name="TextBox 145"/>
          <p:cNvSpPr txBox="1"/>
          <p:nvPr/>
        </p:nvSpPr>
        <p:spPr>
          <a:xfrm>
            <a:off x="6391275" y="267462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6581775" y="267462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Vitamin E</a:t>
            </a:r>
          </a:p>
        </p:txBody>
      </p:sp>
      <p:cxnSp>
        <p:nvCxnSpPr>
          <p:cNvPr id="148" name="Connector 147"/>
          <p:cNvCxnSpPr/>
          <p:nvPr/>
        </p:nvCxnSpPr>
        <p:spPr>
          <a:xfrm>
            <a:off x="6172200" y="285178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9" name="TextBox 148"/>
          <p:cNvSpPr txBox="1"/>
          <p:nvPr/>
        </p:nvSpPr>
        <p:spPr>
          <a:xfrm>
            <a:off x="6391275" y="285178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50" name="TextBox 149"/>
          <p:cNvSpPr txBox="1"/>
          <p:nvPr/>
        </p:nvSpPr>
        <p:spPr>
          <a:xfrm>
            <a:off x="6581775" y="285178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Hydrated Silica</a:t>
            </a:r>
          </a:p>
        </p:txBody>
      </p:sp>
      <p:cxnSp>
        <p:nvCxnSpPr>
          <p:cNvPr id="151" name="Connector 150"/>
          <p:cNvCxnSpPr/>
          <p:nvPr/>
        </p:nvCxnSpPr>
        <p:spPr>
          <a:xfrm>
            <a:off x="6172200" y="302895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2" name="TextBox 151"/>
          <p:cNvSpPr txBox="1"/>
          <p:nvPr/>
        </p:nvSpPr>
        <p:spPr>
          <a:xfrm>
            <a:off x="6391275" y="302895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53" name="TextBox 152"/>
          <p:cNvSpPr txBox="1"/>
          <p:nvPr/>
        </p:nvSpPr>
        <p:spPr>
          <a:xfrm>
            <a:off x="6581775" y="302895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Sodium Bicarbonate</a:t>
            </a:r>
          </a:p>
        </p:txBody>
      </p:sp>
      <p:cxnSp>
        <p:nvCxnSpPr>
          <p:cNvPr id="154" name="Connector 153"/>
          <p:cNvCxnSpPr/>
          <p:nvPr/>
        </p:nvCxnSpPr>
        <p:spPr>
          <a:xfrm>
            <a:off x="6172200" y="320611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5" name="TextBox 154"/>
          <p:cNvSpPr txBox="1"/>
          <p:nvPr/>
        </p:nvSpPr>
        <p:spPr>
          <a:xfrm>
            <a:off x="6219825" y="320611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56" name="TextBox 155"/>
          <p:cNvSpPr txBox="1"/>
          <p:nvPr/>
        </p:nvSpPr>
        <p:spPr>
          <a:xfrm>
            <a:off x="6410325" y="320611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Niche / Specialized Ingredients</a:t>
            </a:r>
          </a:p>
        </p:txBody>
      </p:sp>
      <p:cxnSp>
        <p:nvCxnSpPr>
          <p:cNvPr id="157" name="Connector 156"/>
          <p:cNvCxnSpPr/>
          <p:nvPr/>
        </p:nvCxnSpPr>
        <p:spPr>
          <a:xfrm>
            <a:off x="6172200" y="338328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8" name="TextBox 157"/>
          <p:cNvSpPr txBox="1"/>
          <p:nvPr/>
        </p:nvSpPr>
        <p:spPr>
          <a:xfrm>
            <a:off x="6391275" y="338328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59" name="TextBox 158"/>
          <p:cNvSpPr txBox="1"/>
          <p:nvPr/>
        </p:nvSpPr>
        <p:spPr>
          <a:xfrm>
            <a:off x="6581775" y="338328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Ceramides</a:t>
            </a:r>
          </a:p>
        </p:txBody>
      </p:sp>
      <p:cxnSp>
        <p:nvCxnSpPr>
          <p:cNvPr id="160" name="Connector 159"/>
          <p:cNvCxnSpPr/>
          <p:nvPr/>
        </p:nvCxnSpPr>
        <p:spPr>
          <a:xfrm>
            <a:off x="6172200" y="356044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1" name="TextBox 160"/>
          <p:cNvSpPr txBox="1"/>
          <p:nvPr/>
        </p:nvSpPr>
        <p:spPr>
          <a:xfrm>
            <a:off x="6391275" y="356044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62" name="TextBox 161"/>
          <p:cNvSpPr txBox="1"/>
          <p:nvPr/>
        </p:nvSpPr>
        <p:spPr>
          <a:xfrm>
            <a:off x="6581775" y="356044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Hyaluronic Acid / Sodium Hyaluronate</a:t>
            </a:r>
          </a:p>
        </p:txBody>
      </p:sp>
      <p:cxnSp>
        <p:nvCxnSpPr>
          <p:cNvPr id="163" name="Connector 162"/>
          <p:cNvCxnSpPr/>
          <p:nvPr/>
        </p:nvCxnSpPr>
        <p:spPr>
          <a:xfrm>
            <a:off x="6172200" y="373761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4" name="TextBox 163"/>
          <p:cNvSpPr txBox="1"/>
          <p:nvPr/>
        </p:nvSpPr>
        <p:spPr>
          <a:xfrm>
            <a:off x="6391275" y="373761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65" name="TextBox 164"/>
          <p:cNvSpPr txBox="1"/>
          <p:nvPr/>
        </p:nvSpPr>
        <p:spPr>
          <a:xfrm>
            <a:off x="6581775" y="373761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Chitosan Derivatives</a:t>
            </a:r>
          </a:p>
        </p:txBody>
      </p:sp>
      <p:cxnSp>
        <p:nvCxnSpPr>
          <p:cNvPr id="166" name="Connector 165"/>
          <p:cNvCxnSpPr/>
          <p:nvPr/>
        </p:nvCxnSpPr>
        <p:spPr>
          <a:xfrm>
            <a:off x="6172200" y="391477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7" name="TextBox 166"/>
          <p:cNvSpPr txBox="1"/>
          <p:nvPr/>
        </p:nvSpPr>
        <p:spPr>
          <a:xfrm>
            <a:off x="6391275" y="391477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68" name="TextBox 167"/>
          <p:cNvSpPr txBox="1"/>
          <p:nvPr/>
        </p:nvSpPr>
        <p:spPr>
          <a:xfrm>
            <a:off x="6581775" y="391477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Phytosphingosine</a:t>
            </a:r>
          </a:p>
        </p:txBody>
      </p:sp>
      <p:cxnSp>
        <p:nvCxnSpPr>
          <p:cNvPr id="169" name="Connector 168"/>
          <p:cNvCxnSpPr/>
          <p:nvPr/>
        </p:nvCxnSpPr>
        <p:spPr>
          <a:xfrm>
            <a:off x="6172200" y="409194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0" name="TextBox 169"/>
          <p:cNvSpPr txBox="1"/>
          <p:nvPr/>
        </p:nvSpPr>
        <p:spPr>
          <a:xfrm>
            <a:off x="6391275" y="409194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71" name="TextBox 170"/>
          <p:cNvSpPr txBox="1"/>
          <p:nvPr/>
        </p:nvSpPr>
        <p:spPr>
          <a:xfrm>
            <a:off x="6581775" y="409194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Allantoin</a:t>
            </a:r>
          </a:p>
        </p:txBody>
      </p:sp>
      <p:cxnSp>
        <p:nvCxnSpPr>
          <p:cNvPr id="172" name="Connector 171"/>
          <p:cNvCxnSpPr/>
          <p:nvPr/>
        </p:nvCxnSpPr>
        <p:spPr>
          <a:xfrm>
            <a:off x="6172200" y="426910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3" name="TextBox 172"/>
          <p:cNvSpPr txBox="1"/>
          <p:nvPr/>
        </p:nvSpPr>
        <p:spPr>
          <a:xfrm>
            <a:off x="6391275" y="426910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74" name="TextBox 173"/>
          <p:cNvSpPr txBox="1"/>
          <p:nvPr/>
        </p:nvSpPr>
        <p:spPr>
          <a:xfrm>
            <a:off x="6581775" y="426910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Hydrolyzed Proteins</a:t>
            </a:r>
          </a:p>
        </p:txBody>
      </p:sp>
      <p:cxnSp>
        <p:nvCxnSpPr>
          <p:cNvPr id="175" name="Connector 174"/>
          <p:cNvCxnSpPr/>
          <p:nvPr/>
        </p:nvCxnSpPr>
        <p:spPr>
          <a:xfrm>
            <a:off x="6172200" y="444627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6" name="TextBox 175"/>
          <p:cNvSpPr txBox="1"/>
          <p:nvPr/>
        </p:nvSpPr>
        <p:spPr>
          <a:xfrm>
            <a:off x="6391275" y="444627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77" name="TextBox 176"/>
          <p:cNvSpPr txBox="1"/>
          <p:nvPr/>
        </p:nvSpPr>
        <p:spPr>
          <a:xfrm>
            <a:off x="6581775" y="444627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Jojoba Oil</a:t>
            </a:r>
          </a:p>
        </p:txBody>
      </p:sp>
      <p:cxnSp>
        <p:nvCxnSpPr>
          <p:cNvPr id="178" name="Connector 177"/>
          <p:cNvCxnSpPr/>
          <p:nvPr/>
        </p:nvCxnSpPr>
        <p:spPr>
          <a:xfrm>
            <a:off x="6172200" y="462343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9" name="TextBox 178"/>
          <p:cNvSpPr txBox="1"/>
          <p:nvPr/>
        </p:nvSpPr>
        <p:spPr>
          <a:xfrm>
            <a:off x="6391275" y="462343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80" name="TextBox 179"/>
          <p:cNvSpPr txBox="1"/>
          <p:nvPr/>
        </p:nvSpPr>
        <p:spPr>
          <a:xfrm>
            <a:off x="6581775" y="462343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Zinc Salts</a:t>
            </a:r>
          </a:p>
        </p:txBody>
      </p:sp>
      <p:cxnSp>
        <p:nvCxnSpPr>
          <p:cNvPr id="181" name="Connector 180"/>
          <p:cNvCxnSpPr/>
          <p:nvPr/>
        </p:nvCxnSpPr>
        <p:spPr>
          <a:xfrm>
            <a:off x="6172200" y="480060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2" name="TextBox 181"/>
          <p:cNvSpPr txBox="1"/>
          <p:nvPr/>
        </p:nvSpPr>
        <p:spPr>
          <a:xfrm>
            <a:off x="6391275" y="480060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83" name="TextBox 182"/>
          <p:cNvSpPr txBox="1"/>
          <p:nvPr/>
        </p:nvSpPr>
        <p:spPr>
          <a:xfrm>
            <a:off x="6581775" y="480060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Oral-Care Enzymes</a:t>
            </a:r>
          </a:p>
        </p:txBody>
      </p:sp>
      <p:cxnSp>
        <p:nvCxnSpPr>
          <p:cNvPr id="184" name="Connector 183"/>
          <p:cNvCxnSpPr/>
          <p:nvPr/>
        </p:nvCxnSpPr>
        <p:spPr>
          <a:xfrm>
            <a:off x="6172200" y="497776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5" name="TextBox 184"/>
          <p:cNvSpPr txBox="1"/>
          <p:nvPr/>
        </p:nvSpPr>
        <p:spPr>
          <a:xfrm>
            <a:off x="6391275" y="497776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86" name="TextBox 185"/>
          <p:cNvSpPr txBox="1"/>
          <p:nvPr/>
        </p:nvSpPr>
        <p:spPr>
          <a:xfrm>
            <a:off x="6581775" y="497776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Cyclodextrins</a:t>
            </a:r>
          </a:p>
        </p:txBody>
      </p:sp>
      <p:cxnSp>
        <p:nvCxnSpPr>
          <p:cNvPr id="187" name="Connector 186"/>
          <p:cNvCxnSpPr/>
          <p:nvPr/>
        </p:nvCxnSpPr>
        <p:spPr>
          <a:xfrm>
            <a:off x="6172200" y="515493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8" name="TextBox 187"/>
          <p:cNvSpPr txBox="1"/>
          <p:nvPr/>
        </p:nvSpPr>
        <p:spPr>
          <a:xfrm>
            <a:off x="6219825" y="515493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89" name="TextBox 188"/>
          <p:cNvSpPr txBox="1"/>
          <p:nvPr/>
        </p:nvSpPr>
        <p:spPr>
          <a:xfrm>
            <a:off x="6410325" y="5154930"/>
            <a:ext cx="2590800" cy="35433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1">
                <a:solidFill>
                  <a:srgbClr val="2E2E2E"/>
                </a:solidFill>
                <a:latin typeface="Calibri"/>
              </a:rPr>
              <a:t>Emerging Ingredients / Innovation Candidates</a:t>
            </a:r>
          </a:p>
        </p:txBody>
      </p:sp>
      <p:cxnSp>
        <p:nvCxnSpPr>
          <p:cNvPr id="190" name="Connector 189"/>
          <p:cNvCxnSpPr/>
          <p:nvPr/>
        </p:nvCxnSpPr>
        <p:spPr>
          <a:xfrm>
            <a:off x="6172200" y="550926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1" name="TextBox 190"/>
          <p:cNvSpPr txBox="1"/>
          <p:nvPr/>
        </p:nvSpPr>
        <p:spPr>
          <a:xfrm>
            <a:off x="6391275" y="550926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92" name="TextBox 191"/>
          <p:cNvSpPr txBox="1"/>
          <p:nvPr/>
        </p:nvSpPr>
        <p:spPr>
          <a:xfrm>
            <a:off x="6581775" y="550926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Prebiotics</a:t>
            </a:r>
          </a:p>
        </p:txBody>
      </p:sp>
      <p:cxnSp>
        <p:nvCxnSpPr>
          <p:cNvPr id="193" name="Connector 192"/>
          <p:cNvCxnSpPr/>
          <p:nvPr/>
        </p:nvCxnSpPr>
        <p:spPr>
          <a:xfrm>
            <a:off x="6172200" y="568642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4" name="TextBox 193"/>
          <p:cNvSpPr txBox="1"/>
          <p:nvPr/>
        </p:nvSpPr>
        <p:spPr>
          <a:xfrm>
            <a:off x="6391275" y="568642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95" name="TextBox 194"/>
          <p:cNvSpPr txBox="1"/>
          <p:nvPr/>
        </p:nvSpPr>
        <p:spPr>
          <a:xfrm>
            <a:off x="6581775" y="568642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Postbiotics</a:t>
            </a:r>
          </a:p>
        </p:txBody>
      </p:sp>
      <p:cxnSp>
        <p:nvCxnSpPr>
          <p:cNvPr id="196" name="Connector 195"/>
          <p:cNvCxnSpPr/>
          <p:nvPr/>
        </p:nvCxnSpPr>
        <p:spPr>
          <a:xfrm>
            <a:off x="6172200" y="586359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7" name="TextBox 196"/>
          <p:cNvSpPr txBox="1"/>
          <p:nvPr/>
        </p:nvSpPr>
        <p:spPr>
          <a:xfrm>
            <a:off x="6391275" y="586359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98" name="TextBox 197"/>
          <p:cNvSpPr txBox="1"/>
          <p:nvPr/>
        </p:nvSpPr>
        <p:spPr>
          <a:xfrm>
            <a:off x="6581775" y="586359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Live Probiotic Preparations</a:t>
            </a:r>
          </a:p>
        </p:txBody>
      </p:sp>
      <p:cxnSp>
        <p:nvCxnSpPr>
          <p:cNvPr id="199" name="Connector 198"/>
          <p:cNvCxnSpPr/>
          <p:nvPr/>
        </p:nvCxnSpPr>
        <p:spPr>
          <a:xfrm>
            <a:off x="6172200" y="604075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0" name="TextBox 199"/>
          <p:cNvSpPr txBox="1"/>
          <p:nvPr/>
        </p:nvSpPr>
        <p:spPr>
          <a:xfrm>
            <a:off x="6391275" y="604075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01" name="TextBox 200"/>
          <p:cNvSpPr txBox="1"/>
          <p:nvPr/>
        </p:nvSpPr>
        <p:spPr>
          <a:xfrm>
            <a:off x="6581775" y="604075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Sophorolipid Biosurfactants</a:t>
            </a:r>
          </a:p>
        </p:txBody>
      </p:sp>
      <p:cxnSp>
        <p:nvCxnSpPr>
          <p:cNvPr id="202" name="Connector 201"/>
          <p:cNvCxnSpPr/>
          <p:nvPr/>
        </p:nvCxnSpPr>
        <p:spPr>
          <a:xfrm>
            <a:off x="6172200" y="621792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3" name="TextBox 202"/>
          <p:cNvSpPr txBox="1"/>
          <p:nvPr/>
        </p:nvSpPr>
        <p:spPr>
          <a:xfrm>
            <a:off x="6391275" y="621792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04" name="TextBox 203"/>
          <p:cNvSpPr txBox="1"/>
          <p:nvPr/>
        </p:nvSpPr>
        <p:spPr>
          <a:xfrm>
            <a:off x="6581775" y="621792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Hydroxyapatite</a:t>
            </a:r>
          </a:p>
        </p:txBody>
      </p:sp>
      <p:cxnSp>
        <p:nvCxnSpPr>
          <p:cNvPr id="205" name="Connector 204"/>
          <p:cNvCxnSpPr/>
          <p:nvPr/>
        </p:nvCxnSpPr>
        <p:spPr>
          <a:xfrm>
            <a:off x="6172200" y="639508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6" name="TextBox 205"/>
          <p:cNvSpPr txBox="1"/>
          <p:nvPr/>
        </p:nvSpPr>
        <p:spPr>
          <a:xfrm>
            <a:off x="6391275" y="639508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07" name="TextBox 206"/>
          <p:cNvSpPr txBox="1"/>
          <p:nvPr/>
        </p:nvSpPr>
        <p:spPr>
          <a:xfrm>
            <a:off x="6581775" y="639508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Lactoferrin</a:t>
            </a:r>
          </a:p>
        </p:txBody>
      </p:sp>
      <p:sp>
        <p:nvSpPr>
          <p:cNvPr id="208" name="Rectangle 207"/>
          <p:cNvSpPr/>
          <p:nvPr/>
        </p:nvSpPr>
        <p:spPr>
          <a:xfrm>
            <a:off x="9172575" y="1028700"/>
            <a:ext cx="2876550" cy="1291590"/>
          </a:xfrm>
          <a:prstGeom prst="rect">
            <a:avLst/>
          </a:prstGeom>
          <a:solidFill>
            <a:srgbClr val="FFFFFF"/>
          </a:solidFill>
          <a:ln w="1270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9" name="Rectangle 208"/>
          <p:cNvSpPr/>
          <p:nvPr/>
        </p:nvSpPr>
        <p:spPr>
          <a:xfrm>
            <a:off x="9172575" y="1028700"/>
            <a:ext cx="2876550" cy="228600"/>
          </a:xfrm>
          <a:prstGeom prst="rect">
            <a:avLst/>
          </a:prstGeom>
          <a:solidFill>
            <a:srgbClr val="0B2E4A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9248775" y="1028700"/>
            <a:ext cx="27241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By Ingredient Type (2/2)</a:t>
            </a:r>
          </a:p>
        </p:txBody>
      </p:sp>
      <p:sp>
        <p:nvSpPr>
          <p:cNvPr id="211" name="TextBox 210"/>
          <p:cNvSpPr txBox="1"/>
          <p:nvPr/>
        </p:nvSpPr>
        <p:spPr>
          <a:xfrm>
            <a:off x="9229725" y="125730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12" name="TextBox 211"/>
          <p:cNvSpPr txBox="1"/>
          <p:nvPr/>
        </p:nvSpPr>
        <p:spPr>
          <a:xfrm>
            <a:off x="9420225" y="1257300"/>
            <a:ext cx="2590800" cy="35433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1">
                <a:solidFill>
                  <a:srgbClr val="2E2E2E"/>
                </a:solidFill>
                <a:latin typeface="Calibri"/>
              </a:rPr>
              <a:t>Emerging Ingredients / Innovation Candidates</a:t>
            </a:r>
          </a:p>
        </p:txBody>
      </p:sp>
      <p:cxnSp>
        <p:nvCxnSpPr>
          <p:cNvPr id="213" name="Connector 212"/>
          <p:cNvCxnSpPr/>
          <p:nvPr/>
        </p:nvCxnSpPr>
        <p:spPr>
          <a:xfrm>
            <a:off x="9182100" y="161163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4" name="TextBox 213"/>
          <p:cNvSpPr txBox="1"/>
          <p:nvPr/>
        </p:nvSpPr>
        <p:spPr>
          <a:xfrm>
            <a:off x="9401175" y="161163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15" name="TextBox 214"/>
          <p:cNvSpPr txBox="1"/>
          <p:nvPr/>
        </p:nvSpPr>
        <p:spPr>
          <a:xfrm>
            <a:off x="9591675" y="161163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Ectoin</a:t>
            </a:r>
          </a:p>
        </p:txBody>
      </p:sp>
      <p:cxnSp>
        <p:nvCxnSpPr>
          <p:cNvPr id="216" name="Connector 215"/>
          <p:cNvCxnSpPr/>
          <p:nvPr/>
        </p:nvCxnSpPr>
        <p:spPr>
          <a:xfrm>
            <a:off x="9182100" y="178879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7" name="TextBox 216"/>
          <p:cNvSpPr txBox="1"/>
          <p:nvPr/>
        </p:nvSpPr>
        <p:spPr>
          <a:xfrm>
            <a:off x="9401175" y="178879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18" name="TextBox 217"/>
          <p:cNvSpPr txBox="1"/>
          <p:nvPr/>
        </p:nvSpPr>
        <p:spPr>
          <a:xfrm>
            <a:off x="9591675" y="178879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Beta-Glucan</a:t>
            </a:r>
          </a:p>
        </p:txBody>
      </p:sp>
      <p:cxnSp>
        <p:nvCxnSpPr>
          <p:cNvPr id="219" name="Connector 218"/>
          <p:cNvCxnSpPr/>
          <p:nvPr/>
        </p:nvCxnSpPr>
        <p:spPr>
          <a:xfrm>
            <a:off x="9182100" y="196596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0" name="TextBox 219"/>
          <p:cNvSpPr txBox="1"/>
          <p:nvPr/>
        </p:nvSpPr>
        <p:spPr>
          <a:xfrm>
            <a:off x="9401175" y="196596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21" name="TextBox 220"/>
          <p:cNvSpPr txBox="1"/>
          <p:nvPr/>
        </p:nvSpPr>
        <p:spPr>
          <a:xfrm>
            <a:off x="9591675" y="196596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Plant-Derived Squalane</a:t>
            </a:r>
          </a:p>
        </p:txBody>
      </p:sp>
      <p:cxnSp>
        <p:nvCxnSpPr>
          <p:cNvPr id="222" name="Connector 221"/>
          <p:cNvCxnSpPr/>
          <p:nvPr/>
        </p:nvCxnSpPr>
        <p:spPr>
          <a:xfrm>
            <a:off x="9182100" y="214312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3" name="TextBox 222"/>
          <p:cNvSpPr txBox="1"/>
          <p:nvPr/>
        </p:nvSpPr>
        <p:spPr>
          <a:xfrm>
            <a:off x="9401175" y="214312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24" name="TextBox 223"/>
          <p:cNvSpPr txBox="1"/>
          <p:nvPr/>
        </p:nvSpPr>
        <p:spPr>
          <a:xfrm>
            <a:off x="9591675" y="214312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Bioactive Peptides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9172575" y="2434590"/>
            <a:ext cx="2876550" cy="1645920"/>
          </a:xfrm>
          <a:prstGeom prst="rect">
            <a:avLst/>
          </a:prstGeom>
          <a:solidFill>
            <a:srgbClr val="FFFFFF"/>
          </a:solidFill>
          <a:ln w="1270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Rectangle 225"/>
          <p:cNvSpPr/>
          <p:nvPr/>
        </p:nvSpPr>
        <p:spPr>
          <a:xfrm>
            <a:off x="9172575" y="2434590"/>
            <a:ext cx="2876550" cy="228600"/>
          </a:xfrm>
          <a:prstGeom prst="rect">
            <a:avLst/>
          </a:prstGeom>
          <a:solidFill>
            <a:srgbClr val="0B2E4A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7" name="TextBox 226"/>
          <p:cNvSpPr txBox="1"/>
          <p:nvPr/>
        </p:nvSpPr>
        <p:spPr>
          <a:xfrm>
            <a:off x="9248775" y="2434590"/>
            <a:ext cx="27241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By Product Format</a:t>
            </a:r>
          </a:p>
        </p:txBody>
      </p:sp>
      <p:sp>
        <p:nvSpPr>
          <p:cNvPr id="228" name="TextBox 227"/>
          <p:cNvSpPr txBox="1"/>
          <p:nvPr/>
        </p:nvSpPr>
        <p:spPr>
          <a:xfrm>
            <a:off x="9229725" y="266319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29" name="TextBox 228"/>
          <p:cNvSpPr txBox="1"/>
          <p:nvPr/>
        </p:nvSpPr>
        <p:spPr>
          <a:xfrm>
            <a:off x="9420225" y="266319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Liquid</a:t>
            </a:r>
          </a:p>
        </p:txBody>
      </p:sp>
      <p:cxnSp>
        <p:nvCxnSpPr>
          <p:cNvPr id="230" name="Connector 229"/>
          <p:cNvCxnSpPr/>
          <p:nvPr/>
        </p:nvCxnSpPr>
        <p:spPr>
          <a:xfrm>
            <a:off x="9182100" y="284035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31" name="TextBox 230"/>
          <p:cNvSpPr txBox="1"/>
          <p:nvPr/>
        </p:nvSpPr>
        <p:spPr>
          <a:xfrm>
            <a:off x="9229725" y="284035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32" name="TextBox 231"/>
          <p:cNvSpPr txBox="1"/>
          <p:nvPr/>
        </p:nvSpPr>
        <p:spPr>
          <a:xfrm>
            <a:off x="9420225" y="284035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Spray</a:t>
            </a:r>
          </a:p>
        </p:txBody>
      </p:sp>
      <p:cxnSp>
        <p:nvCxnSpPr>
          <p:cNvPr id="233" name="Connector 232"/>
          <p:cNvCxnSpPr/>
          <p:nvPr/>
        </p:nvCxnSpPr>
        <p:spPr>
          <a:xfrm>
            <a:off x="9182100" y="301752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34" name="TextBox 233"/>
          <p:cNvSpPr txBox="1"/>
          <p:nvPr/>
        </p:nvSpPr>
        <p:spPr>
          <a:xfrm>
            <a:off x="9229725" y="301752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35" name="TextBox 234"/>
          <p:cNvSpPr txBox="1"/>
          <p:nvPr/>
        </p:nvSpPr>
        <p:spPr>
          <a:xfrm>
            <a:off x="9420225" y="301752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Cream &amp; Balm</a:t>
            </a:r>
          </a:p>
        </p:txBody>
      </p:sp>
      <p:cxnSp>
        <p:nvCxnSpPr>
          <p:cNvPr id="236" name="Connector 235"/>
          <p:cNvCxnSpPr/>
          <p:nvPr/>
        </p:nvCxnSpPr>
        <p:spPr>
          <a:xfrm>
            <a:off x="9182100" y="319468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37" name="TextBox 236"/>
          <p:cNvSpPr txBox="1"/>
          <p:nvPr/>
        </p:nvSpPr>
        <p:spPr>
          <a:xfrm>
            <a:off x="9229725" y="319468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38" name="TextBox 237"/>
          <p:cNvSpPr txBox="1"/>
          <p:nvPr/>
        </p:nvSpPr>
        <p:spPr>
          <a:xfrm>
            <a:off x="9420225" y="319468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Gel</a:t>
            </a:r>
          </a:p>
        </p:txBody>
      </p:sp>
      <p:cxnSp>
        <p:nvCxnSpPr>
          <p:cNvPr id="239" name="Connector 238"/>
          <p:cNvCxnSpPr/>
          <p:nvPr/>
        </p:nvCxnSpPr>
        <p:spPr>
          <a:xfrm>
            <a:off x="9182100" y="337185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40" name="TextBox 239"/>
          <p:cNvSpPr txBox="1"/>
          <p:nvPr/>
        </p:nvSpPr>
        <p:spPr>
          <a:xfrm>
            <a:off x="9229725" y="337185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41" name="TextBox 240"/>
          <p:cNvSpPr txBox="1"/>
          <p:nvPr/>
        </p:nvSpPr>
        <p:spPr>
          <a:xfrm>
            <a:off x="9420225" y="337185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Foam</a:t>
            </a:r>
          </a:p>
        </p:txBody>
      </p:sp>
      <p:cxnSp>
        <p:nvCxnSpPr>
          <p:cNvPr id="242" name="Connector 241"/>
          <p:cNvCxnSpPr/>
          <p:nvPr/>
        </p:nvCxnSpPr>
        <p:spPr>
          <a:xfrm>
            <a:off x="9182100" y="354901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43" name="TextBox 242"/>
          <p:cNvSpPr txBox="1"/>
          <p:nvPr/>
        </p:nvSpPr>
        <p:spPr>
          <a:xfrm>
            <a:off x="9229725" y="354901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44" name="TextBox 243"/>
          <p:cNvSpPr txBox="1"/>
          <p:nvPr/>
        </p:nvSpPr>
        <p:spPr>
          <a:xfrm>
            <a:off x="9420225" y="354901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Wipe &amp; Pad</a:t>
            </a:r>
          </a:p>
        </p:txBody>
      </p:sp>
      <p:cxnSp>
        <p:nvCxnSpPr>
          <p:cNvPr id="245" name="Connector 244"/>
          <p:cNvCxnSpPr/>
          <p:nvPr/>
        </p:nvCxnSpPr>
        <p:spPr>
          <a:xfrm>
            <a:off x="9182100" y="372618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46" name="TextBox 245"/>
          <p:cNvSpPr txBox="1"/>
          <p:nvPr/>
        </p:nvSpPr>
        <p:spPr>
          <a:xfrm>
            <a:off x="9229725" y="372618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47" name="TextBox 246"/>
          <p:cNvSpPr txBox="1"/>
          <p:nvPr/>
        </p:nvSpPr>
        <p:spPr>
          <a:xfrm>
            <a:off x="9420225" y="372618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Powder</a:t>
            </a:r>
          </a:p>
        </p:txBody>
      </p:sp>
      <p:cxnSp>
        <p:nvCxnSpPr>
          <p:cNvPr id="248" name="Connector 247"/>
          <p:cNvCxnSpPr/>
          <p:nvPr/>
        </p:nvCxnSpPr>
        <p:spPr>
          <a:xfrm>
            <a:off x="9182100" y="390334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49" name="TextBox 248"/>
          <p:cNvSpPr txBox="1"/>
          <p:nvPr/>
        </p:nvSpPr>
        <p:spPr>
          <a:xfrm>
            <a:off x="9229725" y="390334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50" name="TextBox 249"/>
          <p:cNvSpPr txBox="1"/>
          <p:nvPr/>
        </p:nvSpPr>
        <p:spPr>
          <a:xfrm>
            <a:off x="9420225" y="390334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Solid</a:t>
            </a:r>
          </a:p>
        </p:txBody>
      </p:sp>
      <p:sp>
        <p:nvSpPr>
          <p:cNvPr id="251" name="TextBox 25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Market Taxonomy Segments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Segmentation framework of the study: 8 axes and the sub-segments sized under each</a:t>
            </a:r>
          </a:p>
        </p:txBody>
      </p:sp>
      <p:sp>
        <p:nvSpPr>
          <p:cNvPr id="10" name="Rectangle 9"/>
          <p:cNvSpPr/>
          <p:nvPr/>
        </p:nvSpPr>
        <p:spPr>
          <a:xfrm>
            <a:off x="142875" y="1028700"/>
            <a:ext cx="2876550" cy="5012055"/>
          </a:xfrm>
          <a:prstGeom prst="rect">
            <a:avLst/>
          </a:prstGeom>
          <a:solidFill>
            <a:srgbClr val="FFFFFF"/>
          </a:solidFill>
          <a:ln w="1270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Rectangle 10"/>
          <p:cNvSpPr/>
          <p:nvPr/>
        </p:nvSpPr>
        <p:spPr>
          <a:xfrm>
            <a:off x="142875" y="1028700"/>
            <a:ext cx="2876550" cy="228600"/>
          </a:xfrm>
          <a:prstGeom prst="rect">
            <a:avLst/>
          </a:prstGeom>
          <a:solidFill>
            <a:srgbClr val="0B2E4A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19075" y="1028700"/>
            <a:ext cx="27241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By Primary Product Function / Benefit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200025" y="125730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390525" y="125730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Cleansing &amp; General Hygiene</a:t>
            </a:r>
          </a:p>
        </p:txBody>
      </p:sp>
      <p:cxnSp>
        <p:nvCxnSpPr>
          <p:cNvPr id="15" name="Connector 14"/>
          <p:cNvCxnSpPr/>
          <p:nvPr/>
        </p:nvCxnSpPr>
        <p:spPr>
          <a:xfrm>
            <a:off x="152400" y="143446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" name="TextBox 15"/>
          <p:cNvSpPr txBox="1"/>
          <p:nvPr/>
        </p:nvSpPr>
        <p:spPr>
          <a:xfrm>
            <a:off x="371475" y="143446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561975" y="143446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Dirt &amp; Sebum Removal</a:t>
            </a:r>
          </a:p>
        </p:txBody>
      </p:sp>
      <p:cxnSp>
        <p:nvCxnSpPr>
          <p:cNvPr id="18" name="Connector 17"/>
          <p:cNvCxnSpPr/>
          <p:nvPr/>
        </p:nvCxnSpPr>
        <p:spPr>
          <a:xfrm>
            <a:off x="152400" y="161163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" name="TextBox 18"/>
          <p:cNvSpPr txBox="1"/>
          <p:nvPr/>
        </p:nvSpPr>
        <p:spPr>
          <a:xfrm>
            <a:off x="371475" y="161163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561975" y="161163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Routine Body &amp; Coat Hygiene</a:t>
            </a:r>
          </a:p>
        </p:txBody>
      </p:sp>
      <p:cxnSp>
        <p:nvCxnSpPr>
          <p:cNvPr id="21" name="Connector 20"/>
          <p:cNvCxnSpPr/>
          <p:nvPr/>
        </p:nvCxnSpPr>
        <p:spPr>
          <a:xfrm>
            <a:off x="152400" y="178879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" name="TextBox 21"/>
          <p:cNvSpPr txBox="1"/>
          <p:nvPr/>
        </p:nvSpPr>
        <p:spPr>
          <a:xfrm>
            <a:off x="200025" y="178879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390525" y="178879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Moisturizing &amp; Skin Barrier Care</a:t>
            </a:r>
          </a:p>
        </p:txBody>
      </p:sp>
      <p:cxnSp>
        <p:nvCxnSpPr>
          <p:cNvPr id="24" name="Connector 23"/>
          <p:cNvCxnSpPr/>
          <p:nvPr/>
        </p:nvCxnSpPr>
        <p:spPr>
          <a:xfrm>
            <a:off x="152400" y="196596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" name="TextBox 24"/>
          <p:cNvSpPr txBox="1"/>
          <p:nvPr/>
        </p:nvSpPr>
        <p:spPr>
          <a:xfrm>
            <a:off x="371475" y="196596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561975" y="196596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Skin Hydration</a:t>
            </a:r>
          </a:p>
        </p:txBody>
      </p:sp>
      <p:cxnSp>
        <p:nvCxnSpPr>
          <p:cNvPr id="27" name="Connector 26"/>
          <p:cNvCxnSpPr/>
          <p:nvPr/>
        </p:nvCxnSpPr>
        <p:spPr>
          <a:xfrm>
            <a:off x="152400" y="214312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8" name="TextBox 27"/>
          <p:cNvSpPr txBox="1"/>
          <p:nvPr/>
        </p:nvSpPr>
        <p:spPr>
          <a:xfrm>
            <a:off x="371475" y="214312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561975" y="214312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Skin Barrier Support</a:t>
            </a:r>
          </a:p>
        </p:txBody>
      </p:sp>
      <p:cxnSp>
        <p:nvCxnSpPr>
          <p:cNvPr id="30" name="Connector 29"/>
          <p:cNvCxnSpPr/>
          <p:nvPr/>
        </p:nvCxnSpPr>
        <p:spPr>
          <a:xfrm>
            <a:off x="152400" y="232029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1" name="TextBox 30"/>
          <p:cNvSpPr txBox="1"/>
          <p:nvPr/>
        </p:nvSpPr>
        <p:spPr>
          <a:xfrm>
            <a:off x="371475" y="232029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561975" y="232029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Paw &amp; Nose Protection</a:t>
            </a:r>
          </a:p>
        </p:txBody>
      </p:sp>
      <p:cxnSp>
        <p:nvCxnSpPr>
          <p:cNvPr id="33" name="Connector 32"/>
          <p:cNvCxnSpPr/>
          <p:nvPr/>
        </p:nvCxnSpPr>
        <p:spPr>
          <a:xfrm>
            <a:off x="152400" y="249745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4" name="TextBox 33"/>
          <p:cNvSpPr txBox="1"/>
          <p:nvPr/>
        </p:nvSpPr>
        <p:spPr>
          <a:xfrm>
            <a:off x="200025" y="249745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390525" y="249745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Skin Soothing &amp; Comfort</a:t>
            </a:r>
          </a:p>
        </p:txBody>
      </p:sp>
      <p:cxnSp>
        <p:nvCxnSpPr>
          <p:cNvPr id="36" name="Connector 35"/>
          <p:cNvCxnSpPr/>
          <p:nvPr/>
        </p:nvCxnSpPr>
        <p:spPr>
          <a:xfrm>
            <a:off x="152400" y="267462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7" name="TextBox 36"/>
          <p:cNvSpPr txBox="1"/>
          <p:nvPr/>
        </p:nvSpPr>
        <p:spPr>
          <a:xfrm>
            <a:off x="371475" y="267462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561975" y="267462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Sensitive Skin Care</a:t>
            </a:r>
          </a:p>
        </p:txBody>
      </p:sp>
      <p:cxnSp>
        <p:nvCxnSpPr>
          <p:cNvPr id="39" name="Connector 38"/>
          <p:cNvCxnSpPr/>
          <p:nvPr/>
        </p:nvCxnSpPr>
        <p:spPr>
          <a:xfrm>
            <a:off x="152400" y="285178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0" name="TextBox 39"/>
          <p:cNvSpPr txBox="1"/>
          <p:nvPr/>
        </p:nvSpPr>
        <p:spPr>
          <a:xfrm>
            <a:off x="371475" y="285178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561975" y="285178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Dryness-Related Discomfort Relief</a:t>
            </a:r>
          </a:p>
        </p:txBody>
      </p:sp>
      <p:cxnSp>
        <p:nvCxnSpPr>
          <p:cNvPr id="42" name="Connector 41"/>
          <p:cNvCxnSpPr/>
          <p:nvPr/>
        </p:nvCxnSpPr>
        <p:spPr>
          <a:xfrm>
            <a:off x="152400" y="302895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3" name="TextBox 42"/>
          <p:cNvSpPr txBox="1"/>
          <p:nvPr/>
        </p:nvSpPr>
        <p:spPr>
          <a:xfrm>
            <a:off x="371475" y="302895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561975" y="302895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Coat Conditioning &amp; Grooming</a:t>
            </a:r>
          </a:p>
        </p:txBody>
      </p:sp>
      <p:cxnSp>
        <p:nvCxnSpPr>
          <p:cNvPr id="45" name="Connector 44"/>
          <p:cNvCxnSpPr/>
          <p:nvPr/>
        </p:nvCxnSpPr>
        <p:spPr>
          <a:xfrm>
            <a:off x="152400" y="320611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6" name="TextBox 45"/>
          <p:cNvSpPr txBox="1"/>
          <p:nvPr/>
        </p:nvSpPr>
        <p:spPr>
          <a:xfrm>
            <a:off x="200025" y="320611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390525" y="320611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Coat Conditioning &amp; Softening</a:t>
            </a:r>
          </a:p>
        </p:txBody>
      </p:sp>
      <p:cxnSp>
        <p:nvCxnSpPr>
          <p:cNvPr id="48" name="Connector 47"/>
          <p:cNvCxnSpPr/>
          <p:nvPr/>
        </p:nvCxnSpPr>
        <p:spPr>
          <a:xfrm>
            <a:off x="152400" y="338328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9" name="TextBox 48"/>
          <p:cNvSpPr txBox="1"/>
          <p:nvPr/>
        </p:nvSpPr>
        <p:spPr>
          <a:xfrm>
            <a:off x="371475" y="338328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561975" y="338328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Detangling</a:t>
            </a:r>
          </a:p>
        </p:txBody>
      </p:sp>
      <p:cxnSp>
        <p:nvCxnSpPr>
          <p:cNvPr id="51" name="Connector 50"/>
          <p:cNvCxnSpPr/>
          <p:nvPr/>
        </p:nvCxnSpPr>
        <p:spPr>
          <a:xfrm>
            <a:off x="152400" y="356044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2" name="TextBox 51"/>
          <p:cNvSpPr txBox="1"/>
          <p:nvPr/>
        </p:nvSpPr>
        <p:spPr>
          <a:xfrm>
            <a:off x="371475" y="356044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561975" y="356044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Loose-Hair Removal Support</a:t>
            </a:r>
          </a:p>
        </p:txBody>
      </p:sp>
      <p:cxnSp>
        <p:nvCxnSpPr>
          <p:cNvPr id="54" name="Connector 53"/>
          <p:cNvCxnSpPr/>
          <p:nvPr/>
        </p:nvCxnSpPr>
        <p:spPr>
          <a:xfrm>
            <a:off x="152400" y="373761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5" name="TextBox 54"/>
          <p:cNvSpPr txBox="1"/>
          <p:nvPr/>
        </p:nvSpPr>
        <p:spPr>
          <a:xfrm>
            <a:off x="371475" y="373761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561975" y="373761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Coat Shine Enhancement</a:t>
            </a:r>
          </a:p>
        </p:txBody>
      </p:sp>
      <p:cxnSp>
        <p:nvCxnSpPr>
          <p:cNvPr id="57" name="Connector 56"/>
          <p:cNvCxnSpPr/>
          <p:nvPr/>
        </p:nvCxnSpPr>
        <p:spPr>
          <a:xfrm>
            <a:off x="152400" y="391477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8" name="TextBox 57"/>
          <p:cNvSpPr txBox="1"/>
          <p:nvPr/>
        </p:nvSpPr>
        <p:spPr>
          <a:xfrm>
            <a:off x="371475" y="391477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561975" y="391477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Coat Styling &amp; Hold</a:t>
            </a:r>
          </a:p>
        </p:txBody>
      </p:sp>
      <p:cxnSp>
        <p:nvCxnSpPr>
          <p:cNvPr id="60" name="Connector 59"/>
          <p:cNvCxnSpPr/>
          <p:nvPr/>
        </p:nvCxnSpPr>
        <p:spPr>
          <a:xfrm>
            <a:off x="152400" y="409194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1" name="TextBox 60"/>
          <p:cNvSpPr txBox="1"/>
          <p:nvPr/>
        </p:nvSpPr>
        <p:spPr>
          <a:xfrm>
            <a:off x="200025" y="409194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390525" y="409194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Dental &amp; Oral Hygiene</a:t>
            </a:r>
          </a:p>
        </p:txBody>
      </p:sp>
      <p:cxnSp>
        <p:nvCxnSpPr>
          <p:cNvPr id="63" name="Connector 62"/>
          <p:cNvCxnSpPr/>
          <p:nvPr/>
        </p:nvCxnSpPr>
        <p:spPr>
          <a:xfrm>
            <a:off x="152400" y="426910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4" name="TextBox 63"/>
          <p:cNvSpPr txBox="1"/>
          <p:nvPr/>
        </p:nvSpPr>
        <p:spPr>
          <a:xfrm>
            <a:off x="371475" y="426910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561975" y="426910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Plaque Control</a:t>
            </a:r>
          </a:p>
        </p:txBody>
      </p:sp>
      <p:cxnSp>
        <p:nvCxnSpPr>
          <p:cNvPr id="66" name="Connector 65"/>
          <p:cNvCxnSpPr/>
          <p:nvPr/>
        </p:nvCxnSpPr>
        <p:spPr>
          <a:xfrm>
            <a:off x="152400" y="444627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7" name="TextBox 66"/>
          <p:cNvSpPr txBox="1"/>
          <p:nvPr/>
        </p:nvSpPr>
        <p:spPr>
          <a:xfrm>
            <a:off x="371475" y="444627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561975" y="444627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Tartar Control</a:t>
            </a:r>
          </a:p>
        </p:txBody>
      </p:sp>
      <p:cxnSp>
        <p:nvCxnSpPr>
          <p:cNvPr id="69" name="Connector 68"/>
          <p:cNvCxnSpPr/>
          <p:nvPr/>
        </p:nvCxnSpPr>
        <p:spPr>
          <a:xfrm>
            <a:off x="152400" y="462343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0" name="TextBox 69"/>
          <p:cNvSpPr txBox="1"/>
          <p:nvPr/>
        </p:nvSpPr>
        <p:spPr>
          <a:xfrm>
            <a:off x="371475" y="462343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561975" y="462343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Breath Freshening</a:t>
            </a:r>
          </a:p>
        </p:txBody>
      </p:sp>
      <p:cxnSp>
        <p:nvCxnSpPr>
          <p:cNvPr id="72" name="Connector 71"/>
          <p:cNvCxnSpPr/>
          <p:nvPr/>
        </p:nvCxnSpPr>
        <p:spPr>
          <a:xfrm>
            <a:off x="152400" y="480060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3" name="TextBox 72"/>
          <p:cNvSpPr txBox="1"/>
          <p:nvPr/>
        </p:nvSpPr>
        <p:spPr>
          <a:xfrm>
            <a:off x="200025" y="480060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390525" y="480060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Body &amp; Coat Odor Management</a:t>
            </a:r>
          </a:p>
        </p:txBody>
      </p:sp>
      <p:cxnSp>
        <p:nvCxnSpPr>
          <p:cNvPr id="75" name="Connector 74"/>
          <p:cNvCxnSpPr/>
          <p:nvPr/>
        </p:nvCxnSpPr>
        <p:spPr>
          <a:xfrm>
            <a:off x="152400" y="497776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6" name="TextBox 75"/>
          <p:cNvSpPr txBox="1"/>
          <p:nvPr/>
        </p:nvSpPr>
        <p:spPr>
          <a:xfrm>
            <a:off x="371475" y="497776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561975" y="497776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Odor Neutralization</a:t>
            </a:r>
          </a:p>
        </p:txBody>
      </p:sp>
      <p:cxnSp>
        <p:nvCxnSpPr>
          <p:cNvPr id="78" name="Connector 77"/>
          <p:cNvCxnSpPr/>
          <p:nvPr/>
        </p:nvCxnSpPr>
        <p:spPr>
          <a:xfrm>
            <a:off x="152400" y="515493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9" name="TextBox 78"/>
          <p:cNvSpPr txBox="1"/>
          <p:nvPr/>
        </p:nvSpPr>
        <p:spPr>
          <a:xfrm>
            <a:off x="371475" y="515493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561975" y="515493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Fragrance Enhancement</a:t>
            </a:r>
          </a:p>
        </p:txBody>
      </p:sp>
      <p:cxnSp>
        <p:nvCxnSpPr>
          <p:cNvPr id="81" name="Connector 80"/>
          <p:cNvCxnSpPr/>
          <p:nvPr/>
        </p:nvCxnSpPr>
        <p:spPr>
          <a:xfrm>
            <a:off x="152400" y="533209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2" name="TextBox 81"/>
          <p:cNvSpPr txBox="1"/>
          <p:nvPr/>
        </p:nvSpPr>
        <p:spPr>
          <a:xfrm>
            <a:off x="200025" y="533209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390525" y="533209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Ear &amp; Eye-Area Hygiene</a:t>
            </a:r>
          </a:p>
        </p:txBody>
      </p:sp>
      <p:cxnSp>
        <p:nvCxnSpPr>
          <p:cNvPr id="84" name="Connector 83"/>
          <p:cNvCxnSpPr/>
          <p:nvPr/>
        </p:nvCxnSpPr>
        <p:spPr>
          <a:xfrm>
            <a:off x="152400" y="550926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5" name="TextBox 84"/>
          <p:cNvSpPr txBox="1"/>
          <p:nvPr/>
        </p:nvSpPr>
        <p:spPr>
          <a:xfrm>
            <a:off x="371475" y="550926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86" name="TextBox 85"/>
          <p:cNvSpPr txBox="1"/>
          <p:nvPr/>
        </p:nvSpPr>
        <p:spPr>
          <a:xfrm>
            <a:off x="561975" y="550926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Ear Cleansing</a:t>
            </a:r>
          </a:p>
        </p:txBody>
      </p:sp>
      <p:cxnSp>
        <p:nvCxnSpPr>
          <p:cNvPr id="87" name="Connector 86"/>
          <p:cNvCxnSpPr/>
          <p:nvPr/>
        </p:nvCxnSpPr>
        <p:spPr>
          <a:xfrm>
            <a:off x="152400" y="568642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8" name="TextBox 87"/>
          <p:cNvSpPr txBox="1"/>
          <p:nvPr/>
        </p:nvSpPr>
        <p:spPr>
          <a:xfrm>
            <a:off x="371475" y="568642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89" name="TextBox 88"/>
          <p:cNvSpPr txBox="1"/>
          <p:nvPr/>
        </p:nvSpPr>
        <p:spPr>
          <a:xfrm>
            <a:off x="561975" y="568642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Eye-Area Cleansing</a:t>
            </a:r>
          </a:p>
        </p:txBody>
      </p:sp>
      <p:cxnSp>
        <p:nvCxnSpPr>
          <p:cNvPr id="90" name="Connector 89"/>
          <p:cNvCxnSpPr/>
          <p:nvPr/>
        </p:nvCxnSpPr>
        <p:spPr>
          <a:xfrm>
            <a:off x="152400" y="586359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1" name="TextBox 90"/>
          <p:cNvSpPr txBox="1"/>
          <p:nvPr/>
        </p:nvSpPr>
        <p:spPr>
          <a:xfrm>
            <a:off x="371475" y="586359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561975" y="586359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Tear-Stain Removal</a:t>
            </a:r>
          </a:p>
        </p:txBody>
      </p:sp>
      <p:sp>
        <p:nvSpPr>
          <p:cNvPr id="93" name="Rectangle 92"/>
          <p:cNvSpPr/>
          <p:nvPr/>
        </p:nvSpPr>
        <p:spPr>
          <a:xfrm>
            <a:off x="3152775" y="1028700"/>
            <a:ext cx="2876550" cy="1645920"/>
          </a:xfrm>
          <a:prstGeom prst="rect">
            <a:avLst/>
          </a:prstGeom>
          <a:solidFill>
            <a:srgbClr val="FFFFFF"/>
          </a:solidFill>
          <a:ln w="1270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3152775" y="1028700"/>
            <a:ext cx="2876550" cy="228600"/>
          </a:xfrm>
          <a:prstGeom prst="rect">
            <a:avLst/>
          </a:prstGeom>
          <a:solidFill>
            <a:srgbClr val="0B2E4A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TextBox 94"/>
          <p:cNvSpPr txBox="1"/>
          <p:nvPr/>
        </p:nvSpPr>
        <p:spPr>
          <a:xfrm>
            <a:off x="3228975" y="1028700"/>
            <a:ext cx="27241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By Pet Type</a:t>
            </a:r>
          </a:p>
        </p:txBody>
      </p:sp>
      <p:sp>
        <p:nvSpPr>
          <p:cNvPr id="96" name="TextBox 95"/>
          <p:cNvSpPr txBox="1"/>
          <p:nvPr/>
        </p:nvSpPr>
        <p:spPr>
          <a:xfrm>
            <a:off x="3209925" y="125730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3400425" y="125730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Dogs</a:t>
            </a:r>
          </a:p>
        </p:txBody>
      </p:sp>
      <p:cxnSp>
        <p:nvCxnSpPr>
          <p:cNvPr id="98" name="Connector 97"/>
          <p:cNvCxnSpPr/>
          <p:nvPr/>
        </p:nvCxnSpPr>
        <p:spPr>
          <a:xfrm>
            <a:off x="3162300" y="143446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9" name="TextBox 98"/>
          <p:cNvSpPr txBox="1"/>
          <p:nvPr/>
        </p:nvSpPr>
        <p:spPr>
          <a:xfrm>
            <a:off x="3381375" y="143446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00" name="TextBox 99"/>
          <p:cNvSpPr txBox="1"/>
          <p:nvPr/>
        </p:nvSpPr>
        <p:spPr>
          <a:xfrm>
            <a:off x="3571875" y="143446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Puppies</a:t>
            </a:r>
          </a:p>
        </p:txBody>
      </p:sp>
      <p:cxnSp>
        <p:nvCxnSpPr>
          <p:cNvPr id="101" name="Connector 100"/>
          <p:cNvCxnSpPr/>
          <p:nvPr/>
        </p:nvCxnSpPr>
        <p:spPr>
          <a:xfrm>
            <a:off x="3162300" y="161163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2" name="TextBox 101"/>
          <p:cNvSpPr txBox="1"/>
          <p:nvPr/>
        </p:nvSpPr>
        <p:spPr>
          <a:xfrm>
            <a:off x="3381375" y="161163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3571875" y="161163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Adult Dogs</a:t>
            </a:r>
          </a:p>
        </p:txBody>
      </p:sp>
      <p:cxnSp>
        <p:nvCxnSpPr>
          <p:cNvPr id="104" name="Connector 103"/>
          <p:cNvCxnSpPr/>
          <p:nvPr/>
        </p:nvCxnSpPr>
        <p:spPr>
          <a:xfrm>
            <a:off x="3162300" y="178879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5" name="TextBox 104"/>
          <p:cNvSpPr txBox="1"/>
          <p:nvPr/>
        </p:nvSpPr>
        <p:spPr>
          <a:xfrm>
            <a:off x="3381375" y="178879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06" name="TextBox 105"/>
          <p:cNvSpPr txBox="1"/>
          <p:nvPr/>
        </p:nvSpPr>
        <p:spPr>
          <a:xfrm>
            <a:off x="3571875" y="178879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Senior Dogs</a:t>
            </a:r>
          </a:p>
        </p:txBody>
      </p:sp>
      <p:cxnSp>
        <p:nvCxnSpPr>
          <p:cNvPr id="107" name="Connector 106"/>
          <p:cNvCxnSpPr/>
          <p:nvPr/>
        </p:nvCxnSpPr>
        <p:spPr>
          <a:xfrm>
            <a:off x="3162300" y="196596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8" name="TextBox 107"/>
          <p:cNvSpPr txBox="1"/>
          <p:nvPr/>
        </p:nvSpPr>
        <p:spPr>
          <a:xfrm>
            <a:off x="3209925" y="196596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3400425" y="196596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Cats</a:t>
            </a:r>
          </a:p>
        </p:txBody>
      </p:sp>
      <p:cxnSp>
        <p:nvCxnSpPr>
          <p:cNvPr id="110" name="Connector 109"/>
          <p:cNvCxnSpPr/>
          <p:nvPr/>
        </p:nvCxnSpPr>
        <p:spPr>
          <a:xfrm>
            <a:off x="3162300" y="214312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1" name="TextBox 110"/>
          <p:cNvSpPr txBox="1"/>
          <p:nvPr/>
        </p:nvSpPr>
        <p:spPr>
          <a:xfrm>
            <a:off x="3381375" y="214312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3571875" y="214312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Kittens</a:t>
            </a:r>
          </a:p>
        </p:txBody>
      </p:sp>
      <p:cxnSp>
        <p:nvCxnSpPr>
          <p:cNvPr id="113" name="Connector 112"/>
          <p:cNvCxnSpPr/>
          <p:nvPr/>
        </p:nvCxnSpPr>
        <p:spPr>
          <a:xfrm>
            <a:off x="3162300" y="232029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4" name="TextBox 113"/>
          <p:cNvSpPr txBox="1"/>
          <p:nvPr/>
        </p:nvSpPr>
        <p:spPr>
          <a:xfrm>
            <a:off x="3381375" y="232029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3571875" y="232029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Adult Cats</a:t>
            </a:r>
          </a:p>
        </p:txBody>
      </p:sp>
      <p:cxnSp>
        <p:nvCxnSpPr>
          <p:cNvPr id="116" name="Connector 115"/>
          <p:cNvCxnSpPr/>
          <p:nvPr/>
        </p:nvCxnSpPr>
        <p:spPr>
          <a:xfrm>
            <a:off x="3162300" y="249745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7" name="TextBox 116"/>
          <p:cNvSpPr txBox="1"/>
          <p:nvPr/>
        </p:nvSpPr>
        <p:spPr>
          <a:xfrm>
            <a:off x="3381375" y="249745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18" name="TextBox 117"/>
          <p:cNvSpPr txBox="1"/>
          <p:nvPr/>
        </p:nvSpPr>
        <p:spPr>
          <a:xfrm>
            <a:off x="3571875" y="249745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Senior Cats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6162675" y="1028700"/>
            <a:ext cx="2876550" cy="3594735"/>
          </a:xfrm>
          <a:prstGeom prst="rect">
            <a:avLst/>
          </a:prstGeom>
          <a:solidFill>
            <a:srgbClr val="FFFFFF"/>
          </a:solidFill>
          <a:ln w="1270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6162675" y="1028700"/>
            <a:ext cx="2876550" cy="228600"/>
          </a:xfrm>
          <a:prstGeom prst="rect">
            <a:avLst/>
          </a:prstGeom>
          <a:solidFill>
            <a:srgbClr val="0B2E4A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TextBox 120"/>
          <p:cNvSpPr txBox="1"/>
          <p:nvPr/>
        </p:nvSpPr>
        <p:spPr>
          <a:xfrm>
            <a:off x="6238875" y="1028700"/>
            <a:ext cx="27241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By Pack Size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6219825" y="125730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6410325" y="125730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Liquid, Gel &amp; Cream Products</a:t>
            </a:r>
          </a:p>
        </p:txBody>
      </p:sp>
      <p:cxnSp>
        <p:nvCxnSpPr>
          <p:cNvPr id="124" name="Connector 123"/>
          <p:cNvCxnSpPr/>
          <p:nvPr/>
        </p:nvCxnSpPr>
        <p:spPr>
          <a:xfrm>
            <a:off x="6172200" y="143446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5" name="TextBox 124"/>
          <p:cNvSpPr txBox="1"/>
          <p:nvPr/>
        </p:nvSpPr>
        <p:spPr>
          <a:xfrm>
            <a:off x="6391275" y="143446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26" name="TextBox 125"/>
          <p:cNvSpPr txBox="1"/>
          <p:nvPr/>
        </p:nvSpPr>
        <p:spPr>
          <a:xfrm>
            <a:off x="6581775" y="143446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Up to 100 ml</a:t>
            </a:r>
          </a:p>
        </p:txBody>
      </p:sp>
      <p:cxnSp>
        <p:nvCxnSpPr>
          <p:cNvPr id="127" name="Connector 126"/>
          <p:cNvCxnSpPr/>
          <p:nvPr/>
        </p:nvCxnSpPr>
        <p:spPr>
          <a:xfrm>
            <a:off x="6172200" y="161163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8" name="TextBox 127"/>
          <p:cNvSpPr txBox="1"/>
          <p:nvPr/>
        </p:nvSpPr>
        <p:spPr>
          <a:xfrm>
            <a:off x="6391275" y="161163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29" name="TextBox 128"/>
          <p:cNvSpPr txBox="1"/>
          <p:nvPr/>
        </p:nvSpPr>
        <p:spPr>
          <a:xfrm>
            <a:off x="6581775" y="161163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101-250 ml</a:t>
            </a:r>
          </a:p>
        </p:txBody>
      </p:sp>
      <p:cxnSp>
        <p:nvCxnSpPr>
          <p:cNvPr id="130" name="Connector 129"/>
          <p:cNvCxnSpPr/>
          <p:nvPr/>
        </p:nvCxnSpPr>
        <p:spPr>
          <a:xfrm>
            <a:off x="6172200" y="178879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1" name="TextBox 130"/>
          <p:cNvSpPr txBox="1"/>
          <p:nvPr/>
        </p:nvSpPr>
        <p:spPr>
          <a:xfrm>
            <a:off x="6391275" y="178879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32" name="TextBox 131"/>
          <p:cNvSpPr txBox="1"/>
          <p:nvPr/>
        </p:nvSpPr>
        <p:spPr>
          <a:xfrm>
            <a:off x="6581775" y="178879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251-500 ml</a:t>
            </a:r>
          </a:p>
        </p:txBody>
      </p:sp>
      <p:cxnSp>
        <p:nvCxnSpPr>
          <p:cNvPr id="133" name="Connector 132"/>
          <p:cNvCxnSpPr/>
          <p:nvPr/>
        </p:nvCxnSpPr>
        <p:spPr>
          <a:xfrm>
            <a:off x="6172200" y="196596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4" name="TextBox 133"/>
          <p:cNvSpPr txBox="1"/>
          <p:nvPr/>
        </p:nvSpPr>
        <p:spPr>
          <a:xfrm>
            <a:off x="6391275" y="196596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35" name="TextBox 134"/>
          <p:cNvSpPr txBox="1"/>
          <p:nvPr/>
        </p:nvSpPr>
        <p:spPr>
          <a:xfrm>
            <a:off x="6581775" y="196596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501-1,000 ml</a:t>
            </a:r>
          </a:p>
        </p:txBody>
      </p:sp>
      <p:cxnSp>
        <p:nvCxnSpPr>
          <p:cNvPr id="136" name="Connector 135"/>
          <p:cNvCxnSpPr/>
          <p:nvPr/>
        </p:nvCxnSpPr>
        <p:spPr>
          <a:xfrm>
            <a:off x="6172200" y="214312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7" name="TextBox 136"/>
          <p:cNvSpPr txBox="1"/>
          <p:nvPr/>
        </p:nvSpPr>
        <p:spPr>
          <a:xfrm>
            <a:off x="6391275" y="214312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6581775" y="214312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1-5 litres</a:t>
            </a:r>
          </a:p>
        </p:txBody>
      </p:sp>
      <p:cxnSp>
        <p:nvCxnSpPr>
          <p:cNvPr id="139" name="Connector 138"/>
          <p:cNvCxnSpPr/>
          <p:nvPr/>
        </p:nvCxnSpPr>
        <p:spPr>
          <a:xfrm>
            <a:off x="6172200" y="232029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0" name="TextBox 139"/>
          <p:cNvSpPr txBox="1"/>
          <p:nvPr/>
        </p:nvSpPr>
        <p:spPr>
          <a:xfrm>
            <a:off x="6391275" y="232029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41" name="TextBox 140"/>
          <p:cNvSpPr txBox="1"/>
          <p:nvPr/>
        </p:nvSpPr>
        <p:spPr>
          <a:xfrm>
            <a:off x="6581775" y="232029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Above 5 litres</a:t>
            </a:r>
          </a:p>
        </p:txBody>
      </p:sp>
      <p:cxnSp>
        <p:nvCxnSpPr>
          <p:cNvPr id="142" name="Connector 141"/>
          <p:cNvCxnSpPr/>
          <p:nvPr/>
        </p:nvCxnSpPr>
        <p:spPr>
          <a:xfrm>
            <a:off x="6172200" y="249745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3" name="TextBox 142"/>
          <p:cNvSpPr txBox="1"/>
          <p:nvPr/>
        </p:nvSpPr>
        <p:spPr>
          <a:xfrm>
            <a:off x="6219825" y="249745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44" name="TextBox 143"/>
          <p:cNvSpPr txBox="1"/>
          <p:nvPr/>
        </p:nvSpPr>
        <p:spPr>
          <a:xfrm>
            <a:off x="6410325" y="2497455"/>
            <a:ext cx="2590800" cy="35433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1">
                <a:solidFill>
                  <a:srgbClr val="2E2E2E"/>
                </a:solidFill>
                <a:latin typeface="Calibri"/>
              </a:rPr>
              <a:t>Solid, Powder &amp; Weight-Labeled Products</a:t>
            </a:r>
          </a:p>
        </p:txBody>
      </p:sp>
      <p:cxnSp>
        <p:nvCxnSpPr>
          <p:cNvPr id="145" name="Connector 144"/>
          <p:cNvCxnSpPr/>
          <p:nvPr/>
        </p:nvCxnSpPr>
        <p:spPr>
          <a:xfrm>
            <a:off x="6172200" y="285178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6" name="TextBox 145"/>
          <p:cNvSpPr txBox="1"/>
          <p:nvPr/>
        </p:nvSpPr>
        <p:spPr>
          <a:xfrm>
            <a:off x="6391275" y="285178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6581775" y="285178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Up to 50 g</a:t>
            </a:r>
          </a:p>
        </p:txBody>
      </p:sp>
      <p:cxnSp>
        <p:nvCxnSpPr>
          <p:cNvPr id="148" name="Connector 147"/>
          <p:cNvCxnSpPr/>
          <p:nvPr/>
        </p:nvCxnSpPr>
        <p:spPr>
          <a:xfrm>
            <a:off x="6172200" y="302895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9" name="TextBox 148"/>
          <p:cNvSpPr txBox="1"/>
          <p:nvPr/>
        </p:nvSpPr>
        <p:spPr>
          <a:xfrm>
            <a:off x="6391275" y="302895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50" name="TextBox 149"/>
          <p:cNvSpPr txBox="1"/>
          <p:nvPr/>
        </p:nvSpPr>
        <p:spPr>
          <a:xfrm>
            <a:off x="6581775" y="302895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50-100 g</a:t>
            </a:r>
          </a:p>
        </p:txBody>
      </p:sp>
      <p:cxnSp>
        <p:nvCxnSpPr>
          <p:cNvPr id="151" name="Connector 150"/>
          <p:cNvCxnSpPr/>
          <p:nvPr/>
        </p:nvCxnSpPr>
        <p:spPr>
          <a:xfrm>
            <a:off x="6172200" y="320611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2" name="TextBox 151"/>
          <p:cNvSpPr txBox="1"/>
          <p:nvPr/>
        </p:nvSpPr>
        <p:spPr>
          <a:xfrm>
            <a:off x="6391275" y="320611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53" name="TextBox 152"/>
          <p:cNvSpPr txBox="1"/>
          <p:nvPr/>
        </p:nvSpPr>
        <p:spPr>
          <a:xfrm>
            <a:off x="6581775" y="320611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101-250 g</a:t>
            </a:r>
          </a:p>
        </p:txBody>
      </p:sp>
      <p:cxnSp>
        <p:nvCxnSpPr>
          <p:cNvPr id="154" name="Connector 153"/>
          <p:cNvCxnSpPr/>
          <p:nvPr/>
        </p:nvCxnSpPr>
        <p:spPr>
          <a:xfrm>
            <a:off x="6172200" y="338328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5" name="TextBox 154"/>
          <p:cNvSpPr txBox="1"/>
          <p:nvPr/>
        </p:nvSpPr>
        <p:spPr>
          <a:xfrm>
            <a:off x="6391275" y="338328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56" name="TextBox 155"/>
          <p:cNvSpPr txBox="1"/>
          <p:nvPr/>
        </p:nvSpPr>
        <p:spPr>
          <a:xfrm>
            <a:off x="6581775" y="338328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251-500 g</a:t>
            </a:r>
          </a:p>
        </p:txBody>
      </p:sp>
      <p:cxnSp>
        <p:nvCxnSpPr>
          <p:cNvPr id="157" name="Connector 156"/>
          <p:cNvCxnSpPr/>
          <p:nvPr/>
        </p:nvCxnSpPr>
        <p:spPr>
          <a:xfrm>
            <a:off x="6172200" y="356044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8" name="TextBox 157"/>
          <p:cNvSpPr txBox="1"/>
          <p:nvPr/>
        </p:nvSpPr>
        <p:spPr>
          <a:xfrm>
            <a:off x="6391275" y="356044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59" name="TextBox 158"/>
          <p:cNvSpPr txBox="1"/>
          <p:nvPr/>
        </p:nvSpPr>
        <p:spPr>
          <a:xfrm>
            <a:off x="6581775" y="356044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Above 500 g</a:t>
            </a:r>
          </a:p>
        </p:txBody>
      </p:sp>
      <p:cxnSp>
        <p:nvCxnSpPr>
          <p:cNvPr id="160" name="Connector 159"/>
          <p:cNvCxnSpPr/>
          <p:nvPr/>
        </p:nvCxnSpPr>
        <p:spPr>
          <a:xfrm>
            <a:off x="6172200" y="373761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1" name="TextBox 160"/>
          <p:cNvSpPr txBox="1"/>
          <p:nvPr/>
        </p:nvSpPr>
        <p:spPr>
          <a:xfrm>
            <a:off x="6219825" y="373761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62" name="TextBox 161"/>
          <p:cNvSpPr txBox="1"/>
          <p:nvPr/>
        </p:nvSpPr>
        <p:spPr>
          <a:xfrm>
            <a:off x="6410325" y="373761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Wipes &amp; Other Count-Based Products</a:t>
            </a:r>
          </a:p>
        </p:txBody>
      </p:sp>
      <p:cxnSp>
        <p:nvCxnSpPr>
          <p:cNvPr id="163" name="Connector 162"/>
          <p:cNvCxnSpPr/>
          <p:nvPr/>
        </p:nvCxnSpPr>
        <p:spPr>
          <a:xfrm>
            <a:off x="6172200" y="391477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4" name="TextBox 163"/>
          <p:cNvSpPr txBox="1"/>
          <p:nvPr/>
        </p:nvSpPr>
        <p:spPr>
          <a:xfrm>
            <a:off x="6391275" y="391477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65" name="TextBox 164"/>
          <p:cNvSpPr txBox="1"/>
          <p:nvPr/>
        </p:nvSpPr>
        <p:spPr>
          <a:xfrm>
            <a:off x="6581775" y="391477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Up to 20 pieces</a:t>
            </a:r>
          </a:p>
        </p:txBody>
      </p:sp>
      <p:cxnSp>
        <p:nvCxnSpPr>
          <p:cNvPr id="166" name="Connector 165"/>
          <p:cNvCxnSpPr/>
          <p:nvPr/>
        </p:nvCxnSpPr>
        <p:spPr>
          <a:xfrm>
            <a:off x="6172200" y="409194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7" name="TextBox 166"/>
          <p:cNvSpPr txBox="1"/>
          <p:nvPr/>
        </p:nvSpPr>
        <p:spPr>
          <a:xfrm>
            <a:off x="6391275" y="409194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68" name="TextBox 167"/>
          <p:cNvSpPr txBox="1"/>
          <p:nvPr/>
        </p:nvSpPr>
        <p:spPr>
          <a:xfrm>
            <a:off x="6581775" y="409194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21-50 pieces</a:t>
            </a:r>
          </a:p>
        </p:txBody>
      </p:sp>
      <p:cxnSp>
        <p:nvCxnSpPr>
          <p:cNvPr id="169" name="Connector 168"/>
          <p:cNvCxnSpPr/>
          <p:nvPr/>
        </p:nvCxnSpPr>
        <p:spPr>
          <a:xfrm>
            <a:off x="6172200" y="426910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0" name="TextBox 169"/>
          <p:cNvSpPr txBox="1"/>
          <p:nvPr/>
        </p:nvSpPr>
        <p:spPr>
          <a:xfrm>
            <a:off x="6391275" y="426910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71" name="TextBox 170"/>
          <p:cNvSpPr txBox="1"/>
          <p:nvPr/>
        </p:nvSpPr>
        <p:spPr>
          <a:xfrm>
            <a:off x="6581775" y="426910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51-100 pieces</a:t>
            </a:r>
          </a:p>
        </p:txBody>
      </p:sp>
      <p:cxnSp>
        <p:nvCxnSpPr>
          <p:cNvPr id="172" name="Connector 171"/>
          <p:cNvCxnSpPr/>
          <p:nvPr/>
        </p:nvCxnSpPr>
        <p:spPr>
          <a:xfrm>
            <a:off x="6172200" y="444627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3" name="TextBox 172"/>
          <p:cNvSpPr txBox="1"/>
          <p:nvPr/>
        </p:nvSpPr>
        <p:spPr>
          <a:xfrm>
            <a:off x="6391275" y="444627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74" name="TextBox 173"/>
          <p:cNvSpPr txBox="1"/>
          <p:nvPr/>
        </p:nvSpPr>
        <p:spPr>
          <a:xfrm>
            <a:off x="6581775" y="444627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Above 100 pieces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9172575" y="1028700"/>
            <a:ext cx="2876550" cy="1114425"/>
          </a:xfrm>
          <a:prstGeom prst="rect">
            <a:avLst/>
          </a:prstGeom>
          <a:solidFill>
            <a:srgbClr val="FFFFFF"/>
          </a:solidFill>
          <a:ln w="1270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Rectangle 175"/>
          <p:cNvSpPr/>
          <p:nvPr/>
        </p:nvSpPr>
        <p:spPr>
          <a:xfrm>
            <a:off x="9172575" y="1028700"/>
            <a:ext cx="2876550" cy="228600"/>
          </a:xfrm>
          <a:prstGeom prst="rect">
            <a:avLst/>
          </a:prstGeom>
          <a:solidFill>
            <a:srgbClr val="0B2E4A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7" name="TextBox 176"/>
          <p:cNvSpPr txBox="1"/>
          <p:nvPr/>
        </p:nvSpPr>
        <p:spPr>
          <a:xfrm>
            <a:off x="9248775" y="1028700"/>
            <a:ext cx="27241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By Price Tier</a:t>
            </a:r>
          </a:p>
        </p:txBody>
      </p:sp>
      <p:sp>
        <p:nvSpPr>
          <p:cNvPr id="178" name="TextBox 177"/>
          <p:cNvSpPr txBox="1"/>
          <p:nvPr/>
        </p:nvSpPr>
        <p:spPr>
          <a:xfrm>
            <a:off x="9229725" y="125730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79" name="TextBox 178"/>
          <p:cNvSpPr txBox="1"/>
          <p:nvPr/>
        </p:nvSpPr>
        <p:spPr>
          <a:xfrm>
            <a:off x="9420225" y="125730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Economy / Mass-Market: Below US$3</a:t>
            </a:r>
          </a:p>
        </p:txBody>
      </p:sp>
      <p:cxnSp>
        <p:nvCxnSpPr>
          <p:cNvPr id="180" name="Connector 179"/>
          <p:cNvCxnSpPr/>
          <p:nvPr/>
        </p:nvCxnSpPr>
        <p:spPr>
          <a:xfrm>
            <a:off x="9182100" y="143446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1" name="TextBox 180"/>
          <p:cNvSpPr txBox="1"/>
          <p:nvPr/>
        </p:nvSpPr>
        <p:spPr>
          <a:xfrm>
            <a:off x="9229725" y="143446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82" name="TextBox 181"/>
          <p:cNvSpPr txBox="1"/>
          <p:nvPr/>
        </p:nvSpPr>
        <p:spPr>
          <a:xfrm>
            <a:off x="9420225" y="143446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Mid-Range: US$3 to below US$6</a:t>
            </a:r>
          </a:p>
        </p:txBody>
      </p:sp>
      <p:cxnSp>
        <p:nvCxnSpPr>
          <p:cNvPr id="183" name="Connector 182"/>
          <p:cNvCxnSpPr/>
          <p:nvPr/>
        </p:nvCxnSpPr>
        <p:spPr>
          <a:xfrm>
            <a:off x="9182100" y="161163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4" name="TextBox 183"/>
          <p:cNvSpPr txBox="1"/>
          <p:nvPr/>
        </p:nvSpPr>
        <p:spPr>
          <a:xfrm>
            <a:off x="9229725" y="161163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85" name="TextBox 184"/>
          <p:cNvSpPr txBox="1"/>
          <p:nvPr/>
        </p:nvSpPr>
        <p:spPr>
          <a:xfrm>
            <a:off x="9420225" y="161163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Premium: US$6 to below US$12</a:t>
            </a:r>
          </a:p>
        </p:txBody>
      </p:sp>
      <p:cxnSp>
        <p:nvCxnSpPr>
          <p:cNvPr id="186" name="Connector 185"/>
          <p:cNvCxnSpPr/>
          <p:nvPr/>
        </p:nvCxnSpPr>
        <p:spPr>
          <a:xfrm>
            <a:off x="9182100" y="178879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7" name="TextBox 186"/>
          <p:cNvSpPr txBox="1"/>
          <p:nvPr/>
        </p:nvSpPr>
        <p:spPr>
          <a:xfrm>
            <a:off x="9229725" y="178879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88" name="TextBox 187"/>
          <p:cNvSpPr txBox="1"/>
          <p:nvPr/>
        </p:nvSpPr>
        <p:spPr>
          <a:xfrm>
            <a:off x="9420225" y="1788795"/>
            <a:ext cx="2590800" cy="35433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Super-Premium / Luxury: US$12 and above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9172575" y="2257425"/>
            <a:ext cx="2876550" cy="3417570"/>
          </a:xfrm>
          <a:prstGeom prst="rect">
            <a:avLst/>
          </a:prstGeom>
          <a:solidFill>
            <a:srgbClr val="FFFFFF"/>
          </a:solidFill>
          <a:ln w="1270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Rectangle 189"/>
          <p:cNvSpPr/>
          <p:nvPr/>
        </p:nvSpPr>
        <p:spPr>
          <a:xfrm>
            <a:off x="9172575" y="2257425"/>
            <a:ext cx="2876550" cy="228600"/>
          </a:xfrm>
          <a:prstGeom prst="rect">
            <a:avLst/>
          </a:prstGeom>
          <a:solidFill>
            <a:srgbClr val="0B2E4A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1" name="TextBox 190"/>
          <p:cNvSpPr txBox="1"/>
          <p:nvPr/>
        </p:nvSpPr>
        <p:spPr>
          <a:xfrm>
            <a:off x="9248775" y="2257425"/>
            <a:ext cx="27241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By Sales Channels</a:t>
            </a:r>
          </a:p>
        </p:txBody>
      </p:sp>
      <p:sp>
        <p:nvSpPr>
          <p:cNvPr id="192" name="TextBox 191"/>
          <p:cNvSpPr txBox="1"/>
          <p:nvPr/>
        </p:nvSpPr>
        <p:spPr>
          <a:xfrm>
            <a:off x="9229725" y="248602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93" name="TextBox 192"/>
          <p:cNvSpPr txBox="1"/>
          <p:nvPr/>
        </p:nvSpPr>
        <p:spPr>
          <a:xfrm>
            <a:off x="9420225" y="248602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E-commerce</a:t>
            </a:r>
          </a:p>
        </p:txBody>
      </p:sp>
      <p:cxnSp>
        <p:nvCxnSpPr>
          <p:cNvPr id="194" name="Connector 193"/>
          <p:cNvCxnSpPr/>
          <p:nvPr/>
        </p:nvCxnSpPr>
        <p:spPr>
          <a:xfrm>
            <a:off x="9182100" y="266319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5" name="TextBox 194"/>
          <p:cNvSpPr txBox="1"/>
          <p:nvPr/>
        </p:nvSpPr>
        <p:spPr>
          <a:xfrm>
            <a:off x="9401175" y="266319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96" name="TextBox 195"/>
          <p:cNvSpPr txBox="1"/>
          <p:nvPr/>
        </p:nvSpPr>
        <p:spPr>
          <a:xfrm>
            <a:off x="9591675" y="266319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Brand-owned Webstores</a:t>
            </a:r>
          </a:p>
        </p:txBody>
      </p:sp>
      <p:cxnSp>
        <p:nvCxnSpPr>
          <p:cNvPr id="197" name="Connector 196"/>
          <p:cNvCxnSpPr/>
          <p:nvPr/>
        </p:nvCxnSpPr>
        <p:spPr>
          <a:xfrm>
            <a:off x="9182100" y="284035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8" name="TextBox 197"/>
          <p:cNvSpPr txBox="1"/>
          <p:nvPr/>
        </p:nvSpPr>
        <p:spPr>
          <a:xfrm>
            <a:off x="9401175" y="284035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99" name="TextBox 198"/>
          <p:cNvSpPr txBox="1"/>
          <p:nvPr/>
        </p:nvSpPr>
        <p:spPr>
          <a:xfrm>
            <a:off x="9591675" y="284035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Online Marketplaces</a:t>
            </a:r>
          </a:p>
        </p:txBody>
      </p:sp>
      <p:cxnSp>
        <p:nvCxnSpPr>
          <p:cNvPr id="200" name="Connector 199"/>
          <p:cNvCxnSpPr/>
          <p:nvPr/>
        </p:nvCxnSpPr>
        <p:spPr>
          <a:xfrm>
            <a:off x="9182100" y="301752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1" name="TextBox 200"/>
          <p:cNvSpPr txBox="1"/>
          <p:nvPr/>
        </p:nvSpPr>
        <p:spPr>
          <a:xfrm>
            <a:off x="9401175" y="301752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02" name="TextBox 201"/>
          <p:cNvSpPr txBox="1"/>
          <p:nvPr/>
        </p:nvSpPr>
        <p:spPr>
          <a:xfrm>
            <a:off x="9591675" y="301752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Specialist Pet E-commerce</a:t>
            </a:r>
          </a:p>
        </p:txBody>
      </p:sp>
      <p:cxnSp>
        <p:nvCxnSpPr>
          <p:cNvPr id="203" name="Connector 202"/>
          <p:cNvCxnSpPr/>
          <p:nvPr/>
        </p:nvCxnSpPr>
        <p:spPr>
          <a:xfrm>
            <a:off x="9182100" y="319468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4" name="TextBox 203"/>
          <p:cNvSpPr txBox="1"/>
          <p:nvPr/>
        </p:nvSpPr>
        <p:spPr>
          <a:xfrm>
            <a:off x="9229725" y="319468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05" name="TextBox 204"/>
          <p:cNvSpPr txBox="1"/>
          <p:nvPr/>
        </p:nvSpPr>
        <p:spPr>
          <a:xfrm>
            <a:off x="9420225" y="319468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Pet Specialty Retail</a:t>
            </a:r>
          </a:p>
        </p:txBody>
      </p:sp>
      <p:cxnSp>
        <p:nvCxnSpPr>
          <p:cNvPr id="206" name="Connector 205"/>
          <p:cNvCxnSpPr/>
          <p:nvPr/>
        </p:nvCxnSpPr>
        <p:spPr>
          <a:xfrm>
            <a:off x="9182100" y="337185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7" name="TextBox 206"/>
          <p:cNvSpPr txBox="1"/>
          <p:nvPr/>
        </p:nvSpPr>
        <p:spPr>
          <a:xfrm>
            <a:off x="9401175" y="337185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08" name="TextBox 207"/>
          <p:cNvSpPr txBox="1"/>
          <p:nvPr/>
        </p:nvSpPr>
        <p:spPr>
          <a:xfrm>
            <a:off x="9591675" y="337185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Independent Pet Stores</a:t>
            </a:r>
          </a:p>
        </p:txBody>
      </p:sp>
      <p:cxnSp>
        <p:nvCxnSpPr>
          <p:cNvPr id="209" name="Connector 208"/>
          <p:cNvCxnSpPr/>
          <p:nvPr/>
        </p:nvCxnSpPr>
        <p:spPr>
          <a:xfrm>
            <a:off x="9182100" y="354901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0" name="TextBox 209"/>
          <p:cNvSpPr txBox="1"/>
          <p:nvPr/>
        </p:nvSpPr>
        <p:spPr>
          <a:xfrm>
            <a:off x="9401175" y="354901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11" name="TextBox 210"/>
          <p:cNvSpPr txBox="1"/>
          <p:nvPr/>
        </p:nvSpPr>
        <p:spPr>
          <a:xfrm>
            <a:off x="9591675" y="354901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Pet Superstores</a:t>
            </a:r>
          </a:p>
        </p:txBody>
      </p:sp>
      <p:cxnSp>
        <p:nvCxnSpPr>
          <p:cNvPr id="212" name="Connector 211"/>
          <p:cNvCxnSpPr/>
          <p:nvPr/>
        </p:nvCxnSpPr>
        <p:spPr>
          <a:xfrm>
            <a:off x="9182100" y="372618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3" name="TextBox 212"/>
          <p:cNvSpPr txBox="1"/>
          <p:nvPr/>
        </p:nvSpPr>
        <p:spPr>
          <a:xfrm>
            <a:off x="9401175" y="372618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14" name="TextBox 213"/>
          <p:cNvSpPr txBox="1"/>
          <p:nvPr/>
        </p:nvSpPr>
        <p:spPr>
          <a:xfrm>
            <a:off x="9591675" y="372618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Pet Retail Chains</a:t>
            </a:r>
          </a:p>
        </p:txBody>
      </p:sp>
      <p:cxnSp>
        <p:nvCxnSpPr>
          <p:cNvPr id="215" name="Connector 214"/>
          <p:cNvCxnSpPr/>
          <p:nvPr/>
        </p:nvCxnSpPr>
        <p:spPr>
          <a:xfrm>
            <a:off x="9182100" y="390334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6" name="TextBox 215"/>
          <p:cNvSpPr txBox="1"/>
          <p:nvPr/>
        </p:nvSpPr>
        <p:spPr>
          <a:xfrm>
            <a:off x="9229725" y="390334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17" name="TextBox 216"/>
          <p:cNvSpPr txBox="1"/>
          <p:nvPr/>
        </p:nvSpPr>
        <p:spPr>
          <a:xfrm>
            <a:off x="9420225" y="390334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Veterinary &amp; Animal Health</a:t>
            </a:r>
          </a:p>
        </p:txBody>
      </p:sp>
      <p:cxnSp>
        <p:nvCxnSpPr>
          <p:cNvPr id="218" name="Connector 217"/>
          <p:cNvCxnSpPr/>
          <p:nvPr/>
        </p:nvCxnSpPr>
        <p:spPr>
          <a:xfrm>
            <a:off x="9182100" y="408051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9" name="TextBox 218"/>
          <p:cNvSpPr txBox="1"/>
          <p:nvPr/>
        </p:nvSpPr>
        <p:spPr>
          <a:xfrm>
            <a:off x="9401175" y="408051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20" name="TextBox 219"/>
          <p:cNvSpPr txBox="1"/>
          <p:nvPr/>
        </p:nvSpPr>
        <p:spPr>
          <a:xfrm>
            <a:off x="9591675" y="408051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Veterinary Clinics</a:t>
            </a:r>
          </a:p>
        </p:txBody>
      </p:sp>
      <p:cxnSp>
        <p:nvCxnSpPr>
          <p:cNvPr id="221" name="Connector 220"/>
          <p:cNvCxnSpPr/>
          <p:nvPr/>
        </p:nvCxnSpPr>
        <p:spPr>
          <a:xfrm>
            <a:off x="9182100" y="425767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2" name="TextBox 221"/>
          <p:cNvSpPr txBox="1"/>
          <p:nvPr/>
        </p:nvSpPr>
        <p:spPr>
          <a:xfrm>
            <a:off x="9401175" y="425767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23" name="TextBox 222"/>
          <p:cNvSpPr txBox="1"/>
          <p:nvPr/>
        </p:nvSpPr>
        <p:spPr>
          <a:xfrm>
            <a:off x="9591675" y="425767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Veterinary Pharmacies</a:t>
            </a:r>
          </a:p>
        </p:txBody>
      </p:sp>
      <p:cxnSp>
        <p:nvCxnSpPr>
          <p:cNvPr id="224" name="Connector 223"/>
          <p:cNvCxnSpPr/>
          <p:nvPr/>
        </p:nvCxnSpPr>
        <p:spPr>
          <a:xfrm>
            <a:off x="9182100" y="443484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5" name="TextBox 224"/>
          <p:cNvSpPr txBox="1"/>
          <p:nvPr/>
        </p:nvSpPr>
        <p:spPr>
          <a:xfrm>
            <a:off x="9229725" y="443484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26" name="TextBox 225"/>
          <p:cNvSpPr txBox="1"/>
          <p:nvPr/>
        </p:nvSpPr>
        <p:spPr>
          <a:xfrm>
            <a:off x="9420225" y="443484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General Retail</a:t>
            </a:r>
          </a:p>
        </p:txBody>
      </p:sp>
      <p:cxnSp>
        <p:nvCxnSpPr>
          <p:cNvPr id="227" name="Connector 226"/>
          <p:cNvCxnSpPr/>
          <p:nvPr/>
        </p:nvCxnSpPr>
        <p:spPr>
          <a:xfrm>
            <a:off x="9182100" y="461200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8" name="TextBox 227"/>
          <p:cNvSpPr txBox="1"/>
          <p:nvPr/>
        </p:nvSpPr>
        <p:spPr>
          <a:xfrm>
            <a:off x="9401175" y="461200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29" name="TextBox 228"/>
          <p:cNvSpPr txBox="1"/>
          <p:nvPr/>
        </p:nvSpPr>
        <p:spPr>
          <a:xfrm>
            <a:off x="9591675" y="461200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Supermarkets &amp; Hypermarkets</a:t>
            </a:r>
          </a:p>
        </p:txBody>
      </p:sp>
      <p:cxnSp>
        <p:nvCxnSpPr>
          <p:cNvPr id="230" name="Connector 229"/>
          <p:cNvCxnSpPr/>
          <p:nvPr/>
        </p:nvCxnSpPr>
        <p:spPr>
          <a:xfrm>
            <a:off x="9182100" y="478917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31" name="TextBox 230"/>
          <p:cNvSpPr txBox="1"/>
          <p:nvPr/>
        </p:nvSpPr>
        <p:spPr>
          <a:xfrm>
            <a:off x="9401175" y="478917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32" name="TextBox 231"/>
          <p:cNvSpPr txBox="1"/>
          <p:nvPr/>
        </p:nvSpPr>
        <p:spPr>
          <a:xfrm>
            <a:off x="9591675" y="478917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Drugstores &amp; Pharmacies</a:t>
            </a:r>
          </a:p>
        </p:txBody>
      </p:sp>
      <p:cxnSp>
        <p:nvCxnSpPr>
          <p:cNvPr id="233" name="Connector 232"/>
          <p:cNvCxnSpPr/>
          <p:nvPr/>
        </p:nvCxnSpPr>
        <p:spPr>
          <a:xfrm>
            <a:off x="9182100" y="496633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34" name="TextBox 233"/>
          <p:cNvSpPr txBox="1"/>
          <p:nvPr/>
        </p:nvSpPr>
        <p:spPr>
          <a:xfrm>
            <a:off x="9229725" y="496633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35" name="TextBox 234"/>
          <p:cNvSpPr txBox="1"/>
          <p:nvPr/>
        </p:nvSpPr>
        <p:spPr>
          <a:xfrm>
            <a:off x="9420225" y="496633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Professional &amp; B2B</a:t>
            </a:r>
          </a:p>
        </p:txBody>
      </p:sp>
      <p:cxnSp>
        <p:nvCxnSpPr>
          <p:cNvPr id="236" name="Connector 235"/>
          <p:cNvCxnSpPr/>
          <p:nvPr/>
        </p:nvCxnSpPr>
        <p:spPr>
          <a:xfrm>
            <a:off x="9182100" y="514350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37" name="TextBox 236"/>
          <p:cNvSpPr txBox="1"/>
          <p:nvPr/>
        </p:nvSpPr>
        <p:spPr>
          <a:xfrm>
            <a:off x="9401175" y="514350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38" name="TextBox 237"/>
          <p:cNvSpPr txBox="1"/>
          <p:nvPr/>
        </p:nvSpPr>
        <p:spPr>
          <a:xfrm>
            <a:off x="9591675" y="514350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Pet Grooming Salons</a:t>
            </a:r>
          </a:p>
        </p:txBody>
      </p:sp>
      <p:cxnSp>
        <p:nvCxnSpPr>
          <p:cNvPr id="239" name="Connector 238"/>
          <p:cNvCxnSpPr/>
          <p:nvPr/>
        </p:nvCxnSpPr>
        <p:spPr>
          <a:xfrm>
            <a:off x="9182100" y="532066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40" name="TextBox 239"/>
          <p:cNvSpPr txBox="1"/>
          <p:nvPr/>
        </p:nvSpPr>
        <p:spPr>
          <a:xfrm>
            <a:off x="9401175" y="532066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41" name="TextBox 240"/>
          <p:cNvSpPr txBox="1"/>
          <p:nvPr/>
        </p:nvSpPr>
        <p:spPr>
          <a:xfrm>
            <a:off x="9591675" y="532066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Professional Grooming Suppliers</a:t>
            </a:r>
          </a:p>
        </p:txBody>
      </p:sp>
      <p:cxnSp>
        <p:nvCxnSpPr>
          <p:cNvPr id="242" name="Connector 241"/>
          <p:cNvCxnSpPr/>
          <p:nvPr/>
        </p:nvCxnSpPr>
        <p:spPr>
          <a:xfrm>
            <a:off x="9182100" y="549783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43" name="TextBox 242"/>
          <p:cNvSpPr txBox="1"/>
          <p:nvPr/>
        </p:nvSpPr>
        <p:spPr>
          <a:xfrm>
            <a:off x="9401175" y="549783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44" name="TextBox 243"/>
          <p:cNvSpPr txBox="1"/>
          <p:nvPr/>
        </p:nvSpPr>
        <p:spPr>
          <a:xfrm>
            <a:off x="9591675" y="549783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Pet Boarding &amp; Daycare</a:t>
            </a:r>
          </a:p>
        </p:txBody>
      </p:sp>
      <p:sp>
        <p:nvSpPr>
          <p:cNvPr id="245" name="TextBox 24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Company Coverage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Companies profiled and benchmarked across the competition assessment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42875" y="1007261"/>
            <a:ext cx="11906250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Companies covered in this study of the Pet Cosmetic Products Market profiled and benchmarked in the Competition Assessment section.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42875" y="1554872"/>
            <a:ext cx="5857875" cy="4654693"/>
          </a:xfrm>
          <a:prstGeom prst="rect">
            <a:avLst/>
          </a:prstGeom>
          <a:solidFill>
            <a:srgbClr val="FFFFFF"/>
          </a:solidFill>
          <a:ln w="1270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142875" y="1554872"/>
            <a:ext cx="5857875" cy="273805"/>
          </a:xfrm>
          <a:prstGeom prst="rect">
            <a:avLst/>
          </a:prstGeom>
          <a:solidFill>
            <a:srgbClr val="0B2E4A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142875" y="1618760"/>
            <a:ext cx="5857875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List Companies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333375" y="1828677"/>
            <a:ext cx="190500" cy="365074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581025" y="1828677"/>
            <a:ext cx="53244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Beaphar</a:t>
            </a:r>
          </a:p>
        </p:txBody>
      </p:sp>
      <p:sp>
        <p:nvSpPr>
          <p:cNvPr id="16" name="Rectangle 15"/>
          <p:cNvSpPr/>
          <p:nvPr/>
        </p:nvSpPr>
        <p:spPr>
          <a:xfrm>
            <a:off x="152400" y="2193751"/>
            <a:ext cx="5838825" cy="365074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152400" y="2193751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TextBox 17"/>
          <p:cNvSpPr txBox="1"/>
          <p:nvPr/>
        </p:nvSpPr>
        <p:spPr>
          <a:xfrm>
            <a:off x="333375" y="2193751"/>
            <a:ext cx="190500" cy="365074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581025" y="2193751"/>
            <a:ext cx="53244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Laboratoire Biogance</a:t>
            </a:r>
          </a:p>
        </p:txBody>
      </p:sp>
      <p:cxnSp>
        <p:nvCxnSpPr>
          <p:cNvPr id="20" name="Connector 19"/>
          <p:cNvCxnSpPr/>
          <p:nvPr/>
        </p:nvCxnSpPr>
        <p:spPr>
          <a:xfrm>
            <a:off x="152400" y="2558825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" name="TextBox 20"/>
          <p:cNvSpPr txBox="1"/>
          <p:nvPr/>
        </p:nvSpPr>
        <p:spPr>
          <a:xfrm>
            <a:off x="333375" y="2558825"/>
            <a:ext cx="190500" cy="365074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81025" y="2558825"/>
            <a:ext cx="53244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Laboratoire Francodex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52400" y="2923899"/>
            <a:ext cx="5838825" cy="365074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4" name="Connector 23"/>
          <p:cNvCxnSpPr/>
          <p:nvPr/>
        </p:nvCxnSpPr>
        <p:spPr>
          <a:xfrm>
            <a:off x="152400" y="2923899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" name="TextBox 24"/>
          <p:cNvSpPr txBox="1"/>
          <p:nvPr/>
        </p:nvSpPr>
        <p:spPr>
          <a:xfrm>
            <a:off x="333375" y="2923899"/>
            <a:ext cx="190500" cy="365074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581025" y="2923899"/>
            <a:ext cx="53244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Group55</a:t>
            </a:r>
          </a:p>
        </p:txBody>
      </p:sp>
      <p:cxnSp>
        <p:nvCxnSpPr>
          <p:cNvPr id="27" name="Connector 26"/>
          <p:cNvCxnSpPr/>
          <p:nvPr/>
        </p:nvCxnSpPr>
        <p:spPr>
          <a:xfrm>
            <a:off x="152400" y="3288973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8" name="TextBox 27"/>
          <p:cNvSpPr txBox="1"/>
          <p:nvPr/>
        </p:nvSpPr>
        <p:spPr>
          <a:xfrm>
            <a:off x="333375" y="3288973"/>
            <a:ext cx="190500" cy="365074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581025" y="3288973"/>
            <a:ext cx="53244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Lakeland Cosmetics</a:t>
            </a:r>
          </a:p>
        </p:txBody>
      </p:sp>
      <p:sp>
        <p:nvSpPr>
          <p:cNvPr id="30" name="Rectangle 29"/>
          <p:cNvSpPr/>
          <p:nvPr/>
        </p:nvSpPr>
        <p:spPr>
          <a:xfrm>
            <a:off x="152400" y="3654047"/>
            <a:ext cx="5838825" cy="365074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31" name="Connector 30"/>
          <p:cNvCxnSpPr/>
          <p:nvPr/>
        </p:nvCxnSpPr>
        <p:spPr>
          <a:xfrm>
            <a:off x="152400" y="3654047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2" name="TextBox 31"/>
          <p:cNvSpPr txBox="1"/>
          <p:nvPr/>
        </p:nvSpPr>
        <p:spPr>
          <a:xfrm>
            <a:off x="333375" y="3654047"/>
            <a:ext cx="190500" cy="365074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581025" y="3654047"/>
            <a:ext cx="53244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Laboratorios Bilper</a:t>
            </a:r>
          </a:p>
        </p:txBody>
      </p:sp>
      <p:cxnSp>
        <p:nvCxnSpPr>
          <p:cNvPr id="34" name="Connector 33"/>
          <p:cNvCxnSpPr/>
          <p:nvPr/>
        </p:nvCxnSpPr>
        <p:spPr>
          <a:xfrm>
            <a:off x="152400" y="4019121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5" name="TextBox 34"/>
          <p:cNvSpPr txBox="1"/>
          <p:nvPr/>
        </p:nvSpPr>
        <p:spPr>
          <a:xfrm>
            <a:off x="333375" y="4019121"/>
            <a:ext cx="190500" cy="365074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581025" y="4019121"/>
            <a:ext cx="53244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Artero</a:t>
            </a:r>
          </a:p>
        </p:txBody>
      </p:sp>
      <p:sp>
        <p:nvSpPr>
          <p:cNvPr id="37" name="Rectangle 36"/>
          <p:cNvSpPr/>
          <p:nvPr/>
        </p:nvSpPr>
        <p:spPr>
          <a:xfrm>
            <a:off x="152400" y="4384195"/>
            <a:ext cx="5838825" cy="365074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38" name="Connector 37"/>
          <p:cNvCxnSpPr/>
          <p:nvPr/>
        </p:nvCxnSpPr>
        <p:spPr>
          <a:xfrm>
            <a:off x="152400" y="4384195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9" name="TextBox 38"/>
          <p:cNvSpPr txBox="1"/>
          <p:nvPr/>
        </p:nvSpPr>
        <p:spPr>
          <a:xfrm>
            <a:off x="333375" y="4384195"/>
            <a:ext cx="190500" cy="365074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581025" y="4384195"/>
            <a:ext cx="53244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Iv San Bernard</a:t>
            </a:r>
          </a:p>
        </p:txBody>
      </p:sp>
      <p:cxnSp>
        <p:nvCxnSpPr>
          <p:cNvPr id="41" name="Connector 40"/>
          <p:cNvCxnSpPr/>
          <p:nvPr/>
        </p:nvCxnSpPr>
        <p:spPr>
          <a:xfrm>
            <a:off x="152400" y="4749269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2" name="TextBox 41"/>
          <p:cNvSpPr txBox="1"/>
          <p:nvPr/>
        </p:nvSpPr>
        <p:spPr>
          <a:xfrm>
            <a:off x="333375" y="4749269"/>
            <a:ext cx="190500" cy="365074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581025" y="4749269"/>
            <a:ext cx="53244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Cosmetica Veneta</a:t>
            </a:r>
          </a:p>
        </p:txBody>
      </p:sp>
      <p:sp>
        <p:nvSpPr>
          <p:cNvPr id="44" name="Rectangle 43"/>
          <p:cNvSpPr/>
          <p:nvPr/>
        </p:nvSpPr>
        <p:spPr>
          <a:xfrm>
            <a:off x="152400" y="5114343"/>
            <a:ext cx="5838825" cy="365074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45" name="Connector 44"/>
          <p:cNvCxnSpPr/>
          <p:nvPr/>
        </p:nvCxnSpPr>
        <p:spPr>
          <a:xfrm>
            <a:off x="152400" y="5114343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6" name="TextBox 45"/>
          <p:cNvSpPr txBox="1"/>
          <p:nvPr/>
        </p:nvSpPr>
        <p:spPr>
          <a:xfrm>
            <a:off x="333375" y="5114343"/>
            <a:ext cx="190500" cy="365074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581025" y="5114343"/>
            <a:ext cx="53244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K9 Competition</a:t>
            </a:r>
          </a:p>
        </p:txBody>
      </p:sp>
      <p:cxnSp>
        <p:nvCxnSpPr>
          <p:cNvPr id="48" name="Connector 47"/>
          <p:cNvCxnSpPr/>
          <p:nvPr/>
        </p:nvCxnSpPr>
        <p:spPr>
          <a:xfrm>
            <a:off x="152400" y="5479417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9" name="TextBox 48"/>
          <p:cNvSpPr txBox="1"/>
          <p:nvPr/>
        </p:nvSpPr>
        <p:spPr>
          <a:xfrm>
            <a:off x="333375" y="5479417"/>
            <a:ext cx="190500" cy="365074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581025" y="5479417"/>
            <a:ext cx="53244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Anju Beauté</a:t>
            </a:r>
          </a:p>
        </p:txBody>
      </p:sp>
      <p:sp>
        <p:nvSpPr>
          <p:cNvPr id="51" name="Rectangle 50"/>
          <p:cNvSpPr/>
          <p:nvPr/>
        </p:nvSpPr>
        <p:spPr>
          <a:xfrm>
            <a:off x="152400" y="5844491"/>
            <a:ext cx="5838825" cy="355947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52" name="Connector 51"/>
          <p:cNvCxnSpPr/>
          <p:nvPr/>
        </p:nvCxnSpPr>
        <p:spPr>
          <a:xfrm>
            <a:off x="152400" y="5844491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3" name="TextBox 52"/>
          <p:cNvSpPr txBox="1"/>
          <p:nvPr/>
        </p:nvSpPr>
        <p:spPr>
          <a:xfrm>
            <a:off x="333375" y="5844491"/>
            <a:ext cx="190500" cy="365074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581025" y="5844491"/>
            <a:ext cx="53244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Petuxe Cosmetics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191250" y="1554872"/>
            <a:ext cx="5857875" cy="4654693"/>
          </a:xfrm>
          <a:prstGeom prst="rect">
            <a:avLst/>
          </a:prstGeom>
          <a:solidFill>
            <a:srgbClr val="FFFFFF"/>
          </a:solidFill>
          <a:ln w="1270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191250" y="1554872"/>
            <a:ext cx="5857875" cy="273805"/>
          </a:xfrm>
          <a:prstGeom prst="rect">
            <a:avLst/>
          </a:prstGeom>
          <a:solidFill>
            <a:srgbClr val="0B2E4A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TextBox 56"/>
          <p:cNvSpPr txBox="1"/>
          <p:nvPr/>
        </p:nvSpPr>
        <p:spPr>
          <a:xfrm>
            <a:off x="6191250" y="1618760"/>
            <a:ext cx="5857875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List Companies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6381750" y="1828677"/>
            <a:ext cx="190500" cy="365074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6629400" y="1828677"/>
            <a:ext cx="53244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Baldecchi</a:t>
            </a:r>
          </a:p>
        </p:txBody>
      </p:sp>
      <p:sp>
        <p:nvSpPr>
          <p:cNvPr id="60" name="Rectangle 59"/>
          <p:cNvSpPr/>
          <p:nvPr/>
        </p:nvSpPr>
        <p:spPr>
          <a:xfrm>
            <a:off x="6200775" y="2193751"/>
            <a:ext cx="5838825" cy="365074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61" name="Connector 60"/>
          <p:cNvCxnSpPr/>
          <p:nvPr/>
        </p:nvCxnSpPr>
        <p:spPr>
          <a:xfrm>
            <a:off x="6200775" y="2193751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2" name="TextBox 61"/>
          <p:cNvSpPr txBox="1"/>
          <p:nvPr/>
        </p:nvSpPr>
        <p:spPr>
          <a:xfrm>
            <a:off x="6381750" y="2193751"/>
            <a:ext cx="190500" cy="365074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6629400" y="2193751"/>
            <a:ext cx="53244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Ceva</a:t>
            </a:r>
          </a:p>
        </p:txBody>
      </p:sp>
      <p:cxnSp>
        <p:nvCxnSpPr>
          <p:cNvPr id="64" name="Connector 63"/>
          <p:cNvCxnSpPr/>
          <p:nvPr/>
        </p:nvCxnSpPr>
        <p:spPr>
          <a:xfrm>
            <a:off x="6200775" y="2558825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5" name="TextBox 64"/>
          <p:cNvSpPr txBox="1"/>
          <p:nvPr/>
        </p:nvSpPr>
        <p:spPr>
          <a:xfrm>
            <a:off x="6381750" y="2558825"/>
            <a:ext cx="190500" cy="365074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6629400" y="2558825"/>
            <a:ext cx="53244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Vet Expert</a:t>
            </a:r>
          </a:p>
        </p:txBody>
      </p:sp>
      <p:sp>
        <p:nvSpPr>
          <p:cNvPr id="67" name="Rectangle 66"/>
          <p:cNvSpPr/>
          <p:nvPr/>
        </p:nvSpPr>
        <p:spPr>
          <a:xfrm>
            <a:off x="6200775" y="2923899"/>
            <a:ext cx="5838825" cy="365074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68" name="Connector 67"/>
          <p:cNvCxnSpPr/>
          <p:nvPr/>
        </p:nvCxnSpPr>
        <p:spPr>
          <a:xfrm>
            <a:off x="6200775" y="2923899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9" name="TextBox 68"/>
          <p:cNvSpPr txBox="1"/>
          <p:nvPr/>
        </p:nvSpPr>
        <p:spPr>
          <a:xfrm>
            <a:off x="6381750" y="2923899"/>
            <a:ext cx="190500" cy="365074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6629400" y="2923899"/>
            <a:ext cx="53244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Laboratoire Diamex</a:t>
            </a:r>
          </a:p>
        </p:txBody>
      </p:sp>
      <p:cxnSp>
        <p:nvCxnSpPr>
          <p:cNvPr id="71" name="Connector 70"/>
          <p:cNvCxnSpPr/>
          <p:nvPr/>
        </p:nvCxnSpPr>
        <p:spPr>
          <a:xfrm>
            <a:off x="6200775" y="3288973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2" name="TextBox 71"/>
          <p:cNvSpPr txBox="1"/>
          <p:nvPr/>
        </p:nvSpPr>
        <p:spPr>
          <a:xfrm>
            <a:off x="6381750" y="3288973"/>
            <a:ext cx="190500" cy="365074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6629400" y="3288973"/>
            <a:ext cx="53244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Virbac</a:t>
            </a:r>
          </a:p>
        </p:txBody>
      </p:sp>
      <p:sp>
        <p:nvSpPr>
          <p:cNvPr id="74" name="Rectangle 73"/>
          <p:cNvSpPr/>
          <p:nvPr/>
        </p:nvSpPr>
        <p:spPr>
          <a:xfrm>
            <a:off x="6200775" y="3654047"/>
            <a:ext cx="5838825" cy="365074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5" name="Connector 74"/>
          <p:cNvCxnSpPr/>
          <p:nvPr/>
        </p:nvCxnSpPr>
        <p:spPr>
          <a:xfrm>
            <a:off x="6200775" y="3654047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6" name="TextBox 75"/>
          <p:cNvSpPr txBox="1"/>
          <p:nvPr/>
        </p:nvSpPr>
        <p:spPr>
          <a:xfrm>
            <a:off x="6381750" y="3654047"/>
            <a:ext cx="190500" cy="365074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6629400" y="3654047"/>
            <a:ext cx="53244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Petosan</a:t>
            </a:r>
          </a:p>
        </p:txBody>
      </p:sp>
      <p:cxnSp>
        <p:nvCxnSpPr>
          <p:cNvPr id="78" name="Connector 77"/>
          <p:cNvCxnSpPr/>
          <p:nvPr/>
        </p:nvCxnSpPr>
        <p:spPr>
          <a:xfrm>
            <a:off x="6200775" y="4019121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9" name="TextBox 78"/>
          <p:cNvSpPr txBox="1"/>
          <p:nvPr/>
        </p:nvSpPr>
        <p:spPr>
          <a:xfrm>
            <a:off x="6381750" y="4019121"/>
            <a:ext cx="190500" cy="365074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6629400" y="4019121"/>
            <a:ext cx="53244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Ecuphar / Animalcare Group</a:t>
            </a:r>
          </a:p>
        </p:txBody>
      </p:sp>
      <p:sp>
        <p:nvSpPr>
          <p:cNvPr id="81" name="Rectangle 80"/>
          <p:cNvSpPr/>
          <p:nvPr/>
        </p:nvSpPr>
        <p:spPr>
          <a:xfrm>
            <a:off x="6200775" y="4384195"/>
            <a:ext cx="5838825" cy="365074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82" name="Connector 81"/>
          <p:cNvCxnSpPr/>
          <p:nvPr/>
        </p:nvCxnSpPr>
        <p:spPr>
          <a:xfrm>
            <a:off x="6200775" y="4384195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3" name="TextBox 82"/>
          <p:cNvSpPr txBox="1"/>
          <p:nvPr/>
        </p:nvSpPr>
        <p:spPr>
          <a:xfrm>
            <a:off x="6381750" y="4384195"/>
            <a:ext cx="190500" cy="365074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6629400" y="4384195"/>
            <a:ext cx="53244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Nextmune</a:t>
            </a:r>
          </a:p>
        </p:txBody>
      </p:sp>
      <p:cxnSp>
        <p:nvCxnSpPr>
          <p:cNvPr id="85" name="Connector 84"/>
          <p:cNvCxnSpPr/>
          <p:nvPr/>
        </p:nvCxnSpPr>
        <p:spPr>
          <a:xfrm>
            <a:off x="6200775" y="4749269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6" name="TextBox 85"/>
          <p:cNvSpPr txBox="1"/>
          <p:nvPr/>
        </p:nvSpPr>
        <p:spPr>
          <a:xfrm>
            <a:off x="6381750" y="4749269"/>
            <a:ext cx="190500" cy="365074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87" name="TextBox 86"/>
          <p:cNvSpPr txBox="1"/>
          <p:nvPr/>
        </p:nvSpPr>
        <p:spPr>
          <a:xfrm>
            <a:off x="6629400" y="4749269"/>
            <a:ext cx="53244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Pubo S.r.l.</a:t>
            </a:r>
          </a:p>
        </p:txBody>
      </p:sp>
      <p:sp>
        <p:nvSpPr>
          <p:cNvPr id="88" name="Rectangle 87"/>
          <p:cNvSpPr/>
          <p:nvPr/>
        </p:nvSpPr>
        <p:spPr>
          <a:xfrm>
            <a:off x="6200775" y="5114343"/>
            <a:ext cx="5838825" cy="365074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89" name="Connector 88"/>
          <p:cNvCxnSpPr/>
          <p:nvPr/>
        </p:nvCxnSpPr>
        <p:spPr>
          <a:xfrm>
            <a:off x="6200775" y="5114343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0" name="TextBox 89"/>
          <p:cNvSpPr txBox="1"/>
          <p:nvPr/>
        </p:nvSpPr>
        <p:spPr>
          <a:xfrm>
            <a:off x="6381750" y="5114343"/>
            <a:ext cx="190500" cy="365074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6629400" y="5114343"/>
            <a:ext cx="53244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Aries</a:t>
            </a:r>
          </a:p>
        </p:txBody>
      </p:sp>
      <p:cxnSp>
        <p:nvCxnSpPr>
          <p:cNvPr id="92" name="Connector 91"/>
          <p:cNvCxnSpPr/>
          <p:nvPr/>
        </p:nvCxnSpPr>
        <p:spPr>
          <a:xfrm>
            <a:off x="6200775" y="5479417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3" name="TextBox 92"/>
          <p:cNvSpPr txBox="1"/>
          <p:nvPr/>
        </p:nvSpPr>
        <p:spPr>
          <a:xfrm>
            <a:off x="6381750" y="5479417"/>
            <a:ext cx="190500" cy="365074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6629400" y="5479417"/>
            <a:ext cx="53244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Xanapel</a:t>
            </a:r>
          </a:p>
        </p:txBody>
      </p:sp>
      <p:sp>
        <p:nvSpPr>
          <p:cNvPr id="95" name="Rectangle 94"/>
          <p:cNvSpPr/>
          <p:nvPr/>
        </p:nvSpPr>
        <p:spPr>
          <a:xfrm>
            <a:off x="6200775" y="5844491"/>
            <a:ext cx="5838825" cy="355947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96" name="Connector 95"/>
          <p:cNvCxnSpPr/>
          <p:nvPr/>
        </p:nvCxnSpPr>
        <p:spPr>
          <a:xfrm>
            <a:off x="6200775" y="5844491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7" name="TextBox 96"/>
          <p:cNvSpPr txBox="1"/>
          <p:nvPr/>
        </p:nvSpPr>
        <p:spPr>
          <a:xfrm>
            <a:off x="6381750" y="5844491"/>
            <a:ext cx="190500" cy="365074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98" name="TextBox 97"/>
          <p:cNvSpPr txBox="1"/>
          <p:nvPr/>
        </p:nvSpPr>
        <p:spPr>
          <a:xfrm>
            <a:off x="6629400" y="5844491"/>
            <a:ext cx="53244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99" name="TextBox 98"/>
          <p:cNvSpPr txBox="1"/>
          <p:nvPr/>
        </p:nvSpPr>
        <p:spPr>
          <a:xfrm>
            <a:off x="142875" y="6337341"/>
            <a:ext cx="11906250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B06A2C"/>
                </a:solidFill>
                <a:latin typeface="Calibri"/>
              </a:rPr>
              <a:t>Note: the list of companies is indicative and can be customised on request.</a:t>
            </a:r>
          </a:p>
        </p:txBody>
      </p:sp>
      <p:sp>
        <p:nvSpPr>
          <p:cNvPr id="100" name="TextBox 9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101" name="TextBox 100"/>
          <p:cNvSpPr txBox="1"/>
          <p:nvPr/>
        </p:nvSpPr>
        <p:spPr>
          <a:xfrm>
            <a:off x="6657975" y="5943208"/>
            <a:ext cx="37688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Linea</a:t>
            </a:r>
          </a:p>
        </p:txBody>
      </p:sp>
      <p:pic>
        <p:nvPicPr>
          <p:cNvPr id="102" name="Picture 10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82909" y="5933428"/>
            <a:ext cx="128699" cy="187198"/>
          </a:xfrm>
          <a:prstGeom prst="rect">
            <a:avLst/>
          </a:prstGeom>
        </p:spPr>
      </p:pic>
    </p:spTree>
  </p:cSld>
  <p:clrMapOvr>
    <a:masterClrMapping/>
  </p:clrMapOvr>
</p:sld>
</file>

<file path=ppt/slides/slide1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3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31464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4893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Table of Contents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4175125"/>
            <a:ext cx="8458200" cy="4889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The full contents of this study, as delivered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Table of Contents (1/8)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Symbol"/>
                        </a:rPr>
                        <a:t>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  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Executive Summary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ourier New"/>
                        </a:rPr>
                        <a:t>o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 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Europe Market Snapshot</a:t>
                      </a:r>
                      <a:endParaRPr sz="1100"/>
                    </a:p>
                  </a:txBody>
                  <a:tcPr marL="6858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ourier New"/>
                        </a:rPr>
                        <a:t>o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 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Key Demand Trends</a:t>
                      </a:r>
                      <a:endParaRPr sz="1100"/>
                    </a:p>
                  </a:txBody>
                  <a:tcPr marL="6858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ourier New"/>
                        </a:rPr>
                        <a:t>o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 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Key Supply Trends</a:t>
                      </a:r>
                      <a:endParaRPr sz="1100"/>
                    </a:p>
                  </a:txBody>
                  <a:tcPr marL="6858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ourier New"/>
                        </a:rPr>
                        <a:t>o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 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Technology Roadmap</a:t>
                      </a:r>
                      <a:endParaRPr sz="1100"/>
                    </a:p>
                  </a:txBody>
                  <a:tcPr marL="6858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ourier New"/>
                        </a:rPr>
                        <a:t>o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 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Analyst Takeaways &amp; Recommendations</a:t>
                      </a:r>
                      <a:endParaRPr sz="1100"/>
                    </a:p>
                  </a:txBody>
                  <a:tcPr marL="6858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1.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Market Overview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Market Coverage / Taxonomy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Market Definition By Segments Covered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Regional Macro Economic Indicators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1.3.1.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Consumer Price Inflation (%)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1.3.2.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Household Disposable Income Growth (%)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1.3.3.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Household Consumption Expenditure Growth (%)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1.3.4.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Retail Sales Growth (%)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1.3.5.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E-commerce Retail Sales Growth (%)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Regional Micro Economic Indicators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1.4.1.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Pet Care Consumer Spending Growth (%)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1.4.2.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Pet Product Retail Sales Growth (%)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1.4.3.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Pet Cosmetics &amp; Grooming Product Price Index (%)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1.4.4.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Pet Care E-commerce Penetration (%)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1.4.5.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Premium Pet-Care Product Sales Growth (%)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Per Capita Spending By Country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Section 1: Europe Market Outlook</a:t>
                      </a:r>
                      <a:endParaRPr sz="110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2.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Europe Market Size (Value &amp; Volume) 2021–2036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Absolute $ Opportunity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3.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Europe Market (Value- Volume) Analysis 2021-2036, By Product Type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Introduction / Key Findings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Market Share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3.5.1.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SShampoos &amp; Cleansing Products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3.5.1.1.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Regular Shampoos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3.5.1.2.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Sensitive &amp; Hypoallergenic Shampoos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3.5.1.3.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Functional &amp; Specialized Shampoos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3.5.1.4.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Waterless &amp; Dry Shampoos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3.5.1.5.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Cleansing Foams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3.5.1.6.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Body &amp; Facial Cleansing Wipes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3.5.2.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3.5.2.1.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Rinse-Out Conditioners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3.5.2.2.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Leave-In Conditioners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3.5.2.3.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Detangling Sprays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3.5.2.4.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De-shedding Products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3.5.2.5.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Coat Shine Sprays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3.5.2.6.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Coat Conditioning Treatments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3.5.3.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3.5.3.1.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Skin Creams &amp; Lotions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3.5.3.2.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Moisturizing &amp; Soothing Treatments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3.5.3.3.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Moisturizing Sprays &amp; Serums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3.5.3.4.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Paw Balms &amp; Creams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3.5.3.5.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Nose Balms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3.5.3.6.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Sunscreens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3.5.4.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3.5.4.1.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Ear Cleansers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3.5.4.2.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Eye-Area Cleansers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3.5.4.3.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Tear-Stain Removers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3.5.5.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Table of Contents (2/8)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3.5.5.1.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Toothpaste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3.5.5.2.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Oral Gels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3.5.5.3.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Dental Sprays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3.5.5.4.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Dental Wipes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3.5.5.5.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Water Additives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3.5.6.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3.5.6.1.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Pet Perfumes &amp; Colognes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3.5.6.2.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Deodorizing &amp; Odor-Neutralizing Sprays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4.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Europe Market (Value- Volume) Analysis 2021–2036, By Ingredient Type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4.1.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Introduction / Key Findings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4.2.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4.3.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4.4.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4.5.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Market Share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4.5.1.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Regular / Established Ingredients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4.5.1.1.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Cocamidopropyl Betaine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4.5.1.2.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Alkyl Glucosides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4.5.1.3.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Glycerin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4.5.1.4.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Aloe Vera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4.5.1.5.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Colloidal Oatmeal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4.5.1.6.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Coconut Oil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4.5.1.7.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Panthenol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4.5.1.8.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Vitamin E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4.5.1.9.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Hydrated Silica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4.5.1.10.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Sodium Bicarbonate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4.5.2.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Niche / Specialized Ingredients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4.5.2.1.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Ceramides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4.5.2.2.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Hyaluronic Acid / Sodium Hyaluronate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4.5.2.3.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Chitosan Derivatives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4.5.2.4.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Phytosphingosine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4.5.2.5.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Allantoin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4.5.2.6.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Hydrolyzed Proteins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4.5.2.7.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Jojoba Oil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4.5.2.8.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Zinc Salts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4.5.2.9.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Oral-Care Enzymes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4.5.2.10.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Cyclodextrins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4.5.3.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Emerging Ingredients / Innovation Candidates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4.5.3.1.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Prebiotics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4.5.3.2.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Postbiotics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4.5.3.3.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Live Probiotic Preparations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4.5.3.4.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Sophorolipid Biosurfactants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4.5.3.5.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Hydroxyapatite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4.5.3.6.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Lactoferrin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4.5.3.7.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Ectoin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4.5.3.8.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Beta-Glucan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4.5.3.9.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Plant-Derived Squalane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4.5.3.10.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Bioactive Peptides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52578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EE0000"/>
                          </a:solidFill>
                          <a:latin typeface="Calibri"/>
                        </a:rPr>
                        <a:t>Note: Ingredients were selected to cover cleansing, grooming, skincare, and dental-care functions. They are grouped as regular, niche, or emerging based on established use, specialized applications, and innovation potential.</a:t>
                      </a:r>
                      <a:endParaRPr sz="110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5.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Europe Market (Value- Volume) Analysis 2021–2036, By Product Format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5.1.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Introduction / Key Findings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5.2.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5.3.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5.4.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5.5.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Market Share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5.5.1.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Liquid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5.5.2.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Spray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5.5.3.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Cream &amp; Balm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5.5.4.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Gel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Table of Contents (3/8)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5.5.5.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Foam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5.5.6.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Wipe &amp; Pad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5.5.7.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Powder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5.5.8.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Solid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6.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Europe Market (Value- Volume) Analysis 2021–2036, By Primary Product Function / Benefit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6.1.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Introduction / Key Findings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6.2.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6.3.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6.4.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6.5.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Market Share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6.5.1.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Cleansing &amp; General Hygiene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6.5.1.1.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Dirt &amp; Sebum Removal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6.5.1.2.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Routine Body &amp; Coat Hygiene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6.5.2.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Moisturizing &amp; Skin Barrier Care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6.5.2.1.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Skin Hydration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6.5.2.2.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Skin Barrier Support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6.5.2.3.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Paw &amp; Nose Protection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6.5.3.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Skin Soothing &amp; Comfort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6.5.3.1.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Sensitive Skin Care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6.5.3.2.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Dryness-Related Discomfort Relief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6.5.3.3.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Coat Conditioning &amp; Grooming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6.5.4.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Coat Conditioning &amp; Softening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6.5.4.1.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Detangling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6.5.4.2.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Loose-Hair Removal Support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6.5.4.3.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Coat Shine Enhancement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6.5.4.4.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Coat Styling &amp; Hold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6.5.5.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Dental &amp; Oral Hygiene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6.5.5.1.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Plaque Control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6.5.5.2.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Tartar Control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6.5.5.3.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Breath Freshening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6.5.6.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Body &amp; Coat Odor Management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6.5.6.1.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Odor Neutralization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6.5.6.2.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Fragrance Enhancement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6.5.7.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Ear &amp; Eye-Area Hygiene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6.5.7.1.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Ear Cleansing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6.5.7.2.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Eye-Area Cleansing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6.5.7.3.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Tear-Stain Removal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7.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Europe Market (Value- Volume) Analysis 2021–2036, By Pet Type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7.1.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Introduction / Key Findings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7.2.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7.3.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7.4.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7.5.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Market Share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7.5.1.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Dogs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7.5.1.1.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Puppies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7.5.1.2.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Adult Dogs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7.5.1.3.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Senior Dogs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7.5.2.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Cats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7.5.2.1.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Kittens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7.5.2.2.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Adult Cats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7.5.2.3.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Senior Cats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8.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Europe Market (Value- Volume) Analysis 2021–2036, By Pack Size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8.1.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Introduction / Key Findings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8.2.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8.3.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8.4.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8.5.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Market Share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8.5.1.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Liquid, Gel &amp; Cream Products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8.5.1.1.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Up to 100 ml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8.5.1.2.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101–250 ml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Table of Contents (4/8)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8.5.1.3.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251–500 ml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8.5.1.4.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501–1,000 ml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8.5.1.5.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1–5 litres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8.5.1.6.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Above 5 litres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8.5.2.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Solid, Powder &amp; Weight-Labeled Products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8.5.2.1.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Up to 50 g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8.5.2.2.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50–100 g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8.5.2.3.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101–250 g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8.5.2.4.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251–500 g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8.5.2.5.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Above 500 g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8.5.3.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Wipes &amp; Other Count-Based Products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8.5.3.1.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Up to 20 pieces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8.5.3.2.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21–50 pieces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8.5.3.3.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51–100 pieces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8.5.3.4.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Above 100 pieces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9.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Europe Market (Value- Volume) Analysis 2021–2036, By Price Tier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9.1.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Introduction / Key Findings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9.2.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9.3.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9.4.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9.5.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Market Share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9.5.1.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Economy / Mass-Market: Below US$3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9.5.2.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Mid-Range: US$3 to below US$6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9.5.3.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Premium: US$6 to below US$12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9.5.4.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Super-Premium / Luxury: US$12 and above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35052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EE0000"/>
                          </a:solidFill>
                          <a:latin typeface="Calibri"/>
                        </a:rPr>
                        <a:t>Note: Proposed study thresholds in USD per 100 ml for liquid products or per 100 g for weight-labeled products</a:t>
                      </a:r>
                      <a:endParaRPr sz="110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10.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Europe Market (Value- Volume) Analysis 2021–2036, By Sales Channels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10.1.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Introduction / Key Findings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10.2.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10.3.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10.4.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10.5.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Market Share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10.5.1.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E-commerce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10.5.1.1.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Brand-owned Webstores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10.5.1.2.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Online Marketplaces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10.5.1.3.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Specialist Pet E-commerce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10.5.2.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Pet Specialty Retail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10.5.2.1.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Independent Pet Stores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10.5.2.2.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Pet Superstores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10.5.2.3.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Pet Retail Chains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10.5.3.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Veterinary &amp; Animal Health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10.5.3.1.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Veterinary Clinics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10.5.3.2.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Veterinary Pharmacies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10.5.4.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General Retail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10.5.4.1.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Supermarkets &amp; Hypermarkets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10.5.4.2.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Drugstores &amp; Pharmacies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10.5.5.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Professional &amp; B2B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10.5.5.1.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Pet Grooming Salons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10.5.5.2.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Professional Grooming Suppliers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10.5.5.3.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Pet Boarding &amp; Daycare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11.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Europe Market (Value- Volume) Analysis 2021–2036, by Region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11.1.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Introduction / Key Findings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11.2.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11.3.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11.4.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11.5.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Market Share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11.5.1.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Western Europe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11.5.1.1.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Germany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11.5.1.2.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United Kingdom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Table of Contents (5/8)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11.5.1.3.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France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11.5.1.4.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Netherlands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11.5.1.5.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Belgium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11.5.1.6.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Austria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11.5.1.7.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Switzerland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11.5.1.8.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Ireland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11.5.2.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Northern Europe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11.5.2.1.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Sweden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11.5.2.2.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Denmark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11.5.2.3.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Norway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11.5.2.4.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Finland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11.5.3.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Southern Europe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11.5.3.1.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Italy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11.5.3.2.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Spain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11.5.3.3.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Portugal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11.5.3.4.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Greece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11.5.3.5.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Malta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11.5.4.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Central &amp; Eastern Europe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11.5.4.1.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Poland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11.5.4.2.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Czech Republic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11.5.4.3.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Romania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11.5.4.4.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Hungary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11.5.4.5.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Bulgaria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11.5.4.6.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Croatia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11.5.4.7.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Slovenia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11.5.4.8.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Other European Countries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EE0000"/>
                          </a:solidFill>
                          <a:latin typeface="Calibri"/>
                        </a:rPr>
                        <a:t>Note: Value &amp; Volume (US$ Mn / MT) for all segments will be provided for each region/ Country</a:t>
                      </a:r>
                      <a:endParaRPr sz="110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12.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Cross-sectional Assessment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12.1.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Product Type × Primary Product Function / Benefit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12.2.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Product Type × Ingredient Type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12.3.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Product Type × Pet Type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12.4.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Product Type × Product Format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12.5.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Product Type × Price Tier × Sales Channel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EE0000"/>
                          </a:solidFill>
                          <a:latin typeface="Calibri"/>
                        </a:rPr>
                        <a:t>Note: Cross Sectional Assessment shall be provided on custom request</a:t>
                      </a:r>
                      <a:endParaRPr sz="110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Section 2: Regional and Country Market Outlook</a:t>
                      </a:r>
                      <a:endParaRPr sz="110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13.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Western Europe Market Size (Value &amp; Volume) 2021–2036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13.1.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13.2.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13.3.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13.4.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Absolute $ Opportunity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13.4.1.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Product Type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13.4.2.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Ingredient Type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13.4.3.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Product Format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13.4.4.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Primary Product Function / Benefit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13.4.5.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Pet Type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13.4.6.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Pack Size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13.4.7.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Price Tier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13.4.8.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Sales Channels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13.4.9.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Country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14.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Northern Europe Market Size (Value &amp; Volume) 2021–2036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14.1.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14.2.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14.3.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14.4.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Absolute $ Opportunity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14.4.1.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Product Type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14.4.2.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Ingredient Type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14.4.3.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Product Format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14.4.4.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Primary Product Function / Benefit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14.4.5.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Pet Type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14.4.6.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Pack Size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Table of Contents (6/8)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14.4.7.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Price Tier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14.4.8.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Sales Channels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14.4.9.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Country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15.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Southern Europe Market Size (Value &amp; Volume) 2021–2036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15.1.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15.2.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15.3.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15.4.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Absolute $ Opportunity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15.4.1.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Product Type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15.4.2.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Ingredient Type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15.4.3.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Product Format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15.4.4.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Primary Product Function / Benefit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15.4.5.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Pet Type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15.4.6.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Pack Size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15.4.7.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Price Tier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15.4.8.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Sales Channels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15.4.9.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Country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16.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Central &amp; Eastern Europe Market Size (Value &amp; Volume) 2021–2036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16.1.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16.2.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16.3.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16.4.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Absolute $ Opportunity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16.4.1.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Product Type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16.4.2.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Ingredient Type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16.4.3.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Product Format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16.4.4.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Primary Product Function / Benefit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16.4.5.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Pet Type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16.4.6.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Pack Size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16.4.7.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Price Tier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16.4.8.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Sales Channels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16.4.9.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Country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Section 3: Pricing Assessment</a:t>
                      </a:r>
                      <a:endParaRPr sz="110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17.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Europe Pricing Analysis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17.1.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Regional Price Assessment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17.1.1.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Manufacturer Level Pricing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17.1.2.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Distributor Level Pricing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17.1.3.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Retail Level Pricing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17.2.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Segment-wise Price Comparison (Product Type vs Product Format)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17.3.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Country-wise Price Comparison (Product Type)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17.4.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Price Forecast till 2036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17.5.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Factors Impacting Pricing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17.6.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Competitor Pricing Strategies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Section 4: Voice of Customer and Decision-driver Analysis</a:t>
                      </a:r>
                      <a:endParaRPr sz="110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18.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Consumer Perception Analysis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18.1.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Consumer Need-State and Purchase Drivers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18.1.1.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Key Consumer Needs Driving Pet Cosmetics Purchases?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18.1.2.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Purchase Decision Drivers by Product Category?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18.1.3.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Functional Benefits Influencing Product Selection?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18.1.4.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Emotional and Pet-Wellness Benefits Influencing Purchase?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18.2.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Product Attribute and Claim Preferences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18.2.1.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Preferred Product Attributes by Pet Owner Segment?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18.2.2.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Ingredient Preferences across Pet Cosmetics Categories?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18.2.3.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Claim Preferences across Natural, Sensitive and Functional Benefits?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18.2.4.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Packaging, Format and Convenience Attributes Influencing Purchase?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18.3.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Purchase Journey and Channel Behavior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18.3.1.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E-commerce versus Offline Purchase Share by Product Category?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18.3.2.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Product Discovery and Consideration through Online Search?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18.3.3.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Purchase Channel Preference by Country and Consumer Segment?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18.3.4.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Online Shopping Journey from Search to Repeat Purchase?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18.4.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Purchase Barriers and Consumer Frictions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Table of Contents (7/8)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18.4.1.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Key Barriers Limiting Pet Cosmetics Purchase?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18.4.2.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Price Sensitivity and Affordability Concerns by Consumer Segment?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18.4.3.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Trust, Safety and Ingredient Concerns Influencing Purchase?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18.4.4.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Availability, Product Information and Convenience Barriers?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18.5.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E-Commerce Opportunity and Consumer Channel Preferences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18.5.1.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E-commerce Penetration for Pet Cosmetics by Country?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18.5.2.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Consumer Purchase Preference across Online Marketplaces?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18.5.3.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E-commerce Sales Potential by Product Category?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18.5.4.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Preferred Retail Channel by Consumer Segment?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Section 5: Market Dynamics</a:t>
                      </a:r>
                      <a:endParaRPr sz="110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19.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Innovation Tracker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19.1.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Major Deals and Strategic Alliance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19.1.1.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Joint Ventures, M&amp;A, Licensing &amp; Partnerships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19.1.2.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Technology Collaboration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19.1.3.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Strategic Divestments/ Investments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19.2.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Product Launches &amp; Development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20.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Market Dynamics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Product Type Wise Market Drivers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20.1.1.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Supply Side Drivers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20.1.2.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Demand Side drivers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20.1.3.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Economic Side Drivers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Country Level Restraints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Country Level Opportunity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Country Level Market Trends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Forecast Factors – Top 20 Drivers by Relevance &amp; Impact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20.6.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Regulations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Section 6: Competition Assessment</a:t>
                      </a:r>
                      <a:endParaRPr sz="110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21.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Competition at a Glance- a Dashboard View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22.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Brand Share (%) Analysis, 2023, 2025, 2026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22.1.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By Country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22.2.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By Product Type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22.3.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Sales Channel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23.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Brand Share Breakdown (2026)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23.1.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Top Players (Tier 1)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23.2.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Mid-Sized Players (Tier 2)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23.3.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Emerging/Local Players (Tier 3)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24.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Company Profile- Manufacturers &amp; Branded Product Companies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Beaphar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24.1.1.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Company Overview: Ownership, brands and manufacturing locations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24.1.2.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Product Portfolio: Product categories, target pets and age groups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24.1.3.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Revenue &amp; Sales Assessment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24.1.3.1.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Pet Cosmetics Revenue (USD Mn)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24.1.3.2.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European Market Share (%)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24.1.3.3.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Sales by Product Category (USD Mn)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24.1.3.4.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Product Portfolio Revenue Mix (%)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24.1.4.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Pricing Assessment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24.1.4.1.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Manufacturer &amp; Wholesale Pricing (USD/unit)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24.1.4.2.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Retail Pricing by Product &amp; Pack Size (USD/pack)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24.1.4.3.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Standardized Unit Pricing &amp; Price Tier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24.1.5.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Product Benchmarking: Ingredients, claims, pack sizes and positioning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24.1.6.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Sales Footprint: Country presence, channels and distribution partners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24.1.7.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Manufacturing &amp; Quality: Capabilities, certifications and testing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24.1.8.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Strategy Overview: Product, marketing, channel and pricing strategies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24.1.9.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SWOT &amp; Analyst Assessment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EE0000"/>
                          </a:solidFill>
                          <a:latin typeface="Calibri"/>
                        </a:rPr>
                        <a:t>Note: All companies shall be indicated in similar manner</a:t>
                      </a:r>
                      <a:endParaRPr sz="110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Laboratoire Biogance — Biogance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Laboratoire Francodex — Francodex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Group55 — Animology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Lakeland Cosmetics — Bugalugs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24.6.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Laboratorios Bilper — Menforsan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Table of Contents (8/8)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24.7.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Artero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24.8.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Iv San Bernard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24.9.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Cosmetica Veneta — Yuup!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24.10.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K9 Competition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24.11.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Anju Beauté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24.12.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Petuxe Cosmetics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24.13.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Baldecchi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24.14.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Ceva — DOUXO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24.15.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Vet Expert — Caryodent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24.16.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Laboratoire Diamex — Diamex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24.17.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Virbac — C.E.T.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24.18.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Petosan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24.19.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Ecuphar / Animalcare Group — Orozyme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24.20.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Nextmune — Stomodine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24.21.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Pubo S.r.l. — Pet Cosmetics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24.22.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Aries — Aries Bio Pet Cosmetic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24.23.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Xanapel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24.24.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Linea 101 — Love for Pet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24.25.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Others on request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25.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Company Profile- Private-Label / Contract Manufacturing Partners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Techtron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25.1.1.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Company Overview: Ownership and manufacturing locations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25.1.2.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Product Capabilities: Categories, ready-made and custom formulations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25.1.3.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Revenue &amp; Sales Assessment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25.1.3.1.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Pet-Care Contract Manufacturing Revenue (USD Mn)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25.1.3.2.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Sales by Product Category (USD Mn)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25.1.3.3.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Product Portfolio Revenue Mix (%)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25.1.3.4.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European Contract Manufacturing Share (%), Where Assessable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25.1.4.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Pricing &amp; Commercial Terms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25.1.4.1.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Pricing by Product &amp; Pack Size (USD/unit)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25.1.4.2.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MOQs, Volume Discounts &amp; Lead Times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25.1.4.3.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Formulation, Development &amp; Packaging Charges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25.1.5.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Packaging &amp; Services: Pack formats, filling, labeling and customization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25.1.6.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Quality &amp; Compliance: Certifications, testing and documentation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25.1.7.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Partner Suitability: Scalability, strengths and limitations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25.1.8.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SWOT &amp; Analyst Assessment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EE0000"/>
                          </a:solidFill>
                          <a:latin typeface="Calibri"/>
                        </a:rPr>
                        <a:t>Note: All companies shall be indicated in similar manner</a:t>
                      </a:r>
                      <a:endParaRPr sz="110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PURUS.PET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Bergland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OriginItalia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Zetaphar Biolaboratories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25.6.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Celmax Italia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25.7.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NOESIS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25.8.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CRAZYPETS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25.9.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Statfold Natural Products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25.10.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Masder Cosmetics Labs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25.11.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FarmaP Industry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25.12.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HeW Pharma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25.13.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Valquer Laboratorios — Happy Pets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25.14.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Emil Kiessling — head2tail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25.15.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Vivere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25.16.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Tojo Cosmetics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25.17.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Cosmetic Service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25.18.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L.A. Schmitt Cosmetics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25.19.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The Very Lab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25.20.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La Maga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25.21.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Multiservizi Wet Wipes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25.22.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Others on request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26.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Assumptions and Acronyms Used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27.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Research Methodology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4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94957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29247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List of Figures, List of Tables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978275"/>
            <a:ext cx="8458200" cy="8826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Every figure in the full study, by analysis block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Every table in the full study, by analysis block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List of Figures (1/4)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257786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1: Europe Market Value and YoY Growth,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2: Europe Market Value Snapshot,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3: Europe Market Taxonomy by Segment,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4: Europe Market Share by Product Type,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5: Europe Market Share by Ingredient Type,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6: Europe Market Share by Product Format,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7: Europe Market Share by Primary Product Function / Benefit,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8: Europe Market Share by Pet Type,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9: Europe Market Share by Pack Size,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10: Europe Market Historical Value, US$ Mn, 2021–2025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11: Europe Market Forecast Value,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12: Europe Market YoY Growth,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13: Europe Market Volume and YoY Growth, MT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14: Europe Market Volume vs Value CAGR Comparison,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15: Europe Market Average Selling Price,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16: Europe Market Absolute $ Opportunity,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17: Europe Market Incremental Opportunity by Year,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18: Europe Market Historical vs Forecast CAGR,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19: Europe Market Value by Scenario (Optimistic, Likely, Pessimistic),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20: Europe Market Value by Product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21: Europe Market Value by Ingredient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22: Europe Market Value by Product Format,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23: Europe Market Value by Primary Product Function / Benefit,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24: Europe Market Value by Pet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25: Europe Market Value by Pack Size,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26: Europe Market Value by Price Tier,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27: Europe Market Value by Sales Channels,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28: Europe Market Share by Product Type,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29: Europe Market Share by Ingredient Type,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30: Europe Market Share by Product Format,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31: Europe Market Share by Primary Product Function / Benefit,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5257812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32: Europe Market Share by Pet Type,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33: Europe Market Share by Pack Size,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34: Europe Market Share by Price Tier,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35: Europe Market Share by Sales Channels,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36: Europe Market Absolute $ Opportunity by Product Type,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37: Europe Market Absolute $ Opportunity by Ingredient Type,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38: Europe Market Absolute $ Opportunity by Product Format,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285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39: Europe Market Absolute $ Opportunity by Primary Product Function / Benefit,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40: Europe Market Absolute $ Opportunity by Pet Type,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41: Europe Market Absolute $ Opportunity by Pack Size,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42: Europe Market Absolute $ Opportunity by Price Tier,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43: Europe Market Absolute $ Opportunity by Sales Channels,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44: Europe Market BPS Share Change by Product Type,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45: Europe Market BPS Share Change by Ingredient Type,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46: Europe Market BPS Share Change by Product Format,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47: Europe Market BPS Share Change by Primary Product Function / Benefit,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48: Europe Market BPS Share Change by Pet Type,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49: Europe Market BPS Share Change by Pack Size,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50: Europe Market BPS Share Change by Price Tier,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51: Europe Market BPS Share Change by Sales Channels,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52: Europe Market YoY Growth by Product Type,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53: Europe Market YoY Growth by Ingredient Type,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54: Europe Market YoY Growth by Product Format,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55: Europe Market YoY Growth by Primary Product Function / Benefit,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56: Europe Market YoY Growth by Pet Type,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57: Europe Market YoY Growth by Pack Size,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58: Europe Market YoY Growth by Price Tier,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59: Europe Market YoY Growth by Sales Channels,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60: Europe Market Attractiveness by Product Type,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61: Europe Market Attractiveness by Ingredient Type,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List of Figures (2/4)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25781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62: Europe Market Attractiveness by Product Format,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63: Europe Market Attractiveness by Primary Product Function / Benefit,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64: Europe Market Attractiveness by Pet Type,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65: Europe Market Attractiveness by Pack Size,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66: Europe Market Attractiveness by Price Tier,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67: Europe Market Attractiveness by Sales Channels,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68: Europe Market Volume by Product Type, 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69: Europe Market Volume by Ingredient Type, 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70: Europe Market Volume by Product Format, 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71: Europe Market Volume by Primary Product Function / Benefit, 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72: Europe Market Volume by Pet Type, 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73: Europe Market Volume by Pack Size, 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74: Europe Market Volume by Price Tier, 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75: Europe Market Volume by Sales Channels, 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76: Europe Market Average Selling Price by Product Type,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77: Europe Market Average Selling Price by Ingredient Type,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78: Europe Market Average Selling Price by Product Format,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372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79: Europe Market Average Selling Price by Primary Product Function / Benefit,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80: Europe Market Average Selling Price by Pet Type,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81: Europe Market Average Selling Price by Pack Size,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82: Europe Market Average Selling Price by Price Tier,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83: Europe Market Average Selling Price by Sales Channels,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372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84: Europe Market Value and YoY Growth, Shampoos &amp; Cleansing Products (Product Type),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372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85: Europe Market Value and YoY Growth, Regular / Established Ingredients (Ingredient Type),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86: Product Type × Ingredient Type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87: Product Type × Product Format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88: Product Type × Primary Product Function / Benefit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89: Product Type × Pet Type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5257786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90: Product Type × Pack Size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91: Product Type × Price Tier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92: Product Type × Sales Channels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93: Ingredient Type × Product Format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94: Ingredient Type × Primary Product Function / Benefit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95: Ingredient Type × Pet Type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96: Ingredient Type × Pack Size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97: Ingredient Type × Price Tier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98: Ingredient Type × Sales Channels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99: Product Format × Primary Product Function / Benefit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100: Product Format × Pet Type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101: Product Format × Pack Size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102: Product Format × Price Tier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103: Product Format × Sales Channels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104: Primary Product Function / Benefit × Pet Type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105: Primary Product Function / Benefit × Pack Size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106: Primary Product Function / Benefit × Price Tier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107: Primary Product Function / Benefit × Sales Channels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108: Germany Market Value and YoY Growth,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109: Germany Market Value by Product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110: Germany Market Value by Sales Channels,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111: Germany Market Share within Europe,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112: Germany Market Value by Ingredient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113: Germany Market Value by Product Format,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114: Germany Market Value by Primary Product Function / Benefit,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115: Germany Market Value by Pet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116: United Kingdom Market Value and YoY Growth,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117: United Kingdom Market Value by Product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118: United Kingdom Market Value by Sales Channels,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119: United Kingdom Market Share within Europe,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120: United Kingdom Market Value by Ingredient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List of Figures (3/4)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257812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121: United Kingdom Market Value by Product Format,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285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122: United Kingdom Market Value by Primary Product Function / Benefit,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123: United Kingdom Market Value by Pet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124: France Market Value and YoY Growth,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125: France Market Value by Product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126: France Market Value by Sales Channels,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127: France Market Share within Europe,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128: France Market Value by Ingredient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129: France Market Value by Product Format,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130: France Market Value by Primary Product Function / Benefit,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131: France Market Value by Pet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132: Italy Market Value and YoY Growth,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133: Italy Market Value by Product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134: Italy Market Value by Sales Channels,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135: Italy Market Share within Europe,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136: Italy Market Value by Ingredient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137: Italy Market Value by Product Format,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138: Italy Market Value by Primary Product Function / Benefit,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139: Italy Market Value by Pet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140: Spain Market Value and YoY Growth,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141: Spain Market Value by Product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142: Spain Market Value by Sales Channels,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143: Netherlands Market Value and YoY Growth,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144: Netherlands Market Value by Product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145: Poland Market Value and YoY Growth,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146: Poland Market Value by Product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147: Other European Countries Market Value and YoY Growth,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148: Other European Countries Market Value by Product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149: Sweden Market Value and YoY Growth,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150: Sweden Market Value by Product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5257812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151: Austria Market Value and YoY Growth,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152: Austria Market Value by Product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153: Switzerland Market Value and YoY Growth,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154: Switzerland Market Value by Product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155: Europe Market Average Selling Price Trend,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156: Europe Market Average Selling Price Outlook, US$/MT,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157: Europe Market Average Selling Price by Product Type, US$/MT,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158: Europe Market Average Selling Price by Ingredient Type, US$/MT,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159: Europe Market Average Selling Price by Product Format, US$/MT,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285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160: Europe Market Average Selling Price by Primary Product Function / Benefit, US$/MT,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161: Europe Market Average Selling Price by Pet Type, US$/MT,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162: Europe Market Average Selling Price by Pack Size, US$/MT,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163: Europe Market Average Selling Price by Price Tier, US$/MT,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164: Europe Market Average Selling Price by Sales Channels, US$/MT,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165: Europe Market Value Chain Structure,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166: Europe Market Margin Distribution across the Value Chain,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167: Europe Market Cost Structure Breakdown,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168: Europe Market Pricing Pressure Assessment by Product Type,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169: Company Market Share in the Europe Market,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170: Competitive Positioning of Leading Pet Cosmetic Products Manufacturers,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171: Company Revenue from the Europe Market, US$ Mn,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172: Europe Market Concentration by Company Tier,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173: Europe Market Competitive Intensity Assessment,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174: Beaphar: Revenue from the Europe Market and Share, US$ Mn and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175: Laboratoire Biogance: Revenue from the Europe Market and Share, US$ Mn and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176: Laboratoire Francodex: Revenue from the Europe Market and Share, US$ Mn and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177: Group55: Revenue from the Europe Market and Share, US$ Mn and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178: Lakeland Cosmetics: Revenue from the Europe Market and Share, US$ Mn and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179: Laboratorios Bilper: Revenue from the Europe Market and Share, US$ Mn and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180: Artero: Revenue from the Europe Market and Share, US$ Mn and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List of Figures (4/4)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333376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181: Iv San Bernard: Revenue from the Europe Market and Share, US$ Mn and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182: Cosmetica Veneta: Revenue from the Europe Market and Share, US$ Mn and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183: K9 Competition: Revenue from the Europe Market and Share, US$ Mn and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184: Europe Market Strategic Developments by Type, %, 2025–2026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185: Europe Market Company Footprint by Region,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186: Europe Market Value Forecast by Scenario,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187: Europe Market YoY Growth by Scenario,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188: Europe Market Key Trends Impact Assessment,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189: Europe Market Drivers, Restraints and Opportunities Impact,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190: Europe Market Opportunity Map by Product Type,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191: Europe Market Technology Adoption Roadmap,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192: Europe Market Emerging Opportunity Pockets by Product Type,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193: Europe Market Risk and Sensitivity Analysis,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194: Europe Market Regulatory Landscape Timeline,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195: Europe Market Investment Hotspots,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196: Europe Market White-Space Opportunity Assessment,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197: Europe Market Customer Purchase Criteria Assessment,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198: Europe Market Go-to-Market Priority,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199: Europe Market Unmet Needs Analysis by Product Type,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200: Europe Market Right-to-Win Assessment,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</a:tbl>
          </a:graphicData>
        </a:graphic>
      </p:graphicFrame>
      <p:sp>
        <p:nvSpPr>
          <p:cNvPr id="10" name="TextBox 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List of Tables (1/4)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1: Europe Market Snapshot: Value, Volume and CAGR, US$ Mn, 2025–2036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2: Europe Market Taxonomy by Segment,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3: Europe Market Scope: Inclusions and Exclusions by Segment,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4: Europe Market Key Demand Drivers and Impact Rating,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5: Europe Market Key Restraints and Impact Rating,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6: Europe Market Analyst Recommendations by Segment,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7: Europe Market Key Market Signals and Data Points,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8: Europe Market Value and YoY Growth,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9: Europe Market Historical Value Analysis, US$ Mn, 2021–2025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10: Europe Market Forecast Value Analysis,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11: Europe Market Volume and YoY Growth, MT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12: Europe Market Volume Forecast, MT,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13: Europe Market Average Selling Price,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14: Europe Market Average Selling Price YoY Change,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15: Europe Market CAGR and Absolute $ Opportunity, %,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16: Europe Market Absolute $ Opportunity by Year,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17: Europe Market Value by Scenario (Optimistic, Likely, Pessimistic),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18: Europe Market Scenario CAGR Comparison,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19: Europe Market Historical vs Forecast Growth Comparison,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20: Europe Market Value by Product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21: Europe Market Value by Ingredient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22: Europe Market Value by Product Format,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23: Europe Market Value by Primary Product Function / Benefit,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24: Europe Market Value by Pet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25: Europe Market Value by Pack Size,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26: Europe Market Value by Price Tier,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27: Europe Market Value by Sales Channels,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28: Europe Market CAGR and Absolute $ Opportunity by Product Type, %,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29: Europe Market CAGR and Absolute $ Opportunity by Ingredient Type, %,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30: Europe Market CAGR and Absolute $ Opportunity by Product Format, %,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5257793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333289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31: Europe Market CAGR and Absolute $ Opportunity by Primary Product Function / Benefit, %,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32: Europe Market CAGR and Absolute $ Opportunity by Pet Type, %,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33: Europe Market CAGR and Absolute $ Opportunity by Pack Size, %,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34: Europe Market CAGR and Absolute $ Opportunity by Price Tier, %,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35: Europe Market CAGR and Absolute $ Opportunity by Sales Channels, %,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36: Europe Market Share and BPS Change by Product Type, %, 2025,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37: Europe Market Share and BPS Change by Ingredient Type, %, 2025,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38: Europe Market Share and BPS Change by Product Format, %, 2025,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3289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39: Europe Market Share and BPS Change by Primary Product Function / Benefit, %, 2025,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40: Europe Market Share and BPS Change by Pet Type, %, 2025,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41: Europe Market Share and BPS Change by Pack Size, %, 2025,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42: Europe Market Share and BPS Change by Price Tier, %, 2025,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43: Europe Market Share and BPS Change by Sales Channels, %, 2025,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44: Europe Market YoY Growth by Product Type,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45: Europe Market YoY Growth by Ingredient Type,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46: Europe Market YoY Growth by Product Format,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47: Europe Market YoY Growth by Primary Product Function / Benefit,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48: Europe Market YoY Growth by Pet Type,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49: Europe Market YoY Growth by Pack Size,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50: Europe Market YoY Growth by Price Tier,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51: Europe Market YoY Growth by Sales Channels,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52: Europe Market Volume by Product Type, 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53: Europe Market Volume by Ingredient Type, 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54: Europe Market Volume by Product Format, 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55: Europe Market Volume by Primary Product Function / Benefit, 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56: Europe Market Volume by Pet Type, 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57: Europe Market Volume by Pack Size, 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58: Europe Market Volume by Price Tier, 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59: Europe Market Volume by Sales Channels, 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List of Tables (2/4)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257797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1152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60: Europe Market Average Selling Price by Product Type,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1152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61: Europe Market Average Selling Price by Ingredient Type,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1152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62: Europe Market Average Selling Price by Product Format,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5459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63: Europe Market Average Selling Price by Primary Product Function / Benefit,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1152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64: Europe Market Average Selling Price by Pet Type,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1152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65: Europe Market Average Selling Price by Pack Size,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1152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66: Europe Market Average Selling Price by Price Tier,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1152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67: Europe Market Average Selling Price by Sales Channels,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1152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68: Europe Market Attractiveness Index by Product Type,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1152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69: Europe Market Attractiveness Index by Ingredient Type,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1152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70: Europe Market Attractiveness Index by Product Format,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1152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71: Europe Market Attractiveness Index by Primary Product Function / Benefit,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1152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72: Europe Market Attractiveness Index by Pet Type,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1152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73: Europe Market Attractiveness Index by Pack Size,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1152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74: Europe Market Attractiveness Index by Price Tier,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1152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75: Europe Market Attractiveness Index by Sales Channels,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5459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76: Europe Market Value and YoY Growth, Shampoos &amp; Cleansing Products (Product Type),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5459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77: Europe Market Value and YoY Growth, Regular / Established Ingredients (Ingredient Type),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1152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78: Europe Market Value and YoY Growth, Liquid (Product Format),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5459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79: Europe Market Value and YoY Growth, Cleansing &amp; General Hygiene (Primary Product Function / Benefit),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1152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80: Europe Market Value and YoY Growth, Dogs (Pet Type),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5459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81: Europe Market Value and YoY Growth, Liquid, Gel &amp; Cream Products (Pack Size),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5459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82: Europe Market Value and YoY Growth, Economy / Mass-Market: Below US$3 (Price Tier),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5459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83: Europe Market Value and YoY Growth, E-commerce (Sales Channels),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5257797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33721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84: Europe Market Value and YoY Growth, Coat Conditioning &amp; Grooming Products (Product Type),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721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85: Europe Market Value and YoY Growth, Niche / Specialized Ingredients (Ingredient Type),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204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86: Europe Market Value and YoY Growth, Spray (Product Format),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721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87: Europe Market Value and YoY Growth, Moisturizing &amp; Skin Barrier Care (Primary Product Function / Benefit),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204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88: Europe Market Value and YoY Growth, Cats (Pet Type),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721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89: Europe Market Value and YoY Growth, Solid, Powder &amp; Weight-Labeled Products (Pack Size),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721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90: Europe Market Value and YoY Growth, Mid-Range: US$3 to below US$6 (Price Tier),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721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91: Europe Market Value and YoY Growth, Pet Specialty Retail (Sales Channels),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721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92: Europe Market Value and YoY Growth, Skin, Paw &amp; Nose Care Products (Product Type),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721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93: Europe Market Value and YoY Growth, Emerging Ingredients / Innovation Candidates (Ingredient Type),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721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94: Europe Market Value and YoY Growth, Cream &amp; Balm (Product Format),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204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95: Europe Market Value by Product Type and Ingredient Type,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204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96: Europe Market Value by Product Type and Product Format,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721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97: Europe Market Value by Product Type and Primary Product Function / Benefit,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204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98: Europe Market Value by Product Type and Pet Type,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204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99: Europe Market Value by Product Type and Pack Size,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204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100: Europe Market Value by Product Type and Price Tier,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204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101: Europe Market Value by Product Type and Sales Channels,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204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102: Europe Market Value by Ingredient Type and Product Format,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721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103: Europe Market Value by Ingredient Type and Primary Product Function / Benefit,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List of Tables (3/4)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257803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070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104: Europe Market Value by Ingredient Type and Pet Type,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70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105: Europe Market Value by Ingredient Type and Pack Size,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70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106: Europe Market Value by Ingredient Type and Price Tier,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70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107: Europe Market Value by Ingredient Type and Sales Channels,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4587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108: Europe Market Value by Product Format and Primary Product Function / Benefit,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70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109: Europe Market Value by Product Format and Pet Type,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70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110: Europe Market Value by Product Format and Pack Size,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70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111: Europe Market Value by Product Format and Price Tier,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70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112: Europe Market Value by Product Format and Sales Channels,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4587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113: Europe Market Value by Primary Product Function / Benefit and Pet Type,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4587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114: Europe Market Value by Primary Product Function / Benefit and Pack Size,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4587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115: Europe Market Value by Primary Product Function / Benefit and Price Tier,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4587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116: Europe Market Value by Primary Product Function / Benefit and Sales Channels,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70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117: Europe Market Value by Pet Type and Pack Size,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70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118: Europe Market Value by Pet Type and Price Tier,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70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119: Europe Market Value by Pet Type and Sales Channels,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70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120: Europe Market Value by Pack Size and Price Tier,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70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121: Europe Market Value by Pack Size and Sales Channels,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70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122: Germany Market Value by Product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70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123: Germany Market Historical and Forecast Growth,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70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124: Germany Market Value by Sales Channels,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70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125: Germany Market Share within Europe, %, 2025,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70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126: Germany Market Value by Ingredient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70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127: Germany Market Value by Product Format,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70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128: Germany Market Value by Primary Product Function / Benefit,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70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129: Germany Market Value by Pet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5257786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130: United Kingdom Market Value by Product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131: United Kingdom Market Historical and Forecast Growth,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132: United Kingdom Market Value by Sales Channels,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133: United Kingdom Market Share within Europe, %, 2025,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134: United Kingdom Market Value by Ingredient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135: United Kingdom Market Value by Product Format,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136: United Kingdom Market Value by Primary Product Function / Benefit,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137: United Kingdom Market Value by Pet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138: France Market Value by Product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139: France Market Historical and Forecast Growth,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140: France Market Value by Sales Channels,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141: France Market Share within Europe, %, 2025,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142: France Market Value by Ingredient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143: France Market Value by Product Format,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144: France Market Value by Primary Product Function / Benefit,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145: France Market Value by Pet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146: Italy Market Value by Product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147: Italy Market Historical and Forecast Growth,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148: Italy Market Value by Sales Channels,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149: Italy Market Share within Europe, %, 2025,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150: Italy Market Value by Ingredient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151: Italy Market Value by Product Format,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152: Italy Market Value by Primary Product Function / Benefit,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153: Italy Market Value by Pet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154: Spain Market Value by Product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155: Spain Market Historical and Forecast Growth,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156: Spain Market Value by Sales Channels,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157: Netherlands Market Value by Product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158: Netherlands Market Historical and Forecast Growth,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159: Poland Market Value by Product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160: Poland Market Historical and Forecast Growth,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List of Tables (4/4)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257793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161: Other European Countries Market Value by Product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162: Other European Countries Market Historical and Forecast Growth,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163: Sweden Market Value by Product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164: Sweden Market Historical and Forecast Growth,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165: Market Product Price Comparison by Company and Product Type, US$/MT,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166: Europe Market Average Selling Price,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167: Europe Market Average Selling Price by Product Type,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168: Europe Market Average Selling Price by Ingredient Type,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169: Europe Market Average Selling Price by Product Format,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3289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170: Europe Market Average Selling Price by Primary Product Function / Benefit,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171: Europe Market Average Selling Price by Pet Type,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172: Europe Market Average Selling Price by Pack Size,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173: Europe Market Average Selling Price by Price Tier,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174: Europe Market Average Selling Price by Sales Channels,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175: Supplier-to-Customer Relationship Mapping in Germany,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176: Europe Market Value Chain Participants by Stage,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177: Europe Market Margin Analysis by Value Chain Stage,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178: Europe Market Cost Structure by Component,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179: Europe Market Import Value by Leading Country, US$ Mn, 2021–2025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3289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180: Leading Pet Cosmetic Products Manufacturers: Product Portfolio and Geographic Presence,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181: Company Revenue from the Europe Market, US$ Mn, 2025–2026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182: Company Market Share in the Europe Market by Region,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183: Europe Market Competitive Benchmarking Matrix,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184: Europe Market Mergers, Acquisitions and Partnerships, 2021–2026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185: Beaphar: Company Overview, Products and Strategy,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186: Laboratoire Biogance: Company Overview, Products and Strategy,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187: Laboratoire Francodex: Company Overview, Products and Strategy,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188: Group55: Company Overview, Products and Strategy,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189: Lakeland Cosmetics: Company Overview, Products and Strategy,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1833568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190: Laboratorios Bilper: Company Overview, Products and Strategy,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191: Artero: Company Overview, Products and Strategy,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192: Iv San Bernard: Company Overview, Products and Strategy,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193: Cosmetica Veneta: Company Overview, Products and Strategy,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194: K9 Competition: Company Overview, Products and Strategy,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195: Europe Market Value by Scenario,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196: Europe Market Key Trends and Impact Rating,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197: Europe Market Opportunity Assessment by Product Type,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198: Europe Market Scenario Assumptions,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199: Europe Market Client Opportunity Prioritisation by Product Type,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200: Europe Market Customer Purchase Criteria by Product Type,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A2A63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FMI Section Breaker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0A2A63"/>
              </a:gs>
              <a:gs pos="100000">
                <a:srgbClr val="0F3F8F"/>
              </a:gs>
            </a:gsLst>
            <a:lin scaled="0" ang="195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399064" y="525547"/>
            <a:ext cx="1340395" cy="823424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4" name="Picture 3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5" name="TextBox 4"/>
          <p:cNvSpPr txBox="1"/>
          <p:nvPr/>
        </p:nvSpPr>
        <p:spPr>
          <a:xfrm>
            <a:off x="914400" y="1898015"/>
            <a:ext cx="7239000" cy="24765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400" b="0">
                <a:solidFill>
                  <a:srgbClr val="8FC8F2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6" name="FMI Breaker Title"/>
          <p:cNvSpPr txBox="1"/>
          <p:nvPr/>
        </p:nvSpPr>
        <p:spPr>
          <a:xfrm>
            <a:off x="914400" y="2202815"/>
            <a:ext cx="72390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 cap="all" spc="400">
                <a:solidFill>
                  <a:srgbClr val="FFFFFF"/>
                </a:solidFill>
                <a:latin typeface="Calibri"/>
              </a:rPr>
              <a:t>Europe Market Outlook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914400" y="2907665"/>
            <a:ext cx="5067300" cy="348107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</a:t>
            </a:r>
            <a:r>
              <a:rPr sz="2000" b="0">
                <a:solidFill>
                  <a:srgbClr val="FFD447"/>
                </a:solidFill>
                <a:latin typeface="Calibri"/>
              </a:rPr>
              <a:t>Europe Overview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</a:t>
            </a:r>
            <a:r>
              <a:rPr sz="2000" b="0">
                <a:solidFill>
                  <a:srgbClr val="FFD447"/>
                </a:solidFill>
                <a:latin typeface="Calibri"/>
              </a:rPr>
              <a:t>Europe Market Analysis By Region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</a:t>
            </a:r>
            <a:r>
              <a:rPr sz="2000" b="0">
                <a:solidFill>
                  <a:srgbClr val="FFD447"/>
                </a:solidFill>
                <a:latin typeface="Calibri"/>
              </a:rPr>
              <a:t>Europe Market Analysis By Segments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By Product Type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By Ingredient Type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By Product Format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By Primary Product Function / Benefit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By Pet Type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By Pack Size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By Price Tier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By Sales Channels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6096000" y="2907665"/>
            <a:ext cx="5067300" cy="104013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</a:t>
            </a:r>
            <a:r>
              <a:rPr sz="2000" b="0">
                <a:solidFill>
                  <a:srgbClr val="FFD447"/>
                </a:solidFill>
                <a:latin typeface="Calibri"/>
              </a:rPr>
              <a:t>Cross-sectional Assessment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Product Type × Primary Product Function / Benefit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Product Type × Ingredient Type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4000500" y="6734175"/>
            <a:ext cx="8020050" cy="123825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r"/>
            <a:r>
              <a:rPr sz="700" b="0">
                <a:solidFill>
                  <a:srgbClr val="C9DCEE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5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Europe Overview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Volume Market Summary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Pricing &amp; Price Index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Value Market Summary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Volume &amp; Value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Country Outlook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Summary, By Volume (MT)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Europe market volume growth, incremental opportunity and the geographies driving it,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025515"/>
            <a:ext cx="2876550" cy="511104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2026 MARKET SIZE (MT)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3143250" y="1025515"/>
            <a:ext cx="2876550" cy="511104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2036 MARKET SIZE (MT)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3" name="Rounded Rectangle 12"/>
          <p:cNvSpPr/>
          <p:nvPr/>
        </p:nvSpPr>
        <p:spPr>
          <a:xfrm>
            <a:off x="6153150" y="1025515"/>
            <a:ext cx="2876550" cy="511104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CAGR 2021–2025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9163050" y="1025515"/>
            <a:ext cx="2876550" cy="511104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CAGR 2026–2036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1627887"/>
            <a:ext cx="7696200" cy="2354727"/>
          </a:xfrm>
          <a:prstGeom prst="roundRect">
            <a:avLst>
              <a:gd name="adj" fmla="val 32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1685037"/>
            <a:ext cx="7505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CAGR (2021–2036)</a:t>
            </a:r>
          </a:p>
        </p:txBody>
      </p:sp>
      <p:graphicFrame>
        <p:nvGraphicFramePr>
          <p:cNvPr id="17" name="Chart 16"/>
          <p:cNvGraphicFramePr>
            <a:graphicFrameLocks noGrp="1"/>
          </p:cNvGraphicFramePr>
          <p:nvPr/>
        </p:nvGraphicFramePr>
        <p:xfrm>
          <a:off x="238125" y="1913637"/>
          <a:ext cx="7505700" cy="2011827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8" name="Rounded Rectangle 17"/>
          <p:cNvSpPr/>
          <p:nvPr/>
        </p:nvSpPr>
        <p:spPr>
          <a:xfrm>
            <a:off x="142875" y="4037375"/>
            <a:ext cx="7696200" cy="2519010"/>
          </a:xfrm>
          <a:prstGeom prst="roundRect">
            <a:avLst>
              <a:gd name="adj" fmla="val 302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38125" y="4094525"/>
            <a:ext cx="7505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Incremental Market Addition (MT)</a:t>
            </a:r>
          </a:p>
        </p:txBody>
      </p:sp>
      <p:graphicFrame>
        <p:nvGraphicFramePr>
          <p:cNvPr id="20" name="Chart 19"/>
          <p:cNvGraphicFramePr>
            <a:graphicFrameLocks noGrp="1"/>
          </p:cNvGraphicFramePr>
          <p:nvPr/>
        </p:nvGraphicFramePr>
        <p:xfrm>
          <a:off x="238125" y="4323125"/>
          <a:ext cx="7505700" cy="217611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1" name="Rounded Rectangle 20"/>
          <p:cNvSpPr/>
          <p:nvPr/>
        </p:nvSpPr>
        <p:spPr>
          <a:xfrm>
            <a:off x="7915275" y="1627887"/>
            <a:ext cx="4133850" cy="2354727"/>
          </a:xfrm>
          <a:prstGeom prst="roundRect">
            <a:avLst>
              <a:gd name="adj" fmla="val 32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8048625" y="1713612"/>
            <a:ext cx="38671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Insights</a:t>
            </a:r>
          </a:p>
        </p:txBody>
      </p:sp>
      <p:sp>
        <p:nvSpPr>
          <p:cNvPr id="23" name="Rectangle 22"/>
          <p:cNvSpPr/>
          <p:nvPr/>
        </p:nvSpPr>
        <p:spPr>
          <a:xfrm>
            <a:off x="8048625" y="1951737"/>
            <a:ext cx="38671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8048625" y="2037462"/>
            <a:ext cx="3867150" cy="1868952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5" name="Rounded Rectangle 24"/>
          <p:cNvSpPr/>
          <p:nvPr/>
        </p:nvSpPr>
        <p:spPr>
          <a:xfrm>
            <a:off x="7915275" y="4037375"/>
            <a:ext cx="4133850" cy="2519010"/>
          </a:xfrm>
          <a:prstGeom prst="roundRect">
            <a:avLst>
              <a:gd name="adj" fmla="val 302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8048625" y="4123100"/>
            <a:ext cx="38671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Growth Drivers</a:t>
            </a:r>
          </a:p>
        </p:txBody>
      </p:sp>
      <p:sp>
        <p:nvSpPr>
          <p:cNvPr id="27" name="Rectangle 26"/>
          <p:cNvSpPr/>
          <p:nvPr/>
        </p:nvSpPr>
        <p:spPr>
          <a:xfrm>
            <a:off x="8048625" y="4361225"/>
            <a:ext cx="38671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8048625" y="4446950"/>
            <a:ext cx="3867150" cy="203323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502569" y="1250587"/>
            <a:ext cx="157162" cy="228600"/>
          </a:xfrm>
          <a:prstGeom prst="rect">
            <a:avLst/>
          </a:prstGeom>
        </p:spPr>
      </p:pic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502944" y="1250587"/>
            <a:ext cx="157162" cy="228600"/>
          </a:xfrm>
          <a:prstGeom prst="rect">
            <a:avLst/>
          </a:prstGeom>
        </p:spPr>
      </p:pic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512844" y="1250587"/>
            <a:ext cx="157162" cy="228600"/>
          </a:xfrm>
          <a:prstGeom prst="rect">
            <a:avLst/>
          </a:prstGeom>
        </p:spPr>
      </p:pic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522744" y="1250587"/>
            <a:ext cx="157162" cy="228600"/>
          </a:xfrm>
          <a:prstGeom prst="rect">
            <a:avLst/>
          </a:prstGeom>
        </p:spPr>
      </p:pic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991062" y="5157531"/>
            <a:ext cx="289830" cy="421571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8048625" y="2046987"/>
            <a:ext cx="138408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The market grows at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381868" y="2036763"/>
            <a:ext cx="134549" cy="195707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9556977" y="2046987"/>
            <a:ext cx="21482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(2021–2026), accelerating to</a:t>
            </a:r>
          </a:p>
        </p:txBody>
      </p:sp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034545" y="2212023"/>
            <a:ext cx="134549" cy="195707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8209654" y="2222247"/>
            <a:ext cx="58566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by 2036.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8048625" y="2450085"/>
            <a:ext cx="15093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Incremental volume of</a:t>
            </a:r>
          </a:p>
        </p:txBody>
      </p:sp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507094" y="2439861"/>
            <a:ext cx="134549" cy="195707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9682203" y="2450085"/>
            <a:ext cx="194660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is added between 2021 and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8048625" y="2625345"/>
            <a:ext cx="40966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2026.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8048625" y="2853182"/>
            <a:ext cx="70033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 further</a:t>
            </a:r>
          </a:p>
        </p:txBody>
      </p:sp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698114" y="2842959"/>
            <a:ext cx="134549" cy="195707"/>
          </a:xfrm>
          <a:prstGeom prst="rect">
            <a:avLst/>
          </a:prstGeom>
        </p:spPr>
      </p:pic>
      <p:sp>
        <p:nvSpPr>
          <p:cNvPr id="46" name="TextBox 45"/>
          <p:cNvSpPr txBox="1"/>
          <p:nvPr/>
        </p:nvSpPr>
        <p:spPr>
          <a:xfrm>
            <a:off x="8873223" y="2853182"/>
            <a:ext cx="29330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is added 2026–2036 more than the previous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8048625" y="3028442"/>
            <a:ext cx="50094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period.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8048625" y="3256280"/>
            <a:ext cx="17246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incremental volume: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722461" y="3246057"/>
            <a:ext cx="134549" cy="195707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9897570" y="3256280"/>
            <a:ext cx="141090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over 2021–2036, a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257627" y="3246057"/>
            <a:ext cx="134549" cy="195707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11432736" y="3256280"/>
            <a:ext cx="14893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×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8048625" y="3431540"/>
            <a:ext cx="7168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expansion.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8048625" y="4456475"/>
            <a:ext cx="325392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'Other European Countries' leads regional growth at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251707" y="4446251"/>
            <a:ext cx="134549" cy="195707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8048625" y="4631734"/>
            <a:ext cx="44672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CAGR.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8048625" y="4859572"/>
            <a:ext cx="362276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Demand concentrates in 'Shampoos &amp; Cleansing Products'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8048625" y="5034832"/>
            <a:ext cx="130849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within Product Type.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8048625" y="5262670"/>
            <a:ext cx="329129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Product innovation and premiumisation lifting value.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8048625" y="5490508"/>
            <a:ext cx="274132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Expanding end-use applications and access.</a:t>
            </a:r>
          </a:p>
        </p:txBody>
      </p:sp>
      <p:sp>
        <p:nvSpPr>
          <p:cNvPr id="61" name="lockshield_17"/>
          <p:cNvSpPr/>
          <p:nvPr/>
        </p:nvSpPr>
        <p:spPr>
          <a:xfrm>
            <a:off x="238125" y="1913637"/>
            <a:ext cx="7505700" cy="2011827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lockshield_20"/>
          <p:cNvSpPr/>
          <p:nvPr/>
        </p:nvSpPr>
        <p:spPr>
          <a:xfrm>
            <a:off x="238125" y="4323125"/>
            <a:ext cx="7505700" cy="217611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Pricing &amp; Regional Price Index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average price by sub-segment and price variation by country, highlighting where pricing power sits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052895"/>
            <a:ext cx="7696200" cy="2665040"/>
          </a:xfrm>
          <a:prstGeom prst="roundRect">
            <a:avLst>
              <a:gd name="adj" fmla="val 285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110045"/>
            <a:ext cx="7505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Average Price by Product Type  ·  range across 2021–2036 (US$/MT)</a:t>
            </a:r>
          </a:p>
        </p:txBody>
      </p:sp>
      <p:cxnSp>
        <p:nvCxnSpPr>
          <p:cNvPr id="13" name="Connector 12"/>
          <p:cNvCxnSpPr/>
          <p:nvPr/>
        </p:nvCxnSpPr>
        <p:spPr>
          <a:xfrm>
            <a:off x="657225" y="3100715"/>
            <a:ext cx="70104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>
            <a:off x="657225" y="2688773"/>
            <a:ext cx="70104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" name="Connector 14"/>
          <p:cNvCxnSpPr/>
          <p:nvPr/>
        </p:nvCxnSpPr>
        <p:spPr>
          <a:xfrm>
            <a:off x="657225" y="2276830"/>
            <a:ext cx="70104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" name="Connector 15"/>
          <p:cNvCxnSpPr/>
          <p:nvPr/>
        </p:nvCxnSpPr>
        <p:spPr>
          <a:xfrm>
            <a:off x="657225" y="1864888"/>
            <a:ext cx="70104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" name="Connector 16"/>
          <p:cNvCxnSpPr/>
          <p:nvPr/>
        </p:nvCxnSpPr>
        <p:spPr>
          <a:xfrm>
            <a:off x="657225" y="1452945"/>
            <a:ext cx="70104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" name="Connector 17"/>
          <p:cNvCxnSpPr/>
          <p:nvPr/>
        </p:nvCxnSpPr>
        <p:spPr>
          <a:xfrm>
            <a:off x="657225" y="1452945"/>
            <a:ext cx="0" cy="164777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" name="Connector 18"/>
          <p:cNvCxnSpPr/>
          <p:nvPr/>
        </p:nvCxnSpPr>
        <p:spPr>
          <a:xfrm>
            <a:off x="628650" y="3100715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" name="Connector 19"/>
          <p:cNvCxnSpPr/>
          <p:nvPr/>
        </p:nvCxnSpPr>
        <p:spPr>
          <a:xfrm>
            <a:off x="628650" y="2688773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628650" y="2276830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628650" y="1864888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628650" y="1452945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4" name="FMI Scale tick"/>
          <p:cNvSpPr txBox="1"/>
          <p:nvPr/>
        </p:nvSpPr>
        <p:spPr>
          <a:xfrm>
            <a:off x="111919" y="3034040"/>
            <a:ext cx="488156" cy="1333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25" name="FMI Scale tick"/>
          <p:cNvSpPr txBox="1"/>
          <p:nvPr/>
        </p:nvSpPr>
        <p:spPr>
          <a:xfrm>
            <a:off x="111919" y="2210155"/>
            <a:ext cx="488156" cy="1333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26" name="FMI Scale tick"/>
          <p:cNvSpPr txBox="1"/>
          <p:nvPr/>
        </p:nvSpPr>
        <p:spPr>
          <a:xfrm>
            <a:off x="111919" y="1386270"/>
            <a:ext cx="488156" cy="1333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/>
            </a:r>
          </a:p>
        </p:txBody>
      </p:sp>
      <p:cxnSp>
        <p:nvCxnSpPr>
          <p:cNvPr id="27" name="Connector 26"/>
          <p:cNvCxnSpPr/>
          <p:nvPr/>
        </p:nvCxnSpPr>
        <p:spPr>
          <a:xfrm flipV="1">
            <a:off x="1241425" y="2031633"/>
            <a:ext cx="0" cy="878955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8" name="Connector 27"/>
          <p:cNvCxnSpPr/>
          <p:nvPr/>
        </p:nvCxnSpPr>
        <p:spPr>
          <a:xfrm>
            <a:off x="1109980" y="2910588"/>
            <a:ext cx="262890" cy="0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9" name="Connector 28"/>
          <p:cNvCxnSpPr/>
          <p:nvPr/>
        </p:nvCxnSpPr>
        <p:spPr>
          <a:xfrm>
            <a:off x="1109980" y="2031633"/>
            <a:ext cx="262890" cy="0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0" name="Rectangle 29"/>
          <p:cNvSpPr/>
          <p:nvPr/>
        </p:nvSpPr>
        <p:spPr>
          <a:xfrm>
            <a:off x="1022350" y="2253432"/>
            <a:ext cx="438150" cy="439952"/>
          </a:xfrm>
          <a:prstGeom prst="rect">
            <a:avLst/>
          </a:prstGeom>
          <a:solidFill>
            <a:srgbClr val="CFE7F5"/>
          </a:solidFill>
          <a:ln w="15875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31" name="Connector 30"/>
          <p:cNvCxnSpPr/>
          <p:nvPr/>
        </p:nvCxnSpPr>
        <p:spPr>
          <a:xfrm>
            <a:off x="1022350" y="2475134"/>
            <a:ext cx="438150" cy="0"/>
          </a:xfrm>
          <a:prstGeom prst="line">
            <a:avLst/>
          </a:prstGeom>
          <a:ln w="2540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2" name="TextBox 31"/>
          <p:cNvSpPr txBox="1"/>
          <p:nvPr/>
        </p:nvSpPr>
        <p:spPr>
          <a:xfrm>
            <a:off x="657225" y="1879233"/>
            <a:ext cx="11684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cxnSp>
        <p:nvCxnSpPr>
          <p:cNvPr id="33" name="Connector 32"/>
          <p:cNvCxnSpPr/>
          <p:nvPr/>
        </p:nvCxnSpPr>
        <p:spPr>
          <a:xfrm flipV="1">
            <a:off x="2409825" y="1859518"/>
            <a:ext cx="0" cy="945216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2278380" y="2804734"/>
            <a:ext cx="262890" cy="0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2278380" y="1859518"/>
            <a:ext cx="262890" cy="0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2190750" y="2095376"/>
            <a:ext cx="438150" cy="472592"/>
          </a:xfrm>
          <a:prstGeom prst="rect">
            <a:avLst/>
          </a:prstGeom>
          <a:solidFill>
            <a:srgbClr val="CFE7F5"/>
          </a:solidFill>
          <a:ln w="15875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37" name="Connector 36"/>
          <p:cNvCxnSpPr/>
          <p:nvPr/>
        </p:nvCxnSpPr>
        <p:spPr>
          <a:xfrm>
            <a:off x="2190750" y="2332153"/>
            <a:ext cx="438150" cy="0"/>
          </a:xfrm>
          <a:prstGeom prst="line">
            <a:avLst/>
          </a:prstGeom>
          <a:ln w="2540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8" name="TextBox 37"/>
          <p:cNvSpPr txBox="1"/>
          <p:nvPr/>
        </p:nvSpPr>
        <p:spPr>
          <a:xfrm>
            <a:off x="1825625" y="1707118"/>
            <a:ext cx="11684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cxnSp>
        <p:nvCxnSpPr>
          <p:cNvPr id="39" name="Connector 38"/>
          <p:cNvCxnSpPr/>
          <p:nvPr/>
        </p:nvCxnSpPr>
        <p:spPr>
          <a:xfrm flipV="1">
            <a:off x="3578225" y="1970830"/>
            <a:ext cx="0" cy="909535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0" name="Connector 39"/>
          <p:cNvCxnSpPr/>
          <p:nvPr/>
        </p:nvCxnSpPr>
        <p:spPr>
          <a:xfrm>
            <a:off x="3446780" y="2880365"/>
            <a:ext cx="262890" cy="0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1" name="Connector 40"/>
          <p:cNvCxnSpPr/>
          <p:nvPr/>
        </p:nvCxnSpPr>
        <p:spPr>
          <a:xfrm>
            <a:off x="3446780" y="1970830"/>
            <a:ext cx="262890" cy="0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2" name="Rectangle 41"/>
          <p:cNvSpPr/>
          <p:nvPr/>
        </p:nvSpPr>
        <p:spPr>
          <a:xfrm>
            <a:off x="3359150" y="2197139"/>
            <a:ext cx="438150" cy="455624"/>
          </a:xfrm>
          <a:prstGeom prst="rect">
            <a:avLst/>
          </a:prstGeom>
          <a:solidFill>
            <a:srgbClr val="CFE7F5"/>
          </a:solidFill>
          <a:ln w="15875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43" name="Connector 42"/>
          <p:cNvCxnSpPr/>
          <p:nvPr/>
        </p:nvCxnSpPr>
        <p:spPr>
          <a:xfrm>
            <a:off x="3359150" y="2425179"/>
            <a:ext cx="438150" cy="0"/>
          </a:xfrm>
          <a:prstGeom prst="line">
            <a:avLst/>
          </a:prstGeom>
          <a:ln w="2540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4" name="TextBox 43"/>
          <p:cNvSpPr txBox="1"/>
          <p:nvPr/>
        </p:nvSpPr>
        <p:spPr>
          <a:xfrm>
            <a:off x="2994025" y="1818430"/>
            <a:ext cx="11684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cxnSp>
        <p:nvCxnSpPr>
          <p:cNvPr id="45" name="Connector 44"/>
          <p:cNvCxnSpPr/>
          <p:nvPr/>
        </p:nvCxnSpPr>
        <p:spPr>
          <a:xfrm flipV="1">
            <a:off x="4746625" y="1643073"/>
            <a:ext cx="0" cy="939046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6" name="Connector 45"/>
          <p:cNvCxnSpPr/>
          <p:nvPr/>
        </p:nvCxnSpPr>
        <p:spPr>
          <a:xfrm>
            <a:off x="4615180" y="2582119"/>
            <a:ext cx="262890" cy="0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7" name="Connector 46"/>
          <p:cNvCxnSpPr/>
          <p:nvPr/>
        </p:nvCxnSpPr>
        <p:spPr>
          <a:xfrm>
            <a:off x="4615180" y="1643073"/>
            <a:ext cx="262890" cy="0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8" name="Rectangle 47"/>
          <p:cNvSpPr/>
          <p:nvPr/>
        </p:nvSpPr>
        <p:spPr>
          <a:xfrm>
            <a:off x="4527550" y="1878370"/>
            <a:ext cx="438150" cy="469540"/>
          </a:xfrm>
          <a:prstGeom prst="rect">
            <a:avLst/>
          </a:prstGeom>
          <a:solidFill>
            <a:srgbClr val="CFE7F5"/>
          </a:solidFill>
          <a:ln w="15875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49" name="Connector 48"/>
          <p:cNvCxnSpPr/>
          <p:nvPr/>
        </p:nvCxnSpPr>
        <p:spPr>
          <a:xfrm>
            <a:off x="4527550" y="2113947"/>
            <a:ext cx="438150" cy="0"/>
          </a:xfrm>
          <a:prstGeom prst="line">
            <a:avLst/>
          </a:prstGeom>
          <a:ln w="2540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0" name="TextBox 49"/>
          <p:cNvSpPr txBox="1"/>
          <p:nvPr/>
        </p:nvSpPr>
        <p:spPr>
          <a:xfrm>
            <a:off x="4162425" y="1490673"/>
            <a:ext cx="11684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cxnSp>
        <p:nvCxnSpPr>
          <p:cNvPr id="51" name="Connector 50"/>
          <p:cNvCxnSpPr/>
          <p:nvPr/>
        </p:nvCxnSpPr>
        <p:spPr>
          <a:xfrm flipV="1">
            <a:off x="5915025" y="1934229"/>
            <a:ext cx="0" cy="909332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2" name="Connector 51"/>
          <p:cNvCxnSpPr/>
          <p:nvPr/>
        </p:nvCxnSpPr>
        <p:spPr>
          <a:xfrm>
            <a:off x="5783580" y="2843561"/>
            <a:ext cx="262890" cy="0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3" name="Connector 52"/>
          <p:cNvCxnSpPr/>
          <p:nvPr/>
        </p:nvCxnSpPr>
        <p:spPr>
          <a:xfrm>
            <a:off x="5783580" y="1934229"/>
            <a:ext cx="262890" cy="0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4" name="Rectangle 53"/>
          <p:cNvSpPr/>
          <p:nvPr/>
        </p:nvSpPr>
        <p:spPr>
          <a:xfrm>
            <a:off x="5695950" y="2161453"/>
            <a:ext cx="438150" cy="453975"/>
          </a:xfrm>
          <a:prstGeom prst="rect">
            <a:avLst/>
          </a:prstGeom>
          <a:solidFill>
            <a:srgbClr val="CFE7F5"/>
          </a:solidFill>
          <a:ln w="15875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55" name="Connector 54"/>
          <p:cNvCxnSpPr/>
          <p:nvPr/>
        </p:nvCxnSpPr>
        <p:spPr>
          <a:xfrm>
            <a:off x="5695950" y="2389319"/>
            <a:ext cx="438150" cy="0"/>
          </a:xfrm>
          <a:prstGeom prst="line">
            <a:avLst/>
          </a:prstGeom>
          <a:ln w="2540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6" name="TextBox 55"/>
          <p:cNvSpPr txBox="1"/>
          <p:nvPr/>
        </p:nvSpPr>
        <p:spPr>
          <a:xfrm>
            <a:off x="5330825" y="1781829"/>
            <a:ext cx="11684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cxnSp>
        <p:nvCxnSpPr>
          <p:cNvPr id="57" name="Connector 56"/>
          <p:cNvCxnSpPr/>
          <p:nvPr/>
        </p:nvCxnSpPr>
        <p:spPr>
          <a:xfrm flipV="1">
            <a:off x="7083425" y="1896196"/>
            <a:ext cx="0" cy="947494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8" name="Connector 57"/>
          <p:cNvCxnSpPr/>
          <p:nvPr/>
        </p:nvCxnSpPr>
        <p:spPr>
          <a:xfrm>
            <a:off x="6951980" y="2843690"/>
            <a:ext cx="262890" cy="0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9" name="Connector 58"/>
          <p:cNvCxnSpPr/>
          <p:nvPr/>
        </p:nvCxnSpPr>
        <p:spPr>
          <a:xfrm>
            <a:off x="6951980" y="1896196"/>
            <a:ext cx="262890" cy="0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0" name="Rectangle 59"/>
          <p:cNvSpPr/>
          <p:nvPr/>
        </p:nvSpPr>
        <p:spPr>
          <a:xfrm>
            <a:off x="6864350" y="2134736"/>
            <a:ext cx="438150" cy="474620"/>
          </a:xfrm>
          <a:prstGeom prst="rect">
            <a:avLst/>
          </a:prstGeom>
          <a:solidFill>
            <a:srgbClr val="CFE7F5"/>
          </a:solidFill>
          <a:ln w="15875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61" name="Connector 60"/>
          <p:cNvCxnSpPr/>
          <p:nvPr/>
        </p:nvCxnSpPr>
        <p:spPr>
          <a:xfrm>
            <a:off x="6864350" y="2373687"/>
            <a:ext cx="438150" cy="0"/>
          </a:xfrm>
          <a:prstGeom prst="line">
            <a:avLst/>
          </a:prstGeom>
          <a:ln w="2540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2" name="TextBox 61"/>
          <p:cNvSpPr txBox="1"/>
          <p:nvPr/>
        </p:nvSpPr>
        <p:spPr>
          <a:xfrm>
            <a:off x="6499225" y="1743796"/>
            <a:ext cx="11684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657225" y="3129290"/>
            <a:ext cx="1168400" cy="2857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Shampoos &amp; Cleansing…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1825625" y="3129290"/>
            <a:ext cx="1168400" cy="2857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Coat Conditioning &amp; G…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2994025" y="3129290"/>
            <a:ext cx="1168400" cy="2857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Skin, Paw &amp; Nose Care…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4162425" y="3129290"/>
            <a:ext cx="1168400" cy="2857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Ear &amp; Eye Hygiene Pro…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5330825" y="3129290"/>
            <a:ext cx="1168400" cy="2857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Dental &amp; Oral Care Pr…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6499225" y="3129290"/>
            <a:ext cx="1168400" cy="2857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Fragrance &amp; Deodorizi…</a:t>
            </a:r>
          </a:p>
        </p:txBody>
      </p:sp>
      <p:sp>
        <p:nvSpPr>
          <p:cNvPr id="69" name="Rounded Rectangle 68"/>
          <p:cNvSpPr/>
          <p:nvPr/>
        </p:nvSpPr>
        <p:spPr>
          <a:xfrm>
            <a:off x="142875" y="3772696"/>
            <a:ext cx="7696200" cy="2783689"/>
          </a:xfrm>
          <a:prstGeom prst="roundRect">
            <a:avLst>
              <a:gd name="adj" fmla="val 273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238125" y="3829846"/>
            <a:ext cx="7505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Price Variation by Country vs Europe  ·  2026–2036</a:t>
            </a:r>
          </a:p>
        </p:txBody>
      </p:sp>
      <p:cxnSp>
        <p:nvCxnSpPr>
          <p:cNvPr id="71" name="Connector 70"/>
          <p:cNvCxnSpPr/>
          <p:nvPr/>
        </p:nvCxnSpPr>
        <p:spPr>
          <a:xfrm>
            <a:off x="619125" y="4281679"/>
            <a:ext cx="70485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2" name="Connector 71"/>
          <p:cNvCxnSpPr/>
          <p:nvPr/>
        </p:nvCxnSpPr>
        <p:spPr>
          <a:xfrm>
            <a:off x="619125" y="4584045"/>
            <a:ext cx="70485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3" name="Connector 72"/>
          <p:cNvCxnSpPr/>
          <p:nvPr/>
        </p:nvCxnSpPr>
        <p:spPr>
          <a:xfrm>
            <a:off x="619125" y="4886411"/>
            <a:ext cx="70485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4" name="Connector 73"/>
          <p:cNvCxnSpPr/>
          <p:nvPr/>
        </p:nvCxnSpPr>
        <p:spPr>
          <a:xfrm>
            <a:off x="619125" y="5188777"/>
            <a:ext cx="70485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5" name="Connector 74"/>
          <p:cNvCxnSpPr/>
          <p:nvPr/>
        </p:nvCxnSpPr>
        <p:spPr>
          <a:xfrm>
            <a:off x="619125" y="5491143"/>
            <a:ext cx="70485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6" name="Connector 75"/>
          <p:cNvCxnSpPr/>
          <p:nvPr/>
        </p:nvCxnSpPr>
        <p:spPr>
          <a:xfrm>
            <a:off x="619125" y="4281679"/>
            <a:ext cx="0" cy="1209464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7" name="Connector 76"/>
          <p:cNvCxnSpPr/>
          <p:nvPr/>
        </p:nvCxnSpPr>
        <p:spPr>
          <a:xfrm>
            <a:off x="590550" y="4281679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8" name="Connector 77"/>
          <p:cNvCxnSpPr/>
          <p:nvPr/>
        </p:nvCxnSpPr>
        <p:spPr>
          <a:xfrm>
            <a:off x="590550" y="4584045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9" name="Connector 78"/>
          <p:cNvCxnSpPr/>
          <p:nvPr/>
        </p:nvCxnSpPr>
        <p:spPr>
          <a:xfrm>
            <a:off x="590550" y="4886411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0" name="Connector 79"/>
          <p:cNvCxnSpPr/>
          <p:nvPr/>
        </p:nvCxnSpPr>
        <p:spPr>
          <a:xfrm>
            <a:off x="590550" y="5188777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1" name="Connector 80"/>
          <p:cNvCxnSpPr/>
          <p:nvPr/>
        </p:nvCxnSpPr>
        <p:spPr>
          <a:xfrm>
            <a:off x="590550" y="5491143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2" name="FMI Scale tick"/>
          <p:cNvSpPr txBox="1"/>
          <p:nvPr/>
        </p:nvSpPr>
        <p:spPr>
          <a:xfrm>
            <a:off x="219075" y="4215004"/>
            <a:ext cx="361950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+15%</a:t>
            </a:r>
          </a:p>
        </p:txBody>
      </p:sp>
      <p:sp>
        <p:nvSpPr>
          <p:cNvPr id="83" name="FMI Scale tick"/>
          <p:cNvSpPr txBox="1"/>
          <p:nvPr/>
        </p:nvSpPr>
        <p:spPr>
          <a:xfrm>
            <a:off x="219075" y="4517370"/>
            <a:ext cx="361950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+8%</a:t>
            </a:r>
          </a:p>
        </p:txBody>
      </p:sp>
      <p:sp>
        <p:nvSpPr>
          <p:cNvPr id="84" name="FMI Scale tick"/>
          <p:cNvSpPr txBox="1"/>
          <p:nvPr/>
        </p:nvSpPr>
        <p:spPr>
          <a:xfrm>
            <a:off x="66675" y="4819736"/>
            <a:ext cx="514350" cy="1333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1">
                <a:solidFill>
                  <a:srgbClr val="6C7A89"/>
                </a:solidFill>
                <a:latin typeface="Calibri"/>
              </a:rPr>
              <a:t>Europe</a:t>
            </a:r>
          </a:p>
        </p:txBody>
      </p:sp>
      <p:sp>
        <p:nvSpPr>
          <p:cNvPr id="85" name="FMI Scale tick"/>
          <p:cNvSpPr txBox="1"/>
          <p:nvPr/>
        </p:nvSpPr>
        <p:spPr>
          <a:xfrm>
            <a:off x="219075" y="5122102"/>
            <a:ext cx="361950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-8%</a:t>
            </a:r>
          </a:p>
        </p:txBody>
      </p:sp>
      <p:sp>
        <p:nvSpPr>
          <p:cNvPr id="86" name="FMI Scale tick"/>
          <p:cNvSpPr txBox="1"/>
          <p:nvPr/>
        </p:nvSpPr>
        <p:spPr>
          <a:xfrm>
            <a:off x="219075" y="5424468"/>
            <a:ext cx="361950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-15%</a:t>
            </a:r>
          </a:p>
        </p:txBody>
      </p:sp>
      <p:cxnSp>
        <p:nvCxnSpPr>
          <p:cNvPr id="87" name="Connector 86"/>
          <p:cNvCxnSpPr/>
          <p:nvPr/>
        </p:nvCxnSpPr>
        <p:spPr>
          <a:xfrm>
            <a:off x="619125" y="4886411"/>
            <a:ext cx="7048500" cy="0"/>
          </a:xfrm>
          <a:prstGeom prst="line">
            <a:avLst/>
          </a:prstGeom>
          <a:ln w="13970">
            <a:solidFill>
              <a:srgbClr val="6C7A89"/>
            </a:solidFill>
            <a:prstDash val="dash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8" name="Rectangle 87"/>
          <p:cNvSpPr/>
          <p:nvPr/>
        </p:nvSpPr>
        <p:spPr>
          <a:xfrm>
            <a:off x="667055" y="4886411"/>
            <a:ext cx="186080" cy="286400"/>
          </a:xfrm>
          <a:prstGeom prst="rect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FMI Dense Label"/>
          <p:cNvSpPr txBox="1"/>
          <p:nvPr/>
        </p:nvSpPr>
        <p:spPr>
          <a:xfrm>
            <a:off x="564348" y="5182335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90" name="Rectangle 89"/>
          <p:cNvSpPr/>
          <p:nvPr/>
        </p:nvSpPr>
        <p:spPr>
          <a:xfrm>
            <a:off x="948995" y="4838774"/>
            <a:ext cx="186080" cy="47637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FMI Dense Label"/>
          <p:cNvSpPr txBox="1"/>
          <p:nvPr/>
        </p:nvSpPr>
        <p:spPr>
          <a:xfrm>
            <a:off x="846288" y="4724474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92" name="Rectangle 91"/>
          <p:cNvSpPr/>
          <p:nvPr/>
        </p:nvSpPr>
        <p:spPr>
          <a:xfrm>
            <a:off x="1230935" y="4886411"/>
            <a:ext cx="186080" cy="376021"/>
          </a:xfrm>
          <a:prstGeom prst="rect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FMI Dense Label"/>
          <p:cNvSpPr txBox="1"/>
          <p:nvPr/>
        </p:nvSpPr>
        <p:spPr>
          <a:xfrm>
            <a:off x="1128228" y="5271957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94" name="Rectangle 93"/>
          <p:cNvSpPr/>
          <p:nvPr/>
        </p:nvSpPr>
        <p:spPr>
          <a:xfrm>
            <a:off x="1512875" y="4786837"/>
            <a:ext cx="186080" cy="9957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FMI Dense Label"/>
          <p:cNvSpPr txBox="1"/>
          <p:nvPr/>
        </p:nvSpPr>
        <p:spPr>
          <a:xfrm>
            <a:off x="1410168" y="4672537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96" name="Rectangle 95"/>
          <p:cNvSpPr/>
          <p:nvPr/>
        </p:nvSpPr>
        <p:spPr>
          <a:xfrm>
            <a:off x="1794815" y="4787646"/>
            <a:ext cx="186080" cy="9876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FMI Dense Label"/>
          <p:cNvSpPr txBox="1"/>
          <p:nvPr/>
        </p:nvSpPr>
        <p:spPr>
          <a:xfrm>
            <a:off x="1692108" y="4444746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98" name="Rectangle 97"/>
          <p:cNvSpPr/>
          <p:nvPr/>
        </p:nvSpPr>
        <p:spPr>
          <a:xfrm>
            <a:off x="2076755" y="4886411"/>
            <a:ext cx="186080" cy="255558"/>
          </a:xfrm>
          <a:prstGeom prst="rect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FMI Dense Label"/>
          <p:cNvSpPr txBox="1"/>
          <p:nvPr/>
        </p:nvSpPr>
        <p:spPr>
          <a:xfrm>
            <a:off x="1974048" y="5151494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00" name="Rectangle 99"/>
          <p:cNvSpPr/>
          <p:nvPr/>
        </p:nvSpPr>
        <p:spPr>
          <a:xfrm>
            <a:off x="2358695" y="4822058"/>
            <a:ext cx="186080" cy="64353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FMI Dense Label"/>
          <p:cNvSpPr txBox="1"/>
          <p:nvPr/>
        </p:nvSpPr>
        <p:spPr>
          <a:xfrm>
            <a:off x="2255988" y="4707758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02" name="Rectangle 101"/>
          <p:cNvSpPr/>
          <p:nvPr/>
        </p:nvSpPr>
        <p:spPr>
          <a:xfrm>
            <a:off x="2640635" y="4382110"/>
            <a:ext cx="186080" cy="504300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FMI Dense Label"/>
          <p:cNvSpPr txBox="1"/>
          <p:nvPr/>
        </p:nvSpPr>
        <p:spPr>
          <a:xfrm>
            <a:off x="2537928" y="4267810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04" name="Rectangle 103"/>
          <p:cNvSpPr/>
          <p:nvPr/>
        </p:nvSpPr>
        <p:spPr>
          <a:xfrm>
            <a:off x="2922575" y="4886411"/>
            <a:ext cx="186080" cy="326204"/>
          </a:xfrm>
          <a:prstGeom prst="rect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FMI Dense Label"/>
          <p:cNvSpPr txBox="1"/>
          <p:nvPr/>
        </p:nvSpPr>
        <p:spPr>
          <a:xfrm>
            <a:off x="2819868" y="5222140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06" name="Rectangle 105"/>
          <p:cNvSpPr/>
          <p:nvPr/>
        </p:nvSpPr>
        <p:spPr>
          <a:xfrm>
            <a:off x="3204515" y="4467676"/>
            <a:ext cx="186080" cy="41873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FMI Dense Label"/>
          <p:cNvSpPr txBox="1"/>
          <p:nvPr/>
        </p:nvSpPr>
        <p:spPr>
          <a:xfrm>
            <a:off x="3101808" y="4353376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08" name="Rectangle 107"/>
          <p:cNvSpPr/>
          <p:nvPr/>
        </p:nvSpPr>
        <p:spPr>
          <a:xfrm>
            <a:off x="3486455" y="4886411"/>
            <a:ext cx="186080" cy="528640"/>
          </a:xfrm>
          <a:prstGeom prst="rect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FMI Dense Label"/>
          <p:cNvSpPr txBox="1"/>
          <p:nvPr/>
        </p:nvSpPr>
        <p:spPr>
          <a:xfrm>
            <a:off x="3383748" y="5424576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10" name="Rectangle 109"/>
          <p:cNvSpPr/>
          <p:nvPr/>
        </p:nvSpPr>
        <p:spPr>
          <a:xfrm>
            <a:off x="3768395" y="4840409"/>
            <a:ext cx="186080" cy="46002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FMI Dense Label"/>
          <p:cNvSpPr txBox="1"/>
          <p:nvPr/>
        </p:nvSpPr>
        <p:spPr>
          <a:xfrm>
            <a:off x="3665688" y="4726109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12" name="Rectangle 111"/>
          <p:cNvSpPr/>
          <p:nvPr/>
        </p:nvSpPr>
        <p:spPr>
          <a:xfrm>
            <a:off x="4050335" y="4803160"/>
            <a:ext cx="186080" cy="83251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FMI Dense Label"/>
          <p:cNvSpPr txBox="1"/>
          <p:nvPr/>
        </p:nvSpPr>
        <p:spPr>
          <a:xfrm>
            <a:off x="3947628" y="4574560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14" name="Rectangle 113"/>
          <p:cNvSpPr/>
          <p:nvPr/>
        </p:nvSpPr>
        <p:spPr>
          <a:xfrm>
            <a:off x="4332275" y="4642062"/>
            <a:ext cx="186080" cy="244349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FMI Dense Label"/>
          <p:cNvSpPr txBox="1"/>
          <p:nvPr/>
        </p:nvSpPr>
        <p:spPr>
          <a:xfrm>
            <a:off x="4229568" y="4413462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16" name="Rectangle 115"/>
          <p:cNvSpPr/>
          <p:nvPr/>
        </p:nvSpPr>
        <p:spPr>
          <a:xfrm>
            <a:off x="4614215" y="4886411"/>
            <a:ext cx="186080" cy="304755"/>
          </a:xfrm>
          <a:prstGeom prst="rect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FMI Dense Label"/>
          <p:cNvSpPr txBox="1"/>
          <p:nvPr/>
        </p:nvSpPr>
        <p:spPr>
          <a:xfrm>
            <a:off x="4511508" y="5200691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18" name="Rectangle 117"/>
          <p:cNvSpPr/>
          <p:nvPr/>
        </p:nvSpPr>
        <p:spPr>
          <a:xfrm>
            <a:off x="4896155" y="4886411"/>
            <a:ext cx="186080" cy="49875"/>
          </a:xfrm>
          <a:prstGeom prst="rect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FMI Dense Label"/>
          <p:cNvSpPr txBox="1"/>
          <p:nvPr/>
        </p:nvSpPr>
        <p:spPr>
          <a:xfrm>
            <a:off x="4793448" y="4945810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20" name="Rectangle 119"/>
          <p:cNvSpPr/>
          <p:nvPr/>
        </p:nvSpPr>
        <p:spPr>
          <a:xfrm>
            <a:off x="5178095" y="4631868"/>
            <a:ext cx="186080" cy="254542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FMI Dense Label"/>
          <p:cNvSpPr txBox="1"/>
          <p:nvPr/>
        </p:nvSpPr>
        <p:spPr>
          <a:xfrm>
            <a:off x="5075388" y="4517568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22" name="Rectangle 121"/>
          <p:cNvSpPr/>
          <p:nvPr/>
        </p:nvSpPr>
        <p:spPr>
          <a:xfrm>
            <a:off x="5460035" y="4630160"/>
            <a:ext cx="186080" cy="256251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FMI Dense Label"/>
          <p:cNvSpPr txBox="1"/>
          <p:nvPr/>
        </p:nvSpPr>
        <p:spPr>
          <a:xfrm>
            <a:off x="5357328" y="4401560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24" name="Rectangle 123"/>
          <p:cNvSpPr/>
          <p:nvPr/>
        </p:nvSpPr>
        <p:spPr>
          <a:xfrm>
            <a:off x="5741975" y="4886411"/>
            <a:ext cx="186080" cy="229253"/>
          </a:xfrm>
          <a:prstGeom prst="rect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FMI Dense Label"/>
          <p:cNvSpPr txBox="1"/>
          <p:nvPr/>
        </p:nvSpPr>
        <p:spPr>
          <a:xfrm>
            <a:off x="5639268" y="5125188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26" name="Rectangle 125"/>
          <p:cNvSpPr/>
          <p:nvPr/>
        </p:nvSpPr>
        <p:spPr>
          <a:xfrm>
            <a:off x="6023915" y="4558310"/>
            <a:ext cx="186080" cy="328101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FMI Dense Label"/>
          <p:cNvSpPr txBox="1"/>
          <p:nvPr/>
        </p:nvSpPr>
        <p:spPr>
          <a:xfrm>
            <a:off x="5921208" y="4444010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28" name="Rectangle 127"/>
          <p:cNvSpPr/>
          <p:nvPr/>
        </p:nvSpPr>
        <p:spPr>
          <a:xfrm>
            <a:off x="6305855" y="4886411"/>
            <a:ext cx="186080" cy="79273"/>
          </a:xfrm>
          <a:prstGeom prst="rect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FMI Dense Label"/>
          <p:cNvSpPr txBox="1"/>
          <p:nvPr/>
        </p:nvSpPr>
        <p:spPr>
          <a:xfrm>
            <a:off x="6203148" y="4975209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30" name="Rectangle 129"/>
          <p:cNvSpPr/>
          <p:nvPr/>
        </p:nvSpPr>
        <p:spPr>
          <a:xfrm>
            <a:off x="6587795" y="4392286"/>
            <a:ext cx="186080" cy="49412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FMI Dense Label"/>
          <p:cNvSpPr txBox="1"/>
          <p:nvPr/>
        </p:nvSpPr>
        <p:spPr>
          <a:xfrm>
            <a:off x="6485088" y="4277986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32" name="Rectangle 131"/>
          <p:cNvSpPr/>
          <p:nvPr/>
        </p:nvSpPr>
        <p:spPr>
          <a:xfrm>
            <a:off x="6869735" y="4797025"/>
            <a:ext cx="186080" cy="89386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FMI Dense Label"/>
          <p:cNvSpPr txBox="1"/>
          <p:nvPr/>
        </p:nvSpPr>
        <p:spPr>
          <a:xfrm>
            <a:off x="6767028" y="4682725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34" name="Rectangle 133"/>
          <p:cNvSpPr/>
          <p:nvPr/>
        </p:nvSpPr>
        <p:spPr>
          <a:xfrm>
            <a:off x="7151675" y="4886411"/>
            <a:ext cx="186080" cy="107027"/>
          </a:xfrm>
          <a:prstGeom prst="rect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FMI Dense Label"/>
          <p:cNvSpPr txBox="1"/>
          <p:nvPr/>
        </p:nvSpPr>
        <p:spPr>
          <a:xfrm>
            <a:off x="7048968" y="5002963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36" name="Rectangle 135"/>
          <p:cNvSpPr/>
          <p:nvPr/>
        </p:nvSpPr>
        <p:spPr>
          <a:xfrm>
            <a:off x="7433615" y="4414379"/>
            <a:ext cx="186080" cy="472032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FMI Dense Label"/>
          <p:cNvSpPr txBox="1"/>
          <p:nvPr/>
        </p:nvSpPr>
        <p:spPr>
          <a:xfrm>
            <a:off x="7330908" y="4300079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38" name="FMI Dense Label"/>
          <p:cNvSpPr txBox="1"/>
          <p:nvPr/>
        </p:nvSpPr>
        <p:spPr>
          <a:xfrm>
            <a:off x="492442" y="562865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Austria</a:t>
            </a:r>
          </a:p>
        </p:txBody>
      </p:sp>
      <p:sp>
        <p:nvSpPr>
          <p:cNvPr id="139" name="FMI Dense Label"/>
          <p:cNvSpPr txBox="1"/>
          <p:nvPr/>
        </p:nvSpPr>
        <p:spPr>
          <a:xfrm>
            <a:off x="774383" y="605918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Belgium</a:t>
            </a:r>
          </a:p>
        </p:txBody>
      </p:sp>
      <p:sp>
        <p:nvSpPr>
          <p:cNvPr id="140" name="FMI Dense Label"/>
          <p:cNvSpPr txBox="1"/>
          <p:nvPr/>
        </p:nvSpPr>
        <p:spPr>
          <a:xfrm>
            <a:off x="1056322" y="562865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Bulgaria</a:t>
            </a:r>
          </a:p>
        </p:txBody>
      </p:sp>
      <p:sp>
        <p:nvSpPr>
          <p:cNvPr id="141" name="FMI Dense Label"/>
          <p:cNvSpPr txBox="1"/>
          <p:nvPr/>
        </p:nvSpPr>
        <p:spPr>
          <a:xfrm>
            <a:off x="1338263" y="605918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Croatia</a:t>
            </a:r>
          </a:p>
        </p:txBody>
      </p:sp>
      <p:sp>
        <p:nvSpPr>
          <p:cNvPr id="142" name="FMI Dense Label"/>
          <p:cNvSpPr txBox="1"/>
          <p:nvPr/>
        </p:nvSpPr>
        <p:spPr>
          <a:xfrm>
            <a:off x="1620203" y="562865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Czech Republic</a:t>
            </a:r>
          </a:p>
        </p:txBody>
      </p:sp>
      <p:sp>
        <p:nvSpPr>
          <p:cNvPr id="143" name="FMI Dense Label"/>
          <p:cNvSpPr txBox="1"/>
          <p:nvPr/>
        </p:nvSpPr>
        <p:spPr>
          <a:xfrm>
            <a:off x="1902143" y="605918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Denmark</a:t>
            </a:r>
          </a:p>
        </p:txBody>
      </p:sp>
      <p:sp>
        <p:nvSpPr>
          <p:cNvPr id="144" name="FMI Dense Label"/>
          <p:cNvSpPr txBox="1"/>
          <p:nvPr/>
        </p:nvSpPr>
        <p:spPr>
          <a:xfrm>
            <a:off x="2184082" y="562865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Finland</a:t>
            </a:r>
          </a:p>
        </p:txBody>
      </p:sp>
      <p:sp>
        <p:nvSpPr>
          <p:cNvPr id="145" name="FMI Dense Label"/>
          <p:cNvSpPr txBox="1"/>
          <p:nvPr/>
        </p:nvSpPr>
        <p:spPr>
          <a:xfrm>
            <a:off x="2466022" y="605918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France</a:t>
            </a:r>
          </a:p>
        </p:txBody>
      </p:sp>
      <p:sp>
        <p:nvSpPr>
          <p:cNvPr id="146" name="FMI Dense Label"/>
          <p:cNvSpPr txBox="1"/>
          <p:nvPr/>
        </p:nvSpPr>
        <p:spPr>
          <a:xfrm>
            <a:off x="2747962" y="562865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Germany</a:t>
            </a:r>
          </a:p>
        </p:txBody>
      </p:sp>
      <p:sp>
        <p:nvSpPr>
          <p:cNvPr id="147" name="FMI Dense Label"/>
          <p:cNvSpPr txBox="1"/>
          <p:nvPr/>
        </p:nvSpPr>
        <p:spPr>
          <a:xfrm>
            <a:off x="3029902" y="605918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Greece</a:t>
            </a:r>
          </a:p>
        </p:txBody>
      </p:sp>
      <p:sp>
        <p:nvSpPr>
          <p:cNvPr id="148" name="FMI Dense Label"/>
          <p:cNvSpPr txBox="1"/>
          <p:nvPr/>
        </p:nvSpPr>
        <p:spPr>
          <a:xfrm>
            <a:off x="3311842" y="562865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Hungary</a:t>
            </a:r>
          </a:p>
        </p:txBody>
      </p:sp>
      <p:sp>
        <p:nvSpPr>
          <p:cNvPr id="149" name="FMI Dense Label"/>
          <p:cNvSpPr txBox="1"/>
          <p:nvPr/>
        </p:nvSpPr>
        <p:spPr>
          <a:xfrm>
            <a:off x="3593782" y="605918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Ireland</a:t>
            </a:r>
          </a:p>
        </p:txBody>
      </p:sp>
      <p:sp>
        <p:nvSpPr>
          <p:cNvPr id="150" name="FMI Dense Label"/>
          <p:cNvSpPr txBox="1"/>
          <p:nvPr/>
        </p:nvSpPr>
        <p:spPr>
          <a:xfrm>
            <a:off x="3875722" y="562865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Italy</a:t>
            </a:r>
          </a:p>
        </p:txBody>
      </p:sp>
      <p:sp>
        <p:nvSpPr>
          <p:cNvPr id="151" name="FMI Dense Label"/>
          <p:cNvSpPr txBox="1"/>
          <p:nvPr/>
        </p:nvSpPr>
        <p:spPr>
          <a:xfrm>
            <a:off x="4157662" y="605918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Malta</a:t>
            </a:r>
          </a:p>
        </p:txBody>
      </p:sp>
      <p:sp>
        <p:nvSpPr>
          <p:cNvPr id="152" name="FMI Dense Label"/>
          <p:cNvSpPr txBox="1"/>
          <p:nvPr/>
        </p:nvSpPr>
        <p:spPr>
          <a:xfrm>
            <a:off x="4308395" y="5628650"/>
            <a:ext cx="797719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Netherlands</a:t>
            </a:r>
          </a:p>
        </p:txBody>
      </p:sp>
      <p:sp>
        <p:nvSpPr>
          <p:cNvPr id="153" name="FMI Dense Label"/>
          <p:cNvSpPr txBox="1"/>
          <p:nvPr/>
        </p:nvSpPr>
        <p:spPr>
          <a:xfrm>
            <a:off x="4721542" y="605918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Norway</a:t>
            </a:r>
          </a:p>
        </p:txBody>
      </p:sp>
      <p:sp>
        <p:nvSpPr>
          <p:cNvPr id="154" name="FMI Dense Label"/>
          <p:cNvSpPr txBox="1"/>
          <p:nvPr/>
        </p:nvSpPr>
        <p:spPr>
          <a:xfrm>
            <a:off x="5003483" y="562865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Poland</a:t>
            </a:r>
          </a:p>
        </p:txBody>
      </p:sp>
      <p:sp>
        <p:nvSpPr>
          <p:cNvPr id="155" name="FMI Dense Label"/>
          <p:cNvSpPr txBox="1"/>
          <p:nvPr/>
        </p:nvSpPr>
        <p:spPr>
          <a:xfrm>
            <a:off x="5285422" y="605918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Portugal</a:t>
            </a:r>
          </a:p>
        </p:txBody>
      </p:sp>
      <p:sp>
        <p:nvSpPr>
          <p:cNvPr id="156" name="FMI Dense Label"/>
          <p:cNvSpPr txBox="1"/>
          <p:nvPr/>
        </p:nvSpPr>
        <p:spPr>
          <a:xfrm>
            <a:off x="5567362" y="562865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Romania</a:t>
            </a:r>
          </a:p>
        </p:txBody>
      </p:sp>
      <p:sp>
        <p:nvSpPr>
          <p:cNvPr id="157" name="FMI Dense Label"/>
          <p:cNvSpPr txBox="1"/>
          <p:nvPr/>
        </p:nvSpPr>
        <p:spPr>
          <a:xfrm>
            <a:off x="5849302" y="605918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Slovenia</a:t>
            </a:r>
          </a:p>
        </p:txBody>
      </p:sp>
      <p:sp>
        <p:nvSpPr>
          <p:cNvPr id="158" name="FMI Dense Label"/>
          <p:cNvSpPr txBox="1"/>
          <p:nvPr/>
        </p:nvSpPr>
        <p:spPr>
          <a:xfrm>
            <a:off x="6131242" y="562865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Spain</a:t>
            </a:r>
          </a:p>
        </p:txBody>
      </p:sp>
      <p:sp>
        <p:nvSpPr>
          <p:cNvPr id="159" name="FMI Dense Label"/>
          <p:cNvSpPr txBox="1"/>
          <p:nvPr/>
        </p:nvSpPr>
        <p:spPr>
          <a:xfrm>
            <a:off x="6413182" y="605918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Sweden</a:t>
            </a:r>
          </a:p>
        </p:txBody>
      </p:sp>
      <p:sp>
        <p:nvSpPr>
          <p:cNvPr id="160" name="FMI Dense Label"/>
          <p:cNvSpPr txBox="1"/>
          <p:nvPr/>
        </p:nvSpPr>
        <p:spPr>
          <a:xfrm>
            <a:off x="6581775" y="5628650"/>
            <a:ext cx="762000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Switzerland</a:t>
            </a:r>
          </a:p>
        </p:txBody>
      </p:sp>
      <p:sp>
        <p:nvSpPr>
          <p:cNvPr id="161" name="FMI Dense Label"/>
          <p:cNvSpPr txBox="1"/>
          <p:nvPr/>
        </p:nvSpPr>
        <p:spPr>
          <a:xfrm>
            <a:off x="6977062" y="605918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United Kingdom</a:t>
            </a:r>
          </a:p>
        </p:txBody>
      </p:sp>
      <p:sp>
        <p:nvSpPr>
          <p:cNvPr id="162" name="FMI Dense Label"/>
          <p:cNvSpPr txBox="1"/>
          <p:nvPr/>
        </p:nvSpPr>
        <p:spPr>
          <a:xfrm>
            <a:off x="7259002" y="562865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Other European Countries</a:t>
            </a:r>
          </a:p>
        </p:txBody>
      </p:sp>
      <p:sp>
        <p:nvSpPr>
          <p:cNvPr id="163" name="Rounded Rectangle 162"/>
          <p:cNvSpPr/>
          <p:nvPr/>
        </p:nvSpPr>
        <p:spPr>
          <a:xfrm>
            <a:off x="7915275" y="1052895"/>
            <a:ext cx="4133850" cy="5503490"/>
          </a:xfrm>
          <a:prstGeom prst="roundRect">
            <a:avLst>
              <a:gd name="adj" fmla="val 184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8048625" y="1138620"/>
            <a:ext cx="38671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Takeaways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8048625" y="1376745"/>
            <a:ext cx="38671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8048625" y="1462470"/>
            <a:ext cx="3867150" cy="501771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67" name="TextBox 16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68" name="Picture 16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7075" y="1852309"/>
            <a:ext cx="128699" cy="187198"/>
          </a:xfrm>
          <a:prstGeom prst="rect">
            <a:avLst/>
          </a:prstGeom>
        </p:spPr>
      </p:pic>
      <p:pic>
        <p:nvPicPr>
          <p:cNvPr id="169" name="Picture 16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345475" y="1680194"/>
            <a:ext cx="128699" cy="187198"/>
          </a:xfrm>
          <a:prstGeom prst="rect">
            <a:avLst/>
          </a:prstGeom>
        </p:spPr>
      </p:pic>
      <p:pic>
        <p:nvPicPr>
          <p:cNvPr id="170" name="Picture 16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13875" y="1791506"/>
            <a:ext cx="128699" cy="187198"/>
          </a:xfrm>
          <a:prstGeom prst="rect">
            <a:avLst/>
          </a:prstGeom>
        </p:spPr>
      </p:pic>
      <p:pic>
        <p:nvPicPr>
          <p:cNvPr id="171" name="Picture 17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82275" y="1463749"/>
            <a:ext cx="128699" cy="187198"/>
          </a:xfrm>
          <a:prstGeom prst="rect">
            <a:avLst/>
          </a:prstGeom>
        </p:spPr>
      </p:pic>
      <p:pic>
        <p:nvPicPr>
          <p:cNvPr id="172" name="Picture 17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850675" y="1754905"/>
            <a:ext cx="128699" cy="187198"/>
          </a:xfrm>
          <a:prstGeom prst="rect">
            <a:avLst/>
          </a:prstGeom>
        </p:spPr>
      </p:pic>
      <p:pic>
        <p:nvPicPr>
          <p:cNvPr id="173" name="Picture 17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19075" y="1716872"/>
            <a:ext cx="128699" cy="187198"/>
          </a:xfrm>
          <a:prstGeom prst="rect">
            <a:avLst/>
          </a:prstGeom>
        </p:spPr>
      </p:pic>
      <p:pic>
        <p:nvPicPr>
          <p:cNvPr id="174" name="Picture 17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3296" y="5180938"/>
            <a:ext cx="93599" cy="136144"/>
          </a:xfrm>
          <a:prstGeom prst="rect">
            <a:avLst/>
          </a:prstGeom>
        </p:spPr>
      </p:pic>
      <p:pic>
        <p:nvPicPr>
          <p:cNvPr id="175" name="Picture 17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95236" y="4723077"/>
            <a:ext cx="93599" cy="136144"/>
          </a:xfrm>
          <a:prstGeom prst="rect">
            <a:avLst/>
          </a:prstGeom>
        </p:spPr>
      </p:pic>
      <p:pic>
        <p:nvPicPr>
          <p:cNvPr id="176" name="Picture 17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277176" y="5270560"/>
            <a:ext cx="93599" cy="136144"/>
          </a:xfrm>
          <a:prstGeom prst="rect">
            <a:avLst/>
          </a:prstGeom>
        </p:spPr>
      </p:pic>
      <p:pic>
        <p:nvPicPr>
          <p:cNvPr id="177" name="Picture 17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559116" y="4671140"/>
            <a:ext cx="93599" cy="136144"/>
          </a:xfrm>
          <a:prstGeom prst="rect">
            <a:avLst/>
          </a:prstGeom>
        </p:spPr>
      </p:pic>
      <p:pic>
        <p:nvPicPr>
          <p:cNvPr id="178" name="Picture 17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841056" y="4443349"/>
            <a:ext cx="93599" cy="136144"/>
          </a:xfrm>
          <a:prstGeom prst="rect">
            <a:avLst/>
          </a:prstGeom>
        </p:spPr>
      </p:pic>
      <p:pic>
        <p:nvPicPr>
          <p:cNvPr id="179" name="Picture 17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22996" y="5150097"/>
            <a:ext cx="93599" cy="136144"/>
          </a:xfrm>
          <a:prstGeom prst="rect">
            <a:avLst/>
          </a:prstGeom>
        </p:spPr>
      </p:pic>
      <p:pic>
        <p:nvPicPr>
          <p:cNvPr id="180" name="Picture 17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04936" y="4706361"/>
            <a:ext cx="93599" cy="136144"/>
          </a:xfrm>
          <a:prstGeom prst="rect">
            <a:avLst/>
          </a:prstGeom>
        </p:spPr>
      </p:pic>
      <p:pic>
        <p:nvPicPr>
          <p:cNvPr id="181" name="Picture 18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686876" y="4266413"/>
            <a:ext cx="93599" cy="136144"/>
          </a:xfrm>
          <a:prstGeom prst="rect">
            <a:avLst/>
          </a:prstGeom>
        </p:spPr>
      </p:pic>
      <p:pic>
        <p:nvPicPr>
          <p:cNvPr id="182" name="Picture 18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968816" y="5220743"/>
            <a:ext cx="93599" cy="136144"/>
          </a:xfrm>
          <a:prstGeom prst="rect">
            <a:avLst/>
          </a:prstGeom>
        </p:spPr>
      </p:pic>
      <p:pic>
        <p:nvPicPr>
          <p:cNvPr id="183" name="Picture 18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250755" y="4351979"/>
            <a:ext cx="93599" cy="136144"/>
          </a:xfrm>
          <a:prstGeom prst="rect">
            <a:avLst/>
          </a:prstGeom>
        </p:spPr>
      </p:pic>
      <p:pic>
        <p:nvPicPr>
          <p:cNvPr id="184" name="Picture 18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32696" y="5423179"/>
            <a:ext cx="93599" cy="136144"/>
          </a:xfrm>
          <a:prstGeom prst="rect">
            <a:avLst/>
          </a:prstGeom>
        </p:spPr>
      </p:pic>
      <p:pic>
        <p:nvPicPr>
          <p:cNvPr id="185" name="Picture 18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814635" y="4724712"/>
            <a:ext cx="93599" cy="136144"/>
          </a:xfrm>
          <a:prstGeom prst="rect">
            <a:avLst/>
          </a:prstGeom>
        </p:spPr>
      </p:pic>
      <p:pic>
        <p:nvPicPr>
          <p:cNvPr id="186" name="Picture 18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096576" y="4573163"/>
            <a:ext cx="93599" cy="136144"/>
          </a:xfrm>
          <a:prstGeom prst="rect">
            <a:avLst/>
          </a:prstGeom>
        </p:spPr>
      </p:pic>
      <p:pic>
        <p:nvPicPr>
          <p:cNvPr id="187" name="Picture 18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378516" y="4412065"/>
            <a:ext cx="93599" cy="136144"/>
          </a:xfrm>
          <a:prstGeom prst="rect">
            <a:avLst/>
          </a:prstGeom>
        </p:spPr>
      </p:pic>
      <p:pic>
        <p:nvPicPr>
          <p:cNvPr id="188" name="Picture 18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60456" y="5199294"/>
            <a:ext cx="93599" cy="136144"/>
          </a:xfrm>
          <a:prstGeom prst="rect">
            <a:avLst/>
          </a:prstGeom>
        </p:spPr>
      </p:pic>
      <p:pic>
        <p:nvPicPr>
          <p:cNvPr id="189" name="Picture 18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942396" y="4944413"/>
            <a:ext cx="93599" cy="136144"/>
          </a:xfrm>
          <a:prstGeom prst="rect">
            <a:avLst/>
          </a:prstGeom>
        </p:spPr>
      </p:pic>
      <p:pic>
        <p:nvPicPr>
          <p:cNvPr id="190" name="Picture 18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224336" y="4516171"/>
            <a:ext cx="93599" cy="136144"/>
          </a:xfrm>
          <a:prstGeom prst="rect">
            <a:avLst/>
          </a:prstGeom>
        </p:spPr>
      </p:pic>
      <p:pic>
        <p:nvPicPr>
          <p:cNvPr id="191" name="Picture 19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506276" y="4400163"/>
            <a:ext cx="93599" cy="136144"/>
          </a:xfrm>
          <a:prstGeom prst="rect">
            <a:avLst/>
          </a:prstGeom>
        </p:spPr>
      </p:pic>
      <p:pic>
        <p:nvPicPr>
          <p:cNvPr id="192" name="Picture 19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788216" y="5123791"/>
            <a:ext cx="93599" cy="136144"/>
          </a:xfrm>
          <a:prstGeom prst="rect">
            <a:avLst/>
          </a:prstGeom>
        </p:spPr>
      </p:pic>
      <p:pic>
        <p:nvPicPr>
          <p:cNvPr id="193" name="Picture 19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70156" y="4442613"/>
            <a:ext cx="93599" cy="136144"/>
          </a:xfrm>
          <a:prstGeom prst="rect">
            <a:avLst/>
          </a:prstGeom>
        </p:spPr>
      </p:pic>
      <p:pic>
        <p:nvPicPr>
          <p:cNvPr id="194" name="Picture 19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352095" y="4973812"/>
            <a:ext cx="93599" cy="136144"/>
          </a:xfrm>
          <a:prstGeom prst="rect">
            <a:avLst/>
          </a:prstGeom>
        </p:spPr>
      </p:pic>
      <p:pic>
        <p:nvPicPr>
          <p:cNvPr id="195" name="Picture 19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634036" y="4276589"/>
            <a:ext cx="93599" cy="136144"/>
          </a:xfrm>
          <a:prstGeom prst="rect">
            <a:avLst/>
          </a:prstGeom>
        </p:spPr>
      </p:pic>
      <p:pic>
        <p:nvPicPr>
          <p:cNvPr id="196" name="Picture 19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15976" y="4681328"/>
            <a:ext cx="93599" cy="136144"/>
          </a:xfrm>
          <a:prstGeom prst="rect">
            <a:avLst/>
          </a:prstGeom>
        </p:spPr>
      </p:pic>
      <p:pic>
        <p:nvPicPr>
          <p:cNvPr id="197" name="Picture 19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97916" y="5001566"/>
            <a:ext cx="93599" cy="136144"/>
          </a:xfrm>
          <a:prstGeom prst="rect">
            <a:avLst/>
          </a:prstGeom>
        </p:spPr>
      </p:pic>
      <p:pic>
        <p:nvPicPr>
          <p:cNvPr id="198" name="Picture 19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479856" y="4298682"/>
            <a:ext cx="93599" cy="136144"/>
          </a:xfrm>
          <a:prstGeom prst="rect">
            <a:avLst/>
          </a:prstGeom>
        </p:spPr>
      </p:pic>
      <p:sp>
        <p:nvSpPr>
          <p:cNvPr id="199" name="TextBox 198"/>
          <p:cNvSpPr txBox="1"/>
          <p:nvPr/>
        </p:nvSpPr>
        <p:spPr>
          <a:xfrm>
            <a:off x="8048625" y="1471995"/>
            <a:ext cx="379178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Average selling price is derived as Value ÷ Volume; 'Ear &amp; Eye</a:t>
            </a:r>
          </a:p>
        </p:txBody>
      </p:sp>
      <p:sp>
        <p:nvSpPr>
          <p:cNvPr id="200" name="TextBox 199"/>
          <p:cNvSpPr txBox="1"/>
          <p:nvPr/>
        </p:nvSpPr>
        <p:spPr>
          <a:xfrm>
            <a:off x="8048625" y="1647255"/>
            <a:ext cx="381502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Hygiene Products' commands the highest product type price at</a:t>
            </a:r>
          </a:p>
        </p:txBody>
      </p:sp>
      <p:pic>
        <p:nvPicPr>
          <p:cNvPr id="201" name="Picture 20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034545" y="1812291"/>
            <a:ext cx="134549" cy="195707"/>
          </a:xfrm>
          <a:prstGeom prst="rect">
            <a:avLst/>
          </a:prstGeom>
        </p:spPr>
      </p:pic>
      <p:sp>
        <p:nvSpPr>
          <p:cNvPr id="202" name="TextBox 201"/>
          <p:cNvSpPr txBox="1"/>
          <p:nvPr/>
        </p:nvSpPr>
        <p:spPr>
          <a:xfrm>
            <a:off x="8209654" y="1822515"/>
            <a:ext cx="107401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US$/MT in 2036.</a:t>
            </a:r>
          </a:p>
        </p:txBody>
      </p:sp>
      <p:sp>
        <p:nvSpPr>
          <p:cNvPr id="203" name="TextBox 202"/>
          <p:cNvSpPr txBox="1"/>
          <p:nvPr/>
        </p:nvSpPr>
        <p:spPr>
          <a:xfrm>
            <a:off x="8048625" y="2050353"/>
            <a:ext cx="375968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'Fragrance &amp; Deodorizing Products' shows the steepest price</a:t>
            </a:r>
          </a:p>
        </p:txBody>
      </p:sp>
      <p:sp>
        <p:nvSpPr>
          <p:cNvPr id="204" name="TextBox 203"/>
          <p:cNvSpPr txBox="1"/>
          <p:nvPr/>
        </p:nvSpPr>
        <p:spPr>
          <a:xfrm>
            <a:off x="8048625" y="2225613"/>
            <a:ext cx="153955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uplift over 2026–2036 (+</a:t>
            </a:r>
          </a:p>
        </p:txBody>
      </p:sp>
      <p:pic>
        <p:nvPicPr>
          <p:cNvPr id="205" name="Picture 20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537331" y="2215389"/>
            <a:ext cx="134549" cy="195707"/>
          </a:xfrm>
          <a:prstGeom prst="rect">
            <a:avLst/>
          </a:prstGeom>
        </p:spPr>
      </p:pic>
      <p:sp>
        <p:nvSpPr>
          <p:cNvPr id="206" name="TextBox 205"/>
          <p:cNvSpPr txBox="1"/>
          <p:nvPr/>
        </p:nvSpPr>
        <p:spPr>
          <a:xfrm>
            <a:off x="9712440" y="2225613"/>
            <a:ext cx="1572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207" name="TextBox 206"/>
          <p:cNvSpPr txBox="1"/>
          <p:nvPr/>
        </p:nvSpPr>
        <p:spPr>
          <a:xfrm>
            <a:off x="8048625" y="2453451"/>
            <a:ext cx="177602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Against the europe price of</a:t>
            </a:r>
          </a:p>
        </p:txBody>
      </p:sp>
      <p:pic>
        <p:nvPicPr>
          <p:cNvPr id="208" name="Picture 20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773806" y="2443227"/>
            <a:ext cx="134549" cy="195707"/>
          </a:xfrm>
          <a:prstGeom prst="rect">
            <a:avLst/>
          </a:prstGeom>
        </p:spPr>
      </p:pic>
      <p:sp>
        <p:nvSpPr>
          <p:cNvPr id="209" name="TextBox 208"/>
          <p:cNvSpPr txBox="1"/>
          <p:nvPr/>
        </p:nvSpPr>
        <p:spPr>
          <a:xfrm>
            <a:off x="9948916" y="2453451"/>
            <a:ext cx="170699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US$/MT, 15 of 25 countries</a:t>
            </a:r>
          </a:p>
        </p:txBody>
      </p:sp>
      <p:sp>
        <p:nvSpPr>
          <p:cNvPr id="210" name="TextBox 209"/>
          <p:cNvSpPr txBox="1"/>
          <p:nvPr/>
        </p:nvSpPr>
        <p:spPr>
          <a:xfrm>
            <a:off x="8048625" y="2628711"/>
            <a:ext cx="163996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price above and 10 below.</a:t>
            </a:r>
          </a:p>
        </p:txBody>
      </p:sp>
      <p:sp>
        <p:nvSpPr>
          <p:cNvPr id="211" name="TextBox 210"/>
          <p:cNvSpPr txBox="1"/>
          <p:nvPr/>
        </p:nvSpPr>
        <p:spPr>
          <a:xfrm>
            <a:off x="8048625" y="2856548"/>
            <a:ext cx="172040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'France' is the dearest at +</a:t>
            </a:r>
          </a:p>
        </p:txBody>
      </p:sp>
      <p:pic>
        <p:nvPicPr>
          <p:cNvPr id="212" name="Picture 21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718182" y="2846325"/>
            <a:ext cx="134549" cy="195707"/>
          </a:xfrm>
          <a:prstGeom prst="rect">
            <a:avLst/>
          </a:prstGeom>
        </p:spPr>
      </p:pic>
      <p:sp>
        <p:nvSpPr>
          <p:cNvPr id="213" name="TextBox 212"/>
          <p:cNvSpPr txBox="1"/>
          <p:nvPr/>
        </p:nvSpPr>
        <p:spPr>
          <a:xfrm>
            <a:off x="9893291" y="2856548"/>
            <a:ext cx="17814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versus Europe, 'Hungary' the</a:t>
            </a:r>
          </a:p>
        </p:txBody>
      </p:sp>
      <p:sp>
        <p:nvSpPr>
          <p:cNvPr id="214" name="TextBox 213"/>
          <p:cNvSpPr txBox="1"/>
          <p:nvPr/>
        </p:nvSpPr>
        <p:spPr>
          <a:xfrm>
            <a:off x="8048625" y="3031808"/>
            <a:ext cx="84296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cheapest at -</a:t>
            </a:r>
          </a:p>
        </p:txBody>
      </p:sp>
      <p:pic>
        <p:nvPicPr>
          <p:cNvPr id="215" name="Picture 2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840741" y="3021585"/>
            <a:ext cx="134549" cy="195707"/>
          </a:xfrm>
          <a:prstGeom prst="rect">
            <a:avLst/>
          </a:prstGeom>
        </p:spPr>
      </p:pic>
      <p:sp>
        <p:nvSpPr>
          <p:cNvPr id="216" name="TextBox 215"/>
          <p:cNvSpPr txBox="1"/>
          <p:nvPr/>
        </p:nvSpPr>
        <p:spPr>
          <a:xfrm>
            <a:off x="9015850" y="3031808"/>
            <a:ext cx="272820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pointing to premiumisation headroom in the</a:t>
            </a:r>
          </a:p>
        </p:txBody>
      </p:sp>
      <p:sp>
        <p:nvSpPr>
          <p:cNvPr id="217" name="TextBox 216"/>
          <p:cNvSpPr txBox="1"/>
          <p:nvPr/>
        </p:nvSpPr>
        <p:spPr>
          <a:xfrm>
            <a:off x="8048625" y="3207068"/>
            <a:ext cx="145854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lower-priced countries.</a:t>
            </a:r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Summary, By Value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Europe market value growth, incremental opportunity and the geographies driving it,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025515"/>
            <a:ext cx="2876550" cy="511104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2026 MARKET SIZE (US$ MN)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3143250" y="1025515"/>
            <a:ext cx="2876550" cy="511104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2036 MARKET SIZE (US$ MN)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3" name="Rounded Rectangle 12"/>
          <p:cNvSpPr/>
          <p:nvPr/>
        </p:nvSpPr>
        <p:spPr>
          <a:xfrm>
            <a:off x="6153150" y="1025515"/>
            <a:ext cx="2876550" cy="511104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CAGR 2021–2025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9163050" y="1025515"/>
            <a:ext cx="2876550" cy="511104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CAGR 2026–2036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1627887"/>
            <a:ext cx="7696200" cy="2354727"/>
          </a:xfrm>
          <a:prstGeom prst="roundRect">
            <a:avLst>
              <a:gd name="adj" fmla="val 32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1685037"/>
            <a:ext cx="7505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CAGR (2021–2036)</a:t>
            </a:r>
          </a:p>
        </p:txBody>
      </p:sp>
      <p:graphicFrame>
        <p:nvGraphicFramePr>
          <p:cNvPr id="17" name="Chart 16"/>
          <p:cNvGraphicFramePr>
            <a:graphicFrameLocks noGrp="1"/>
          </p:cNvGraphicFramePr>
          <p:nvPr/>
        </p:nvGraphicFramePr>
        <p:xfrm>
          <a:off x="238125" y="1913637"/>
          <a:ext cx="7505700" cy="2011827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8" name="Rounded Rectangle 17"/>
          <p:cNvSpPr/>
          <p:nvPr/>
        </p:nvSpPr>
        <p:spPr>
          <a:xfrm>
            <a:off x="142875" y="4037375"/>
            <a:ext cx="7696200" cy="2519010"/>
          </a:xfrm>
          <a:prstGeom prst="roundRect">
            <a:avLst>
              <a:gd name="adj" fmla="val 302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38125" y="4094525"/>
            <a:ext cx="7505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Incremental Market Addition (US$ Mn)</a:t>
            </a:r>
          </a:p>
        </p:txBody>
      </p:sp>
      <p:graphicFrame>
        <p:nvGraphicFramePr>
          <p:cNvPr id="20" name="Chart 19"/>
          <p:cNvGraphicFramePr>
            <a:graphicFrameLocks noGrp="1"/>
          </p:cNvGraphicFramePr>
          <p:nvPr/>
        </p:nvGraphicFramePr>
        <p:xfrm>
          <a:off x="238125" y="4323125"/>
          <a:ext cx="7505700" cy="217611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1" name="Rounded Rectangle 20"/>
          <p:cNvSpPr/>
          <p:nvPr/>
        </p:nvSpPr>
        <p:spPr>
          <a:xfrm>
            <a:off x="7915275" y="1627887"/>
            <a:ext cx="4133850" cy="2354727"/>
          </a:xfrm>
          <a:prstGeom prst="roundRect">
            <a:avLst>
              <a:gd name="adj" fmla="val 32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8048625" y="1713612"/>
            <a:ext cx="38671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Insights</a:t>
            </a:r>
          </a:p>
        </p:txBody>
      </p:sp>
      <p:sp>
        <p:nvSpPr>
          <p:cNvPr id="23" name="Rectangle 22"/>
          <p:cNvSpPr/>
          <p:nvPr/>
        </p:nvSpPr>
        <p:spPr>
          <a:xfrm>
            <a:off x="8048625" y="1951737"/>
            <a:ext cx="38671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8048625" y="2037462"/>
            <a:ext cx="3867150" cy="1868952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5" name="Rounded Rectangle 24"/>
          <p:cNvSpPr/>
          <p:nvPr/>
        </p:nvSpPr>
        <p:spPr>
          <a:xfrm>
            <a:off x="7915275" y="4037375"/>
            <a:ext cx="4133850" cy="2519010"/>
          </a:xfrm>
          <a:prstGeom prst="roundRect">
            <a:avLst>
              <a:gd name="adj" fmla="val 302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8048625" y="4123100"/>
            <a:ext cx="38671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Growth Drivers</a:t>
            </a:r>
          </a:p>
        </p:txBody>
      </p:sp>
      <p:sp>
        <p:nvSpPr>
          <p:cNvPr id="27" name="Rectangle 26"/>
          <p:cNvSpPr/>
          <p:nvPr/>
        </p:nvSpPr>
        <p:spPr>
          <a:xfrm>
            <a:off x="8048625" y="4361225"/>
            <a:ext cx="38671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8048625" y="4446950"/>
            <a:ext cx="3867150" cy="203323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502569" y="1250587"/>
            <a:ext cx="157162" cy="228600"/>
          </a:xfrm>
          <a:prstGeom prst="rect">
            <a:avLst/>
          </a:prstGeom>
        </p:spPr>
      </p:pic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502944" y="1250587"/>
            <a:ext cx="157162" cy="228600"/>
          </a:xfrm>
          <a:prstGeom prst="rect">
            <a:avLst/>
          </a:prstGeom>
        </p:spPr>
      </p:pic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512844" y="1250587"/>
            <a:ext cx="157162" cy="228600"/>
          </a:xfrm>
          <a:prstGeom prst="rect">
            <a:avLst/>
          </a:prstGeom>
        </p:spPr>
      </p:pic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522744" y="1250587"/>
            <a:ext cx="157162" cy="228600"/>
          </a:xfrm>
          <a:prstGeom prst="rect">
            <a:avLst/>
          </a:prstGeom>
        </p:spPr>
      </p:pic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991062" y="5157531"/>
            <a:ext cx="289830" cy="421571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8048625" y="2046987"/>
            <a:ext cx="138408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The market grows at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381868" y="2036763"/>
            <a:ext cx="134549" cy="195707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9556977" y="2046987"/>
            <a:ext cx="21482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(2021–2026), accelerating to</a:t>
            </a:r>
          </a:p>
        </p:txBody>
      </p:sp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034545" y="2212023"/>
            <a:ext cx="134549" cy="195707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8209654" y="2222247"/>
            <a:ext cx="58566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by 2036.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8048625" y="2450085"/>
            <a:ext cx="13855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Incremental value of</a:t>
            </a:r>
          </a:p>
        </p:txBody>
      </p:sp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383294" y="2439861"/>
            <a:ext cx="134549" cy="195707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9558403" y="2450085"/>
            <a:ext cx="222016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is added between 2021 and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8048625" y="2625345"/>
            <a:ext cx="40966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2026.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8048625" y="2853182"/>
            <a:ext cx="70033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 further</a:t>
            </a:r>
          </a:p>
        </p:txBody>
      </p:sp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698114" y="2842959"/>
            <a:ext cx="134549" cy="195707"/>
          </a:xfrm>
          <a:prstGeom prst="rect">
            <a:avLst/>
          </a:prstGeom>
        </p:spPr>
      </p:pic>
      <p:sp>
        <p:nvSpPr>
          <p:cNvPr id="46" name="TextBox 45"/>
          <p:cNvSpPr txBox="1"/>
          <p:nvPr/>
        </p:nvSpPr>
        <p:spPr>
          <a:xfrm>
            <a:off x="8873223" y="2853182"/>
            <a:ext cx="26625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is added 2026–2036 more than the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8048625" y="3028442"/>
            <a:ext cx="104492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previous period.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8048625" y="3256280"/>
            <a:ext cx="16008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incremental value: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598661" y="3246057"/>
            <a:ext cx="134549" cy="195707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9773770" y="3256280"/>
            <a:ext cx="168446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over 2021–2036, a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407385" y="3246057"/>
            <a:ext cx="134549" cy="195707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11582495" y="3256280"/>
            <a:ext cx="14893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×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8048625" y="3431540"/>
            <a:ext cx="7168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expansion.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8048625" y="4456475"/>
            <a:ext cx="325392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'Other European Countries' leads regional growth at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251707" y="4446251"/>
            <a:ext cx="134549" cy="195707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8048625" y="4631734"/>
            <a:ext cx="44672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CAGR.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8048625" y="4859572"/>
            <a:ext cx="362276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Demand concentrates in 'Shampoos &amp; Cleansing Products'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8048625" y="5034832"/>
            <a:ext cx="130849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within Product Type.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8048625" y="5262670"/>
            <a:ext cx="329129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Product innovation and premiumisation lifting value.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8048625" y="5490508"/>
            <a:ext cx="274132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Expanding end-use applications and access.</a:t>
            </a:r>
          </a:p>
        </p:txBody>
      </p:sp>
      <p:sp>
        <p:nvSpPr>
          <p:cNvPr id="61" name="lockshield_17"/>
          <p:cNvSpPr/>
          <p:nvPr/>
        </p:nvSpPr>
        <p:spPr>
          <a:xfrm>
            <a:off x="238125" y="1913637"/>
            <a:ext cx="7505700" cy="2011827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lockshield_20"/>
          <p:cNvSpPr/>
          <p:nvPr/>
        </p:nvSpPr>
        <p:spPr>
          <a:xfrm>
            <a:off x="238125" y="4323125"/>
            <a:ext cx="7505700" cy="217611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Volume &amp; Value Analysis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volume and value growth of the Europe market and the incremental $ opportunity it creates,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4695825" cy="2571750"/>
          </a:xfrm>
          <a:prstGeom prst="roundRect">
            <a:avLst>
              <a:gd name="adj" fmla="val 29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45053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Market, 2021–2025 (Historical)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4505325" cy="222885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4991100" y="981075"/>
            <a:ext cx="7048500" cy="2571750"/>
          </a:xfrm>
          <a:prstGeom prst="roundRect">
            <a:avLst>
              <a:gd name="adj" fmla="val 29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5086350" y="1038225"/>
            <a:ext cx="6858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Market, 2026–2036 (Forecast)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5086350" y="1266825"/>
          <a:ext cx="6858000" cy="222885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3686175"/>
            <a:ext cx="2514600" cy="73342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VALUE CAGR 2021–2025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2809875" y="3686175"/>
            <a:ext cx="2514600" cy="73342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VALUE CAGR 2026–2036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5476875" y="3686175"/>
            <a:ext cx="3200400" cy="73342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INCREMENTAL $ OPPORTUNITY 2026–2031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8829675" y="3686175"/>
            <a:ext cx="3200400" cy="73342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INCREMENTAL $ OPPORTUNITY 2026–2036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21" name="Rounded Rectangle 20"/>
          <p:cNvSpPr/>
          <p:nvPr/>
        </p:nvSpPr>
        <p:spPr>
          <a:xfrm>
            <a:off x="142875" y="4552950"/>
            <a:ext cx="11906250" cy="2057400"/>
          </a:xfrm>
          <a:prstGeom prst="roundRect">
            <a:avLst>
              <a:gd name="adj" fmla="val 370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276225" y="463867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Volume &amp; Value Analysis</a:t>
            </a:r>
          </a:p>
        </p:txBody>
      </p:sp>
      <p:sp>
        <p:nvSpPr>
          <p:cNvPr id="23" name="Rectangle 22"/>
          <p:cNvSpPr/>
          <p:nvPr/>
        </p:nvSpPr>
        <p:spPr>
          <a:xfrm>
            <a:off x="276225" y="487680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276225" y="4962525"/>
            <a:ext cx="11639550" cy="15716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533894" y="2050946"/>
            <a:ext cx="205327" cy="298657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530846" y="2011501"/>
            <a:ext cx="259564" cy="377547"/>
          </a:xfrm>
          <a:prstGeom prst="rect">
            <a:avLst/>
          </a:prstGeom>
        </p:spPr>
      </p:pic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321594" y="4022407"/>
            <a:ext cx="157162" cy="228600"/>
          </a:xfrm>
          <a:prstGeom prst="rect">
            <a:avLst/>
          </a:prstGeom>
        </p:spPr>
      </p:pic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988594" y="4022407"/>
            <a:ext cx="157162" cy="228600"/>
          </a:xfrm>
          <a:prstGeom prst="rect">
            <a:avLst/>
          </a:prstGeom>
        </p:spPr>
      </p:pic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998494" y="4022407"/>
            <a:ext cx="157162" cy="228600"/>
          </a:xfrm>
          <a:prstGeom prst="rect">
            <a:avLst/>
          </a:prstGeom>
        </p:spPr>
      </p:pic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351294" y="4022407"/>
            <a:ext cx="157162" cy="228600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276225" y="4972050"/>
            <a:ext cx="13455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Value expands from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570958" y="4961826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1746068" y="4972050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897504" y="4961826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2072613" y="4972050"/>
            <a:ext cx="105176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by 2036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73535" y="4961826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3248645" y="4972050"/>
            <a:ext cx="15238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CAGR, accelerating from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721644" y="4961826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4896754" y="4972050"/>
            <a:ext cx="92254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 2021–2025.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276225" y="5199888"/>
            <a:ext cx="124773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Volume rises from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473116" y="5189664"/>
            <a:ext cx="134549" cy="195707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1648226" y="5199888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799662" y="5189664"/>
            <a:ext cx="134549" cy="195707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1974771" y="5199888"/>
            <a:ext cx="165393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over the same decade.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276225" y="5427725"/>
            <a:ext cx="8883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Value grows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13696" y="5417502"/>
            <a:ext cx="134549" cy="195707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1288806" y="5427725"/>
            <a:ext cx="307277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of CAGR faster than volume firming price/mix.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276225" y="5655563"/>
            <a:ext cx="167533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The forecast decade adds</a:t>
            </a:r>
          </a:p>
        </p:txBody>
      </p:sp>
      <p:pic>
        <p:nvPicPr>
          <p:cNvPr id="50" name="Picture 49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900712" y="5645340"/>
            <a:ext cx="134549" cy="195707"/>
          </a:xfrm>
          <a:prstGeom prst="rect">
            <a:avLst/>
          </a:prstGeom>
        </p:spPr>
      </p:pic>
      <p:sp>
        <p:nvSpPr>
          <p:cNvPr id="51" name="TextBox 50"/>
          <p:cNvSpPr txBox="1"/>
          <p:nvPr/>
        </p:nvSpPr>
        <p:spPr>
          <a:xfrm>
            <a:off x="2075821" y="5655563"/>
            <a:ext cx="226894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of incremental opportunity (</a:t>
            </a:r>
          </a:p>
        </p:txBody>
      </p:sp>
      <p:pic>
        <p:nvPicPr>
          <p:cNvPr id="52" name="Picture 51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293922" y="5645340"/>
            <a:ext cx="134549" cy="195707"/>
          </a:xfrm>
          <a:prstGeom prst="rect">
            <a:avLst/>
          </a:prstGeom>
        </p:spPr>
      </p:pic>
      <p:sp>
        <p:nvSpPr>
          <p:cNvPr id="53" name="TextBox 52"/>
          <p:cNvSpPr txBox="1"/>
          <p:nvPr/>
        </p:nvSpPr>
        <p:spPr>
          <a:xfrm>
            <a:off x="4469031" y="5655563"/>
            <a:ext cx="25165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 the first five years) the market reaches</a:t>
            </a:r>
          </a:p>
        </p:txBody>
      </p:sp>
      <p:pic>
        <p:nvPicPr>
          <p:cNvPr id="54" name="Picture 53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934732" y="5645340"/>
            <a:ext cx="134549" cy="195707"/>
          </a:xfrm>
          <a:prstGeom prst="rect">
            <a:avLst/>
          </a:prstGeom>
        </p:spPr>
      </p:pic>
      <p:sp>
        <p:nvSpPr>
          <p:cNvPr id="55" name="TextBox 54"/>
          <p:cNvSpPr txBox="1"/>
          <p:nvPr/>
        </p:nvSpPr>
        <p:spPr>
          <a:xfrm>
            <a:off x="7109841" y="5655563"/>
            <a:ext cx="104035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× its 2026 value.</a:t>
            </a:r>
          </a:p>
        </p:txBody>
      </p:sp>
      <p:sp>
        <p:nvSpPr>
          <p:cNvPr id="56" name="lockshield_13"/>
          <p:cNvSpPr/>
          <p:nvPr/>
        </p:nvSpPr>
        <p:spPr>
          <a:xfrm>
            <a:off x="238125" y="1266825"/>
            <a:ext cx="4505325" cy="222885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lockshield_16"/>
          <p:cNvSpPr/>
          <p:nvPr/>
        </p:nvSpPr>
        <p:spPr>
          <a:xfrm>
            <a:off x="5086350" y="1266825"/>
            <a:ext cx="6858000" cy="222885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Summary Country Indices (Value)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Country outlook ranking 2036 market size, growth and absolute-growth indices to highlight the strongest markets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3933825" cy="2445995"/>
          </a:xfrm>
          <a:prstGeom prst="roundRect">
            <a:avLst>
              <a:gd name="adj" fmla="val 311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64411"/>
            <a:ext cx="37433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Top 10 Countries By CAGR Index</a:t>
            </a:r>
          </a:p>
        </p:txBody>
      </p:sp>
      <p:graphicFrame>
        <p:nvGraphicFramePr>
          <p:cNvPr id="12" name="Chart 11"/>
          <p:cNvGraphicFramePr>
            <a:graphicFrameLocks noGrp="1"/>
          </p:cNvGraphicFramePr>
          <p:nvPr/>
        </p:nvGraphicFramePr>
        <p:xfrm>
          <a:off x="238125" y="1293011"/>
          <a:ext cx="3743325" cy="210309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3" name="Rounded Rectangle 12"/>
          <p:cNvSpPr/>
          <p:nvPr/>
        </p:nvSpPr>
        <p:spPr>
          <a:xfrm>
            <a:off x="142875" y="3489764"/>
            <a:ext cx="3933825" cy="2436869"/>
          </a:xfrm>
          <a:prstGeom prst="roundRect">
            <a:avLst>
              <a:gd name="adj" fmla="val 312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graphicFrame>
        <p:nvGraphicFramePr>
          <p:cNvPr id="14" name="Table 13"/>
          <p:cNvGraphicFramePr>
            <a:graphicFrameLocks noGrp="1"/>
          </p:cNvGraphicFramePr>
          <p:nvPr/>
        </p:nvGraphicFramePr>
        <p:xfrm>
          <a:off x="152400" y="3565964"/>
          <a:ext cx="3914775" cy="213206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679400"/>
                <a:gridCol w="747565"/>
                <a:gridCol w="534515"/>
                <a:gridCol w="953295"/>
              </a:tblGrid>
              <a:tr h="43891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Country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 Index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$ Opp (US$ Mn)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33863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European Countries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33863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Sweden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33863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Romania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33863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Netherlands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33863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Malta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5" name="TextBox 14"/>
          <p:cNvSpPr txBox="1"/>
          <p:nvPr/>
        </p:nvSpPr>
        <p:spPr>
          <a:xfrm>
            <a:off x="219075" y="5707558"/>
            <a:ext cx="37814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6" name="Rounded Rectangle 15"/>
          <p:cNvSpPr/>
          <p:nvPr/>
        </p:nvSpPr>
        <p:spPr>
          <a:xfrm>
            <a:off x="4114800" y="1007261"/>
            <a:ext cx="3933825" cy="4928498"/>
          </a:xfrm>
          <a:prstGeom prst="roundRect">
            <a:avLst>
              <a:gd name="adj" fmla="val 193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4210050" y="1064411"/>
            <a:ext cx="37433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2036 Market By Country (US$ Mn)  ·  Top 10</a:t>
            </a:r>
          </a:p>
        </p:txBody>
      </p:sp>
      <p:sp>
        <p:nvSpPr>
          <p:cNvPr id="18" name="Rectangle 17"/>
          <p:cNvSpPr/>
          <p:nvPr/>
        </p:nvSpPr>
        <p:spPr>
          <a:xfrm>
            <a:off x="4210050" y="1293011"/>
            <a:ext cx="1900499" cy="1814588"/>
          </a:xfrm>
          <a:prstGeom prst="rect">
            <a:avLst/>
          </a:prstGeom>
          <a:solidFill>
            <a:srgbClr val="3D85C6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Germany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19" name="Rectangle 18"/>
          <p:cNvSpPr/>
          <p:nvPr/>
        </p:nvSpPr>
        <p:spPr>
          <a:xfrm>
            <a:off x="6110549" y="1293011"/>
            <a:ext cx="1842826" cy="1814588"/>
          </a:xfrm>
          <a:prstGeom prst="rect">
            <a:avLst/>
          </a:prstGeom>
          <a:solidFill>
            <a:srgbClr val="9E7E0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United Kingdom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0" name="Rectangle 19"/>
          <p:cNvSpPr/>
          <p:nvPr/>
        </p:nvSpPr>
        <p:spPr>
          <a:xfrm>
            <a:off x="4210050" y="3107599"/>
            <a:ext cx="1795092" cy="1594947"/>
          </a:xfrm>
          <a:prstGeom prst="rect">
            <a:avLst/>
          </a:prstGeom>
          <a:solidFill>
            <a:srgbClr val="008189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France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1" name="Rectangle 20"/>
          <p:cNvSpPr/>
          <p:nvPr/>
        </p:nvSpPr>
        <p:spPr>
          <a:xfrm>
            <a:off x="4210050" y="4702546"/>
            <a:ext cx="1795092" cy="1176063"/>
          </a:xfrm>
          <a:prstGeom prst="rect">
            <a:avLst/>
          </a:prstGeom>
          <a:solidFill>
            <a:srgbClr val="40315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Italy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2" name="Rectangle 21"/>
          <p:cNvSpPr/>
          <p:nvPr/>
        </p:nvSpPr>
        <p:spPr>
          <a:xfrm>
            <a:off x="6005142" y="3107599"/>
            <a:ext cx="1177899" cy="1320628"/>
          </a:xfrm>
          <a:prstGeom prst="rect">
            <a:avLst/>
          </a:prstGeom>
          <a:solidFill>
            <a:srgbClr val="A35313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Spain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3" name="Rectangle 22"/>
          <p:cNvSpPr/>
          <p:nvPr/>
        </p:nvSpPr>
        <p:spPr>
          <a:xfrm>
            <a:off x="7183041" y="3107599"/>
            <a:ext cx="770334" cy="1320628"/>
          </a:xfrm>
          <a:prstGeom prst="rect">
            <a:avLst/>
          </a:prstGeom>
          <a:solidFill>
            <a:srgbClr val="808080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Netherlands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4" name="Rectangle 23"/>
          <p:cNvSpPr/>
          <p:nvPr/>
        </p:nvSpPr>
        <p:spPr>
          <a:xfrm>
            <a:off x="6005142" y="4428227"/>
            <a:ext cx="1113259" cy="764689"/>
          </a:xfrm>
          <a:prstGeom prst="rect">
            <a:avLst/>
          </a:prstGeom>
          <a:solidFill>
            <a:srgbClr val="0E72A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Poland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5" name="Rectangle 24"/>
          <p:cNvSpPr/>
          <p:nvPr/>
        </p:nvSpPr>
        <p:spPr>
          <a:xfrm>
            <a:off x="6005142" y="5192916"/>
            <a:ext cx="1113259" cy="685693"/>
          </a:xfrm>
          <a:prstGeom prst="rect">
            <a:avLst/>
          </a:prstGeom>
          <a:solidFill>
            <a:srgbClr val="A86F00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Other European Countries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6" name="Rectangle 25"/>
          <p:cNvSpPr/>
          <p:nvPr/>
        </p:nvSpPr>
        <p:spPr>
          <a:xfrm>
            <a:off x="7118401" y="4428227"/>
            <a:ext cx="834974" cy="806912"/>
          </a:xfrm>
          <a:prstGeom prst="rect">
            <a:avLst/>
          </a:prstGeom>
          <a:solidFill>
            <a:srgbClr val="0B2E4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Sweden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7" name="Rectangle 26"/>
          <p:cNvSpPr/>
          <p:nvPr/>
        </p:nvSpPr>
        <p:spPr>
          <a:xfrm>
            <a:off x="7118401" y="5235139"/>
            <a:ext cx="834974" cy="643470"/>
          </a:xfrm>
          <a:prstGeom prst="rect">
            <a:avLst/>
          </a:prstGeom>
          <a:solidFill>
            <a:srgbClr val="6C7A89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Austria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8" name="Rounded Rectangle 27"/>
          <p:cNvSpPr/>
          <p:nvPr/>
        </p:nvSpPr>
        <p:spPr>
          <a:xfrm>
            <a:off x="8086725" y="1007261"/>
            <a:ext cx="3933825" cy="2436869"/>
          </a:xfrm>
          <a:prstGeom prst="roundRect">
            <a:avLst>
              <a:gd name="adj" fmla="val 312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8181975" y="1064411"/>
            <a:ext cx="37433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Top 10 Countries By Absolute Index</a:t>
            </a:r>
          </a:p>
        </p:txBody>
      </p:sp>
      <p:graphicFrame>
        <p:nvGraphicFramePr>
          <p:cNvPr id="30" name="Chart 29"/>
          <p:cNvGraphicFramePr>
            <a:graphicFrameLocks noGrp="1"/>
          </p:cNvGraphicFramePr>
          <p:nvPr/>
        </p:nvGraphicFramePr>
        <p:xfrm>
          <a:off x="8181975" y="1293011"/>
          <a:ext cx="3743325" cy="2093969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31" name="Rounded Rectangle 30"/>
          <p:cNvSpPr/>
          <p:nvPr/>
        </p:nvSpPr>
        <p:spPr>
          <a:xfrm>
            <a:off x="8086725" y="3471510"/>
            <a:ext cx="3933825" cy="2464249"/>
          </a:xfrm>
          <a:prstGeom prst="roundRect">
            <a:avLst>
              <a:gd name="adj" fmla="val 309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graphicFrame>
        <p:nvGraphicFramePr>
          <p:cNvPr id="32" name="Table 31"/>
          <p:cNvGraphicFramePr>
            <a:graphicFrameLocks noGrp="1"/>
          </p:cNvGraphicFramePr>
          <p:nvPr/>
        </p:nvGraphicFramePr>
        <p:xfrm>
          <a:off x="8096250" y="3547710"/>
          <a:ext cx="3914774" cy="215945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141187"/>
                <a:gridCol w="1068685"/>
                <a:gridCol w="584430"/>
                <a:gridCol w="112047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Country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Absolute Index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$ Opp (US$ Mn)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38266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Germany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38266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United Kingdom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38266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France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38266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Italy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38266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Spain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33" name="TextBox 32"/>
          <p:cNvSpPr txBox="1"/>
          <p:nvPr/>
        </p:nvSpPr>
        <p:spPr>
          <a:xfrm>
            <a:off x="8162925" y="5716684"/>
            <a:ext cx="37814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142875" y="6027028"/>
            <a:ext cx="10858500" cy="602372"/>
          </a:xfrm>
          <a:prstGeom prst="roundRect">
            <a:avLst>
              <a:gd name="adj" fmla="val 126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188017" y="2125483"/>
            <a:ext cx="183356" cy="266700"/>
          </a:xfrm>
          <a:prstGeom prst="rect">
            <a:avLst/>
          </a:prstGeom>
        </p:spPr>
      </p:pic>
      <p:pic>
        <p:nvPicPr>
          <p:cNvPr id="37" name="Picture 36" descr="120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923563" y="4041476"/>
            <a:ext cx="564037" cy="265429"/>
          </a:xfrm>
          <a:prstGeom prst="rect">
            <a:avLst/>
          </a:prstGeom>
        </p:spPr>
      </p:pic>
      <p:pic>
        <p:nvPicPr>
          <p:cNvPr id="38" name="Picture 37" descr="7_3_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486396" y="4041476"/>
            <a:ext cx="720450" cy="265429"/>
          </a:xfrm>
          <a:prstGeom prst="rect">
            <a:avLst/>
          </a:prstGeom>
        </p:spPr>
      </p:pic>
      <p:pic>
        <p:nvPicPr>
          <p:cNvPr id="39" name="Picture 38" descr="104_0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3152094" y="4041476"/>
            <a:ext cx="876864" cy="265429"/>
          </a:xfrm>
          <a:prstGeom prst="rect">
            <a:avLst/>
          </a:prstGeom>
        </p:spPr>
      </p:pic>
      <p:pic>
        <p:nvPicPr>
          <p:cNvPr id="40" name="Picture 39" descr="116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1923563" y="4380107"/>
            <a:ext cx="564037" cy="265429"/>
          </a:xfrm>
          <a:prstGeom prst="rect">
            <a:avLst/>
          </a:prstGeom>
        </p:spPr>
      </p:pic>
      <p:pic>
        <p:nvPicPr>
          <p:cNvPr id="41" name="Picture 40" descr="7_1_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2486396" y="4380107"/>
            <a:ext cx="720450" cy="265429"/>
          </a:xfrm>
          <a:prstGeom prst="rect">
            <a:avLst/>
          </a:prstGeom>
        </p:spPr>
      </p:pic>
      <p:pic>
        <p:nvPicPr>
          <p:cNvPr id="42" name="Picture 41" descr="90_1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3230301" y="4380107"/>
            <a:ext cx="720450" cy="265429"/>
          </a:xfrm>
          <a:prstGeom prst="rect">
            <a:avLst/>
          </a:prstGeom>
        </p:spPr>
      </p:pic>
      <p:pic>
        <p:nvPicPr>
          <p:cNvPr id="43" name="Picture 42" descr="114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923563" y="4718738"/>
            <a:ext cx="564037" cy="265429"/>
          </a:xfrm>
          <a:prstGeom prst="rect">
            <a:avLst/>
          </a:prstGeom>
        </p:spPr>
      </p:pic>
      <p:pic>
        <p:nvPicPr>
          <p:cNvPr id="44" name="Picture 43" descr="6_9_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2486396" y="4718738"/>
            <a:ext cx="720450" cy="265429"/>
          </a:xfrm>
          <a:prstGeom prst="rect">
            <a:avLst/>
          </a:prstGeom>
        </p:spPr>
      </p:pic>
      <p:pic>
        <p:nvPicPr>
          <p:cNvPr id="45" name="Picture 44" descr="37_0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3230301" y="4718738"/>
            <a:ext cx="720450" cy="265429"/>
          </a:xfrm>
          <a:prstGeom prst="rect">
            <a:avLst/>
          </a:prstGeom>
        </p:spPr>
      </p:pic>
      <p:pic>
        <p:nvPicPr>
          <p:cNvPr id="46" name="Picture 45" descr="113_605E5C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1923563" y="5057369"/>
            <a:ext cx="564037" cy="265429"/>
          </a:xfrm>
          <a:prstGeom prst="rect">
            <a:avLst/>
          </a:prstGeom>
        </p:spPr>
      </p:pic>
      <p:pic>
        <p:nvPicPr>
          <p:cNvPr id="47" name="Picture 46" descr="6_9_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2486396" y="5057369"/>
            <a:ext cx="720450" cy="265429"/>
          </a:xfrm>
          <a:prstGeom prst="rect">
            <a:avLst/>
          </a:prstGeom>
        </p:spPr>
      </p:pic>
      <p:pic>
        <p:nvPicPr>
          <p:cNvPr id="48" name="Picture 47" descr="133_2_605E5C.png"/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3152094" y="5057369"/>
            <a:ext cx="876864" cy="265429"/>
          </a:xfrm>
          <a:prstGeom prst="rect">
            <a:avLst/>
          </a:prstGeom>
        </p:spPr>
      </p:pic>
      <p:pic>
        <p:nvPicPr>
          <p:cNvPr id="49" name="Picture 48" descr="111_605E5C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1923563" y="5396000"/>
            <a:ext cx="564037" cy="265429"/>
          </a:xfrm>
          <a:prstGeom prst="rect">
            <a:avLst/>
          </a:prstGeom>
        </p:spPr>
      </p:pic>
      <p:pic>
        <p:nvPicPr>
          <p:cNvPr id="50" name="Picture 49" descr="6_8__605E5C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2486396" y="5396000"/>
            <a:ext cx="720450" cy="265429"/>
          </a:xfrm>
          <a:prstGeom prst="rect">
            <a:avLst/>
          </a:prstGeom>
        </p:spPr>
      </p:pic>
      <p:pic>
        <p:nvPicPr>
          <p:cNvPr id="51" name="Picture 50" descr="12_3_605E5C.png"/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3230301" y="5396000"/>
            <a:ext cx="720450" cy="265429"/>
          </a:xfrm>
          <a:prstGeom prst="rect">
            <a:avLst/>
          </a:prstGeom>
        </p:spPr>
      </p:pic>
      <p:pic>
        <p:nvPicPr>
          <p:cNvPr id="52" name="Picture 51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781466" y="4611423"/>
            <a:ext cx="330041" cy="480060"/>
          </a:xfrm>
          <a:prstGeom prst="rect">
            <a:avLst/>
          </a:prstGeom>
        </p:spPr>
      </p:pic>
      <p:pic>
        <p:nvPicPr>
          <p:cNvPr id="53" name="Picture 5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102673" y="2200305"/>
            <a:ext cx="115252" cy="167639"/>
          </a:xfrm>
          <a:prstGeom prst="rect">
            <a:avLst/>
          </a:prstGeom>
        </p:spPr>
      </p:pic>
      <p:pic>
        <p:nvPicPr>
          <p:cNvPr id="54" name="Picture 53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974336" y="2200305"/>
            <a:ext cx="115252" cy="167639"/>
          </a:xfrm>
          <a:prstGeom prst="rect">
            <a:avLst/>
          </a:prstGeom>
        </p:spPr>
      </p:pic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049970" y="3905072"/>
            <a:ext cx="115252" cy="167639"/>
          </a:xfrm>
          <a:prstGeom prst="rect">
            <a:avLst/>
          </a:prstGeom>
        </p:spPr>
      </p:pic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049970" y="5290577"/>
            <a:ext cx="115252" cy="167639"/>
          </a:xfrm>
          <a:prstGeom prst="rect">
            <a:avLst/>
          </a:prstGeom>
        </p:spPr>
      </p:pic>
      <p:pic>
        <p:nvPicPr>
          <p:cNvPr id="57" name="Picture 5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536465" y="3767913"/>
            <a:ext cx="115252" cy="167639"/>
          </a:xfrm>
          <a:prstGeom prst="rect">
            <a:avLst/>
          </a:prstGeom>
        </p:spPr>
      </p:pic>
      <p:pic>
        <p:nvPicPr>
          <p:cNvPr id="58" name="Picture 5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510582" y="3767913"/>
            <a:ext cx="115252" cy="167639"/>
          </a:xfrm>
          <a:prstGeom prst="rect">
            <a:avLst/>
          </a:prstGeom>
        </p:spPr>
      </p:pic>
      <p:pic>
        <p:nvPicPr>
          <p:cNvPr id="59" name="Picture 5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504145" y="4810571"/>
            <a:ext cx="115252" cy="167639"/>
          </a:xfrm>
          <a:prstGeom prst="rect">
            <a:avLst/>
          </a:prstGeom>
        </p:spPr>
      </p:pic>
      <p:pic>
        <p:nvPicPr>
          <p:cNvPr id="60" name="Picture 59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504145" y="5535762"/>
            <a:ext cx="115252" cy="167639"/>
          </a:xfrm>
          <a:prstGeom prst="rect">
            <a:avLst/>
          </a:prstGeom>
        </p:spPr>
      </p:pic>
      <p:pic>
        <p:nvPicPr>
          <p:cNvPr id="61" name="Picture 6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478262" y="4831683"/>
            <a:ext cx="115252" cy="167639"/>
          </a:xfrm>
          <a:prstGeom prst="rect">
            <a:avLst/>
          </a:prstGeom>
        </p:spPr>
      </p:pic>
      <p:pic>
        <p:nvPicPr>
          <p:cNvPr id="62" name="Picture 61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478262" y="5556874"/>
            <a:ext cx="115252" cy="167639"/>
          </a:xfrm>
          <a:prstGeom prst="rect">
            <a:avLst/>
          </a:prstGeom>
        </p:spPr>
      </p:pic>
      <p:pic>
        <p:nvPicPr>
          <p:cNvPr id="63" name="Picture 6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131867" y="2120920"/>
            <a:ext cx="183356" cy="266700"/>
          </a:xfrm>
          <a:prstGeom prst="rect">
            <a:avLst/>
          </a:prstGeom>
        </p:spPr>
      </p:pic>
      <p:pic>
        <p:nvPicPr>
          <p:cNvPr id="64" name="Picture 63" descr="16_605E5C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9567967" y="3852453"/>
            <a:ext cx="407623" cy="265429"/>
          </a:xfrm>
          <a:prstGeom prst="rect">
            <a:avLst/>
          </a:prstGeom>
        </p:spPr>
      </p:pic>
      <p:pic>
        <p:nvPicPr>
          <p:cNvPr id="65" name="Picture 64" descr="5_9__605E5C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10238110" y="3852453"/>
            <a:ext cx="720450" cy="265429"/>
          </a:xfrm>
          <a:prstGeom prst="rect">
            <a:avLst/>
          </a:prstGeom>
        </p:spPr>
      </p:pic>
      <p:pic>
        <p:nvPicPr>
          <p:cNvPr id="66" name="Picture 65" descr="406_8_605E5C.png"/>
          <p:cNvPicPr>
            <a:picLocks noChangeAspect="1"/>
          </p:cNvPicPr>
          <p:nvPr/>
        </p:nvPicPr>
        <p:blipFill>
          <a:blip r:embed="rId23"/>
          <a:stretch>
            <a:fillRect/>
          </a:stretch>
        </p:blipFill>
        <p:spPr>
          <a:xfrm>
            <a:off x="11012354" y="3852453"/>
            <a:ext cx="876864" cy="265429"/>
          </a:xfrm>
          <a:prstGeom prst="rect">
            <a:avLst/>
          </a:prstGeom>
        </p:spPr>
      </p:pic>
      <p:pic>
        <p:nvPicPr>
          <p:cNvPr id="67" name="Picture 66" descr="15_605E5C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9567967" y="4235118"/>
            <a:ext cx="407623" cy="265429"/>
          </a:xfrm>
          <a:prstGeom prst="rect">
            <a:avLst/>
          </a:prstGeom>
        </p:spPr>
      </p:pic>
      <p:pic>
        <p:nvPicPr>
          <p:cNvPr id="68" name="Picture 67" descr="5_8__605E5C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10238110" y="4235118"/>
            <a:ext cx="720450" cy="265429"/>
          </a:xfrm>
          <a:prstGeom prst="rect">
            <a:avLst/>
          </a:prstGeom>
        </p:spPr>
      </p:pic>
      <p:pic>
        <p:nvPicPr>
          <p:cNvPr id="69" name="Picture 68" descr="388_2_605E5C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11012354" y="4235118"/>
            <a:ext cx="876864" cy="265429"/>
          </a:xfrm>
          <a:prstGeom prst="rect">
            <a:avLst/>
          </a:prstGeom>
        </p:spPr>
      </p:pic>
      <p:pic>
        <p:nvPicPr>
          <p:cNvPr id="70" name="Picture 69" descr="14_605E5C.png"/>
          <p:cNvPicPr>
            <a:picLocks noChangeAspect="1"/>
          </p:cNvPicPr>
          <p:nvPr/>
        </p:nvPicPr>
        <p:blipFill>
          <a:blip r:embed="rId27"/>
          <a:stretch>
            <a:fillRect/>
          </a:stretch>
        </p:blipFill>
        <p:spPr>
          <a:xfrm>
            <a:off x="9567967" y="4617783"/>
            <a:ext cx="407623" cy="265429"/>
          </a:xfrm>
          <a:prstGeom prst="rect">
            <a:avLst/>
          </a:prstGeom>
        </p:spPr>
      </p:pic>
      <p:pic>
        <p:nvPicPr>
          <p:cNvPr id="71" name="Picture 70" descr="6_4__605E5C.png"/>
          <p:cNvPicPr>
            <a:picLocks noChangeAspect="1"/>
          </p:cNvPicPr>
          <p:nvPr/>
        </p:nvPicPr>
        <p:blipFill>
          <a:blip r:embed="rId28"/>
          <a:stretch>
            <a:fillRect/>
          </a:stretch>
        </p:blipFill>
        <p:spPr>
          <a:xfrm>
            <a:off x="10238110" y="4617783"/>
            <a:ext cx="720450" cy="265429"/>
          </a:xfrm>
          <a:prstGeom prst="rect">
            <a:avLst/>
          </a:prstGeom>
        </p:spPr>
      </p:pic>
      <p:pic>
        <p:nvPicPr>
          <p:cNvPr id="72" name="Picture 71" descr="358_6_605E5C.png"/>
          <p:cNvPicPr>
            <a:picLocks noChangeAspect="1"/>
          </p:cNvPicPr>
          <p:nvPr/>
        </p:nvPicPr>
        <p:blipFill>
          <a:blip r:embed="rId29"/>
          <a:stretch>
            <a:fillRect/>
          </a:stretch>
        </p:blipFill>
        <p:spPr>
          <a:xfrm>
            <a:off x="11012354" y="4617783"/>
            <a:ext cx="876864" cy="265429"/>
          </a:xfrm>
          <a:prstGeom prst="rect">
            <a:avLst/>
          </a:prstGeom>
        </p:spPr>
      </p:pic>
      <p:pic>
        <p:nvPicPr>
          <p:cNvPr id="73" name="Picture 72" descr="10_605E5C.png"/>
          <p:cNvPicPr>
            <a:picLocks noChangeAspect="1"/>
          </p:cNvPicPr>
          <p:nvPr/>
        </p:nvPicPr>
        <p:blipFill>
          <a:blip r:embed="rId30"/>
          <a:stretch>
            <a:fillRect/>
          </a:stretch>
        </p:blipFill>
        <p:spPr>
          <a:xfrm>
            <a:off x="9567967" y="5000448"/>
            <a:ext cx="407623" cy="265429"/>
          </a:xfrm>
          <a:prstGeom prst="rect">
            <a:avLst/>
          </a:prstGeom>
        </p:spPr>
      </p:pic>
      <p:pic>
        <p:nvPicPr>
          <p:cNvPr id="74" name="Picture 73" descr="5_9__605E5C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10238110" y="5000448"/>
            <a:ext cx="720450" cy="265429"/>
          </a:xfrm>
          <a:prstGeom prst="rect">
            <a:avLst/>
          </a:prstGeom>
        </p:spPr>
      </p:pic>
      <p:pic>
        <p:nvPicPr>
          <p:cNvPr id="75" name="Picture 74" descr="248_4_605E5C.png"/>
          <p:cNvPicPr>
            <a:picLocks noChangeAspect="1"/>
          </p:cNvPicPr>
          <p:nvPr/>
        </p:nvPicPr>
        <p:blipFill>
          <a:blip r:embed="rId31"/>
          <a:stretch>
            <a:fillRect/>
          </a:stretch>
        </p:blipFill>
        <p:spPr>
          <a:xfrm>
            <a:off x="11012354" y="5000448"/>
            <a:ext cx="876864" cy="265429"/>
          </a:xfrm>
          <a:prstGeom prst="rect">
            <a:avLst/>
          </a:prstGeom>
        </p:spPr>
      </p:pic>
      <p:pic>
        <p:nvPicPr>
          <p:cNvPr id="76" name="Picture 75" descr="8_605E5C.png"/>
          <p:cNvPicPr>
            <a:picLocks noChangeAspect="1"/>
          </p:cNvPicPr>
          <p:nvPr/>
        </p:nvPicPr>
        <p:blipFill>
          <a:blip r:embed="rId32"/>
          <a:stretch>
            <a:fillRect/>
          </a:stretch>
        </p:blipFill>
        <p:spPr>
          <a:xfrm>
            <a:off x="9646174" y="5383113"/>
            <a:ext cx="251210" cy="265429"/>
          </a:xfrm>
          <a:prstGeom prst="rect">
            <a:avLst/>
          </a:prstGeom>
        </p:spPr>
      </p:pic>
      <p:pic>
        <p:nvPicPr>
          <p:cNvPr id="77" name="Picture 76" descr="6_7__605E5C.png"/>
          <p:cNvPicPr>
            <a:picLocks noChangeAspect="1"/>
          </p:cNvPicPr>
          <p:nvPr/>
        </p:nvPicPr>
        <p:blipFill>
          <a:blip r:embed="rId33"/>
          <a:stretch>
            <a:fillRect/>
          </a:stretch>
        </p:blipFill>
        <p:spPr>
          <a:xfrm>
            <a:off x="10238110" y="5383113"/>
            <a:ext cx="720450" cy="265429"/>
          </a:xfrm>
          <a:prstGeom prst="rect">
            <a:avLst/>
          </a:prstGeom>
        </p:spPr>
      </p:pic>
      <p:pic>
        <p:nvPicPr>
          <p:cNvPr id="78" name="Picture 77" descr="201_2_605E5C.png"/>
          <p:cNvPicPr>
            <a:picLocks noChangeAspect="1"/>
          </p:cNvPicPr>
          <p:nvPr/>
        </p:nvPicPr>
        <p:blipFill>
          <a:blip r:embed="rId34"/>
          <a:stretch>
            <a:fillRect/>
          </a:stretch>
        </p:blipFill>
        <p:spPr>
          <a:xfrm>
            <a:off x="11012354" y="5383113"/>
            <a:ext cx="876864" cy="265429"/>
          </a:xfrm>
          <a:prstGeom prst="rect">
            <a:avLst/>
          </a:prstGeom>
        </p:spPr>
      </p:pic>
      <p:pic>
        <p:nvPicPr>
          <p:cNvPr id="79" name="Picture 7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456209" y="4510468"/>
            <a:ext cx="330041" cy="480060"/>
          </a:xfrm>
          <a:prstGeom prst="rect">
            <a:avLst/>
          </a:prstGeom>
        </p:spPr>
      </p:pic>
      <p:sp>
        <p:nvSpPr>
          <p:cNvPr id="80" name="TextBox 79"/>
          <p:cNvSpPr txBox="1"/>
          <p:nvPr/>
        </p:nvSpPr>
        <p:spPr>
          <a:xfrm>
            <a:off x="257175" y="6160574"/>
            <a:ext cx="333757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Other European Countries posts the highest CAGR Index (</a:t>
            </a:r>
          </a:p>
        </p:txBody>
      </p:sp>
      <p:pic>
        <p:nvPicPr>
          <p:cNvPr id="81" name="Picture 8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542804" y="6150795"/>
            <a:ext cx="128699" cy="187198"/>
          </a:xfrm>
          <a:prstGeom prst="rect">
            <a:avLst/>
          </a:prstGeom>
        </p:spPr>
      </p:pic>
      <p:sp>
        <p:nvSpPr>
          <p:cNvPr id="82" name="TextBox 81"/>
          <p:cNvSpPr txBox="1"/>
          <p:nvPr/>
        </p:nvSpPr>
        <p:spPr>
          <a:xfrm>
            <a:off x="3710300" y="6160574"/>
            <a:ext cx="78997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), growing at</a:t>
            </a:r>
          </a:p>
        </p:txBody>
      </p:sp>
      <p:pic>
        <p:nvPicPr>
          <p:cNvPr id="83" name="Picture 8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448331" y="6150795"/>
            <a:ext cx="128699" cy="187198"/>
          </a:xfrm>
          <a:prstGeom prst="rect">
            <a:avLst/>
          </a:prstGeom>
        </p:spPr>
      </p:pic>
      <p:sp>
        <p:nvSpPr>
          <p:cNvPr id="84" name="TextBox 83"/>
          <p:cNvSpPr txBox="1"/>
          <p:nvPr/>
        </p:nvSpPr>
        <p:spPr>
          <a:xfrm>
            <a:off x="4615827" y="6160574"/>
            <a:ext cx="497606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against the Europe benchmark, while Germany offers the largest absolute opportunity</a:t>
            </a:r>
          </a:p>
        </p:txBody>
      </p:sp>
      <p:pic>
        <p:nvPicPr>
          <p:cNvPr id="85" name="Picture 84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539947" y="6150795"/>
            <a:ext cx="128699" cy="187198"/>
          </a:xfrm>
          <a:prstGeom prst="rect">
            <a:avLst/>
          </a:prstGeom>
        </p:spPr>
      </p:pic>
      <p:sp>
        <p:nvSpPr>
          <p:cNvPr id="86" name="TextBox 85"/>
          <p:cNvSpPr txBox="1"/>
          <p:nvPr/>
        </p:nvSpPr>
        <p:spPr>
          <a:xfrm>
            <a:off x="9707442" y="6160574"/>
            <a:ext cx="67347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 of</a:t>
            </a:r>
          </a:p>
        </p:txBody>
      </p:sp>
      <p:sp>
        <p:nvSpPr>
          <p:cNvPr id="87" name="TextBox 86"/>
          <p:cNvSpPr txBox="1"/>
          <p:nvPr/>
        </p:nvSpPr>
        <p:spPr>
          <a:xfrm>
            <a:off x="257175" y="6328214"/>
            <a:ext cx="268302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incremental market between 2026 and 2036 (</a:t>
            </a:r>
          </a:p>
        </p:txBody>
      </p:sp>
      <p:pic>
        <p:nvPicPr>
          <p:cNvPr id="88" name="Picture 8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888250" y="6318435"/>
            <a:ext cx="128699" cy="187198"/>
          </a:xfrm>
          <a:prstGeom prst="rect">
            <a:avLst/>
          </a:prstGeom>
        </p:spPr>
      </p:pic>
      <p:sp>
        <p:nvSpPr>
          <p:cNvPr id="89" name="TextBox 88"/>
          <p:cNvSpPr txBox="1"/>
          <p:nvPr/>
        </p:nvSpPr>
        <p:spPr>
          <a:xfrm>
            <a:off x="3055746" y="6328214"/>
            <a:ext cx="15465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the Europe increment).</a:t>
            </a:r>
          </a:p>
        </p:txBody>
      </p:sp>
      <p:sp>
        <p:nvSpPr>
          <p:cNvPr id="90" name="lockshield_12"/>
          <p:cNvSpPr/>
          <p:nvPr/>
        </p:nvSpPr>
        <p:spPr>
          <a:xfrm>
            <a:off x="238125" y="1293011"/>
            <a:ext cx="3743325" cy="210309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lockshield_30"/>
          <p:cNvSpPr/>
          <p:nvPr/>
        </p:nvSpPr>
        <p:spPr>
          <a:xfrm>
            <a:off x="8181975" y="1293011"/>
            <a:ext cx="3743325" cy="2093969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3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Summary Country Indices (Value)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Country outlook ranking 2036 market size, growth and absolute-growth indices to highlight the strongest markets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1790700"/>
          </a:xfrm>
          <a:prstGeom prst="roundRect">
            <a:avLst>
              <a:gd name="adj" fmla="val 42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graphicFrame>
        <p:nvGraphicFramePr>
          <p:cNvPr id="11" name="Table 10"/>
          <p:cNvGraphicFramePr>
            <a:graphicFrameLocks noGrp="1"/>
          </p:cNvGraphicFramePr>
          <p:nvPr/>
        </p:nvGraphicFramePr>
        <p:xfrm>
          <a:off x="152400" y="1057275"/>
          <a:ext cx="11887200" cy="14858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917762"/>
                <a:gridCol w="3323146"/>
                <a:gridCol w="3323146"/>
                <a:gridCol w="3323146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Country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 Index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$ Opp (US$ Mn)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Spain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Croatia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France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Greece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Portugal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2" name="TextBox 11"/>
          <p:cNvSpPr txBox="1"/>
          <p:nvPr/>
        </p:nvSpPr>
        <p:spPr>
          <a:xfrm>
            <a:off x="219075" y="25527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3" name="Rounded Rectangle 12"/>
          <p:cNvSpPr/>
          <p:nvPr/>
        </p:nvSpPr>
        <p:spPr>
          <a:xfrm>
            <a:off x="142875" y="2905125"/>
            <a:ext cx="11906250" cy="1790700"/>
          </a:xfrm>
          <a:prstGeom prst="roundRect">
            <a:avLst>
              <a:gd name="adj" fmla="val 42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graphicFrame>
        <p:nvGraphicFramePr>
          <p:cNvPr id="14" name="Table 13"/>
          <p:cNvGraphicFramePr>
            <a:graphicFrameLocks noGrp="1"/>
          </p:cNvGraphicFramePr>
          <p:nvPr/>
        </p:nvGraphicFramePr>
        <p:xfrm>
          <a:off x="152400" y="2981325"/>
          <a:ext cx="11887200" cy="14858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104843"/>
                <a:gridCol w="2594119"/>
                <a:gridCol w="2594119"/>
                <a:gridCol w="2594119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Country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Absolute Index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$ Opp (US$ Mn)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Netherlands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European Countries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Sweden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Poland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Austria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5" name="TextBox 14"/>
          <p:cNvSpPr txBox="1"/>
          <p:nvPr/>
        </p:nvSpPr>
        <p:spPr>
          <a:xfrm>
            <a:off x="219075" y="44767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7" name="Picture 16" descr="111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449715" y="1294663"/>
            <a:ext cx="564037" cy="265429"/>
          </a:xfrm>
          <a:prstGeom prst="rect">
            <a:avLst/>
          </a:prstGeom>
        </p:spPr>
      </p:pic>
      <p:pic>
        <p:nvPicPr>
          <p:cNvPr id="18" name="Picture 17" descr="6_7_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694654" y="1294663"/>
            <a:ext cx="720450" cy="265429"/>
          </a:xfrm>
          <a:prstGeom prst="rect">
            <a:avLst/>
          </a:prstGeom>
        </p:spPr>
      </p:pic>
      <p:pic>
        <p:nvPicPr>
          <p:cNvPr id="19" name="Picture 18" descr="201_2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939593" y="1294663"/>
            <a:ext cx="876864" cy="265429"/>
          </a:xfrm>
          <a:prstGeom prst="rect">
            <a:avLst/>
          </a:prstGeom>
        </p:spPr>
      </p:pic>
      <p:pic>
        <p:nvPicPr>
          <p:cNvPr id="20" name="Picture 19" descr="111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449715" y="1542618"/>
            <a:ext cx="564037" cy="265429"/>
          </a:xfrm>
          <a:prstGeom prst="rect">
            <a:avLst/>
          </a:prstGeom>
        </p:spPr>
      </p:pic>
      <p:pic>
        <p:nvPicPr>
          <p:cNvPr id="21" name="Picture 20" descr="6_7_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694654" y="1542618"/>
            <a:ext cx="720450" cy="265429"/>
          </a:xfrm>
          <a:prstGeom prst="rect">
            <a:avLst/>
          </a:prstGeom>
        </p:spPr>
      </p:pic>
      <p:pic>
        <p:nvPicPr>
          <p:cNvPr id="22" name="Picture 21" descr="14_7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0017800" y="1542618"/>
            <a:ext cx="720450" cy="265429"/>
          </a:xfrm>
          <a:prstGeom prst="rect">
            <a:avLst/>
          </a:prstGeom>
        </p:spPr>
      </p:pic>
      <p:pic>
        <p:nvPicPr>
          <p:cNvPr id="23" name="Picture 22" descr="106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449715" y="1790573"/>
            <a:ext cx="564037" cy="265429"/>
          </a:xfrm>
          <a:prstGeom prst="rect">
            <a:avLst/>
          </a:prstGeom>
        </p:spPr>
      </p:pic>
      <p:pic>
        <p:nvPicPr>
          <p:cNvPr id="24" name="Picture 23" descr="6_4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694654" y="1790573"/>
            <a:ext cx="720450" cy="265429"/>
          </a:xfrm>
          <a:prstGeom prst="rect">
            <a:avLst/>
          </a:prstGeom>
        </p:spPr>
      </p:pic>
      <p:pic>
        <p:nvPicPr>
          <p:cNvPr id="25" name="Picture 24" descr="358_6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9939593" y="1790573"/>
            <a:ext cx="876864" cy="265429"/>
          </a:xfrm>
          <a:prstGeom prst="rect">
            <a:avLst/>
          </a:prstGeom>
        </p:spPr>
      </p:pic>
      <p:pic>
        <p:nvPicPr>
          <p:cNvPr id="26" name="Picture 25" descr="104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3449715" y="2038528"/>
            <a:ext cx="564037" cy="265429"/>
          </a:xfrm>
          <a:prstGeom prst="rect">
            <a:avLst/>
          </a:prstGeom>
        </p:spPr>
      </p:pic>
      <p:pic>
        <p:nvPicPr>
          <p:cNvPr id="27" name="Picture 26" descr="6_3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6694654" y="2038528"/>
            <a:ext cx="720450" cy="265429"/>
          </a:xfrm>
          <a:prstGeom prst="rect">
            <a:avLst/>
          </a:prstGeom>
        </p:spPr>
      </p:pic>
      <p:pic>
        <p:nvPicPr>
          <p:cNvPr id="28" name="Picture 27" descr="27_4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0017800" y="2038528"/>
            <a:ext cx="720450" cy="265429"/>
          </a:xfrm>
          <a:prstGeom prst="rect">
            <a:avLst/>
          </a:prstGeom>
        </p:spPr>
      </p:pic>
      <p:pic>
        <p:nvPicPr>
          <p:cNvPr id="29" name="Picture 28" descr="103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3449715" y="2286483"/>
            <a:ext cx="564037" cy="265429"/>
          </a:xfrm>
          <a:prstGeom prst="rect">
            <a:avLst/>
          </a:prstGeom>
        </p:spPr>
      </p:pic>
      <p:pic>
        <p:nvPicPr>
          <p:cNvPr id="30" name="Picture 29" descr="6_3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6694654" y="2286483"/>
            <a:ext cx="720450" cy="265429"/>
          </a:xfrm>
          <a:prstGeom prst="rect">
            <a:avLst/>
          </a:prstGeom>
        </p:spPr>
      </p:pic>
      <p:pic>
        <p:nvPicPr>
          <p:cNvPr id="31" name="Picture 30" descr="42_3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10017800" y="2286483"/>
            <a:ext cx="720450" cy="265429"/>
          </a:xfrm>
          <a:prstGeom prst="rect">
            <a:avLst/>
          </a:prstGeom>
        </p:spPr>
      </p:pic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6868190" y="1656588"/>
            <a:ext cx="366712" cy="533400"/>
          </a:xfrm>
          <a:prstGeom prst="rect">
            <a:avLst/>
          </a:prstGeom>
        </p:spPr>
      </p:pic>
      <p:pic>
        <p:nvPicPr>
          <p:cNvPr id="33" name="Picture 32" descr="5_605E5C.png"/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5428697" y="3218713"/>
            <a:ext cx="251210" cy="265429"/>
          </a:xfrm>
          <a:prstGeom prst="rect">
            <a:avLst/>
          </a:prstGeom>
        </p:spPr>
      </p:pic>
      <p:pic>
        <p:nvPicPr>
          <p:cNvPr id="34" name="Picture 33" descr="6_9__605E5C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7788195" y="3218713"/>
            <a:ext cx="720450" cy="265429"/>
          </a:xfrm>
          <a:prstGeom prst="rect">
            <a:avLst/>
          </a:prstGeom>
        </p:spPr>
      </p:pic>
      <p:pic>
        <p:nvPicPr>
          <p:cNvPr id="35" name="Picture 34" descr="133_2_605E5C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10304107" y="3218713"/>
            <a:ext cx="876864" cy="265429"/>
          </a:xfrm>
          <a:prstGeom prst="rect">
            <a:avLst/>
          </a:prstGeom>
        </p:spPr>
      </p:pic>
      <p:pic>
        <p:nvPicPr>
          <p:cNvPr id="36" name="Picture 35" descr="4_605E5C.png"/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5428697" y="3466668"/>
            <a:ext cx="251210" cy="265429"/>
          </a:xfrm>
          <a:prstGeom prst="rect">
            <a:avLst/>
          </a:prstGeom>
        </p:spPr>
      </p:pic>
      <p:pic>
        <p:nvPicPr>
          <p:cNvPr id="37" name="Picture 36" descr="7_3__605E5C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7788195" y="3466668"/>
            <a:ext cx="720450" cy="265429"/>
          </a:xfrm>
          <a:prstGeom prst="rect">
            <a:avLst/>
          </a:prstGeom>
        </p:spPr>
      </p:pic>
      <p:pic>
        <p:nvPicPr>
          <p:cNvPr id="38" name="Picture 37" descr="104_0_605E5C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10304107" y="3466668"/>
            <a:ext cx="876864" cy="265429"/>
          </a:xfrm>
          <a:prstGeom prst="rect">
            <a:avLst/>
          </a:prstGeom>
        </p:spPr>
      </p:pic>
      <p:pic>
        <p:nvPicPr>
          <p:cNvPr id="39" name="Picture 38" descr="4_605E5C.png"/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5428697" y="3714623"/>
            <a:ext cx="251210" cy="265429"/>
          </a:xfrm>
          <a:prstGeom prst="rect">
            <a:avLst/>
          </a:prstGeom>
        </p:spPr>
      </p:pic>
      <p:pic>
        <p:nvPicPr>
          <p:cNvPr id="40" name="Picture 39" descr="7_1__605E5C.png"/>
          <p:cNvPicPr>
            <a:picLocks noChangeAspect="1"/>
          </p:cNvPicPr>
          <p:nvPr/>
        </p:nvPicPr>
        <p:blipFill>
          <a:blip r:embed="rId23"/>
          <a:stretch>
            <a:fillRect/>
          </a:stretch>
        </p:blipFill>
        <p:spPr>
          <a:xfrm>
            <a:off x="7788195" y="3714623"/>
            <a:ext cx="720450" cy="265429"/>
          </a:xfrm>
          <a:prstGeom prst="rect">
            <a:avLst/>
          </a:prstGeom>
        </p:spPr>
      </p:pic>
      <p:pic>
        <p:nvPicPr>
          <p:cNvPr id="41" name="Picture 40" descr="90_1_605E5C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10382314" y="3714623"/>
            <a:ext cx="720450" cy="265429"/>
          </a:xfrm>
          <a:prstGeom prst="rect">
            <a:avLst/>
          </a:prstGeom>
        </p:spPr>
      </p:pic>
      <p:pic>
        <p:nvPicPr>
          <p:cNvPr id="42" name="Picture 41" descr="4_605E5C.png"/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5428697" y="3962578"/>
            <a:ext cx="251210" cy="265429"/>
          </a:xfrm>
          <a:prstGeom prst="rect">
            <a:avLst/>
          </a:prstGeom>
        </p:spPr>
      </p:pic>
      <p:pic>
        <p:nvPicPr>
          <p:cNvPr id="43" name="Picture 42" descr="5_1__605E5C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7788195" y="3962578"/>
            <a:ext cx="720450" cy="265429"/>
          </a:xfrm>
          <a:prstGeom prst="rect">
            <a:avLst/>
          </a:prstGeom>
        </p:spPr>
      </p:pic>
      <p:pic>
        <p:nvPicPr>
          <p:cNvPr id="44" name="Picture 43" descr="89_7_605E5C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10382314" y="3962578"/>
            <a:ext cx="720450" cy="265429"/>
          </a:xfrm>
          <a:prstGeom prst="rect">
            <a:avLst/>
          </a:prstGeom>
        </p:spPr>
      </p:pic>
      <p:pic>
        <p:nvPicPr>
          <p:cNvPr id="45" name="Picture 44" descr="2_605E5C.png"/>
          <p:cNvPicPr>
            <a:picLocks noChangeAspect="1"/>
          </p:cNvPicPr>
          <p:nvPr/>
        </p:nvPicPr>
        <p:blipFill>
          <a:blip r:embed="rId27"/>
          <a:stretch>
            <a:fillRect/>
          </a:stretch>
        </p:blipFill>
        <p:spPr>
          <a:xfrm>
            <a:off x="5428697" y="4210533"/>
            <a:ext cx="251210" cy="265429"/>
          </a:xfrm>
          <a:prstGeom prst="rect">
            <a:avLst/>
          </a:prstGeom>
        </p:spPr>
      </p:pic>
      <p:pic>
        <p:nvPicPr>
          <p:cNvPr id="46" name="Picture 45" descr="5_8__605E5C.png"/>
          <p:cNvPicPr>
            <a:picLocks noChangeAspect="1"/>
          </p:cNvPicPr>
          <p:nvPr/>
        </p:nvPicPr>
        <p:blipFill>
          <a:blip r:embed="rId28"/>
          <a:stretch>
            <a:fillRect/>
          </a:stretch>
        </p:blipFill>
        <p:spPr>
          <a:xfrm>
            <a:off x="7788195" y="4210533"/>
            <a:ext cx="720450" cy="265429"/>
          </a:xfrm>
          <a:prstGeom prst="rect">
            <a:avLst/>
          </a:prstGeom>
        </p:spPr>
      </p:pic>
      <p:pic>
        <p:nvPicPr>
          <p:cNvPr id="47" name="Picture 46" descr="62_6_605E5C.png"/>
          <p:cNvPicPr>
            <a:picLocks noChangeAspect="1"/>
          </p:cNvPicPr>
          <p:nvPr/>
        </p:nvPicPr>
        <p:blipFill>
          <a:blip r:embed="rId29"/>
          <a:stretch>
            <a:fillRect/>
          </a:stretch>
        </p:blipFill>
        <p:spPr>
          <a:xfrm>
            <a:off x="10382314" y="4210533"/>
            <a:ext cx="720450" cy="265429"/>
          </a:xfrm>
          <a:prstGeom prst="rect">
            <a:avLst/>
          </a:prstGeom>
        </p:spPr>
      </p:pic>
      <p:pic>
        <p:nvPicPr>
          <p:cNvPr id="48" name="Picture 47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7961731" y="3580638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3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Market Overview (1/4)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Executive summary of market size, competitive landscape and the drivers, restraints and trends shaping demand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1609725"/>
          </a:xfrm>
          <a:prstGeom prst="roundRect">
            <a:avLst>
              <a:gd name="adj" fmla="val 473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76225" y="106680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Market Overview</a:t>
            </a:r>
          </a:p>
        </p:txBody>
      </p:sp>
      <p:sp>
        <p:nvSpPr>
          <p:cNvPr id="12" name="Rectangle 11"/>
          <p:cNvSpPr/>
          <p:nvPr/>
        </p:nvSpPr>
        <p:spPr>
          <a:xfrm>
            <a:off x="276225" y="13049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76225" y="1390650"/>
            <a:ext cx="11639550" cy="11239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142875" y="2724150"/>
            <a:ext cx="11906250" cy="1609725"/>
          </a:xfrm>
          <a:prstGeom prst="roundRect">
            <a:avLst>
              <a:gd name="adj" fmla="val 473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276225" y="280987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Competitive Landscape</a:t>
            </a:r>
          </a:p>
        </p:txBody>
      </p:sp>
      <p:sp>
        <p:nvSpPr>
          <p:cNvPr id="16" name="Rectangle 15"/>
          <p:cNvSpPr/>
          <p:nvPr/>
        </p:nvSpPr>
        <p:spPr>
          <a:xfrm>
            <a:off x="276225" y="304800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76225" y="3133725"/>
            <a:ext cx="11639550" cy="11239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142875" y="4467225"/>
            <a:ext cx="3943350" cy="2162175"/>
          </a:xfrm>
          <a:prstGeom prst="roundRect">
            <a:avLst>
              <a:gd name="adj" fmla="val 352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76225" y="4552950"/>
            <a:ext cx="36766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Drivers</a:t>
            </a:r>
          </a:p>
        </p:txBody>
      </p:sp>
      <p:sp>
        <p:nvSpPr>
          <p:cNvPr id="20" name="Rectangle 19"/>
          <p:cNvSpPr/>
          <p:nvPr/>
        </p:nvSpPr>
        <p:spPr>
          <a:xfrm>
            <a:off x="276225" y="4791075"/>
            <a:ext cx="36766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276225" y="4876800"/>
            <a:ext cx="3676650" cy="16764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2" name="Rounded Rectangle 21"/>
          <p:cNvSpPr/>
          <p:nvPr/>
        </p:nvSpPr>
        <p:spPr>
          <a:xfrm>
            <a:off x="4238625" y="4467225"/>
            <a:ext cx="3819525" cy="2162175"/>
          </a:xfrm>
          <a:prstGeom prst="roundRect">
            <a:avLst>
              <a:gd name="adj" fmla="val 352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4371975" y="4552950"/>
            <a:ext cx="35528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Restraints</a:t>
            </a:r>
          </a:p>
        </p:txBody>
      </p:sp>
      <p:sp>
        <p:nvSpPr>
          <p:cNvPr id="24" name="Rectangle 23"/>
          <p:cNvSpPr/>
          <p:nvPr/>
        </p:nvSpPr>
        <p:spPr>
          <a:xfrm>
            <a:off x="4371975" y="4791075"/>
            <a:ext cx="35528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4371975" y="4876800"/>
            <a:ext cx="3552825" cy="16764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6" name="Rounded Rectangle 25"/>
          <p:cNvSpPr/>
          <p:nvPr/>
        </p:nvSpPr>
        <p:spPr>
          <a:xfrm>
            <a:off x="8210550" y="4467225"/>
            <a:ext cx="3819525" cy="2162175"/>
          </a:xfrm>
          <a:prstGeom prst="roundRect">
            <a:avLst>
              <a:gd name="adj" fmla="val 352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TextBox 26"/>
          <p:cNvSpPr txBox="1"/>
          <p:nvPr/>
        </p:nvSpPr>
        <p:spPr>
          <a:xfrm>
            <a:off x="8343900" y="4552950"/>
            <a:ext cx="35528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Trends</a:t>
            </a:r>
          </a:p>
        </p:txBody>
      </p:sp>
      <p:sp>
        <p:nvSpPr>
          <p:cNvPr id="28" name="Rectangle 27"/>
          <p:cNvSpPr/>
          <p:nvPr/>
        </p:nvSpPr>
        <p:spPr>
          <a:xfrm>
            <a:off x="8343900" y="4791075"/>
            <a:ext cx="35528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8343900" y="4876800"/>
            <a:ext cx="3552825" cy="16764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Mix shifting toward 'Shampoos &amp; Cleansing Products' and higher-growth tiers.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Other European Countries outpacing the Europe average.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Demand broadening across 6 product type categories.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276225" y="1400175"/>
            <a:ext cx="337173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The Europe Pet Cosmetic Products market is valued at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97117" y="1389951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3772226" y="1400175"/>
            <a:ext cx="244038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in 2026 and is forecast to reach</a:t>
            </a:r>
          </a:p>
        </p:txBody>
      </p:sp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161764" y="1389951"/>
            <a:ext cx="134549" cy="195707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6336874" y="1400175"/>
            <a:ext cx="10885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by 2036.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276225" y="1628013"/>
            <a:ext cx="98815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That implies a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213535" y="1617789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1388644" y="1628013"/>
            <a:ext cx="216395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forecast CAGR (2026–2036), versus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01754" y="1617789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3676863" y="1628013"/>
            <a:ext cx="107886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over 2021–2025.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276225" y="1855851"/>
            <a:ext cx="107002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An incremental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295403" y="1845627"/>
            <a:ext cx="134549" cy="195707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1470512" y="1855851"/>
            <a:ext cx="298493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of demand is created over the forecast a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04600" y="1845627"/>
            <a:ext cx="134549" cy="195707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4579710" y="1855851"/>
            <a:ext cx="82270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× expansion.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276225" y="3143250"/>
            <a:ext cx="686210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The market is moderately fragmented: the leading product type category 'Shampoos &amp; Cleansing Products' holds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87484" y="3133026"/>
            <a:ext cx="134549" cy="195707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7262593" y="3143250"/>
            <a:ext cx="91627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value.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276225" y="3371087"/>
            <a:ext cx="517825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Demand spans 25 countries and 10 segmentation lenses (6 product type categories).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276225" y="3598925"/>
            <a:ext cx="259984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Germany is the largest country market at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25220" y="3588702"/>
            <a:ext cx="134549" cy="195707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3000329" y="3598925"/>
            <a:ext cx="91627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value.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276225" y="4886325"/>
            <a:ext cx="35035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Accelerating uptake of 'Shampoos &amp; Cleansing Products'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276225" y="5061585"/>
            <a:ext cx="12041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(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45793" y="5051361"/>
            <a:ext cx="134549" cy="195707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520902" y="5061585"/>
            <a:ext cx="49094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CAGR).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276225" y="5289422"/>
            <a:ext cx="326213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Fast-growing demand in Other European Countries (</a:t>
            </a:r>
          </a:p>
        </p:txBody>
      </p:sp>
      <p:pic>
        <p:nvPicPr>
          <p:cNvPr id="58" name="Picture 5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487517" y="5279199"/>
            <a:ext cx="134549" cy="195707"/>
          </a:xfrm>
          <a:prstGeom prst="rect">
            <a:avLst/>
          </a:prstGeom>
        </p:spPr>
      </p:pic>
      <p:sp>
        <p:nvSpPr>
          <p:cNvPr id="59" name="TextBox 58"/>
          <p:cNvSpPr txBox="1"/>
          <p:nvPr/>
        </p:nvSpPr>
        <p:spPr>
          <a:xfrm>
            <a:off x="3662626" y="5289422"/>
            <a:ext cx="1572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276225" y="5517260"/>
            <a:ext cx="316147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Momentum in E-commerce within sales channels (</a:t>
            </a:r>
          </a:p>
        </p:txBody>
      </p:sp>
      <p:pic>
        <p:nvPicPr>
          <p:cNvPr id="61" name="Picture 6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386853" y="5507037"/>
            <a:ext cx="134549" cy="195707"/>
          </a:xfrm>
          <a:prstGeom prst="rect">
            <a:avLst/>
          </a:prstGeom>
        </p:spPr>
      </p:pic>
      <p:sp>
        <p:nvSpPr>
          <p:cNvPr id="62" name="TextBox 61"/>
          <p:cNvSpPr txBox="1"/>
          <p:nvPr/>
        </p:nvSpPr>
        <p:spPr>
          <a:xfrm>
            <a:off x="3561963" y="5517260"/>
            <a:ext cx="1572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4371975" y="4886325"/>
            <a:ext cx="333437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Slower momentum in 'Coat Conditioning &amp; Grooming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4371975" y="5061585"/>
            <a:ext cx="71088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Products' (</a:t>
            </a:r>
          </a:p>
        </p:txBody>
      </p:sp>
      <p:pic>
        <p:nvPicPr>
          <p:cNvPr id="65" name="Picture 6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032018" y="5051361"/>
            <a:ext cx="134549" cy="195707"/>
          </a:xfrm>
          <a:prstGeom prst="rect">
            <a:avLst/>
          </a:prstGeom>
        </p:spPr>
      </p:pic>
      <p:sp>
        <p:nvSpPr>
          <p:cNvPr id="66" name="TextBox 65"/>
          <p:cNvSpPr txBox="1"/>
          <p:nvPr/>
        </p:nvSpPr>
        <p:spPr>
          <a:xfrm>
            <a:off x="5207128" y="5061585"/>
            <a:ext cx="1572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4371975" y="5289422"/>
            <a:ext cx="32641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Maturing demand in established categories caps the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4371975" y="5464682"/>
            <a:ext cx="56227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blended</a:t>
            </a:r>
          </a:p>
        </p:txBody>
      </p:sp>
      <p:pic>
        <p:nvPicPr>
          <p:cNvPr id="69" name="Picture 6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883401" y="5454459"/>
            <a:ext cx="134549" cy="195707"/>
          </a:xfrm>
          <a:prstGeom prst="rect">
            <a:avLst/>
          </a:prstGeom>
        </p:spPr>
      </p:pic>
      <p:sp>
        <p:nvSpPr>
          <p:cNvPr id="70" name="TextBox 69"/>
          <p:cNvSpPr txBox="1"/>
          <p:nvPr/>
        </p:nvSpPr>
        <p:spPr>
          <a:xfrm>
            <a:off x="5058510" y="5464682"/>
            <a:ext cx="44672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CAGR.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4371975" y="5692520"/>
            <a:ext cx="351379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Value concentration in 'Shampoos &amp; Cleansing Products'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4371975" y="5867780"/>
            <a:ext cx="197884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raises barriers for new entrants.</a:t>
            </a:r>
          </a:p>
        </p:txBody>
      </p:sp>
    </p:spTree>
  </p:cSld>
  <p:clrMapOvr>
    <a:masterClrMapping/>
  </p:clrMapOvr>
</p:sld>
</file>

<file path=ppt/slides/slide3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Supply Side Trends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Executive summary of recent developments, investments and R&amp;D activity shaping the supply side of the market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5876925" cy="1733550"/>
          </a:xfrm>
          <a:prstGeom prst="roundRect">
            <a:avLst>
              <a:gd name="adj" fmla="val 439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76225" y="1066800"/>
            <a:ext cx="56102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Recent Developments &amp; Key Industry Activities</a:t>
            </a:r>
          </a:p>
        </p:txBody>
      </p:sp>
      <p:sp>
        <p:nvSpPr>
          <p:cNvPr id="12" name="Rectangle 11"/>
          <p:cNvSpPr/>
          <p:nvPr/>
        </p:nvSpPr>
        <p:spPr>
          <a:xfrm>
            <a:off x="276225" y="1304925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76225" y="1390650"/>
            <a:ext cx="5610225" cy="124777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Capacity and product development are concentrating in 'Shampoos &amp; Cleansing Products' and Other European Countries.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Portfolio expansion tracks the shift toward higher-growth product type categories.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Commercial focus is intensifying across Germany and Other European Countries.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6172200" y="981075"/>
            <a:ext cx="5876925" cy="1733550"/>
          </a:xfrm>
          <a:prstGeom prst="roundRect">
            <a:avLst>
              <a:gd name="adj" fmla="val 439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305550" y="1066800"/>
            <a:ext cx="56102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Insights</a:t>
            </a:r>
          </a:p>
        </p:txBody>
      </p:sp>
      <p:sp>
        <p:nvSpPr>
          <p:cNvPr id="16" name="Rectangle 15"/>
          <p:cNvSpPr/>
          <p:nvPr/>
        </p:nvSpPr>
        <p:spPr>
          <a:xfrm>
            <a:off x="6305550" y="1304925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6305550" y="1390650"/>
            <a:ext cx="5610225" cy="124777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142875" y="2847975"/>
            <a:ext cx="5876925" cy="1428750"/>
          </a:xfrm>
          <a:prstGeom prst="roundRect">
            <a:avLst>
              <a:gd name="adj" fmla="val 533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76225" y="2933700"/>
            <a:ext cx="56102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Strategic Acquisitions &amp; New Investments</a:t>
            </a:r>
          </a:p>
        </p:txBody>
      </p:sp>
      <p:sp>
        <p:nvSpPr>
          <p:cNvPr id="20" name="Rectangle 19"/>
          <p:cNvSpPr/>
          <p:nvPr/>
        </p:nvSpPr>
        <p:spPr>
          <a:xfrm>
            <a:off x="276225" y="3171825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276225" y="3257550"/>
            <a:ext cx="5610225" cy="94297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2" name="Rounded Rectangle 21"/>
          <p:cNvSpPr/>
          <p:nvPr/>
        </p:nvSpPr>
        <p:spPr>
          <a:xfrm>
            <a:off x="6172200" y="2847975"/>
            <a:ext cx="5876925" cy="1428750"/>
          </a:xfrm>
          <a:prstGeom prst="roundRect">
            <a:avLst>
              <a:gd name="adj" fmla="val 533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6305550" y="2933700"/>
            <a:ext cx="56102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Substantial Investment in R&amp;D</a:t>
            </a:r>
          </a:p>
        </p:txBody>
      </p:sp>
      <p:sp>
        <p:nvSpPr>
          <p:cNvPr id="24" name="Rectangle 23"/>
          <p:cNvSpPr/>
          <p:nvPr/>
        </p:nvSpPr>
        <p:spPr>
          <a:xfrm>
            <a:off x="6305550" y="3171825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6305550" y="3257550"/>
            <a:ext cx="5610225" cy="94297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6" name="Rounded Rectangle 25"/>
          <p:cNvSpPr/>
          <p:nvPr/>
        </p:nvSpPr>
        <p:spPr>
          <a:xfrm>
            <a:off x="142875" y="4410075"/>
            <a:ext cx="11906250" cy="2209800"/>
          </a:xfrm>
          <a:prstGeom prst="roundRect">
            <a:avLst>
              <a:gd name="adj" fmla="val 344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TextBox 26"/>
          <p:cNvSpPr txBox="1"/>
          <p:nvPr/>
        </p:nvSpPr>
        <p:spPr>
          <a:xfrm>
            <a:off x="238125" y="4467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structure product type share (2036)</a:t>
            </a:r>
          </a:p>
        </p:txBody>
      </p:sp>
      <p:graphicFrame>
        <p:nvGraphicFramePr>
          <p:cNvPr id="28" name="Chart 27"/>
          <p:cNvGraphicFramePr>
            <a:graphicFrameLocks noGrp="1"/>
          </p:cNvGraphicFramePr>
          <p:nvPr/>
        </p:nvGraphicFramePr>
        <p:xfrm>
          <a:off x="238125" y="4695825"/>
          <a:ext cx="11715750" cy="18669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29" name="TextBox 28"/>
          <p:cNvSpPr txBox="1"/>
          <p:nvPr/>
        </p:nvSpPr>
        <p:spPr>
          <a:xfrm>
            <a:off x="3892075" y="5514975"/>
            <a:ext cx="89312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4143964" y="5349744"/>
            <a:ext cx="366052" cy="532439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6305550" y="1400175"/>
            <a:ext cx="68411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2026 size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937714" y="1390396"/>
            <a:ext cx="128699" cy="187198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7105210" y="1400175"/>
            <a:ext cx="87838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Mn; 2036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931645" y="1390396"/>
            <a:ext cx="128699" cy="187198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8099141" y="1400175"/>
            <a:ext cx="56078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Mn.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6305550" y="1618107"/>
            <a:ext cx="99184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Forecast CAGR</a:t>
            </a:r>
          </a:p>
        </p:txBody>
      </p:sp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245444" y="1608328"/>
            <a:ext cx="128699" cy="187198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7412940" y="1618107"/>
            <a:ext cx="83309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(2026–2036).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6305550" y="1836039"/>
            <a:ext cx="287101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Lead category 'Shampoos &amp; Cleansing Products'</a:t>
            </a:r>
          </a:p>
        </p:txBody>
      </p:sp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124620" y="1826260"/>
            <a:ext cx="128699" cy="187198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9292115" y="1836039"/>
            <a:ext cx="54304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2036.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6305550" y="2053970"/>
            <a:ext cx="144946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Lead country Germany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703063" y="2044192"/>
            <a:ext cx="128699" cy="187198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7870559" y="2053970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6305550" y="2271903"/>
            <a:ext cx="155478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Incremental opportunity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808384" y="2262124"/>
            <a:ext cx="128699" cy="187198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7975880" y="2271903"/>
            <a:ext cx="56078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Mn.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276225" y="3267075"/>
            <a:ext cx="517252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Investment is flowing toward the fastest-growing tier 'Shampoos &amp; Cleansing Products' (</a:t>
            </a:r>
          </a:p>
        </p:txBody>
      </p:sp>
      <p:pic>
        <p:nvPicPr>
          <p:cNvPr id="50" name="Picture 49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5396798" y="3257296"/>
            <a:ext cx="128699" cy="187198"/>
          </a:xfrm>
          <a:prstGeom prst="rect">
            <a:avLst/>
          </a:prstGeom>
        </p:spPr>
      </p:pic>
      <p:sp>
        <p:nvSpPr>
          <p:cNvPr id="51" name="TextBox 50"/>
          <p:cNvSpPr txBox="1"/>
          <p:nvPr/>
        </p:nvSpPr>
        <p:spPr>
          <a:xfrm>
            <a:off x="5564293" y="3267075"/>
            <a:ext cx="15368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276225" y="3485007"/>
            <a:ext cx="172013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Other European Countries (</a:t>
            </a:r>
          </a:p>
        </p:txBody>
      </p:sp>
      <p:pic>
        <p:nvPicPr>
          <p:cNvPr id="53" name="Picture 5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944407" y="3475228"/>
            <a:ext cx="128699" cy="187198"/>
          </a:xfrm>
          <a:prstGeom prst="rect">
            <a:avLst/>
          </a:prstGeom>
        </p:spPr>
      </p:pic>
      <p:sp>
        <p:nvSpPr>
          <p:cNvPr id="54" name="TextBox 53"/>
          <p:cNvSpPr txBox="1"/>
          <p:nvPr/>
        </p:nvSpPr>
        <p:spPr>
          <a:xfrm>
            <a:off x="2111903" y="3485007"/>
            <a:ext cx="226283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 is a priority country for new capacity.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276225" y="3702939"/>
            <a:ext cx="375123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Scale players anchor around 'Shampoos &amp; Cleansing Products' (</a:t>
            </a:r>
          </a:p>
        </p:txBody>
      </p:sp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975514" y="3693160"/>
            <a:ext cx="128699" cy="187198"/>
          </a:xfrm>
          <a:prstGeom prst="rect">
            <a:avLst/>
          </a:prstGeom>
        </p:spPr>
      </p:pic>
      <p:sp>
        <p:nvSpPr>
          <p:cNvPr id="57" name="TextBox 56"/>
          <p:cNvSpPr txBox="1"/>
          <p:nvPr/>
        </p:nvSpPr>
        <p:spPr>
          <a:xfrm>
            <a:off x="4143010" y="3702939"/>
            <a:ext cx="46692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share).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6305550" y="3267075"/>
            <a:ext cx="556924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R&amp;D aligns with the migration to 'Shampoos &amp; Cleansing Products' and adjacent premium tiers.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6305550" y="3485007"/>
            <a:ext cx="440635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Development spend targets product type categories gaining share to 2036.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6305550" y="3702939"/>
            <a:ext cx="159434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Innovation underpins the</a:t>
            </a:r>
          </a:p>
        </p:txBody>
      </p:sp>
      <p:pic>
        <p:nvPicPr>
          <p:cNvPr id="61" name="Picture 6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847947" y="3693160"/>
            <a:ext cx="128699" cy="187198"/>
          </a:xfrm>
          <a:prstGeom prst="rect">
            <a:avLst/>
          </a:prstGeom>
        </p:spPr>
      </p:pic>
      <p:sp>
        <p:nvSpPr>
          <p:cNvPr id="62" name="TextBox 61"/>
          <p:cNvSpPr txBox="1"/>
          <p:nvPr/>
        </p:nvSpPr>
        <p:spPr>
          <a:xfrm>
            <a:off x="8015443" y="3702939"/>
            <a:ext cx="92447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forecast CAGR.</a:t>
            </a:r>
          </a:p>
        </p:txBody>
      </p:sp>
      <p:sp>
        <p:nvSpPr>
          <p:cNvPr id="63" name="lockshield_28"/>
          <p:cNvSpPr/>
          <p:nvPr/>
        </p:nvSpPr>
        <p:spPr>
          <a:xfrm>
            <a:off x="238125" y="4695825"/>
            <a:ext cx="11715750" cy="18669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Analysis and Recommendation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Executive summary of the market approach, differentiating strategy and FMI's analysis and recommendation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5876925" cy="1685925"/>
          </a:xfrm>
          <a:prstGeom prst="roundRect">
            <a:avLst>
              <a:gd name="adj" fmla="val 451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76225" y="1066800"/>
            <a:ext cx="56102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Overall Market Approach</a:t>
            </a:r>
          </a:p>
        </p:txBody>
      </p:sp>
      <p:sp>
        <p:nvSpPr>
          <p:cNvPr id="12" name="Rectangle 11"/>
          <p:cNvSpPr/>
          <p:nvPr/>
        </p:nvSpPr>
        <p:spPr>
          <a:xfrm>
            <a:off x="276225" y="1304925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76225" y="1390650"/>
            <a:ext cx="5610225" cy="12001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6172200" y="981075"/>
            <a:ext cx="5876925" cy="1685925"/>
          </a:xfrm>
          <a:prstGeom prst="roundRect">
            <a:avLst>
              <a:gd name="adj" fmla="val 451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305550" y="1066800"/>
            <a:ext cx="56102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Differentiating Strategy</a:t>
            </a:r>
          </a:p>
        </p:txBody>
      </p:sp>
      <p:sp>
        <p:nvSpPr>
          <p:cNvPr id="16" name="Rectangle 15"/>
          <p:cNvSpPr/>
          <p:nvPr/>
        </p:nvSpPr>
        <p:spPr>
          <a:xfrm>
            <a:off x="6305550" y="1304925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6305550" y="1390650"/>
            <a:ext cx="5610225" cy="12001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Differentiate through the high-growth 'Shampoos &amp; Cleansing Products' tier and E-commerce within sales channels.</a:t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142875" y="2800350"/>
            <a:ext cx="5876925" cy="1685925"/>
          </a:xfrm>
          <a:prstGeom prst="roundRect">
            <a:avLst>
              <a:gd name="adj" fmla="val 451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76225" y="2886075"/>
            <a:ext cx="56102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Market Segment</a:t>
            </a:r>
          </a:p>
        </p:txBody>
      </p:sp>
      <p:sp>
        <p:nvSpPr>
          <p:cNvPr id="20" name="Rectangle 19"/>
          <p:cNvSpPr/>
          <p:nvPr/>
        </p:nvSpPr>
        <p:spPr>
          <a:xfrm>
            <a:off x="276225" y="3124200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276225" y="3209925"/>
            <a:ext cx="5610225" cy="12001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2" name="Rounded Rectangle 21"/>
          <p:cNvSpPr/>
          <p:nvPr/>
        </p:nvSpPr>
        <p:spPr>
          <a:xfrm>
            <a:off x="6172200" y="2800350"/>
            <a:ext cx="5876925" cy="1685925"/>
          </a:xfrm>
          <a:prstGeom prst="roundRect">
            <a:avLst>
              <a:gd name="adj" fmla="val 451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6305550" y="2886075"/>
            <a:ext cx="56102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Market Country</a:t>
            </a:r>
          </a:p>
        </p:txBody>
      </p:sp>
      <p:sp>
        <p:nvSpPr>
          <p:cNvPr id="24" name="Rectangle 23"/>
          <p:cNvSpPr/>
          <p:nvPr/>
        </p:nvSpPr>
        <p:spPr>
          <a:xfrm>
            <a:off x="6305550" y="3124200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6305550" y="3209925"/>
            <a:ext cx="5610225" cy="12001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6" name="Rounded Rectangle 25"/>
          <p:cNvSpPr/>
          <p:nvPr/>
        </p:nvSpPr>
        <p:spPr>
          <a:xfrm>
            <a:off x="142875" y="4619625"/>
            <a:ext cx="11906250" cy="2000250"/>
          </a:xfrm>
          <a:prstGeom prst="roundRect">
            <a:avLst>
              <a:gd name="adj" fmla="val 380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TextBox 26"/>
          <p:cNvSpPr txBox="1"/>
          <p:nvPr/>
        </p:nvSpPr>
        <p:spPr>
          <a:xfrm>
            <a:off x="276225" y="470535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Fact.MR Analysis &amp; Recommendation</a:t>
            </a:r>
          </a:p>
        </p:txBody>
      </p:sp>
      <p:sp>
        <p:nvSpPr>
          <p:cNvPr id="28" name="Rectangle 27"/>
          <p:cNvSpPr/>
          <p:nvPr/>
        </p:nvSpPr>
        <p:spPr>
          <a:xfrm>
            <a:off x="276225" y="494347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276225" y="5029200"/>
            <a:ext cx="11639550" cy="151447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276225" y="1400175"/>
            <a:ext cx="53636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Balance scale in 'Shampoos &amp; Cleansing Products' with targeted growth in 'Shampoos &amp;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76225" y="1575435"/>
            <a:ext cx="205243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Cleansing Products', pursuing the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277818" y="1565211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2452927" y="1575435"/>
            <a:ext cx="15518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trajectory to 2036.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276225" y="3219450"/>
            <a:ext cx="277955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Prioritise 'Shampoos &amp; Cleansing Products' (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004930" y="3209226"/>
            <a:ext cx="134549" cy="195707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3180039" y="3219450"/>
            <a:ext cx="266972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); 'Shampoos &amp; Cleansing Products' anchors</a:t>
            </a:r>
          </a:p>
        </p:txBody>
      </p:sp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62145" y="3384486"/>
            <a:ext cx="134549" cy="195707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437254" y="3394710"/>
            <a:ext cx="5865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value.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6305550" y="3219450"/>
            <a:ext cx="139435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Lead with Germany (</a:t>
            </a:r>
          </a:p>
        </p:txBody>
      </p:sp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649062" y="3209226"/>
            <a:ext cx="134549" cy="195707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7824171" y="3219450"/>
            <a:ext cx="28879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); capture upside in Other European Countries (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661273" y="3209226"/>
            <a:ext cx="134549" cy="195707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10836382" y="3219450"/>
            <a:ext cx="1572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276225" y="5038725"/>
            <a:ext cx="18091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Pet Cosmetic Products adds</a:t>
            </a:r>
          </a:p>
        </p:txBody>
      </p:sp>
      <p:pic>
        <p:nvPicPr>
          <p:cNvPr id="46" name="Picture 4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034496" y="5028501"/>
            <a:ext cx="134549" cy="195707"/>
          </a:xfrm>
          <a:prstGeom prst="rect">
            <a:avLst/>
          </a:prstGeom>
        </p:spPr>
      </p:pic>
      <p:sp>
        <p:nvSpPr>
          <p:cNvPr id="47" name="TextBox 46"/>
          <p:cNvSpPr txBox="1"/>
          <p:nvPr/>
        </p:nvSpPr>
        <p:spPr>
          <a:xfrm>
            <a:off x="2209605" y="5038725"/>
            <a:ext cx="181510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of demand to 2036 a</a:t>
            </a:r>
          </a:p>
        </p:txBody>
      </p:sp>
      <p:pic>
        <p:nvPicPr>
          <p:cNvPr id="48" name="Picture 4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973867" y="5028501"/>
            <a:ext cx="134549" cy="195707"/>
          </a:xfrm>
          <a:prstGeom prst="rect">
            <a:avLst/>
          </a:prstGeom>
        </p:spPr>
      </p:pic>
      <p:sp>
        <p:nvSpPr>
          <p:cNvPr id="49" name="TextBox 48"/>
          <p:cNvSpPr txBox="1"/>
          <p:nvPr/>
        </p:nvSpPr>
        <p:spPr>
          <a:xfrm>
            <a:off x="4148976" y="5038725"/>
            <a:ext cx="82270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× expansion.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276225" y="5266563"/>
            <a:ext cx="634436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Concentrate resources on the leading segment/country while seeding the fastest-growing pockets early.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276225" y="5494400"/>
            <a:ext cx="527095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Defend share in 'Shampoos &amp; Cleansing Products' as the value anchor of the portfolio.</a:t>
            </a:r>
          </a:p>
        </p:txBody>
      </p:sp>
    </p:spTree>
  </p:cSld>
  <p:clrMapOvr>
    <a:masterClrMapping/>
  </p:clrMapOvr>
</p:sld>
</file>

<file path=ppt/slides/slide4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Scenario Outlook (4/4)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Scenario outlook comparing optimistic, likely and conservative outcomes for 2036 and the CAGR behind each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3943350" cy="69532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OPTIMISTIC (2036)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CAGR 7.5%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4238625" y="981075"/>
            <a:ext cx="3819525" cy="69532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LIKELY (2036)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CAGR 6.1%</a:t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8210550" y="981075"/>
            <a:ext cx="3819525" cy="69532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CONSERVATIVE (2036)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CAGR 4.5%</a:t>
            </a:r>
          </a:p>
        </p:txBody>
      </p:sp>
      <p:sp>
        <p:nvSpPr>
          <p:cNvPr id="13" name="Rounded Rectangle 12"/>
          <p:cNvSpPr/>
          <p:nvPr/>
        </p:nvSpPr>
        <p:spPr>
          <a:xfrm>
            <a:off x="142875" y="1809750"/>
            <a:ext cx="5876925" cy="3009900"/>
          </a:xfrm>
          <a:prstGeom prst="roundRect">
            <a:avLst>
              <a:gd name="adj" fmla="val 253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238125" y="18669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Pet Cosmetic Products Market Value (US$ Mn) Scenario Forecast, 2025 &amp; 2036</a:t>
            </a:r>
          </a:p>
        </p:txBody>
      </p:sp>
      <p:cxnSp>
        <p:nvCxnSpPr>
          <p:cNvPr id="15" name="Connector 14"/>
          <p:cNvCxnSpPr/>
          <p:nvPr/>
        </p:nvCxnSpPr>
        <p:spPr>
          <a:xfrm>
            <a:off x="238125" y="4305300"/>
            <a:ext cx="5686425" cy="0"/>
          </a:xfrm>
          <a:prstGeom prst="line">
            <a:avLst/>
          </a:prstGeom>
          <a:ln w="9525">
            <a:solidFill>
              <a:srgbClr val="BFBFB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" name="Rectangle 15"/>
          <p:cNvSpPr/>
          <p:nvPr/>
        </p:nvSpPr>
        <p:spPr>
          <a:xfrm>
            <a:off x="706342" y="3546706"/>
            <a:ext cx="635826" cy="758594"/>
          </a:xfrm>
          <a:prstGeom prst="rect">
            <a:avLst/>
          </a:prstGeom>
          <a:solidFill>
            <a:srgbClr val="4031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Rectangle 16"/>
          <p:cNvSpPr/>
          <p:nvPr/>
        </p:nvSpPr>
        <p:spPr>
          <a:xfrm>
            <a:off x="3043936" y="3065429"/>
            <a:ext cx="635826" cy="1239871"/>
          </a:xfrm>
          <a:prstGeom prst="rect">
            <a:avLst/>
          </a:prstGeom>
          <a:solidFill>
            <a:srgbClr val="92D05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Rectangle 17"/>
          <p:cNvSpPr/>
          <p:nvPr/>
        </p:nvSpPr>
        <p:spPr>
          <a:xfrm>
            <a:off x="4025725" y="2851744"/>
            <a:ext cx="635826" cy="1453556"/>
          </a:xfrm>
          <a:prstGeom prst="rect">
            <a:avLst/>
          </a:prstGeom>
          <a:solidFill>
            <a:srgbClr val="0078D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Rectangle 18"/>
          <p:cNvSpPr/>
          <p:nvPr/>
        </p:nvSpPr>
        <p:spPr>
          <a:xfrm>
            <a:off x="5007515" y="2605088"/>
            <a:ext cx="635826" cy="1700212"/>
          </a:xfrm>
          <a:prstGeom prst="rect">
            <a:avLst/>
          </a:prstGeom>
          <a:solidFill>
            <a:srgbClr val="8080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1456468" y="2932079"/>
            <a:ext cx="1568418" cy="0"/>
          </a:xfrm>
          <a:prstGeom prst="line">
            <a:avLst/>
          </a:prstGeom>
          <a:ln w="15875">
            <a:solidFill>
              <a:srgbClr val="92D050"/>
            </a:solidFill>
            <a:headEnd type="triangle" w="med" len="med"/>
            <a:tailEnd type="triangle" w="med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" name="Rounded Rectangle 20"/>
          <p:cNvSpPr/>
          <p:nvPr/>
        </p:nvSpPr>
        <p:spPr>
          <a:xfrm>
            <a:off x="1570768" y="2827304"/>
            <a:ext cx="1358868" cy="209550"/>
          </a:xfrm>
          <a:prstGeom prst="roundRect">
            <a:avLst/>
          </a:prstGeom>
          <a:solidFill>
            <a:srgbClr val="92D05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9050" rIns="19050" tIns="0" bIns="0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CAGR: 4.5%</a:t>
            </a:r>
          </a:p>
        </p:txBody>
      </p:sp>
      <p:cxnSp>
        <p:nvCxnSpPr>
          <p:cNvPr id="22" name="Connector 21"/>
          <p:cNvCxnSpPr/>
          <p:nvPr/>
        </p:nvCxnSpPr>
        <p:spPr>
          <a:xfrm>
            <a:off x="1456468" y="2674904"/>
            <a:ext cx="2550207" cy="0"/>
          </a:xfrm>
          <a:prstGeom prst="line">
            <a:avLst/>
          </a:prstGeom>
          <a:ln w="15875">
            <a:solidFill>
              <a:srgbClr val="0078D4"/>
            </a:solidFill>
            <a:headEnd type="triangle" w="med" len="med"/>
            <a:tailEnd type="triangle" w="med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3" name="Rounded Rectangle 22"/>
          <p:cNvSpPr/>
          <p:nvPr/>
        </p:nvSpPr>
        <p:spPr>
          <a:xfrm>
            <a:off x="1570768" y="2570129"/>
            <a:ext cx="1358868" cy="209550"/>
          </a:xfrm>
          <a:prstGeom prst="roundRect">
            <a:avLst/>
          </a:prstGeom>
          <a:solidFill>
            <a:srgbClr val="0078D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9050" rIns="19050" tIns="0" bIns="0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CAGR: 6.1%</a:t>
            </a:r>
          </a:p>
        </p:txBody>
      </p:sp>
      <p:cxnSp>
        <p:nvCxnSpPr>
          <p:cNvPr id="24" name="Connector 23"/>
          <p:cNvCxnSpPr/>
          <p:nvPr/>
        </p:nvCxnSpPr>
        <p:spPr>
          <a:xfrm>
            <a:off x="1456468" y="2417729"/>
            <a:ext cx="3531997" cy="0"/>
          </a:xfrm>
          <a:prstGeom prst="line">
            <a:avLst/>
          </a:prstGeom>
          <a:ln w="15875">
            <a:solidFill>
              <a:srgbClr val="808080"/>
            </a:solidFill>
            <a:headEnd type="triangle" w="med" len="med"/>
            <a:tailEnd type="triangle" w="med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" name="Rounded Rectangle 24"/>
          <p:cNvSpPr/>
          <p:nvPr/>
        </p:nvSpPr>
        <p:spPr>
          <a:xfrm>
            <a:off x="1570768" y="2312954"/>
            <a:ext cx="1358868" cy="209550"/>
          </a:xfrm>
          <a:prstGeom prst="roundRect">
            <a:avLst/>
          </a:prstGeom>
          <a:solidFill>
            <a:srgbClr val="8080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9050" rIns="19050" tIns="0" bIns="0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CAGR: 7.5%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643255" y="4333875"/>
            <a:ext cx="762000" cy="1809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2E2E2E"/>
                </a:solidFill>
                <a:latin typeface="Calibri"/>
              </a:rPr>
              <a:t>2025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3962638" y="4333875"/>
            <a:ext cx="762000" cy="1809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2E2E2E"/>
                </a:solidFill>
                <a:latin typeface="Calibri"/>
              </a:rPr>
              <a:t>2036</a:t>
            </a:r>
          </a:p>
        </p:txBody>
      </p:sp>
      <p:sp>
        <p:nvSpPr>
          <p:cNvPr id="28" name="Oval 27"/>
          <p:cNvSpPr/>
          <p:nvPr/>
        </p:nvSpPr>
        <p:spPr>
          <a:xfrm>
            <a:off x="304800" y="4572000"/>
            <a:ext cx="133350" cy="133350"/>
          </a:xfrm>
          <a:prstGeom prst="ellipse">
            <a:avLst/>
          </a:prstGeom>
          <a:solidFill>
            <a:srgbClr val="92D05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485775" y="4543425"/>
            <a:ext cx="1647825" cy="190500"/>
          </a:xfrm>
          <a:prstGeom prst="rect">
            <a:avLst/>
          </a:prstGeom>
          <a:noFill/>
        </p:spPr>
        <p:txBody>
          <a:bodyPr wrap="non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Conservative Scenario</a:t>
            </a:r>
          </a:p>
        </p:txBody>
      </p:sp>
      <p:sp>
        <p:nvSpPr>
          <p:cNvPr id="30" name="Oval 29"/>
          <p:cNvSpPr/>
          <p:nvPr/>
        </p:nvSpPr>
        <p:spPr>
          <a:xfrm>
            <a:off x="2200275" y="4572000"/>
            <a:ext cx="133350" cy="133350"/>
          </a:xfrm>
          <a:prstGeom prst="ellipse">
            <a:avLst/>
          </a:prstGeom>
          <a:solidFill>
            <a:srgbClr val="0078D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2381250" y="4543425"/>
            <a:ext cx="1647825" cy="190500"/>
          </a:xfrm>
          <a:prstGeom prst="rect">
            <a:avLst/>
          </a:prstGeom>
          <a:noFill/>
        </p:spPr>
        <p:txBody>
          <a:bodyPr wrap="non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Likely Scenario</a:t>
            </a:r>
          </a:p>
        </p:txBody>
      </p:sp>
      <p:sp>
        <p:nvSpPr>
          <p:cNvPr id="32" name="Oval 31"/>
          <p:cNvSpPr/>
          <p:nvPr/>
        </p:nvSpPr>
        <p:spPr>
          <a:xfrm>
            <a:off x="4095750" y="4572000"/>
            <a:ext cx="133350" cy="133350"/>
          </a:xfrm>
          <a:prstGeom prst="ellipse">
            <a:avLst/>
          </a:prstGeom>
          <a:solidFill>
            <a:srgbClr val="8080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TextBox 32"/>
          <p:cNvSpPr txBox="1"/>
          <p:nvPr/>
        </p:nvSpPr>
        <p:spPr>
          <a:xfrm>
            <a:off x="4276725" y="4543425"/>
            <a:ext cx="1647825" cy="190500"/>
          </a:xfrm>
          <a:prstGeom prst="rect">
            <a:avLst/>
          </a:prstGeom>
          <a:noFill/>
        </p:spPr>
        <p:txBody>
          <a:bodyPr wrap="non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Optimistic Scenario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6172200" y="1809750"/>
            <a:ext cx="5876925" cy="3009900"/>
          </a:xfrm>
          <a:prstGeom prst="roundRect">
            <a:avLst>
              <a:gd name="adj" fmla="val 253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TextBox 34"/>
          <p:cNvSpPr txBox="1"/>
          <p:nvPr/>
        </p:nvSpPr>
        <p:spPr>
          <a:xfrm>
            <a:off x="6267450" y="18669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Pet Cosmetic Products Market Attractiveness Analysis By Region, 2026–2036</a:t>
            </a:r>
          </a:p>
        </p:txBody>
      </p:sp>
      <p:graphicFrame>
        <p:nvGraphicFramePr>
          <p:cNvPr id="36" name="Chart 35"/>
          <p:cNvGraphicFramePr>
            <a:graphicFrameLocks noGrp="1"/>
          </p:cNvGraphicFramePr>
          <p:nvPr/>
        </p:nvGraphicFramePr>
        <p:xfrm>
          <a:off x="6267450" y="2266950"/>
          <a:ext cx="5686425" cy="249555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37" name="Rounded Rectangle 36"/>
          <p:cNvSpPr/>
          <p:nvPr/>
        </p:nvSpPr>
        <p:spPr>
          <a:xfrm>
            <a:off x="142875" y="4953000"/>
            <a:ext cx="11906250" cy="1676400"/>
          </a:xfrm>
          <a:prstGeom prst="roundRect">
            <a:avLst>
              <a:gd name="adj" fmla="val 454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276225" y="503872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Scenario Assumptions &amp; Outlook</a:t>
            </a:r>
          </a:p>
        </p:txBody>
      </p:sp>
      <p:sp>
        <p:nvSpPr>
          <p:cNvPr id="39" name="Rectangle 38"/>
          <p:cNvSpPr/>
          <p:nvPr/>
        </p:nvSpPr>
        <p:spPr>
          <a:xfrm>
            <a:off x="276225" y="527685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276225" y="5362575"/>
            <a:ext cx="11639550" cy="11906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035969" y="1214437"/>
            <a:ext cx="157162" cy="228600"/>
          </a:xfrm>
          <a:prstGeom prst="rect">
            <a:avLst/>
          </a:prstGeom>
        </p:spPr>
      </p:pic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069806" y="1214437"/>
            <a:ext cx="157162" cy="228600"/>
          </a:xfrm>
          <a:prstGeom prst="rect">
            <a:avLst/>
          </a:prstGeom>
        </p:spPr>
      </p:pic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041731" y="1214437"/>
            <a:ext cx="157162" cy="228600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276225" y="5372100"/>
            <a:ext cx="80816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Optimistic:</a:t>
            </a:r>
          </a:p>
        </p:txBody>
      </p:sp>
      <p:pic>
        <p:nvPicPr>
          <p:cNvPr id="46" name="Picture 4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33540" y="5361876"/>
            <a:ext cx="134549" cy="195707"/>
          </a:xfrm>
          <a:prstGeom prst="rect">
            <a:avLst/>
          </a:prstGeom>
        </p:spPr>
      </p:pic>
      <p:sp>
        <p:nvSpPr>
          <p:cNvPr id="47" name="TextBox 46"/>
          <p:cNvSpPr txBox="1"/>
          <p:nvPr/>
        </p:nvSpPr>
        <p:spPr>
          <a:xfrm>
            <a:off x="1208649" y="5372100"/>
            <a:ext cx="19300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by 2036 at 7.5% CAGR.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276225" y="5599938"/>
            <a:ext cx="144827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Likely (base forecast):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673650" y="5589714"/>
            <a:ext cx="134549" cy="195707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1848759" y="5599938"/>
            <a:ext cx="142429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at 6.1% CAGR.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276225" y="5827775"/>
            <a:ext cx="9696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Conservative:</a:t>
            </a:r>
          </a:p>
        </p:txBody>
      </p:sp>
      <p:pic>
        <p:nvPicPr>
          <p:cNvPr id="52" name="Picture 5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94994" y="5817552"/>
            <a:ext cx="134549" cy="195707"/>
          </a:xfrm>
          <a:prstGeom prst="rect">
            <a:avLst/>
          </a:prstGeom>
        </p:spPr>
      </p:pic>
      <p:sp>
        <p:nvSpPr>
          <p:cNvPr id="53" name="TextBox 52"/>
          <p:cNvSpPr txBox="1"/>
          <p:nvPr/>
        </p:nvSpPr>
        <p:spPr>
          <a:xfrm>
            <a:off x="1370103" y="5827775"/>
            <a:ext cx="142429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at 4.5% CAGR.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276225" y="6055613"/>
            <a:ext cx="366013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Scenarios flex the base forecast's year-on-year growth by ±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885509" y="6045390"/>
            <a:ext cx="134549" cy="195707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4060618" y="6055613"/>
            <a:ext cx="190068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across the 2026–2036 horizon.</a:t>
            </a:r>
          </a:p>
        </p:txBody>
      </p:sp>
      <p:sp>
        <p:nvSpPr>
          <p:cNvPr id="57" name="lockshield_36"/>
          <p:cNvSpPr/>
          <p:nvPr/>
        </p:nvSpPr>
        <p:spPr>
          <a:xfrm>
            <a:off x="6267450" y="2266950"/>
            <a:ext cx="5686425" cy="249555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4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6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Europe Market Analysis By Region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Europe Pet Cosmetic Products – Regional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Analysis By Region (1/2)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Analysis By Region (2/2)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Volume Share Analysis By Region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Value Share Analysis By Region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4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– Regional Outlook (1/4)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Regional analysis of size, growth and share across 25 countries, highlighting where value concentrates,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By Country view breaks the Europe market down geographically. Each country is evaluated on market size, growth outlook and adoption trends across the forecast period.</a:t>
            </a:r>
          </a:p>
        </p:txBody>
      </p:sp>
      <p:sp>
        <p:nvSpPr>
          <p:cNvPr id="12" name="Rectangle 11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Country</a:t>
            </a:r>
          </a:p>
        </p:txBody>
      </p:sp>
      <p:sp>
        <p:nvSpPr>
          <p:cNvPr id="14" name="Rectangle 13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6" name="Rectangle 15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8" name="Rectangle 17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866900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Rectangle 20"/>
          <p:cNvSpPr/>
          <p:nvPr/>
        </p:nvSpPr>
        <p:spPr>
          <a:xfrm>
            <a:off x="1866900" y="1992961"/>
            <a:ext cx="1330779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905000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Germany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5" name="Rectangle 24"/>
          <p:cNvSpPr/>
          <p:nvPr/>
        </p:nvSpPr>
        <p:spPr>
          <a:xfrm>
            <a:off x="1866900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6" name="Oval 25"/>
          <p:cNvSpPr/>
          <p:nvPr/>
        </p:nvSpPr>
        <p:spPr>
          <a:xfrm>
            <a:off x="2370364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3311979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Rectangle 27"/>
          <p:cNvSpPr/>
          <p:nvPr/>
        </p:nvSpPr>
        <p:spPr>
          <a:xfrm>
            <a:off x="3311979" y="1992961"/>
            <a:ext cx="1330779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3350079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United Kingdom</a:t>
            </a:r>
          </a:p>
        </p:txBody>
      </p:sp>
      <p:sp>
        <p:nvSpPr>
          <p:cNvPr id="30" name="Rectangle 29"/>
          <p:cNvSpPr/>
          <p:nvPr/>
        </p:nvSpPr>
        <p:spPr>
          <a:xfrm>
            <a:off x="3311979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3311979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2" name="Rectangle 31"/>
          <p:cNvSpPr/>
          <p:nvPr/>
        </p:nvSpPr>
        <p:spPr>
          <a:xfrm>
            <a:off x="3311979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3815443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4757057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4757057" y="1992961"/>
            <a:ext cx="1330779" cy="21904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4795157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France</a:t>
            </a:r>
          </a:p>
        </p:txBody>
      </p:sp>
      <p:sp>
        <p:nvSpPr>
          <p:cNvPr id="37" name="Rectangle 36"/>
          <p:cNvSpPr/>
          <p:nvPr/>
        </p:nvSpPr>
        <p:spPr>
          <a:xfrm>
            <a:off x="4757057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8" name="Rectangle 37"/>
          <p:cNvSpPr/>
          <p:nvPr/>
        </p:nvSpPr>
        <p:spPr>
          <a:xfrm>
            <a:off x="4757057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9" name="Rectangle 38"/>
          <p:cNvSpPr/>
          <p:nvPr/>
        </p:nvSpPr>
        <p:spPr>
          <a:xfrm>
            <a:off x="4757057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40" name="Oval 39"/>
          <p:cNvSpPr/>
          <p:nvPr/>
        </p:nvSpPr>
        <p:spPr>
          <a:xfrm>
            <a:off x="5260521" y="1445350"/>
            <a:ext cx="323850" cy="310313"/>
          </a:xfrm>
          <a:prstGeom prst="ellipse">
            <a:avLst/>
          </a:prstGeom>
          <a:solidFill>
            <a:srgbClr val="0081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41" name="Rounded Rectangle 40"/>
          <p:cNvSpPr/>
          <p:nvPr/>
        </p:nvSpPr>
        <p:spPr>
          <a:xfrm>
            <a:off x="6202136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6202136" y="1992961"/>
            <a:ext cx="1330779" cy="219044"/>
          </a:xfrm>
          <a:prstGeom prst="rect">
            <a:avLst/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6240236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Italy</a:t>
            </a:r>
          </a:p>
        </p:txBody>
      </p:sp>
      <p:sp>
        <p:nvSpPr>
          <p:cNvPr id="44" name="Rectangle 43"/>
          <p:cNvSpPr/>
          <p:nvPr/>
        </p:nvSpPr>
        <p:spPr>
          <a:xfrm>
            <a:off x="6202136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5" name="Rectangle 44"/>
          <p:cNvSpPr/>
          <p:nvPr/>
        </p:nvSpPr>
        <p:spPr>
          <a:xfrm>
            <a:off x="6202136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6" name="Rectangle 45"/>
          <p:cNvSpPr/>
          <p:nvPr/>
        </p:nvSpPr>
        <p:spPr>
          <a:xfrm>
            <a:off x="6202136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7" name="Oval 46"/>
          <p:cNvSpPr/>
          <p:nvPr/>
        </p:nvSpPr>
        <p:spPr>
          <a:xfrm>
            <a:off x="6705600" y="1445350"/>
            <a:ext cx="323850" cy="310313"/>
          </a:xfrm>
          <a:prstGeom prst="ellipse">
            <a:avLst/>
          </a:prstGeom>
          <a:solidFill>
            <a:srgbClr val="6F3CC2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4</a:t>
            </a:r>
          </a:p>
        </p:txBody>
      </p:sp>
      <p:sp>
        <p:nvSpPr>
          <p:cNvPr id="48" name="Rounded Rectangle 47"/>
          <p:cNvSpPr/>
          <p:nvPr/>
        </p:nvSpPr>
        <p:spPr>
          <a:xfrm>
            <a:off x="7647214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Rectangle 48"/>
          <p:cNvSpPr/>
          <p:nvPr/>
        </p:nvSpPr>
        <p:spPr>
          <a:xfrm>
            <a:off x="7647214" y="1992961"/>
            <a:ext cx="1330779" cy="219044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7685314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Spain</a:t>
            </a:r>
          </a:p>
        </p:txBody>
      </p:sp>
      <p:sp>
        <p:nvSpPr>
          <p:cNvPr id="51" name="Rectangle 50"/>
          <p:cNvSpPr/>
          <p:nvPr/>
        </p:nvSpPr>
        <p:spPr>
          <a:xfrm>
            <a:off x="7647214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52" name="Rectangle 51"/>
          <p:cNvSpPr/>
          <p:nvPr/>
        </p:nvSpPr>
        <p:spPr>
          <a:xfrm>
            <a:off x="7647214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53" name="Rectangle 52"/>
          <p:cNvSpPr/>
          <p:nvPr/>
        </p:nvSpPr>
        <p:spPr>
          <a:xfrm>
            <a:off x="7647214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54" name="Oval 53"/>
          <p:cNvSpPr/>
          <p:nvPr/>
        </p:nvSpPr>
        <p:spPr>
          <a:xfrm>
            <a:off x="8150679" y="1445350"/>
            <a:ext cx="323850" cy="310313"/>
          </a:xfrm>
          <a:prstGeom prst="ellipse">
            <a:avLst/>
          </a:prstGeom>
          <a:solidFill>
            <a:srgbClr val="A86F00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5</a:t>
            </a:r>
          </a:p>
        </p:txBody>
      </p:sp>
      <p:sp>
        <p:nvSpPr>
          <p:cNvPr id="55" name="Rounded Rectangle 54"/>
          <p:cNvSpPr/>
          <p:nvPr/>
        </p:nvSpPr>
        <p:spPr>
          <a:xfrm>
            <a:off x="9092293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9092293" y="1992961"/>
            <a:ext cx="1330779" cy="219044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TextBox 56"/>
          <p:cNvSpPr txBox="1"/>
          <p:nvPr/>
        </p:nvSpPr>
        <p:spPr>
          <a:xfrm>
            <a:off x="9130393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Netherlands</a:t>
            </a:r>
          </a:p>
        </p:txBody>
      </p:sp>
      <p:sp>
        <p:nvSpPr>
          <p:cNvPr id="58" name="Rectangle 57"/>
          <p:cNvSpPr/>
          <p:nvPr/>
        </p:nvSpPr>
        <p:spPr>
          <a:xfrm>
            <a:off x="9092293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59" name="Rectangle 58"/>
          <p:cNvSpPr/>
          <p:nvPr/>
        </p:nvSpPr>
        <p:spPr>
          <a:xfrm>
            <a:off x="9092293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60" name="Rectangle 59"/>
          <p:cNvSpPr/>
          <p:nvPr/>
        </p:nvSpPr>
        <p:spPr>
          <a:xfrm>
            <a:off x="9092293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61" name="Oval 60"/>
          <p:cNvSpPr/>
          <p:nvPr/>
        </p:nvSpPr>
        <p:spPr>
          <a:xfrm>
            <a:off x="9595757" y="1445350"/>
            <a:ext cx="323850" cy="310313"/>
          </a:xfrm>
          <a:prstGeom prst="ellipse">
            <a:avLst/>
          </a:prstGeom>
          <a:solidFill>
            <a:srgbClr val="A35313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6</a:t>
            </a:r>
          </a:p>
        </p:txBody>
      </p:sp>
      <p:sp>
        <p:nvSpPr>
          <p:cNvPr id="62" name="Rounded Rectangle 61"/>
          <p:cNvSpPr/>
          <p:nvPr/>
        </p:nvSpPr>
        <p:spPr>
          <a:xfrm>
            <a:off x="10537371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6C7A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537371" y="1992961"/>
            <a:ext cx="1330779" cy="219044"/>
          </a:xfrm>
          <a:prstGeom prst="rect">
            <a:avLst/>
          </a:prstGeom>
          <a:solidFill>
            <a:srgbClr val="6C7A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10575471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Poland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0537371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66" name="Rectangle 65"/>
          <p:cNvSpPr/>
          <p:nvPr/>
        </p:nvSpPr>
        <p:spPr>
          <a:xfrm>
            <a:off x="10537371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67" name="Rectangle 66"/>
          <p:cNvSpPr/>
          <p:nvPr/>
        </p:nvSpPr>
        <p:spPr>
          <a:xfrm>
            <a:off x="10537371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68" name="Oval 67"/>
          <p:cNvSpPr/>
          <p:nvPr/>
        </p:nvSpPr>
        <p:spPr>
          <a:xfrm>
            <a:off x="11040836" y="1445350"/>
            <a:ext cx="323850" cy="310313"/>
          </a:xfrm>
          <a:prstGeom prst="ellipse">
            <a:avLst/>
          </a:prstGeom>
          <a:solidFill>
            <a:srgbClr val="6C7A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7</a:t>
            </a:r>
          </a:p>
        </p:txBody>
      </p:sp>
      <p:sp>
        <p:nvSpPr>
          <p:cNvPr id="69" name="Rounded Rectangle 68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71" name="Rectangle 70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73" name="Rounded Rectangle 72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75" name="Rectangle 74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1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08189"/>
                </a:solidFill>
                <a:latin typeface="Calibri"/>
              </a:rPr>
              <a:t/>
            </a:r>
            <a:r>
              <a:rPr sz="1100" b="1">
                <a:solidFill>
                  <a:srgbClr val="0081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6F3CC2"/>
                </a:solidFill>
                <a:latin typeface="Calibri"/>
              </a:rPr>
              <a:t/>
            </a:r>
            <a:r>
              <a:rPr sz="1100" b="1">
                <a:solidFill>
                  <a:srgbClr val="6F3CC2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A86F00"/>
                </a:solidFill>
                <a:latin typeface="Calibri"/>
              </a:rPr>
              <a:t/>
            </a:r>
            <a:r>
              <a:rPr sz="1100" b="1">
                <a:solidFill>
                  <a:srgbClr val="A86F00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A35313"/>
                </a:solidFill>
                <a:latin typeface="Calibri"/>
              </a:rPr>
              <a:t/>
            </a:r>
            <a:r>
              <a:rPr sz="1100" b="1">
                <a:solidFill>
                  <a:srgbClr val="A35313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6C7A89"/>
                </a:solidFill>
                <a:latin typeface="Calibri"/>
              </a:rPr>
              <a:t/>
            </a:r>
            <a:r>
              <a:rPr sz="1100" b="1">
                <a:solidFill>
                  <a:srgbClr val="6C7A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77" name="Rounded Rectangle 76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Segment Overview</a:t>
            </a:r>
          </a:p>
        </p:txBody>
      </p:sp>
      <p:sp>
        <p:nvSpPr>
          <p:cNvPr id="79" name="Rectangle 78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By Country split shows where market value concentrates and where growth is fastest.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demand and access dynamics are rebalancing the geographic mix through 2036.</a:t>
            </a:r>
          </a:p>
        </p:txBody>
      </p:sp>
      <p:sp>
        <p:nvSpPr>
          <p:cNvPr id="81" name="Rectangle 80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85" name="Picture 84" descr="524_0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34425" y="2286582"/>
            <a:ext cx="1195728" cy="361950"/>
          </a:xfrm>
          <a:prstGeom prst="rect">
            <a:avLst/>
          </a:prstGeom>
        </p:spPr>
      </p:pic>
      <p:pic>
        <p:nvPicPr>
          <p:cNvPr id="86" name="Picture 85" descr="930_8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934425" y="2779432"/>
            <a:ext cx="1195728" cy="361950"/>
          </a:xfrm>
          <a:prstGeom prst="rect">
            <a:avLst/>
          </a:prstGeom>
        </p:spPr>
      </p:pic>
      <p:pic>
        <p:nvPicPr>
          <p:cNvPr id="87" name="Picture 86" descr="5_9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041071" y="3272281"/>
            <a:ext cx="982436" cy="361950"/>
          </a:xfrm>
          <a:prstGeom prst="rect">
            <a:avLst/>
          </a:prstGeom>
        </p:spPr>
      </p:pic>
      <p:pic>
        <p:nvPicPr>
          <p:cNvPr id="88" name="Picture 87" descr="514_4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379504" y="2286582"/>
            <a:ext cx="1195728" cy="361950"/>
          </a:xfrm>
          <a:prstGeom prst="rect">
            <a:avLst/>
          </a:prstGeom>
        </p:spPr>
      </p:pic>
      <p:pic>
        <p:nvPicPr>
          <p:cNvPr id="89" name="Picture 88" descr="902_6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379504" y="2779432"/>
            <a:ext cx="1195728" cy="361950"/>
          </a:xfrm>
          <a:prstGeom prst="rect">
            <a:avLst/>
          </a:prstGeom>
        </p:spPr>
      </p:pic>
      <p:pic>
        <p:nvPicPr>
          <p:cNvPr id="90" name="Picture 89" descr="5_8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3486150" y="3272281"/>
            <a:ext cx="982436" cy="361950"/>
          </a:xfrm>
          <a:prstGeom prst="rect">
            <a:avLst/>
          </a:prstGeom>
        </p:spPr>
      </p:pic>
      <p:pic>
        <p:nvPicPr>
          <p:cNvPr id="91" name="Picture 90" descr="414_2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4824582" y="2286582"/>
            <a:ext cx="1195728" cy="361950"/>
          </a:xfrm>
          <a:prstGeom prst="rect">
            <a:avLst/>
          </a:prstGeom>
        </p:spPr>
      </p:pic>
      <p:pic>
        <p:nvPicPr>
          <p:cNvPr id="92" name="Picture 91" descr="772_8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4824582" y="2779432"/>
            <a:ext cx="1195728" cy="361950"/>
          </a:xfrm>
          <a:prstGeom prst="rect">
            <a:avLst/>
          </a:prstGeom>
        </p:spPr>
      </p:pic>
      <p:pic>
        <p:nvPicPr>
          <p:cNvPr id="93" name="Picture 92" descr="6_4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4931228" y="3272281"/>
            <a:ext cx="982436" cy="361950"/>
          </a:xfrm>
          <a:prstGeom prst="rect">
            <a:avLst/>
          </a:prstGeom>
        </p:spPr>
      </p:pic>
      <p:pic>
        <p:nvPicPr>
          <p:cNvPr id="94" name="Picture 93" descr="321_4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6269661" y="2286582"/>
            <a:ext cx="1195728" cy="361950"/>
          </a:xfrm>
          <a:prstGeom prst="rect">
            <a:avLst/>
          </a:prstGeom>
        </p:spPr>
      </p:pic>
      <p:pic>
        <p:nvPicPr>
          <p:cNvPr id="95" name="Picture 94" descr="569_8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6269661" y="2779432"/>
            <a:ext cx="1195728" cy="361950"/>
          </a:xfrm>
          <a:prstGeom prst="rect">
            <a:avLst/>
          </a:prstGeom>
        </p:spPr>
      </p:pic>
      <p:pic>
        <p:nvPicPr>
          <p:cNvPr id="96" name="Picture 95" descr="5_9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376307" y="3272281"/>
            <a:ext cx="982436" cy="361950"/>
          </a:xfrm>
          <a:prstGeom prst="rect">
            <a:avLst/>
          </a:prstGeom>
        </p:spPr>
      </p:pic>
      <p:pic>
        <p:nvPicPr>
          <p:cNvPr id="97" name="Picture 96" descr="218_6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7714739" y="2286582"/>
            <a:ext cx="1195728" cy="361950"/>
          </a:xfrm>
          <a:prstGeom prst="rect">
            <a:avLst/>
          </a:prstGeom>
        </p:spPr>
      </p:pic>
      <p:pic>
        <p:nvPicPr>
          <p:cNvPr id="98" name="Picture 97" descr="419_9_605E5C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7714739" y="2779432"/>
            <a:ext cx="1195728" cy="361950"/>
          </a:xfrm>
          <a:prstGeom prst="rect">
            <a:avLst/>
          </a:prstGeom>
        </p:spPr>
      </p:pic>
      <p:pic>
        <p:nvPicPr>
          <p:cNvPr id="99" name="Picture 98" descr="6_7__605E5C.png"/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7821385" y="3272281"/>
            <a:ext cx="982436" cy="361950"/>
          </a:xfrm>
          <a:prstGeom prst="rect">
            <a:avLst/>
          </a:prstGeom>
        </p:spPr>
      </p:pic>
      <p:pic>
        <p:nvPicPr>
          <p:cNvPr id="100" name="Picture 99" descr="141_4_605E5C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9159818" y="2286582"/>
            <a:ext cx="1195728" cy="361950"/>
          </a:xfrm>
          <a:prstGeom prst="rect">
            <a:avLst/>
          </a:prstGeom>
        </p:spPr>
      </p:pic>
      <p:pic>
        <p:nvPicPr>
          <p:cNvPr id="101" name="Picture 100" descr="274_6_605E5C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9159818" y="2779432"/>
            <a:ext cx="1195728" cy="361950"/>
          </a:xfrm>
          <a:prstGeom prst="rect">
            <a:avLst/>
          </a:prstGeom>
        </p:spPr>
      </p:pic>
      <p:pic>
        <p:nvPicPr>
          <p:cNvPr id="102" name="Picture 101" descr="6_9__605E5C.png"/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9266464" y="3272281"/>
            <a:ext cx="982436" cy="361950"/>
          </a:xfrm>
          <a:prstGeom prst="rect">
            <a:avLst/>
          </a:prstGeom>
        </p:spPr>
      </p:pic>
      <p:pic>
        <p:nvPicPr>
          <p:cNvPr id="103" name="Picture 102" descr="140_1_605E5C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10604896" y="2286582"/>
            <a:ext cx="1195728" cy="361950"/>
          </a:xfrm>
          <a:prstGeom prst="rect">
            <a:avLst/>
          </a:prstGeom>
        </p:spPr>
      </p:pic>
      <p:pic>
        <p:nvPicPr>
          <p:cNvPr id="104" name="Picture 103" descr="229_8_605E5C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10604896" y="2779432"/>
            <a:ext cx="1195728" cy="361950"/>
          </a:xfrm>
          <a:prstGeom prst="rect">
            <a:avLst/>
          </a:prstGeom>
        </p:spPr>
      </p:pic>
      <p:pic>
        <p:nvPicPr>
          <p:cNvPr id="105" name="Picture 104" descr="5_1__605E5C.png"/>
          <p:cNvPicPr>
            <a:picLocks noChangeAspect="1"/>
          </p:cNvPicPr>
          <p:nvPr/>
        </p:nvPicPr>
        <p:blipFill>
          <a:blip r:embed="rId23"/>
          <a:stretch>
            <a:fillRect/>
          </a:stretch>
        </p:blipFill>
        <p:spPr>
          <a:xfrm>
            <a:off x="10711542" y="3272281"/>
            <a:ext cx="982436" cy="361950"/>
          </a:xfrm>
          <a:prstGeom prst="rect">
            <a:avLst/>
          </a:prstGeom>
        </p:spPr>
      </p:pic>
      <p:pic>
        <p:nvPicPr>
          <p:cNvPr id="106" name="Picture 105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2438944" y="2827057"/>
            <a:ext cx="183356" cy="266700"/>
          </a:xfrm>
          <a:prstGeom prst="rect">
            <a:avLst/>
          </a:prstGeom>
        </p:spPr>
      </p:pic>
      <p:pic>
        <p:nvPicPr>
          <p:cNvPr id="107" name="Picture 106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3884023" y="2827057"/>
            <a:ext cx="183356" cy="266700"/>
          </a:xfrm>
          <a:prstGeom prst="rect">
            <a:avLst/>
          </a:prstGeom>
        </p:spPr>
      </p:pic>
      <p:pic>
        <p:nvPicPr>
          <p:cNvPr id="108" name="Picture 107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5329101" y="2827057"/>
            <a:ext cx="183356" cy="266700"/>
          </a:xfrm>
          <a:prstGeom prst="rect">
            <a:avLst/>
          </a:prstGeom>
        </p:spPr>
      </p:pic>
      <p:pic>
        <p:nvPicPr>
          <p:cNvPr id="109" name="Picture 108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6774180" y="2827057"/>
            <a:ext cx="183356" cy="266700"/>
          </a:xfrm>
          <a:prstGeom prst="rect">
            <a:avLst/>
          </a:prstGeom>
        </p:spPr>
      </p:pic>
      <p:pic>
        <p:nvPicPr>
          <p:cNvPr id="110" name="Picture 109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8219258" y="2827057"/>
            <a:ext cx="183356" cy="266700"/>
          </a:xfrm>
          <a:prstGeom prst="rect">
            <a:avLst/>
          </a:prstGeom>
        </p:spPr>
      </p:pic>
      <p:pic>
        <p:nvPicPr>
          <p:cNvPr id="111" name="Picture 110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9664337" y="2827057"/>
            <a:ext cx="183356" cy="266700"/>
          </a:xfrm>
          <a:prstGeom prst="rect">
            <a:avLst/>
          </a:prstGeom>
        </p:spPr>
      </p:pic>
      <p:pic>
        <p:nvPicPr>
          <p:cNvPr id="112" name="Picture 111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11109415" y="2827057"/>
            <a:ext cx="183356" cy="266700"/>
          </a:xfrm>
          <a:prstGeom prst="rect">
            <a:avLst/>
          </a:prstGeom>
        </p:spPr>
      </p:pic>
      <p:sp>
        <p:nvSpPr>
          <p:cNvPr id="113" name="TextBox 112"/>
          <p:cNvSpPr txBox="1"/>
          <p:nvPr/>
        </p:nvSpPr>
        <p:spPr>
          <a:xfrm>
            <a:off x="485775" y="4229437"/>
            <a:ext cx="251494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'Germany' holds the largest share in 2026</a:t>
            </a:r>
          </a:p>
        </p:txBody>
      </p:sp>
      <p:pic>
        <p:nvPicPr>
          <p:cNvPr id="114" name="Picture 113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2948773" y="4219658"/>
            <a:ext cx="128699" cy="187198"/>
          </a:xfrm>
          <a:prstGeom prst="rect">
            <a:avLst/>
          </a:prstGeom>
        </p:spPr>
      </p:pic>
      <p:sp>
        <p:nvSpPr>
          <p:cNvPr id="115" name="TextBox 114"/>
          <p:cNvSpPr txBox="1"/>
          <p:nvPr/>
        </p:nvSpPr>
        <p:spPr>
          <a:xfrm>
            <a:off x="3116269" y="4229437"/>
            <a:ext cx="19243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</a:t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485775" y="4397077"/>
            <a:ext cx="85546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market value.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485775" y="4615009"/>
            <a:ext cx="29146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'Other European Countries' is the fastest-growing</a:t>
            </a:r>
          </a:p>
        </p:txBody>
      </p:sp>
      <p:sp>
        <p:nvSpPr>
          <p:cNvPr id="118" name="TextBox 117"/>
          <p:cNvSpPr txBox="1"/>
          <p:nvPr/>
        </p:nvSpPr>
        <p:spPr>
          <a:xfrm>
            <a:off x="485775" y="4782649"/>
            <a:ext cx="66037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country at</a:t>
            </a:r>
          </a:p>
        </p:txBody>
      </p:sp>
      <p:pic>
        <p:nvPicPr>
          <p:cNvPr id="119" name="Picture 118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1094201" y="4772870"/>
            <a:ext cx="128699" cy="187198"/>
          </a:xfrm>
          <a:prstGeom prst="rect">
            <a:avLst/>
          </a:prstGeom>
        </p:spPr>
      </p:pic>
      <p:sp>
        <p:nvSpPr>
          <p:cNvPr id="120" name="TextBox 119"/>
          <p:cNvSpPr txBox="1"/>
          <p:nvPr/>
        </p:nvSpPr>
        <p:spPr>
          <a:xfrm>
            <a:off x="1261697" y="4782649"/>
            <a:ext cx="123307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through 2036.</a:t>
            </a:r>
          </a:p>
        </p:txBody>
      </p:sp>
      <p:sp>
        <p:nvSpPr>
          <p:cNvPr id="121" name="TextBox 120"/>
          <p:cNvSpPr txBox="1"/>
          <p:nvPr/>
        </p:nvSpPr>
        <p:spPr>
          <a:xfrm>
            <a:off x="485775" y="5000581"/>
            <a:ext cx="172094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Market value expands from</a:t>
            </a:r>
          </a:p>
        </p:txBody>
      </p:sp>
      <p:pic>
        <p:nvPicPr>
          <p:cNvPr id="122" name="Picture 121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2154775" y="4990801"/>
            <a:ext cx="128699" cy="187198"/>
          </a:xfrm>
          <a:prstGeom prst="rect">
            <a:avLst/>
          </a:prstGeom>
        </p:spPr>
      </p:pic>
      <p:sp>
        <p:nvSpPr>
          <p:cNvPr id="123" name="TextBox 122"/>
          <p:cNvSpPr txBox="1"/>
          <p:nvPr/>
        </p:nvSpPr>
        <p:spPr>
          <a:xfrm>
            <a:off x="2322271" y="5000581"/>
            <a:ext cx="1968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124" name="Picture 123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2467123" y="4990801"/>
            <a:ext cx="128699" cy="187198"/>
          </a:xfrm>
          <a:prstGeom prst="rect">
            <a:avLst/>
          </a:prstGeom>
        </p:spPr>
      </p:pic>
      <p:sp>
        <p:nvSpPr>
          <p:cNvPr id="125" name="TextBox 124"/>
          <p:cNvSpPr txBox="1"/>
          <p:nvPr/>
        </p:nvSpPr>
        <p:spPr>
          <a:xfrm>
            <a:off x="2634619" y="5000581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126" name="TextBox 125"/>
          <p:cNvSpPr txBox="1"/>
          <p:nvPr/>
        </p:nvSpPr>
        <p:spPr>
          <a:xfrm>
            <a:off x="485775" y="5168221"/>
            <a:ext cx="11378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2026–2036.</a:t>
            </a:r>
          </a:p>
        </p:txBody>
      </p:sp>
      <p:sp>
        <p:nvSpPr>
          <p:cNvPr id="127" name="TextBox 126"/>
          <p:cNvSpPr txBox="1"/>
          <p:nvPr/>
        </p:nvSpPr>
        <p:spPr>
          <a:xfrm>
            <a:off x="485775" y="5386153"/>
            <a:ext cx="290239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25 countries make up the geographic landscape.</a:t>
            </a:r>
          </a:p>
        </p:txBody>
      </p:sp>
      <p:sp>
        <p:nvSpPr>
          <p:cNvPr id="128" name="TextBox 127"/>
          <p:cNvSpPr txBox="1"/>
          <p:nvPr/>
        </p:nvSpPr>
        <p:spPr>
          <a:xfrm>
            <a:off x="3838575" y="4229437"/>
            <a:ext cx="75123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Germany:</a:t>
            </a:r>
          </a:p>
        </p:txBody>
      </p:sp>
      <p:pic>
        <p:nvPicPr>
          <p:cNvPr id="129" name="Picture 128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4537861" y="4219658"/>
            <a:ext cx="128699" cy="187198"/>
          </a:xfrm>
          <a:prstGeom prst="rect">
            <a:avLst/>
          </a:prstGeom>
        </p:spPr>
      </p:pic>
      <p:sp>
        <p:nvSpPr>
          <p:cNvPr id="130" name="TextBox 129"/>
          <p:cNvSpPr txBox="1"/>
          <p:nvPr/>
        </p:nvSpPr>
        <p:spPr>
          <a:xfrm>
            <a:off x="4705357" y="422943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31" name="Picture 130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5564807" y="4219658"/>
            <a:ext cx="128699" cy="187198"/>
          </a:xfrm>
          <a:prstGeom prst="rect">
            <a:avLst/>
          </a:prstGeom>
        </p:spPr>
      </p:pic>
      <p:sp>
        <p:nvSpPr>
          <p:cNvPr id="132" name="TextBox 131"/>
          <p:cNvSpPr txBox="1"/>
          <p:nvPr/>
        </p:nvSpPr>
        <p:spPr>
          <a:xfrm>
            <a:off x="5732303" y="4229437"/>
            <a:ext cx="141943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leads the market.</a:t>
            </a:r>
          </a:p>
        </p:txBody>
      </p:sp>
      <p:sp>
        <p:nvSpPr>
          <p:cNvPr id="133" name="TextBox 132"/>
          <p:cNvSpPr txBox="1"/>
          <p:nvPr/>
        </p:nvSpPr>
        <p:spPr>
          <a:xfrm>
            <a:off x="3838575" y="4447369"/>
            <a:ext cx="114905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United Kingdom:</a:t>
            </a:r>
          </a:p>
        </p:txBody>
      </p:sp>
      <p:pic>
        <p:nvPicPr>
          <p:cNvPr id="134" name="Picture 133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4935678" y="4437590"/>
            <a:ext cx="128699" cy="187198"/>
          </a:xfrm>
          <a:prstGeom prst="rect">
            <a:avLst/>
          </a:prstGeom>
        </p:spPr>
      </p:pic>
      <p:sp>
        <p:nvSpPr>
          <p:cNvPr id="135" name="TextBox 134"/>
          <p:cNvSpPr txBox="1"/>
          <p:nvPr/>
        </p:nvSpPr>
        <p:spPr>
          <a:xfrm>
            <a:off x="5103174" y="444736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36" name="Picture 135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5962624" y="4437590"/>
            <a:ext cx="128699" cy="187198"/>
          </a:xfrm>
          <a:prstGeom prst="rect">
            <a:avLst/>
          </a:prstGeom>
        </p:spPr>
      </p:pic>
      <p:sp>
        <p:nvSpPr>
          <p:cNvPr id="137" name="TextBox 136"/>
          <p:cNvSpPr txBox="1"/>
          <p:nvPr/>
        </p:nvSpPr>
        <p:spPr>
          <a:xfrm>
            <a:off x="6130120" y="4447369"/>
            <a:ext cx="14156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3838575" y="4665301"/>
            <a:ext cx="61153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France:</a:t>
            </a:r>
          </a:p>
        </p:txBody>
      </p:sp>
      <p:pic>
        <p:nvPicPr>
          <p:cNvPr id="139" name="Picture 138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4398161" y="4655522"/>
            <a:ext cx="128699" cy="187198"/>
          </a:xfrm>
          <a:prstGeom prst="rect">
            <a:avLst/>
          </a:prstGeom>
        </p:spPr>
      </p:pic>
      <p:sp>
        <p:nvSpPr>
          <p:cNvPr id="140" name="TextBox 139"/>
          <p:cNvSpPr txBox="1"/>
          <p:nvPr/>
        </p:nvSpPr>
        <p:spPr>
          <a:xfrm>
            <a:off x="4565657" y="4665301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41" name="Picture 140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5425107" y="4655522"/>
            <a:ext cx="128699" cy="187198"/>
          </a:xfrm>
          <a:prstGeom prst="rect">
            <a:avLst/>
          </a:prstGeom>
        </p:spPr>
      </p:pic>
      <p:sp>
        <p:nvSpPr>
          <p:cNvPr id="142" name="TextBox 141"/>
          <p:cNvSpPr txBox="1"/>
          <p:nvPr/>
        </p:nvSpPr>
        <p:spPr>
          <a:xfrm>
            <a:off x="5592603" y="4665301"/>
            <a:ext cx="14156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143" name="TextBox 142"/>
          <p:cNvSpPr txBox="1"/>
          <p:nvPr/>
        </p:nvSpPr>
        <p:spPr>
          <a:xfrm>
            <a:off x="3838575" y="4883233"/>
            <a:ext cx="47401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Italy:</a:t>
            </a:r>
          </a:p>
        </p:txBody>
      </p:sp>
      <p:pic>
        <p:nvPicPr>
          <p:cNvPr id="144" name="Picture 143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4260644" y="4873454"/>
            <a:ext cx="128699" cy="187198"/>
          </a:xfrm>
          <a:prstGeom prst="rect">
            <a:avLst/>
          </a:prstGeom>
        </p:spPr>
      </p:pic>
      <p:sp>
        <p:nvSpPr>
          <p:cNvPr id="145" name="TextBox 144"/>
          <p:cNvSpPr txBox="1"/>
          <p:nvPr/>
        </p:nvSpPr>
        <p:spPr>
          <a:xfrm>
            <a:off x="4428139" y="4883233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46" name="Picture 145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5287590" y="4873454"/>
            <a:ext cx="128699" cy="187198"/>
          </a:xfrm>
          <a:prstGeom prst="rect">
            <a:avLst/>
          </a:prstGeom>
        </p:spPr>
      </p:pic>
      <p:sp>
        <p:nvSpPr>
          <p:cNvPr id="147" name="TextBox 146"/>
          <p:cNvSpPr txBox="1"/>
          <p:nvPr/>
        </p:nvSpPr>
        <p:spPr>
          <a:xfrm>
            <a:off x="5455086" y="4883233"/>
            <a:ext cx="14156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148" name="TextBox 147"/>
          <p:cNvSpPr txBox="1"/>
          <p:nvPr/>
        </p:nvSpPr>
        <p:spPr>
          <a:xfrm>
            <a:off x="3838575" y="5101165"/>
            <a:ext cx="53950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Spain:</a:t>
            </a:r>
          </a:p>
        </p:txBody>
      </p:sp>
      <p:pic>
        <p:nvPicPr>
          <p:cNvPr id="149" name="Picture 148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4326128" y="5091385"/>
            <a:ext cx="128699" cy="187198"/>
          </a:xfrm>
          <a:prstGeom prst="rect">
            <a:avLst/>
          </a:prstGeom>
        </p:spPr>
      </p:pic>
      <p:sp>
        <p:nvSpPr>
          <p:cNvPr id="150" name="TextBox 149"/>
          <p:cNvSpPr txBox="1"/>
          <p:nvPr/>
        </p:nvSpPr>
        <p:spPr>
          <a:xfrm>
            <a:off x="4493624" y="5101165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51" name="Picture 150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5353074" y="5091385"/>
            <a:ext cx="128699" cy="187198"/>
          </a:xfrm>
          <a:prstGeom prst="rect">
            <a:avLst/>
          </a:prstGeom>
        </p:spPr>
      </p:pic>
      <p:sp>
        <p:nvSpPr>
          <p:cNvPr id="152" name="TextBox 151"/>
          <p:cNvSpPr txBox="1"/>
          <p:nvPr/>
        </p:nvSpPr>
        <p:spPr>
          <a:xfrm>
            <a:off x="5520570" y="5101165"/>
            <a:ext cx="14156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153" name="TextBox 152"/>
          <p:cNvSpPr txBox="1"/>
          <p:nvPr/>
        </p:nvSpPr>
        <p:spPr>
          <a:xfrm>
            <a:off x="3838575" y="5319097"/>
            <a:ext cx="92858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Netherlands:</a:t>
            </a:r>
          </a:p>
        </p:txBody>
      </p:sp>
      <p:pic>
        <p:nvPicPr>
          <p:cNvPr id="154" name="Picture 153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4715214" y="5309317"/>
            <a:ext cx="128699" cy="187198"/>
          </a:xfrm>
          <a:prstGeom prst="rect">
            <a:avLst/>
          </a:prstGeom>
        </p:spPr>
      </p:pic>
      <p:sp>
        <p:nvSpPr>
          <p:cNvPr id="155" name="TextBox 154"/>
          <p:cNvSpPr txBox="1"/>
          <p:nvPr/>
        </p:nvSpPr>
        <p:spPr>
          <a:xfrm>
            <a:off x="4882710" y="531909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56" name="Picture 155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5742160" y="5309317"/>
            <a:ext cx="128699" cy="187198"/>
          </a:xfrm>
          <a:prstGeom prst="rect">
            <a:avLst/>
          </a:prstGeom>
        </p:spPr>
      </p:pic>
      <p:sp>
        <p:nvSpPr>
          <p:cNvPr id="157" name="TextBox 156"/>
          <p:cNvSpPr txBox="1"/>
          <p:nvPr/>
        </p:nvSpPr>
        <p:spPr>
          <a:xfrm>
            <a:off x="5909656" y="5319097"/>
            <a:ext cx="14156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158" name="TextBox 157"/>
          <p:cNvSpPr txBox="1"/>
          <p:nvPr/>
        </p:nvSpPr>
        <p:spPr>
          <a:xfrm>
            <a:off x="3838575" y="5537029"/>
            <a:ext cx="62135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Poland:</a:t>
            </a:r>
          </a:p>
        </p:txBody>
      </p:sp>
      <p:pic>
        <p:nvPicPr>
          <p:cNvPr id="159" name="Picture 158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4407984" y="5527249"/>
            <a:ext cx="128699" cy="187198"/>
          </a:xfrm>
          <a:prstGeom prst="rect">
            <a:avLst/>
          </a:prstGeom>
        </p:spPr>
      </p:pic>
      <p:sp>
        <p:nvSpPr>
          <p:cNvPr id="160" name="TextBox 159"/>
          <p:cNvSpPr txBox="1"/>
          <p:nvPr/>
        </p:nvSpPr>
        <p:spPr>
          <a:xfrm>
            <a:off x="4575479" y="553702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61" name="Picture 160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5434930" y="5527249"/>
            <a:ext cx="128699" cy="187198"/>
          </a:xfrm>
          <a:prstGeom prst="rect">
            <a:avLst/>
          </a:prstGeom>
        </p:spPr>
      </p:pic>
      <p:sp>
        <p:nvSpPr>
          <p:cNvPr id="162" name="TextBox 161"/>
          <p:cNvSpPr txBox="1"/>
          <p:nvPr/>
        </p:nvSpPr>
        <p:spPr>
          <a:xfrm>
            <a:off x="5602425" y="5537029"/>
            <a:ext cx="14156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163" name="TextBox 162"/>
          <p:cNvSpPr txBox="1"/>
          <p:nvPr/>
        </p:nvSpPr>
        <p:spPr>
          <a:xfrm>
            <a:off x="8524875" y="5842641"/>
            <a:ext cx="311983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The Europe market is projected to grow at a CAGR</a:t>
            </a:r>
          </a:p>
        </p:txBody>
      </p:sp>
      <p:sp>
        <p:nvSpPr>
          <p:cNvPr id="164" name="TextBox 163"/>
          <p:cNvSpPr txBox="1"/>
          <p:nvPr/>
        </p:nvSpPr>
        <p:spPr>
          <a:xfrm>
            <a:off x="8524875" y="6017901"/>
            <a:ext cx="20085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of</a:t>
            </a:r>
          </a:p>
        </p:txBody>
      </p:sp>
      <p:pic>
        <p:nvPicPr>
          <p:cNvPr id="165" name="Picture 164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8674884" y="6007677"/>
            <a:ext cx="134549" cy="195707"/>
          </a:xfrm>
          <a:prstGeom prst="rect">
            <a:avLst/>
          </a:prstGeom>
        </p:spPr>
      </p:pic>
      <p:sp>
        <p:nvSpPr>
          <p:cNvPr id="166" name="TextBox 165"/>
          <p:cNvSpPr txBox="1"/>
          <p:nvPr/>
        </p:nvSpPr>
        <p:spPr>
          <a:xfrm>
            <a:off x="8849994" y="6017901"/>
            <a:ext cx="12326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4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– Regional Outlook (2/4)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Regional analysis of size, growth and share across 25 countries, highlighting where value concentrates, 2026–2036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By Country view breaks the Europe market down geographically. Each country is evaluated on market size, growth outlook and adoption trends across the forecast period.</a:t>
            </a:r>
          </a:p>
        </p:txBody>
      </p:sp>
      <p:sp>
        <p:nvSpPr>
          <p:cNvPr id="11" name="Rectangle 10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Country</a:t>
            </a:r>
          </a:p>
        </p:txBody>
      </p:sp>
      <p:sp>
        <p:nvSpPr>
          <p:cNvPr id="13" name="Rectangle 12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5" name="Rectangle 14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7" name="Rectangle 16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1866900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1866900" y="1992961"/>
            <a:ext cx="1330779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1905000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Other European Countries</a:t>
            </a:r>
          </a:p>
        </p:txBody>
      </p:sp>
      <p:sp>
        <p:nvSpPr>
          <p:cNvPr id="22" name="Rectangle 21"/>
          <p:cNvSpPr/>
          <p:nvPr/>
        </p:nvSpPr>
        <p:spPr>
          <a:xfrm>
            <a:off x="1866900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5" name="Oval 24"/>
          <p:cNvSpPr/>
          <p:nvPr/>
        </p:nvSpPr>
        <p:spPr>
          <a:xfrm>
            <a:off x="2370364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8</a:t>
            </a:r>
          </a:p>
        </p:txBody>
      </p:sp>
      <p:sp>
        <p:nvSpPr>
          <p:cNvPr id="26" name="Rounded Rectangle 25"/>
          <p:cNvSpPr/>
          <p:nvPr/>
        </p:nvSpPr>
        <p:spPr>
          <a:xfrm>
            <a:off x="3311979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Rectangle 26"/>
          <p:cNvSpPr/>
          <p:nvPr/>
        </p:nvSpPr>
        <p:spPr>
          <a:xfrm>
            <a:off x="3311979" y="1992961"/>
            <a:ext cx="1330779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3350079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Sweden</a:t>
            </a:r>
          </a:p>
        </p:txBody>
      </p:sp>
      <p:sp>
        <p:nvSpPr>
          <p:cNvPr id="29" name="Rectangle 28"/>
          <p:cNvSpPr/>
          <p:nvPr/>
        </p:nvSpPr>
        <p:spPr>
          <a:xfrm>
            <a:off x="3311979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0" name="Rectangle 29"/>
          <p:cNvSpPr/>
          <p:nvPr/>
        </p:nvSpPr>
        <p:spPr>
          <a:xfrm>
            <a:off x="3311979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3311979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2" name="Oval 31"/>
          <p:cNvSpPr/>
          <p:nvPr/>
        </p:nvSpPr>
        <p:spPr>
          <a:xfrm>
            <a:off x="3815443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9</a:t>
            </a:r>
          </a:p>
        </p:txBody>
      </p:sp>
      <p:sp>
        <p:nvSpPr>
          <p:cNvPr id="33" name="Rounded Rectangle 32"/>
          <p:cNvSpPr/>
          <p:nvPr/>
        </p:nvSpPr>
        <p:spPr>
          <a:xfrm>
            <a:off x="4757057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4757057" y="1992961"/>
            <a:ext cx="1330779" cy="21904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TextBox 34"/>
          <p:cNvSpPr txBox="1"/>
          <p:nvPr/>
        </p:nvSpPr>
        <p:spPr>
          <a:xfrm>
            <a:off x="4795157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Austria</a:t>
            </a:r>
          </a:p>
        </p:txBody>
      </p:sp>
      <p:sp>
        <p:nvSpPr>
          <p:cNvPr id="36" name="Rectangle 35"/>
          <p:cNvSpPr/>
          <p:nvPr/>
        </p:nvSpPr>
        <p:spPr>
          <a:xfrm>
            <a:off x="4757057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7" name="Rectangle 36"/>
          <p:cNvSpPr/>
          <p:nvPr/>
        </p:nvSpPr>
        <p:spPr>
          <a:xfrm>
            <a:off x="4757057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8" name="Rectangle 37"/>
          <p:cNvSpPr/>
          <p:nvPr/>
        </p:nvSpPr>
        <p:spPr>
          <a:xfrm>
            <a:off x="4757057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9" name="Oval 38"/>
          <p:cNvSpPr/>
          <p:nvPr/>
        </p:nvSpPr>
        <p:spPr>
          <a:xfrm>
            <a:off x="5260521" y="1445350"/>
            <a:ext cx="323850" cy="310313"/>
          </a:xfrm>
          <a:prstGeom prst="ellipse">
            <a:avLst/>
          </a:prstGeom>
          <a:solidFill>
            <a:srgbClr val="0081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10</a:t>
            </a:r>
          </a:p>
        </p:txBody>
      </p:sp>
      <p:sp>
        <p:nvSpPr>
          <p:cNvPr id="40" name="Rounded Rectangle 39"/>
          <p:cNvSpPr/>
          <p:nvPr/>
        </p:nvSpPr>
        <p:spPr>
          <a:xfrm>
            <a:off x="6202136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6202136" y="1992961"/>
            <a:ext cx="1330779" cy="219044"/>
          </a:xfrm>
          <a:prstGeom prst="rect">
            <a:avLst/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240236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Belgium</a:t>
            </a:r>
          </a:p>
        </p:txBody>
      </p:sp>
      <p:sp>
        <p:nvSpPr>
          <p:cNvPr id="43" name="Rectangle 42"/>
          <p:cNvSpPr/>
          <p:nvPr/>
        </p:nvSpPr>
        <p:spPr>
          <a:xfrm>
            <a:off x="6202136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4" name="Rectangle 43"/>
          <p:cNvSpPr/>
          <p:nvPr/>
        </p:nvSpPr>
        <p:spPr>
          <a:xfrm>
            <a:off x="6202136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5" name="Rectangle 44"/>
          <p:cNvSpPr/>
          <p:nvPr/>
        </p:nvSpPr>
        <p:spPr>
          <a:xfrm>
            <a:off x="6202136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6" name="Oval 45"/>
          <p:cNvSpPr/>
          <p:nvPr/>
        </p:nvSpPr>
        <p:spPr>
          <a:xfrm>
            <a:off x="6705600" y="1445350"/>
            <a:ext cx="323850" cy="310313"/>
          </a:xfrm>
          <a:prstGeom prst="ellipse">
            <a:avLst/>
          </a:prstGeom>
          <a:solidFill>
            <a:srgbClr val="6F3CC2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11</a:t>
            </a:r>
          </a:p>
        </p:txBody>
      </p:sp>
      <p:sp>
        <p:nvSpPr>
          <p:cNvPr id="47" name="Rounded Rectangle 46"/>
          <p:cNvSpPr/>
          <p:nvPr/>
        </p:nvSpPr>
        <p:spPr>
          <a:xfrm>
            <a:off x="7647214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Rectangle 47"/>
          <p:cNvSpPr/>
          <p:nvPr/>
        </p:nvSpPr>
        <p:spPr>
          <a:xfrm>
            <a:off x="7647214" y="1992961"/>
            <a:ext cx="1330779" cy="219044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TextBox 48"/>
          <p:cNvSpPr txBox="1"/>
          <p:nvPr/>
        </p:nvSpPr>
        <p:spPr>
          <a:xfrm>
            <a:off x="7685314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Switzerland</a:t>
            </a:r>
          </a:p>
        </p:txBody>
      </p:sp>
      <p:sp>
        <p:nvSpPr>
          <p:cNvPr id="50" name="Rectangle 49"/>
          <p:cNvSpPr/>
          <p:nvPr/>
        </p:nvSpPr>
        <p:spPr>
          <a:xfrm>
            <a:off x="7647214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51" name="Rectangle 50"/>
          <p:cNvSpPr/>
          <p:nvPr/>
        </p:nvSpPr>
        <p:spPr>
          <a:xfrm>
            <a:off x="7647214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52" name="Rectangle 51"/>
          <p:cNvSpPr/>
          <p:nvPr/>
        </p:nvSpPr>
        <p:spPr>
          <a:xfrm>
            <a:off x="7647214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53" name="Oval 52"/>
          <p:cNvSpPr/>
          <p:nvPr/>
        </p:nvSpPr>
        <p:spPr>
          <a:xfrm>
            <a:off x="8150679" y="1445350"/>
            <a:ext cx="323850" cy="310313"/>
          </a:xfrm>
          <a:prstGeom prst="ellipse">
            <a:avLst/>
          </a:prstGeom>
          <a:solidFill>
            <a:srgbClr val="A86F00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12</a:t>
            </a:r>
          </a:p>
        </p:txBody>
      </p:sp>
      <p:sp>
        <p:nvSpPr>
          <p:cNvPr id="54" name="Rounded Rectangle 53"/>
          <p:cNvSpPr/>
          <p:nvPr/>
        </p:nvSpPr>
        <p:spPr>
          <a:xfrm>
            <a:off x="9092293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9092293" y="1992961"/>
            <a:ext cx="1330779" cy="219044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9130393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Czech Republic</a:t>
            </a:r>
          </a:p>
        </p:txBody>
      </p:sp>
      <p:sp>
        <p:nvSpPr>
          <p:cNvPr id="57" name="Rectangle 56"/>
          <p:cNvSpPr/>
          <p:nvPr/>
        </p:nvSpPr>
        <p:spPr>
          <a:xfrm>
            <a:off x="9092293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58" name="Rectangle 57"/>
          <p:cNvSpPr/>
          <p:nvPr/>
        </p:nvSpPr>
        <p:spPr>
          <a:xfrm>
            <a:off x="9092293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59" name="Rectangle 58"/>
          <p:cNvSpPr/>
          <p:nvPr/>
        </p:nvSpPr>
        <p:spPr>
          <a:xfrm>
            <a:off x="9092293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60" name="Oval 59"/>
          <p:cNvSpPr/>
          <p:nvPr/>
        </p:nvSpPr>
        <p:spPr>
          <a:xfrm>
            <a:off x="9595757" y="1445350"/>
            <a:ext cx="323850" cy="310313"/>
          </a:xfrm>
          <a:prstGeom prst="ellipse">
            <a:avLst/>
          </a:prstGeom>
          <a:solidFill>
            <a:srgbClr val="A35313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13</a:t>
            </a:r>
          </a:p>
        </p:txBody>
      </p:sp>
      <p:sp>
        <p:nvSpPr>
          <p:cNvPr id="61" name="Rounded Rectangle 60"/>
          <p:cNvSpPr/>
          <p:nvPr/>
        </p:nvSpPr>
        <p:spPr>
          <a:xfrm>
            <a:off x="10537371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6C7A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537371" y="1992961"/>
            <a:ext cx="1330779" cy="219044"/>
          </a:xfrm>
          <a:prstGeom prst="rect">
            <a:avLst/>
          </a:prstGeom>
          <a:solidFill>
            <a:srgbClr val="6C7A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TextBox 62"/>
          <p:cNvSpPr txBox="1"/>
          <p:nvPr/>
        </p:nvSpPr>
        <p:spPr>
          <a:xfrm>
            <a:off x="10575471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Portugal</a:t>
            </a:r>
          </a:p>
        </p:txBody>
      </p:sp>
      <p:sp>
        <p:nvSpPr>
          <p:cNvPr id="64" name="Rectangle 63"/>
          <p:cNvSpPr/>
          <p:nvPr/>
        </p:nvSpPr>
        <p:spPr>
          <a:xfrm>
            <a:off x="10537371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65" name="Rectangle 64"/>
          <p:cNvSpPr/>
          <p:nvPr/>
        </p:nvSpPr>
        <p:spPr>
          <a:xfrm>
            <a:off x="10537371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66" name="Rectangle 65"/>
          <p:cNvSpPr/>
          <p:nvPr/>
        </p:nvSpPr>
        <p:spPr>
          <a:xfrm>
            <a:off x="10537371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67" name="Oval 66"/>
          <p:cNvSpPr/>
          <p:nvPr/>
        </p:nvSpPr>
        <p:spPr>
          <a:xfrm>
            <a:off x="11040836" y="1445350"/>
            <a:ext cx="323850" cy="310313"/>
          </a:xfrm>
          <a:prstGeom prst="ellipse">
            <a:avLst/>
          </a:prstGeom>
          <a:solidFill>
            <a:srgbClr val="6C7A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14</a:t>
            </a:r>
          </a:p>
        </p:txBody>
      </p:sp>
      <p:sp>
        <p:nvSpPr>
          <p:cNvPr id="68" name="Rounded Rectangle 67"/>
          <p:cNvSpPr/>
          <p:nvPr/>
        </p:nvSpPr>
        <p:spPr>
          <a:xfrm>
            <a:off x="323850" y="3854838"/>
            <a:ext cx="115443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TextBox 68"/>
          <p:cNvSpPr txBox="1"/>
          <p:nvPr/>
        </p:nvSpPr>
        <p:spPr>
          <a:xfrm>
            <a:off x="457200" y="3946106"/>
            <a:ext cx="112776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70" name="Rectangle 69"/>
          <p:cNvSpPr/>
          <p:nvPr/>
        </p:nvSpPr>
        <p:spPr>
          <a:xfrm>
            <a:off x="457200" y="4146897"/>
            <a:ext cx="112776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TextBox 70"/>
          <p:cNvSpPr txBox="1"/>
          <p:nvPr/>
        </p:nvSpPr>
        <p:spPr>
          <a:xfrm>
            <a:off x="457200" y="4219912"/>
            <a:ext cx="112776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1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08189"/>
                </a:solidFill>
                <a:latin typeface="Calibri"/>
              </a:rPr>
              <a:t/>
            </a:r>
            <a:r>
              <a:rPr sz="1100" b="1">
                <a:solidFill>
                  <a:srgbClr val="0081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6F3CC2"/>
                </a:solidFill>
                <a:latin typeface="Calibri"/>
              </a:rPr>
              <a:t/>
            </a:r>
            <a:r>
              <a:rPr sz="1100" b="1">
                <a:solidFill>
                  <a:srgbClr val="6F3CC2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A86F00"/>
                </a:solidFill>
                <a:latin typeface="Calibri"/>
              </a:rPr>
              <a:t/>
            </a:r>
            <a:r>
              <a:rPr sz="1100" b="1">
                <a:solidFill>
                  <a:srgbClr val="A86F00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A35313"/>
                </a:solidFill>
                <a:latin typeface="Calibri"/>
              </a:rPr>
              <a:t/>
            </a:r>
            <a:r>
              <a:rPr sz="1100" b="1">
                <a:solidFill>
                  <a:srgbClr val="A35313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6C7A89"/>
                </a:solidFill>
                <a:latin typeface="Calibri"/>
              </a:rPr>
              <a:t/>
            </a:r>
            <a:r>
              <a:rPr sz="1100" b="1">
                <a:solidFill>
                  <a:srgbClr val="6C7A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74" name="Picture 73" descr="102_0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34425" y="2286582"/>
            <a:ext cx="1195728" cy="361950"/>
          </a:xfrm>
          <a:prstGeom prst="rect">
            <a:avLst/>
          </a:prstGeom>
        </p:spPr>
      </p:pic>
      <p:pic>
        <p:nvPicPr>
          <p:cNvPr id="75" name="Picture 74" descr="206_0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934425" y="2779432"/>
            <a:ext cx="1195728" cy="361950"/>
          </a:xfrm>
          <a:prstGeom prst="rect">
            <a:avLst/>
          </a:prstGeom>
        </p:spPr>
      </p:pic>
      <p:pic>
        <p:nvPicPr>
          <p:cNvPr id="76" name="Picture 75" descr="7_3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041071" y="3272281"/>
            <a:ext cx="982436" cy="361950"/>
          </a:xfrm>
          <a:prstGeom prst="rect">
            <a:avLst/>
          </a:prstGeom>
        </p:spPr>
      </p:pic>
      <p:pic>
        <p:nvPicPr>
          <p:cNvPr id="77" name="Picture 76" descr="91_8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486150" y="2286582"/>
            <a:ext cx="982436" cy="361950"/>
          </a:xfrm>
          <a:prstGeom prst="rect">
            <a:avLst/>
          </a:prstGeom>
        </p:spPr>
      </p:pic>
      <p:pic>
        <p:nvPicPr>
          <p:cNvPr id="78" name="Picture 77" descr="181_9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379504" y="2779432"/>
            <a:ext cx="1195728" cy="361950"/>
          </a:xfrm>
          <a:prstGeom prst="rect">
            <a:avLst/>
          </a:prstGeom>
        </p:spPr>
      </p:pic>
      <p:pic>
        <p:nvPicPr>
          <p:cNvPr id="79" name="Picture 78" descr="7_1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3486150" y="3272281"/>
            <a:ext cx="982436" cy="361950"/>
          </a:xfrm>
          <a:prstGeom prst="rect">
            <a:avLst/>
          </a:prstGeom>
        </p:spPr>
      </p:pic>
      <p:pic>
        <p:nvPicPr>
          <p:cNvPr id="80" name="Picture 79" descr="82_4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4931228" y="2286582"/>
            <a:ext cx="982436" cy="361950"/>
          </a:xfrm>
          <a:prstGeom prst="rect">
            <a:avLst/>
          </a:prstGeom>
        </p:spPr>
      </p:pic>
      <p:pic>
        <p:nvPicPr>
          <p:cNvPr id="81" name="Picture 80" descr="145_0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4824582" y="2779432"/>
            <a:ext cx="1195728" cy="361950"/>
          </a:xfrm>
          <a:prstGeom prst="rect">
            <a:avLst/>
          </a:prstGeom>
        </p:spPr>
      </p:pic>
      <p:pic>
        <p:nvPicPr>
          <p:cNvPr id="82" name="Picture 81" descr="5_8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4931228" y="3272281"/>
            <a:ext cx="982436" cy="361950"/>
          </a:xfrm>
          <a:prstGeom prst="rect">
            <a:avLst/>
          </a:prstGeom>
        </p:spPr>
      </p:pic>
      <p:pic>
        <p:nvPicPr>
          <p:cNvPr id="83" name="Picture 82" descr="82_1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6376307" y="2286582"/>
            <a:ext cx="982436" cy="361950"/>
          </a:xfrm>
          <a:prstGeom prst="rect">
            <a:avLst/>
          </a:prstGeom>
        </p:spPr>
      </p:pic>
      <p:pic>
        <p:nvPicPr>
          <p:cNvPr id="84" name="Picture 83" descr="129_7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6269661" y="2779432"/>
            <a:ext cx="1195728" cy="361950"/>
          </a:xfrm>
          <a:prstGeom prst="rect">
            <a:avLst/>
          </a:prstGeom>
        </p:spPr>
      </p:pic>
      <p:pic>
        <p:nvPicPr>
          <p:cNvPr id="85" name="Picture 84" descr="4_7_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6376307" y="3272281"/>
            <a:ext cx="982436" cy="361950"/>
          </a:xfrm>
          <a:prstGeom prst="rect">
            <a:avLst/>
          </a:prstGeom>
        </p:spPr>
      </p:pic>
      <p:pic>
        <p:nvPicPr>
          <p:cNvPr id="86" name="Picture 85" descr="80_2_605E5C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7821385" y="2286582"/>
            <a:ext cx="982436" cy="361950"/>
          </a:xfrm>
          <a:prstGeom prst="rect">
            <a:avLst/>
          </a:prstGeom>
        </p:spPr>
      </p:pic>
      <p:pic>
        <p:nvPicPr>
          <p:cNvPr id="87" name="Picture 86" descr="135_4_605E5C.png"/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7714739" y="2779432"/>
            <a:ext cx="1195728" cy="361950"/>
          </a:xfrm>
          <a:prstGeom prst="rect">
            <a:avLst/>
          </a:prstGeom>
        </p:spPr>
      </p:pic>
      <p:pic>
        <p:nvPicPr>
          <p:cNvPr id="88" name="Picture 87" descr="5_4__605E5C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7821385" y="3272281"/>
            <a:ext cx="982436" cy="361950"/>
          </a:xfrm>
          <a:prstGeom prst="rect">
            <a:avLst/>
          </a:prstGeom>
        </p:spPr>
      </p:pic>
      <p:pic>
        <p:nvPicPr>
          <p:cNvPr id="89" name="Picture 88" descr="52_1_605E5C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9266464" y="2286582"/>
            <a:ext cx="982436" cy="361950"/>
          </a:xfrm>
          <a:prstGeom prst="rect">
            <a:avLst/>
          </a:prstGeom>
        </p:spPr>
      </p:pic>
      <p:pic>
        <p:nvPicPr>
          <p:cNvPr id="90" name="Picture 89" descr="94_6_605E5C.png"/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9266464" y="2779432"/>
            <a:ext cx="982436" cy="361950"/>
          </a:xfrm>
          <a:prstGeom prst="rect">
            <a:avLst/>
          </a:prstGeom>
        </p:spPr>
      </p:pic>
      <p:pic>
        <p:nvPicPr>
          <p:cNvPr id="91" name="Picture 90" descr="6_1__605E5C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9266464" y="3272281"/>
            <a:ext cx="982436" cy="361950"/>
          </a:xfrm>
          <a:prstGeom prst="rect">
            <a:avLst/>
          </a:prstGeom>
        </p:spPr>
      </p:pic>
      <p:pic>
        <p:nvPicPr>
          <p:cNvPr id="92" name="Picture 91" descr="50_2_605E5C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10711542" y="2286582"/>
            <a:ext cx="982436" cy="361950"/>
          </a:xfrm>
          <a:prstGeom prst="rect">
            <a:avLst/>
          </a:prstGeom>
        </p:spPr>
      </p:pic>
      <p:pic>
        <p:nvPicPr>
          <p:cNvPr id="93" name="Picture 92" descr="92_5_605E5C.png"/>
          <p:cNvPicPr>
            <a:picLocks noChangeAspect="1"/>
          </p:cNvPicPr>
          <p:nvPr/>
        </p:nvPicPr>
        <p:blipFill>
          <a:blip r:embed="rId23"/>
          <a:stretch>
            <a:fillRect/>
          </a:stretch>
        </p:blipFill>
        <p:spPr>
          <a:xfrm>
            <a:off x="10711542" y="2779432"/>
            <a:ext cx="982436" cy="361950"/>
          </a:xfrm>
          <a:prstGeom prst="rect">
            <a:avLst/>
          </a:prstGeom>
        </p:spPr>
      </p:pic>
      <p:pic>
        <p:nvPicPr>
          <p:cNvPr id="94" name="Picture 93" descr="6_3__605E5C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10711542" y="3272281"/>
            <a:ext cx="982436" cy="361950"/>
          </a:xfrm>
          <a:prstGeom prst="rect">
            <a:avLst/>
          </a:prstGeom>
        </p:spPr>
      </p:pic>
      <p:pic>
        <p:nvPicPr>
          <p:cNvPr id="95" name="Picture 94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2438944" y="2827057"/>
            <a:ext cx="183356" cy="266700"/>
          </a:xfrm>
          <a:prstGeom prst="rect">
            <a:avLst/>
          </a:prstGeom>
        </p:spPr>
      </p:pic>
      <p:pic>
        <p:nvPicPr>
          <p:cNvPr id="96" name="Picture 95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3884023" y="2827057"/>
            <a:ext cx="183356" cy="266700"/>
          </a:xfrm>
          <a:prstGeom prst="rect">
            <a:avLst/>
          </a:prstGeom>
        </p:spPr>
      </p:pic>
      <p:pic>
        <p:nvPicPr>
          <p:cNvPr id="97" name="Picture 96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5329101" y="2827057"/>
            <a:ext cx="183356" cy="266700"/>
          </a:xfrm>
          <a:prstGeom prst="rect">
            <a:avLst/>
          </a:prstGeom>
        </p:spPr>
      </p:pic>
      <p:pic>
        <p:nvPicPr>
          <p:cNvPr id="98" name="Picture 97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6774180" y="2827057"/>
            <a:ext cx="183356" cy="266700"/>
          </a:xfrm>
          <a:prstGeom prst="rect">
            <a:avLst/>
          </a:prstGeom>
        </p:spPr>
      </p:pic>
      <p:pic>
        <p:nvPicPr>
          <p:cNvPr id="99" name="Picture 98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8219258" y="2827057"/>
            <a:ext cx="183356" cy="266700"/>
          </a:xfrm>
          <a:prstGeom prst="rect">
            <a:avLst/>
          </a:prstGeom>
        </p:spPr>
      </p:pic>
      <p:pic>
        <p:nvPicPr>
          <p:cNvPr id="100" name="Picture 99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9664337" y="2827057"/>
            <a:ext cx="183356" cy="266700"/>
          </a:xfrm>
          <a:prstGeom prst="rect">
            <a:avLst/>
          </a:prstGeom>
        </p:spPr>
      </p:pic>
      <p:pic>
        <p:nvPicPr>
          <p:cNvPr id="101" name="Picture 100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11109415" y="2827057"/>
            <a:ext cx="183356" cy="266700"/>
          </a:xfrm>
          <a:prstGeom prst="rect">
            <a:avLst/>
          </a:prstGeom>
        </p:spPr>
      </p:pic>
      <p:sp>
        <p:nvSpPr>
          <p:cNvPr id="102" name="TextBox 101"/>
          <p:cNvSpPr txBox="1"/>
          <p:nvPr/>
        </p:nvSpPr>
        <p:spPr>
          <a:xfrm>
            <a:off x="485775" y="4229437"/>
            <a:ext cx="171849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Other European Countries:</a:t>
            </a:r>
          </a:p>
        </p:txBody>
      </p:sp>
      <p:pic>
        <p:nvPicPr>
          <p:cNvPr id="103" name="Picture 102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2152320" y="4219658"/>
            <a:ext cx="128699" cy="187198"/>
          </a:xfrm>
          <a:prstGeom prst="rect">
            <a:avLst/>
          </a:prstGeom>
        </p:spPr>
      </p:pic>
      <p:sp>
        <p:nvSpPr>
          <p:cNvPr id="104" name="TextBox 103"/>
          <p:cNvSpPr txBox="1"/>
          <p:nvPr/>
        </p:nvSpPr>
        <p:spPr>
          <a:xfrm>
            <a:off x="2319815" y="422943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05" name="Picture 104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3179266" y="4219658"/>
            <a:ext cx="128699" cy="187198"/>
          </a:xfrm>
          <a:prstGeom prst="rect">
            <a:avLst/>
          </a:prstGeom>
        </p:spPr>
      </p:pic>
      <p:sp>
        <p:nvSpPr>
          <p:cNvPr id="106" name="TextBox 105"/>
          <p:cNvSpPr txBox="1"/>
          <p:nvPr/>
        </p:nvSpPr>
        <p:spPr>
          <a:xfrm>
            <a:off x="3346762" y="4229437"/>
            <a:ext cx="121861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grows fastest.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485775" y="4447369"/>
            <a:ext cx="67947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Sweden:</a:t>
            </a:r>
          </a:p>
        </p:txBody>
      </p:sp>
      <p:pic>
        <p:nvPicPr>
          <p:cNvPr id="108" name="Picture 107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1113301" y="4437590"/>
            <a:ext cx="128699" cy="187198"/>
          </a:xfrm>
          <a:prstGeom prst="rect">
            <a:avLst/>
          </a:prstGeom>
        </p:spPr>
      </p:pic>
      <p:sp>
        <p:nvSpPr>
          <p:cNvPr id="109" name="TextBox 108"/>
          <p:cNvSpPr txBox="1"/>
          <p:nvPr/>
        </p:nvSpPr>
        <p:spPr>
          <a:xfrm>
            <a:off x="1280797" y="444736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10" name="Picture 109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2140247" y="4437590"/>
            <a:ext cx="128699" cy="187198"/>
          </a:xfrm>
          <a:prstGeom prst="rect">
            <a:avLst/>
          </a:prstGeom>
        </p:spPr>
      </p:pic>
      <p:sp>
        <p:nvSpPr>
          <p:cNvPr id="111" name="TextBox 110"/>
          <p:cNvSpPr txBox="1"/>
          <p:nvPr/>
        </p:nvSpPr>
        <p:spPr>
          <a:xfrm>
            <a:off x="2307743" y="4447369"/>
            <a:ext cx="14156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485775" y="4665301"/>
            <a:ext cx="63309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Austria:</a:t>
            </a:r>
          </a:p>
        </p:txBody>
      </p:sp>
      <p:pic>
        <p:nvPicPr>
          <p:cNvPr id="113" name="Picture 112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1066916" y="4655522"/>
            <a:ext cx="128699" cy="187198"/>
          </a:xfrm>
          <a:prstGeom prst="rect">
            <a:avLst/>
          </a:prstGeom>
        </p:spPr>
      </p:pic>
      <p:sp>
        <p:nvSpPr>
          <p:cNvPr id="114" name="TextBox 113"/>
          <p:cNvSpPr txBox="1"/>
          <p:nvPr/>
        </p:nvSpPr>
        <p:spPr>
          <a:xfrm>
            <a:off x="1234412" y="4665301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15" name="Picture 114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2093862" y="4655522"/>
            <a:ext cx="128699" cy="187198"/>
          </a:xfrm>
          <a:prstGeom prst="rect">
            <a:avLst/>
          </a:prstGeom>
        </p:spPr>
      </p:pic>
      <p:sp>
        <p:nvSpPr>
          <p:cNvPr id="116" name="TextBox 115"/>
          <p:cNvSpPr txBox="1"/>
          <p:nvPr/>
        </p:nvSpPr>
        <p:spPr>
          <a:xfrm>
            <a:off x="2261358" y="4665301"/>
            <a:ext cx="14156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485775" y="4883233"/>
            <a:ext cx="69038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Belgium:</a:t>
            </a:r>
          </a:p>
        </p:txBody>
      </p:sp>
      <p:pic>
        <p:nvPicPr>
          <p:cNvPr id="118" name="Picture 117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1124215" y="4873454"/>
            <a:ext cx="128699" cy="187198"/>
          </a:xfrm>
          <a:prstGeom prst="rect">
            <a:avLst/>
          </a:prstGeom>
        </p:spPr>
      </p:pic>
      <p:sp>
        <p:nvSpPr>
          <p:cNvPr id="119" name="TextBox 118"/>
          <p:cNvSpPr txBox="1"/>
          <p:nvPr/>
        </p:nvSpPr>
        <p:spPr>
          <a:xfrm>
            <a:off x="1291711" y="4883233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20" name="Picture 119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2151161" y="4873454"/>
            <a:ext cx="128699" cy="187198"/>
          </a:xfrm>
          <a:prstGeom prst="rect">
            <a:avLst/>
          </a:prstGeom>
        </p:spPr>
      </p:pic>
      <p:sp>
        <p:nvSpPr>
          <p:cNvPr id="121" name="TextBox 120"/>
          <p:cNvSpPr txBox="1"/>
          <p:nvPr/>
        </p:nvSpPr>
        <p:spPr>
          <a:xfrm>
            <a:off x="2318657" y="4883233"/>
            <a:ext cx="14156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485775" y="5101165"/>
            <a:ext cx="89202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Switzerland:</a:t>
            </a:r>
          </a:p>
        </p:txBody>
      </p:sp>
      <p:pic>
        <p:nvPicPr>
          <p:cNvPr id="123" name="Picture 122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1325852" y="5091385"/>
            <a:ext cx="128699" cy="187198"/>
          </a:xfrm>
          <a:prstGeom prst="rect">
            <a:avLst/>
          </a:prstGeom>
        </p:spPr>
      </p:pic>
      <p:sp>
        <p:nvSpPr>
          <p:cNvPr id="124" name="TextBox 123"/>
          <p:cNvSpPr txBox="1"/>
          <p:nvPr/>
        </p:nvSpPr>
        <p:spPr>
          <a:xfrm>
            <a:off x="1493348" y="5101165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25" name="Picture 124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2352798" y="5091385"/>
            <a:ext cx="128699" cy="187198"/>
          </a:xfrm>
          <a:prstGeom prst="rect">
            <a:avLst/>
          </a:prstGeom>
        </p:spPr>
      </p:pic>
      <p:sp>
        <p:nvSpPr>
          <p:cNvPr id="126" name="TextBox 125"/>
          <p:cNvSpPr txBox="1"/>
          <p:nvPr/>
        </p:nvSpPr>
        <p:spPr>
          <a:xfrm>
            <a:off x="2520294" y="5101165"/>
            <a:ext cx="14156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127" name="TextBox 126"/>
          <p:cNvSpPr txBox="1"/>
          <p:nvPr/>
        </p:nvSpPr>
        <p:spPr>
          <a:xfrm>
            <a:off x="485775" y="5319097"/>
            <a:ext cx="108220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Czech Republic:</a:t>
            </a:r>
          </a:p>
        </p:txBody>
      </p:sp>
      <p:pic>
        <p:nvPicPr>
          <p:cNvPr id="128" name="Picture 127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1516030" y="5309317"/>
            <a:ext cx="128699" cy="187198"/>
          </a:xfrm>
          <a:prstGeom prst="rect">
            <a:avLst/>
          </a:prstGeom>
        </p:spPr>
      </p:pic>
      <p:sp>
        <p:nvSpPr>
          <p:cNvPr id="129" name="TextBox 128"/>
          <p:cNvSpPr txBox="1"/>
          <p:nvPr/>
        </p:nvSpPr>
        <p:spPr>
          <a:xfrm>
            <a:off x="1683526" y="531909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30" name="Picture 129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2542976" y="5309317"/>
            <a:ext cx="128699" cy="187198"/>
          </a:xfrm>
          <a:prstGeom prst="rect">
            <a:avLst/>
          </a:prstGeom>
        </p:spPr>
      </p:pic>
      <p:sp>
        <p:nvSpPr>
          <p:cNvPr id="131" name="TextBox 130"/>
          <p:cNvSpPr txBox="1"/>
          <p:nvPr/>
        </p:nvSpPr>
        <p:spPr>
          <a:xfrm>
            <a:off x="2710472" y="5319097"/>
            <a:ext cx="14156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132" name="TextBox 131"/>
          <p:cNvSpPr txBox="1"/>
          <p:nvPr/>
        </p:nvSpPr>
        <p:spPr>
          <a:xfrm>
            <a:off x="485775" y="5537029"/>
            <a:ext cx="70948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Portugal:</a:t>
            </a:r>
          </a:p>
        </p:txBody>
      </p:sp>
      <p:pic>
        <p:nvPicPr>
          <p:cNvPr id="133" name="Picture 132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1143315" y="5527249"/>
            <a:ext cx="128699" cy="187198"/>
          </a:xfrm>
          <a:prstGeom prst="rect">
            <a:avLst/>
          </a:prstGeom>
        </p:spPr>
      </p:pic>
      <p:sp>
        <p:nvSpPr>
          <p:cNvPr id="134" name="TextBox 133"/>
          <p:cNvSpPr txBox="1"/>
          <p:nvPr/>
        </p:nvSpPr>
        <p:spPr>
          <a:xfrm>
            <a:off x="1310810" y="553702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35" name="Picture 134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2170261" y="5527249"/>
            <a:ext cx="128699" cy="187198"/>
          </a:xfrm>
          <a:prstGeom prst="rect">
            <a:avLst/>
          </a:prstGeom>
        </p:spPr>
      </p:pic>
      <p:sp>
        <p:nvSpPr>
          <p:cNvPr id="136" name="TextBox 135"/>
          <p:cNvSpPr txBox="1"/>
          <p:nvPr/>
        </p:nvSpPr>
        <p:spPr>
          <a:xfrm>
            <a:off x="2337756" y="5537029"/>
            <a:ext cx="14156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</p:spTree>
  </p:cSld>
  <p:clrMapOvr>
    <a:masterClrMapping/>
  </p:clrMapOvr>
</p:sld>
</file>

<file path=ppt/slides/slide4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– Regional Outlook (3/4)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Regional analysis of size, growth and share across 25 countries, highlighting where value concentrates, 2026–2036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By Country view breaks the Europe market down geographically. Each country is evaluated on market size, growth outlook and adoption trends across the forecast period.</a:t>
            </a:r>
          </a:p>
        </p:txBody>
      </p:sp>
      <p:sp>
        <p:nvSpPr>
          <p:cNvPr id="11" name="Rectangle 10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Country</a:t>
            </a:r>
          </a:p>
        </p:txBody>
      </p:sp>
      <p:sp>
        <p:nvSpPr>
          <p:cNvPr id="13" name="Rectangle 12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5" name="Rectangle 14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7" name="Rectangle 16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1866900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1866900" y="1992961"/>
            <a:ext cx="1330779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1905000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Norway</a:t>
            </a:r>
          </a:p>
        </p:txBody>
      </p:sp>
      <p:sp>
        <p:nvSpPr>
          <p:cNvPr id="22" name="Rectangle 21"/>
          <p:cNvSpPr/>
          <p:nvPr/>
        </p:nvSpPr>
        <p:spPr>
          <a:xfrm>
            <a:off x="1866900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5" name="Oval 24"/>
          <p:cNvSpPr/>
          <p:nvPr/>
        </p:nvSpPr>
        <p:spPr>
          <a:xfrm>
            <a:off x="2370364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15</a:t>
            </a:r>
          </a:p>
        </p:txBody>
      </p:sp>
      <p:sp>
        <p:nvSpPr>
          <p:cNvPr id="26" name="Rounded Rectangle 25"/>
          <p:cNvSpPr/>
          <p:nvPr/>
        </p:nvSpPr>
        <p:spPr>
          <a:xfrm>
            <a:off x="3311979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Rectangle 26"/>
          <p:cNvSpPr/>
          <p:nvPr/>
        </p:nvSpPr>
        <p:spPr>
          <a:xfrm>
            <a:off x="3311979" y="1992961"/>
            <a:ext cx="1330779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3350079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Denmark</a:t>
            </a:r>
          </a:p>
        </p:txBody>
      </p:sp>
      <p:sp>
        <p:nvSpPr>
          <p:cNvPr id="29" name="Rectangle 28"/>
          <p:cNvSpPr/>
          <p:nvPr/>
        </p:nvSpPr>
        <p:spPr>
          <a:xfrm>
            <a:off x="3311979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0" name="Rectangle 29"/>
          <p:cNvSpPr/>
          <p:nvPr/>
        </p:nvSpPr>
        <p:spPr>
          <a:xfrm>
            <a:off x="3311979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3311979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2" name="Oval 31"/>
          <p:cNvSpPr/>
          <p:nvPr/>
        </p:nvSpPr>
        <p:spPr>
          <a:xfrm>
            <a:off x="3815443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16</a:t>
            </a:r>
          </a:p>
        </p:txBody>
      </p:sp>
      <p:sp>
        <p:nvSpPr>
          <p:cNvPr id="33" name="Rounded Rectangle 32"/>
          <p:cNvSpPr/>
          <p:nvPr/>
        </p:nvSpPr>
        <p:spPr>
          <a:xfrm>
            <a:off x="4757057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4757057" y="1992961"/>
            <a:ext cx="1330779" cy="21904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TextBox 34"/>
          <p:cNvSpPr txBox="1"/>
          <p:nvPr/>
        </p:nvSpPr>
        <p:spPr>
          <a:xfrm>
            <a:off x="4795157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Finland</a:t>
            </a:r>
          </a:p>
        </p:txBody>
      </p:sp>
      <p:sp>
        <p:nvSpPr>
          <p:cNvPr id="36" name="Rectangle 35"/>
          <p:cNvSpPr/>
          <p:nvPr/>
        </p:nvSpPr>
        <p:spPr>
          <a:xfrm>
            <a:off x="4757057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7" name="Rectangle 36"/>
          <p:cNvSpPr/>
          <p:nvPr/>
        </p:nvSpPr>
        <p:spPr>
          <a:xfrm>
            <a:off x="4757057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8" name="Rectangle 37"/>
          <p:cNvSpPr/>
          <p:nvPr/>
        </p:nvSpPr>
        <p:spPr>
          <a:xfrm>
            <a:off x="4757057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9" name="Oval 38"/>
          <p:cNvSpPr/>
          <p:nvPr/>
        </p:nvSpPr>
        <p:spPr>
          <a:xfrm>
            <a:off x="5260521" y="1445350"/>
            <a:ext cx="323850" cy="310313"/>
          </a:xfrm>
          <a:prstGeom prst="ellipse">
            <a:avLst/>
          </a:prstGeom>
          <a:solidFill>
            <a:srgbClr val="0081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17</a:t>
            </a:r>
          </a:p>
        </p:txBody>
      </p:sp>
      <p:sp>
        <p:nvSpPr>
          <p:cNvPr id="40" name="Rounded Rectangle 39"/>
          <p:cNvSpPr/>
          <p:nvPr/>
        </p:nvSpPr>
        <p:spPr>
          <a:xfrm>
            <a:off x="6202136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6202136" y="1992961"/>
            <a:ext cx="1330779" cy="219044"/>
          </a:xfrm>
          <a:prstGeom prst="rect">
            <a:avLst/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240236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Romania</a:t>
            </a:r>
          </a:p>
        </p:txBody>
      </p:sp>
      <p:sp>
        <p:nvSpPr>
          <p:cNvPr id="43" name="Rectangle 42"/>
          <p:cNvSpPr/>
          <p:nvPr/>
        </p:nvSpPr>
        <p:spPr>
          <a:xfrm>
            <a:off x="6202136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4" name="Rectangle 43"/>
          <p:cNvSpPr/>
          <p:nvPr/>
        </p:nvSpPr>
        <p:spPr>
          <a:xfrm>
            <a:off x="6202136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5" name="Rectangle 44"/>
          <p:cNvSpPr/>
          <p:nvPr/>
        </p:nvSpPr>
        <p:spPr>
          <a:xfrm>
            <a:off x="6202136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6" name="Oval 45"/>
          <p:cNvSpPr/>
          <p:nvPr/>
        </p:nvSpPr>
        <p:spPr>
          <a:xfrm>
            <a:off x="6705600" y="1445350"/>
            <a:ext cx="323850" cy="310313"/>
          </a:xfrm>
          <a:prstGeom prst="ellipse">
            <a:avLst/>
          </a:prstGeom>
          <a:solidFill>
            <a:srgbClr val="6F3CC2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18</a:t>
            </a:r>
          </a:p>
        </p:txBody>
      </p:sp>
      <p:sp>
        <p:nvSpPr>
          <p:cNvPr id="47" name="Rounded Rectangle 46"/>
          <p:cNvSpPr/>
          <p:nvPr/>
        </p:nvSpPr>
        <p:spPr>
          <a:xfrm>
            <a:off x="7647214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Rectangle 47"/>
          <p:cNvSpPr/>
          <p:nvPr/>
        </p:nvSpPr>
        <p:spPr>
          <a:xfrm>
            <a:off x="7647214" y="1992961"/>
            <a:ext cx="1330779" cy="219044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TextBox 48"/>
          <p:cNvSpPr txBox="1"/>
          <p:nvPr/>
        </p:nvSpPr>
        <p:spPr>
          <a:xfrm>
            <a:off x="7685314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Ireland</a:t>
            </a:r>
          </a:p>
        </p:txBody>
      </p:sp>
      <p:sp>
        <p:nvSpPr>
          <p:cNvPr id="50" name="Rectangle 49"/>
          <p:cNvSpPr/>
          <p:nvPr/>
        </p:nvSpPr>
        <p:spPr>
          <a:xfrm>
            <a:off x="7647214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51" name="Rectangle 50"/>
          <p:cNvSpPr/>
          <p:nvPr/>
        </p:nvSpPr>
        <p:spPr>
          <a:xfrm>
            <a:off x="7647214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52" name="Rectangle 51"/>
          <p:cNvSpPr/>
          <p:nvPr/>
        </p:nvSpPr>
        <p:spPr>
          <a:xfrm>
            <a:off x="7647214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53" name="Oval 52"/>
          <p:cNvSpPr/>
          <p:nvPr/>
        </p:nvSpPr>
        <p:spPr>
          <a:xfrm>
            <a:off x="8150679" y="1445350"/>
            <a:ext cx="323850" cy="310313"/>
          </a:xfrm>
          <a:prstGeom prst="ellipse">
            <a:avLst/>
          </a:prstGeom>
          <a:solidFill>
            <a:srgbClr val="A86F00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19</a:t>
            </a:r>
          </a:p>
        </p:txBody>
      </p:sp>
      <p:sp>
        <p:nvSpPr>
          <p:cNvPr id="54" name="Rounded Rectangle 53"/>
          <p:cNvSpPr/>
          <p:nvPr/>
        </p:nvSpPr>
        <p:spPr>
          <a:xfrm>
            <a:off x="9092293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9092293" y="1992961"/>
            <a:ext cx="1330779" cy="219044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9130393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Hungary</a:t>
            </a:r>
          </a:p>
        </p:txBody>
      </p:sp>
      <p:sp>
        <p:nvSpPr>
          <p:cNvPr id="57" name="Rectangle 56"/>
          <p:cNvSpPr/>
          <p:nvPr/>
        </p:nvSpPr>
        <p:spPr>
          <a:xfrm>
            <a:off x="9092293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58" name="Rectangle 57"/>
          <p:cNvSpPr/>
          <p:nvPr/>
        </p:nvSpPr>
        <p:spPr>
          <a:xfrm>
            <a:off x="9092293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59" name="Rectangle 58"/>
          <p:cNvSpPr/>
          <p:nvPr/>
        </p:nvSpPr>
        <p:spPr>
          <a:xfrm>
            <a:off x="9092293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60" name="Oval 59"/>
          <p:cNvSpPr/>
          <p:nvPr/>
        </p:nvSpPr>
        <p:spPr>
          <a:xfrm>
            <a:off x="9595757" y="1445350"/>
            <a:ext cx="323850" cy="310313"/>
          </a:xfrm>
          <a:prstGeom prst="ellipse">
            <a:avLst/>
          </a:prstGeom>
          <a:solidFill>
            <a:srgbClr val="A35313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20</a:t>
            </a:r>
          </a:p>
        </p:txBody>
      </p:sp>
      <p:sp>
        <p:nvSpPr>
          <p:cNvPr id="61" name="Rounded Rectangle 60"/>
          <p:cNvSpPr/>
          <p:nvPr/>
        </p:nvSpPr>
        <p:spPr>
          <a:xfrm>
            <a:off x="10537371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6C7A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537371" y="1992961"/>
            <a:ext cx="1330779" cy="219044"/>
          </a:xfrm>
          <a:prstGeom prst="rect">
            <a:avLst/>
          </a:prstGeom>
          <a:solidFill>
            <a:srgbClr val="6C7A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TextBox 62"/>
          <p:cNvSpPr txBox="1"/>
          <p:nvPr/>
        </p:nvSpPr>
        <p:spPr>
          <a:xfrm>
            <a:off x="10575471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Greece</a:t>
            </a:r>
          </a:p>
        </p:txBody>
      </p:sp>
      <p:sp>
        <p:nvSpPr>
          <p:cNvPr id="64" name="Rectangle 63"/>
          <p:cNvSpPr/>
          <p:nvPr/>
        </p:nvSpPr>
        <p:spPr>
          <a:xfrm>
            <a:off x="10537371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65" name="Rectangle 64"/>
          <p:cNvSpPr/>
          <p:nvPr/>
        </p:nvSpPr>
        <p:spPr>
          <a:xfrm>
            <a:off x="10537371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66" name="Rectangle 65"/>
          <p:cNvSpPr/>
          <p:nvPr/>
        </p:nvSpPr>
        <p:spPr>
          <a:xfrm>
            <a:off x="10537371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67" name="Oval 66"/>
          <p:cNvSpPr/>
          <p:nvPr/>
        </p:nvSpPr>
        <p:spPr>
          <a:xfrm>
            <a:off x="11040836" y="1445350"/>
            <a:ext cx="323850" cy="310313"/>
          </a:xfrm>
          <a:prstGeom prst="ellipse">
            <a:avLst/>
          </a:prstGeom>
          <a:solidFill>
            <a:srgbClr val="6C7A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21</a:t>
            </a:r>
          </a:p>
        </p:txBody>
      </p:sp>
      <p:sp>
        <p:nvSpPr>
          <p:cNvPr id="68" name="Rounded Rectangle 67"/>
          <p:cNvSpPr/>
          <p:nvPr/>
        </p:nvSpPr>
        <p:spPr>
          <a:xfrm>
            <a:off x="323850" y="3854838"/>
            <a:ext cx="115443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TextBox 68"/>
          <p:cNvSpPr txBox="1"/>
          <p:nvPr/>
        </p:nvSpPr>
        <p:spPr>
          <a:xfrm>
            <a:off x="457200" y="3946106"/>
            <a:ext cx="112776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70" name="Rectangle 69"/>
          <p:cNvSpPr/>
          <p:nvPr/>
        </p:nvSpPr>
        <p:spPr>
          <a:xfrm>
            <a:off x="457200" y="4146897"/>
            <a:ext cx="112776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TextBox 70"/>
          <p:cNvSpPr txBox="1"/>
          <p:nvPr/>
        </p:nvSpPr>
        <p:spPr>
          <a:xfrm>
            <a:off x="457200" y="4219912"/>
            <a:ext cx="112776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1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08189"/>
                </a:solidFill>
                <a:latin typeface="Calibri"/>
              </a:rPr>
              <a:t/>
            </a:r>
            <a:r>
              <a:rPr sz="1100" b="1">
                <a:solidFill>
                  <a:srgbClr val="0081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6F3CC2"/>
                </a:solidFill>
                <a:latin typeface="Calibri"/>
              </a:rPr>
              <a:t/>
            </a:r>
            <a:r>
              <a:rPr sz="1100" b="1">
                <a:solidFill>
                  <a:srgbClr val="6F3CC2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A86F00"/>
                </a:solidFill>
                <a:latin typeface="Calibri"/>
              </a:rPr>
              <a:t/>
            </a:r>
            <a:r>
              <a:rPr sz="1100" b="1">
                <a:solidFill>
                  <a:srgbClr val="A86F00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A35313"/>
                </a:solidFill>
                <a:latin typeface="Calibri"/>
              </a:rPr>
              <a:t/>
            </a:r>
            <a:r>
              <a:rPr sz="1100" b="1">
                <a:solidFill>
                  <a:srgbClr val="A35313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6C7A89"/>
                </a:solidFill>
                <a:latin typeface="Calibri"/>
              </a:rPr>
              <a:t/>
            </a:r>
            <a:r>
              <a:rPr sz="1100" b="1">
                <a:solidFill>
                  <a:srgbClr val="6C7A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74" name="Picture 73" descr="48_1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041071" y="2286582"/>
            <a:ext cx="982436" cy="361950"/>
          </a:xfrm>
          <a:prstGeom prst="rect">
            <a:avLst/>
          </a:prstGeom>
        </p:spPr>
      </p:pic>
      <p:pic>
        <p:nvPicPr>
          <p:cNvPr id="75" name="Picture 74" descr="87_5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041071" y="2779432"/>
            <a:ext cx="982436" cy="361950"/>
          </a:xfrm>
          <a:prstGeom prst="rect">
            <a:avLst/>
          </a:prstGeom>
        </p:spPr>
      </p:pic>
      <p:pic>
        <p:nvPicPr>
          <p:cNvPr id="76" name="Picture 75" descr="6_2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041071" y="3272281"/>
            <a:ext cx="982436" cy="361950"/>
          </a:xfrm>
          <a:prstGeom prst="rect">
            <a:avLst/>
          </a:prstGeom>
        </p:spPr>
      </p:pic>
      <p:pic>
        <p:nvPicPr>
          <p:cNvPr id="77" name="Picture 76" descr="46_9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486150" y="2286582"/>
            <a:ext cx="982436" cy="361950"/>
          </a:xfrm>
          <a:prstGeom prst="rect">
            <a:avLst/>
          </a:prstGeom>
        </p:spPr>
      </p:pic>
      <p:pic>
        <p:nvPicPr>
          <p:cNvPr id="78" name="Picture 77" descr="84_5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486150" y="2779432"/>
            <a:ext cx="982436" cy="361950"/>
          </a:xfrm>
          <a:prstGeom prst="rect">
            <a:avLst/>
          </a:prstGeom>
        </p:spPr>
      </p:pic>
      <p:pic>
        <p:nvPicPr>
          <p:cNvPr id="79" name="Picture 78" descr="6_1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3486150" y="3272281"/>
            <a:ext cx="982436" cy="361950"/>
          </a:xfrm>
          <a:prstGeom prst="rect">
            <a:avLst/>
          </a:prstGeom>
        </p:spPr>
      </p:pic>
      <p:pic>
        <p:nvPicPr>
          <p:cNvPr id="80" name="Picture 79" descr="39_0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4931228" y="2286582"/>
            <a:ext cx="982436" cy="361950"/>
          </a:xfrm>
          <a:prstGeom prst="rect">
            <a:avLst/>
          </a:prstGeom>
        </p:spPr>
      </p:pic>
      <p:pic>
        <p:nvPicPr>
          <p:cNvPr id="81" name="Picture 80" descr="64_8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4931228" y="2779432"/>
            <a:ext cx="982436" cy="361950"/>
          </a:xfrm>
          <a:prstGeom prst="rect">
            <a:avLst/>
          </a:prstGeom>
        </p:spPr>
      </p:pic>
      <p:pic>
        <p:nvPicPr>
          <p:cNvPr id="82" name="Picture 81" descr="5_2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4931228" y="3272281"/>
            <a:ext cx="982436" cy="361950"/>
          </a:xfrm>
          <a:prstGeom prst="rect">
            <a:avLst/>
          </a:prstGeom>
        </p:spPr>
      </p:pic>
      <p:pic>
        <p:nvPicPr>
          <p:cNvPr id="83" name="Picture 82" descr="38_7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6376307" y="2286582"/>
            <a:ext cx="982436" cy="361950"/>
          </a:xfrm>
          <a:prstGeom prst="rect">
            <a:avLst/>
          </a:prstGeom>
        </p:spPr>
      </p:pic>
      <p:pic>
        <p:nvPicPr>
          <p:cNvPr id="84" name="Picture 83" descr="75_7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6376307" y="2779432"/>
            <a:ext cx="982436" cy="361950"/>
          </a:xfrm>
          <a:prstGeom prst="rect">
            <a:avLst/>
          </a:prstGeom>
        </p:spPr>
      </p:pic>
      <p:pic>
        <p:nvPicPr>
          <p:cNvPr id="85" name="Picture 84" descr="6_9_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6376307" y="3272281"/>
            <a:ext cx="982436" cy="361950"/>
          </a:xfrm>
          <a:prstGeom prst="rect">
            <a:avLst/>
          </a:prstGeom>
        </p:spPr>
      </p:pic>
      <p:pic>
        <p:nvPicPr>
          <p:cNvPr id="86" name="Picture 85" descr="37_2_605E5C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7821385" y="2286582"/>
            <a:ext cx="982436" cy="361950"/>
          </a:xfrm>
          <a:prstGeom prst="rect">
            <a:avLst/>
          </a:prstGeom>
        </p:spPr>
      </p:pic>
      <p:pic>
        <p:nvPicPr>
          <p:cNvPr id="87" name="Picture 86" descr="64_1_605E5C.png"/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7821385" y="2779432"/>
            <a:ext cx="982436" cy="361950"/>
          </a:xfrm>
          <a:prstGeom prst="rect">
            <a:avLst/>
          </a:prstGeom>
        </p:spPr>
      </p:pic>
      <p:pic>
        <p:nvPicPr>
          <p:cNvPr id="88" name="Picture 87" descr="5_6__605E5C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7821385" y="3272281"/>
            <a:ext cx="982436" cy="361950"/>
          </a:xfrm>
          <a:prstGeom prst="rect">
            <a:avLst/>
          </a:prstGeom>
        </p:spPr>
      </p:pic>
      <p:pic>
        <p:nvPicPr>
          <p:cNvPr id="89" name="Picture 88" descr="34_1_605E5C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9266464" y="2286582"/>
            <a:ext cx="982436" cy="361950"/>
          </a:xfrm>
          <a:prstGeom prst="rect">
            <a:avLst/>
          </a:prstGeom>
        </p:spPr>
      </p:pic>
      <p:pic>
        <p:nvPicPr>
          <p:cNvPr id="90" name="Picture 89" descr="62_1_605E5C.png"/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9266464" y="2779432"/>
            <a:ext cx="982436" cy="361950"/>
          </a:xfrm>
          <a:prstGeom prst="rect">
            <a:avLst/>
          </a:prstGeom>
        </p:spPr>
      </p:pic>
      <p:pic>
        <p:nvPicPr>
          <p:cNvPr id="91" name="Picture 90" descr="6_2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266464" y="3272281"/>
            <a:ext cx="982436" cy="361950"/>
          </a:xfrm>
          <a:prstGeom prst="rect">
            <a:avLst/>
          </a:prstGeom>
        </p:spPr>
      </p:pic>
      <p:pic>
        <p:nvPicPr>
          <p:cNvPr id="92" name="Picture 91" descr="32_4_605E5C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10711542" y="2286582"/>
            <a:ext cx="982436" cy="361950"/>
          </a:xfrm>
          <a:prstGeom prst="rect">
            <a:avLst/>
          </a:prstGeom>
        </p:spPr>
      </p:pic>
      <p:pic>
        <p:nvPicPr>
          <p:cNvPr id="93" name="Picture 92" descr="59_7_605E5C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10711542" y="2779432"/>
            <a:ext cx="982436" cy="361950"/>
          </a:xfrm>
          <a:prstGeom prst="rect">
            <a:avLst/>
          </a:prstGeom>
        </p:spPr>
      </p:pic>
      <p:pic>
        <p:nvPicPr>
          <p:cNvPr id="94" name="Picture 93" descr="6_3__605E5C.png"/>
          <p:cNvPicPr>
            <a:picLocks noChangeAspect="1"/>
          </p:cNvPicPr>
          <p:nvPr/>
        </p:nvPicPr>
        <p:blipFill>
          <a:blip r:embed="rId23"/>
          <a:stretch>
            <a:fillRect/>
          </a:stretch>
        </p:blipFill>
        <p:spPr>
          <a:xfrm>
            <a:off x="10711542" y="3272281"/>
            <a:ext cx="982436" cy="361950"/>
          </a:xfrm>
          <a:prstGeom prst="rect">
            <a:avLst/>
          </a:prstGeom>
        </p:spPr>
      </p:pic>
      <p:pic>
        <p:nvPicPr>
          <p:cNvPr id="95" name="Picture 94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2438944" y="2827057"/>
            <a:ext cx="183356" cy="266700"/>
          </a:xfrm>
          <a:prstGeom prst="rect">
            <a:avLst/>
          </a:prstGeom>
        </p:spPr>
      </p:pic>
      <p:pic>
        <p:nvPicPr>
          <p:cNvPr id="96" name="Picture 95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3884023" y="2827057"/>
            <a:ext cx="183356" cy="266700"/>
          </a:xfrm>
          <a:prstGeom prst="rect">
            <a:avLst/>
          </a:prstGeom>
        </p:spPr>
      </p:pic>
      <p:pic>
        <p:nvPicPr>
          <p:cNvPr id="97" name="Picture 96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5329101" y="2827057"/>
            <a:ext cx="183356" cy="266700"/>
          </a:xfrm>
          <a:prstGeom prst="rect">
            <a:avLst/>
          </a:prstGeom>
        </p:spPr>
      </p:pic>
      <p:pic>
        <p:nvPicPr>
          <p:cNvPr id="98" name="Picture 97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6774180" y="2827057"/>
            <a:ext cx="183356" cy="266700"/>
          </a:xfrm>
          <a:prstGeom prst="rect">
            <a:avLst/>
          </a:prstGeom>
        </p:spPr>
      </p:pic>
      <p:pic>
        <p:nvPicPr>
          <p:cNvPr id="99" name="Picture 98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8219258" y="2827057"/>
            <a:ext cx="183356" cy="266700"/>
          </a:xfrm>
          <a:prstGeom prst="rect">
            <a:avLst/>
          </a:prstGeom>
        </p:spPr>
      </p:pic>
      <p:pic>
        <p:nvPicPr>
          <p:cNvPr id="100" name="Picture 99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9664337" y="2827057"/>
            <a:ext cx="183356" cy="266700"/>
          </a:xfrm>
          <a:prstGeom prst="rect">
            <a:avLst/>
          </a:prstGeom>
        </p:spPr>
      </p:pic>
      <p:pic>
        <p:nvPicPr>
          <p:cNvPr id="101" name="Picture 100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11109415" y="2827057"/>
            <a:ext cx="183356" cy="266700"/>
          </a:xfrm>
          <a:prstGeom prst="rect">
            <a:avLst/>
          </a:prstGeom>
        </p:spPr>
      </p:pic>
      <p:sp>
        <p:nvSpPr>
          <p:cNvPr id="102" name="TextBox 101"/>
          <p:cNvSpPr txBox="1"/>
          <p:nvPr/>
        </p:nvSpPr>
        <p:spPr>
          <a:xfrm>
            <a:off x="485775" y="4229437"/>
            <a:ext cx="67238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Norway:</a:t>
            </a:r>
          </a:p>
        </p:txBody>
      </p:sp>
      <p:pic>
        <p:nvPicPr>
          <p:cNvPr id="103" name="Picture 102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1106207" y="4219658"/>
            <a:ext cx="128699" cy="187198"/>
          </a:xfrm>
          <a:prstGeom prst="rect">
            <a:avLst/>
          </a:prstGeom>
        </p:spPr>
      </p:pic>
      <p:sp>
        <p:nvSpPr>
          <p:cNvPr id="104" name="TextBox 103"/>
          <p:cNvSpPr txBox="1"/>
          <p:nvPr/>
        </p:nvSpPr>
        <p:spPr>
          <a:xfrm>
            <a:off x="1273703" y="422943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05" name="Picture 104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2133153" y="4219658"/>
            <a:ext cx="128699" cy="187198"/>
          </a:xfrm>
          <a:prstGeom prst="rect">
            <a:avLst/>
          </a:prstGeom>
        </p:spPr>
      </p:pic>
      <p:sp>
        <p:nvSpPr>
          <p:cNvPr id="106" name="TextBox 105"/>
          <p:cNvSpPr txBox="1"/>
          <p:nvPr/>
        </p:nvSpPr>
        <p:spPr>
          <a:xfrm>
            <a:off x="2300649" y="4229437"/>
            <a:ext cx="14156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485775" y="4447369"/>
            <a:ext cx="7493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Denmark:</a:t>
            </a:r>
          </a:p>
        </p:txBody>
      </p:sp>
      <p:pic>
        <p:nvPicPr>
          <p:cNvPr id="108" name="Picture 107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1183151" y="4437590"/>
            <a:ext cx="128699" cy="187198"/>
          </a:xfrm>
          <a:prstGeom prst="rect">
            <a:avLst/>
          </a:prstGeom>
        </p:spPr>
      </p:pic>
      <p:sp>
        <p:nvSpPr>
          <p:cNvPr id="109" name="TextBox 108"/>
          <p:cNvSpPr txBox="1"/>
          <p:nvPr/>
        </p:nvSpPr>
        <p:spPr>
          <a:xfrm>
            <a:off x="1350647" y="444736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10" name="Picture 109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2210097" y="4437590"/>
            <a:ext cx="128699" cy="187198"/>
          </a:xfrm>
          <a:prstGeom prst="rect">
            <a:avLst/>
          </a:prstGeom>
        </p:spPr>
      </p:pic>
      <p:sp>
        <p:nvSpPr>
          <p:cNvPr id="111" name="TextBox 110"/>
          <p:cNvSpPr txBox="1"/>
          <p:nvPr/>
        </p:nvSpPr>
        <p:spPr>
          <a:xfrm>
            <a:off x="2377593" y="4447369"/>
            <a:ext cx="14156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485775" y="4665301"/>
            <a:ext cx="64509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Finland:</a:t>
            </a:r>
          </a:p>
        </p:txBody>
      </p:sp>
      <p:pic>
        <p:nvPicPr>
          <p:cNvPr id="113" name="Picture 112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1078922" y="4655522"/>
            <a:ext cx="128699" cy="187198"/>
          </a:xfrm>
          <a:prstGeom prst="rect">
            <a:avLst/>
          </a:prstGeom>
        </p:spPr>
      </p:pic>
      <p:sp>
        <p:nvSpPr>
          <p:cNvPr id="114" name="TextBox 113"/>
          <p:cNvSpPr txBox="1"/>
          <p:nvPr/>
        </p:nvSpPr>
        <p:spPr>
          <a:xfrm>
            <a:off x="1246417" y="4665301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15" name="Picture 114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2105868" y="4655522"/>
            <a:ext cx="128699" cy="187198"/>
          </a:xfrm>
          <a:prstGeom prst="rect">
            <a:avLst/>
          </a:prstGeom>
        </p:spPr>
      </p:pic>
      <p:sp>
        <p:nvSpPr>
          <p:cNvPr id="116" name="TextBox 115"/>
          <p:cNvSpPr txBox="1"/>
          <p:nvPr/>
        </p:nvSpPr>
        <p:spPr>
          <a:xfrm>
            <a:off x="2273363" y="4665301"/>
            <a:ext cx="14156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485775" y="4883233"/>
            <a:ext cx="72995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Romania:</a:t>
            </a:r>
          </a:p>
        </p:txBody>
      </p:sp>
      <p:pic>
        <p:nvPicPr>
          <p:cNvPr id="118" name="Picture 117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1163778" y="4873454"/>
            <a:ext cx="128699" cy="187198"/>
          </a:xfrm>
          <a:prstGeom prst="rect">
            <a:avLst/>
          </a:prstGeom>
        </p:spPr>
      </p:pic>
      <p:sp>
        <p:nvSpPr>
          <p:cNvPr id="119" name="TextBox 118"/>
          <p:cNvSpPr txBox="1"/>
          <p:nvPr/>
        </p:nvSpPr>
        <p:spPr>
          <a:xfrm>
            <a:off x="1331274" y="4883233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20" name="Picture 119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2190724" y="4873454"/>
            <a:ext cx="128699" cy="187198"/>
          </a:xfrm>
          <a:prstGeom prst="rect">
            <a:avLst/>
          </a:prstGeom>
        </p:spPr>
      </p:pic>
      <p:sp>
        <p:nvSpPr>
          <p:cNvPr id="121" name="TextBox 120"/>
          <p:cNvSpPr txBox="1"/>
          <p:nvPr/>
        </p:nvSpPr>
        <p:spPr>
          <a:xfrm>
            <a:off x="2358220" y="4883233"/>
            <a:ext cx="14156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485775" y="5101165"/>
            <a:ext cx="6289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Ireland:</a:t>
            </a:r>
          </a:p>
        </p:txBody>
      </p:sp>
      <p:pic>
        <p:nvPicPr>
          <p:cNvPr id="123" name="Picture 122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1062823" y="5091385"/>
            <a:ext cx="128699" cy="187198"/>
          </a:xfrm>
          <a:prstGeom prst="rect">
            <a:avLst/>
          </a:prstGeom>
        </p:spPr>
      </p:pic>
      <p:sp>
        <p:nvSpPr>
          <p:cNvPr id="124" name="TextBox 123"/>
          <p:cNvSpPr txBox="1"/>
          <p:nvPr/>
        </p:nvSpPr>
        <p:spPr>
          <a:xfrm>
            <a:off x="1230319" y="5101165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25" name="Picture 124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2089769" y="5091385"/>
            <a:ext cx="128699" cy="187198"/>
          </a:xfrm>
          <a:prstGeom prst="rect">
            <a:avLst/>
          </a:prstGeom>
        </p:spPr>
      </p:pic>
      <p:sp>
        <p:nvSpPr>
          <p:cNvPr id="126" name="TextBox 125"/>
          <p:cNvSpPr txBox="1"/>
          <p:nvPr/>
        </p:nvSpPr>
        <p:spPr>
          <a:xfrm>
            <a:off x="2257265" y="5101165"/>
            <a:ext cx="14156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127" name="TextBox 126"/>
          <p:cNvSpPr txBox="1"/>
          <p:nvPr/>
        </p:nvSpPr>
        <p:spPr>
          <a:xfrm>
            <a:off x="485775" y="5319097"/>
            <a:ext cx="7081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Hungary:</a:t>
            </a:r>
          </a:p>
        </p:txBody>
      </p:sp>
      <p:pic>
        <p:nvPicPr>
          <p:cNvPr id="128" name="Picture 127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1141950" y="5309317"/>
            <a:ext cx="128699" cy="187198"/>
          </a:xfrm>
          <a:prstGeom prst="rect">
            <a:avLst/>
          </a:prstGeom>
        </p:spPr>
      </p:pic>
      <p:sp>
        <p:nvSpPr>
          <p:cNvPr id="129" name="TextBox 128"/>
          <p:cNvSpPr txBox="1"/>
          <p:nvPr/>
        </p:nvSpPr>
        <p:spPr>
          <a:xfrm>
            <a:off x="1309446" y="531909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30" name="Picture 129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2168896" y="5309317"/>
            <a:ext cx="128699" cy="187198"/>
          </a:xfrm>
          <a:prstGeom prst="rect">
            <a:avLst/>
          </a:prstGeom>
        </p:spPr>
      </p:pic>
      <p:sp>
        <p:nvSpPr>
          <p:cNvPr id="131" name="TextBox 130"/>
          <p:cNvSpPr txBox="1"/>
          <p:nvPr/>
        </p:nvSpPr>
        <p:spPr>
          <a:xfrm>
            <a:off x="2336392" y="5319097"/>
            <a:ext cx="14156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132" name="TextBox 131"/>
          <p:cNvSpPr txBox="1"/>
          <p:nvPr/>
        </p:nvSpPr>
        <p:spPr>
          <a:xfrm>
            <a:off x="485775" y="5537029"/>
            <a:ext cx="63445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Greece:</a:t>
            </a:r>
          </a:p>
        </p:txBody>
      </p:sp>
      <p:pic>
        <p:nvPicPr>
          <p:cNvPr id="133" name="Picture 132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1068280" y="5527249"/>
            <a:ext cx="128699" cy="187198"/>
          </a:xfrm>
          <a:prstGeom prst="rect">
            <a:avLst/>
          </a:prstGeom>
        </p:spPr>
      </p:pic>
      <p:sp>
        <p:nvSpPr>
          <p:cNvPr id="134" name="TextBox 133"/>
          <p:cNvSpPr txBox="1"/>
          <p:nvPr/>
        </p:nvSpPr>
        <p:spPr>
          <a:xfrm>
            <a:off x="1235776" y="553702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35" name="Picture 134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2095226" y="5527249"/>
            <a:ext cx="128699" cy="187198"/>
          </a:xfrm>
          <a:prstGeom prst="rect">
            <a:avLst/>
          </a:prstGeom>
        </p:spPr>
      </p:pic>
      <p:sp>
        <p:nvSpPr>
          <p:cNvPr id="136" name="TextBox 135"/>
          <p:cNvSpPr txBox="1"/>
          <p:nvPr/>
        </p:nvSpPr>
        <p:spPr>
          <a:xfrm>
            <a:off x="2262722" y="5537029"/>
            <a:ext cx="14156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</p:spTree>
  </p:cSld>
  <p:clrMapOvr>
    <a:masterClrMapping/>
  </p:clrMapOvr>
</p:sld>
</file>

<file path=ppt/slides/slide4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– Regional Outlook (4/4)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Regional analysis of size, growth and share across 25 countries, highlighting where value concentrates, 2026–2036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By Country view breaks the Europe market down geographically. Each country is evaluated on market size, growth outlook and adoption trends across the forecast period.</a:t>
            </a:r>
          </a:p>
        </p:txBody>
      </p:sp>
      <p:sp>
        <p:nvSpPr>
          <p:cNvPr id="11" name="Rectangle 10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Country</a:t>
            </a:r>
          </a:p>
        </p:txBody>
      </p:sp>
      <p:sp>
        <p:nvSpPr>
          <p:cNvPr id="13" name="Rectangle 12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5" name="Rectangle 14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7" name="Rectangle 16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1866900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1866900" y="1992961"/>
            <a:ext cx="2414588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1905000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Bulgaria</a:t>
            </a:r>
          </a:p>
        </p:txBody>
      </p:sp>
      <p:sp>
        <p:nvSpPr>
          <p:cNvPr id="22" name="Rectangle 21"/>
          <p:cNvSpPr/>
          <p:nvPr/>
        </p:nvSpPr>
        <p:spPr>
          <a:xfrm>
            <a:off x="1866900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5" name="Oval 24"/>
          <p:cNvSpPr/>
          <p:nvPr/>
        </p:nvSpPr>
        <p:spPr>
          <a:xfrm>
            <a:off x="2912269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22</a:t>
            </a:r>
          </a:p>
        </p:txBody>
      </p:sp>
      <p:sp>
        <p:nvSpPr>
          <p:cNvPr id="26" name="Rounded Rectangle 25"/>
          <p:cNvSpPr/>
          <p:nvPr/>
        </p:nvSpPr>
        <p:spPr>
          <a:xfrm>
            <a:off x="4395788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Rectangle 26"/>
          <p:cNvSpPr/>
          <p:nvPr/>
        </p:nvSpPr>
        <p:spPr>
          <a:xfrm>
            <a:off x="4395788" y="1992961"/>
            <a:ext cx="2414588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4433888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Croatia</a:t>
            </a:r>
          </a:p>
        </p:txBody>
      </p:sp>
      <p:sp>
        <p:nvSpPr>
          <p:cNvPr id="29" name="Rectangle 28"/>
          <p:cNvSpPr/>
          <p:nvPr/>
        </p:nvSpPr>
        <p:spPr>
          <a:xfrm>
            <a:off x="4395788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0" name="Rectangle 29"/>
          <p:cNvSpPr/>
          <p:nvPr/>
        </p:nvSpPr>
        <p:spPr>
          <a:xfrm>
            <a:off x="4395788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4395788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2" name="Oval 31"/>
          <p:cNvSpPr/>
          <p:nvPr/>
        </p:nvSpPr>
        <p:spPr>
          <a:xfrm>
            <a:off x="5441156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23</a:t>
            </a:r>
          </a:p>
        </p:txBody>
      </p:sp>
      <p:sp>
        <p:nvSpPr>
          <p:cNvPr id="33" name="Rounded Rectangle 32"/>
          <p:cNvSpPr/>
          <p:nvPr/>
        </p:nvSpPr>
        <p:spPr>
          <a:xfrm>
            <a:off x="6924675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6924675" y="1992961"/>
            <a:ext cx="2414588" cy="21904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TextBox 34"/>
          <p:cNvSpPr txBox="1"/>
          <p:nvPr/>
        </p:nvSpPr>
        <p:spPr>
          <a:xfrm>
            <a:off x="6962775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Malta</a:t>
            </a:r>
          </a:p>
        </p:txBody>
      </p:sp>
      <p:sp>
        <p:nvSpPr>
          <p:cNvPr id="36" name="Rectangle 35"/>
          <p:cNvSpPr/>
          <p:nvPr/>
        </p:nvSpPr>
        <p:spPr>
          <a:xfrm>
            <a:off x="6924675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7" name="Rectangle 36"/>
          <p:cNvSpPr/>
          <p:nvPr/>
        </p:nvSpPr>
        <p:spPr>
          <a:xfrm>
            <a:off x="6924675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8" name="Rectangle 37"/>
          <p:cNvSpPr/>
          <p:nvPr/>
        </p:nvSpPr>
        <p:spPr>
          <a:xfrm>
            <a:off x="6924675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9" name="Oval 38"/>
          <p:cNvSpPr/>
          <p:nvPr/>
        </p:nvSpPr>
        <p:spPr>
          <a:xfrm>
            <a:off x="7970044" y="1445350"/>
            <a:ext cx="323850" cy="310313"/>
          </a:xfrm>
          <a:prstGeom prst="ellipse">
            <a:avLst/>
          </a:prstGeom>
          <a:solidFill>
            <a:srgbClr val="0081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24</a:t>
            </a:r>
          </a:p>
        </p:txBody>
      </p:sp>
      <p:sp>
        <p:nvSpPr>
          <p:cNvPr id="40" name="Rounded Rectangle 39"/>
          <p:cNvSpPr/>
          <p:nvPr/>
        </p:nvSpPr>
        <p:spPr>
          <a:xfrm>
            <a:off x="9453562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9453562" y="1992961"/>
            <a:ext cx="2414588" cy="219044"/>
          </a:xfrm>
          <a:prstGeom prst="rect">
            <a:avLst/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9491662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Slovenia</a:t>
            </a:r>
          </a:p>
        </p:txBody>
      </p:sp>
      <p:sp>
        <p:nvSpPr>
          <p:cNvPr id="43" name="Rectangle 42"/>
          <p:cNvSpPr/>
          <p:nvPr/>
        </p:nvSpPr>
        <p:spPr>
          <a:xfrm>
            <a:off x="9453562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4" name="Rectangle 43"/>
          <p:cNvSpPr/>
          <p:nvPr/>
        </p:nvSpPr>
        <p:spPr>
          <a:xfrm>
            <a:off x="9453562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5" name="Rectangle 44"/>
          <p:cNvSpPr/>
          <p:nvPr/>
        </p:nvSpPr>
        <p:spPr>
          <a:xfrm>
            <a:off x="9453562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6" name="Oval 45"/>
          <p:cNvSpPr/>
          <p:nvPr/>
        </p:nvSpPr>
        <p:spPr>
          <a:xfrm>
            <a:off x="10498931" y="1445350"/>
            <a:ext cx="323850" cy="310313"/>
          </a:xfrm>
          <a:prstGeom prst="ellipse">
            <a:avLst/>
          </a:prstGeom>
          <a:solidFill>
            <a:srgbClr val="6F3CC2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25</a:t>
            </a:r>
          </a:p>
        </p:txBody>
      </p:sp>
      <p:sp>
        <p:nvSpPr>
          <p:cNvPr id="47" name="Rounded Rectangle 46"/>
          <p:cNvSpPr/>
          <p:nvPr/>
        </p:nvSpPr>
        <p:spPr>
          <a:xfrm>
            <a:off x="323850" y="3854838"/>
            <a:ext cx="115443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457200" y="3946106"/>
            <a:ext cx="112776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49" name="Rectangle 48"/>
          <p:cNvSpPr/>
          <p:nvPr/>
        </p:nvSpPr>
        <p:spPr>
          <a:xfrm>
            <a:off x="457200" y="4146897"/>
            <a:ext cx="112776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457200" y="4219912"/>
            <a:ext cx="112776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1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08189"/>
                </a:solidFill>
                <a:latin typeface="Calibri"/>
              </a:rPr>
              <a:t/>
            </a:r>
            <a:r>
              <a:rPr sz="1100" b="1">
                <a:solidFill>
                  <a:srgbClr val="0081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6F3CC2"/>
                </a:solidFill>
                <a:latin typeface="Calibri"/>
              </a:rPr>
              <a:t/>
            </a:r>
            <a:r>
              <a:rPr sz="1100" b="1">
                <a:solidFill>
                  <a:srgbClr val="6F3CC2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53" name="Picture 52" descr="19_0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582976" y="2286582"/>
            <a:ext cx="982436" cy="361950"/>
          </a:xfrm>
          <a:prstGeom prst="rect">
            <a:avLst/>
          </a:prstGeom>
        </p:spPr>
      </p:pic>
      <p:pic>
        <p:nvPicPr>
          <p:cNvPr id="54" name="Picture 53" descr="32_4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82976" y="2779432"/>
            <a:ext cx="982436" cy="361950"/>
          </a:xfrm>
          <a:prstGeom prst="rect">
            <a:avLst/>
          </a:prstGeom>
        </p:spPr>
      </p:pic>
      <p:pic>
        <p:nvPicPr>
          <p:cNvPr id="55" name="Picture 54" descr="5_5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582976" y="3272281"/>
            <a:ext cx="982436" cy="361950"/>
          </a:xfrm>
          <a:prstGeom prst="rect">
            <a:avLst/>
          </a:prstGeom>
        </p:spPr>
      </p:pic>
      <p:pic>
        <p:nvPicPr>
          <p:cNvPr id="56" name="Picture 55" descr="16_0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111864" y="2286582"/>
            <a:ext cx="982436" cy="361950"/>
          </a:xfrm>
          <a:prstGeom prst="rect">
            <a:avLst/>
          </a:prstGeom>
        </p:spPr>
      </p:pic>
      <p:pic>
        <p:nvPicPr>
          <p:cNvPr id="57" name="Picture 56" descr="30_7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5111864" y="2779432"/>
            <a:ext cx="982436" cy="361950"/>
          </a:xfrm>
          <a:prstGeom prst="rect">
            <a:avLst/>
          </a:prstGeom>
        </p:spPr>
      </p:pic>
      <p:pic>
        <p:nvPicPr>
          <p:cNvPr id="58" name="Picture 57" descr="6_7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5111864" y="3272281"/>
            <a:ext cx="982436" cy="361950"/>
          </a:xfrm>
          <a:prstGeom prst="rect">
            <a:avLst/>
          </a:prstGeom>
        </p:spPr>
      </p:pic>
      <p:pic>
        <p:nvPicPr>
          <p:cNvPr id="59" name="Picture 58" descr="13_3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7640751" y="2286582"/>
            <a:ext cx="982436" cy="361950"/>
          </a:xfrm>
          <a:prstGeom prst="rect">
            <a:avLst/>
          </a:prstGeom>
        </p:spPr>
      </p:pic>
      <p:pic>
        <p:nvPicPr>
          <p:cNvPr id="60" name="Picture 59" descr="25_5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7640751" y="2779432"/>
            <a:ext cx="982436" cy="361950"/>
          </a:xfrm>
          <a:prstGeom prst="rect">
            <a:avLst/>
          </a:prstGeom>
        </p:spPr>
      </p:pic>
      <p:pic>
        <p:nvPicPr>
          <p:cNvPr id="61" name="Picture 60" descr="6_8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7640751" y="3272281"/>
            <a:ext cx="982436" cy="361950"/>
          </a:xfrm>
          <a:prstGeom prst="rect">
            <a:avLst/>
          </a:prstGeom>
        </p:spPr>
      </p:pic>
      <p:pic>
        <p:nvPicPr>
          <p:cNvPr id="62" name="Picture 61" descr="12_7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0169638" y="2286582"/>
            <a:ext cx="982436" cy="361950"/>
          </a:xfrm>
          <a:prstGeom prst="rect">
            <a:avLst/>
          </a:prstGeom>
        </p:spPr>
      </p:pic>
      <p:pic>
        <p:nvPicPr>
          <p:cNvPr id="63" name="Picture 62" descr="23_3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10169638" y="2779432"/>
            <a:ext cx="982436" cy="361950"/>
          </a:xfrm>
          <a:prstGeom prst="rect">
            <a:avLst/>
          </a:prstGeom>
        </p:spPr>
      </p:pic>
      <p:pic>
        <p:nvPicPr>
          <p:cNvPr id="64" name="Picture 63" descr="6_2_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10169638" y="3272281"/>
            <a:ext cx="982436" cy="361950"/>
          </a:xfrm>
          <a:prstGeom prst="rect">
            <a:avLst/>
          </a:prstGeom>
        </p:spPr>
      </p:pic>
      <p:pic>
        <p:nvPicPr>
          <p:cNvPr id="65" name="Picture 64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980848" y="2827057"/>
            <a:ext cx="183356" cy="266700"/>
          </a:xfrm>
          <a:prstGeom prst="rect">
            <a:avLst/>
          </a:prstGeom>
        </p:spPr>
      </p:pic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5509737" y="2827057"/>
            <a:ext cx="183356" cy="266700"/>
          </a:xfrm>
          <a:prstGeom prst="rect">
            <a:avLst/>
          </a:prstGeom>
        </p:spPr>
      </p:pic>
      <p:pic>
        <p:nvPicPr>
          <p:cNvPr id="67" name="Picture 66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8038624" y="2827057"/>
            <a:ext cx="183356" cy="266700"/>
          </a:xfrm>
          <a:prstGeom prst="rect">
            <a:avLst/>
          </a:prstGeom>
        </p:spPr>
      </p:pic>
      <p:pic>
        <p:nvPicPr>
          <p:cNvPr id="68" name="Picture 67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10567511" y="2827057"/>
            <a:ext cx="183356" cy="266700"/>
          </a:xfrm>
          <a:prstGeom prst="rect">
            <a:avLst/>
          </a:prstGeom>
        </p:spPr>
      </p:pic>
      <p:sp>
        <p:nvSpPr>
          <p:cNvPr id="69" name="TextBox 68"/>
          <p:cNvSpPr txBox="1"/>
          <p:nvPr/>
        </p:nvSpPr>
        <p:spPr>
          <a:xfrm>
            <a:off x="485775" y="4229437"/>
            <a:ext cx="69175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Bulgaria:</a:t>
            </a:r>
          </a:p>
        </p:txBody>
      </p:sp>
      <p:pic>
        <p:nvPicPr>
          <p:cNvPr id="70" name="Picture 69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1125579" y="4219658"/>
            <a:ext cx="128699" cy="187198"/>
          </a:xfrm>
          <a:prstGeom prst="rect">
            <a:avLst/>
          </a:prstGeom>
        </p:spPr>
      </p:pic>
      <p:sp>
        <p:nvSpPr>
          <p:cNvPr id="71" name="TextBox 70"/>
          <p:cNvSpPr txBox="1"/>
          <p:nvPr/>
        </p:nvSpPr>
        <p:spPr>
          <a:xfrm>
            <a:off x="1293075" y="422943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72" name="Picture 71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152525" y="4219658"/>
            <a:ext cx="128699" cy="187198"/>
          </a:xfrm>
          <a:prstGeom prst="rect">
            <a:avLst/>
          </a:prstGeom>
        </p:spPr>
      </p:pic>
      <p:sp>
        <p:nvSpPr>
          <p:cNvPr id="73" name="TextBox 72"/>
          <p:cNvSpPr txBox="1"/>
          <p:nvPr/>
        </p:nvSpPr>
        <p:spPr>
          <a:xfrm>
            <a:off x="2320021" y="4229437"/>
            <a:ext cx="14156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485775" y="4447369"/>
            <a:ext cx="6393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Croatia: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1073192" y="4437590"/>
            <a:ext cx="128699" cy="187198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1240688" y="444736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77" name="Picture 76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100138" y="4437590"/>
            <a:ext cx="128699" cy="187198"/>
          </a:xfrm>
          <a:prstGeom prst="rect">
            <a:avLst/>
          </a:prstGeom>
        </p:spPr>
      </p:pic>
      <p:sp>
        <p:nvSpPr>
          <p:cNvPr id="78" name="TextBox 77"/>
          <p:cNvSpPr txBox="1"/>
          <p:nvPr/>
        </p:nvSpPr>
        <p:spPr>
          <a:xfrm>
            <a:off x="2267634" y="4447369"/>
            <a:ext cx="14156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485775" y="4665301"/>
            <a:ext cx="56187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Malta:</a:t>
            </a:r>
          </a:p>
        </p:txBody>
      </p:sp>
      <p:pic>
        <p:nvPicPr>
          <p:cNvPr id="80" name="Picture 79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995702" y="4655522"/>
            <a:ext cx="128699" cy="187198"/>
          </a:xfrm>
          <a:prstGeom prst="rect">
            <a:avLst/>
          </a:prstGeom>
        </p:spPr>
      </p:pic>
      <p:sp>
        <p:nvSpPr>
          <p:cNvPr id="81" name="TextBox 80"/>
          <p:cNvSpPr txBox="1"/>
          <p:nvPr/>
        </p:nvSpPr>
        <p:spPr>
          <a:xfrm>
            <a:off x="1163198" y="4665301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82" name="Picture 81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022648" y="4655522"/>
            <a:ext cx="128699" cy="187198"/>
          </a:xfrm>
          <a:prstGeom prst="rect">
            <a:avLst/>
          </a:prstGeom>
        </p:spPr>
      </p:pic>
      <p:sp>
        <p:nvSpPr>
          <p:cNvPr id="83" name="TextBox 82"/>
          <p:cNvSpPr txBox="1"/>
          <p:nvPr/>
        </p:nvSpPr>
        <p:spPr>
          <a:xfrm>
            <a:off x="2190144" y="4665301"/>
            <a:ext cx="14156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485775" y="4883233"/>
            <a:ext cx="70457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Slovenia:</a:t>
            </a:r>
          </a:p>
        </p:txBody>
      </p:sp>
      <p:pic>
        <p:nvPicPr>
          <p:cNvPr id="85" name="Picture 84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1138403" y="4873454"/>
            <a:ext cx="128699" cy="187198"/>
          </a:xfrm>
          <a:prstGeom prst="rect">
            <a:avLst/>
          </a:prstGeom>
        </p:spPr>
      </p:pic>
      <p:sp>
        <p:nvSpPr>
          <p:cNvPr id="86" name="TextBox 85"/>
          <p:cNvSpPr txBox="1"/>
          <p:nvPr/>
        </p:nvSpPr>
        <p:spPr>
          <a:xfrm>
            <a:off x="1305899" y="4883233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87" name="Picture 86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165349" y="4873454"/>
            <a:ext cx="128699" cy="187198"/>
          </a:xfrm>
          <a:prstGeom prst="rect">
            <a:avLst/>
          </a:prstGeom>
        </p:spPr>
      </p:pic>
      <p:sp>
        <p:nvSpPr>
          <p:cNvPr id="88" name="TextBox 87"/>
          <p:cNvSpPr txBox="1"/>
          <p:nvPr/>
        </p:nvSpPr>
        <p:spPr>
          <a:xfrm>
            <a:off x="2332845" y="4883233"/>
            <a:ext cx="14156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</p:spTree>
  </p:cSld>
  <p:clrMapOvr>
    <a:masterClrMapping/>
  </p:clrMapOvr>
</p:sld>
</file>

<file path=ppt/slides/slide4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Analysis, By Country Volume (MT)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volume share by country in 2026 and 2036, highlighting share gains and losses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6810375" cy="4533900"/>
          </a:xfrm>
          <a:prstGeom prst="roundRect">
            <a:avLst>
              <a:gd name="adj" fmla="val 168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661987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Share and BPS Assessment By Country, 2026 &amp; 2036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09700"/>
          <a:ext cx="4236720" cy="40481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474845" y="1419225"/>
            <a:ext cx="2383155" cy="1333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(2026→2036)</a:t>
            </a:r>
          </a:p>
        </p:txBody>
      </p:sp>
      <p:sp>
        <p:nvSpPr>
          <p:cNvPr id="15" name="FMI Lock Anchor"/>
          <p:cNvSpPr txBox="1"/>
          <p:nvPr/>
        </p:nvSpPr>
        <p:spPr>
          <a:xfrm>
            <a:off x="2489835" y="3352800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/>
        </p:txBody>
      </p:sp>
      <p:sp>
        <p:nvSpPr>
          <p:cNvPr id="16" name="FMI Legend Chip"/>
          <p:cNvSpPr/>
          <p:nvPr/>
        </p:nvSpPr>
        <p:spPr>
          <a:xfrm>
            <a:off x="4551045" y="1613535"/>
            <a:ext cx="85725" cy="85725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Isosceles Triangle 16"/>
          <p:cNvSpPr/>
          <p:nvPr/>
        </p:nvSpPr>
        <p:spPr>
          <a:xfrm>
            <a:off x="4717732" y="1613535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BPS Name 1"/>
          <p:cNvSpPr txBox="1"/>
          <p:nvPr/>
        </p:nvSpPr>
        <p:spPr>
          <a:xfrm>
            <a:off x="4855845" y="1581150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Spain</a:t>
            </a:r>
          </a:p>
        </p:txBody>
      </p:sp>
      <p:sp>
        <p:nvSpPr>
          <p:cNvPr id="19" name="BPS Value 1"/>
          <p:cNvSpPr txBox="1"/>
          <p:nvPr/>
        </p:nvSpPr>
        <p:spPr>
          <a:xfrm>
            <a:off x="6305550" y="1581150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0" name="FMI Legend Chip"/>
          <p:cNvSpPr/>
          <p:nvPr/>
        </p:nvSpPr>
        <p:spPr>
          <a:xfrm>
            <a:off x="4551045" y="1764030"/>
            <a:ext cx="85725" cy="85725"/>
          </a:xfrm>
          <a:prstGeom prst="rect">
            <a:avLst/>
          </a:prstGeom>
          <a:solidFill>
            <a:srgbClr val="8080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Isosceles Triangle 20"/>
          <p:cNvSpPr/>
          <p:nvPr/>
        </p:nvSpPr>
        <p:spPr>
          <a:xfrm>
            <a:off x="4717732" y="1764030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BPS Name 2"/>
          <p:cNvSpPr txBox="1"/>
          <p:nvPr/>
        </p:nvSpPr>
        <p:spPr>
          <a:xfrm>
            <a:off x="4855845" y="1731645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Netherlands</a:t>
            </a:r>
          </a:p>
        </p:txBody>
      </p:sp>
      <p:sp>
        <p:nvSpPr>
          <p:cNvPr id="23" name="BPS Value 2"/>
          <p:cNvSpPr txBox="1"/>
          <p:nvPr/>
        </p:nvSpPr>
        <p:spPr>
          <a:xfrm>
            <a:off x="6305550" y="1731645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4" name="FMI Legend Chip"/>
          <p:cNvSpPr/>
          <p:nvPr/>
        </p:nvSpPr>
        <p:spPr>
          <a:xfrm>
            <a:off x="4551045" y="1914525"/>
            <a:ext cx="85725" cy="85725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Isosceles Triangle 24"/>
          <p:cNvSpPr/>
          <p:nvPr/>
        </p:nvSpPr>
        <p:spPr>
          <a:xfrm>
            <a:off x="4717732" y="1914525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BPS Name 3"/>
          <p:cNvSpPr txBox="1"/>
          <p:nvPr/>
        </p:nvSpPr>
        <p:spPr>
          <a:xfrm>
            <a:off x="4855845" y="1882140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Other European Countries</a:t>
            </a:r>
          </a:p>
        </p:txBody>
      </p:sp>
      <p:sp>
        <p:nvSpPr>
          <p:cNvPr id="27" name="BPS Value 3"/>
          <p:cNvSpPr txBox="1"/>
          <p:nvPr/>
        </p:nvSpPr>
        <p:spPr>
          <a:xfrm>
            <a:off x="6305550" y="1882140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8" name="FMI Legend Chip"/>
          <p:cNvSpPr/>
          <p:nvPr/>
        </p:nvSpPr>
        <p:spPr>
          <a:xfrm>
            <a:off x="4551045" y="2065020"/>
            <a:ext cx="85725" cy="8572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Isosceles Triangle 28"/>
          <p:cNvSpPr/>
          <p:nvPr/>
        </p:nvSpPr>
        <p:spPr>
          <a:xfrm>
            <a:off x="4717732" y="2065020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BPS Name 4"/>
          <p:cNvSpPr txBox="1"/>
          <p:nvPr/>
        </p:nvSpPr>
        <p:spPr>
          <a:xfrm>
            <a:off x="4855845" y="2032635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France</a:t>
            </a:r>
          </a:p>
        </p:txBody>
      </p:sp>
      <p:sp>
        <p:nvSpPr>
          <p:cNvPr id="31" name="BPS Value 4"/>
          <p:cNvSpPr txBox="1"/>
          <p:nvPr/>
        </p:nvSpPr>
        <p:spPr>
          <a:xfrm>
            <a:off x="6305550" y="2032635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32" name="FMI Legend Chip"/>
          <p:cNvSpPr/>
          <p:nvPr/>
        </p:nvSpPr>
        <p:spPr>
          <a:xfrm>
            <a:off x="4551045" y="2215515"/>
            <a:ext cx="85725" cy="85725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Isosceles Triangle 32"/>
          <p:cNvSpPr/>
          <p:nvPr/>
        </p:nvSpPr>
        <p:spPr>
          <a:xfrm>
            <a:off x="4717732" y="2215515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BPS Name 5"/>
          <p:cNvSpPr txBox="1"/>
          <p:nvPr/>
        </p:nvSpPr>
        <p:spPr>
          <a:xfrm>
            <a:off x="4855845" y="2183130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Sweden</a:t>
            </a:r>
          </a:p>
        </p:txBody>
      </p:sp>
      <p:sp>
        <p:nvSpPr>
          <p:cNvPr id="35" name="BPS Value 5"/>
          <p:cNvSpPr txBox="1"/>
          <p:nvPr/>
        </p:nvSpPr>
        <p:spPr>
          <a:xfrm>
            <a:off x="6305550" y="2183130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36" name="FMI Legend Chip"/>
          <p:cNvSpPr/>
          <p:nvPr/>
        </p:nvSpPr>
        <p:spPr>
          <a:xfrm>
            <a:off x="4551045" y="2366010"/>
            <a:ext cx="85725" cy="85725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Isosceles Triangle 36"/>
          <p:cNvSpPr/>
          <p:nvPr/>
        </p:nvSpPr>
        <p:spPr>
          <a:xfrm>
            <a:off x="4717732" y="2366010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BPS Name 6"/>
          <p:cNvSpPr txBox="1"/>
          <p:nvPr/>
        </p:nvSpPr>
        <p:spPr>
          <a:xfrm>
            <a:off x="4855845" y="2333625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Romania</a:t>
            </a:r>
          </a:p>
        </p:txBody>
      </p:sp>
      <p:sp>
        <p:nvSpPr>
          <p:cNvPr id="39" name="BPS Value 6"/>
          <p:cNvSpPr txBox="1"/>
          <p:nvPr/>
        </p:nvSpPr>
        <p:spPr>
          <a:xfrm>
            <a:off x="6305550" y="2333625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40" name="FMI Legend Chip"/>
          <p:cNvSpPr/>
          <p:nvPr/>
        </p:nvSpPr>
        <p:spPr>
          <a:xfrm>
            <a:off x="4551045" y="2516505"/>
            <a:ext cx="85725" cy="8572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Isosceles Triangle 40"/>
          <p:cNvSpPr/>
          <p:nvPr/>
        </p:nvSpPr>
        <p:spPr>
          <a:xfrm>
            <a:off x="4717732" y="2516505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BPS Name 7"/>
          <p:cNvSpPr txBox="1"/>
          <p:nvPr/>
        </p:nvSpPr>
        <p:spPr>
          <a:xfrm>
            <a:off x="4855845" y="2484120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Portugal</a:t>
            </a:r>
          </a:p>
        </p:txBody>
      </p:sp>
      <p:sp>
        <p:nvSpPr>
          <p:cNvPr id="43" name="BPS Value 7"/>
          <p:cNvSpPr txBox="1"/>
          <p:nvPr/>
        </p:nvSpPr>
        <p:spPr>
          <a:xfrm>
            <a:off x="6305550" y="2484120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44" name="FMI Legend Chip"/>
          <p:cNvSpPr/>
          <p:nvPr/>
        </p:nvSpPr>
        <p:spPr>
          <a:xfrm>
            <a:off x="4551045" y="2667000"/>
            <a:ext cx="85725" cy="8572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Isosceles Triangle 44"/>
          <p:cNvSpPr/>
          <p:nvPr/>
        </p:nvSpPr>
        <p:spPr>
          <a:xfrm>
            <a:off x="4717732" y="2667000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BPS Name 8"/>
          <p:cNvSpPr txBox="1"/>
          <p:nvPr/>
        </p:nvSpPr>
        <p:spPr>
          <a:xfrm>
            <a:off x="4855845" y="2634615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Norway</a:t>
            </a:r>
          </a:p>
        </p:txBody>
      </p:sp>
      <p:sp>
        <p:nvSpPr>
          <p:cNvPr id="47" name="BPS Value 8"/>
          <p:cNvSpPr txBox="1"/>
          <p:nvPr/>
        </p:nvSpPr>
        <p:spPr>
          <a:xfrm>
            <a:off x="6305550" y="2634615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48" name="FMI Legend Chip"/>
          <p:cNvSpPr/>
          <p:nvPr/>
        </p:nvSpPr>
        <p:spPr>
          <a:xfrm>
            <a:off x="4551045" y="2817495"/>
            <a:ext cx="85725" cy="85725"/>
          </a:xfrm>
          <a:prstGeom prst="rect">
            <a:avLst/>
          </a:prstGeom>
          <a:solidFill>
            <a:srgbClr val="B2B2B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Isosceles Triangle 48"/>
          <p:cNvSpPr/>
          <p:nvPr/>
        </p:nvSpPr>
        <p:spPr>
          <a:xfrm>
            <a:off x="4717732" y="2817495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BPS Name 9"/>
          <p:cNvSpPr txBox="1"/>
          <p:nvPr/>
        </p:nvSpPr>
        <p:spPr>
          <a:xfrm>
            <a:off x="4855845" y="2785110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Croatia</a:t>
            </a:r>
          </a:p>
        </p:txBody>
      </p:sp>
      <p:sp>
        <p:nvSpPr>
          <p:cNvPr id="51" name="BPS Value 9"/>
          <p:cNvSpPr txBox="1"/>
          <p:nvPr/>
        </p:nvSpPr>
        <p:spPr>
          <a:xfrm>
            <a:off x="6305550" y="2785110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52" name="FMI Legend Chip"/>
          <p:cNvSpPr/>
          <p:nvPr/>
        </p:nvSpPr>
        <p:spPr>
          <a:xfrm>
            <a:off x="4551045" y="2967990"/>
            <a:ext cx="85725" cy="85725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Isosceles Triangle 52"/>
          <p:cNvSpPr/>
          <p:nvPr/>
        </p:nvSpPr>
        <p:spPr>
          <a:xfrm>
            <a:off x="4717732" y="2967990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BPS Name 10"/>
          <p:cNvSpPr txBox="1"/>
          <p:nvPr/>
        </p:nvSpPr>
        <p:spPr>
          <a:xfrm>
            <a:off x="4855845" y="2935605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Greece</a:t>
            </a:r>
          </a:p>
        </p:txBody>
      </p:sp>
      <p:sp>
        <p:nvSpPr>
          <p:cNvPr id="55" name="BPS Value 10"/>
          <p:cNvSpPr txBox="1"/>
          <p:nvPr/>
        </p:nvSpPr>
        <p:spPr>
          <a:xfrm>
            <a:off x="6305550" y="2935605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56" name="FMI Legend Chip"/>
          <p:cNvSpPr/>
          <p:nvPr/>
        </p:nvSpPr>
        <p:spPr>
          <a:xfrm>
            <a:off x="4551045" y="3118485"/>
            <a:ext cx="85725" cy="85725"/>
          </a:xfrm>
          <a:prstGeom prst="rect">
            <a:avLst/>
          </a:prstGeom>
          <a:solidFill>
            <a:srgbClr val="5F5F5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Isosceles Triangle 56"/>
          <p:cNvSpPr/>
          <p:nvPr/>
        </p:nvSpPr>
        <p:spPr>
          <a:xfrm>
            <a:off x="4717732" y="3118485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BPS Name 11"/>
          <p:cNvSpPr txBox="1"/>
          <p:nvPr/>
        </p:nvSpPr>
        <p:spPr>
          <a:xfrm>
            <a:off x="4855845" y="3086100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Malta</a:t>
            </a:r>
          </a:p>
        </p:txBody>
      </p:sp>
      <p:sp>
        <p:nvSpPr>
          <p:cNvPr id="59" name="BPS Value 11"/>
          <p:cNvSpPr txBox="1"/>
          <p:nvPr/>
        </p:nvSpPr>
        <p:spPr>
          <a:xfrm>
            <a:off x="6305550" y="3086100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60" name="FMI Legend Chip"/>
          <p:cNvSpPr/>
          <p:nvPr/>
        </p:nvSpPr>
        <p:spPr>
          <a:xfrm>
            <a:off x="4551045" y="3268980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Isosceles Triangle 60"/>
          <p:cNvSpPr/>
          <p:nvPr/>
        </p:nvSpPr>
        <p:spPr>
          <a:xfrm>
            <a:off x="4717732" y="3268980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BPS Name 12"/>
          <p:cNvSpPr txBox="1"/>
          <p:nvPr/>
        </p:nvSpPr>
        <p:spPr>
          <a:xfrm>
            <a:off x="4855845" y="3236595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Denmark</a:t>
            </a:r>
          </a:p>
        </p:txBody>
      </p:sp>
      <p:sp>
        <p:nvSpPr>
          <p:cNvPr id="63" name="BPS Value 12"/>
          <p:cNvSpPr txBox="1"/>
          <p:nvPr/>
        </p:nvSpPr>
        <p:spPr>
          <a:xfrm>
            <a:off x="6305550" y="3236595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64" name="FMI Legend Chip"/>
          <p:cNvSpPr/>
          <p:nvPr/>
        </p:nvSpPr>
        <p:spPr>
          <a:xfrm>
            <a:off x="4551045" y="3419475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Isosceles Triangle 64"/>
          <p:cNvSpPr/>
          <p:nvPr/>
        </p:nvSpPr>
        <p:spPr>
          <a:xfrm>
            <a:off x="4717732" y="3419475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BPS Name 13"/>
          <p:cNvSpPr txBox="1"/>
          <p:nvPr/>
        </p:nvSpPr>
        <p:spPr>
          <a:xfrm>
            <a:off x="4855845" y="3387090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Slovenia</a:t>
            </a:r>
          </a:p>
        </p:txBody>
      </p:sp>
      <p:sp>
        <p:nvSpPr>
          <p:cNvPr id="67" name="BPS Value 13"/>
          <p:cNvSpPr txBox="1"/>
          <p:nvPr/>
        </p:nvSpPr>
        <p:spPr>
          <a:xfrm>
            <a:off x="6305550" y="3387090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68" name="FMI Legend Chip"/>
          <p:cNvSpPr/>
          <p:nvPr/>
        </p:nvSpPr>
        <p:spPr>
          <a:xfrm>
            <a:off x="4551045" y="3569970"/>
            <a:ext cx="85725" cy="85725"/>
          </a:xfrm>
          <a:prstGeom prst="rect">
            <a:avLst/>
          </a:prstGeom>
          <a:solidFill>
            <a:srgbClr val="8080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Isosceles Triangle 68"/>
          <p:cNvSpPr/>
          <p:nvPr/>
        </p:nvSpPr>
        <p:spPr>
          <a:xfrm rot="10800000">
            <a:off x="4717732" y="3569970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BPS Name 14"/>
          <p:cNvSpPr txBox="1"/>
          <p:nvPr/>
        </p:nvSpPr>
        <p:spPr>
          <a:xfrm>
            <a:off x="4855845" y="3537585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Hungary</a:t>
            </a:r>
          </a:p>
        </p:txBody>
      </p:sp>
      <p:sp>
        <p:nvSpPr>
          <p:cNvPr id="71" name="BPS Value 14"/>
          <p:cNvSpPr txBox="1"/>
          <p:nvPr/>
        </p:nvSpPr>
        <p:spPr>
          <a:xfrm>
            <a:off x="6305550" y="3537585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72" name="FMI Legend Chip"/>
          <p:cNvSpPr/>
          <p:nvPr/>
        </p:nvSpPr>
        <p:spPr>
          <a:xfrm>
            <a:off x="4551045" y="3720465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Isosceles Triangle 72"/>
          <p:cNvSpPr/>
          <p:nvPr/>
        </p:nvSpPr>
        <p:spPr>
          <a:xfrm rot="10800000">
            <a:off x="4717732" y="3720465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BPS Name 15"/>
          <p:cNvSpPr txBox="1"/>
          <p:nvPr/>
        </p:nvSpPr>
        <p:spPr>
          <a:xfrm>
            <a:off x="4855845" y="3688080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Czech Republic</a:t>
            </a:r>
          </a:p>
        </p:txBody>
      </p:sp>
      <p:sp>
        <p:nvSpPr>
          <p:cNvPr id="75" name="BPS Value 15"/>
          <p:cNvSpPr txBox="1"/>
          <p:nvPr/>
        </p:nvSpPr>
        <p:spPr>
          <a:xfrm>
            <a:off x="6305550" y="3688080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76" name="FMI Legend Chip"/>
          <p:cNvSpPr/>
          <p:nvPr/>
        </p:nvSpPr>
        <p:spPr>
          <a:xfrm>
            <a:off x="4551045" y="3870960"/>
            <a:ext cx="85725" cy="85725"/>
          </a:xfrm>
          <a:prstGeom prst="rect">
            <a:avLst/>
          </a:prstGeom>
          <a:solidFill>
            <a:srgbClr val="6C7A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Isosceles Triangle 76"/>
          <p:cNvSpPr/>
          <p:nvPr/>
        </p:nvSpPr>
        <p:spPr>
          <a:xfrm rot="10800000">
            <a:off x="4717732" y="3870960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BPS Name 16"/>
          <p:cNvSpPr txBox="1"/>
          <p:nvPr/>
        </p:nvSpPr>
        <p:spPr>
          <a:xfrm>
            <a:off x="4855845" y="3838575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Bulgaria</a:t>
            </a:r>
          </a:p>
        </p:txBody>
      </p:sp>
      <p:sp>
        <p:nvSpPr>
          <p:cNvPr id="79" name="BPS Value 16"/>
          <p:cNvSpPr txBox="1"/>
          <p:nvPr/>
        </p:nvSpPr>
        <p:spPr>
          <a:xfrm>
            <a:off x="6305550" y="3838575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80" name="FMI Legend Chip"/>
          <p:cNvSpPr/>
          <p:nvPr/>
        </p:nvSpPr>
        <p:spPr>
          <a:xfrm>
            <a:off x="4551045" y="4021455"/>
            <a:ext cx="85725" cy="85725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Isosceles Triangle 80"/>
          <p:cNvSpPr/>
          <p:nvPr/>
        </p:nvSpPr>
        <p:spPr>
          <a:xfrm rot="10800000">
            <a:off x="4717732" y="4021455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BPS Name 17"/>
          <p:cNvSpPr txBox="1"/>
          <p:nvPr/>
        </p:nvSpPr>
        <p:spPr>
          <a:xfrm>
            <a:off x="4855845" y="3989070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Ireland</a:t>
            </a:r>
          </a:p>
        </p:txBody>
      </p:sp>
      <p:sp>
        <p:nvSpPr>
          <p:cNvPr id="83" name="BPS Value 17"/>
          <p:cNvSpPr txBox="1"/>
          <p:nvPr/>
        </p:nvSpPr>
        <p:spPr>
          <a:xfrm>
            <a:off x="6305550" y="3989070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84" name="FMI Legend Chip"/>
          <p:cNvSpPr/>
          <p:nvPr/>
        </p:nvSpPr>
        <p:spPr>
          <a:xfrm>
            <a:off x="4551045" y="4171950"/>
            <a:ext cx="85725" cy="85725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Isosceles Triangle 84"/>
          <p:cNvSpPr/>
          <p:nvPr/>
        </p:nvSpPr>
        <p:spPr>
          <a:xfrm rot="10800000">
            <a:off x="4717732" y="4171950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BPS Name 18"/>
          <p:cNvSpPr txBox="1"/>
          <p:nvPr/>
        </p:nvSpPr>
        <p:spPr>
          <a:xfrm>
            <a:off x="4855845" y="4139565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Finland</a:t>
            </a:r>
          </a:p>
        </p:txBody>
      </p:sp>
      <p:sp>
        <p:nvSpPr>
          <p:cNvPr id="87" name="BPS Value 18"/>
          <p:cNvSpPr txBox="1"/>
          <p:nvPr/>
        </p:nvSpPr>
        <p:spPr>
          <a:xfrm>
            <a:off x="6305550" y="4139565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88" name="FMI Legend Chip"/>
          <p:cNvSpPr/>
          <p:nvPr/>
        </p:nvSpPr>
        <p:spPr>
          <a:xfrm>
            <a:off x="4551045" y="4322445"/>
            <a:ext cx="85725" cy="85725"/>
          </a:xfrm>
          <a:prstGeom prst="rect">
            <a:avLst/>
          </a:prstGeom>
          <a:solidFill>
            <a:srgbClr val="6C7A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Isosceles Triangle 88"/>
          <p:cNvSpPr/>
          <p:nvPr/>
        </p:nvSpPr>
        <p:spPr>
          <a:xfrm rot="10800000">
            <a:off x="4717732" y="4322445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BPS Name 19"/>
          <p:cNvSpPr txBox="1"/>
          <p:nvPr/>
        </p:nvSpPr>
        <p:spPr>
          <a:xfrm>
            <a:off x="4855845" y="4290060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Austria</a:t>
            </a:r>
          </a:p>
        </p:txBody>
      </p:sp>
      <p:sp>
        <p:nvSpPr>
          <p:cNvPr id="91" name="BPS Value 19"/>
          <p:cNvSpPr txBox="1"/>
          <p:nvPr/>
        </p:nvSpPr>
        <p:spPr>
          <a:xfrm>
            <a:off x="6305550" y="4290060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92" name="FMI Legend Chip"/>
          <p:cNvSpPr/>
          <p:nvPr/>
        </p:nvSpPr>
        <p:spPr>
          <a:xfrm>
            <a:off x="4551045" y="4472940"/>
            <a:ext cx="85725" cy="8572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Isosceles Triangle 92"/>
          <p:cNvSpPr/>
          <p:nvPr/>
        </p:nvSpPr>
        <p:spPr>
          <a:xfrm rot="10800000">
            <a:off x="4717732" y="4472940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BPS Name 20"/>
          <p:cNvSpPr txBox="1"/>
          <p:nvPr/>
        </p:nvSpPr>
        <p:spPr>
          <a:xfrm>
            <a:off x="4855845" y="4440555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Italy</a:t>
            </a:r>
          </a:p>
        </p:txBody>
      </p:sp>
      <p:sp>
        <p:nvSpPr>
          <p:cNvPr id="95" name="BPS Value 20"/>
          <p:cNvSpPr txBox="1"/>
          <p:nvPr/>
        </p:nvSpPr>
        <p:spPr>
          <a:xfrm>
            <a:off x="6305550" y="4440555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96" name="FMI Legend Chip"/>
          <p:cNvSpPr/>
          <p:nvPr/>
        </p:nvSpPr>
        <p:spPr>
          <a:xfrm>
            <a:off x="4551045" y="4623435"/>
            <a:ext cx="85725" cy="85725"/>
          </a:xfrm>
          <a:prstGeom prst="rect">
            <a:avLst/>
          </a:prstGeom>
          <a:solidFill>
            <a:srgbClr val="B2B2B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Isosceles Triangle 96"/>
          <p:cNvSpPr/>
          <p:nvPr/>
        </p:nvSpPr>
        <p:spPr>
          <a:xfrm rot="10800000">
            <a:off x="4717732" y="4623435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BPS Name 21"/>
          <p:cNvSpPr txBox="1"/>
          <p:nvPr/>
        </p:nvSpPr>
        <p:spPr>
          <a:xfrm>
            <a:off x="4855845" y="4591050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Switzerland</a:t>
            </a:r>
          </a:p>
        </p:txBody>
      </p:sp>
      <p:sp>
        <p:nvSpPr>
          <p:cNvPr id="99" name="BPS Value 21"/>
          <p:cNvSpPr txBox="1"/>
          <p:nvPr/>
        </p:nvSpPr>
        <p:spPr>
          <a:xfrm>
            <a:off x="6305550" y="4591050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100" name="FMI Legend Chip"/>
          <p:cNvSpPr/>
          <p:nvPr/>
        </p:nvSpPr>
        <p:spPr>
          <a:xfrm>
            <a:off x="4551045" y="4773930"/>
            <a:ext cx="85725" cy="85725"/>
          </a:xfrm>
          <a:prstGeom prst="rect">
            <a:avLst/>
          </a:prstGeom>
          <a:solidFill>
            <a:srgbClr val="5F5F5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Isosceles Triangle 100"/>
          <p:cNvSpPr/>
          <p:nvPr/>
        </p:nvSpPr>
        <p:spPr>
          <a:xfrm rot="10800000">
            <a:off x="4717732" y="4773930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BPS Name 22"/>
          <p:cNvSpPr txBox="1"/>
          <p:nvPr/>
        </p:nvSpPr>
        <p:spPr>
          <a:xfrm>
            <a:off x="4855845" y="4741545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Belgium</a:t>
            </a:r>
          </a:p>
        </p:txBody>
      </p:sp>
      <p:sp>
        <p:nvSpPr>
          <p:cNvPr id="103" name="BPS Value 22"/>
          <p:cNvSpPr txBox="1"/>
          <p:nvPr/>
        </p:nvSpPr>
        <p:spPr>
          <a:xfrm>
            <a:off x="6305550" y="4741545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104" name="FMI Legend Chip"/>
          <p:cNvSpPr/>
          <p:nvPr/>
        </p:nvSpPr>
        <p:spPr>
          <a:xfrm>
            <a:off x="4551045" y="4924425"/>
            <a:ext cx="85725" cy="85725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Isosceles Triangle 104"/>
          <p:cNvSpPr/>
          <p:nvPr/>
        </p:nvSpPr>
        <p:spPr>
          <a:xfrm rot="10800000">
            <a:off x="4717732" y="4924425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BPS Name 23"/>
          <p:cNvSpPr txBox="1"/>
          <p:nvPr/>
        </p:nvSpPr>
        <p:spPr>
          <a:xfrm>
            <a:off x="4855845" y="4892040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Poland</a:t>
            </a:r>
          </a:p>
        </p:txBody>
      </p:sp>
      <p:sp>
        <p:nvSpPr>
          <p:cNvPr id="107" name="BPS Value 23"/>
          <p:cNvSpPr txBox="1"/>
          <p:nvPr/>
        </p:nvSpPr>
        <p:spPr>
          <a:xfrm>
            <a:off x="6305550" y="4892040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108" name="FMI Legend Chip"/>
          <p:cNvSpPr/>
          <p:nvPr/>
        </p:nvSpPr>
        <p:spPr>
          <a:xfrm>
            <a:off x="4551045" y="5074920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Isosceles Triangle 108"/>
          <p:cNvSpPr/>
          <p:nvPr/>
        </p:nvSpPr>
        <p:spPr>
          <a:xfrm rot="10800000">
            <a:off x="4717732" y="5074920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BPS Name 24"/>
          <p:cNvSpPr txBox="1"/>
          <p:nvPr/>
        </p:nvSpPr>
        <p:spPr>
          <a:xfrm>
            <a:off x="4855845" y="5042535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Germany</a:t>
            </a:r>
          </a:p>
        </p:txBody>
      </p:sp>
      <p:sp>
        <p:nvSpPr>
          <p:cNvPr id="111" name="BPS Value 24"/>
          <p:cNvSpPr txBox="1"/>
          <p:nvPr/>
        </p:nvSpPr>
        <p:spPr>
          <a:xfrm>
            <a:off x="6305550" y="5042535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112" name="FMI Legend Chip"/>
          <p:cNvSpPr/>
          <p:nvPr/>
        </p:nvSpPr>
        <p:spPr>
          <a:xfrm>
            <a:off x="4551045" y="5225415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Isosceles Triangle 112"/>
          <p:cNvSpPr/>
          <p:nvPr/>
        </p:nvSpPr>
        <p:spPr>
          <a:xfrm rot="10800000">
            <a:off x="4717732" y="5225415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BPS Name 25"/>
          <p:cNvSpPr txBox="1"/>
          <p:nvPr/>
        </p:nvSpPr>
        <p:spPr>
          <a:xfrm>
            <a:off x="4855845" y="5193030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United Kingdom</a:t>
            </a:r>
          </a:p>
        </p:txBody>
      </p:sp>
      <p:sp>
        <p:nvSpPr>
          <p:cNvPr id="115" name="BPS Value 25"/>
          <p:cNvSpPr txBox="1"/>
          <p:nvPr/>
        </p:nvSpPr>
        <p:spPr>
          <a:xfrm>
            <a:off x="6305550" y="5193030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116" name="Rounded Rectangle 115"/>
          <p:cNvSpPr/>
          <p:nvPr/>
        </p:nvSpPr>
        <p:spPr>
          <a:xfrm>
            <a:off x="7105650" y="981075"/>
            <a:ext cx="4933950" cy="4533900"/>
          </a:xfrm>
          <a:prstGeom prst="roundRect">
            <a:avLst>
              <a:gd name="adj" fmla="val 168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TextBox 116"/>
          <p:cNvSpPr txBox="1"/>
          <p:nvPr/>
        </p:nvSpPr>
        <p:spPr>
          <a:xfrm>
            <a:off x="7239000" y="1066800"/>
            <a:ext cx="46672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Regional Highlights</a:t>
            </a:r>
          </a:p>
        </p:txBody>
      </p:sp>
      <p:sp>
        <p:nvSpPr>
          <p:cNvPr id="118" name="Rectangle 117"/>
          <p:cNvSpPr/>
          <p:nvPr/>
        </p:nvSpPr>
        <p:spPr>
          <a:xfrm>
            <a:off x="7239000" y="1304925"/>
            <a:ext cx="46672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TextBox 118"/>
          <p:cNvSpPr txBox="1"/>
          <p:nvPr/>
        </p:nvSpPr>
        <p:spPr>
          <a:xfrm>
            <a:off x="7239000" y="1390650"/>
            <a:ext cx="4667250" cy="40481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2E7D32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E44D3A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20" name="Rounded Rectangle 119"/>
          <p:cNvSpPr/>
          <p:nvPr/>
        </p:nvSpPr>
        <p:spPr>
          <a:xfrm>
            <a:off x="142875" y="5648325"/>
            <a:ext cx="3943350" cy="98107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/>
            </a:r>
          </a:p>
          <a:p>
            <a:pPr algn="ctr">
              <a:lnSpc>
                <a:spcPct val="95000"/>
              </a:lnSpc>
            </a:pPr>
            <a:r>
              <a:rPr sz="20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121" name="Rounded Rectangle 120"/>
          <p:cNvSpPr/>
          <p:nvPr/>
        </p:nvSpPr>
        <p:spPr>
          <a:xfrm>
            <a:off x="4238625" y="5648325"/>
            <a:ext cx="3819525" cy="98107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/>
            </a:r>
          </a:p>
          <a:p>
            <a:pPr algn="ctr">
              <a:lnSpc>
                <a:spcPct val="95000"/>
              </a:lnSpc>
            </a:pPr>
            <a:r>
              <a:rPr sz="20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122" name="Rounded Rectangle 121"/>
          <p:cNvSpPr/>
          <p:nvPr/>
        </p:nvSpPr>
        <p:spPr>
          <a:xfrm>
            <a:off x="8210550" y="5648325"/>
            <a:ext cx="3819525" cy="98107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CAGR (2026–2036)</a:t>
            </a:r>
          </a:p>
          <a:p>
            <a:pPr algn="ctr">
              <a:lnSpc>
                <a:spcPct val="95000"/>
              </a:lnSpc>
            </a:pPr>
            <a:r>
              <a:rPr sz="20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24" name="Picture 12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368867" y="3171825"/>
            <a:ext cx="275034" cy="400050"/>
          </a:xfrm>
          <a:prstGeom prst="rect">
            <a:avLst/>
          </a:prstGeom>
        </p:spPr>
      </p:pic>
      <p:pic>
        <p:nvPicPr>
          <p:cNvPr id="125" name="Picture 12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015537" y="6070282"/>
            <a:ext cx="209550" cy="304800"/>
          </a:xfrm>
          <a:prstGeom prst="rect">
            <a:avLst/>
          </a:prstGeom>
        </p:spPr>
      </p:pic>
      <p:sp>
        <p:nvSpPr>
          <p:cNvPr id="126" name="TextBox 125"/>
          <p:cNvSpPr txBox="1"/>
          <p:nvPr/>
        </p:nvSpPr>
        <p:spPr>
          <a:xfrm>
            <a:off x="7239000" y="1400175"/>
            <a:ext cx="21773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Germany is the largest country, at</a:t>
            </a:r>
          </a:p>
        </p:txBody>
      </p:sp>
      <p:pic>
        <p:nvPicPr>
          <p:cNvPr id="127" name="Picture 12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65534" y="1389951"/>
            <a:ext cx="134549" cy="195707"/>
          </a:xfrm>
          <a:prstGeom prst="rect">
            <a:avLst/>
          </a:prstGeom>
        </p:spPr>
      </p:pic>
      <p:sp>
        <p:nvSpPr>
          <p:cNvPr id="128" name="TextBox 127"/>
          <p:cNvSpPr txBox="1"/>
          <p:nvPr/>
        </p:nvSpPr>
        <p:spPr>
          <a:xfrm>
            <a:off x="9540643" y="1400175"/>
            <a:ext cx="104007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volume.</a:t>
            </a:r>
          </a:p>
        </p:txBody>
      </p:sp>
      <p:sp>
        <p:nvSpPr>
          <p:cNvPr id="129" name="TextBox 128"/>
          <p:cNvSpPr txBox="1"/>
          <p:nvPr/>
        </p:nvSpPr>
        <p:spPr>
          <a:xfrm>
            <a:off x="7239000" y="1628013"/>
            <a:ext cx="191951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'Spain' gains the most share +</a:t>
            </a:r>
          </a:p>
        </p:txBody>
      </p:sp>
      <p:pic>
        <p:nvPicPr>
          <p:cNvPr id="130" name="Picture 129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107664" y="1617789"/>
            <a:ext cx="134549" cy="195707"/>
          </a:xfrm>
          <a:prstGeom prst="rect">
            <a:avLst/>
          </a:prstGeom>
        </p:spPr>
      </p:pic>
      <p:sp>
        <p:nvSpPr>
          <p:cNvPr id="131" name="TextBox 130"/>
          <p:cNvSpPr txBox="1"/>
          <p:nvPr/>
        </p:nvSpPr>
        <p:spPr>
          <a:xfrm>
            <a:off x="9282773" y="1628013"/>
            <a:ext cx="234254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between 2026 and 2036 (</a:t>
            </a:r>
            <a:r>
              <a:rPr sz="1150" b="0">
                <a:solidFill>
                  <a:srgbClr val="2E7D32"/>
                </a:solidFill>
                <a:latin typeface="Calibri"/>
              </a:rPr>
              <a:t>▲</a:t>
            </a:r>
            <a:r>
              <a:rPr sz="1150" b="0">
                <a:solidFill>
                  <a:srgbClr val="2E2E2E"/>
                </a:solidFill>
                <a:latin typeface="Calibri"/>
              </a:rPr>
              <a:t> on the</a:t>
            </a:r>
          </a:p>
        </p:txBody>
      </p:sp>
      <p:sp>
        <p:nvSpPr>
          <p:cNvPr id="132" name="TextBox 131"/>
          <p:cNvSpPr txBox="1"/>
          <p:nvPr/>
        </p:nvSpPr>
        <p:spPr>
          <a:xfrm>
            <a:off x="7239000" y="1803273"/>
            <a:ext cx="76480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right scale).</a:t>
            </a:r>
          </a:p>
        </p:txBody>
      </p:sp>
      <p:sp>
        <p:nvSpPr>
          <p:cNvPr id="133" name="TextBox 132"/>
          <p:cNvSpPr txBox="1"/>
          <p:nvPr/>
        </p:nvSpPr>
        <p:spPr>
          <a:xfrm>
            <a:off x="7239000" y="2031111"/>
            <a:ext cx="220333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'United Kingdom' cedes the most -</a:t>
            </a:r>
          </a:p>
        </p:txBody>
      </p:sp>
      <p:pic>
        <p:nvPicPr>
          <p:cNvPr id="134" name="Picture 13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91492" y="2020887"/>
            <a:ext cx="134549" cy="195707"/>
          </a:xfrm>
          <a:prstGeom prst="rect">
            <a:avLst/>
          </a:prstGeom>
        </p:spPr>
      </p:pic>
      <p:sp>
        <p:nvSpPr>
          <p:cNvPr id="135" name="TextBox 134"/>
          <p:cNvSpPr txBox="1"/>
          <p:nvPr/>
        </p:nvSpPr>
        <p:spPr>
          <a:xfrm>
            <a:off x="9566601" y="2031111"/>
            <a:ext cx="191779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 the same window (</a:t>
            </a:r>
            <a:r>
              <a:rPr sz="1150" b="0">
                <a:solidFill>
                  <a:srgbClr val="E44D3A"/>
                </a:solidFill>
                <a:latin typeface="Calibri"/>
              </a:rPr>
              <a:t>▼</a:t>
            </a:r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136" name="TextBox 135"/>
          <p:cNvSpPr txBox="1"/>
          <p:nvPr/>
        </p:nvSpPr>
        <p:spPr>
          <a:xfrm>
            <a:off x="7239000" y="2258949"/>
            <a:ext cx="254136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Other European Countries grows fastest</a:t>
            </a:r>
          </a:p>
        </p:txBody>
      </p:sp>
      <p:pic>
        <p:nvPicPr>
          <p:cNvPr id="137" name="Picture 13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729518" y="2248725"/>
            <a:ext cx="134549" cy="195707"/>
          </a:xfrm>
          <a:prstGeom prst="rect">
            <a:avLst/>
          </a:prstGeom>
        </p:spPr>
      </p:pic>
      <p:sp>
        <p:nvSpPr>
          <p:cNvPr id="138" name="TextBox 137"/>
          <p:cNvSpPr txBox="1"/>
          <p:nvPr/>
        </p:nvSpPr>
        <p:spPr>
          <a:xfrm>
            <a:off x="9904627" y="2258949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139" name="TextBox 138"/>
          <p:cNvSpPr txBox="1"/>
          <p:nvPr/>
        </p:nvSpPr>
        <p:spPr>
          <a:xfrm>
            <a:off x="7239000" y="2486787"/>
            <a:ext cx="108885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rises from</a:t>
            </a:r>
          </a:p>
        </p:txBody>
      </p:sp>
      <p:pic>
        <p:nvPicPr>
          <p:cNvPr id="140" name="Picture 139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277005" y="2476563"/>
            <a:ext cx="134549" cy="195707"/>
          </a:xfrm>
          <a:prstGeom prst="rect">
            <a:avLst/>
          </a:prstGeom>
        </p:spPr>
      </p:pic>
      <p:sp>
        <p:nvSpPr>
          <p:cNvPr id="141" name="TextBox 140"/>
          <p:cNvSpPr txBox="1"/>
          <p:nvPr/>
        </p:nvSpPr>
        <p:spPr>
          <a:xfrm>
            <a:off x="8452114" y="2486787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142" name="Picture 14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603550" y="2476563"/>
            <a:ext cx="134549" cy="195707"/>
          </a:xfrm>
          <a:prstGeom prst="rect">
            <a:avLst/>
          </a:prstGeom>
        </p:spPr>
      </p:pic>
      <p:sp>
        <p:nvSpPr>
          <p:cNvPr id="143" name="TextBox 142"/>
          <p:cNvSpPr txBox="1"/>
          <p:nvPr/>
        </p:nvSpPr>
        <p:spPr>
          <a:xfrm>
            <a:off x="8778660" y="2486787"/>
            <a:ext cx="14867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across 25 countries.</a:t>
            </a:r>
          </a:p>
        </p:txBody>
      </p:sp>
      <p:sp>
        <p:nvSpPr>
          <p:cNvPr id="144" name="TextBox 143"/>
          <p:cNvSpPr txBox="1"/>
          <p:nvPr/>
        </p:nvSpPr>
        <p:spPr>
          <a:xfrm>
            <a:off x="1613208" y="5877496"/>
            <a:ext cx="107888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6C7A89"/>
                </a:solidFill>
                <a:latin typeface="Calibri"/>
              </a:rPr>
              <a:t>2026 TOTAL (MT)</a:t>
            </a:r>
          </a:p>
        </p:txBody>
      </p:sp>
      <p:pic>
        <p:nvPicPr>
          <p:cNvPr id="145" name="Picture 14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984327" y="6077648"/>
            <a:ext cx="233998" cy="340360"/>
          </a:xfrm>
          <a:prstGeom prst="rect">
            <a:avLst/>
          </a:prstGeom>
        </p:spPr>
      </p:pic>
      <p:sp>
        <p:nvSpPr>
          <p:cNvPr id="146" name="TextBox 145"/>
          <p:cNvSpPr txBox="1"/>
          <p:nvPr/>
        </p:nvSpPr>
        <p:spPr>
          <a:xfrm>
            <a:off x="5647046" y="5877496"/>
            <a:ext cx="107888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6C7A89"/>
                </a:solidFill>
                <a:latin typeface="Calibri"/>
              </a:rPr>
              <a:t>2036 TOTAL (MT)</a:t>
            </a:r>
          </a:p>
        </p:txBody>
      </p:sp>
      <p:pic>
        <p:nvPicPr>
          <p:cNvPr id="147" name="Picture 14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018165" y="6077648"/>
            <a:ext cx="233998" cy="340360"/>
          </a:xfrm>
          <a:prstGeom prst="rect">
            <a:avLst/>
          </a:prstGeom>
        </p:spPr>
      </p:pic>
      <p:sp>
        <p:nvSpPr>
          <p:cNvPr id="148" name="lockshield_13"/>
          <p:cNvSpPr/>
          <p:nvPr/>
        </p:nvSpPr>
        <p:spPr>
          <a:xfrm>
            <a:off x="238125" y="1409700"/>
            <a:ext cx="4236720" cy="40481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4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Analysis, By Country Value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value share by country in 2026 and 2036, highlighting share gains and losses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6810375" cy="4533900"/>
          </a:xfrm>
          <a:prstGeom prst="roundRect">
            <a:avLst>
              <a:gd name="adj" fmla="val 168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661987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Share and BPS Assessment By Country, 2026 &amp; 2036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09700"/>
          <a:ext cx="4236720" cy="40481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474845" y="1419225"/>
            <a:ext cx="2383155" cy="1333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(2026→2036)</a:t>
            </a:r>
          </a:p>
        </p:txBody>
      </p:sp>
      <p:sp>
        <p:nvSpPr>
          <p:cNvPr id="15" name="FMI Lock Anchor"/>
          <p:cNvSpPr txBox="1"/>
          <p:nvPr/>
        </p:nvSpPr>
        <p:spPr>
          <a:xfrm>
            <a:off x="2489835" y="3352800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/>
        </p:txBody>
      </p:sp>
      <p:sp>
        <p:nvSpPr>
          <p:cNvPr id="16" name="FMI Legend Chip"/>
          <p:cNvSpPr/>
          <p:nvPr/>
        </p:nvSpPr>
        <p:spPr>
          <a:xfrm>
            <a:off x="4551045" y="1613535"/>
            <a:ext cx="85725" cy="85725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Isosceles Triangle 16"/>
          <p:cNvSpPr/>
          <p:nvPr/>
        </p:nvSpPr>
        <p:spPr>
          <a:xfrm>
            <a:off x="4717732" y="1613535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BPS Name 1"/>
          <p:cNvSpPr txBox="1"/>
          <p:nvPr/>
        </p:nvSpPr>
        <p:spPr>
          <a:xfrm>
            <a:off x="4855845" y="1581150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Spain</a:t>
            </a:r>
          </a:p>
        </p:txBody>
      </p:sp>
      <p:sp>
        <p:nvSpPr>
          <p:cNvPr id="19" name="BPS Value 1"/>
          <p:cNvSpPr txBox="1"/>
          <p:nvPr/>
        </p:nvSpPr>
        <p:spPr>
          <a:xfrm>
            <a:off x="6305550" y="1581150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0" name="FMI Legend Chip"/>
          <p:cNvSpPr/>
          <p:nvPr/>
        </p:nvSpPr>
        <p:spPr>
          <a:xfrm>
            <a:off x="4551045" y="1764030"/>
            <a:ext cx="85725" cy="8572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Isosceles Triangle 20"/>
          <p:cNvSpPr/>
          <p:nvPr/>
        </p:nvSpPr>
        <p:spPr>
          <a:xfrm>
            <a:off x="4717732" y="1764030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BPS Name 2"/>
          <p:cNvSpPr txBox="1"/>
          <p:nvPr/>
        </p:nvSpPr>
        <p:spPr>
          <a:xfrm>
            <a:off x="4855845" y="1731645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France</a:t>
            </a:r>
          </a:p>
        </p:txBody>
      </p:sp>
      <p:sp>
        <p:nvSpPr>
          <p:cNvPr id="23" name="BPS Value 2"/>
          <p:cNvSpPr txBox="1"/>
          <p:nvPr/>
        </p:nvSpPr>
        <p:spPr>
          <a:xfrm>
            <a:off x="6305550" y="1731645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4" name="FMI Legend Chip"/>
          <p:cNvSpPr/>
          <p:nvPr/>
        </p:nvSpPr>
        <p:spPr>
          <a:xfrm>
            <a:off x="4551045" y="1914525"/>
            <a:ext cx="85725" cy="85725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Isosceles Triangle 24"/>
          <p:cNvSpPr/>
          <p:nvPr/>
        </p:nvSpPr>
        <p:spPr>
          <a:xfrm>
            <a:off x="4717732" y="1914525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BPS Name 3"/>
          <p:cNvSpPr txBox="1"/>
          <p:nvPr/>
        </p:nvSpPr>
        <p:spPr>
          <a:xfrm>
            <a:off x="4855845" y="1882140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Other European Countries</a:t>
            </a:r>
          </a:p>
        </p:txBody>
      </p:sp>
      <p:sp>
        <p:nvSpPr>
          <p:cNvPr id="27" name="BPS Value 3"/>
          <p:cNvSpPr txBox="1"/>
          <p:nvPr/>
        </p:nvSpPr>
        <p:spPr>
          <a:xfrm>
            <a:off x="6305550" y="1882140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8" name="FMI Legend Chip"/>
          <p:cNvSpPr/>
          <p:nvPr/>
        </p:nvSpPr>
        <p:spPr>
          <a:xfrm>
            <a:off x="4551045" y="2065020"/>
            <a:ext cx="85725" cy="85725"/>
          </a:xfrm>
          <a:prstGeom prst="rect">
            <a:avLst/>
          </a:prstGeom>
          <a:solidFill>
            <a:srgbClr val="8080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Isosceles Triangle 28"/>
          <p:cNvSpPr/>
          <p:nvPr/>
        </p:nvSpPr>
        <p:spPr>
          <a:xfrm>
            <a:off x="4717732" y="2065020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BPS Name 4"/>
          <p:cNvSpPr txBox="1"/>
          <p:nvPr/>
        </p:nvSpPr>
        <p:spPr>
          <a:xfrm>
            <a:off x="4855845" y="2032635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Netherlands</a:t>
            </a:r>
          </a:p>
        </p:txBody>
      </p:sp>
      <p:sp>
        <p:nvSpPr>
          <p:cNvPr id="31" name="BPS Value 4"/>
          <p:cNvSpPr txBox="1"/>
          <p:nvPr/>
        </p:nvSpPr>
        <p:spPr>
          <a:xfrm>
            <a:off x="6305550" y="2032635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32" name="FMI Legend Chip"/>
          <p:cNvSpPr/>
          <p:nvPr/>
        </p:nvSpPr>
        <p:spPr>
          <a:xfrm>
            <a:off x="4551045" y="2215515"/>
            <a:ext cx="85725" cy="85725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Isosceles Triangle 32"/>
          <p:cNvSpPr/>
          <p:nvPr/>
        </p:nvSpPr>
        <p:spPr>
          <a:xfrm>
            <a:off x="4717732" y="2215515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BPS Name 5"/>
          <p:cNvSpPr txBox="1"/>
          <p:nvPr/>
        </p:nvSpPr>
        <p:spPr>
          <a:xfrm>
            <a:off x="4855845" y="2183130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Sweden</a:t>
            </a:r>
          </a:p>
        </p:txBody>
      </p:sp>
      <p:sp>
        <p:nvSpPr>
          <p:cNvPr id="35" name="BPS Value 5"/>
          <p:cNvSpPr txBox="1"/>
          <p:nvPr/>
        </p:nvSpPr>
        <p:spPr>
          <a:xfrm>
            <a:off x="6305550" y="2183130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36" name="FMI Legend Chip"/>
          <p:cNvSpPr/>
          <p:nvPr/>
        </p:nvSpPr>
        <p:spPr>
          <a:xfrm>
            <a:off x="4551045" y="2366010"/>
            <a:ext cx="85725" cy="85725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Isosceles Triangle 36"/>
          <p:cNvSpPr/>
          <p:nvPr/>
        </p:nvSpPr>
        <p:spPr>
          <a:xfrm>
            <a:off x="4717732" y="2366010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BPS Name 6"/>
          <p:cNvSpPr txBox="1"/>
          <p:nvPr/>
        </p:nvSpPr>
        <p:spPr>
          <a:xfrm>
            <a:off x="4855845" y="2333625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Romania</a:t>
            </a:r>
          </a:p>
        </p:txBody>
      </p:sp>
      <p:sp>
        <p:nvSpPr>
          <p:cNvPr id="39" name="BPS Value 6"/>
          <p:cNvSpPr txBox="1"/>
          <p:nvPr/>
        </p:nvSpPr>
        <p:spPr>
          <a:xfrm>
            <a:off x="6305550" y="2333625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40" name="FMI Legend Chip"/>
          <p:cNvSpPr/>
          <p:nvPr/>
        </p:nvSpPr>
        <p:spPr>
          <a:xfrm>
            <a:off x="4551045" y="2516505"/>
            <a:ext cx="85725" cy="85725"/>
          </a:xfrm>
          <a:prstGeom prst="rect">
            <a:avLst/>
          </a:prstGeom>
          <a:solidFill>
            <a:srgbClr val="B2B2B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Isosceles Triangle 40"/>
          <p:cNvSpPr/>
          <p:nvPr/>
        </p:nvSpPr>
        <p:spPr>
          <a:xfrm>
            <a:off x="4717732" y="2516505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BPS Name 7"/>
          <p:cNvSpPr txBox="1"/>
          <p:nvPr/>
        </p:nvSpPr>
        <p:spPr>
          <a:xfrm>
            <a:off x="4855845" y="2484120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Croatia</a:t>
            </a:r>
          </a:p>
        </p:txBody>
      </p:sp>
      <p:sp>
        <p:nvSpPr>
          <p:cNvPr id="43" name="BPS Value 7"/>
          <p:cNvSpPr txBox="1"/>
          <p:nvPr/>
        </p:nvSpPr>
        <p:spPr>
          <a:xfrm>
            <a:off x="6305550" y="2484120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44" name="FMI Legend Chip"/>
          <p:cNvSpPr/>
          <p:nvPr/>
        </p:nvSpPr>
        <p:spPr>
          <a:xfrm>
            <a:off x="4551045" y="2667000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Isosceles Triangle 44"/>
          <p:cNvSpPr/>
          <p:nvPr/>
        </p:nvSpPr>
        <p:spPr>
          <a:xfrm>
            <a:off x="4717732" y="2667000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BPS Name 8"/>
          <p:cNvSpPr txBox="1"/>
          <p:nvPr/>
        </p:nvSpPr>
        <p:spPr>
          <a:xfrm>
            <a:off x="4855845" y="2634615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Portugal</a:t>
            </a:r>
          </a:p>
        </p:txBody>
      </p:sp>
      <p:sp>
        <p:nvSpPr>
          <p:cNvPr id="47" name="BPS Value 8"/>
          <p:cNvSpPr txBox="1"/>
          <p:nvPr/>
        </p:nvSpPr>
        <p:spPr>
          <a:xfrm>
            <a:off x="6305550" y="2634615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48" name="FMI Legend Chip"/>
          <p:cNvSpPr/>
          <p:nvPr/>
        </p:nvSpPr>
        <p:spPr>
          <a:xfrm>
            <a:off x="4551045" y="2817495"/>
            <a:ext cx="85725" cy="85725"/>
          </a:xfrm>
          <a:prstGeom prst="rect">
            <a:avLst/>
          </a:prstGeom>
          <a:solidFill>
            <a:srgbClr val="5F5F5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Isosceles Triangle 48"/>
          <p:cNvSpPr/>
          <p:nvPr/>
        </p:nvSpPr>
        <p:spPr>
          <a:xfrm>
            <a:off x="4717732" y="2817495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BPS Name 9"/>
          <p:cNvSpPr txBox="1"/>
          <p:nvPr/>
        </p:nvSpPr>
        <p:spPr>
          <a:xfrm>
            <a:off x="4855845" y="2785110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Malta</a:t>
            </a:r>
          </a:p>
        </p:txBody>
      </p:sp>
      <p:sp>
        <p:nvSpPr>
          <p:cNvPr id="51" name="BPS Value 9"/>
          <p:cNvSpPr txBox="1"/>
          <p:nvPr/>
        </p:nvSpPr>
        <p:spPr>
          <a:xfrm>
            <a:off x="6305550" y="2785110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52" name="FMI Legend Chip"/>
          <p:cNvSpPr/>
          <p:nvPr/>
        </p:nvSpPr>
        <p:spPr>
          <a:xfrm>
            <a:off x="4551045" y="2967990"/>
            <a:ext cx="85725" cy="85725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Isosceles Triangle 52"/>
          <p:cNvSpPr/>
          <p:nvPr/>
        </p:nvSpPr>
        <p:spPr>
          <a:xfrm>
            <a:off x="4717732" y="2967990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BPS Name 10"/>
          <p:cNvSpPr txBox="1"/>
          <p:nvPr/>
        </p:nvSpPr>
        <p:spPr>
          <a:xfrm>
            <a:off x="4855845" y="2935605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Greece</a:t>
            </a:r>
          </a:p>
        </p:txBody>
      </p:sp>
      <p:sp>
        <p:nvSpPr>
          <p:cNvPr id="55" name="BPS Value 10"/>
          <p:cNvSpPr txBox="1"/>
          <p:nvPr/>
        </p:nvSpPr>
        <p:spPr>
          <a:xfrm>
            <a:off x="6305550" y="2935605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56" name="FMI Legend Chip"/>
          <p:cNvSpPr/>
          <p:nvPr/>
        </p:nvSpPr>
        <p:spPr>
          <a:xfrm>
            <a:off x="4551045" y="3118485"/>
            <a:ext cx="85725" cy="8572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Isosceles Triangle 56"/>
          <p:cNvSpPr/>
          <p:nvPr/>
        </p:nvSpPr>
        <p:spPr>
          <a:xfrm>
            <a:off x="4717732" y="3118485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BPS Name 11"/>
          <p:cNvSpPr txBox="1"/>
          <p:nvPr/>
        </p:nvSpPr>
        <p:spPr>
          <a:xfrm>
            <a:off x="4855845" y="3086100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Norway</a:t>
            </a:r>
          </a:p>
        </p:txBody>
      </p:sp>
      <p:sp>
        <p:nvSpPr>
          <p:cNvPr id="59" name="BPS Value 11"/>
          <p:cNvSpPr txBox="1"/>
          <p:nvPr/>
        </p:nvSpPr>
        <p:spPr>
          <a:xfrm>
            <a:off x="6305550" y="3086100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60" name="FMI Legend Chip"/>
          <p:cNvSpPr/>
          <p:nvPr/>
        </p:nvSpPr>
        <p:spPr>
          <a:xfrm>
            <a:off x="4551045" y="3268980"/>
            <a:ext cx="85725" cy="85725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Isosceles Triangle 60"/>
          <p:cNvSpPr/>
          <p:nvPr/>
        </p:nvSpPr>
        <p:spPr>
          <a:xfrm>
            <a:off x="4717732" y="3268980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BPS Name 12"/>
          <p:cNvSpPr txBox="1"/>
          <p:nvPr/>
        </p:nvSpPr>
        <p:spPr>
          <a:xfrm>
            <a:off x="4855845" y="3236595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Hungary</a:t>
            </a:r>
          </a:p>
        </p:txBody>
      </p:sp>
      <p:sp>
        <p:nvSpPr>
          <p:cNvPr id="63" name="BPS Value 12"/>
          <p:cNvSpPr txBox="1"/>
          <p:nvPr/>
        </p:nvSpPr>
        <p:spPr>
          <a:xfrm>
            <a:off x="6305550" y="3236595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64" name="FMI Legend Chip"/>
          <p:cNvSpPr/>
          <p:nvPr/>
        </p:nvSpPr>
        <p:spPr>
          <a:xfrm>
            <a:off x="4551045" y="3419475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Isosceles Triangle 64"/>
          <p:cNvSpPr/>
          <p:nvPr/>
        </p:nvSpPr>
        <p:spPr>
          <a:xfrm>
            <a:off x="4717732" y="3419475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BPS Name 13"/>
          <p:cNvSpPr txBox="1"/>
          <p:nvPr/>
        </p:nvSpPr>
        <p:spPr>
          <a:xfrm>
            <a:off x="4855845" y="3387090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Czech Republic</a:t>
            </a:r>
          </a:p>
        </p:txBody>
      </p:sp>
      <p:sp>
        <p:nvSpPr>
          <p:cNvPr id="67" name="BPS Value 13"/>
          <p:cNvSpPr txBox="1"/>
          <p:nvPr/>
        </p:nvSpPr>
        <p:spPr>
          <a:xfrm>
            <a:off x="6305550" y="3387090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68" name="FMI Legend Chip"/>
          <p:cNvSpPr/>
          <p:nvPr/>
        </p:nvSpPr>
        <p:spPr>
          <a:xfrm>
            <a:off x="4551045" y="3569970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Isosceles Triangle 68"/>
          <p:cNvSpPr/>
          <p:nvPr/>
        </p:nvSpPr>
        <p:spPr>
          <a:xfrm>
            <a:off x="4717732" y="3569970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BPS Name 14"/>
          <p:cNvSpPr txBox="1"/>
          <p:nvPr/>
        </p:nvSpPr>
        <p:spPr>
          <a:xfrm>
            <a:off x="4855845" y="3537585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Slovenia</a:t>
            </a:r>
          </a:p>
        </p:txBody>
      </p:sp>
      <p:sp>
        <p:nvSpPr>
          <p:cNvPr id="71" name="BPS Value 14"/>
          <p:cNvSpPr txBox="1"/>
          <p:nvPr/>
        </p:nvSpPr>
        <p:spPr>
          <a:xfrm>
            <a:off x="6305550" y="3537585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72" name="FMI Legend Chip"/>
          <p:cNvSpPr/>
          <p:nvPr/>
        </p:nvSpPr>
        <p:spPr>
          <a:xfrm>
            <a:off x="4551045" y="3720465"/>
            <a:ext cx="85725" cy="8572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Isosceles Triangle 72"/>
          <p:cNvSpPr/>
          <p:nvPr/>
        </p:nvSpPr>
        <p:spPr>
          <a:xfrm rot="10800000">
            <a:off x="4717732" y="3720465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BPS Name 15"/>
          <p:cNvSpPr txBox="1"/>
          <p:nvPr/>
        </p:nvSpPr>
        <p:spPr>
          <a:xfrm>
            <a:off x="4855845" y="3688080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Denmark</a:t>
            </a:r>
          </a:p>
        </p:txBody>
      </p:sp>
      <p:sp>
        <p:nvSpPr>
          <p:cNvPr id="75" name="BPS Value 15"/>
          <p:cNvSpPr txBox="1"/>
          <p:nvPr/>
        </p:nvSpPr>
        <p:spPr>
          <a:xfrm>
            <a:off x="6305550" y="3688080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76" name="FMI Legend Chip"/>
          <p:cNvSpPr/>
          <p:nvPr/>
        </p:nvSpPr>
        <p:spPr>
          <a:xfrm>
            <a:off x="4551045" y="3870960"/>
            <a:ext cx="85725" cy="85725"/>
          </a:xfrm>
          <a:prstGeom prst="rect">
            <a:avLst/>
          </a:prstGeom>
          <a:solidFill>
            <a:srgbClr val="6C7A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Isosceles Triangle 76"/>
          <p:cNvSpPr/>
          <p:nvPr/>
        </p:nvSpPr>
        <p:spPr>
          <a:xfrm rot="10800000">
            <a:off x="4717732" y="3870960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BPS Name 16"/>
          <p:cNvSpPr txBox="1"/>
          <p:nvPr/>
        </p:nvSpPr>
        <p:spPr>
          <a:xfrm>
            <a:off x="4855845" y="3838575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Bulgaria</a:t>
            </a:r>
          </a:p>
        </p:txBody>
      </p:sp>
      <p:sp>
        <p:nvSpPr>
          <p:cNvPr id="79" name="BPS Value 16"/>
          <p:cNvSpPr txBox="1"/>
          <p:nvPr/>
        </p:nvSpPr>
        <p:spPr>
          <a:xfrm>
            <a:off x="6305550" y="3838575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80" name="FMI Legend Chip"/>
          <p:cNvSpPr/>
          <p:nvPr/>
        </p:nvSpPr>
        <p:spPr>
          <a:xfrm>
            <a:off x="4551045" y="4021455"/>
            <a:ext cx="85725" cy="85725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Isosceles Triangle 80"/>
          <p:cNvSpPr/>
          <p:nvPr/>
        </p:nvSpPr>
        <p:spPr>
          <a:xfrm rot="10800000">
            <a:off x="4717732" y="4021455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BPS Name 17"/>
          <p:cNvSpPr txBox="1"/>
          <p:nvPr/>
        </p:nvSpPr>
        <p:spPr>
          <a:xfrm>
            <a:off x="4855845" y="3989070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Ireland</a:t>
            </a:r>
          </a:p>
        </p:txBody>
      </p:sp>
      <p:sp>
        <p:nvSpPr>
          <p:cNvPr id="83" name="BPS Value 17"/>
          <p:cNvSpPr txBox="1"/>
          <p:nvPr/>
        </p:nvSpPr>
        <p:spPr>
          <a:xfrm>
            <a:off x="6305550" y="3989070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84" name="FMI Legend Chip"/>
          <p:cNvSpPr/>
          <p:nvPr/>
        </p:nvSpPr>
        <p:spPr>
          <a:xfrm>
            <a:off x="4551045" y="4171950"/>
            <a:ext cx="85725" cy="85725"/>
          </a:xfrm>
          <a:prstGeom prst="rect">
            <a:avLst/>
          </a:prstGeom>
          <a:solidFill>
            <a:srgbClr val="6C7A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Isosceles Triangle 84"/>
          <p:cNvSpPr/>
          <p:nvPr/>
        </p:nvSpPr>
        <p:spPr>
          <a:xfrm rot="10800000">
            <a:off x="4717732" y="4171950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BPS Name 18"/>
          <p:cNvSpPr txBox="1"/>
          <p:nvPr/>
        </p:nvSpPr>
        <p:spPr>
          <a:xfrm>
            <a:off x="4855845" y="4139565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Austria</a:t>
            </a:r>
          </a:p>
        </p:txBody>
      </p:sp>
      <p:sp>
        <p:nvSpPr>
          <p:cNvPr id="87" name="BPS Value 18"/>
          <p:cNvSpPr txBox="1"/>
          <p:nvPr/>
        </p:nvSpPr>
        <p:spPr>
          <a:xfrm>
            <a:off x="6305550" y="4139565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88" name="FMI Legend Chip"/>
          <p:cNvSpPr/>
          <p:nvPr/>
        </p:nvSpPr>
        <p:spPr>
          <a:xfrm>
            <a:off x="4551045" y="4322445"/>
            <a:ext cx="85725" cy="85725"/>
          </a:xfrm>
          <a:prstGeom prst="rect">
            <a:avLst/>
          </a:prstGeom>
          <a:solidFill>
            <a:srgbClr val="8080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Isosceles Triangle 88"/>
          <p:cNvSpPr/>
          <p:nvPr/>
        </p:nvSpPr>
        <p:spPr>
          <a:xfrm rot="10800000">
            <a:off x="4717732" y="4322445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BPS Name 19"/>
          <p:cNvSpPr txBox="1"/>
          <p:nvPr/>
        </p:nvSpPr>
        <p:spPr>
          <a:xfrm>
            <a:off x="4855845" y="4290060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Finland</a:t>
            </a:r>
          </a:p>
        </p:txBody>
      </p:sp>
      <p:sp>
        <p:nvSpPr>
          <p:cNvPr id="91" name="BPS Value 19"/>
          <p:cNvSpPr txBox="1"/>
          <p:nvPr/>
        </p:nvSpPr>
        <p:spPr>
          <a:xfrm>
            <a:off x="6305550" y="4290060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92" name="FMI Legend Chip"/>
          <p:cNvSpPr/>
          <p:nvPr/>
        </p:nvSpPr>
        <p:spPr>
          <a:xfrm>
            <a:off x="4551045" y="4472940"/>
            <a:ext cx="85725" cy="85725"/>
          </a:xfrm>
          <a:prstGeom prst="rect">
            <a:avLst/>
          </a:prstGeom>
          <a:solidFill>
            <a:srgbClr val="B2B2B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Isosceles Triangle 92"/>
          <p:cNvSpPr/>
          <p:nvPr/>
        </p:nvSpPr>
        <p:spPr>
          <a:xfrm rot="10800000">
            <a:off x="4717732" y="4472940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BPS Name 20"/>
          <p:cNvSpPr txBox="1"/>
          <p:nvPr/>
        </p:nvSpPr>
        <p:spPr>
          <a:xfrm>
            <a:off x="4855845" y="4440555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Switzerland</a:t>
            </a:r>
          </a:p>
        </p:txBody>
      </p:sp>
      <p:sp>
        <p:nvSpPr>
          <p:cNvPr id="95" name="BPS Value 20"/>
          <p:cNvSpPr txBox="1"/>
          <p:nvPr/>
        </p:nvSpPr>
        <p:spPr>
          <a:xfrm>
            <a:off x="6305550" y="4440555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96" name="FMI Legend Chip"/>
          <p:cNvSpPr/>
          <p:nvPr/>
        </p:nvSpPr>
        <p:spPr>
          <a:xfrm>
            <a:off x="4551045" y="4623435"/>
            <a:ext cx="85725" cy="8572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Isosceles Triangle 96"/>
          <p:cNvSpPr/>
          <p:nvPr/>
        </p:nvSpPr>
        <p:spPr>
          <a:xfrm rot="10800000">
            <a:off x="4717732" y="4623435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BPS Name 21"/>
          <p:cNvSpPr txBox="1"/>
          <p:nvPr/>
        </p:nvSpPr>
        <p:spPr>
          <a:xfrm>
            <a:off x="4855845" y="4591050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Italy</a:t>
            </a:r>
          </a:p>
        </p:txBody>
      </p:sp>
      <p:sp>
        <p:nvSpPr>
          <p:cNvPr id="99" name="BPS Value 21"/>
          <p:cNvSpPr txBox="1"/>
          <p:nvPr/>
        </p:nvSpPr>
        <p:spPr>
          <a:xfrm>
            <a:off x="6305550" y="4591050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100" name="FMI Legend Chip"/>
          <p:cNvSpPr/>
          <p:nvPr/>
        </p:nvSpPr>
        <p:spPr>
          <a:xfrm>
            <a:off x="4551045" y="4773930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Isosceles Triangle 100"/>
          <p:cNvSpPr/>
          <p:nvPr/>
        </p:nvSpPr>
        <p:spPr>
          <a:xfrm rot="10800000">
            <a:off x="4717732" y="4773930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BPS Name 22"/>
          <p:cNvSpPr txBox="1"/>
          <p:nvPr/>
        </p:nvSpPr>
        <p:spPr>
          <a:xfrm>
            <a:off x="4855845" y="4741545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Germany</a:t>
            </a:r>
          </a:p>
        </p:txBody>
      </p:sp>
      <p:sp>
        <p:nvSpPr>
          <p:cNvPr id="103" name="BPS Value 22"/>
          <p:cNvSpPr txBox="1"/>
          <p:nvPr/>
        </p:nvSpPr>
        <p:spPr>
          <a:xfrm>
            <a:off x="6305550" y="4741545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104" name="FMI Legend Chip"/>
          <p:cNvSpPr/>
          <p:nvPr/>
        </p:nvSpPr>
        <p:spPr>
          <a:xfrm>
            <a:off x="4551045" y="4924425"/>
            <a:ext cx="85725" cy="85725"/>
          </a:xfrm>
          <a:prstGeom prst="rect">
            <a:avLst/>
          </a:prstGeom>
          <a:solidFill>
            <a:srgbClr val="5F5F5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Isosceles Triangle 104"/>
          <p:cNvSpPr/>
          <p:nvPr/>
        </p:nvSpPr>
        <p:spPr>
          <a:xfrm rot="10800000">
            <a:off x="4717732" y="4924425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BPS Name 23"/>
          <p:cNvSpPr txBox="1"/>
          <p:nvPr/>
        </p:nvSpPr>
        <p:spPr>
          <a:xfrm>
            <a:off x="4855845" y="4892040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Belgium</a:t>
            </a:r>
          </a:p>
        </p:txBody>
      </p:sp>
      <p:sp>
        <p:nvSpPr>
          <p:cNvPr id="107" name="BPS Value 23"/>
          <p:cNvSpPr txBox="1"/>
          <p:nvPr/>
        </p:nvSpPr>
        <p:spPr>
          <a:xfrm>
            <a:off x="6305550" y="4892040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108" name="FMI Legend Chip"/>
          <p:cNvSpPr/>
          <p:nvPr/>
        </p:nvSpPr>
        <p:spPr>
          <a:xfrm>
            <a:off x="4551045" y="5074920"/>
            <a:ext cx="85725" cy="85725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Isosceles Triangle 108"/>
          <p:cNvSpPr/>
          <p:nvPr/>
        </p:nvSpPr>
        <p:spPr>
          <a:xfrm rot="10800000">
            <a:off x="4717732" y="5074920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BPS Name 24"/>
          <p:cNvSpPr txBox="1"/>
          <p:nvPr/>
        </p:nvSpPr>
        <p:spPr>
          <a:xfrm>
            <a:off x="4855845" y="5042535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Poland</a:t>
            </a:r>
          </a:p>
        </p:txBody>
      </p:sp>
      <p:sp>
        <p:nvSpPr>
          <p:cNvPr id="111" name="BPS Value 24"/>
          <p:cNvSpPr txBox="1"/>
          <p:nvPr/>
        </p:nvSpPr>
        <p:spPr>
          <a:xfrm>
            <a:off x="6305550" y="5042535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112" name="FMI Legend Chip"/>
          <p:cNvSpPr/>
          <p:nvPr/>
        </p:nvSpPr>
        <p:spPr>
          <a:xfrm>
            <a:off x="4551045" y="5225415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Isosceles Triangle 112"/>
          <p:cNvSpPr/>
          <p:nvPr/>
        </p:nvSpPr>
        <p:spPr>
          <a:xfrm rot="10800000">
            <a:off x="4717732" y="5225415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BPS Name 25"/>
          <p:cNvSpPr txBox="1"/>
          <p:nvPr/>
        </p:nvSpPr>
        <p:spPr>
          <a:xfrm>
            <a:off x="4855845" y="5193030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United Kingdom</a:t>
            </a:r>
          </a:p>
        </p:txBody>
      </p:sp>
      <p:sp>
        <p:nvSpPr>
          <p:cNvPr id="115" name="BPS Value 25"/>
          <p:cNvSpPr txBox="1"/>
          <p:nvPr/>
        </p:nvSpPr>
        <p:spPr>
          <a:xfrm>
            <a:off x="6305550" y="5193030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116" name="Rounded Rectangle 115"/>
          <p:cNvSpPr/>
          <p:nvPr/>
        </p:nvSpPr>
        <p:spPr>
          <a:xfrm>
            <a:off x="7105650" y="981075"/>
            <a:ext cx="4933950" cy="4533900"/>
          </a:xfrm>
          <a:prstGeom prst="roundRect">
            <a:avLst>
              <a:gd name="adj" fmla="val 168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TextBox 116"/>
          <p:cNvSpPr txBox="1"/>
          <p:nvPr/>
        </p:nvSpPr>
        <p:spPr>
          <a:xfrm>
            <a:off x="7239000" y="1066800"/>
            <a:ext cx="46672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Regional Highlights</a:t>
            </a:r>
          </a:p>
        </p:txBody>
      </p:sp>
      <p:sp>
        <p:nvSpPr>
          <p:cNvPr id="118" name="Rectangle 117"/>
          <p:cNvSpPr/>
          <p:nvPr/>
        </p:nvSpPr>
        <p:spPr>
          <a:xfrm>
            <a:off x="7239000" y="1304925"/>
            <a:ext cx="46672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TextBox 118"/>
          <p:cNvSpPr txBox="1"/>
          <p:nvPr/>
        </p:nvSpPr>
        <p:spPr>
          <a:xfrm>
            <a:off x="7239000" y="1390650"/>
            <a:ext cx="4667250" cy="40481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2E7D32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E44D3A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20" name="Rounded Rectangle 119"/>
          <p:cNvSpPr/>
          <p:nvPr/>
        </p:nvSpPr>
        <p:spPr>
          <a:xfrm>
            <a:off x="142875" y="5648325"/>
            <a:ext cx="3943350" cy="98107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2026 TOTAL (US$ MN)</a:t>
            </a:r>
          </a:p>
          <a:p>
            <a:pPr algn="ctr">
              <a:lnSpc>
                <a:spcPct val="95000"/>
              </a:lnSpc>
            </a:pPr>
            <a:r>
              <a:rPr sz="20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21" name="Rounded Rectangle 120"/>
          <p:cNvSpPr/>
          <p:nvPr/>
        </p:nvSpPr>
        <p:spPr>
          <a:xfrm>
            <a:off x="4238625" y="5648325"/>
            <a:ext cx="3819525" cy="98107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2036 TOTAL (US$ MN)</a:t>
            </a:r>
          </a:p>
          <a:p>
            <a:pPr algn="ctr">
              <a:lnSpc>
                <a:spcPct val="95000"/>
              </a:lnSpc>
            </a:pPr>
            <a:r>
              <a:rPr sz="20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22" name="Rounded Rectangle 121"/>
          <p:cNvSpPr/>
          <p:nvPr/>
        </p:nvSpPr>
        <p:spPr>
          <a:xfrm>
            <a:off x="8210550" y="5648325"/>
            <a:ext cx="3819525" cy="98107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CAGR (2026–2036)</a:t>
            </a:r>
          </a:p>
          <a:p>
            <a:pPr algn="ctr">
              <a:lnSpc>
                <a:spcPct val="95000"/>
              </a:lnSpc>
            </a:pPr>
            <a:r>
              <a:rPr sz="20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24" name="Picture 12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368867" y="3171825"/>
            <a:ext cx="275034" cy="400050"/>
          </a:xfrm>
          <a:prstGeom prst="rect">
            <a:avLst/>
          </a:prstGeom>
        </p:spPr>
      </p:pic>
      <p:pic>
        <p:nvPicPr>
          <p:cNvPr id="125" name="Picture 12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009775" y="6070282"/>
            <a:ext cx="209550" cy="304800"/>
          </a:xfrm>
          <a:prstGeom prst="rect">
            <a:avLst/>
          </a:prstGeom>
        </p:spPr>
      </p:pic>
      <p:pic>
        <p:nvPicPr>
          <p:cNvPr id="126" name="Picture 12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043612" y="6070282"/>
            <a:ext cx="209550" cy="304800"/>
          </a:xfrm>
          <a:prstGeom prst="rect">
            <a:avLst/>
          </a:prstGeom>
        </p:spPr>
      </p:pic>
      <p:pic>
        <p:nvPicPr>
          <p:cNvPr id="127" name="Picture 12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015537" y="6070282"/>
            <a:ext cx="209550" cy="304800"/>
          </a:xfrm>
          <a:prstGeom prst="rect">
            <a:avLst/>
          </a:prstGeom>
        </p:spPr>
      </p:pic>
      <p:sp>
        <p:nvSpPr>
          <p:cNvPr id="128" name="TextBox 127"/>
          <p:cNvSpPr txBox="1"/>
          <p:nvPr/>
        </p:nvSpPr>
        <p:spPr>
          <a:xfrm>
            <a:off x="7239000" y="1400175"/>
            <a:ext cx="21773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Germany is the largest country, at</a:t>
            </a:r>
          </a:p>
        </p:txBody>
      </p:sp>
      <p:pic>
        <p:nvPicPr>
          <p:cNvPr id="129" name="Picture 12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65534" y="1389951"/>
            <a:ext cx="134549" cy="195707"/>
          </a:xfrm>
          <a:prstGeom prst="rect">
            <a:avLst/>
          </a:prstGeom>
        </p:spPr>
      </p:pic>
      <p:sp>
        <p:nvSpPr>
          <p:cNvPr id="130" name="TextBox 129"/>
          <p:cNvSpPr txBox="1"/>
          <p:nvPr/>
        </p:nvSpPr>
        <p:spPr>
          <a:xfrm>
            <a:off x="9540643" y="1400175"/>
            <a:ext cx="91627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value.</a:t>
            </a:r>
          </a:p>
        </p:txBody>
      </p:sp>
      <p:sp>
        <p:nvSpPr>
          <p:cNvPr id="131" name="TextBox 130"/>
          <p:cNvSpPr txBox="1"/>
          <p:nvPr/>
        </p:nvSpPr>
        <p:spPr>
          <a:xfrm>
            <a:off x="7239000" y="1628013"/>
            <a:ext cx="191951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'Spain' gains the most share +</a:t>
            </a:r>
          </a:p>
        </p:txBody>
      </p:sp>
      <p:pic>
        <p:nvPicPr>
          <p:cNvPr id="132" name="Picture 13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107664" y="1617789"/>
            <a:ext cx="134549" cy="195707"/>
          </a:xfrm>
          <a:prstGeom prst="rect">
            <a:avLst/>
          </a:prstGeom>
        </p:spPr>
      </p:pic>
      <p:sp>
        <p:nvSpPr>
          <p:cNvPr id="133" name="TextBox 132"/>
          <p:cNvSpPr txBox="1"/>
          <p:nvPr/>
        </p:nvSpPr>
        <p:spPr>
          <a:xfrm>
            <a:off x="9282773" y="1628013"/>
            <a:ext cx="234254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between 2026 and 2036 (</a:t>
            </a:r>
            <a:r>
              <a:rPr sz="1150" b="0">
                <a:solidFill>
                  <a:srgbClr val="2E7D32"/>
                </a:solidFill>
                <a:latin typeface="Calibri"/>
              </a:rPr>
              <a:t>▲</a:t>
            </a:r>
            <a:r>
              <a:rPr sz="1150" b="0">
                <a:solidFill>
                  <a:srgbClr val="2E2E2E"/>
                </a:solidFill>
                <a:latin typeface="Calibri"/>
              </a:rPr>
              <a:t> on the</a:t>
            </a:r>
          </a:p>
        </p:txBody>
      </p:sp>
      <p:sp>
        <p:nvSpPr>
          <p:cNvPr id="134" name="TextBox 133"/>
          <p:cNvSpPr txBox="1"/>
          <p:nvPr/>
        </p:nvSpPr>
        <p:spPr>
          <a:xfrm>
            <a:off x="7239000" y="1803273"/>
            <a:ext cx="76480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right scale).</a:t>
            </a:r>
          </a:p>
        </p:txBody>
      </p:sp>
      <p:sp>
        <p:nvSpPr>
          <p:cNvPr id="135" name="TextBox 134"/>
          <p:cNvSpPr txBox="1"/>
          <p:nvPr/>
        </p:nvSpPr>
        <p:spPr>
          <a:xfrm>
            <a:off x="7239000" y="2031111"/>
            <a:ext cx="220333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'United Kingdom' cedes the most -</a:t>
            </a:r>
          </a:p>
        </p:txBody>
      </p:sp>
      <p:pic>
        <p:nvPicPr>
          <p:cNvPr id="136" name="Picture 13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91492" y="2020887"/>
            <a:ext cx="134549" cy="195707"/>
          </a:xfrm>
          <a:prstGeom prst="rect">
            <a:avLst/>
          </a:prstGeom>
        </p:spPr>
      </p:pic>
      <p:sp>
        <p:nvSpPr>
          <p:cNvPr id="137" name="TextBox 136"/>
          <p:cNvSpPr txBox="1"/>
          <p:nvPr/>
        </p:nvSpPr>
        <p:spPr>
          <a:xfrm>
            <a:off x="9566601" y="2031111"/>
            <a:ext cx="191779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 the same window (</a:t>
            </a:r>
            <a:r>
              <a:rPr sz="1150" b="0">
                <a:solidFill>
                  <a:srgbClr val="E44D3A"/>
                </a:solidFill>
                <a:latin typeface="Calibri"/>
              </a:rPr>
              <a:t>▼</a:t>
            </a:r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7239000" y="2258949"/>
            <a:ext cx="254136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Other European Countries grows fastest</a:t>
            </a:r>
          </a:p>
        </p:txBody>
      </p:sp>
      <p:pic>
        <p:nvPicPr>
          <p:cNvPr id="139" name="Picture 13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729518" y="2248725"/>
            <a:ext cx="134549" cy="195707"/>
          </a:xfrm>
          <a:prstGeom prst="rect">
            <a:avLst/>
          </a:prstGeom>
        </p:spPr>
      </p:pic>
      <p:sp>
        <p:nvSpPr>
          <p:cNvPr id="140" name="TextBox 139"/>
          <p:cNvSpPr txBox="1"/>
          <p:nvPr/>
        </p:nvSpPr>
        <p:spPr>
          <a:xfrm>
            <a:off x="9904627" y="2258949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141" name="TextBox 140"/>
          <p:cNvSpPr txBox="1"/>
          <p:nvPr/>
        </p:nvSpPr>
        <p:spPr>
          <a:xfrm>
            <a:off x="7239000" y="2486787"/>
            <a:ext cx="108885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rises from</a:t>
            </a:r>
          </a:p>
        </p:txBody>
      </p:sp>
      <p:pic>
        <p:nvPicPr>
          <p:cNvPr id="142" name="Picture 14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277005" y="2476563"/>
            <a:ext cx="134549" cy="195707"/>
          </a:xfrm>
          <a:prstGeom prst="rect">
            <a:avLst/>
          </a:prstGeom>
        </p:spPr>
      </p:pic>
      <p:sp>
        <p:nvSpPr>
          <p:cNvPr id="143" name="TextBox 142"/>
          <p:cNvSpPr txBox="1"/>
          <p:nvPr/>
        </p:nvSpPr>
        <p:spPr>
          <a:xfrm>
            <a:off x="8452114" y="2486787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144" name="Picture 14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603550" y="2476563"/>
            <a:ext cx="134549" cy="195707"/>
          </a:xfrm>
          <a:prstGeom prst="rect">
            <a:avLst/>
          </a:prstGeom>
        </p:spPr>
      </p:pic>
      <p:sp>
        <p:nvSpPr>
          <p:cNvPr id="145" name="TextBox 144"/>
          <p:cNvSpPr txBox="1"/>
          <p:nvPr/>
        </p:nvSpPr>
        <p:spPr>
          <a:xfrm>
            <a:off x="8778660" y="2486787"/>
            <a:ext cx="176033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25 countries.</a:t>
            </a:r>
          </a:p>
        </p:txBody>
      </p:sp>
      <p:sp>
        <p:nvSpPr>
          <p:cNvPr id="146" name="lockshield_13"/>
          <p:cNvSpPr/>
          <p:nvPr/>
        </p:nvSpPr>
        <p:spPr>
          <a:xfrm>
            <a:off x="238125" y="1409700"/>
            <a:ext cx="4236720" cy="40481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4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Share Analysis, By Country Volume (MT)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and share by country, 2021–2036, highlighting the geographies gaining and ceding ground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5638800"/>
          </a:xfrm>
          <a:prstGeom prst="roundRect">
            <a:avLst>
              <a:gd name="adj" fmla="val 135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Market Size, By Country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2" cy="517206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144348"/>
                <a:gridCol w="631932"/>
                <a:gridCol w="631932"/>
                <a:gridCol w="631932"/>
                <a:gridCol w="631932"/>
                <a:gridCol w="631932"/>
                <a:gridCol w="631932"/>
                <a:gridCol w="631932"/>
                <a:gridCol w="631932"/>
                <a:gridCol w="631932"/>
                <a:gridCol w="631932"/>
                <a:gridCol w="631932"/>
                <a:gridCol w="631932"/>
                <a:gridCol w="631932"/>
                <a:gridCol w="631932"/>
                <a:gridCol w="631932"/>
                <a:gridCol w="631932"/>
                <a:gridCol w="63193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Country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Austria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Belgium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Bulgaria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Croatia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Czech Republic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Denmark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Finland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France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Germany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Greece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Hungary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Ireland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Italy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Malta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Netherlands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Norway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Poland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Portugal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Romania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Slovenia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64198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6" name="Picture 1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481480" y="3680645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4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Share Analysis, By Country Volume (MT)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and share by country, 2021–2036, highlighting the geographies gaining and ceding ground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2190750"/>
          </a:xfrm>
          <a:prstGeom prst="roundRect">
            <a:avLst>
              <a:gd name="adj" fmla="val 34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Market Size, By Country (MT)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193" cy="172402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722281"/>
                <a:gridCol w="597936"/>
                <a:gridCol w="597936"/>
                <a:gridCol w="597936"/>
                <a:gridCol w="597936"/>
                <a:gridCol w="597936"/>
                <a:gridCol w="597936"/>
                <a:gridCol w="597936"/>
                <a:gridCol w="597936"/>
                <a:gridCol w="597936"/>
                <a:gridCol w="597936"/>
                <a:gridCol w="597936"/>
                <a:gridCol w="597936"/>
                <a:gridCol w="597936"/>
                <a:gridCol w="597936"/>
                <a:gridCol w="597936"/>
                <a:gridCol w="597936"/>
                <a:gridCol w="597936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Country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Spain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Sweden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Switzerland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United Kingdom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European Countries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29718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142875" y="3305175"/>
            <a:ext cx="11906250" cy="3324225"/>
          </a:xfrm>
          <a:prstGeom prst="roundRect">
            <a:avLst>
              <a:gd name="adj" fmla="val 229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276225" y="339090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Volume Share Read-out, By Country</a:t>
            </a:r>
          </a:p>
        </p:txBody>
      </p:sp>
      <p:sp>
        <p:nvSpPr>
          <p:cNvPr id="16" name="Rectangle 15"/>
          <p:cNvSpPr/>
          <p:nvPr/>
        </p:nvSpPr>
        <p:spPr>
          <a:xfrm>
            <a:off x="276225" y="36290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76225" y="3714750"/>
            <a:ext cx="11639550" cy="28384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770447" y="1956627"/>
            <a:ext cx="366712" cy="53340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276225" y="3724275"/>
            <a:ext cx="205329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'Germany' is the largest country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278673" y="3714051"/>
            <a:ext cx="134549" cy="195707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2453783" y="3724275"/>
            <a:ext cx="10805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volume (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483515" y="3714051"/>
            <a:ext cx="134549" cy="195707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3658625" y="3724275"/>
            <a:ext cx="3534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MT).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76225" y="3952112"/>
            <a:ext cx="275787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'Other European Countries' grows fastest at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983250" y="3941889"/>
            <a:ext cx="134549" cy="195707"/>
          </a:xfrm>
          <a:prstGeom prst="rect">
            <a:avLst/>
          </a:prstGeom>
        </p:spPr>
      </p:pic>
      <p:sp>
        <p:nvSpPr>
          <p:cNvPr id="27" name="TextBox 26"/>
          <p:cNvSpPr txBox="1"/>
          <p:nvPr/>
        </p:nvSpPr>
        <p:spPr>
          <a:xfrm>
            <a:off x="3158360" y="3952112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276225" y="4179950"/>
            <a:ext cx="188242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'Spain' (+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07806" y="4169727"/>
            <a:ext cx="134549" cy="195707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2282915" y="4179950"/>
            <a:ext cx="244580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'United Kingdom' (-</a:t>
            </a:r>
          </a:p>
        </p:txBody>
      </p:sp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77874" y="4169727"/>
            <a:ext cx="134549" cy="195707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4852983" y="4179950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276225" y="4407788"/>
            <a:ext cx="15646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volume rises from</a:t>
            </a:r>
          </a:p>
        </p:txBody>
      </p:sp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90033" y="4397565"/>
            <a:ext cx="134549" cy="195707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1965143" y="4407788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16579" y="4397565"/>
            <a:ext cx="134549" cy="195707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2291688" y="4407788"/>
            <a:ext cx="14867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across 25 countries.</a:t>
            </a:r>
          </a:p>
        </p:txBody>
      </p:sp>
    </p:spTree>
  </p:cSld>
  <p:clrMapOvr>
    <a:masterClrMapping/>
  </p:clrMapOvr>
</p:sld>
</file>

<file path=ppt/slides/slide5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Share Analysis, By Country Value (US$ Mn)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and share by country, 2021–2036, highlighting the geographies gaining and ceding ground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5638800"/>
          </a:xfrm>
          <a:prstGeom prst="roundRect">
            <a:avLst>
              <a:gd name="adj" fmla="val 135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Market Size, By Country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2" cy="517206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144348"/>
                <a:gridCol w="631932"/>
                <a:gridCol w="631932"/>
                <a:gridCol w="631932"/>
                <a:gridCol w="631932"/>
                <a:gridCol w="631932"/>
                <a:gridCol w="631932"/>
                <a:gridCol w="631932"/>
                <a:gridCol w="631932"/>
                <a:gridCol w="631932"/>
                <a:gridCol w="631932"/>
                <a:gridCol w="631932"/>
                <a:gridCol w="631932"/>
                <a:gridCol w="631932"/>
                <a:gridCol w="631932"/>
                <a:gridCol w="631932"/>
                <a:gridCol w="631932"/>
                <a:gridCol w="63193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Country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Austria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Belgium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Bulgaria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Croatia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Czech Republic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Denmark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Finland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France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Germany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Greece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Hungary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Ireland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Italy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Malta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Netherlands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Norway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Poland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Portugal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Romania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Slovenia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64198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6" name="Picture 1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481480" y="3680645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5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Share Analysis, By Country Value (US$ Mn)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and share by country, 2021–2036, highlighting the geographies gaining and ceding ground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2190750"/>
          </a:xfrm>
          <a:prstGeom prst="roundRect">
            <a:avLst>
              <a:gd name="adj" fmla="val 34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Market Size, By Country (US$ Mn)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205" cy="172402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00085"/>
                <a:gridCol w="593360"/>
                <a:gridCol w="593360"/>
                <a:gridCol w="593360"/>
                <a:gridCol w="593360"/>
                <a:gridCol w="593360"/>
                <a:gridCol w="593360"/>
                <a:gridCol w="593360"/>
                <a:gridCol w="593360"/>
                <a:gridCol w="593360"/>
                <a:gridCol w="593360"/>
                <a:gridCol w="593360"/>
                <a:gridCol w="593360"/>
                <a:gridCol w="593360"/>
                <a:gridCol w="593360"/>
                <a:gridCol w="593360"/>
                <a:gridCol w="593360"/>
                <a:gridCol w="593360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Country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Spain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Sweden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Switzerland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United Kingdom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European Countries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29718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142875" y="3305175"/>
            <a:ext cx="11906250" cy="3324225"/>
          </a:xfrm>
          <a:prstGeom prst="roundRect">
            <a:avLst>
              <a:gd name="adj" fmla="val 229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276225" y="339090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Value Share Read-out, By Country</a:t>
            </a:r>
          </a:p>
        </p:txBody>
      </p:sp>
      <p:sp>
        <p:nvSpPr>
          <p:cNvPr id="16" name="Rectangle 15"/>
          <p:cNvSpPr/>
          <p:nvPr/>
        </p:nvSpPr>
        <p:spPr>
          <a:xfrm>
            <a:off x="276225" y="36290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76225" y="3714750"/>
            <a:ext cx="11639550" cy="28384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09355" y="1956627"/>
            <a:ext cx="366712" cy="53340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276225" y="3724275"/>
            <a:ext cx="205329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'Germany' is the largest country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278673" y="3714051"/>
            <a:ext cx="134549" cy="195707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2453783" y="3724275"/>
            <a:ext cx="9567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 (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359715" y="3714051"/>
            <a:ext cx="134549" cy="195707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3534825" y="3724275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76225" y="3952112"/>
            <a:ext cx="275787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'Other European Countries' grows fastest at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983250" y="3941889"/>
            <a:ext cx="134549" cy="195707"/>
          </a:xfrm>
          <a:prstGeom prst="rect">
            <a:avLst/>
          </a:prstGeom>
        </p:spPr>
      </p:pic>
      <p:sp>
        <p:nvSpPr>
          <p:cNvPr id="27" name="TextBox 26"/>
          <p:cNvSpPr txBox="1"/>
          <p:nvPr/>
        </p:nvSpPr>
        <p:spPr>
          <a:xfrm>
            <a:off x="3158360" y="3952112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276225" y="4179950"/>
            <a:ext cx="188242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'Spain' (+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07806" y="4169727"/>
            <a:ext cx="134549" cy="195707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2282915" y="4179950"/>
            <a:ext cx="244580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'United Kingdom' (-</a:t>
            </a:r>
          </a:p>
        </p:txBody>
      </p:sp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77874" y="4169727"/>
            <a:ext cx="134549" cy="195707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4852983" y="4179950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276225" y="4407788"/>
            <a:ext cx="14408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rises from</a:t>
            </a:r>
          </a:p>
        </p:txBody>
      </p:sp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66233" y="4397565"/>
            <a:ext cx="134549" cy="195707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1841342" y="4407788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92779" y="4397565"/>
            <a:ext cx="134549" cy="195707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2167888" y="4407788"/>
            <a:ext cx="176033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25 countries.</a:t>
            </a:r>
          </a:p>
        </p:txBody>
      </p:sp>
    </p:spTree>
  </p:cSld>
  <p:clrMapOvr>
    <a:masterClrMapping/>
  </p:clrMapOvr>
</p:sld>
</file>

<file path=ppt/slides/slide5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Trends, By Country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how country volume and value shares shift over 2021–2036, highlighting who gains ground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 By Country (MT)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9448800" cy="24098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9763125" y="1304925"/>
            <a:ext cx="2190750" cy="2333625"/>
          </a:xfrm>
          <a:prstGeom prst="roundRect">
            <a:avLst>
              <a:gd name="adj" fmla="val 34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FMI Dense Legend"/>
          <p:cNvSpPr txBox="1"/>
          <p:nvPr/>
        </p:nvSpPr>
        <p:spPr>
          <a:xfrm>
            <a:off x="9839325" y="1362075"/>
            <a:ext cx="2057400" cy="17145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850" b="1">
                <a:solidFill>
                  <a:srgbClr val="6C7A89"/>
                </a:solidFill>
                <a:latin typeface="Calibri"/>
              </a:rPr>
              <a:t>By segment</a:t>
            </a:r>
          </a:p>
        </p:txBody>
      </p:sp>
      <p:sp>
        <p:nvSpPr>
          <p:cNvPr id="16" name="FMI Dense Legend"/>
          <p:cNvSpPr txBox="1"/>
          <p:nvPr/>
        </p:nvSpPr>
        <p:spPr>
          <a:xfrm>
            <a:off x="9839325" y="1533525"/>
            <a:ext cx="1000125" cy="20478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spcBef>
                <a:spcPts val="220"/>
              </a:spcBef>
            </a:pPr>
            <a:r>
              <a:rPr sz="750">
                <a:solidFill>
                  <a:srgbClr val="3D85C6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Germany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9E7E0A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United Kingdom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008189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France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40315E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Italy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A35313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Spain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808080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Netherlands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0E72AE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Poland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0B2E4A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Other European Countries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5F5F5F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Sweden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A86F00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Austria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B2B2B2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Switzerland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6C7A89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Belgium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3D85C6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Czech Republic</a:t>
            </a:r>
          </a:p>
        </p:txBody>
      </p:sp>
      <p:sp>
        <p:nvSpPr>
          <p:cNvPr id="17" name="FMI Dense Legend"/>
          <p:cNvSpPr txBox="1"/>
          <p:nvPr/>
        </p:nvSpPr>
        <p:spPr>
          <a:xfrm>
            <a:off x="10896600" y="1533525"/>
            <a:ext cx="1000125" cy="20478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spcBef>
                <a:spcPts val="220"/>
              </a:spcBef>
            </a:pPr>
            <a:r>
              <a:rPr sz="750">
                <a:solidFill>
                  <a:srgbClr val="9E7E0A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Denmark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008189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Norway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40315E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Portugal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0E72AE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Romania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808080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Hungary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A35313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Finland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A86F00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Ireland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0B2E4A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Greece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6C7A89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Bulgaria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B2B2B2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Croatia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5F5F5F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Malta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3D85C6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Slovenia</a:t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142875" y="3867150"/>
            <a:ext cx="11906250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38125" y="392430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By Country (US$ Mn)</a:t>
            </a:r>
          </a:p>
        </p:txBody>
      </p:sp>
      <p:graphicFrame>
        <p:nvGraphicFramePr>
          <p:cNvPr id="20" name="Chart 19"/>
          <p:cNvGraphicFramePr>
            <a:graphicFrameLocks noGrp="1"/>
          </p:cNvGraphicFramePr>
          <p:nvPr/>
        </p:nvGraphicFramePr>
        <p:xfrm>
          <a:off x="238125" y="4152900"/>
          <a:ext cx="9448800" cy="240982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1" name="Rounded Rectangle 20"/>
          <p:cNvSpPr/>
          <p:nvPr/>
        </p:nvSpPr>
        <p:spPr>
          <a:xfrm>
            <a:off x="9763125" y="4191000"/>
            <a:ext cx="2190750" cy="2333625"/>
          </a:xfrm>
          <a:prstGeom prst="roundRect">
            <a:avLst>
              <a:gd name="adj" fmla="val 34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FMI Dense Legend"/>
          <p:cNvSpPr txBox="1"/>
          <p:nvPr/>
        </p:nvSpPr>
        <p:spPr>
          <a:xfrm>
            <a:off x="9839325" y="4248150"/>
            <a:ext cx="2057400" cy="17145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850" b="1">
                <a:solidFill>
                  <a:srgbClr val="6C7A89"/>
                </a:solidFill>
                <a:latin typeface="Calibri"/>
              </a:rPr>
              <a:t>By segment</a:t>
            </a:r>
          </a:p>
        </p:txBody>
      </p:sp>
      <p:sp>
        <p:nvSpPr>
          <p:cNvPr id="23" name="FMI Dense Legend"/>
          <p:cNvSpPr txBox="1"/>
          <p:nvPr/>
        </p:nvSpPr>
        <p:spPr>
          <a:xfrm>
            <a:off x="9839325" y="4419600"/>
            <a:ext cx="1000125" cy="20478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spcBef>
                <a:spcPts val="220"/>
              </a:spcBef>
            </a:pPr>
            <a:r>
              <a:rPr sz="750">
                <a:solidFill>
                  <a:srgbClr val="3D85C6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Germany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9E7E0A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United Kingdom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008189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France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40315E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Italy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A35313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Spain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0E72AE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Netherlands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808080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Poland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A86F00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Other European Countries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0B2E4A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Sweden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B2B2B2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Austria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5F5F5F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Switzerland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6C7A89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Belgium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3D85C6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Czech Republic</a:t>
            </a:r>
          </a:p>
        </p:txBody>
      </p:sp>
      <p:sp>
        <p:nvSpPr>
          <p:cNvPr id="24" name="FMI Dense Legend"/>
          <p:cNvSpPr txBox="1"/>
          <p:nvPr/>
        </p:nvSpPr>
        <p:spPr>
          <a:xfrm>
            <a:off x="10896600" y="4419600"/>
            <a:ext cx="1000125" cy="20478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spcBef>
                <a:spcPts val="220"/>
              </a:spcBef>
            </a:pPr>
            <a:r>
              <a:rPr sz="750">
                <a:solidFill>
                  <a:srgbClr val="9E7E0A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Portugal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008189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Norway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40315E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Denmark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0E72AE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Romania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A35313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Finland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808080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Ireland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A86F00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Hungary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0B2E4A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Greece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6C7A89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Bulgaria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B2B2B2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Croatia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5F5F5F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Malta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3D85C6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Slovenia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933434" y="2176405"/>
            <a:ext cx="347145" cy="504938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933434" y="5062480"/>
            <a:ext cx="347145" cy="504938"/>
          </a:xfrm>
          <a:prstGeom prst="rect">
            <a:avLst/>
          </a:prstGeom>
        </p:spPr>
      </p:pic>
      <p:sp>
        <p:nvSpPr>
          <p:cNvPr id="28" name="lockshield_13"/>
          <p:cNvSpPr/>
          <p:nvPr/>
        </p:nvSpPr>
        <p:spPr>
          <a:xfrm>
            <a:off x="238125" y="1266825"/>
            <a:ext cx="9448800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lockshield_20"/>
          <p:cNvSpPr/>
          <p:nvPr/>
        </p:nvSpPr>
        <p:spPr>
          <a:xfrm>
            <a:off x="238125" y="4152900"/>
            <a:ext cx="9448800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5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Top 10 Countries (2036)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Country hierarchy of the Europe market in 2036, highlighting the leading countries within each region by value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market by country  ·  2036 (US$ Mn)  ·  tile size = market value</a:t>
            </a:r>
          </a:p>
        </p:txBody>
      </p:sp>
      <p:sp>
        <p:nvSpPr>
          <p:cNvPr id="13" name="Rectangle 12"/>
          <p:cNvSpPr/>
          <p:nvPr/>
        </p:nvSpPr>
        <p:spPr>
          <a:xfrm>
            <a:off x="238125" y="1266825"/>
            <a:ext cx="4636091" cy="2693584"/>
          </a:xfrm>
          <a:prstGeom prst="rect">
            <a:avLst/>
          </a:prstGeom>
          <a:solidFill>
            <a:srgbClr val="3D85C6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Germany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14" name="Rectangle 13"/>
          <p:cNvSpPr/>
          <p:nvPr/>
        </p:nvSpPr>
        <p:spPr>
          <a:xfrm>
            <a:off x="238125" y="3960409"/>
            <a:ext cx="4636091" cy="2611841"/>
          </a:xfrm>
          <a:prstGeom prst="rect">
            <a:avLst/>
          </a:prstGeom>
          <a:solidFill>
            <a:srgbClr val="9E7E0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United Kingdom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15" name="Rectangle 14"/>
          <p:cNvSpPr/>
          <p:nvPr/>
        </p:nvSpPr>
        <p:spPr>
          <a:xfrm>
            <a:off x="4874216" y="1266825"/>
            <a:ext cx="3395021" cy="3053719"/>
          </a:xfrm>
          <a:prstGeom prst="rect">
            <a:avLst/>
          </a:prstGeom>
          <a:solidFill>
            <a:srgbClr val="008189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France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16" name="Rectangle 15"/>
          <p:cNvSpPr/>
          <p:nvPr/>
        </p:nvSpPr>
        <p:spPr>
          <a:xfrm>
            <a:off x="4874216" y="4320544"/>
            <a:ext cx="3395021" cy="2251706"/>
          </a:xfrm>
          <a:prstGeom prst="rect">
            <a:avLst/>
          </a:prstGeom>
          <a:solidFill>
            <a:srgbClr val="40315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Italy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17" name="Rectangle 16"/>
          <p:cNvSpPr/>
          <p:nvPr/>
        </p:nvSpPr>
        <p:spPr>
          <a:xfrm>
            <a:off x="8269237" y="1266825"/>
            <a:ext cx="2227726" cy="2528502"/>
          </a:xfrm>
          <a:prstGeom prst="rect">
            <a:avLst/>
          </a:prstGeom>
          <a:solidFill>
            <a:srgbClr val="A35313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Spain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18" name="Rectangle 17"/>
          <p:cNvSpPr/>
          <p:nvPr/>
        </p:nvSpPr>
        <p:spPr>
          <a:xfrm>
            <a:off x="10496963" y="1266825"/>
            <a:ext cx="1456912" cy="2528502"/>
          </a:xfrm>
          <a:prstGeom prst="rect">
            <a:avLst/>
          </a:prstGeom>
          <a:solidFill>
            <a:srgbClr val="808080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Netherlands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19" name="Rectangle 18"/>
          <p:cNvSpPr/>
          <p:nvPr/>
        </p:nvSpPr>
        <p:spPr>
          <a:xfrm>
            <a:off x="8269237" y="3795327"/>
            <a:ext cx="2105479" cy="1464082"/>
          </a:xfrm>
          <a:prstGeom prst="rect">
            <a:avLst/>
          </a:prstGeom>
          <a:solidFill>
            <a:srgbClr val="0E72A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Poland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0" name="Rectangle 19"/>
          <p:cNvSpPr/>
          <p:nvPr/>
        </p:nvSpPr>
        <p:spPr>
          <a:xfrm>
            <a:off x="8269237" y="5259409"/>
            <a:ext cx="2105479" cy="1312841"/>
          </a:xfrm>
          <a:prstGeom prst="rect">
            <a:avLst/>
          </a:prstGeom>
          <a:solidFill>
            <a:srgbClr val="A86F00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Other European Countries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1" name="Rectangle 20"/>
          <p:cNvSpPr/>
          <p:nvPr/>
        </p:nvSpPr>
        <p:spPr>
          <a:xfrm>
            <a:off x="10374715" y="3795327"/>
            <a:ext cx="1579160" cy="1544935"/>
          </a:xfrm>
          <a:prstGeom prst="rect">
            <a:avLst/>
          </a:prstGeom>
          <a:solidFill>
            <a:srgbClr val="0B2E4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Sweden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2" name="Rectangle 21"/>
          <p:cNvSpPr/>
          <p:nvPr/>
        </p:nvSpPr>
        <p:spPr>
          <a:xfrm>
            <a:off x="10374715" y="5340262"/>
            <a:ext cx="1579160" cy="1231988"/>
          </a:xfrm>
          <a:prstGeom prst="rect">
            <a:avLst/>
          </a:prstGeom>
          <a:solidFill>
            <a:srgbClr val="6C7A89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Austria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01732" y="2613617"/>
            <a:ext cx="308877" cy="449275"/>
          </a:xfrm>
          <a:prstGeom prst="rect">
            <a:avLst/>
          </a:prstGeom>
        </p:spPr>
      </p:pic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01732" y="5266329"/>
            <a:ext cx="308877" cy="449275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417288" y="2793684"/>
            <a:ext cx="308877" cy="449275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417288" y="5446396"/>
            <a:ext cx="308877" cy="449275"/>
          </a:xfrm>
          <a:prstGeom prst="rect">
            <a:avLst/>
          </a:prstGeom>
        </p:spPr>
      </p:pic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228661" y="2531076"/>
            <a:ext cx="308877" cy="449275"/>
          </a:xfrm>
          <a:prstGeom prst="rect">
            <a:avLst/>
          </a:prstGeom>
        </p:spPr>
      </p:pic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070980" y="2531076"/>
            <a:ext cx="308877" cy="449275"/>
          </a:xfrm>
          <a:prstGeom prst="rect">
            <a:avLst/>
          </a:prstGeom>
        </p:spPr>
      </p:pic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167538" y="4527368"/>
            <a:ext cx="308877" cy="449275"/>
          </a:xfrm>
          <a:prstGeom prst="rect">
            <a:avLst/>
          </a:prstGeom>
        </p:spPr>
      </p:pic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167538" y="5915829"/>
            <a:ext cx="308877" cy="449275"/>
          </a:xfrm>
          <a:prstGeom prst="rect">
            <a:avLst/>
          </a:prstGeom>
        </p:spPr>
      </p:pic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009856" y="4567794"/>
            <a:ext cx="308877" cy="449275"/>
          </a:xfrm>
          <a:prstGeom prst="rect">
            <a:avLst/>
          </a:prstGeom>
        </p:spPr>
      </p:pic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009856" y="5956256"/>
            <a:ext cx="308877" cy="449275"/>
          </a:xfrm>
          <a:prstGeom prst="rect">
            <a:avLst/>
          </a:prstGeom>
        </p:spPr>
      </p:pic>
    </p:spTree>
  </p:cSld>
  <p:clrMapOvr>
    <a:masterClrMapping/>
  </p:clrMapOvr>
</p:sld>
</file>

<file path=ppt/slides/slide5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7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176847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11137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Europe Market Analysis By Segments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2797175"/>
            <a:ext cx="8458200" cy="32448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Product Type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Ingredient Type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Product Format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Primary Product Function / Benefit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Pet Type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Pack Size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Price Tier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Sales Channels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5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7.1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Product Type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Product Type Segment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Structure &amp; Attractiveness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Volume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Value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5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By Product Type Segment Outlook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 analysis of market size, growth and share across 6 sub-segments of Product Type,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Product Type segment categorizes the market by product type. Each sub-category is evaluated on market size, growth outlook and adoption trends across the forecast period.</a:t>
            </a:r>
          </a:p>
        </p:txBody>
      </p:sp>
      <p:sp>
        <p:nvSpPr>
          <p:cNvPr id="12" name="Rectangle 11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Sub-Segment</a:t>
            </a:r>
          </a:p>
        </p:txBody>
      </p:sp>
      <p:sp>
        <p:nvSpPr>
          <p:cNvPr id="14" name="Rectangle 13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6" name="Rectangle 15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8" name="Rectangle 17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866900" y="1773916"/>
            <a:ext cx="1571625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Rectangle 20"/>
          <p:cNvSpPr/>
          <p:nvPr/>
        </p:nvSpPr>
        <p:spPr>
          <a:xfrm>
            <a:off x="1866900" y="1992961"/>
            <a:ext cx="1571625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905000" y="1773916"/>
            <a:ext cx="1495425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Shampoos &amp; Cleansing Products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2302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2723109"/>
            <a:ext cx="157162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5" name="Rectangle 24"/>
          <p:cNvSpPr/>
          <p:nvPr/>
        </p:nvSpPr>
        <p:spPr>
          <a:xfrm>
            <a:off x="1866900" y="32159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6" name="Oval 25"/>
          <p:cNvSpPr/>
          <p:nvPr/>
        </p:nvSpPr>
        <p:spPr>
          <a:xfrm>
            <a:off x="2490788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3552825" y="1773916"/>
            <a:ext cx="1571625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Rectangle 27"/>
          <p:cNvSpPr/>
          <p:nvPr/>
        </p:nvSpPr>
        <p:spPr>
          <a:xfrm>
            <a:off x="3552825" y="1992961"/>
            <a:ext cx="1571625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3590925" y="1773916"/>
            <a:ext cx="1495425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Coat Conditioning &amp; Grooming Prod…</a:t>
            </a:r>
          </a:p>
        </p:txBody>
      </p:sp>
      <p:sp>
        <p:nvSpPr>
          <p:cNvPr id="30" name="Rectangle 29"/>
          <p:cNvSpPr/>
          <p:nvPr/>
        </p:nvSpPr>
        <p:spPr>
          <a:xfrm>
            <a:off x="3552825" y="22302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3552825" y="2723109"/>
            <a:ext cx="157162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2" name="Rectangle 31"/>
          <p:cNvSpPr/>
          <p:nvPr/>
        </p:nvSpPr>
        <p:spPr>
          <a:xfrm>
            <a:off x="3552825" y="32159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4176712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5238750" y="1773916"/>
            <a:ext cx="1571625" cy="438089"/>
          </a:xfrm>
          <a:prstGeom prst="roundRect">
            <a:avLst>
              <a:gd name="adj" fmla="val 18000"/>
            </a:avLst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5238750" y="1992961"/>
            <a:ext cx="1571625" cy="21904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5276850" y="1773916"/>
            <a:ext cx="1495425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Skin, Paw &amp; Nose Care Products</a:t>
            </a:r>
          </a:p>
        </p:txBody>
      </p:sp>
      <p:sp>
        <p:nvSpPr>
          <p:cNvPr id="37" name="Rectangle 36"/>
          <p:cNvSpPr/>
          <p:nvPr/>
        </p:nvSpPr>
        <p:spPr>
          <a:xfrm>
            <a:off x="5238750" y="22302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8" name="Rectangle 37"/>
          <p:cNvSpPr/>
          <p:nvPr/>
        </p:nvSpPr>
        <p:spPr>
          <a:xfrm>
            <a:off x="5238750" y="2723109"/>
            <a:ext cx="157162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9" name="Rectangle 38"/>
          <p:cNvSpPr/>
          <p:nvPr/>
        </p:nvSpPr>
        <p:spPr>
          <a:xfrm>
            <a:off x="5238750" y="32159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40" name="Oval 39"/>
          <p:cNvSpPr/>
          <p:nvPr/>
        </p:nvSpPr>
        <p:spPr>
          <a:xfrm>
            <a:off x="5862638" y="1445350"/>
            <a:ext cx="323850" cy="310313"/>
          </a:xfrm>
          <a:prstGeom prst="ellipse">
            <a:avLst/>
          </a:prstGeom>
          <a:solidFill>
            <a:srgbClr val="0081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41" name="Rounded Rectangle 40"/>
          <p:cNvSpPr/>
          <p:nvPr/>
        </p:nvSpPr>
        <p:spPr>
          <a:xfrm>
            <a:off x="6924675" y="1773916"/>
            <a:ext cx="1571625" cy="438089"/>
          </a:xfrm>
          <a:prstGeom prst="roundRect">
            <a:avLst>
              <a:gd name="adj" fmla="val 18000"/>
            </a:avLst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6924675" y="1992961"/>
            <a:ext cx="1571625" cy="219044"/>
          </a:xfrm>
          <a:prstGeom prst="rect">
            <a:avLst/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6962775" y="1773916"/>
            <a:ext cx="1495425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Dental &amp; Oral Care Products</a:t>
            </a:r>
          </a:p>
        </p:txBody>
      </p:sp>
      <p:sp>
        <p:nvSpPr>
          <p:cNvPr id="44" name="Rectangle 43"/>
          <p:cNvSpPr/>
          <p:nvPr/>
        </p:nvSpPr>
        <p:spPr>
          <a:xfrm>
            <a:off x="6924675" y="22302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5" name="Rectangle 44"/>
          <p:cNvSpPr/>
          <p:nvPr/>
        </p:nvSpPr>
        <p:spPr>
          <a:xfrm>
            <a:off x="6924675" y="2723109"/>
            <a:ext cx="157162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6" name="Rectangle 45"/>
          <p:cNvSpPr/>
          <p:nvPr/>
        </p:nvSpPr>
        <p:spPr>
          <a:xfrm>
            <a:off x="6924675" y="32159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7" name="Oval 46"/>
          <p:cNvSpPr/>
          <p:nvPr/>
        </p:nvSpPr>
        <p:spPr>
          <a:xfrm>
            <a:off x="7548562" y="1445350"/>
            <a:ext cx="323850" cy="310313"/>
          </a:xfrm>
          <a:prstGeom prst="ellipse">
            <a:avLst/>
          </a:prstGeom>
          <a:solidFill>
            <a:srgbClr val="6F3CC2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4</a:t>
            </a:r>
          </a:p>
        </p:txBody>
      </p:sp>
      <p:sp>
        <p:nvSpPr>
          <p:cNvPr id="48" name="Rounded Rectangle 47"/>
          <p:cNvSpPr/>
          <p:nvPr/>
        </p:nvSpPr>
        <p:spPr>
          <a:xfrm>
            <a:off x="8610600" y="1773916"/>
            <a:ext cx="1571625" cy="438089"/>
          </a:xfrm>
          <a:prstGeom prst="roundRect">
            <a:avLst>
              <a:gd name="adj" fmla="val 18000"/>
            </a:avLst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Rectangle 48"/>
          <p:cNvSpPr/>
          <p:nvPr/>
        </p:nvSpPr>
        <p:spPr>
          <a:xfrm>
            <a:off x="8610600" y="1992961"/>
            <a:ext cx="1571625" cy="219044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648700" y="1773916"/>
            <a:ext cx="1495425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Ear &amp; Eye Hygiene Products</a:t>
            </a:r>
          </a:p>
        </p:txBody>
      </p:sp>
      <p:sp>
        <p:nvSpPr>
          <p:cNvPr id="51" name="Rectangle 50"/>
          <p:cNvSpPr/>
          <p:nvPr/>
        </p:nvSpPr>
        <p:spPr>
          <a:xfrm>
            <a:off x="8610600" y="22302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52" name="Rectangle 51"/>
          <p:cNvSpPr/>
          <p:nvPr/>
        </p:nvSpPr>
        <p:spPr>
          <a:xfrm>
            <a:off x="8610600" y="2723109"/>
            <a:ext cx="157162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53" name="Rectangle 52"/>
          <p:cNvSpPr/>
          <p:nvPr/>
        </p:nvSpPr>
        <p:spPr>
          <a:xfrm>
            <a:off x="8610600" y="32159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54" name="Oval 53"/>
          <p:cNvSpPr/>
          <p:nvPr/>
        </p:nvSpPr>
        <p:spPr>
          <a:xfrm>
            <a:off x="9234488" y="1445350"/>
            <a:ext cx="323850" cy="310313"/>
          </a:xfrm>
          <a:prstGeom prst="ellipse">
            <a:avLst/>
          </a:prstGeom>
          <a:solidFill>
            <a:srgbClr val="A86F00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5</a:t>
            </a:r>
          </a:p>
        </p:txBody>
      </p:sp>
      <p:sp>
        <p:nvSpPr>
          <p:cNvPr id="55" name="Rounded Rectangle 54"/>
          <p:cNvSpPr/>
          <p:nvPr/>
        </p:nvSpPr>
        <p:spPr>
          <a:xfrm>
            <a:off x="10296525" y="1773916"/>
            <a:ext cx="1571625" cy="438089"/>
          </a:xfrm>
          <a:prstGeom prst="roundRect">
            <a:avLst>
              <a:gd name="adj" fmla="val 18000"/>
            </a:avLst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10296525" y="1992961"/>
            <a:ext cx="1571625" cy="219044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TextBox 56"/>
          <p:cNvSpPr txBox="1"/>
          <p:nvPr/>
        </p:nvSpPr>
        <p:spPr>
          <a:xfrm>
            <a:off x="10334625" y="1773916"/>
            <a:ext cx="1495425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Fragrance &amp; Deodorizing Products</a:t>
            </a:r>
          </a:p>
        </p:txBody>
      </p:sp>
      <p:sp>
        <p:nvSpPr>
          <p:cNvPr id="58" name="Rectangle 57"/>
          <p:cNvSpPr/>
          <p:nvPr/>
        </p:nvSpPr>
        <p:spPr>
          <a:xfrm>
            <a:off x="10296525" y="22302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59" name="Rectangle 58"/>
          <p:cNvSpPr/>
          <p:nvPr/>
        </p:nvSpPr>
        <p:spPr>
          <a:xfrm>
            <a:off x="10296525" y="2723109"/>
            <a:ext cx="157162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60" name="Rectangle 59"/>
          <p:cNvSpPr/>
          <p:nvPr/>
        </p:nvSpPr>
        <p:spPr>
          <a:xfrm>
            <a:off x="10296525" y="32159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61" name="Oval 60"/>
          <p:cNvSpPr/>
          <p:nvPr/>
        </p:nvSpPr>
        <p:spPr>
          <a:xfrm>
            <a:off x="10920412" y="1445350"/>
            <a:ext cx="323850" cy="310313"/>
          </a:xfrm>
          <a:prstGeom prst="ellipse">
            <a:avLst/>
          </a:prstGeom>
          <a:solidFill>
            <a:srgbClr val="A35313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6</a:t>
            </a:r>
          </a:p>
        </p:txBody>
      </p:sp>
      <p:sp>
        <p:nvSpPr>
          <p:cNvPr id="62" name="Rounded Rectangle 61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TextBox 62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64" name="Rectangle 63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TextBox 64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66" name="Rounded Rectangle 65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TextBox 66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68" name="Rectangle 67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TextBox 68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1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08189"/>
                </a:solidFill>
                <a:latin typeface="Calibri"/>
              </a:rPr>
              <a:t/>
            </a:r>
            <a:r>
              <a:rPr sz="1100" b="1">
                <a:solidFill>
                  <a:srgbClr val="0081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6F3CC2"/>
                </a:solidFill>
                <a:latin typeface="Calibri"/>
              </a:rPr>
              <a:t/>
            </a:r>
            <a:r>
              <a:rPr sz="1100" b="1">
                <a:solidFill>
                  <a:srgbClr val="6F3CC2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A86F00"/>
                </a:solidFill>
                <a:latin typeface="Calibri"/>
              </a:rPr>
              <a:t/>
            </a:r>
            <a:r>
              <a:rPr sz="1100" b="1">
                <a:solidFill>
                  <a:srgbClr val="A86F00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A35313"/>
                </a:solidFill>
                <a:latin typeface="Calibri"/>
              </a:rPr>
              <a:t/>
            </a:r>
            <a:r>
              <a:rPr sz="1100" b="1">
                <a:solidFill>
                  <a:srgbClr val="A35313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70" name="Rounded Rectangle 69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TextBox 70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Segment Overview</a:t>
            </a:r>
          </a:p>
        </p:txBody>
      </p:sp>
      <p:sp>
        <p:nvSpPr>
          <p:cNvPr id="72" name="Rectangle 71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TextBox 72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Product Type split shows how demand is distributed across product type types and where growth concentrates.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preferences and product innovation are reshaping the mix through 2036.</a:t>
            </a:r>
          </a:p>
        </p:txBody>
      </p:sp>
      <p:sp>
        <p:nvSpPr>
          <p:cNvPr id="74" name="Rectangle 73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TextBox 74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78" name="Picture 77" descr="1_095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054848" y="2286582"/>
            <a:ext cx="1195728" cy="361950"/>
          </a:xfrm>
          <a:prstGeom prst="rect">
            <a:avLst/>
          </a:prstGeom>
        </p:spPr>
      </p:pic>
      <p:pic>
        <p:nvPicPr>
          <p:cNvPr id="79" name="Picture 78" descr="2_055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054848" y="2779432"/>
            <a:ext cx="1195728" cy="361950"/>
          </a:xfrm>
          <a:prstGeom prst="rect">
            <a:avLst/>
          </a:prstGeom>
        </p:spPr>
      </p:pic>
      <p:pic>
        <p:nvPicPr>
          <p:cNvPr id="80" name="Picture 79" descr="6_5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161494" y="3272281"/>
            <a:ext cx="982436" cy="361950"/>
          </a:xfrm>
          <a:prstGeom prst="rect">
            <a:avLst/>
          </a:prstGeom>
        </p:spPr>
      </p:pic>
      <p:pic>
        <p:nvPicPr>
          <p:cNvPr id="81" name="Picture 80" descr="648_9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740773" y="2286582"/>
            <a:ext cx="1195728" cy="361950"/>
          </a:xfrm>
          <a:prstGeom prst="rect">
            <a:avLst/>
          </a:prstGeom>
        </p:spPr>
      </p:pic>
      <p:pic>
        <p:nvPicPr>
          <p:cNvPr id="82" name="Picture 81" descr="1_118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740773" y="2779432"/>
            <a:ext cx="1195728" cy="361950"/>
          </a:xfrm>
          <a:prstGeom prst="rect">
            <a:avLst/>
          </a:prstGeom>
        </p:spPr>
      </p:pic>
      <p:pic>
        <p:nvPicPr>
          <p:cNvPr id="83" name="Picture 82" descr="5_6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3847419" y="3272281"/>
            <a:ext cx="982436" cy="361950"/>
          </a:xfrm>
          <a:prstGeom prst="rect">
            <a:avLst/>
          </a:prstGeom>
        </p:spPr>
      </p:pic>
      <p:pic>
        <p:nvPicPr>
          <p:cNvPr id="84" name="Picture 83" descr="468_1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5426698" y="2286582"/>
            <a:ext cx="1195728" cy="361950"/>
          </a:xfrm>
          <a:prstGeom prst="rect">
            <a:avLst/>
          </a:prstGeom>
        </p:spPr>
      </p:pic>
      <p:pic>
        <p:nvPicPr>
          <p:cNvPr id="85" name="Picture 84" descr="826_2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5426698" y="2779432"/>
            <a:ext cx="1195728" cy="361950"/>
          </a:xfrm>
          <a:prstGeom prst="rect">
            <a:avLst/>
          </a:prstGeom>
        </p:spPr>
      </p:pic>
      <p:pic>
        <p:nvPicPr>
          <p:cNvPr id="86" name="Picture 85" descr="5_8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5533344" y="3272281"/>
            <a:ext cx="982436" cy="361950"/>
          </a:xfrm>
          <a:prstGeom prst="rect">
            <a:avLst/>
          </a:prstGeom>
        </p:spPr>
      </p:pic>
      <p:pic>
        <p:nvPicPr>
          <p:cNvPr id="87" name="Picture 86" descr="378_9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7112623" y="2286582"/>
            <a:ext cx="1195728" cy="361950"/>
          </a:xfrm>
          <a:prstGeom prst="rect">
            <a:avLst/>
          </a:prstGeom>
        </p:spPr>
      </p:pic>
      <p:pic>
        <p:nvPicPr>
          <p:cNvPr id="88" name="Picture 87" descr="697_6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7112623" y="2779432"/>
            <a:ext cx="1195728" cy="361950"/>
          </a:xfrm>
          <a:prstGeom prst="rect">
            <a:avLst/>
          </a:prstGeom>
        </p:spPr>
      </p:pic>
      <p:pic>
        <p:nvPicPr>
          <p:cNvPr id="89" name="Picture 88" descr="6_3_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7219269" y="3272281"/>
            <a:ext cx="982436" cy="361950"/>
          </a:xfrm>
          <a:prstGeom prst="rect">
            <a:avLst/>
          </a:prstGeom>
        </p:spPr>
      </p:pic>
      <p:pic>
        <p:nvPicPr>
          <p:cNvPr id="90" name="Picture 89" descr="293_2_605E5C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8798548" y="2286582"/>
            <a:ext cx="1195728" cy="361950"/>
          </a:xfrm>
          <a:prstGeom prst="rect">
            <a:avLst/>
          </a:prstGeom>
        </p:spPr>
      </p:pic>
      <p:pic>
        <p:nvPicPr>
          <p:cNvPr id="91" name="Picture 90" descr="525_4_605E5C.png"/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8798548" y="2779432"/>
            <a:ext cx="1195728" cy="361950"/>
          </a:xfrm>
          <a:prstGeom prst="rect">
            <a:avLst/>
          </a:prstGeom>
        </p:spPr>
      </p:pic>
      <p:pic>
        <p:nvPicPr>
          <p:cNvPr id="92" name="Picture 91" descr="6_0__605E5C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8905194" y="3272281"/>
            <a:ext cx="982436" cy="361950"/>
          </a:xfrm>
          <a:prstGeom prst="rect">
            <a:avLst/>
          </a:prstGeom>
        </p:spPr>
      </p:pic>
      <p:pic>
        <p:nvPicPr>
          <p:cNvPr id="93" name="Picture 92" descr="268_5_605E5C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10484473" y="2286582"/>
            <a:ext cx="1195728" cy="361950"/>
          </a:xfrm>
          <a:prstGeom prst="rect">
            <a:avLst/>
          </a:prstGeom>
        </p:spPr>
      </p:pic>
      <p:pic>
        <p:nvPicPr>
          <p:cNvPr id="94" name="Picture 93" descr="474_0_605E5C.png"/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10484473" y="2779432"/>
            <a:ext cx="1195728" cy="361950"/>
          </a:xfrm>
          <a:prstGeom prst="rect">
            <a:avLst/>
          </a:prstGeom>
        </p:spPr>
      </p:pic>
      <p:pic>
        <p:nvPicPr>
          <p:cNvPr id="95" name="Picture 94" descr="5_8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10591119" y="3272281"/>
            <a:ext cx="982436" cy="361950"/>
          </a:xfrm>
          <a:prstGeom prst="rect">
            <a:avLst/>
          </a:prstGeom>
        </p:spPr>
      </p:pic>
      <p:pic>
        <p:nvPicPr>
          <p:cNvPr id="96" name="Picture 95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2559367" y="2827057"/>
            <a:ext cx="183356" cy="266700"/>
          </a:xfrm>
          <a:prstGeom prst="rect">
            <a:avLst/>
          </a:prstGeom>
        </p:spPr>
      </p:pic>
      <p:pic>
        <p:nvPicPr>
          <p:cNvPr id="97" name="Picture 96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4245292" y="2827057"/>
            <a:ext cx="183356" cy="266700"/>
          </a:xfrm>
          <a:prstGeom prst="rect">
            <a:avLst/>
          </a:prstGeom>
        </p:spPr>
      </p:pic>
      <p:pic>
        <p:nvPicPr>
          <p:cNvPr id="98" name="Picture 97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5931217" y="2827057"/>
            <a:ext cx="183356" cy="266700"/>
          </a:xfrm>
          <a:prstGeom prst="rect">
            <a:avLst/>
          </a:prstGeom>
        </p:spPr>
      </p:pic>
      <p:pic>
        <p:nvPicPr>
          <p:cNvPr id="99" name="Picture 98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7617142" y="2827057"/>
            <a:ext cx="183356" cy="266700"/>
          </a:xfrm>
          <a:prstGeom prst="rect">
            <a:avLst/>
          </a:prstGeom>
        </p:spPr>
      </p:pic>
      <p:pic>
        <p:nvPicPr>
          <p:cNvPr id="100" name="Picture 99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9303067" y="2827057"/>
            <a:ext cx="183356" cy="266700"/>
          </a:xfrm>
          <a:prstGeom prst="rect">
            <a:avLst/>
          </a:prstGeom>
        </p:spPr>
      </p:pic>
      <p:pic>
        <p:nvPicPr>
          <p:cNvPr id="101" name="Picture 100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10988992" y="2827057"/>
            <a:ext cx="183356" cy="266700"/>
          </a:xfrm>
          <a:prstGeom prst="rect">
            <a:avLst/>
          </a:prstGeom>
        </p:spPr>
      </p:pic>
      <p:sp>
        <p:nvSpPr>
          <p:cNvPr id="102" name="TextBox 101"/>
          <p:cNvSpPr txBox="1"/>
          <p:nvPr/>
        </p:nvSpPr>
        <p:spPr>
          <a:xfrm>
            <a:off x="485775" y="4229437"/>
            <a:ext cx="260553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'Shampoos &amp; Cleansing Products' holds the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485775" y="4397077"/>
            <a:ext cx="12584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largest share in 2026</a:t>
            </a:r>
          </a:p>
        </p:txBody>
      </p:sp>
      <p:pic>
        <p:nvPicPr>
          <p:cNvPr id="104" name="Picture 103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1692292" y="4387298"/>
            <a:ext cx="128699" cy="187198"/>
          </a:xfrm>
          <a:prstGeom prst="rect">
            <a:avLst/>
          </a:prstGeom>
        </p:spPr>
      </p:pic>
      <p:sp>
        <p:nvSpPr>
          <p:cNvPr id="105" name="TextBox 104"/>
          <p:cNvSpPr txBox="1"/>
          <p:nvPr/>
        </p:nvSpPr>
        <p:spPr>
          <a:xfrm>
            <a:off x="1859788" y="4397077"/>
            <a:ext cx="108738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segment value.</a:t>
            </a:r>
          </a:p>
        </p:txBody>
      </p:sp>
      <p:sp>
        <p:nvSpPr>
          <p:cNvPr id="106" name="TextBox 105"/>
          <p:cNvSpPr txBox="1"/>
          <p:nvPr/>
        </p:nvSpPr>
        <p:spPr>
          <a:xfrm>
            <a:off x="485775" y="4615009"/>
            <a:ext cx="23850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'Shampoos &amp; Cleansing Products' is the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485775" y="4782649"/>
            <a:ext cx="18732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fastest-growing sub-segment at</a:t>
            </a:r>
          </a:p>
        </p:txBody>
      </p:sp>
      <p:pic>
        <p:nvPicPr>
          <p:cNvPr id="108" name="Picture 107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2307026" y="4772870"/>
            <a:ext cx="128699" cy="187198"/>
          </a:xfrm>
          <a:prstGeom prst="rect">
            <a:avLst/>
          </a:prstGeom>
        </p:spPr>
      </p:pic>
      <p:sp>
        <p:nvSpPr>
          <p:cNvPr id="109" name="TextBox 108"/>
          <p:cNvSpPr txBox="1"/>
          <p:nvPr/>
        </p:nvSpPr>
        <p:spPr>
          <a:xfrm>
            <a:off x="2474522" y="4782649"/>
            <a:ext cx="88245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through</a:t>
            </a:r>
          </a:p>
        </p:txBody>
      </p:sp>
      <p:sp>
        <p:nvSpPr>
          <p:cNvPr id="110" name="TextBox 109"/>
          <p:cNvSpPr txBox="1"/>
          <p:nvPr/>
        </p:nvSpPr>
        <p:spPr>
          <a:xfrm>
            <a:off x="485775" y="4950289"/>
            <a:ext cx="39516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2036.</a:t>
            </a:r>
          </a:p>
        </p:txBody>
      </p:sp>
      <p:sp>
        <p:nvSpPr>
          <p:cNvPr id="111" name="TextBox 110"/>
          <p:cNvSpPr txBox="1"/>
          <p:nvPr/>
        </p:nvSpPr>
        <p:spPr>
          <a:xfrm>
            <a:off x="485775" y="5168221"/>
            <a:ext cx="18066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Segment value expands from</a:t>
            </a:r>
          </a:p>
        </p:txBody>
      </p:sp>
      <p:pic>
        <p:nvPicPr>
          <p:cNvPr id="112" name="Picture 111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2240451" y="5158441"/>
            <a:ext cx="128699" cy="187198"/>
          </a:xfrm>
          <a:prstGeom prst="rect">
            <a:avLst/>
          </a:prstGeom>
        </p:spPr>
      </p:pic>
      <p:sp>
        <p:nvSpPr>
          <p:cNvPr id="113" name="TextBox 112"/>
          <p:cNvSpPr txBox="1"/>
          <p:nvPr/>
        </p:nvSpPr>
        <p:spPr>
          <a:xfrm>
            <a:off x="2407947" y="5168221"/>
            <a:ext cx="1968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114" name="Picture 113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2552799" y="5158441"/>
            <a:ext cx="128699" cy="187198"/>
          </a:xfrm>
          <a:prstGeom prst="rect">
            <a:avLst/>
          </a:prstGeom>
        </p:spPr>
      </p:pic>
      <p:sp>
        <p:nvSpPr>
          <p:cNvPr id="115" name="TextBox 114"/>
          <p:cNvSpPr txBox="1"/>
          <p:nvPr/>
        </p:nvSpPr>
        <p:spPr>
          <a:xfrm>
            <a:off x="2720294" y="5168221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485775" y="5335861"/>
            <a:ext cx="11378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2026–2036.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485775" y="5553793"/>
            <a:ext cx="255860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6 sub-segments make up the product type</a:t>
            </a:r>
          </a:p>
        </p:txBody>
      </p:sp>
      <p:sp>
        <p:nvSpPr>
          <p:cNvPr id="118" name="TextBox 117"/>
          <p:cNvSpPr txBox="1"/>
          <p:nvPr/>
        </p:nvSpPr>
        <p:spPr>
          <a:xfrm>
            <a:off x="485775" y="5721433"/>
            <a:ext cx="68083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landscape.</a:t>
            </a:r>
          </a:p>
        </p:txBody>
      </p:sp>
      <p:sp>
        <p:nvSpPr>
          <p:cNvPr id="119" name="TextBox 118"/>
          <p:cNvSpPr txBox="1"/>
          <p:nvPr/>
        </p:nvSpPr>
        <p:spPr>
          <a:xfrm>
            <a:off x="3838575" y="4229437"/>
            <a:ext cx="1897375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● Shampoos &amp; Cleansing Products:</a:t>
            </a:r>
          </a:p>
        </p:txBody>
      </p:sp>
      <p:pic>
        <p:nvPicPr>
          <p:cNvPr id="120" name="Picture 119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5682061" y="4220440"/>
            <a:ext cx="118403" cy="172222"/>
          </a:xfrm>
          <a:prstGeom prst="rect">
            <a:avLst/>
          </a:prstGeom>
        </p:spPr>
      </p:pic>
      <p:sp>
        <p:nvSpPr>
          <p:cNvPr id="121" name="TextBox 120"/>
          <p:cNvSpPr txBox="1"/>
          <p:nvPr/>
        </p:nvSpPr>
        <p:spPr>
          <a:xfrm>
            <a:off x="5836157" y="4229437"/>
            <a:ext cx="844582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22" name="Picture 121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6626851" y="4220440"/>
            <a:ext cx="118403" cy="172222"/>
          </a:xfrm>
          <a:prstGeom prst="rect">
            <a:avLst/>
          </a:prstGeom>
        </p:spPr>
      </p:pic>
      <p:sp>
        <p:nvSpPr>
          <p:cNvPr id="123" name="TextBox 122"/>
          <p:cNvSpPr txBox="1"/>
          <p:nvPr/>
        </p:nvSpPr>
        <p:spPr>
          <a:xfrm>
            <a:off x="6780948" y="4229437"/>
            <a:ext cx="875693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CAGR leads the</a:t>
            </a:r>
          </a:p>
        </p:txBody>
      </p:sp>
      <p:sp>
        <p:nvSpPr>
          <p:cNvPr id="124" name="TextBox 123"/>
          <p:cNvSpPr txBox="1"/>
          <p:nvPr/>
        </p:nvSpPr>
        <p:spPr>
          <a:xfrm>
            <a:off x="3838575" y="4383665"/>
            <a:ext cx="560675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segment.</a:t>
            </a:r>
          </a:p>
        </p:txBody>
      </p:sp>
      <p:sp>
        <p:nvSpPr>
          <p:cNvPr id="125" name="TextBox 124"/>
          <p:cNvSpPr txBox="1"/>
          <p:nvPr/>
        </p:nvSpPr>
        <p:spPr>
          <a:xfrm>
            <a:off x="3838575" y="4584163"/>
            <a:ext cx="2313069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● Coat Conditioning &amp; Grooming Products:</a:t>
            </a:r>
          </a:p>
        </p:txBody>
      </p:sp>
      <p:pic>
        <p:nvPicPr>
          <p:cNvPr id="126" name="Picture 125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6097756" y="4575166"/>
            <a:ext cx="118403" cy="172222"/>
          </a:xfrm>
          <a:prstGeom prst="rect">
            <a:avLst/>
          </a:prstGeom>
        </p:spPr>
      </p:pic>
      <p:sp>
        <p:nvSpPr>
          <p:cNvPr id="127" name="TextBox 126"/>
          <p:cNvSpPr txBox="1"/>
          <p:nvPr/>
        </p:nvSpPr>
        <p:spPr>
          <a:xfrm>
            <a:off x="6251852" y="4584163"/>
            <a:ext cx="844582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28" name="Picture 127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7042546" y="4575166"/>
            <a:ext cx="118403" cy="172222"/>
          </a:xfrm>
          <a:prstGeom prst="rect">
            <a:avLst/>
          </a:prstGeom>
        </p:spPr>
      </p:pic>
      <p:sp>
        <p:nvSpPr>
          <p:cNvPr id="129" name="TextBox 128"/>
          <p:cNvSpPr txBox="1"/>
          <p:nvPr/>
        </p:nvSpPr>
        <p:spPr>
          <a:xfrm>
            <a:off x="7196642" y="4584163"/>
            <a:ext cx="369881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CAGR</a:t>
            </a:r>
          </a:p>
        </p:txBody>
      </p:sp>
      <p:sp>
        <p:nvSpPr>
          <p:cNvPr id="130" name="TextBox 129"/>
          <p:cNvSpPr txBox="1"/>
          <p:nvPr/>
        </p:nvSpPr>
        <p:spPr>
          <a:xfrm>
            <a:off x="3838575" y="4738392"/>
            <a:ext cx="842825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serves a niche.</a:t>
            </a:r>
          </a:p>
        </p:txBody>
      </p:sp>
      <p:sp>
        <p:nvSpPr>
          <p:cNvPr id="131" name="TextBox 130"/>
          <p:cNvSpPr txBox="1"/>
          <p:nvPr/>
        </p:nvSpPr>
        <p:spPr>
          <a:xfrm>
            <a:off x="3838575" y="4938889"/>
            <a:ext cx="1883317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● Skin, Paw &amp; Nose Care Products:</a:t>
            </a:r>
          </a:p>
        </p:txBody>
      </p:sp>
      <p:pic>
        <p:nvPicPr>
          <p:cNvPr id="132" name="Picture 131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5668004" y="4929892"/>
            <a:ext cx="118403" cy="172222"/>
          </a:xfrm>
          <a:prstGeom prst="rect">
            <a:avLst/>
          </a:prstGeom>
        </p:spPr>
      </p:pic>
      <p:sp>
        <p:nvSpPr>
          <p:cNvPr id="133" name="TextBox 132"/>
          <p:cNvSpPr txBox="1"/>
          <p:nvPr/>
        </p:nvSpPr>
        <p:spPr>
          <a:xfrm>
            <a:off x="5822100" y="4938889"/>
            <a:ext cx="844582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34" name="Picture 133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6612794" y="4929892"/>
            <a:ext cx="118403" cy="172222"/>
          </a:xfrm>
          <a:prstGeom prst="rect">
            <a:avLst/>
          </a:prstGeom>
        </p:spPr>
      </p:pic>
      <p:sp>
        <p:nvSpPr>
          <p:cNvPr id="135" name="TextBox 134"/>
          <p:cNvSpPr txBox="1"/>
          <p:nvPr/>
        </p:nvSpPr>
        <p:spPr>
          <a:xfrm>
            <a:off x="6766890" y="4938889"/>
            <a:ext cx="820970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CAGR serves a</a:t>
            </a:r>
          </a:p>
        </p:txBody>
      </p:sp>
      <p:sp>
        <p:nvSpPr>
          <p:cNvPr id="136" name="TextBox 135"/>
          <p:cNvSpPr txBox="1"/>
          <p:nvPr/>
        </p:nvSpPr>
        <p:spPr>
          <a:xfrm>
            <a:off x="3838575" y="5093118"/>
            <a:ext cx="391736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niche.</a:t>
            </a:r>
          </a:p>
        </p:txBody>
      </p:sp>
      <p:sp>
        <p:nvSpPr>
          <p:cNvPr id="137" name="TextBox 136"/>
          <p:cNvSpPr txBox="1"/>
          <p:nvPr/>
        </p:nvSpPr>
        <p:spPr>
          <a:xfrm>
            <a:off x="3838575" y="5293615"/>
            <a:ext cx="1688523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● Dental &amp; Oral Care Products:</a:t>
            </a:r>
          </a:p>
        </p:txBody>
      </p:sp>
      <p:pic>
        <p:nvPicPr>
          <p:cNvPr id="138" name="Picture 137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5473210" y="5284619"/>
            <a:ext cx="118403" cy="172222"/>
          </a:xfrm>
          <a:prstGeom prst="rect">
            <a:avLst/>
          </a:prstGeom>
        </p:spPr>
      </p:pic>
      <p:sp>
        <p:nvSpPr>
          <p:cNvPr id="139" name="TextBox 138"/>
          <p:cNvSpPr txBox="1"/>
          <p:nvPr/>
        </p:nvSpPr>
        <p:spPr>
          <a:xfrm>
            <a:off x="5627306" y="5293615"/>
            <a:ext cx="844582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40" name="Picture 139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6418000" y="5284619"/>
            <a:ext cx="118403" cy="172222"/>
          </a:xfrm>
          <a:prstGeom prst="rect">
            <a:avLst/>
          </a:prstGeom>
        </p:spPr>
      </p:pic>
      <p:sp>
        <p:nvSpPr>
          <p:cNvPr id="141" name="TextBox 140"/>
          <p:cNvSpPr txBox="1"/>
          <p:nvPr/>
        </p:nvSpPr>
        <p:spPr>
          <a:xfrm>
            <a:off x="6572096" y="5293615"/>
            <a:ext cx="1165626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42" name="TextBox 141"/>
          <p:cNvSpPr txBox="1"/>
          <p:nvPr/>
        </p:nvSpPr>
        <p:spPr>
          <a:xfrm>
            <a:off x="3838575" y="5494113"/>
            <a:ext cx="1661585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● Ear &amp; Eye Hygiene Products:</a:t>
            </a:r>
          </a:p>
        </p:txBody>
      </p:sp>
      <p:pic>
        <p:nvPicPr>
          <p:cNvPr id="143" name="Picture 142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5446272" y="5485116"/>
            <a:ext cx="118403" cy="172222"/>
          </a:xfrm>
          <a:prstGeom prst="rect">
            <a:avLst/>
          </a:prstGeom>
        </p:spPr>
      </p:pic>
      <p:sp>
        <p:nvSpPr>
          <p:cNvPr id="144" name="TextBox 143"/>
          <p:cNvSpPr txBox="1"/>
          <p:nvPr/>
        </p:nvSpPr>
        <p:spPr>
          <a:xfrm>
            <a:off x="5600368" y="5494113"/>
            <a:ext cx="844582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45" name="Picture 144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6391062" y="5485116"/>
            <a:ext cx="118403" cy="172222"/>
          </a:xfrm>
          <a:prstGeom prst="rect">
            <a:avLst/>
          </a:prstGeom>
        </p:spPr>
      </p:pic>
      <p:sp>
        <p:nvSpPr>
          <p:cNvPr id="146" name="TextBox 145"/>
          <p:cNvSpPr txBox="1"/>
          <p:nvPr/>
        </p:nvSpPr>
        <p:spPr>
          <a:xfrm>
            <a:off x="6545158" y="5494113"/>
            <a:ext cx="1165626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3838575" y="5694610"/>
            <a:ext cx="2001800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● Fragrance &amp; Deodorizing Products:</a:t>
            </a:r>
          </a:p>
        </p:txBody>
      </p:sp>
      <p:pic>
        <p:nvPicPr>
          <p:cNvPr id="148" name="Picture 147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5786487" y="5685613"/>
            <a:ext cx="118403" cy="172222"/>
          </a:xfrm>
          <a:prstGeom prst="rect">
            <a:avLst/>
          </a:prstGeom>
        </p:spPr>
      </p:pic>
      <p:sp>
        <p:nvSpPr>
          <p:cNvPr id="149" name="TextBox 148"/>
          <p:cNvSpPr txBox="1"/>
          <p:nvPr/>
        </p:nvSpPr>
        <p:spPr>
          <a:xfrm>
            <a:off x="5940583" y="5694610"/>
            <a:ext cx="844582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50" name="Picture 149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6731277" y="5685613"/>
            <a:ext cx="118403" cy="172222"/>
          </a:xfrm>
          <a:prstGeom prst="rect">
            <a:avLst/>
          </a:prstGeom>
        </p:spPr>
      </p:pic>
      <p:sp>
        <p:nvSpPr>
          <p:cNvPr id="151" name="TextBox 150"/>
          <p:cNvSpPr txBox="1"/>
          <p:nvPr/>
        </p:nvSpPr>
        <p:spPr>
          <a:xfrm>
            <a:off x="6885373" y="5694610"/>
            <a:ext cx="820970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CAGR serves a</a:t>
            </a:r>
          </a:p>
        </p:txBody>
      </p:sp>
      <p:sp>
        <p:nvSpPr>
          <p:cNvPr id="152" name="TextBox 151"/>
          <p:cNvSpPr txBox="1"/>
          <p:nvPr/>
        </p:nvSpPr>
        <p:spPr>
          <a:xfrm>
            <a:off x="3838575" y="5848839"/>
            <a:ext cx="391736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niche.</a:t>
            </a:r>
          </a:p>
        </p:txBody>
      </p:sp>
      <p:sp>
        <p:nvSpPr>
          <p:cNvPr id="153" name="TextBox 152"/>
          <p:cNvSpPr txBox="1"/>
          <p:nvPr/>
        </p:nvSpPr>
        <p:spPr>
          <a:xfrm>
            <a:off x="8524875" y="5842641"/>
            <a:ext cx="31623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The Product Type segment is projected to grow at a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8524875" y="6017901"/>
            <a:ext cx="5747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CAGR of</a:t>
            </a:r>
          </a:p>
        </p:txBody>
      </p:sp>
      <p:pic>
        <p:nvPicPr>
          <p:cNvPr id="155" name="Picture 154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9048826" y="6007677"/>
            <a:ext cx="134549" cy="195707"/>
          </a:xfrm>
          <a:prstGeom prst="rect">
            <a:avLst/>
          </a:prstGeom>
        </p:spPr>
      </p:pic>
      <p:sp>
        <p:nvSpPr>
          <p:cNvPr id="156" name="TextBox 155"/>
          <p:cNvSpPr txBox="1"/>
          <p:nvPr/>
        </p:nvSpPr>
        <p:spPr>
          <a:xfrm>
            <a:off x="9223935" y="6017901"/>
            <a:ext cx="12326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5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Structure &amp; Attractiveness, By Product Type (Value)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Product Type mix within each country and the attractiveness of each sub-segment on growth and size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052895"/>
            <a:ext cx="6667500" cy="5503490"/>
          </a:xfrm>
          <a:prstGeom prst="roundRect">
            <a:avLst>
              <a:gd name="adj" fmla="val 138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110045"/>
            <a:ext cx="647700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Product Type mix within each country (share of 2036 value) · row label = country size (US$ Mn), largest first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10095"/>
          <a:ext cx="6477000" cy="498914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886575" y="1052895"/>
            <a:ext cx="5162550" cy="3650740"/>
          </a:xfrm>
          <a:prstGeom prst="roundRect">
            <a:avLst>
              <a:gd name="adj" fmla="val 208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981825" y="1110045"/>
            <a:ext cx="49720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Attractiveness, By Product Type (bubble = 2036 size)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981825" y="1338645"/>
          <a:ext cx="4972050" cy="330784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6886575" y="4776650"/>
            <a:ext cx="5162550" cy="1779736"/>
          </a:xfrm>
          <a:prstGeom prst="roundRect">
            <a:avLst>
              <a:gd name="adj" fmla="val 428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613425" y="3638119"/>
            <a:ext cx="386128" cy="56164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7000875" y="5415058"/>
            <a:ext cx="49339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Between 2026 and 2036, 'Shampoos &amp; Cleansing Products' gains the most share in the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7000875" y="5582698"/>
            <a:ext cx="106583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Europe market (+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014759" y="5572919"/>
            <a:ext cx="128699" cy="187198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8182255" y="5582698"/>
            <a:ext cx="339925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BPS) while 'Coat Conditioning &amp; Grooming Products' cedes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529565" y="5572919"/>
            <a:ext cx="128699" cy="187198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7000875" y="5750338"/>
            <a:ext cx="46562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 Bubbles right of the CAGR-Index line grow faster than the segment average.</a:t>
            </a:r>
          </a:p>
        </p:txBody>
      </p:sp>
      <p:sp>
        <p:nvSpPr>
          <p:cNvPr id="26" name="lockshield_13"/>
          <p:cNvSpPr/>
          <p:nvPr/>
        </p:nvSpPr>
        <p:spPr>
          <a:xfrm>
            <a:off x="238125" y="1510095"/>
            <a:ext cx="6477000" cy="498914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lockshield_16"/>
          <p:cNvSpPr/>
          <p:nvPr/>
        </p:nvSpPr>
        <p:spPr>
          <a:xfrm>
            <a:off x="6981825" y="1338645"/>
            <a:ext cx="4972050" cy="330784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5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Absolute $ Opportunity Analysis, By Product Type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Product Type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Shampoos &amp; Cleansing Products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38275"/>
          <a:ext cx="5686425" cy="223837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Coat Conditioning &amp; Grooming Products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267450" y="1438275"/>
          <a:ext cx="5686425" cy="223837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38125" y="39243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Skin, Paw &amp; Nose Care Products</a:t>
            </a:r>
          </a:p>
        </p:txBody>
      </p:sp>
      <p:graphicFrame>
        <p:nvGraphicFramePr>
          <p:cNvPr id="19" name="Chart 18"/>
          <p:cNvGraphicFramePr>
            <a:graphicFrameLocks noGrp="1"/>
          </p:cNvGraphicFramePr>
          <p:nvPr/>
        </p:nvGraphicFramePr>
        <p:xfrm>
          <a:off x="238125" y="4324350"/>
          <a:ext cx="5686425" cy="2238375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0" name="Rounded Rectangle 19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6267450" y="39243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Ear &amp; Eye Hygiene Products</a:t>
            </a:r>
          </a:p>
        </p:txBody>
      </p:sp>
      <p:graphicFrame>
        <p:nvGraphicFramePr>
          <p:cNvPr id="22" name="Chart 21"/>
          <p:cNvGraphicFramePr>
            <a:graphicFrameLocks noGrp="1"/>
          </p:cNvGraphicFramePr>
          <p:nvPr/>
        </p:nvGraphicFramePr>
        <p:xfrm>
          <a:off x="6267450" y="4324350"/>
          <a:ext cx="5686425" cy="2238375"/>
        </p:xfrm>
        <a:graphic>
          <a:graphicData uri="http://schemas.openxmlformats.org/drawingml/2006/chart">
            <c:chart xmlns:c="http://schemas.openxmlformats.org/drawingml/2006/chart" r:id="rId6"/>
          </a:graphicData>
        </a:graphic>
      </p:graphicFrame>
      <p:sp>
        <p:nvSpPr>
          <p:cNvPr id="23" name="TextBox 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100230" y="2330679"/>
            <a:ext cx="252890" cy="367840"/>
          </a:xfrm>
          <a:prstGeom prst="rect">
            <a:avLst/>
          </a:prstGeom>
        </p:spPr>
      </p:pic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9555" y="2330679"/>
            <a:ext cx="252890" cy="367840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100230" y="5216754"/>
            <a:ext cx="252890" cy="367840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9555" y="5216754"/>
            <a:ext cx="252890" cy="367840"/>
          </a:xfrm>
          <a:prstGeom prst="rect">
            <a:avLst/>
          </a:prstGeom>
        </p:spPr>
      </p:pic>
      <p:sp>
        <p:nvSpPr>
          <p:cNvPr id="28" name="lockshield_13"/>
          <p:cNvSpPr/>
          <p:nvPr/>
        </p:nvSpPr>
        <p:spPr>
          <a:xfrm>
            <a:off x="238125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lockshield_16"/>
          <p:cNvSpPr/>
          <p:nvPr/>
        </p:nvSpPr>
        <p:spPr>
          <a:xfrm>
            <a:off x="6267450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lockshield_19"/>
          <p:cNvSpPr/>
          <p:nvPr/>
        </p:nvSpPr>
        <p:spPr>
          <a:xfrm>
            <a:off x="238125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lockshield_22"/>
          <p:cNvSpPr/>
          <p:nvPr/>
        </p:nvSpPr>
        <p:spPr>
          <a:xfrm>
            <a:off x="6267450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5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Absolute $ Opportunity Analysis, By Product Type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Product Type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Dental &amp; Oral Care Products</a:t>
            </a:r>
          </a:p>
        </p:txBody>
      </p:sp>
      <p:graphicFrame>
        <p:nvGraphicFramePr>
          <p:cNvPr id="12" name="Chart 11"/>
          <p:cNvGraphicFramePr>
            <a:graphicFrameLocks noGrp="1"/>
          </p:cNvGraphicFramePr>
          <p:nvPr/>
        </p:nvGraphicFramePr>
        <p:xfrm>
          <a:off x="238125" y="1438275"/>
          <a:ext cx="5686425" cy="223837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3" name="Rounded Rectangle 12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238125" y="39243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Fragrance &amp; Deodorizing Products</a:t>
            </a:r>
          </a:p>
        </p:txBody>
      </p:sp>
      <p:graphicFrame>
        <p:nvGraphicFramePr>
          <p:cNvPr id="15" name="Chart 14"/>
          <p:cNvGraphicFramePr>
            <a:graphicFrameLocks noGrp="1"/>
          </p:cNvGraphicFramePr>
          <p:nvPr/>
        </p:nvGraphicFramePr>
        <p:xfrm>
          <a:off x="238125" y="4324350"/>
          <a:ext cx="5686425" cy="223837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6" name="Rounded Rectangle 15"/>
          <p:cNvSpPr/>
          <p:nvPr/>
        </p:nvSpPr>
        <p:spPr>
          <a:xfrm>
            <a:off x="6172200" y="981075"/>
            <a:ext cx="5876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6305550" y="1066800"/>
            <a:ext cx="56102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Summary of Europe Absolute $ Opportunity Analysis, By Product Type</a:t>
            </a:r>
          </a:p>
        </p:txBody>
      </p:sp>
      <p:sp>
        <p:nvSpPr>
          <p:cNvPr id="18" name="Rectangle 17"/>
          <p:cNvSpPr/>
          <p:nvPr/>
        </p:nvSpPr>
        <p:spPr>
          <a:xfrm>
            <a:off x="6305550" y="1304925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6305550" y="1390650"/>
            <a:ext cx="5610225" cy="5162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100230" y="2330679"/>
            <a:ext cx="252890" cy="367840"/>
          </a:xfrm>
          <a:prstGeom prst="rect">
            <a:avLst/>
          </a:prstGeom>
        </p:spPr>
      </p:pic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100230" y="5216754"/>
            <a:ext cx="252890" cy="367840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6305550" y="1400175"/>
            <a:ext cx="301488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Across its 6 sub-segments, by product type adds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269589" y="138995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9444698" y="1400175"/>
            <a:ext cx="185447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to the Europe market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6305550" y="1575435"/>
            <a:ext cx="15541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between 2026 and 2036.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6305550" y="1803273"/>
            <a:ext cx="244808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 Products' adds</a:t>
            </a:r>
          </a:p>
        </p:txBody>
      </p:sp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702790" y="1793049"/>
            <a:ext cx="134549" cy="195707"/>
          </a:xfrm>
          <a:prstGeom prst="rect">
            <a:avLst/>
          </a:prstGeom>
        </p:spPr>
      </p:pic>
      <p:sp>
        <p:nvSpPr>
          <p:cNvPr id="29" name="TextBox 28"/>
          <p:cNvSpPr txBox="1"/>
          <p:nvPr/>
        </p:nvSpPr>
        <p:spPr>
          <a:xfrm>
            <a:off x="8877899" y="1803273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450370" y="1793049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9625479" y="1803273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6305550" y="2031111"/>
            <a:ext cx="29204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'Coat Conditioning &amp; Grooming Products' adds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175170" y="2020887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9350279" y="2031111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922750" y="2020887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0097860" y="2031111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6305550" y="2258949"/>
            <a:ext cx="24321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'Skin, Paw &amp; Nose Care Products' adds</a:t>
            </a:r>
          </a:p>
        </p:txBody>
      </p:sp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686815" y="2248725"/>
            <a:ext cx="134549" cy="195707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8861925" y="2258949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434396" y="2248725"/>
            <a:ext cx="134549" cy="195707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9609505" y="2258949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6305550" y="2486787"/>
            <a:ext cx="315294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'Fragrance &amp; Deodorizing Products' adds the least: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407652" y="2476563"/>
            <a:ext cx="134549" cy="195707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9582761" y="2486787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155232" y="2476563"/>
            <a:ext cx="134549" cy="195707"/>
          </a:xfrm>
          <a:prstGeom prst="rect">
            <a:avLst/>
          </a:prstGeom>
        </p:spPr>
      </p:pic>
      <p:sp>
        <p:nvSpPr>
          <p:cNvPr id="46" name="TextBox 45"/>
          <p:cNvSpPr txBox="1"/>
          <p:nvPr/>
        </p:nvSpPr>
        <p:spPr>
          <a:xfrm>
            <a:off x="10330342" y="2486787"/>
            <a:ext cx="1572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47" name="lockshield_12"/>
          <p:cNvSpPr/>
          <p:nvPr/>
        </p:nvSpPr>
        <p:spPr>
          <a:xfrm>
            <a:off x="238125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lockshield_15"/>
          <p:cNvSpPr/>
          <p:nvPr/>
        </p:nvSpPr>
        <p:spPr>
          <a:xfrm>
            <a:off x="238125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6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Volume Analysis, By Product Type (MT)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by Product Type,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438400"/>
          </a:xfrm>
          <a:prstGeom prst="roundRect">
            <a:avLst>
              <a:gd name="adj" fmla="val 31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Volume, By Product Type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4" cy="19716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504428"/>
                <a:gridCol w="551928"/>
                <a:gridCol w="551928"/>
                <a:gridCol w="551928"/>
                <a:gridCol w="551928"/>
                <a:gridCol w="551928"/>
                <a:gridCol w="551928"/>
                <a:gridCol w="551928"/>
                <a:gridCol w="551928"/>
                <a:gridCol w="551928"/>
                <a:gridCol w="551928"/>
                <a:gridCol w="551928"/>
                <a:gridCol w="551928"/>
                <a:gridCol w="551928"/>
                <a:gridCol w="551928"/>
                <a:gridCol w="551928"/>
                <a:gridCol w="551928"/>
                <a:gridCol w="551928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2194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552825"/>
            <a:ext cx="11906250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363855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Volume Analysis, By Product Type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387667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3962400"/>
            <a:ext cx="11639550" cy="25908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61526" y="2080450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3971925"/>
            <a:ext cx="387749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 Products' is the largest product type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02872" y="3961701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4277981" y="3971925"/>
            <a:ext cx="10805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volume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307714" y="396170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5482823" y="3971925"/>
            <a:ext cx="3534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4199763"/>
            <a:ext cx="295840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 Products'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183784" y="4189539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3358893" y="4199763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4427600"/>
            <a:ext cx="346758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'Shampoos &amp; Cleansing Products'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692962" y="4417377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3868071" y="4427600"/>
            <a:ext cx="386608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'Coat Conditioning &amp; Grooming Products'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683309" y="4417377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7858418" y="4427600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4655438"/>
            <a:ext cx="15646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volume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90033" y="4645215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965143" y="4655438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16579" y="4645215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291688" y="4655438"/>
            <a:ext cx="14705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across 6 categories.</a:t>
            </a:r>
          </a:p>
        </p:txBody>
      </p:sp>
    </p:spTree>
  </p:cSld>
  <p:clrMapOvr>
    <a:masterClrMapping/>
  </p:clrMapOvr>
</p:sld>
</file>

<file path=ppt/slides/slide6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Value Analysis, By Product Type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by Product Type,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438400"/>
          </a:xfrm>
          <a:prstGeom prst="roundRect">
            <a:avLst>
              <a:gd name="adj" fmla="val 31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Value, By Product Type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2" cy="19716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809183"/>
                <a:gridCol w="545303"/>
                <a:gridCol w="545303"/>
                <a:gridCol w="545303"/>
                <a:gridCol w="545303"/>
                <a:gridCol w="545303"/>
                <a:gridCol w="526094"/>
                <a:gridCol w="520606"/>
                <a:gridCol w="520606"/>
                <a:gridCol w="520606"/>
                <a:gridCol w="520606"/>
                <a:gridCol w="520606"/>
                <a:gridCol w="520606"/>
                <a:gridCol w="520606"/>
                <a:gridCol w="520606"/>
                <a:gridCol w="520606"/>
                <a:gridCol w="520606"/>
                <a:gridCol w="619350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2194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552825"/>
            <a:ext cx="11906250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363855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Value Analysis, By Product Type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387667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3962400"/>
            <a:ext cx="11639550" cy="25908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13902" y="2080450"/>
            <a:ext cx="366712" cy="533399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3971925"/>
            <a:ext cx="387749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 Products' is the largest product type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02872" y="3961701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4277981" y="3971925"/>
            <a:ext cx="9567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183914" y="396170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5359023" y="3971925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4199763"/>
            <a:ext cx="295840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 Products'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183784" y="4189539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3358893" y="4199763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4427600"/>
            <a:ext cx="346758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'Shampoos &amp; Cleansing Products'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692962" y="4417377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3868071" y="4427600"/>
            <a:ext cx="386608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'Coat Conditioning &amp; Grooming Products'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683309" y="4417377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7858418" y="4427600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4655438"/>
            <a:ext cx="14408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66233" y="4645215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841342" y="4655438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92779" y="4645215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167888" y="4655438"/>
            <a:ext cx="17440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6 categories.</a:t>
            </a:r>
          </a:p>
        </p:txBody>
      </p:sp>
    </p:spTree>
  </p:cSld>
  <p:clrMapOvr>
    <a:masterClrMapping/>
  </p:clrMapOvr>
</p:sld>
</file>

<file path=ppt/slides/slide6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Value &amp; Share Shift, By Product Type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composition by Product Type in 2021, 2026 and 2036, highlighting share shifts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7400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7210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Composition, By Product Type ·  2021 / 2026 / 2036 (US$ Mn)  ·  right axis = BPS share shift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1150"/>
          <a:ext cx="4614672" cy="49911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852797" y="1590675"/>
            <a:ext cx="2595753" cy="17106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(2021→2036)</a:t>
            </a:r>
          </a:p>
        </p:txBody>
      </p:sp>
      <p:sp>
        <p:nvSpPr>
          <p:cNvPr id="15" name="FMI Lock Anchor"/>
          <p:cNvSpPr txBox="1"/>
          <p:nvPr/>
        </p:nvSpPr>
        <p:spPr>
          <a:xfrm>
            <a:off x="2678811" y="4014597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/>
        </p:txBody>
      </p:sp>
      <p:sp>
        <p:nvSpPr>
          <p:cNvPr id="16" name="FMI Legend Chip"/>
          <p:cNvSpPr/>
          <p:nvPr/>
        </p:nvSpPr>
        <p:spPr>
          <a:xfrm>
            <a:off x="4928997" y="1861515"/>
            <a:ext cx="85725" cy="85725"/>
          </a:xfrm>
          <a:prstGeom prst="rect">
            <a:avLst/>
          </a:prstGeom>
          <a:solidFill>
            <a:srgbClr val="8080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Isosceles Triangle 16"/>
          <p:cNvSpPr/>
          <p:nvPr/>
        </p:nvSpPr>
        <p:spPr>
          <a:xfrm rot="10800000">
            <a:off x="5090922" y="1856753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BPS Name 1"/>
          <p:cNvSpPr txBox="1"/>
          <p:nvPr/>
        </p:nvSpPr>
        <p:spPr>
          <a:xfrm>
            <a:off x="5233797" y="1780553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Fragrance &amp; Deodorizing Products</a:t>
            </a:r>
          </a:p>
        </p:txBody>
      </p:sp>
      <p:sp>
        <p:nvSpPr>
          <p:cNvPr id="19" name="BPS Value 1"/>
          <p:cNvSpPr txBox="1"/>
          <p:nvPr/>
        </p:nvSpPr>
        <p:spPr>
          <a:xfrm>
            <a:off x="6896100" y="1842465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0" name="FMI Legend Chip"/>
          <p:cNvSpPr/>
          <p:nvPr/>
        </p:nvSpPr>
        <p:spPr>
          <a:xfrm>
            <a:off x="4928997" y="2262659"/>
            <a:ext cx="85725" cy="85725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Isosceles Triangle 20"/>
          <p:cNvSpPr/>
          <p:nvPr/>
        </p:nvSpPr>
        <p:spPr>
          <a:xfrm rot="10800000">
            <a:off x="5090922" y="2257897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BPS Name 2"/>
          <p:cNvSpPr txBox="1"/>
          <p:nvPr/>
        </p:nvSpPr>
        <p:spPr>
          <a:xfrm>
            <a:off x="5233797" y="2181697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Ear &amp; Eye Hygiene Products</a:t>
            </a:r>
          </a:p>
        </p:txBody>
      </p:sp>
      <p:sp>
        <p:nvSpPr>
          <p:cNvPr id="23" name="BPS Value 2"/>
          <p:cNvSpPr txBox="1"/>
          <p:nvPr/>
        </p:nvSpPr>
        <p:spPr>
          <a:xfrm>
            <a:off x="6896100" y="2243609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4" name="FMI Legend Chip"/>
          <p:cNvSpPr/>
          <p:nvPr/>
        </p:nvSpPr>
        <p:spPr>
          <a:xfrm>
            <a:off x="4928997" y="2753535"/>
            <a:ext cx="85725" cy="8572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Isosceles Triangle 24"/>
          <p:cNvSpPr/>
          <p:nvPr/>
        </p:nvSpPr>
        <p:spPr>
          <a:xfrm>
            <a:off x="5090922" y="2748773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BPS Name 3"/>
          <p:cNvSpPr txBox="1"/>
          <p:nvPr/>
        </p:nvSpPr>
        <p:spPr>
          <a:xfrm>
            <a:off x="5233797" y="2672573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Dental &amp; Oral Care Products</a:t>
            </a:r>
          </a:p>
        </p:txBody>
      </p:sp>
      <p:sp>
        <p:nvSpPr>
          <p:cNvPr id="27" name="BPS Value 3"/>
          <p:cNvSpPr txBox="1"/>
          <p:nvPr/>
        </p:nvSpPr>
        <p:spPr>
          <a:xfrm>
            <a:off x="6896100" y="2734485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8" name="FMI Legend Chip"/>
          <p:cNvSpPr/>
          <p:nvPr/>
        </p:nvSpPr>
        <p:spPr>
          <a:xfrm>
            <a:off x="4928997" y="3365154"/>
            <a:ext cx="85725" cy="8572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Isosceles Triangle 28"/>
          <p:cNvSpPr/>
          <p:nvPr/>
        </p:nvSpPr>
        <p:spPr>
          <a:xfrm rot="10800000">
            <a:off x="5090922" y="3360391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BPS Name 4"/>
          <p:cNvSpPr txBox="1"/>
          <p:nvPr/>
        </p:nvSpPr>
        <p:spPr>
          <a:xfrm>
            <a:off x="5233797" y="3284191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Skin, Paw &amp; Nose Care Products</a:t>
            </a:r>
          </a:p>
        </p:txBody>
      </p:sp>
      <p:sp>
        <p:nvSpPr>
          <p:cNvPr id="31" name="BPS Value 4"/>
          <p:cNvSpPr txBox="1"/>
          <p:nvPr/>
        </p:nvSpPr>
        <p:spPr>
          <a:xfrm>
            <a:off x="6896100" y="3346104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32" name="FMI Legend Chip"/>
          <p:cNvSpPr/>
          <p:nvPr/>
        </p:nvSpPr>
        <p:spPr>
          <a:xfrm>
            <a:off x="4928997" y="4145499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Isosceles Triangle 32"/>
          <p:cNvSpPr/>
          <p:nvPr/>
        </p:nvSpPr>
        <p:spPr>
          <a:xfrm rot="10800000">
            <a:off x="5090922" y="4140737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BPS Name 5"/>
          <p:cNvSpPr txBox="1"/>
          <p:nvPr/>
        </p:nvSpPr>
        <p:spPr>
          <a:xfrm>
            <a:off x="5233797" y="4064537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Coat Conditioning &amp; Grooming Products</a:t>
            </a:r>
          </a:p>
        </p:txBody>
      </p:sp>
      <p:sp>
        <p:nvSpPr>
          <p:cNvPr id="35" name="BPS Value 5"/>
          <p:cNvSpPr txBox="1"/>
          <p:nvPr/>
        </p:nvSpPr>
        <p:spPr>
          <a:xfrm>
            <a:off x="6896100" y="4126449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36" name="FMI Legend Chip"/>
          <p:cNvSpPr/>
          <p:nvPr/>
        </p:nvSpPr>
        <p:spPr>
          <a:xfrm>
            <a:off x="4928997" y="5418927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Isosceles Triangle 36"/>
          <p:cNvSpPr/>
          <p:nvPr/>
        </p:nvSpPr>
        <p:spPr>
          <a:xfrm>
            <a:off x="5090922" y="5414165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BPS Name 6"/>
          <p:cNvSpPr txBox="1"/>
          <p:nvPr/>
        </p:nvSpPr>
        <p:spPr>
          <a:xfrm>
            <a:off x="5233797" y="5337965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Shampoos &amp; Cleansing Products</a:t>
            </a:r>
          </a:p>
        </p:txBody>
      </p:sp>
      <p:sp>
        <p:nvSpPr>
          <p:cNvPr id="39" name="BPS Value 6"/>
          <p:cNvSpPr txBox="1"/>
          <p:nvPr/>
        </p:nvSpPr>
        <p:spPr>
          <a:xfrm>
            <a:off x="6896100" y="5399877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40" name="Rounded Rectangle 39"/>
          <p:cNvSpPr/>
          <p:nvPr/>
        </p:nvSpPr>
        <p:spPr>
          <a:xfrm>
            <a:off x="7696200" y="981075"/>
            <a:ext cx="4343400" cy="5648325"/>
          </a:xfrm>
          <a:prstGeom prst="roundRect">
            <a:avLst>
              <a:gd name="adj" fmla="val 17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TextBox 40"/>
          <p:cNvSpPr txBox="1"/>
          <p:nvPr/>
        </p:nvSpPr>
        <p:spPr>
          <a:xfrm>
            <a:off x="7829550" y="1066800"/>
            <a:ext cx="4076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Read-out, By Product Type</a:t>
            </a:r>
          </a:p>
        </p:txBody>
      </p:sp>
      <p:sp>
        <p:nvSpPr>
          <p:cNvPr id="42" name="Rectangle 41"/>
          <p:cNvSpPr/>
          <p:nvPr/>
        </p:nvSpPr>
        <p:spPr>
          <a:xfrm>
            <a:off x="7829550" y="1304925"/>
            <a:ext cx="40767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7829550" y="1390650"/>
            <a:ext cx="4076700" cy="5162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2E7D32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E44D3A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57843" y="3833622"/>
            <a:ext cx="275034" cy="400050"/>
          </a:xfrm>
          <a:prstGeom prst="rect">
            <a:avLst/>
          </a:prstGeom>
        </p:spPr>
      </p:pic>
      <p:sp>
        <p:nvSpPr>
          <p:cNvPr id="46" name="TextBox 45"/>
          <p:cNvSpPr txBox="1"/>
          <p:nvPr/>
        </p:nvSpPr>
        <p:spPr>
          <a:xfrm>
            <a:off x="7829550" y="1400175"/>
            <a:ext cx="35046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 Products' gains the most share +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283370" y="1389951"/>
            <a:ext cx="134549" cy="195707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11458479" y="1400175"/>
            <a:ext cx="2984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7829550" y="1575435"/>
            <a:ext cx="287168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between 2026 and 2036 (</a:t>
            </a:r>
            <a:r>
              <a:rPr sz="1150" b="0">
                <a:solidFill>
                  <a:srgbClr val="2E7D32"/>
                </a:solidFill>
                <a:latin typeface="Calibri"/>
              </a:rPr>
              <a:t>green ▲</a:t>
            </a:r>
            <a:r>
              <a:rPr sz="1150" b="0">
                <a:solidFill>
                  <a:srgbClr val="2E2E2E"/>
                </a:solidFill>
                <a:latin typeface="Calibri"/>
              </a:rPr>
              <a:t> on the scale).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7829550" y="1803273"/>
            <a:ext cx="362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'Coat Conditioning &amp; Grooming Products' cedes the most -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402321" y="1793049"/>
            <a:ext cx="134549" cy="195707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11577430" y="1803273"/>
            <a:ext cx="2984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7829550" y="1978533"/>
            <a:ext cx="18961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over the same window (</a:t>
            </a:r>
            <a:r>
              <a:rPr sz="1150" b="0">
                <a:solidFill>
                  <a:srgbClr val="E44D3A"/>
                </a:solidFill>
                <a:latin typeface="Calibri"/>
              </a:rPr>
              <a:t>red ▼</a:t>
            </a:r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7829550" y="2206371"/>
            <a:ext cx="394994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 Products' is the fastest-growing product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7829550" y="2381631"/>
            <a:ext cx="49295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type at</a:t>
            </a:r>
          </a:p>
        </p:txBody>
      </p:sp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271659" y="2371407"/>
            <a:ext cx="134549" cy="195707"/>
          </a:xfrm>
          <a:prstGeom prst="rect">
            <a:avLst/>
          </a:prstGeom>
        </p:spPr>
      </p:pic>
      <p:sp>
        <p:nvSpPr>
          <p:cNvPr id="57" name="TextBox 56"/>
          <p:cNvSpPr txBox="1"/>
          <p:nvPr/>
        </p:nvSpPr>
        <p:spPr>
          <a:xfrm>
            <a:off x="8446769" y="2381631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7829550" y="2609469"/>
            <a:ext cx="15489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climbs from</a:t>
            </a:r>
          </a:p>
        </p:txBody>
      </p:sp>
      <p:pic>
        <p:nvPicPr>
          <p:cNvPr id="59" name="Picture 5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27669" y="2599245"/>
            <a:ext cx="134549" cy="195707"/>
          </a:xfrm>
          <a:prstGeom prst="rect">
            <a:avLst/>
          </a:prstGeom>
        </p:spPr>
      </p:pic>
      <p:sp>
        <p:nvSpPr>
          <p:cNvPr id="60" name="TextBox 59"/>
          <p:cNvSpPr txBox="1"/>
          <p:nvPr/>
        </p:nvSpPr>
        <p:spPr>
          <a:xfrm>
            <a:off x="9502779" y="2609469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61" name="Picture 6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54215" y="2599245"/>
            <a:ext cx="134549" cy="195707"/>
          </a:xfrm>
          <a:prstGeom prst="rect">
            <a:avLst/>
          </a:prstGeom>
        </p:spPr>
      </p:pic>
      <p:sp>
        <p:nvSpPr>
          <p:cNvPr id="62" name="TextBox 61"/>
          <p:cNvSpPr txBox="1"/>
          <p:nvPr/>
        </p:nvSpPr>
        <p:spPr>
          <a:xfrm>
            <a:off x="9829324" y="2609469"/>
            <a:ext cx="1689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2021–2036.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7829550" y="2837307"/>
            <a:ext cx="39325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Bars show the value mix at each snapshot; the scale shows how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7829550" y="3012566"/>
            <a:ext cx="11772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each share moves.</a:t>
            </a:r>
          </a:p>
        </p:txBody>
      </p:sp>
      <p:sp>
        <p:nvSpPr>
          <p:cNvPr id="65" name="lockshield_13"/>
          <p:cNvSpPr/>
          <p:nvPr/>
        </p:nvSpPr>
        <p:spPr>
          <a:xfrm>
            <a:off x="238125" y="1581150"/>
            <a:ext cx="4614672" cy="49911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6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Europe Market Volume, By Product Type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Product Type,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190750"/>
          </a:xfrm>
          <a:prstGeom prst="roundRect">
            <a:avLst>
              <a:gd name="adj" fmla="val 34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 YoY Growth, By Product Type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7" cy="172402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716027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9718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305175"/>
            <a:ext cx="11906250" cy="3324225"/>
          </a:xfrm>
          <a:prstGeom prst="roundRect">
            <a:avLst>
              <a:gd name="adj" fmla="val 229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3623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 YoY Heatmap, By Product Type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733800"/>
            <a:ext cx="1590675" cy="4730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Shampoos &amp; Cleansing Products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733800"/>
            <a:ext cx="643890" cy="473075"/>
          </a:xfrm>
          <a:prstGeom prst="rect">
            <a:avLst/>
          </a:prstGeom>
          <a:solidFill>
            <a:srgbClr val="60A1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3733800"/>
            <a:ext cx="643890" cy="473075"/>
          </a:xfrm>
          <a:prstGeom prst="rect">
            <a:avLst/>
          </a:prstGeom>
          <a:solidFill>
            <a:srgbClr val="97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3733800"/>
            <a:ext cx="643890" cy="473075"/>
          </a:xfrm>
          <a:prstGeom prst="rect">
            <a:avLst/>
          </a:prstGeom>
          <a:solidFill>
            <a:srgbClr val="91BC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3733800"/>
            <a:ext cx="643890" cy="473075"/>
          </a:xfrm>
          <a:prstGeom prst="rect">
            <a:avLst/>
          </a:prstGeom>
          <a:solidFill>
            <a:srgbClr val="76AD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3733800"/>
            <a:ext cx="643890" cy="473075"/>
          </a:xfrm>
          <a:prstGeom prst="rect">
            <a:avLst/>
          </a:prstGeom>
          <a:solidFill>
            <a:srgbClr val="0D5D8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3733800"/>
            <a:ext cx="643890" cy="473075"/>
          </a:xfrm>
          <a:prstGeom prst="rect">
            <a:avLst/>
          </a:prstGeom>
          <a:solidFill>
            <a:srgbClr val="0D629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3733800"/>
            <a:ext cx="643890" cy="473075"/>
          </a:xfrm>
          <a:prstGeom prst="rect">
            <a:avLst/>
          </a:prstGeom>
          <a:solidFill>
            <a:srgbClr val="0C3B5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3733800"/>
            <a:ext cx="643890" cy="473075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3733800"/>
            <a:ext cx="643890" cy="473075"/>
          </a:xfrm>
          <a:prstGeom prst="rect">
            <a:avLst/>
          </a:prstGeom>
          <a:solidFill>
            <a:srgbClr val="1174B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3733800"/>
            <a:ext cx="643890" cy="473075"/>
          </a:xfrm>
          <a:prstGeom prst="rect">
            <a:avLst/>
          </a:prstGeom>
          <a:solidFill>
            <a:srgbClr val="0D649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3733800"/>
            <a:ext cx="643890" cy="473075"/>
          </a:xfrm>
          <a:prstGeom prst="rect">
            <a:avLst/>
          </a:prstGeom>
          <a:solidFill>
            <a:srgbClr val="0D5D8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3733800"/>
            <a:ext cx="643890" cy="473075"/>
          </a:xfrm>
          <a:prstGeom prst="rect">
            <a:avLst/>
          </a:prstGeom>
          <a:solidFill>
            <a:srgbClr val="0C3E6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3733800"/>
            <a:ext cx="643890" cy="473075"/>
          </a:xfrm>
          <a:prstGeom prst="rect">
            <a:avLst/>
          </a:prstGeom>
          <a:solidFill>
            <a:srgbClr val="0D578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3733800"/>
            <a:ext cx="643890" cy="473075"/>
          </a:xfrm>
          <a:prstGeom prst="rect">
            <a:avLst/>
          </a:prstGeom>
          <a:solidFill>
            <a:srgbClr val="0C507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3733800"/>
            <a:ext cx="643890" cy="473075"/>
          </a:xfrm>
          <a:prstGeom prst="rect">
            <a:avLst/>
          </a:prstGeom>
          <a:solidFill>
            <a:srgbClr val="0C4E7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206875"/>
            <a:ext cx="1590675" cy="4730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Coat Conditioning &amp; Grooming Products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206875"/>
            <a:ext cx="643890" cy="473075"/>
          </a:xfrm>
          <a:prstGeom prst="rect">
            <a:avLst/>
          </a:prstGeom>
          <a:solidFill>
            <a:srgbClr val="F1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206875"/>
            <a:ext cx="643890" cy="473075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206875"/>
            <a:ext cx="643890" cy="473075"/>
          </a:xfrm>
          <a:prstGeom prst="rect">
            <a:avLst/>
          </a:prstGeom>
          <a:solidFill>
            <a:srgbClr val="FD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206875"/>
            <a:ext cx="643890" cy="473075"/>
          </a:xfrm>
          <a:prstGeom prst="rect">
            <a:avLst/>
          </a:prstGeom>
          <a:solidFill>
            <a:srgbClr val="F5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206875"/>
            <a:ext cx="643890" cy="473075"/>
          </a:xfrm>
          <a:prstGeom prst="rect">
            <a:avLst/>
          </a:prstGeom>
          <a:solidFill>
            <a:srgbClr val="ACCB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206875"/>
            <a:ext cx="643890" cy="473075"/>
          </a:xfrm>
          <a:prstGeom prst="rect">
            <a:avLst/>
          </a:prstGeom>
          <a:solidFill>
            <a:srgbClr val="B9D3E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206875"/>
            <a:ext cx="643890" cy="473075"/>
          </a:xfrm>
          <a:prstGeom prst="rect">
            <a:avLst/>
          </a:prstGeom>
          <a:solidFill>
            <a:srgbClr val="97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206875"/>
            <a:ext cx="643890" cy="473075"/>
          </a:xfrm>
          <a:prstGeom prst="rect">
            <a:avLst/>
          </a:prstGeom>
          <a:solidFill>
            <a:srgbClr val="93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206875"/>
            <a:ext cx="643890" cy="473075"/>
          </a:xfrm>
          <a:prstGeom prst="rect">
            <a:avLst/>
          </a:prstGeom>
          <a:solidFill>
            <a:srgbClr val="B2CFE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206875"/>
            <a:ext cx="643890" cy="473075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206875"/>
            <a:ext cx="643890" cy="473075"/>
          </a:xfrm>
          <a:prstGeom prst="rect">
            <a:avLst/>
          </a:prstGeom>
          <a:solidFill>
            <a:srgbClr val="A1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206875"/>
            <a:ext cx="643890" cy="473075"/>
          </a:xfrm>
          <a:prstGeom prst="rect">
            <a:avLst/>
          </a:prstGeom>
          <a:solidFill>
            <a:srgbClr val="94BE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206875"/>
            <a:ext cx="643890" cy="473075"/>
          </a:xfrm>
          <a:prstGeom prst="rect">
            <a:avLst/>
          </a:prstGeom>
          <a:solidFill>
            <a:srgbClr val="93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206875"/>
            <a:ext cx="643890" cy="473075"/>
          </a:xfrm>
          <a:prstGeom prst="rect">
            <a:avLst/>
          </a:prstGeom>
          <a:solidFill>
            <a:srgbClr val="99C1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206875"/>
            <a:ext cx="643890" cy="473075"/>
          </a:xfrm>
          <a:prstGeom prst="rect">
            <a:avLst/>
          </a:prstGeom>
          <a:solidFill>
            <a:srgbClr val="93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4679950"/>
            <a:ext cx="1590675" cy="4730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Skin, Paw &amp; Nose Care Products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4679950"/>
            <a:ext cx="643890" cy="473075"/>
          </a:xfrm>
          <a:prstGeom prst="rect">
            <a:avLst/>
          </a:prstGeom>
          <a:solidFill>
            <a:srgbClr val="DAE9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4679950"/>
            <a:ext cx="643890" cy="473075"/>
          </a:xfrm>
          <a:prstGeom prst="rect">
            <a:avLst/>
          </a:prstGeom>
          <a:solidFill>
            <a:srgbClr val="EA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4679950"/>
            <a:ext cx="643890" cy="473075"/>
          </a:xfrm>
          <a:prstGeom prst="rect">
            <a:avLst/>
          </a:prstGeom>
          <a:solidFill>
            <a:srgbClr val="E6F3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4679950"/>
            <a:ext cx="643890" cy="473075"/>
          </a:xfrm>
          <a:prstGeom prst="rect">
            <a:avLst/>
          </a:prstGeom>
          <a:solidFill>
            <a:srgbClr val="E3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4679950"/>
            <a:ext cx="643890" cy="473075"/>
          </a:xfrm>
          <a:prstGeom prst="rect">
            <a:avLst/>
          </a:prstGeom>
          <a:solidFill>
            <a:srgbClr val="80B3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4679950"/>
            <a:ext cx="643890" cy="473075"/>
          </a:xfrm>
          <a:prstGeom prst="rect">
            <a:avLst/>
          </a:prstGeom>
          <a:solidFill>
            <a:srgbClr val="92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4679950"/>
            <a:ext cx="643890" cy="473075"/>
          </a:xfrm>
          <a:prstGeom prst="rect">
            <a:avLst/>
          </a:prstGeom>
          <a:solidFill>
            <a:srgbClr val="5B9F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4679950"/>
            <a:ext cx="643890" cy="473075"/>
          </a:xfrm>
          <a:prstGeom prst="rect">
            <a:avLst/>
          </a:prstGeom>
          <a:solidFill>
            <a:srgbClr val="539B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4679950"/>
            <a:ext cx="643890" cy="473075"/>
          </a:xfrm>
          <a:prstGeom prst="rect">
            <a:avLst/>
          </a:prstGeom>
          <a:solidFill>
            <a:srgbClr val="8E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4679950"/>
            <a:ext cx="643890" cy="473075"/>
          </a:xfrm>
          <a:prstGeom prst="rect">
            <a:avLst/>
          </a:prstGeom>
          <a:solidFill>
            <a:srgbClr val="7EB2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4679950"/>
            <a:ext cx="643890" cy="473075"/>
          </a:xfrm>
          <a:prstGeom prst="rect">
            <a:avLst/>
          </a:prstGeom>
          <a:solidFill>
            <a:srgbClr val="69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4679950"/>
            <a:ext cx="643890" cy="473075"/>
          </a:xfrm>
          <a:prstGeom prst="rect">
            <a:avLst/>
          </a:prstGeom>
          <a:solidFill>
            <a:srgbClr val="62A3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4679950"/>
            <a:ext cx="643890" cy="473075"/>
          </a:xfrm>
          <a:prstGeom prst="rect">
            <a:avLst/>
          </a:prstGeom>
          <a:solidFill>
            <a:srgbClr val="529A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4679950"/>
            <a:ext cx="643890" cy="473075"/>
          </a:xfrm>
          <a:prstGeom prst="rect">
            <a:avLst/>
          </a:prstGeom>
          <a:solidFill>
            <a:srgbClr val="5C9F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4679950"/>
            <a:ext cx="643890" cy="473075"/>
          </a:xfrm>
          <a:prstGeom prst="rect">
            <a:avLst/>
          </a:prstGeom>
          <a:solidFill>
            <a:srgbClr val="5FA1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238125" y="5153025"/>
            <a:ext cx="1590675" cy="4730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Ear &amp; Eye Hygiene Products</a:t>
            </a:r>
          </a:p>
        </p:txBody>
      </p:sp>
      <p:sp>
        <p:nvSpPr>
          <p:cNvPr id="81" name="Rectangle 80"/>
          <p:cNvSpPr/>
          <p:nvPr/>
        </p:nvSpPr>
        <p:spPr>
          <a:xfrm>
            <a:off x="1857375" y="5153025"/>
            <a:ext cx="643890" cy="473075"/>
          </a:xfrm>
          <a:prstGeom prst="rect">
            <a:avLst/>
          </a:prstGeom>
          <a:solidFill>
            <a:srgbClr val="D0E1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2501265" y="5153025"/>
            <a:ext cx="643890" cy="473075"/>
          </a:xfrm>
          <a:prstGeom prst="rect">
            <a:avLst/>
          </a:prstGeom>
          <a:solidFill>
            <a:srgbClr val="DE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3145155" y="5153025"/>
            <a:ext cx="643890" cy="473075"/>
          </a:xfrm>
          <a:prstGeom prst="rect">
            <a:avLst/>
          </a:prstGeom>
          <a:solidFill>
            <a:srgbClr val="DDEC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3789045" y="5153025"/>
            <a:ext cx="643890" cy="473075"/>
          </a:xfrm>
          <a:prstGeom prst="rect">
            <a:avLst/>
          </a:prstGeom>
          <a:solidFill>
            <a:srgbClr val="D3E3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4432935" y="5153025"/>
            <a:ext cx="643890" cy="473075"/>
          </a:xfrm>
          <a:prstGeom prst="rect">
            <a:avLst/>
          </a:prstGeom>
          <a:solidFill>
            <a:srgbClr val="61A2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5076825" y="5153025"/>
            <a:ext cx="643890" cy="473075"/>
          </a:xfrm>
          <a:prstGeom prst="rect">
            <a:avLst/>
          </a:prstGeom>
          <a:solidFill>
            <a:srgbClr val="73AC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5720715" y="5153025"/>
            <a:ext cx="643890" cy="473075"/>
          </a:xfrm>
          <a:prstGeom prst="rect">
            <a:avLst/>
          </a:prstGeom>
          <a:solidFill>
            <a:srgbClr val="3F90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6364605" y="5153025"/>
            <a:ext cx="643890" cy="473075"/>
          </a:xfrm>
          <a:prstGeom prst="rect">
            <a:avLst/>
          </a:prstGeom>
          <a:solidFill>
            <a:srgbClr val="3A8D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7008495" y="5153025"/>
            <a:ext cx="643890" cy="473075"/>
          </a:xfrm>
          <a:prstGeom prst="rect">
            <a:avLst/>
          </a:prstGeom>
          <a:solidFill>
            <a:srgbClr val="6B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7652385" y="5153025"/>
            <a:ext cx="643890" cy="473075"/>
          </a:xfrm>
          <a:prstGeom prst="rect">
            <a:avLst/>
          </a:prstGeom>
          <a:solidFill>
            <a:srgbClr val="589D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8296275" y="5153025"/>
            <a:ext cx="643890" cy="473075"/>
          </a:xfrm>
          <a:prstGeom prst="rect">
            <a:avLst/>
          </a:prstGeom>
          <a:solidFill>
            <a:srgbClr val="4A96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8940165" y="5153025"/>
            <a:ext cx="643890" cy="473075"/>
          </a:xfrm>
          <a:prstGeom prst="rect">
            <a:avLst/>
          </a:prstGeom>
          <a:solidFill>
            <a:srgbClr val="38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9584055" y="5153025"/>
            <a:ext cx="643890" cy="473075"/>
          </a:xfrm>
          <a:prstGeom prst="rect">
            <a:avLst/>
          </a:prstGeom>
          <a:solidFill>
            <a:srgbClr val="39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0227945" y="5153025"/>
            <a:ext cx="643890" cy="473075"/>
          </a:xfrm>
          <a:prstGeom prst="rect">
            <a:avLst/>
          </a:prstGeom>
          <a:solidFill>
            <a:srgbClr val="3B8DC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0871835" y="5153025"/>
            <a:ext cx="643890" cy="473075"/>
          </a:xfrm>
          <a:prstGeom prst="rect">
            <a:avLst/>
          </a:prstGeom>
          <a:solidFill>
            <a:srgbClr val="388C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238125" y="5626100"/>
            <a:ext cx="1590675" cy="4730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Dental &amp; Oral Care Products</a:t>
            </a:r>
          </a:p>
        </p:txBody>
      </p:sp>
      <p:sp>
        <p:nvSpPr>
          <p:cNvPr id="97" name="Rectangle 96"/>
          <p:cNvSpPr/>
          <p:nvPr/>
        </p:nvSpPr>
        <p:spPr>
          <a:xfrm>
            <a:off x="1857375" y="5626100"/>
            <a:ext cx="643890" cy="473075"/>
          </a:xfrm>
          <a:prstGeom prst="rect">
            <a:avLst/>
          </a:prstGeom>
          <a:solidFill>
            <a:srgbClr val="9EC4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2501265" y="5626100"/>
            <a:ext cx="643890" cy="473075"/>
          </a:xfrm>
          <a:prstGeom prst="rect">
            <a:avLst/>
          </a:prstGeom>
          <a:solidFill>
            <a:srgbClr val="C0D7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3145155" y="5626100"/>
            <a:ext cx="643890" cy="473075"/>
          </a:xfrm>
          <a:prstGeom prst="rect">
            <a:avLst/>
          </a:prstGeom>
          <a:solidFill>
            <a:srgbClr val="BBD4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3789045" y="5626100"/>
            <a:ext cx="643890" cy="473075"/>
          </a:xfrm>
          <a:prstGeom prst="rect">
            <a:avLst/>
          </a:prstGeom>
          <a:solidFill>
            <a:srgbClr val="A8C9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4432935" y="5626100"/>
            <a:ext cx="643890" cy="473075"/>
          </a:xfrm>
          <a:prstGeom prst="rect">
            <a:avLst/>
          </a:prstGeom>
          <a:solidFill>
            <a:srgbClr val="2681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5076825" y="5626100"/>
            <a:ext cx="643890" cy="473075"/>
          </a:xfrm>
          <a:prstGeom prst="rect">
            <a:avLst/>
          </a:prstGeom>
          <a:solidFill>
            <a:srgbClr val="2D85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5720715" y="5626100"/>
            <a:ext cx="643890" cy="473075"/>
          </a:xfrm>
          <a:prstGeom prst="rect">
            <a:avLst/>
          </a:prstGeom>
          <a:solidFill>
            <a:srgbClr val="10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6364605" y="5626100"/>
            <a:ext cx="643890" cy="473075"/>
          </a:xfrm>
          <a:prstGeom prst="rect">
            <a:avLst/>
          </a:prstGeom>
          <a:solidFill>
            <a:srgbClr val="0E6BA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7008495" y="5626100"/>
            <a:ext cx="643890" cy="473075"/>
          </a:xfrm>
          <a:prstGeom prst="rect">
            <a:avLst/>
          </a:prstGeom>
          <a:solidFill>
            <a:srgbClr val="3187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7652385" y="5626100"/>
            <a:ext cx="643890" cy="473075"/>
          </a:xfrm>
          <a:prstGeom prst="rect">
            <a:avLst/>
          </a:prstGeom>
          <a:solidFill>
            <a:srgbClr val="2680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8296275" y="5626100"/>
            <a:ext cx="643890" cy="473075"/>
          </a:xfrm>
          <a:prstGeom prst="rect">
            <a:avLst/>
          </a:prstGeom>
          <a:solidFill>
            <a:srgbClr val="1F7C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8940165" y="5626100"/>
            <a:ext cx="643890" cy="473075"/>
          </a:xfrm>
          <a:prstGeom prst="rect">
            <a:avLst/>
          </a:prstGeom>
          <a:solidFill>
            <a:srgbClr val="0E70A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9584055" y="5626100"/>
            <a:ext cx="643890" cy="473075"/>
          </a:xfrm>
          <a:prstGeom prst="rect">
            <a:avLst/>
          </a:prstGeom>
          <a:solidFill>
            <a:srgbClr val="17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0227945" y="5626100"/>
            <a:ext cx="643890" cy="473075"/>
          </a:xfrm>
          <a:prstGeom prst="rect">
            <a:avLst/>
          </a:prstGeom>
          <a:solidFill>
            <a:srgbClr val="15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0871835" y="5626100"/>
            <a:ext cx="643890" cy="473075"/>
          </a:xfrm>
          <a:prstGeom prst="rect">
            <a:avLst/>
          </a:prstGeom>
          <a:solidFill>
            <a:srgbClr val="1375B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238125" y="6099175"/>
            <a:ext cx="1590675" cy="4730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Fragrance &amp; Deodorizing Products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857375" y="6099175"/>
            <a:ext cx="643890" cy="473075"/>
          </a:xfrm>
          <a:prstGeom prst="rect">
            <a:avLst/>
          </a:prstGeom>
          <a:solidFill>
            <a:srgbClr val="D9E9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2501265" y="6099175"/>
            <a:ext cx="643890" cy="473075"/>
          </a:xfrm>
          <a:prstGeom prst="rect">
            <a:avLst/>
          </a:prstGeom>
          <a:solidFill>
            <a:srgbClr val="EB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3145155" y="6099175"/>
            <a:ext cx="643890" cy="473075"/>
          </a:xfrm>
          <a:prstGeom prst="rect">
            <a:avLst/>
          </a:prstGeom>
          <a:solidFill>
            <a:srgbClr val="E8F5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3789045" y="6099175"/>
            <a:ext cx="643890" cy="473075"/>
          </a:xfrm>
          <a:prstGeom prst="rect">
            <a:avLst/>
          </a:prstGeom>
          <a:solidFill>
            <a:srgbClr val="DE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4432935" y="6099175"/>
            <a:ext cx="643890" cy="473075"/>
          </a:xfrm>
          <a:prstGeom prst="rect">
            <a:avLst/>
          </a:prstGeom>
          <a:solidFill>
            <a:srgbClr val="88B7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5076825" y="6099175"/>
            <a:ext cx="643890" cy="473075"/>
          </a:xfrm>
          <a:prstGeom prst="rect">
            <a:avLst/>
          </a:prstGeom>
          <a:solidFill>
            <a:srgbClr val="93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5720715" y="6099175"/>
            <a:ext cx="643890" cy="473075"/>
          </a:xfrm>
          <a:prstGeom prst="rect">
            <a:avLst/>
          </a:prstGeom>
          <a:solidFill>
            <a:srgbClr val="65A4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6364605" y="6099175"/>
            <a:ext cx="643890" cy="473075"/>
          </a:xfrm>
          <a:prstGeom prst="rect">
            <a:avLst/>
          </a:prstGeom>
          <a:solidFill>
            <a:srgbClr val="5C9F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7008495" y="6099175"/>
            <a:ext cx="643890" cy="473075"/>
          </a:xfrm>
          <a:prstGeom prst="rect">
            <a:avLst/>
          </a:prstGeom>
          <a:solidFill>
            <a:srgbClr val="8F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7652385" y="6099175"/>
            <a:ext cx="643890" cy="473075"/>
          </a:xfrm>
          <a:prstGeom prst="rect">
            <a:avLst/>
          </a:prstGeom>
          <a:solidFill>
            <a:srgbClr val="81B4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Rectangle 122"/>
          <p:cNvSpPr/>
          <p:nvPr/>
        </p:nvSpPr>
        <p:spPr>
          <a:xfrm>
            <a:off x="8296275" y="6099175"/>
            <a:ext cx="643890" cy="473075"/>
          </a:xfrm>
          <a:prstGeom prst="rect">
            <a:avLst/>
          </a:prstGeom>
          <a:solidFill>
            <a:srgbClr val="78AF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Rectangle 123"/>
          <p:cNvSpPr/>
          <p:nvPr/>
        </p:nvSpPr>
        <p:spPr>
          <a:xfrm>
            <a:off x="8940165" y="6099175"/>
            <a:ext cx="643890" cy="473075"/>
          </a:xfrm>
          <a:prstGeom prst="rect">
            <a:avLst/>
          </a:prstGeom>
          <a:solidFill>
            <a:srgbClr val="589D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9584055" y="6099175"/>
            <a:ext cx="643890" cy="473075"/>
          </a:xfrm>
          <a:prstGeom prst="rect">
            <a:avLst/>
          </a:prstGeom>
          <a:solidFill>
            <a:srgbClr val="65A4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10227945" y="6099175"/>
            <a:ext cx="643890" cy="473075"/>
          </a:xfrm>
          <a:prstGeom prst="rect">
            <a:avLst/>
          </a:prstGeom>
          <a:solidFill>
            <a:srgbClr val="63A3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10871835" y="6099175"/>
            <a:ext cx="643890" cy="473075"/>
          </a:xfrm>
          <a:prstGeom prst="rect">
            <a:avLst/>
          </a:prstGeom>
          <a:solidFill>
            <a:srgbClr val="60A1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Rectangle 127"/>
          <p:cNvSpPr/>
          <p:nvPr/>
        </p:nvSpPr>
        <p:spPr>
          <a:xfrm>
            <a:off x="11572875" y="3771900"/>
            <a:ext cx="104775" cy="76676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Rectangle 128"/>
          <p:cNvSpPr/>
          <p:nvPr/>
        </p:nvSpPr>
        <p:spPr>
          <a:xfrm>
            <a:off x="11572875" y="3840956"/>
            <a:ext cx="104775" cy="76676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11572875" y="3910012"/>
            <a:ext cx="104775" cy="76676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11572875" y="3979069"/>
            <a:ext cx="104775" cy="76676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11572875" y="4048125"/>
            <a:ext cx="104775" cy="76676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11572875" y="4117181"/>
            <a:ext cx="104775" cy="76676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11572875" y="4186238"/>
            <a:ext cx="104775" cy="76676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11572875" y="4255294"/>
            <a:ext cx="104775" cy="76676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11572875" y="4324350"/>
            <a:ext cx="104775" cy="76676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Rectangle 136"/>
          <p:cNvSpPr/>
          <p:nvPr/>
        </p:nvSpPr>
        <p:spPr>
          <a:xfrm>
            <a:off x="11572875" y="4393406"/>
            <a:ext cx="104775" cy="76676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Rectangle 137"/>
          <p:cNvSpPr/>
          <p:nvPr/>
        </p:nvSpPr>
        <p:spPr>
          <a:xfrm>
            <a:off x="11572875" y="4462462"/>
            <a:ext cx="104775" cy="76676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Rectangle 138"/>
          <p:cNvSpPr/>
          <p:nvPr/>
        </p:nvSpPr>
        <p:spPr>
          <a:xfrm>
            <a:off x="11572875" y="4531519"/>
            <a:ext cx="104775" cy="76676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Rectangle 139"/>
          <p:cNvSpPr/>
          <p:nvPr/>
        </p:nvSpPr>
        <p:spPr>
          <a:xfrm>
            <a:off x="11572875" y="4600575"/>
            <a:ext cx="104775" cy="76676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Rectangle 140"/>
          <p:cNvSpPr/>
          <p:nvPr/>
        </p:nvSpPr>
        <p:spPr>
          <a:xfrm>
            <a:off x="11572875" y="4669631"/>
            <a:ext cx="104775" cy="76676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Rectangle 141"/>
          <p:cNvSpPr/>
          <p:nvPr/>
        </p:nvSpPr>
        <p:spPr>
          <a:xfrm>
            <a:off x="11572875" y="4738688"/>
            <a:ext cx="104775" cy="76676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Rectangle 142"/>
          <p:cNvSpPr/>
          <p:nvPr/>
        </p:nvSpPr>
        <p:spPr>
          <a:xfrm>
            <a:off x="11572875" y="4807744"/>
            <a:ext cx="104775" cy="76676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Rectangle 143"/>
          <p:cNvSpPr/>
          <p:nvPr/>
        </p:nvSpPr>
        <p:spPr>
          <a:xfrm>
            <a:off x="11572875" y="4876800"/>
            <a:ext cx="104775" cy="76676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5" name="Rectangle 144"/>
          <p:cNvSpPr/>
          <p:nvPr/>
        </p:nvSpPr>
        <p:spPr>
          <a:xfrm>
            <a:off x="11572875" y="4945856"/>
            <a:ext cx="104775" cy="76676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Rectangle 145"/>
          <p:cNvSpPr/>
          <p:nvPr/>
        </p:nvSpPr>
        <p:spPr>
          <a:xfrm>
            <a:off x="11572875" y="5014912"/>
            <a:ext cx="104775" cy="76676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Rectangle 146"/>
          <p:cNvSpPr/>
          <p:nvPr/>
        </p:nvSpPr>
        <p:spPr>
          <a:xfrm>
            <a:off x="11572875" y="5083969"/>
            <a:ext cx="104775" cy="76676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Rectangle 147"/>
          <p:cNvSpPr/>
          <p:nvPr/>
        </p:nvSpPr>
        <p:spPr>
          <a:xfrm>
            <a:off x="11572875" y="5153025"/>
            <a:ext cx="104775" cy="76676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Rectangle 148"/>
          <p:cNvSpPr/>
          <p:nvPr/>
        </p:nvSpPr>
        <p:spPr>
          <a:xfrm>
            <a:off x="11572875" y="5222081"/>
            <a:ext cx="104775" cy="76676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Rectangle 149"/>
          <p:cNvSpPr/>
          <p:nvPr/>
        </p:nvSpPr>
        <p:spPr>
          <a:xfrm>
            <a:off x="11572875" y="5291138"/>
            <a:ext cx="104775" cy="76676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Rectangle 150"/>
          <p:cNvSpPr/>
          <p:nvPr/>
        </p:nvSpPr>
        <p:spPr>
          <a:xfrm>
            <a:off x="11572875" y="5360194"/>
            <a:ext cx="104775" cy="76676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Rectangle 151"/>
          <p:cNvSpPr/>
          <p:nvPr/>
        </p:nvSpPr>
        <p:spPr>
          <a:xfrm>
            <a:off x="11572875" y="5429250"/>
            <a:ext cx="104775" cy="76676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Rectangle 152"/>
          <p:cNvSpPr/>
          <p:nvPr/>
        </p:nvSpPr>
        <p:spPr>
          <a:xfrm>
            <a:off x="11572875" y="5498306"/>
            <a:ext cx="104775" cy="76676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Rectangle 153"/>
          <p:cNvSpPr/>
          <p:nvPr/>
        </p:nvSpPr>
        <p:spPr>
          <a:xfrm>
            <a:off x="11572875" y="5567362"/>
            <a:ext cx="104775" cy="76676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5" name="Rectangle 154"/>
          <p:cNvSpPr/>
          <p:nvPr/>
        </p:nvSpPr>
        <p:spPr>
          <a:xfrm>
            <a:off x="11572875" y="5636419"/>
            <a:ext cx="104775" cy="76676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Rectangle 155"/>
          <p:cNvSpPr/>
          <p:nvPr/>
        </p:nvSpPr>
        <p:spPr>
          <a:xfrm>
            <a:off x="11572875" y="5705475"/>
            <a:ext cx="104775" cy="76676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Rectangle 156"/>
          <p:cNvSpPr/>
          <p:nvPr/>
        </p:nvSpPr>
        <p:spPr>
          <a:xfrm>
            <a:off x="11572875" y="5774531"/>
            <a:ext cx="104775" cy="76676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Rectangle 157"/>
          <p:cNvSpPr/>
          <p:nvPr/>
        </p:nvSpPr>
        <p:spPr>
          <a:xfrm>
            <a:off x="11572875" y="5843588"/>
            <a:ext cx="104775" cy="76676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Rectangle 158"/>
          <p:cNvSpPr/>
          <p:nvPr/>
        </p:nvSpPr>
        <p:spPr>
          <a:xfrm>
            <a:off x="11572875" y="5912644"/>
            <a:ext cx="104775" cy="76676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Rectangle 159"/>
          <p:cNvSpPr/>
          <p:nvPr/>
        </p:nvSpPr>
        <p:spPr>
          <a:xfrm>
            <a:off x="11572875" y="5981700"/>
            <a:ext cx="104775" cy="76676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1" name="Rectangle 160"/>
          <p:cNvSpPr/>
          <p:nvPr/>
        </p:nvSpPr>
        <p:spPr>
          <a:xfrm>
            <a:off x="11572875" y="6050756"/>
            <a:ext cx="104775" cy="76676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Rectangle 161"/>
          <p:cNvSpPr/>
          <p:nvPr/>
        </p:nvSpPr>
        <p:spPr>
          <a:xfrm>
            <a:off x="11572875" y="6119812"/>
            <a:ext cx="104775" cy="76676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3" name="Rectangle 162"/>
          <p:cNvSpPr/>
          <p:nvPr/>
        </p:nvSpPr>
        <p:spPr>
          <a:xfrm>
            <a:off x="11572875" y="6188869"/>
            <a:ext cx="104775" cy="76676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Rectangle 163"/>
          <p:cNvSpPr/>
          <p:nvPr/>
        </p:nvSpPr>
        <p:spPr>
          <a:xfrm>
            <a:off x="11572875" y="6257925"/>
            <a:ext cx="104775" cy="76676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5" name="Rectangle 164"/>
          <p:cNvSpPr/>
          <p:nvPr/>
        </p:nvSpPr>
        <p:spPr>
          <a:xfrm>
            <a:off x="11572875" y="6326981"/>
            <a:ext cx="104775" cy="76676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Rectangle 165"/>
          <p:cNvSpPr/>
          <p:nvPr/>
        </p:nvSpPr>
        <p:spPr>
          <a:xfrm>
            <a:off x="11572875" y="6396038"/>
            <a:ext cx="104775" cy="76676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7" name="Rectangle 166"/>
          <p:cNvSpPr/>
          <p:nvPr/>
        </p:nvSpPr>
        <p:spPr>
          <a:xfrm>
            <a:off x="11572875" y="6465094"/>
            <a:ext cx="104775" cy="76676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Rectangle 167"/>
          <p:cNvSpPr/>
          <p:nvPr/>
        </p:nvSpPr>
        <p:spPr>
          <a:xfrm>
            <a:off x="11572875" y="3771900"/>
            <a:ext cx="104775" cy="2762250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TextBox 168"/>
          <p:cNvSpPr txBox="1"/>
          <p:nvPr/>
        </p:nvSpPr>
        <p:spPr>
          <a:xfrm>
            <a:off x="11687175" y="370522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170" name="TextBox 169"/>
          <p:cNvSpPr txBox="1"/>
          <p:nvPr/>
        </p:nvSpPr>
        <p:spPr>
          <a:xfrm>
            <a:off x="11687175" y="508635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171" name="TextBox 170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4%</a:t>
            </a:r>
          </a:p>
        </p:txBody>
      </p:sp>
      <p:sp>
        <p:nvSpPr>
          <p:cNvPr id="172" name="TextBox 17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73" name="Picture 17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267326" y="1956627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6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Europe Market Value, By Product Type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Product Type,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190750"/>
          </a:xfrm>
          <a:prstGeom prst="roundRect">
            <a:avLst>
              <a:gd name="adj" fmla="val 34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YoY Growth, By Product Type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7" cy="172402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716027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9718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305175"/>
            <a:ext cx="11906250" cy="3324225"/>
          </a:xfrm>
          <a:prstGeom prst="roundRect">
            <a:avLst>
              <a:gd name="adj" fmla="val 229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3623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YoY Heatmap, By Product Type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733800"/>
            <a:ext cx="1590675" cy="4730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Shampoos &amp; Cleansing Products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733800"/>
            <a:ext cx="643890" cy="473075"/>
          </a:xfrm>
          <a:prstGeom prst="rect">
            <a:avLst/>
          </a:prstGeom>
          <a:solidFill>
            <a:srgbClr val="65A4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3733800"/>
            <a:ext cx="643890" cy="473075"/>
          </a:xfrm>
          <a:prstGeom prst="rect">
            <a:avLst/>
          </a:prstGeom>
          <a:solidFill>
            <a:srgbClr val="98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3733800"/>
            <a:ext cx="643890" cy="473075"/>
          </a:xfrm>
          <a:prstGeom prst="rect">
            <a:avLst/>
          </a:prstGeom>
          <a:solidFill>
            <a:srgbClr val="96BF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3733800"/>
            <a:ext cx="643890" cy="473075"/>
          </a:xfrm>
          <a:prstGeom prst="rect">
            <a:avLst/>
          </a:prstGeom>
          <a:solidFill>
            <a:srgbClr val="7DB1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3733800"/>
            <a:ext cx="643890" cy="473075"/>
          </a:xfrm>
          <a:prstGeom prst="rect">
            <a:avLst/>
          </a:prstGeom>
          <a:solidFill>
            <a:srgbClr val="0D598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3733800"/>
            <a:ext cx="643890" cy="473075"/>
          </a:xfrm>
          <a:prstGeom prst="rect">
            <a:avLst/>
          </a:prstGeom>
          <a:solidFill>
            <a:srgbClr val="0D669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3733800"/>
            <a:ext cx="643890" cy="473075"/>
          </a:xfrm>
          <a:prstGeom prst="rect">
            <a:avLst/>
          </a:prstGeom>
          <a:solidFill>
            <a:srgbClr val="0C3E6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3733800"/>
            <a:ext cx="643890" cy="473075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3733800"/>
            <a:ext cx="643890" cy="473075"/>
          </a:xfrm>
          <a:prstGeom prst="rect">
            <a:avLst/>
          </a:prstGeom>
          <a:solidFill>
            <a:srgbClr val="14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3733800"/>
            <a:ext cx="643890" cy="473075"/>
          </a:xfrm>
          <a:prstGeom prst="rect">
            <a:avLst/>
          </a:prstGeom>
          <a:solidFill>
            <a:srgbClr val="0D639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3733800"/>
            <a:ext cx="643890" cy="473075"/>
          </a:xfrm>
          <a:prstGeom prst="rect">
            <a:avLst/>
          </a:prstGeom>
          <a:solidFill>
            <a:srgbClr val="0D619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3733800"/>
            <a:ext cx="643890" cy="473075"/>
          </a:xfrm>
          <a:prstGeom prst="rect">
            <a:avLst/>
          </a:prstGeom>
          <a:solidFill>
            <a:srgbClr val="0C456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3733800"/>
            <a:ext cx="643890" cy="473075"/>
          </a:xfrm>
          <a:prstGeom prst="rect">
            <a:avLst/>
          </a:prstGeom>
          <a:solidFill>
            <a:srgbClr val="0D598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3733800"/>
            <a:ext cx="643890" cy="473075"/>
          </a:xfrm>
          <a:prstGeom prst="rect">
            <a:avLst/>
          </a:prstGeom>
          <a:solidFill>
            <a:srgbClr val="0D538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3733800"/>
            <a:ext cx="643890" cy="473075"/>
          </a:xfrm>
          <a:prstGeom prst="rect">
            <a:avLst/>
          </a:prstGeom>
          <a:solidFill>
            <a:srgbClr val="0D548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206875"/>
            <a:ext cx="1590675" cy="4730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Coat Conditioning &amp; Grooming Products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206875"/>
            <a:ext cx="643890" cy="473075"/>
          </a:xfrm>
          <a:prstGeom prst="rect">
            <a:avLst/>
          </a:prstGeom>
          <a:solidFill>
            <a:srgbClr val="F1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206875"/>
            <a:ext cx="643890" cy="473075"/>
          </a:xfrm>
          <a:prstGeom prst="rect">
            <a:avLst/>
          </a:prstGeom>
          <a:solidFill>
            <a:srgbClr val="FE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206875"/>
            <a:ext cx="643890" cy="473075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206875"/>
            <a:ext cx="643890" cy="473075"/>
          </a:xfrm>
          <a:prstGeom prst="rect">
            <a:avLst/>
          </a:prstGeom>
          <a:solidFill>
            <a:srgbClr val="F7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206875"/>
            <a:ext cx="643890" cy="473075"/>
          </a:xfrm>
          <a:prstGeom prst="rect">
            <a:avLst/>
          </a:prstGeom>
          <a:solidFill>
            <a:srgbClr val="A9C9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206875"/>
            <a:ext cx="643890" cy="473075"/>
          </a:xfrm>
          <a:prstGeom prst="rect">
            <a:avLst/>
          </a:prstGeom>
          <a:solidFill>
            <a:srgbClr val="BCD4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206875"/>
            <a:ext cx="643890" cy="473075"/>
          </a:xfrm>
          <a:prstGeom prst="rect">
            <a:avLst/>
          </a:prstGeom>
          <a:solidFill>
            <a:srgbClr val="98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206875"/>
            <a:ext cx="643890" cy="473075"/>
          </a:xfrm>
          <a:prstGeom prst="rect">
            <a:avLst/>
          </a:prstGeom>
          <a:solidFill>
            <a:srgbClr val="92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206875"/>
            <a:ext cx="643890" cy="473075"/>
          </a:xfrm>
          <a:prstGeom prst="rect">
            <a:avLst/>
          </a:prstGeom>
          <a:solidFill>
            <a:srgbClr val="B4D0E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206875"/>
            <a:ext cx="643890" cy="473075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206875"/>
            <a:ext cx="643890" cy="473075"/>
          </a:xfrm>
          <a:prstGeom prst="rect">
            <a:avLst/>
          </a:prstGeom>
          <a:solidFill>
            <a:srgbClr val="A3C7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206875"/>
            <a:ext cx="643890" cy="473075"/>
          </a:xfrm>
          <a:prstGeom prst="rect">
            <a:avLst/>
          </a:prstGeom>
          <a:solidFill>
            <a:srgbClr val="98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206875"/>
            <a:ext cx="643890" cy="473075"/>
          </a:xfrm>
          <a:prstGeom prst="rect">
            <a:avLst/>
          </a:prstGeom>
          <a:solidFill>
            <a:srgbClr val="95BE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206875"/>
            <a:ext cx="643890" cy="473075"/>
          </a:xfrm>
          <a:prstGeom prst="rect">
            <a:avLst/>
          </a:prstGeom>
          <a:solidFill>
            <a:srgbClr val="9BC2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206875"/>
            <a:ext cx="643890" cy="473075"/>
          </a:xfrm>
          <a:prstGeom prst="rect">
            <a:avLst/>
          </a:prstGeom>
          <a:solidFill>
            <a:srgbClr val="97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4679950"/>
            <a:ext cx="1590675" cy="4730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Skin, Paw &amp; Nose Care Products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4679950"/>
            <a:ext cx="643890" cy="473075"/>
          </a:xfrm>
          <a:prstGeom prst="rect">
            <a:avLst/>
          </a:prstGeom>
          <a:solidFill>
            <a:srgbClr val="DB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4679950"/>
            <a:ext cx="643890" cy="473075"/>
          </a:xfrm>
          <a:prstGeom prst="rect">
            <a:avLst/>
          </a:prstGeom>
          <a:solidFill>
            <a:srgbClr val="EB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4679950"/>
            <a:ext cx="643890" cy="473075"/>
          </a:xfrm>
          <a:prstGeom prst="rect">
            <a:avLst/>
          </a:prstGeom>
          <a:solidFill>
            <a:srgbClr val="EA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4679950"/>
            <a:ext cx="643890" cy="473075"/>
          </a:xfrm>
          <a:prstGeom prst="rect">
            <a:avLst/>
          </a:prstGeom>
          <a:solidFill>
            <a:srgbClr val="E5F2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4679950"/>
            <a:ext cx="643890" cy="473075"/>
          </a:xfrm>
          <a:prstGeom prst="rect">
            <a:avLst/>
          </a:prstGeom>
          <a:solidFill>
            <a:srgbClr val="7CB1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4679950"/>
            <a:ext cx="643890" cy="473075"/>
          </a:xfrm>
          <a:prstGeom prst="rect">
            <a:avLst/>
          </a:prstGeom>
          <a:solidFill>
            <a:srgbClr val="96BF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4679950"/>
            <a:ext cx="643890" cy="473075"/>
          </a:xfrm>
          <a:prstGeom prst="rect">
            <a:avLst/>
          </a:prstGeom>
          <a:solidFill>
            <a:srgbClr val="5DA0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4679950"/>
            <a:ext cx="643890" cy="473075"/>
          </a:xfrm>
          <a:prstGeom prst="rect">
            <a:avLst/>
          </a:prstGeom>
          <a:solidFill>
            <a:srgbClr val="579D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4679950"/>
            <a:ext cx="643890" cy="473075"/>
          </a:xfrm>
          <a:prstGeom prst="rect">
            <a:avLst/>
          </a:prstGeom>
          <a:solidFill>
            <a:srgbClr val="91BC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4679950"/>
            <a:ext cx="643890" cy="473075"/>
          </a:xfrm>
          <a:prstGeom prst="rect">
            <a:avLst/>
          </a:prstGeom>
          <a:solidFill>
            <a:srgbClr val="80B3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4679950"/>
            <a:ext cx="643890" cy="473075"/>
          </a:xfrm>
          <a:prstGeom prst="rect">
            <a:avLst/>
          </a:prstGeom>
          <a:solidFill>
            <a:srgbClr val="6FAA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4679950"/>
            <a:ext cx="643890" cy="473075"/>
          </a:xfrm>
          <a:prstGeom prst="rect">
            <a:avLst/>
          </a:prstGeom>
          <a:solidFill>
            <a:srgbClr val="68A6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4679950"/>
            <a:ext cx="643890" cy="473075"/>
          </a:xfrm>
          <a:prstGeom prst="rect">
            <a:avLst/>
          </a:prstGeom>
          <a:solidFill>
            <a:srgbClr val="589D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4679950"/>
            <a:ext cx="643890" cy="473075"/>
          </a:xfrm>
          <a:prstGeom prst="rect">
            <a:avLst/>
          </a:prstGeom>
          <a:solidFill>
            <a:srgbClr val="62A3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4679950"/>
            <a:ext cx="643890" cy="473075"/>
          </a:xfrm>
          <a:prstGeom prst="rect">
            <a:avLst/>
          </a:prstGeom>
          <a:solidFill>
            <a:srgbClr val="68A6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238125" y="5153025"/>
            <a:ext cx="1590675" cy="4730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Ear &amp; Eye Hygiene Products</a:t>
            </a:r>
          </a:p>
        </p:txBody>
      </p:sp>
      <p:sp>
        <p:nvSpPr>
          <p:cNvPr id="81" name="Rectangle 80"/>
          <p:cNvSpPr/>
          <p:nvPr/>
        </p:nvSpPr>
        <p:spPr>
          <a:xfrm>
            <a:off x="1857375" y="5153025"/>
            <a:ext cx="643890" cy="473075"/>
          </a:xfrm>
          <a:prstGeom prst="rect">
            <a:avLst/>
          </a:prstGeom>
          <a:solidFill>
            <a:srgbClr val="D1E2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2501265" y="5153025"/>
            <a:ext cx="643890" cy="473075"/>
          </a:xfrm>
          <a:prstGeom prst="rect">
            <a:avLst/>
          </a:prstGeom>
          <a:solidFill>
            <a:srgbClr val="DF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3145155" y="5153025"/>
            <a:ext cx="643890" cy="473075"/>
          </a:xfrm>
          <a:prstGeom prst="rect">
            <a:avLst/>
          </a:prstGeom>
          <a:solidFill>
            <a:srgbClr val="DF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3789045" y="5153025"/>
            <a:ext cx="643890" cy="473075"/>
          </a:xfrm>
          <a:prstGeom prst="rect">
            <a:avLst/>
          </a:prstGeom>
          <a:solidFill>
            <a:srgbClr val="D7E6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4432935" y="5153025"/>
            <a:ext cx="643890" cy="473075"/>
          </a:xfrm>
          <a:prstGeom prst="rect">
            <a:avLst/>
          </a:prstGeom>
          <a:solidFill>
            <a:srgbClr val="5B9F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5076825" y="5153025"/>
            <a:ext cx="643890" cy="473075"/>
          </a:xfrm>
          <a:prstGeom prst="rect">
            <a:avLst/>
          </a:prstGeom>
          <a:solidFill>
            <a:srgbClr val="79AF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5720715" y="5153025"/>
            <a:ext cx="643890" cy="473075"/>
          </a:xfrm>
          <a:prstGeom prst="rect">
            <a:avLst/>
          </a:prstGeom>
          <a:solidFill>
            <a:srgbClr val="4090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6364605" y="5153025"/>
            <a:ext cx="643890" cy="473075"/>
          </a:xfrm>
          <a:prstGeom prst="rect">
            <a:avLst/>
          </a:prstGeom>
          <a:solidFill>
            <a:srgbClr val="3C8EC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7008495" y="5153025"/>
            <a:ext cx="643890" cy="473075"/>
          </a:xfrm>
          <a:prstGeom prst="rect">
            <a:avLst/>
          </a:prstGeom>
          <a:solidFill>
            <a:srgbClr val="6E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7652385" y="5153025"/>
            <a:ext cx="643890" cy="473075"/>
          </a:xfrm>
          <a:prstGeom prst="rect">
            <a:avLst/>
          </a:prstGeom>
          <a:solidFill>
            <a:srgbClr val="5B9F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8296275" y="5153025"/>
            <a:ext cx="643890" cy="473075"/>
          </a:xfrm>
          <a:prstGeom prst="rect">
            <a:avLst/>
          </a:prstGeom>
          <a:solidFill>
            <a:srgbClr val="4B96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8940165" y="5153025"/>
            <a:ext cx="643890" cy="473075"/>
          </a:xfrm>
          <a:prstGeom prst="rect">
            <a:avLst/>
          </a:prstGeom>
          <a:solidFill>
            <a:srgbClr val="3C8EC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9584055" y="5153025"/>
            <a:ext cx="643890" cy="473075"/>
          </a:xfrm>
          <a:prstGeom prst="rect">
            <a:avLst/>
          </a:prstGeom>
          <a:solidFill>
            <a:srgbClr val="3A8D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0227945" y="5153025"/>
            <a:ext cx="643890" cy="473075"/>
          </a:xfrm>
          <a:prstGeom prst="rect">
            <a:avLst/>
          </a:prstGeom>
          <a:solidFill>
            <a:srgbClr val="3E8F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0871835" y="5153025"/>
            <a:ext cx="643890" cy="473075"/>
          </a:xfrm>
          <a:prstGeom prst="rect">
            <a:avLst/>
          </a:prstGeom>
          <a:solidFill>
            <a:srgbClr val="3D8EC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238125" y="5626100"/>
            <a:ext cx="1590675" cy="4730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Dental &amp; Oral Care Products</a:t>
            </a:r>
          </a:p>
        </p:txBody>
      </p:sp>
      <p:sp>
        <p:nvSpPr>
          <p:cNvPr id="97" name="Rectangle 96"/>
          <p:cNvSpPr/>
          <p:nvPr/>
        </p:nvSpPr>
        <p:spPr>
          <a:xfrm>
            <a:off x="1857375" y="5626100"/>
            <a:ext cx="643890" cy="473075"/>
          </a:xfrm>
          <a:prstGeom prst="rect">
            <a:avLst/>
          </a:prstGeom>
          <a:solidFill>
            <a:srgbClr val="9EC3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2501265" y="5626100"/>
            <a:ext cx="643890" cy="473075"/>
          </a:xfrm>
          <a:prstGeom prst="rect">
            <a:avLst/>
          </a:prstGeom>
          <a:solidFill>
            <a:srgbClr val="C0D7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3145155" y="5626100"/>
            <a:ext cx="643890" cy="473075"/>
          </a:xfrm>
          <a:prstGeom prst="rect">
            <a:avLst/>
          </a:prstGeom>
          <a:solidFill>
            <a:srgbClr val="BDD5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3789045" y="5626100"/>
            <a:ext cx="643890" cy="473075"/>
          </a:xfrm>
          <a:prstGeom prst="rect">
            <a:avLst/>
          </a:prstGeom>
          <a:solidFill>
            <a:srgbClr val="ACCB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4432935" y="5626100"/>
            <a:ext cx="643890" cy="473075"/>
          </a:xfrm>
          <a:prstGeom prst="rect">
            <a:avLst/>
          </a:prstGeom>
          <a:solidFill>
            <a:srgbClr val="2480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5076825" y="5626100"/>
            <a:ext cx="643890" cy="473075"/>
          </a:xfrm>
          <a:prstGeom prst="rect">
            <a:avLst/>
          </a:prstGeom>
          <a:solidFill>
            <a:srgbClr val="2E85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5720715" y="5626100"/>
            <a:ext cx="643890" cy="473075"/>
          </a:xfrm>
          <a:prstGeom prst="rect">
            <a:avLst/>
          </a:prstGeom>
          <a:solidFill>
            <a:srgbClr val="0F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6364605" y="5626100"/>
            <a:ext cx="643890" cy="473075"/>
          </a:xfrm>
          <a:prstGeom prst="rect">
            <a:avLst/>
          </a:prstGeom>
          <a:solidFill>
            <a:srgbClr val="0E6AA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7008495" y="5626100"/>
            <a:ext cx="643890" cy="473075"/>
          </a:xfrm>
          <a:prstGeom prst="rect">
            <a:avLst/>
          </a:prstGeom>
          <a:solidFill>
            <a:srgbClr val="3388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7652385" y="5626100"/>
            <a:ext cx="643890" cy="473075"/>
          </a:xfrm>
          <a:prstGeom prst="rect">
            <a:avLst/>
          </a:prstGeom>
          <a:solidFill>
            <a:srgbClr val="2680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8296275" y="5626100"/>
            <a:ext cx="643890" cy="473075"/>
          </a:xfrm>
          <a:prstGeom prst="rect">
            <a:avLst/>
          </a:prstGeom>
          <a:solidFill>
            <a:srgbClr val="207D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8940165" y="5626100"/>
            <a:ext cx="643890" cy="473075"/>
          </a:xfrm>
          <a:prstGeom prst="rect">
            <a:avLst/>
          </a:prstGeom>
          <a:solidFill>
            <a:srgbClr val="1174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9584055" y="5626100"/>
            <a:ext cx="643890" cy="473075"/>
          </a:xfrm>
          <a:prstGeom prst="rect">
            <a:avLst/>
          </a:prstGeom>
          <a:solidFill>
            <a:srgbClr val="17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0227945" y="5626100"/>
            <a:ext cx="643890" cy="473075"/>
          </a:xfrm>
          <a:prstGeom prst="rect">
            <a:avLst/>
          </a:prstGeom>
          <a:solidFill>
            <a:srgbClr val="17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0871835" y="5626100"/>
            <a:ext cx="643890" cy="473075"/>
          </a:xfrm>
          <a:prstGeom prst="rect">
            <a:avLst/>
          </a:prstGeom>
          <a:solidFill>
            <a:srgbClr val="17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238125" y="6099175"/>
            <a:ext cx="1590675" cy="4730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Fragrance &amp; Deodorizing Products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857375" y="6099175"/>
            <a:ext cx="643890" cy="473075"/>
          </a:xfrm>
          <a:prstGeom prst="rect">
            <a:avLst/>
          </a:prstGeom>
          <a:solidFill>
            <a:srgbClr val="DB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2501265" y="6099175"/>
            <a:ext cx="643890" cy="473075"/>
          </a:xfrm>
          <a:prstGeom prst="rect">
            <a:avLst/>
          </a:prstGeom>
          <a:solidFill>
            <a:srgbClr val="EA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3145155" y="6099175"/>
            <a:ext cx="643890" cy="473075"/>
          </a:xfrm>
          <a:prstGeom prst="rect">
            <a:avLst/>
          </a:prstGeom>
          <a:solidFill>
            <a:srgbClr val="EA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3789045" y="6099175"/>
            <a:ext cx="643890" cy="473075"/>
          </a:xfrm>
          <a:prstGeom prst="rect">
            <a:avLst/>
          </a:prstGeom>
          <a:solidFill>
            <a:srgbClr val="E0EE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4432935" y="6099175"/>
            <a:ext cx="643890" cy="473075"/>
          </a:xfrm>
          <a:prstGeom prst="rect">
            <a:avLst/>
          </a:prstGeom>
          <a:solidFill>
            <a:srgbClr val="81B3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5076825" y="6099175"/>
            <a:ext cx="643890" cy="473075"/>
          </a:xfrm>
          <a:prstGeom prst="rect">
            <a:avLst/>
          </a:prstGeom>
          <a:solidFill>
            <a:srgbClr val="93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5720715" y="6099175"/>
            <a:ext cx="643890" cy="473075"/>
          </a:xfrm>
          <a:prstGeom prst="rect">
            <a:avLst/>
          </a:prstGeom>
          <a:solidFill>
            <a:srgbClr val="65A4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6364605" y="6099175"/>
            <a:ext cx="643890" cy="473075"/>
          </a:xfrm>
          <a:prstGeom prst="rect">
            <a:avLst/>
          </a:prstGeom>
          <a:solidFill>
            <a:srgbClr val="589D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7008495" y="6099175"/>
            <a:ext cx="643890" cy="473075"/>
          </a:xfrm>
          <a:prstGeom prst="rect">
            <a:avLst/>
          </a:prstGeom>
          <a:solidFill>
            <a:srgbClr val="8F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7652385" y="6099175"/>
            <a:ext cx="643890" cy="473075"/>
          </a:xfrm>
          <a:prstGeom prst="rect">
            <a:avLst/>
          </a:prstGeom>
          <a:solidFill>
            <a:srgbClr val="7FB2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Rectangle 122"/>
          <p:cNvSpPr/>
          <p:nvPr/>
        </p:nvSpPr>
        <p:spPr>
          <a:xfrm>
            <a:off x="8296275" y="6099175"/>
            <a:ext cx="643890" cy="473075"/>
          </a:xfrm>
          <a:prstGeom prst="rect">
            <a:avLst/>
          </a:prstGeom>
          <a:solidFill>
            <a:srgbClr val="77AE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Rectangle 123"/>
          <p:cNvSpPr/>
          <p:nvPr/>
        </p:nvSpPr>
        <p:spPr>
          <a:xfrm>
            <a:off x="8940165" y="6099175"/>
            <a:ext cx="643890" cy="473075"/>
          </a:xfrm>
          <a:prstGeom prst="rect">
            <a:avLst/>
          </a:prstGeom>
          <a:solidFill>
            <a:srgbClr val="5B9F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9584055" y="6099175"/>
            <a:ext cx="643890" cy="473075"/>
          </a:xfrm>
          <a:prstGeom prst="rect">
            <a:avLst/>
          </a:prstGeom>
          <a:solidFill>
            <a:srgbClr val="64A4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10227945" y="6099175"/>
            <a:ext cx="643890" cy="473075"/>
          </a:xfrm>
          <a:prstGeom prst="rect">
            <a:avLst/>
          </a:prstGeom>
          <a:solidFill>
            <a:srgbClr val="61A2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10871835" y="6099175"/>
            <a:ext cx="643890" cy="473075"/>
          </a:xfrm>
          <a:prstGeom prst="rect">
            <a:avLst/>
          </a:prstGeom>
          <a:solidFill>
            <a:srgbClr val="62A3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Rectangle 127"/>
          <p:cNvSpPr/>
          <p:nvPr/>
        </p:nvSpPr>
        <p:spPr>
          <a:xfrm>
            <a:off x="11572875" y="3771900"/>
            <a:ext cx="104775" cy="76676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Rectangle 128"/>
          <p:cNvSpPr/>
          <p:nvPr/>
        </p:nvSpPr>
        <p:spPr>
          <a:xfrm>
            <a:off x="11572875" y="3840956"/>
            <a:ext cx="104775" cy="76676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11572875" y="3910012"/>
            <a:ext cx="104775" cy="76676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11572875" y="3979069"/>
            <a:ext cx="104775" cy="76676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11572875" y="4048125"/>
            <a:ext cx="104775" cy="76676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11572875" y="4117181"/>
            <a:ext cx="104775" cy="76676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11572875" y="4186238"/>
            <a:ext cx="104775" cy="76676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11572875" y="4255294"/>
            <a:ext cx="104775" cy="76676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11572875" y="4324350"/>
            <a:ext cx="104775" cy="76676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Rectangle 136"/>
          <p:cNvSpPr/>
          <p:nvPr/>
        </p:nvSpPr>
        <p:spPr>
          <a:xfrm>
            <a:off x="11572875" y="4393406"/>
            <a:ext cx="104775" cy="76676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Rectangle 137"/>
          <p:cNvSpPr/>
          <p:nvPr/>
        </p:nvSpPr>
        <p:spPr>
          <a:xfrm>
            <a:off x="11572875" y="4462462"/>
            <a:ext cx="104775" cy="76676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Rectangle 138"/>
          <p:cNvSpPr/>
          <p:nvPr/>
        </p:nvSpPr>
        <p:spPr>
          <a:xfrm>
            <a:off x="11572875" y="4531519"/>
            <a:ext cx="104775" cy="76676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Rectangle 139"/>
          <p:cNvSpPr/>
          <p:nvPr/>
        </p:nvSpPr>
        <p:spPr>
          <a:xfrm>
            <a:off x="11572875" y="4600575"/>
            <a:ext cx="104775" cy="76676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Rectangle 140"/>
          <p:cNvSpPr/>
          <p:nvPr/>
        </p:nvSpPr>
        <p:spPr>
          <a:xfrm>
            <a:off x="11572875" y="4669631"/>
            <a:ext cx="104775" cy="76676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Rectangle 141"/>
          <p:cNvSpPr/>
          <p:nvPr/>
        </p:nvSpPr>
        <p:spPr>
          <a:xfrm>
            <a:off x="11572875" y="4738688"/>
            <a:ext cx="104775" cy="76676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Rectangle 142"/>
          <p:cNvSpPr/>
          <p:nvPr/>
        </p:nvSpPr>
        <p:spPr>
          <a:xfrm>
            <a:off x="11572875" y="4807744"/>
            <a:ext cx="104775" cy="76676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Rectangle 143"/>
          <p:cNvSpPr/>
          <p:nvPr/>
        </p:nvSpPr>
        <p:spPr>
          <a:xfrm>
            <a:off x="11572875" y="4876800"/>
            <a:ext cx="104775" cy="76676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5" name="Rectangle 144"/>
          <p:cNvSpPr/>
          <p:nvPr/>
        </p:nvSpPr>
        <p:spPr>
          <a:xfrm>
            <a:off x="11572875" y="4945856"/>
            <a:ext cx="104775" cy="76676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Rectangle 145"/>
          <p:cNvSpPr/>
          <p:nvPr/>
        </p:nvSpPr>
        <p:spPr>
          <a:xfrm>
            <a:off x="11572875" y="5014912"/>
            <a:ext cx="104775" cy="76676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Rectangle 146"/>
          <p:cNvSpPr/>
          <p:nvPr/>
        </p:nvSpPr>
        <p:spPr>
          <a:xfrm>
            <a:off x="11572875" y="5083969"/>
            <a:ext cx="104775" cy="76676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Rectangle 147"/>
          <p:cNvSpPr/>
          <p:nvPr/>
        </p:nvSpPr>
        <p:spPr>
          <a:xfrm>
            <a:off x="11572875" y="5153025"/>
            <a:ext cx="104775" cy="76676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Rectangle 148"/>
          <p:cNvSpPr/>
          <p:nvPr/>
        </p:nvSpPr>
        <p:spPr>
          <a:xfrm>
            <a:off x="11572875" y="5222081"/>
            <a:ext cx="104775" cy="76676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Rectangle 149"/>
          <p:cNvSpPr/>
          <p:nvPr/>
        </p:nvSpPr>
        <p:spPr>
          <a:xfrm>
            <a:off x="11572875" y="5291138"/>
            <a:ext cx="104775" cy="76676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Rectangle 150"/>
          <p:cNvSpPr/>
          <p:nvPr/>
        </p:nvSpPr>
        <p:spPr>
          <a:xfrm>
            <a:off x="11572875" y="5360194"/>
            <a:ext cx="104775" cy="76676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Rectangle 151"/>
          <p:cNvSpPr/>
          <p:nvPr/>
        </p:nvSpPr>
        <p:spPr>
          <a:xfrm>
            <a:off x="11572875" y="5429250"/>
            <a:ext cx="104775" cy="76676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Rectangle 152"/>
          <p:cNvSpPr/>
          <p:nvPr/>
        </p:nvSpPr>
        <p:spPr>
          <a:xfrm>
            <a:off x="11572875" y="5498306"/>
            <a:ext cx="104775" cy="76676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Rectangle 153"/>
          <p:cNvSpPr/>
          <p:nvPr/>
        </p:nvSpPr>
        <p:spPr>
          <a:xfrm>
            <a:off x="11572875" y="5567362"/>
            <a:ext cx="104775" cy="76676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5" name="Rectangle 154"/>
          <p:cNvSpPr/>
          <p:nvPr/>
        </p:nvSpPr>
        <p:spPr>
          <a:xfrm>
            <a:off x="11572875" y="5636419"/>
            <a:ext cx="104775" cy="76676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Rectangle 155"/>
          <p:cNvSpPr/>
          <p:nvPr/>
        </p:nvSpPr>
        <p:spPr>
          <a:xfrm>
            <a:off x="11572875" y="5705475"/>
            <a:ext cx="104775" cy="76676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Rectangle 156"/>
          <p:cNvSpPr/>
          <p:nvPr/>
        </p:nvSpPr>
        <p:spPr>
          <a:xfrm>
            <a:off x="11572875" y="5774531"/>
            <a:ext cx="104775" cy="76676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Rectangle 157"/>
          <p:cNvSpPr/>
          <p:nvPr/>
        </p:nvSpPr>
        <p:spPr>
          <a:xfrm>
            <a:off x="11572875" y="5843588"/>
            <a:ext cx="104775" cy="76676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Rectangle 158"/>
          <p:cNvSpPr/>
          <p:nvPr/>
        </p:nvSpPr>
        <p:spPr>
          <a:xfrm>
            <a:off x="11572875" y="5912644"/>
            <a:ext cx="104775" cy="76676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Rectangle 159"/>
          <p:cNvSpPr/>
          <p:nvPr/>
        </p:nvSpPr>
        <p:spPr>
          <a:xfrm>
            <a:off x="11572875" y="5981700"/>
            <a:ext cx="104775" cy="76676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1" name="Rectangle 160"/>
          <p:cNvSpPr/>
          <p:nvPr/>
        </p:nvSpPr>
        <p:spPr>
          <a:xfrm>
            <a:off x="11572875" y="6050756"/>
            <a:ext cx="104775" cy="76676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Rectangle 161"/>
          <p:cNvSpPr/>
          <p:nvPr/>
        </p:nvSpPr>
        <p:spPr>
          <a:xfrm>
            <a:off x="11572875" y="6119812"/>
            <a:ext cx="104775" cy="76676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3" name="Rectangle 162"/>
          <p:cNvSpPr/>
          <p:nvPr/>
        </p:nvSpPr>
        <p:spPr>
          <a:xfrm>
            <a:off x="11572875" y="6188869"/>
            <a:ext cx="104775" cy="76676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Rectangle 163"/>
          <p:cNvSpPr/>
          <p:nvPr/>
        </p:nvSpPr>
        <p:spPr>
          <a:xfrm>
            <a:off x="11572875" y="6257925"/>
            <a:ext cx="104775" cy="76676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5" name="Rectangle 164"/>
          <p:cNvSpPr/>
          <p:nvPr/>
        </p:nvSpPr>
        <p:spPr>
          <a:xfrm>
            <a:off x="11572875" y="6326981"/>
            <a:ext cx="104775" cy="76676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Rectangle 165"/>
          <p:cNvSpPr/>
          <p:nvPr/>
        </p:nvSpPr>
        <p:spPr>
          <a:xfrm>
            <a:off x="11572875" y="6396038"/>
            <a:ext cx="104775" cy="76676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7" name="Rectangle 166"/>
          <p:cNvSpPr/>
          <p:nvPr/>
        </p:nvSpPr>
        <p:spPr>
          <a:xfrm>
            <a:off x="11572875" y="6465094"/>
            <a:ext cx="104775" cy="76676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Rectangle 167"/>
          <p:cNvSpPr/>
          <p:nvPr/>
        </p:nvSpPr>
        <p:spPr>
          <a:xfrm>
            <a:off x="11572875" y="3771900"/>
            <a:ext cx="104775" cy="2762250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TextBox 168"/>
          <p:cNvSpPr txBox="1"/>
          <p:nvPr/>
        </p:nvSpPr>
        <p:spPr>
          <a:xfrm>
            <a:off x="11687175" y="370522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7%</a:t>
            </a:r>
          </a:p>
        </p:txBody>
      </p:sp>
      <p:sp>
        <p:nvSpPr>
          <p:cNvPr id="170" name="TextBox 169"/>
          <p:cNvSpPr txBox="1"/>
          <p:nvPr/>
        </p:nvSpPr>
        <p:spPr>
          <a:xfrm>
            <a:off x="11687175" y="508635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171" name="TextBox 170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172" name="TextBox 17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73" name="Picture 17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267326" y="1956627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6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7.2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Ingredient Type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Ingredient Type Segment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Structure &amp; Attractiveness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Volume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Value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6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By Ingredient Type Segment Outlook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 analysis of market size, growth and share across 3 sub-segments of Ingredient Type,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Ingredient Type segment categorizes the market by ingredient type. Each sub-category is evaluated on market size, growth outlook and adoption trends across the forecast period.</a:t>
            </a:r>
          </a:p>
        </p:txBody>
      </p:sp>
      <p:sp>
        <p:nvSpPr>
          <p:cNvPr id="12" name="Rectangle 11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Sub-Segment</a:t>
            </a:r>
          </a:p>
        </p:txBody>
      </p:sp>
      <p:sp>
        <p:nvSpPr>
          <p:cNvPr id="14" name="Rectangle 13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6" name="Rectangle 15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8" name="Rectangle 17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866900" y="1773916"/>
            <a:ext cx="3257550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Rectangle 20"/>
          <p:cNvSpPr/>
          <p:nvPr/>
        </p:nvSpPr>
        <p:spPr>
          <a:xfrm>
            <a:off x="1866900" y="1992961"/>
            <a:ext cx="3257550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905000" y="1773916"/>
            <a:ext cx="318135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Regular / Established Ingredients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2302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2723109"/>
            <a:ext cx="325755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5" name="Rectangle 24"/>
          <p:cNvSpPr/>
          <p:nvPr/>
        </p:nvSpPr>
        <p:spPr>
          <a:xfrm>
            <a:off x="1866900" y="32159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6" name="Oval 25"/>
          <p:cNvSpPr/>
          <p:nvPr/>
        </p:nvSpPr>
        <p:spPr>
          <a:xfrm>
            <a:off x="3333750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5238750" y="1773916"/>
            <a:ext cx="3257550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Rectangle 27"/>
          <p:cNvSpPr/>
          <p:nvPr/>
        </p:nvSpPr>
        <p:spPr>
          <a:xfrm>
            <a:off x="5238750" y="1992961"/>
            <a:ext cx="3257550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5276850" y="1773916"/>
            <a:ext cx="318135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Niche / Specialized Ingredients</a:t>
            </a:r>
          </a:p>
        </p:txBody>
      </p:sp>
      <p:sp>
        <p:nvSpPr>
          <p:cNvPr id="30" name="Rectangle 29"/>
          <p:cNvSpPr/>
          <p:nvPr/>
        </p:nvSpPr>
        <p:spPr>
          <a:xfrm>
            <a:off x="5238750" y="22302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5238750" y="2723109"/>
            <a:ext cx="325755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2" name="Rectangle 31"/>
          <p:cNvSpPr/>
          <p:nvPr/>
        </p:nvSpPr>
        <p:spPr>
          <a:xfrm>
            <a:off x="5238750" y="32159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6705600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8610600" y="1773916"/>
            <a:ext cx="3257550" cy="438089"/>
          </a:xfrm>
          <a:prstGeom prst="roundRect">
            <a:avLst>
              <a:gd name="adj" fmla="val 18000"/>
            </a:avLst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8610600" y="1992961"/>
            <a:ext cx="3257550" cy="21904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648700" y="1773916"/>
            <a:ext cx="318135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Emerging Ingredients / Innovation…</a:t>
            </a:r>
          </a:p>
        </p:txBody>
      </p:sp>
      <p:sp>
        <p:nvSpPr>
          <p:cNvPr id="37" name="Rectangle 36"/>
          <p:cNvSpPr/>
          <p:nvPr/>
        </p:nvSpPr>
        <p:spPr>
          <a:xfrm>
            <a:off x="8610600" y="22302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8" name="Rectangle 37"/>
          <p:cNvSpPr/>
          <p:nvPr/>
        </p:nvSpPr>
        <p:spPr>
          <a:xfrm>
            <a:off x="8610600" y="2723109"/>
            <a:ext cx="325755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9" name="Rectangle 38"/>
          <p:cNvSpPr/>
          <p:nvPr/>
        </p:nvSpPr>
        <p:spPr>
          <a:xfrm>
            <a:off x="8610600" y="32159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40" name="Oval 39"/>
          <p:cNvSpPr/>
          <p:nvPr/>
        </p:nvSpPr>
        <p:spPr>
          <a:xfrm>
            <a:off x="10077450" y="1445350"/>
            <a:ext cx="323850" cy="310313"/>
          </a:xfrm>
          <a:prstGeom prst="ellipse">
            <a:avLst/>
          </a:prstGeom>
          <a:solidFill>
            <a:srgbClr val="0081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41" name="Rounded Rectangle 40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43" name="Rectangle 42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5" name="Rounded Rectangle 44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47" name="Rectangle 46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1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08189"/>
                </a:solidFill>
                <a:latin typeface="Calibri"/>
              </a:rPr>
              <a:t/>
            </a:r>
            <a:r>
              <a:rPr sz="1100" b="1">
                <a:solidFill>
                  <a:srgbClr val="0081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9" name="Rounded Rectangle 48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Segment Overview</a:t>
            </a:r>
          </a:p>
        </p:txBody>
      </p:sp>
      <p:sp>
        <p:nvSpPr>
          <p:cNvPr id="51" name="Rectangle 50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Ingredient Type split shows how demand is distributed across ingredient type types and where growth concentrates.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preferences and product innovation are reshaping the mix through 2036.</a:t>
            </a:r>
          </a:p>
        </p:txBody>
      </p:sp>
      <p:sp>
        <p:nvSpPr>
          <p:cNvPr id="53" name="Rectangle 52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57" name="Picture 56" descr="1_811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97811" y="2286582"/>
            <a:ext cx="1195728" cy="361950"/>
          </a:xfrm>
          <a:prstGeom prst="rect">
            <a:avLst/>
          </a:prstGeom>
        </p:spPr>
      </p:pic>
      <p:pic>
        <p:nvPicPr>
          <p:cNvPr id="58" name="Picture 57" descr="3_287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897811" y="2779432"/>
            <a:ext cx="1195728" cy="361950"/>
          </a:xfrm>
          <a:prstGeom prst="rect">
            <a:avLst/>
          </a:prstGeom>
        </p:spPr>
      </p:pic>
      <p:pic>
        <p:nvPicPr>
          <p:cNvPr id="59" name="Picture 58" descr="6_1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04457" y="3272281"/>
            <a:ext cx="982436" cy="361950"/>
          </a:xfrm>
          <a:prstGeom prst="rect">
            <a:avLst/>
          </a:prstGeom>
        </p:spPr>
      </p:pic>
      <p:pic>
        <p:nvPicPr>
          <p:cNvPr id="60" name="Picture 59" descr="918_1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269661" y="2286582"/>
            <a:ext cx="1195728" cy="361950"/>
          </a:xfrm>
          <a:prstGeom prst="rect">
            <a:avLst/>
          </a:prstGeom>
        </p:spPr>
      </p:pic>
      <p:pic>
        <p:nvPicPr>
          <p:cNvPr id="61" name="Picture 60" descr="1_644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6269661" y="2779432"/>
            <a:ext cx="1195728" cy="361950"/>
          </a:xfrm>
          <a:prstGeom prst="rect">
            <a:avLst/>
          </a:prstGeom>
        </p:spPr>
      </p:pic>
      <p:pic>
        <p:nvPicPr>
          <p:cNvPr id="62" name="Picture 61" descr="6_0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376307" y="3272281"/>
            <a:ext cx="982436" cy="361950"/>
          </a:xfrm>
          <a:prstGeom prst="rect">
            <a:avLst/>
          </a:prstGeom>
        </p:spPr>
      </p:pic>
      <p:pic>
        <p:nvPicPr>
          <p:cNvPr id="63" name="Picture 62" descr="422_6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9641511" y="2286582"/>
            <a:ext cx="1195728" cy="361950"/>
          </a:xfrm>
          <a:prstGeom prst="rect">
            <a:avLst/>
          </a:prstGeom>
        </p:spPr>
      </p:pic>
      <p:pic>
        <p:nvPicPr>
          <p:cNvPr id="64" name="Picture 63" descr="765_2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9641511" y="2779432"/>
            <a:ext cx="1195728" cy="361950"/>
          </a:xfrm>
          <a:prstGeom prst="rect">
            <a:avLst/>
          </a:prstGeom>
        </p:spPr>
      </p:pic>
      <p:pic>
        <p:nvPicPr>
          <p:cNvPr id="65" name="Picture 64" descr="6_1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748157" y="3272281"/>
            <a:ext cx="982436" cy="361950"/>
          </a:xfrm>
          <a:prstGeom prst="rect">
            <a:avLst/>
          </a:prstGeom>
        </p:spPr>
      </p:pic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3402330" y="2827057"/>
            <a:ext cx="183356" cy="266700"/>
          </a:xfrm>
          <a:prstGeom prst="rect">
            <a:avLst/>
          </a:prstGeom>
        </p:spPr>
      </p:pic>
      <p:pic>
        <p:nvPicPr>
          <p:cNvPr id="67" name="Picture 66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6774180" y="2827057"/>
            <a:ext cx="183356" cy="266700"/>
          </a:xfrm>
          <a:prstGeom prst="rect">
            <a:avLst/>
          </a:prstGeom>
        </p:spPr>
      </p:pic>
      <p:pic>
        <p:nvPicPr>
          <p:cNvPr id="68" name="Picture 67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10146030" y="2827057"/>
            <a:ext cx="183356" cy="266700"/>
          </a:xfrm>
          <a:prstGeom prst="rect">
            <a:avLst/>
          </a:prstGeom>
        </p:spPr>
      </p:pic>
      <p:sp>
        <p:nvSpPr>
          <p:cNvPr id="69" name="TextBox 68"/>
          <p:cNvSpPr txBox="1"/>
          <p:nvPr/>
        </p:nvSpPr>
        <p:spPr>
          <a:xfrm>
            <a:off x="485775" y="4229437"/>
            <a:ext cx="264891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'Regular / Established Ingredients' holds the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485775" y="4397077"/>
            <a:ext cx="12584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largest share in 2026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1692292" y="4387298"/>
            <a:ext cx="128699" cy="187198"/>
          </a:xfrm>
          <a:prstGeom prst="rect">
            <a:avLst/>
          </a:prstGeom>
        </p:spPr>
      </p:pic>
      <p:sp>
        <p:nvSpPr>
          <p:cNvPr id="72" name="TextBox 71"/>
          <p:cNvSpPr txBox="1"/>
          <p:nvPr/>
        </p:nvSpPr>
        <p:spPr>
          <a:xfrm>
            <a:off x="1859788" y="4397077"/>
            <a:ext cx="108738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segment value.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485775" y="4615009"/>
            <a:ext cx="242845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'Regular / Established Ingredients' is the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485775" y="4782649"/>
            <a:ext cx="18732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fastest-growing sub-segment at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2307026" y="4772870"/>
            <a:ext cx="128699" cy="187198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2474522" y="4782649"/>
            <a:ext cx="88245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through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485775" y="4950289"/>
            <a:ext cx="39516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2036.</a:t>
            </a:r>
          </a:p>
        </p:txBody>
      </p:sp>
      <p:sp>
        <p:nvSpPr>
          <p:cNvPr id="78" name="TextBox 77"/>
          <p:cNvSpPr txBox="1"/>
          <p:nvPr/>
        </p:nvSpPr>
        <p:spPr>
          <a:xfrm>
            <a:off x="485775" y="5168221"/>
            <a:ext cx="18066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Segment value expands from</a:t>
            </a:r>
          </a:p>
        </p:txBody>
      </p:sp>
      <p:pic>
        <p:nvPicPr>
          <p:cNvPr id="79" name="Picture 78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2240451" y="5158441"/>
            <a:ext cx="128699" cy="187198"/>
          </a:xfrm>
          <a:prstGeom prst="rect">
            <a:avLst/>
          </a:prstGeom>
        </p:spPr>
      </p:pic>
      <p:sp>
        <p:nvSpPr>
          <p:cNvPr id="80" name="TextBox 79"/>
          <p:cNvSpPr txBox="1"/>
          <p:nvPr/>
        </p:nvSpPr>
        <p:spPr>
          <a:xfrm>
            <a:off x="2407947" y="5168221"/>
            <a:ext cx="1968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81" name="Picture 80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2552799" y="5158441"/>
            <a:ext cx="128699" cy="187198"/>
          </a:xfrm>
          <a:prstGeom prst="rect">
            <a:avLst/>
          </a:prstGeom>
        </p:spPr>
      </p:pic>
      <p:sp>
        <p:nvSpPr>
          <p:cNvPr id="82" name="TextBox 81"/>
          <p:cNvSpPr txBox="1"/>
          <p:nvPr/>
        </p:nvSpPr>
        <p:spPr>
          <a:xfrm>
            <a:off x="2720294" y="5168221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485775" y="5335861"/>
            <a:ext cx="11378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2026–2036.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485775" y="5553793"/>
            <a:ext cx="269502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3 sub-segments make up the ingredient type</a:t>
            </a:r>
          </a:p>
        </p:txBody>
      </p:sp>
      <p:sp>
        <p:nvSpPr>
          <p:cNvPr id="85" name="TextBox 84"/>
          <p:cNvSpPr txBox="1"/>
          <p:nvPr/>
        </p:nvSpPr>
        <p:spPr>
          <a:xfrm>
            <a:off x="485775" y="5721433"/>
            <a:ext cx="68083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landscape.</a:t>
            </a:r>
          </a:p>
        </p:txBody>
      </p:sp>
      <p:sp>
        <p:nvSpPr>
          <p:cNvPr id="86" name="TextBox 85"/>
          <p:cNvSpPr txBox="1"/>
          <p:nvPr/>
        </p:nvSpPr>
        <p:spPr>
          <a:xfrm>
            <a:off x="3838575" y="4229437"/>
            <a:ext cx="209912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Regular / Established Ingredients:</a:t>
            </a:r>
          </a:p>
        </p:txBody>
      </p:sp>
      <p:pic>
        <p:nvPicPr>
          <p:cNvPr id="87" name="Picture 86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5885748" y="4219658"/>
            <a:ext cx="128699" cy="187198"/>
          </a:xfrm>
          <a:prstGeom prst="rect">
            <a:avLst/>
          </a:prstGeom>
        </p:spPr>
      </p:pic>
      <p:sp>
        <p:nvSpPr>
          <p:cNvPr id="88" name="TextBox 87"/>
          <p:cNvSpPr txBox="1"/>
          <p:nvPr/>
        </p:nvSpPr>
        <p:spPr>
          <a:xfrm>
            <a:off x="6053243" y="422943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89" name="Picture 88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6912694" y="4219658"/>
            <a:ext cx="128699" cy="187198"/>
          </a:xfrm>
          <a:prstGeom prst="rect">
            <a:avLst/>
          </a:prstGeom>
        </p:spPr>
      </p:pic>
      <p:sp>
        <p:nvSpPr>
          <p:cNvPr id="90" name="TextBox 89"/>
          <p:cNvSpPr txBox="1"/>
          <p:nvPr/>
        </p:nvSpPr>
        <p:spPr>
          <a:xfrm>
            <a:off x="7080189" y="4229437"/>
            <a:ext cx="72365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leads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3838575" y="4397077"/>
            <a:ext cx="824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the segment.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3838575" y="4615009"/>
            <a:ext cx="197388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Niche / Specialized Ingredients:</a:t>
            </a:r>
          </a:p>
        </p:txBody>
      </p:sp>
      <p:pic>
        <p:nvPicPr>
          <p:cNvPr id="93" name="Picture 92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5760509" y="4605230"/>
            <a:ext cx="128699" cy="187198"/>
          </a:xfrm>
          <a:prstGeom prst="rect">
            <a:avLst/>
          </a:prstGeom>
        </p:spPr>
      </p:pic>
      <p:sp>
        <p:nvSpPr>
          <p:cNvPr id="94" name="TextBox 93"/>
          <p:cNvSpPr txBox="1"/>
          <p:nvPr/>
        </p:nvSpPr>
        <p:spPr>
          <a:xfrm>
            <a:off x="5928005" y="461500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95" name="Picture 94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6787455" y="4605230"/>
            <a:ext cx="128699" cy="187198"/>
          </a:xfrm>
          <a:prstGeom prst="rect">
            <a:avLst/>
          </a:prstGeom>
        </p:spPr>
      </p:pic>
      <p:sp>
        <p:nvSpPr>
          <p:cNvPr id="96" name="TextBox 95"/>
          <p:cNvSpPr txBox="1"/>
          <p:nvPr/>
        </p:nvSpPr>
        <p:spPr>
          <a:xfrm>
            <a:off x="6954951" y="4615009"/>
            <a:ext cx="88573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3838575" y="4782649"/>
            <a:ext cx="41917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niche.</a:t>
            </a:r>
          </a:p>
        </p:txBody>
      </p:sp>
      <p:sp>
        <p:nvSpPr>
          <p:cNvPr id="98" name="TextBox 97"/>
          <p:cNvSpPr txBox="1"/>
          <p:nvPr/>
        </p:nvSpPr>
        <p:spPr>
          <a:xfrm>
            <a:off x="3838575" y="5000581"/>
            <a:ext cx="289584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008189"/>
                </a:solidFill>
                <a:latin typeface="Calibri"/>
              </a:rPr>
              <a:t>● Emerging Ingredients / Innovation Candidates:</a:t>
            </a:r>
          </a:p>
        </p:txBody>
      </p:sp>
      <p:pic>
        <p:nvPicPr>
          <p:cNvPr id="99" name="Picture 98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6682474" y="4990801"/>
            <a:ext cx="128699" cy="187198"/>
          </a:xfrm>
          <a:prstGeom prst="rect">
            <a:avLst/>
          </a:prstGeom>
        </p:spPr>
      </p:pic>
      <p:sp>
        <p:nvSpPr>
          <p:cNvPr id="100" name="TextBox 99"/>
          <p:cNvSpPr txBox="1"/>
          <p:nvPr/>
        </p:nvSpPr>
        <p:spPr>
          <a:xfrm>
            <a:off x="6849970" y="5000581"/>
            <a:ext cx="92640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008189"/>
                </a:solidFill>
                <a:latin typeface="Calibri"/>
              </a:rPr>
              <a:t>of 2026 value ·</a:t>
            </a:r>
          </a:p>
        </p:txBody>
      </p:sp>
      <p:pic>
        <p:nvPicPr>
          <p:cNvPr id="101" name="Picture 100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3825107" y="5158441"/>
            <a:ext cx="128699" cy="187198"/>
          </a:xfrm>
          <a:prstGeom prst="rect">
            <a:avLst/>
          </a:prstGeom>
        </p:spPr>
      </p:pic>
      <p:sp>
        <p:nvSpPr>
          <p:cNvPr id="102" name="TextBox 101"/>
          <p:cNvSpPr txBox="1"/>
          <p:nvPr/>
        </p:nvSpPr>
        <p:spPr>
          <a:xfrm>
            <a:off x="3992603" y="5168221"/>
            <a:ext cx="128463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008189"/>
                </a:solidFill>
                <a:latin typeface="Calibri"/>
              </a:rPr>
              <a:t>CAGR serves a niche.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8524875" y="5842641"/>
            <a:ext cx="309418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The Ingredient Type segment is projected to grow</a:t>
            </a:r>
          </a:p>
        </p:txBody>
      </p:sp>
      <p:sp>
        <p:nvSpPr>
          <p:cNvPr id="104" name="TextBox 103"/>
          <p:cNvSpPr txBox="1"/>
          <p:nvPr/>
        </p:nvSpPr>
        <p:spPr>
          <a:xfrm>
            <a:off x="8524875" y="6017901"/>
            <a:ext cx="83608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at a CAGR of</a:t>
            </a:r>
          </a:p>
        </p:txBody>
      </p:sp>
      <p:pic>
        <p:nvPicPr>
          <p:cNvPr id="105" name="Picture 104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9310118" y="6007677"/>
            <a:ext cx="134549" cy="195707"/>
          </a:xfrm>
          <a:prstGeom prst="rect">
            <a:avLst/>
          </a:prstGeom>
        </p:spPr>
      </p:pic>
      <p:sp>
        <p:nvSpPr>
          <p:cNvPr id="106" name="TextBox 105"/>
          <p:cNvSpPr txBox="1"/>
          <p:nvPr/>
        </p:nvSpPr>
        <p:spPr>
          <a:xfrm>
            <a:off x="9485227" y="6017901"/>
            <a:ext cx="12326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6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Structure &amp; Attractiveness, By Ingredient Type (Value)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Ingredient Type mix within each country and the attractiveness of each sub-segment on growth and size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052895"/>
            <a:ext cx="6667500" cy="5503490"/>
          </a:xfrm>
          <a:prstGeom prst="roundRect">
            <a:avLst>
              <a:gd name="adj" fmla="val 138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110045"/>
            <a:ext cx="647700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Ingredient Type mix within each country (share of 2036 value) · row label = country size (US$ Mn), largest first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10095"/>
          <a:ext cx="6477000" cy="498914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886575" y="1052895"/>
            <a:ext cx="5162550" cy="3650740"/>
          </a:xfrm>
          <a:prstGeom prst="roundRect">
            <a:avLst>
              <a:gd name="adj" fmla="val 208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981825" y="1110045"/>
            <a:ext cx="49720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Attractiveness, By Ingredient Type (bubble = 2036 size)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981825" y="1338645"/>
          <a:ext cx="4972050" cy="330784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6886575" y="4776650"/>
            <a:ext cx="5162550" cy="1779736"/>
          </a:xfrm>
          <a:prstGeom prst="roundRect">
            <a:avLst>
              <a:gd name="adj" fmla="val 428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613425" y="3638119"/>
            <a:ext cx="386128" cy="56164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7000875" y="5415058"/>
            <a:ext cx="480171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Between 2026 and 2036, 'Regular / Established Ingredients' gains the most share in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7000875" y="5582698"/>
            <a:ext cx="128738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the Europe market (+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236314" y="5572919"/>
            <a:ext cx="128699" cy="187198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8403810" y="5582698"/>
            <a:ext cx="286556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BPS) while 'Niche / Specialized Ingredients' cedes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217423" y="5572919"/>
            <a:ext cx="128699" cy="187198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11384919" y="5582698"/>
            <a:ext cx="32394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000875" y="5750338"/>
            <a:ext cx="43768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Bubbles right of the CAGR-Index line grow faster than the segment average.</a:t>
            </a:r>
          </a:p>
        </p:txBody>
      </p:sp>
      <p:sp>
        <p:nvSpPr>
          <p:cNvPr id="27" name="lockshield_13"/>
          <p:cNvSpPr/>
          <p:nvPr/>
        </p:nvSpPr>
        <p:spPr>
          <a:xfrm>
            <a:off x="238125" y="1510095"/>
            <a:ext cx="6477000" cy="498914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lockshield_16"/>
          <p:cNvSpPr/>
          <p:nvPr/>
        </p:nvSpPr>
        <p:spPr>
          <a:xfrm>
            <a:off x="6981825" y="1338645"/>
            <a:ext cx="4972050" cy="330784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6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Absolute $ Opportunity Analysis, By Ingredient Type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Ingredient Type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Regular / Established Ingredients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38275"/>
          <a:ext cx="5686425" cy="223837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Niche / Specialized Ingredients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267450" y="1438275"/>
          <a:ext cx="5686425" cy="223837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38125" y="39243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Emerging Ingredients / Innovation Candidates</a:t>
            </a:r>
          </a:p>
        </p:txBody>
      </p:sp>
      <p:graphicFrame>
        <p:nvGraphicFramePr>
          <p:cNvPr id="19" name="Chart 18"/>
          <p:cNvGraphicFramePr>
            <a:graphicFrameLocks noGrp="1"/>
          </p:cNvGraphicFramePr>
          <p:nvPr/>
        </p:nvGraphicFramePr>
        <p:xfrm>
          <a:off x="238125" y="4324350"/>
          <a:ext cx="5686425" cy="2238375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0" name="Rounded Rectangle 19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6305550" y="3952875"/>
            <a:ext cx="56102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Summary of Europe Absolute $ Opportunity Analysis, By Ingredient Type</a:t>
            </a:r>
          </a:p>
        </p:txBody>
      </p:sp>
      <p:sp>
        <p:nvSpPr>
          <p:cNvPr id="22" name="Rectangle 21"/>
          <p:cNvSpPr/>
          <p:nvPr/>
        </p:nvSpPr>
        <p:spPr>
          <a:xfrm>
            <a:off x="6305550" y="4191000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6305550" y="4276725"/>
            <a:ext cx="5610225" cy="22669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100230" y="2330679"/>
            <a:ext cx="252890" cy="367840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129555" y="2330679"/>
            <a:ext cx="252890" cy="367840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100230" y="5216754"/>
            <a:ext cx="252890" cy="367840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6305550" y="4286250"/>
            <a:ext cx="31575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Across its 3 sub-segments, by ingredient type adds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412216" y="4276026"/>
            <a:ext cx="134549" cy="195707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9587325" y="4286250"/>
            <a:ext cx="185447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to the Europe market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6305550" y="4461510"/>
            <a:ext cx="15541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between 2026 and 2036.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6305550" y="4689347"/>
            <a:ext cx="249344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'Regular / Established Ingredients' adds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748145" y="4679124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8923254" y="4689347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495725" y="4679124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9670835" y="4689347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6305550" y="4917185"/>
            <a:ext cx="236251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'Niche / Specialized Ingredients' adds</a:t>
            </a:r>
          </a:p>
        </p:txBody>
      </p:sp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617213" y="4906962"/>
            <a:ext cx="134549" cy="195707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8792323" y="4917185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364794" y="4906962"/>
            <a:ext cx="134549" cy="195707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9539903" y="4917185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6305550" y="5145023"/>
            <a:ext cx="325934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'Emerging Ingredients / Innovation Candidates' adds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514052" y="5134800"/>
            <a:ext cx="134549" cy="195707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9689161" y="5145023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0261632" y="5134800"/>
            <a:ext cx="134549" cy="195707"/>
          </a:xfrm>
          <a:prstGeom prst="rect">
            <a:avLst/>
          </a:prstGeom>
        </p:spPr>
      </p:pic>
      <p:sp>
        <p:nvSpPr>
          <p:cNvPr id="46" name="TextBox 45"/>
          <p:cNvSpPr txBox="1"/>
          <p:nvPr/>
        </p:nvSpPr>
        <p:spPr>
          <a:xfrm>
            <a:off x="10436741" y="5145023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47" name="lockshield_13"/>
          <p:cNvSpPr/>
          <p:nvPr/>
        </p:nvSpPr>
        <p:spPr>
          <a:xfrm>
            <a:off x="238125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lockshield_16"/>
          <p:cNvSpPr/>
          <p:nvPr/>
        </p:nvSpPr>
        <p:spPr>
          <a:xfrm>
            <a:off x="6267450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lockshield_19"/>
          <p:cNvSpPr/>
          <p:nvPr/>
        </p:nvSpPr>
        <p:spPr>
          <a:xfrm>
            <a:off x="238125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6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Volume Analysis, By Ingredient Type (MT)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by Ingredient Type,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Volume, By Ingredient Type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9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818876"/>
                <a:gridCol w="535424"/>
                <a:gridCol w="535424"/>
                <a:gridCol w="535424"/>
                <a:gridCol w="535424"/>
                <a:gridCol w="535424"/>
                <a:gridCol w="535424"/>
                <a:gridCol w="535424"/>
                <a:gridCol w="535424"/>
                <a:gridCol w="535424"/>
                <a:gridCol w="535424"/>
                <a:gridCol w="535424"/>
                <a:gridCol w="535424"/>
                <a:gridCol w="535424"/>
                <a:gridCol w="535424"/>
                <a:gridCol w="535424"/>
                <a:gridCol w="535424"/>
                <a:gridCol w="501539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Ingredient Type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Regular / Established Ingredients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Niche / Specialized Ingredients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Emerging Ingredients / Innovation Candidates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4860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819400"/>
            <a:ext cx="11906250" cy="3810000"/>
          </a:xfrm>
          <a:prstGeom prst="roundRect">
            <a:avLst>
              <a:gd name="adj" fmla="val 200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290512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Volume Analysis, By Ingredient Type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314325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3228975"/>
            <a:ext cx="11639550" cy="33242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18747" y="1713738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3238500"/>
            <a:ext cx="406547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'Regular / Established Ingredients' is the largest ingredient type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90854" y="3228276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4465964" y="3238500"/>
            <a:ext cx="10805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volume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495697" y="322827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5670806" y="3238500"/>
            <a:ext cx="3534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3466337"/>
            <a:ext cx="300376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'Regular / Established Ingredients'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229139" y="3456114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3404249" y="3466337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3694175"/>
            <a:ext cx="351293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'Regular / Established Ingredients'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738318" y="3683952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3913427" y="3694175"/>
            <a:ext cx="330812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'Niche / Specialized Ingredients'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70707" y="3683952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7345817" y="3694175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3922013"/>
            <a:ext cx="15646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volume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90033" y="3911790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965143" y="3922013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16579" y="3911790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291688" y="3922013"/>
            <a:ext cx="14705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across 3 categories.</a:t>
            </a:r>
          </a:p>
        </p:txBody>
      </p:sp>
    </p:spTree>
  </p:cSld>
  <p:clrMapOvr>
    <a:masterClrMapping/>
  </p:clrMapOvr>
</p:sld>
</file>

<file path=ppt/slides/slide7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Value Analysis, By Ingredient Type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by Ingredient Type,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Value, By Ingredient Type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6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103205"/>
                <a:gridCol w="527641"/>
                <a:gridCol w="527641"/>
                <a:gridCol w="527641"/>
                <a:gridCol w="527641"/>
                <a:gridCol w="527641"/>
                <a:gridCol w="509055"/>
                <a:gridCol w="503744"/>
                <a:gridCol w="503744"/>
                <a:gridCol w="503744"/>
                <a:gridCol w="503744"/>
                <a:gridCol w="503744"/>
                <a:gridCol w="503744"/>
                <a:gridCol w="503744"/>
                <a:gridCol w="503744"/>
                <a:gridCol w="503744"/>
                <a:gridCol w="503744"/>
                <a:gridCol w="599291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Ingredient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Regular / Established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Niche / Specialized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Emerging Ingredients / Innovation Candidates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4860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819400"/>
            <a:ext cx="11906250" cy="3810000"/>
          </a:xfrm>
          <a:prstGeom prst="roundRect">
            <a:avLst>
              <a:gd name="adj" fmla="val 200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290512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Value Analysis, By Ingredient Type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314325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3228975"/>
            <a:ext cx="11639550" cy="33242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460910" y="1713738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3238500"/>
            <a:ext cx="406547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'Regular / Established Ingredients' is the largest ingredient type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90854" y="3228276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4465964" y="3238500"/>
            <a:ext cx="9567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371896" y="322827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5547006" y="3238500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3466337"/>
            <a:ext cx="300376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'Regular / Established Ingredients'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229139" y="3456114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3404249" y="3466337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3694175"/>
            <a:ext cx="351293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'Regular / Established Ingredients'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738318" y="3683952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3913427" y="3694175"/>
            <a:ext cx="330812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'Niche / Specialized Ingredients'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70707" y="3683952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7345817" y="3694175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3922013"/>
            <a:ext cx="14408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66233" y="3911790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841342" y="3922013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92779" y="3911790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167888" y="3922013"/>
            <a:ext cx="17440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3 categories.</a:t>
            </a:r>
          </a:p>
        </p:txBody>
      </p:sp>
    </p:spTree>
  </p:cSld>
  <p:clrMapOvr>
    <a:masterClrMapping/>
  </p:clrMapOvr>
</p:sld>
</file>

<file path=ppt/slides/slide7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Value &amp; Share Shift, By Ingredient Type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composition by Ingredient Type in 2021, 2026 and 2036, highlighting share shifts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7400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7210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Composition, By Ingredient Type ·  2021 / 2026 / 2036 (US$ Mn)  ·  right axis = BPS share shift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1150"/>
          <a:ext cx="4614672" cy="49911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852797" y="1590675"/>
            <a:ext cx="2595753" cy="17106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(2021→2036)</a:t>
            </a:r>
          </a:p>
        </p:txBody>
      </p:sp>
      <p:sp>
        <p:nvSpPr>
          <p:cNvPr id="15" name="FMI Lock Anchor"/>
          <p:cNvSpPr txBox="1"/>
          <p:nvPr/>
        </p:nvSpPr>
        <p:spPr>
          <a:xfrm>
            <a:off x="2678811" y="4014597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/>
        </p:txBody>
      </p:sp>
      <p:sp>
        <p:nvSpPr>
          <p:cNvPr id="16" name="FMI Legend Chip"/>
          <p:cNvSpPr/>
          <p:nvPr/>
        </p:nvSpPr>
        <p:spPr>
          <a:xfrm>
            <a:off x="4928997" y="1978395"/>
            <a:ext cx="85725" cy="8572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Isosceles Triangle 16"/>
          <p:cNvSpPr/>
          <p:nvPr/>
        </p:nvSpPr>
        <p:spPr>
          <a:xfrm>
            <a:off x="5090922" y="1973632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BPS Name 1"/>
          <p:cNvSpPr txBox="1"/>
          <p:nvPr/>
        </p:nvSpPr>
        <p:spPr>
          <a:xfrm>
            <a:off x="5233797" y="1897432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Emerging Ingredients / Innovation Candidates</a:t>
            </a:r>
          </a:p>
        </p:txBody>
      </p:sp>
      <p:sp>
        <p:nvSpPr>
          <p:cNvPr id="19" name="BPS Value 1"/>
          <p:cNvSpPr txBox="1"/>
          <p:nvPr/>
        </p:nvSpPr>
        <p:spPr>
          <a:xfrm>
            <a:off x="6896100" y="1959345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0" name="FMI Legend Chip"/>
          <p:cNvSpPr/>
          <p:nvPr/>
        </p:nvSpPr>
        <p:spPr>
          <a:xfrm>
            <a:off x="4928997" y="2945268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Isosceles Triangle 20"/>
          <p:cNvSpPr/>
          <p:nvPr/>
        </p:nvSpPr>
        <p:spPr>
          <a:xfrm rot="10800000">
            <a:off x="5090922" y="2940506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BPS Name 2"/>
          <p:cNvSpPr txBox="1"/>
          <p:nvPr/>
        </p:nvSpPr>
        <p:spPr>
          <a:xfrm>
            <a:off x="5233797" y="2864306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Niche / Specialized Ingredients</a:t>
            </a:r>
          </a:p>
        </p:txBody>
      </p:sp>
      <p:sp>
        <p:nvSpPr>
          <p:cNvPr id="23" name="BPS Value 2"/>
          <p:cNvSpPr txBox="1"/>
          <p:nvPr/>
        </p:nvSpPr>
        <p:spPr>
          <a:xfrm>
            <a:off x="6896100" y="2926218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4" name="FMI Legend Chip"/>
          <p:cNvSpPr/>
          <p:nvPr/>
        </p:nvSpPr>
        <p:spPr>
          <a:xfrm>
            <a:off x="4928997" y="4924320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Isosceles Triangle 24"/>
          <p:cNvSpPr/>
          <p:nvPr/>
        </p:nvSpPr>
        <p:spPr>
          <a:xfrm>
            <a:off x="5090922" y="4919558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BPS Name 3"/>
          <p:cNvSpPr txBox="1"/>
          <p:nvPr/>
        </p:nvSpPr>
        <p:spPr>
          <a:xfrm>
            <a:off x="5233797" y="4843358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Regular / Established Ingredients</a:t>
            </a:r>
          </a:p>
        </p:txBody>
      </p:sp>
      <p:sp>
        <p:nvSpPr>
          <p:cNvPr id="27" name="BPS Value 3"/>
          <p:cNvSpPr txBox="1"/>
          <p:nvPr/>
        </p:nvSpPr>
        <p:spPr>
          <a:xfrm>
            <a:off x="6896100" y="4905270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8" name="Rounded Rectangle 27"/>
          <p:cNvSpPr/>
          <p:nvPr/>
        </p:nvSpPr>
        <p:spPr>
          <a:xfrm>
            <a:off x="7696200" y="981075"/>
            <a:ext cx="4343400" cy="5648325"/>
          </a:xfrm>
          <a:prstGeom prst="roundRect">
            <a:avLst>
              <a:gd name="adj" fmla="val 17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7829550" y="1066800"/>
            <a:ext cx="4076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Read-out, By Ingredient Type</a:t>
            </a:r>
          </a:p>
        </p:txBody>
      </p:sp>
      <p:sp>
        <p:nvSpPr>
          <p:cNvPr id="30" name="Rectangle 29"/>
          <p:cNvSpPr/>
          <p:nvPr/>
        </p:nvSpPr>
        <p:spPr>
          <a:xfrm>
            <a:off x="7829550" y="1304925"/>
            <a:ext cx="40767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7829550" y="1390650"/>
            <a:ext cx="4076700" cy="5162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2E7D32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E44D3A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57843" y="3833622"/>
            <a:ext cx="275034" cy="400050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7829550" y="1400175"/>
            <a:ext cx="355002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'Regular / Established Ingredients' gains the most share +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328726" y="1389951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1503835" y="1400175"/>
            <a:ext cx="2984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7829550" y="1575435"/>
            <a:ext cx="287168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between 2026 and 2036 (</a:t>
            </a:r>
            <a:r>
              <a:rPr sz="1150" b="0">
                <a:solidFill>
                  <a:srgbClr val="2E7D32"/>
                </a:solidFill>
                <a:latin typeface="Calibri"/>
              </a:rPr>
              <a:t>green ▲</a:t>
            </a:r>
            <a:r>
              <a:rPr sz="1150" b="0">
                <a:solidFill>
                  <a:srgbClr val="2E2E2E"/>
                </a:solidFill>
                <a:latin typeface="Calibri"/>
              </a:rPr>
              <a:t> on the scale).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7829550" y="1803273"/>
            <a:ext cx="306566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'Niche / Specialized Ingredients' cedes the most -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844364" y="1793049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1019474" y="1803273"/>
            <a:ext cx="82984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 the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7829550" y="1978533"/>
            <a:ext cx="136469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same window (</a:t>
            </a:r>
            <a:r>
              <a:rPr sz="1150" b="0">
                <a:solidFill>
                  <a:srgbClr val="E44D3A"/>
                </a:solidFill>
                <a:latin typeface="Calibri"/>
              </a:rPr>
              <a:t>red ▼</a:t>
            </a:r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7829550" y="2206371"/>
            <a:ext cx="349297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'Regular / Established Ingredients' is the fastest-growing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7829550" y="2381631"/>
            <a:ext cx="11379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ingredient type at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916618" y="2371407"/>
            <a:ext cx="134549" cy="195707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9091728" y="2381631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7829550" y="2609469"/>
            <a:ext cx="15489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climbs from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27669" y="2599245"/>
            <a:ext cx="134549" cy="195707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9502779" y="2609469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54215" y="2599245"/>
            <a:ext cx="134549" cy="195707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9829324" y="2609469"/>
            <a:ext cx="1689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2021–2036.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7829550" y="2837307"/>
            <a:ext cx="39325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Bars show the value mix at each snapshot; the scale shows how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7829550" y="3012566"/>
            <a:ext cx="11772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each share moves.</a:t>
            </a:r>
          </a:p>
        </p:txBody>
      </p:sp>
      <p:sp>
        <p:nvSpPr>
          <p:cNvPr id="53" name="lockshield_13"/>
          <p:cNvSpPr/>
          <p:nvPr/>
        </p:nvSpPr>
        <p:spPr>
          <a:xfrm>
            <a:off x="238125" y="1581150"/>
            <a:ext cx="4614672" cy="49911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7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Europe Market Volume, By Ingredient Type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Ingredient Type,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457325"/>
          </a:xfrm>
          <a:prstGeom prst="roundRect">
            <a:avLst>
              <a:gd name="adj" fmla="val 522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 YoY Growth, By Ingredient Type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0" cy="9906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00352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Ingredient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Regular / Established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Niche / Specialized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Emerging Ingredients / Innovation Candidates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2383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571750"/>
            <a:ext cx="11906250" cy="4057650"/>
          </a:xfrm>
          <a:prstGeom prst="roundRect">
            <a:avLst>
              <a:gd name="adj" fmla="val 187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62890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 YoY Heatmap, By Ingredient Type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000375"/>
            <a:ext cx="1590675" cy="119062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Regular / Established Ingredients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000375"/>
            <a:ext cx="643890" cy="1190625"/>
          </a:xfrm>
          <a:prstGeom prst="rect">
            <a:avLst/>
          </a:prstGeom>
          <a:solidFill>
            <a:srgbClr val="BDD5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3000375"/>
            <a:ext cx="643890" cy="1190625"/>
          </a:xfrm>
          <a:prstGeom prst="rect">
            <a:avLst/>
          </a:prstGeom>
          <a:solidFill>
            <a:srgbClr val="E1EE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3000375"/>
            <a:ext cx="643890" cy="1190625"/>
          </a:xfrm>
          <a:prstGeom prst="rect">
            <a:avLst/>
          </a:prstGeom>
          <a:solidFill>
            <a:srgbClr val="DDEC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3000375"/>
            <a:ext cx="643890" cy="1190625"/>
          </a:xfrm>
          <a:prstGeom prst="rect">
            <a:avLst/>
          </a:prstGeom>
          <a:solidFill>
            <a:srgbClr val="D0E1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3000375"/>
            <a:ext cx="643890" cy="1190625"/>
          </a:xfrm>
          <a:prstGeom prst="rect">
            <a:avLst/>
          </a:prstGeom>
          <a:solidFill>
            <a:srgbClr val="0F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3000375"/>
            <a:ext cx="643890" cy="1190625"/>
          </a:xfrm>
          <a:prstGeom prst="rect">
            <a:avLst/>
          </a:prstGeom>
          <a:solidFill>
            <a:srgbClr val="1F7C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3000375"/>
            <a:ext cx="643890" cy="1190625"/>
          </a:xfrm>
          <a:prstGeom prst="rect">
            <a:avLst/>
          </a:prstGeom>
          <a:solidFill>
            <a:srgbClr val="0C3C5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3000375"/>
            <a:ext cx="643890" cy="1190625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3000375"/>
            <a:ext cx="643890" cy="1190625"/>
          </a:xfrm>
          <a:prstGeom prst="rect">
            <a:avLst/>
          </a:prstGeom>
          <a:solidFill>
            <a:srgbClr val="237E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3000375"/>
            <a:ext cx="643890" cy="1190625"/>
          </a:xfrm>
          <a:prstGeom prst="rect">
            <a:avLst/>
          </a:prstGeom>
          <a:solidFill>
            <a:srgbClr val="1274B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3000375"/>
            <a:ext cx="643890" cy="1190625"/>
          </a:xfrm>
          <a:prstGeom prst="rect">
            <a:avLst/>
          </a:prstGeom>
          <a:solidFill>
            <a:srgbClr val="0D669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3000375"/>
            <a:ext cx="643890" cy="1190625"/>
          </a:xfrm>
          <a:prstGeom prst="rect">
            <a:avLst/>
          </a:prstGeom>
          <a:solidFill>
            <a:srgbClr val="0C406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3000375"/>
            <a:ext cx="643890" cy="1190625"/>
          </a:xfrm>
          <a:prstGeom prst="rect">
            <a:avLst/>
          </a:prstGeom>
          <a:solidFill>
            <a:srgbClr val="0C4C7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3000375"/>
            <a:ext cx="643890" cy="1190625"/>
          </a:xfrm>
          <a:prstGeom prst="rect">
            <a:avLst/>
          </a:prstGeom>
          <a:solidFill>
            <a:srgbClr val="0C4E7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3000375"/>
            <a:ext cx="643890" cy="1190625"/>
          </a:xfrm>
          <a:prstGeom prst="rect">
            <a:avLst/>
          </a:prstGeom>
          <a:solidFill>
            <a:srgbClr val="0C497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191000"/>
            <a:ext cx="1590675" cy="119062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Niche / Specialized Ingredients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191000"/>
            <a:ext cx="643890" cy="1190625"/>
          </a:xfrm>
          <a:prstGeom prst="rect">
            <a:avLst/>
          </a:prstGeom>
          <a:solidFill>
            <a:srgbClr val="E3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191000"/>
            <a:ext cx="643890" cy="1190625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191000"/>
            <a:ext cx="643890" cy="1190625"/>
          </a:xfrm>
          <a:prstGeom prst="rect">
            <a:avLst/>
          </a:prstGeom>
          <a:solidFill>
            <a:srgbClr val="FB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191000"/>
            <a:ext cx="643890" cy="1190625"/>
          </a:xfrm>
          <a:prstGeom prst="rect">
            <a:avLst/>
          </a:prstGeom>
          <a:solidFill>
            <a:srgbClr val="E8F5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191000"/>
            <a:ext cx="643890" cy="1190625"/>
          </a:xfrm>
          <a:prstGeom prst="rect">
            <a:avLst/>
          </a:prstGeom>
          <a:solidFill>
            <a:srgbClr val="3D8F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191000"/>
            <a:ext cx="643890" cy="1190625"/>
          </a:xfrm>
          <a:prstGeom prst="rect">
            <a:avLst/>
          </a:prstGeom>
          <a:solidFill>
            <a:srgbClr val="4C96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191000"/>
            <a:ext cx="643890" cy="1190625"/>
          </a:xfrm>
          <a:prstGeom prst="rect">
            <a:avLst/>
          </a:prstGeom>
          <a:solidFill>
            <a:srgbClr val="1E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191000"/>
            <a:ext cx="643890" cy="1190625"/>
          </a:xfrm>
          <a:prstGeom prst="rect">
            <a:avLst/>
          </a:prstGeom>
          <a:solidFill>
            <a:srgbClr val="0E71A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191000"/>
            <a:ext cx="643890" cy="1190625"/>
          </a:xfrm>
          <a:prstGeom prst="rect">
            <a:avLst/>
          </a:prstGeom>
          <a:solidFill>
            <a:srgbClr val="4F98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191000"/>
            <a:ext cx="643890" cy="1190625"/>
          </a:xfrm>
          <a:prstGeom prst="rect">
            <a:avLst/>
          </a:prstGeom>
          <a:solidFill>
            <a:srgbClr val="37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191000"/>
            <a:ext cx="643890" cy="1190625"/>
          </a:xfrm>
          <a:prstGeom prst="rect">
            <a:avLst/>
          </a:prstGeom>
          <a:solidFill>
            <a:srgbClr val="2E85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191000"/>
            <a:ext cx="643890" cy="1190625"/>
          </a:xfrm>
          <a:prstGeom prst="rect">
            <a:avLst/>
          </a:prstGeom>
          <a:solidFill>
            <a:srgbClr val="0E72A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191000"/>
            <a:ext cx="643890" cy="1190625"/>
          </a:xfrm>
          <a:prstGeom prst="rect">
            <a:avLst/>
          </a:prstGeom>
          <a:solidFill>
            <a:srgbClr val="1D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191000"/>
            <a:ext cx="643890" cy="1190625"/>
          </a:xfrm>
          <a:prstGeom prst="rect">
            <a:avLst/>
          </a:prstGeom>
          <a:solidFill>
            <a:srgbClr val="1D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191000"/>
            <a:ext cx="643890" cy="1190625"/>
          </a:xfrm>
          <a:prstGeom prst="rect">
            <a:avLst/>
          </a:prstGeom>
          <a:solidFill>
            <a:srgbClr val="1677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5381625"/>
            <a:ext cx="1590675" cy="119062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Emerging Ingredients / Innovation Candidates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5381625"/>
            <a:ext cx="643890" cy="1190625"/>
          </a:xfrm>
          <a:prstGeom prst="rect">
            <a:avLst/>
          </a:prstGeom>
          <a:solidFill>
            <a:srgbClr val="D4E4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5381625"/>
            <a:ext cx="643890" cy="1190625"/>
          </a:xfrm>
          <a:prstGeom prst="rect">
            <a:avLst/>
          </a:prstGeom>
          <a:solidFill>
            <a:srgbClr val="F1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5381625"/>
            <a:ext cx="643890" cy="1190625"/>
          </a:xfrm>
          <a:prstGeom prst="rect">
            <a:avLst/>
          </a:prstGeom>
          <a:solidFill>
            <a:srgbClr val="E9F5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5381625"/>
            <a:ext cx="643890" cy="1190625"/>
          </a:xfrm>
          <a:prstGeom prst="rect">
            <a:avLst/>
          </a:prstGeom>
          <a:solidFill>
            <a:srgbClr val="DF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5381625"/>
            <a:ext cx="643890" cy="1190625"/>
          </a:xfrm>
          <a:prstGeom prst="rect">
            <a:avLst/>
          </a:prstGeom>
          <a:solidFill>
            <a:srgbClr val="2881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5381625"/>
            <a:ext cx="643890" cy="1190625"/>
          </a:xfrm>
          <a:prstGeom prst="rect">
            <a:avLst/>
          </a:prstGeom>
          <a:solidFill>
            <a:srgbClr val="3589C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5381625"/>
            <a:ext cx="643890" cy="1190625"/>
          </a:xfrm>
          <a:prstGeom prst="rect">
            <a:avLst/>
          </a:prstGeom>
          <a:solidFill>
            <a:srgbClr val="0D538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5381625"/>
            <a:ext cx="643890" cy="1190625"/>
          </a:xfrm>
          <a:prstGeom prst="rect">
            <a:avLst/>
          </a:prstGeom>
          <a:solidFill>
            <a:srgbClr val="0C4C7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5381625"/>
            <a:ext cx="643890" cy="1190625"/>
          </a:xfrm>
          <a:prstGeom prst="rect">
            <a:avLst/>
          </a:prstGeom>
          <a:solidFill>
            <a:srgbClr val="3489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5381625"/>
            <a:ext cx="643890" cy="1190625"/>
          </a:xfrm>
          <a:prstGeom prst="rect">
            <a:avLst/>
          </a:prstGeom>
          <a:solidFill>
            <a:srgbClr val="2681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5381625"/>
            <a:ext cx="643890" cy="1190625"/>
          </a:xfrm>
          <a:prstGeom prst="rect">
            <a:avLst/>
          </a:prstGeom>
          <a:solidFill>
            <a:srgbClr val="0E72A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5381625"/>
            <a:ext cx="643890" cy="1190625"/>
          </a:xfrm>
          <a:prstGeom prst="rect">
            <a:avLst/>
          </a:prstGeom>
          <a:solidFill>
            <a:srgbClr val="0D538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5381625"/>
            <a:ext cx="643890" cy="1190625"/>
          </a:xfrm>
          <a:prstGeom prst="rect">
            <a:avLst/>
          </a:prstGeom>
          <a:solidFill>
            <a:srgbClr val="0C4D7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5381625"/>
            <a:ext cx="643890" cy="1190625"/>
          </a:xfrm>
          <a:prstGeom prst="rect">
            <a:avLst/>
          </a:prstGeom>
          <a:solidFill>
            <a:srgbClr val="0D578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5381625"/>
            <a:ext cx="643890" cy="1190625"/>
          </a:xfrm>
          <a:prstGeom prst="rect">
            <a:avLst/>
          </a:prstGeom>
          <a:solidFill>
            <a:srgbClr val="0D5A8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Rectangle 79"/>
          <p:cNvSpPr/>
          <p:nvPr/>
        </p:nvSpPr>
        <p:spPr>
          <a:xfrm>
            <a:off x="11572875" y="3038475"/>
            <a:ext cx="104775" cy="95012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Rectangle 80"/>
          <p:cNvSpPr/>
          <p:nvPr/>
        </p:nvSpPr>
        <p:spPr>
          <a:xfrm>
            <a:off x="11572875" y="3125867"/>
            <a:ext cx="104775" cy="95012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11572875" y="3213259"/>
            <a:ext cx="104775" cy="95012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11572875" y="3300651"/>
            <a:ext cx="104775" cy="95012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11572875" y="3388042"/>
            <a:ext cx="104775" cy="95012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11572875" y="3475434"/>
            <a:ext cx="104775" cy="95012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11572875" y="3562826"/>
            <a:ext cx="104775" cy="95012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11572875" y="3650218"/>
            <a:ext cx="104775" cy="95012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11572875" y="3737610"/>
            <a:ext cx="104775" cy="95012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11572875" y="3825002"/>
            <a:ext cx="104775" cy="95012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11572875" y="3912394"/>
            <a:ext cx="104775" cy="95012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11572875" y="3999786"/>
            <a:ext cx="104775" cy="95012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11572875" y="4087178"/>
            <a:ext cx="104775" cy="95012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11572875" y="4174569"/>
            <a:ext cx="104775" cy="95012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1572875" y="4261961"/>
            <a:ext cx="104775" cy="95012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1572875" y="4349353"/>
            <a:ext cx="104775" cy="95012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Rectangle 95"/>
          <p:cNvSpPr/>
          <p:nvPr/>
        </p:nvSpPr>
        <p:spPr>
          <a:xfrm>
            <a:off x="11572875" y="4436745"/>
            <a:ext cx="104775" cy="95012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Rectangle 96"/>
          <p:cNvSpPr/>
          <p:nvPr/>
        </p:nvSpPr>
        <p:spPr>
          <a:xfrm>
            <a:off x="11572875" y="4524137"/>
            <a:ext cx="104775" cy="95012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11572875" y="4611529"/>
            <a:ext cx="104775" cy="95012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11572875" y="4698921"/>
            <a:ext cx="104775" cy="95012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11572875" y="4786312"/>
            <a:ext cx="104775" cy="95012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11572875" y="4873704"/>
            <a:ext cx="104775" cy="95012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11572875" y="4961096"/>
            <a:ext cx="104775" cy="95012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11572875" y="5048488"/>
            <a:ext cx="104775" cy="95012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11572875" y="5135880"/>
            <a:ext cx="104775" cy="95012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11572875" y="5223272"/>
            <a:ext cx="104775" cy="95012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11572875" y="5310664"/>
            <a:ext cx="104775" cy="95012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11572875" y="5398056"/>
            <a:ext cx="104775" cy="95012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11572875" y="5485448"/>
            <a:ext cx="104775" cy="95012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11572875" y="5572839"/>
            <a:ext cx="104775" cy="95012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1572875" y="5660231"/>
            <a:ext cx="104775" cy="95012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1572875" y="5747623"/>
            <a:ext cx="104775" cy="95012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Rectangle 111"/>
          <p:cNvSpPr/>
          <p:nvPr/>
        </p:nvSpPr>
        <p:spPr>
          <a:xfrm>
            <a:off x="11572875" y="5835015"/>
            <a:ext cx="104775" cy="95012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Rectangle 112"/>
          <p:cNvSpPr/>
          <p:nvPr/>
        </p:nvSpPr>
        <p:spPr>
          <a:xfrm>
            <a:off x="11572875" y="5922407"/>
            <a:ext cx="104775" cy="95012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11572875" y="6009799"/>
            <a:ext cx="104775" cy="95012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11572875" y="6097191"/>
            <a:ext cx="104775" cy="95012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11572875" y="6184582"/>
            <a:ext cx="104775" cy="95012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11572875" y="6271974"/>
            <a:ext cx="104775" cy="95012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11572875" y="6359366"/>
            <a:ext cx="104775" cy="95012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11572875" y="6446758"/>
            <a:ext cx="104775" cy="95012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11572875" y="3038475"/>
            <a:ext cx="104775" cy="3495675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TextBox 120"/>
          <p:cNvSpPr txBox="1"/>
          <p:nvPr/>
        </p:nvSpPr>
        <p:spPr>
          <a:xfrm>
            <a:off x="11687175" y="297180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11687175" y="4719638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4%</a:t>
            </a:r>
          </a:p>
        </p:txBody>
      </p:sp>
      <p:sp>
        <p:nvSpPr>
          <p:cNvPr id="124" name="TextBox 12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25" name="Picture 12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411442" y="1590441"/>
            <a:ext cx="365985" cy="532342"/>
          </a:xfrm>
          <a:prstGeom prst="rect">
            <a:avLst/>
          </a:prstGeom>
        </p:spPr>
      </p:pic>
    </p:spTree>
  </p:cSld>
  <p:clrMapOvr>
    <a:masterClrMapping/>
  </p:clrMapOvr>
</p:sld>
</file>

<file path=ppt/slides/slide7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Europe Market Value, By Ingredient Type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Ingredient Type,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457325"/>
          </a:xfrm>
          <a:prstGeom prst="roundRect">
            <a:avLst>
              <a:gd name="adj" fmla="val 522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YoY Growth, By Ingredient Type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0" cy="9906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00352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Ingredient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Regular / Established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Niche / Specialized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Emerging Ingredients / Innovation Candidates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2383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571750"/>
            <a:ext cx="11906250" cy="4057650"/>
          </a:xfrm>
          <a:prstGeom prst="roundRect">
            <a:avLst>
              <a:gd name="adj" fmla="val 187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62890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YoY Heatmap, By Ingredient Type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000375"/>
            <a:ext cx="1590675" cy="119062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Regular / Established Ingredients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000375"/>
            <a:ext cx="643890" cy="1190625"/>
          </a:xfrm>
          <a:prstGeom prst="rect">
            <a:avLst/>
          </a:prstGeom>
          <a:solidFill>
            <a:srgbClr val="C2D8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3000375"/>
            <a:ext cx="643890" cy="1190625"/>
          </a:xfrm>
          <a:prstGeom prst="rect">
            <a:avLst/>
          </a:prstGeom>
          <a:solidFill>
            <a:srgbClr val="E2EF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3000375"/>
            <a:ext cx="643890" cy="1190625"/>
          </a:xfrm>
          <a:prstGeom prst="rect">
            <a:avLst/>
          </a:prstGeom>
          <a:solidFill>
            <a:srgbClr val="E2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3000375"/>
            <a:ext cx="643890" cy="1190625"/>
          </a:xfrm>
          <a:prstGeom prst="rect">
            <a:avLst/>
          </a:prstGeom>
          <a:solidFill>
            <a:srgbClr val="D5E5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3000375"/>
            <a:ext cx="643890" cy="1190625"/>
          </a:xfrm>
          <a:prstGeom prst="rect">
            <a:avLst/>
          </a:prstGeom>
          <a:solidFill>
            <a:srgbClr val="0E6EA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3000375"/>
            <a:ext cx="643890" cy="1190625"/>
          </a:xfrm>
          <a:prstGeom prst="rect">
            <a:avLst/>
          </a:prstGeom>
          <a:solidFill>
            <a:srgbClr val="23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3000375"/>
            <a:ext cx="643890" cy="1190625"/>
          </a:xfrm>
          <a:prstGeom prst="rect">
            <a:avLst/>
          </a:prstGeom>
          <a:solidFill>
            <a:srgbClr val="0C3F6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3000375"/>
            <a:ext cx="643890" cy="1190625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3000375"/>
            <a:ext cx="643890" cy="1190625"/>
          </a:xfrm>
          <a:prstGeom prst="rect">
            <a:avLst/>
          </a:prstGeom>
          <a:solidFill>
            <a:srgbClr val="2781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3000375"/>
            <a:ext cx="643890" cy="1190625"/>
          </a:xfrm>
          <a:prstGeom prst="rect">
            <a:avLst/>
          </a:prstGeom>
          <a:solidFill>
            <a:srgbClr val="1274B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3000375"/>
            <a:ext cx="643890" cy="1190625"/>
          </a:xfrm>
          <a:prstGeom prst="rect">
            <a:avLst/>
          </a:prstGeom>
          <a:solidFill>
            <a:srgbClr val="0E6BA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3000375"/>
            <a:ext cx="643890" cy="1190625"/>
          </a:xfrm>
          <a:prstGeom prst="rect">
            <a:avLst/>
          </a:prstGeom>
          <a:solidFill>
            <a:srgbClr val="0C4B7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3000375"/>
            <a:ext cx="643890" cy="1190625"/>
          </a:xfrm>
          <a:prstGeom prst="rect">
            <a:avLst/>
          </a:prstGeom>
          <a:solidFill>
            <a:srgbClr val="0C507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3000375"/>
            <a:ext cx="643890" cy="1190625"/>
          </a:xfrm>
          <a:prstGeom prst="rect">
            <a:avLst/>
          </a:prstGeom>
          <a:solidFill>
            <a:srgbClr val="0D548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3000375"/>
            <a:ext cx="643890" cy="1190625"/>
          </a:xfrm>
          <a:prstGeom prst="rect">
            <a:avLst/>
          </a:prstGeom>
          <a:solidFill>
            <a:srgbClr val="0D538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191000"/>
            <a:ext cx="1590675" cy="119062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Niche / Specialized Ingredients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191000"/>
            <a:ext cx="643890" cy="1190625"/>
          </a:xfrm>
          <a:prstGeom prst="rect">
            <a:avLst/>
          </a:prstGeom>
          <a:solidFill>
            <a:srgbClr val="E4F1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191000"/>
            <a:ext cx="643890" cy="1190625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191000"/>
            <a:ext cx="643890" cy="1190625"/>
          </a:xfrm>
          <a:prstGeom prst="rect">
            <a:avLst/>
          </a:prstGeom>
          <a:solidFill>
            <a:srgbClr val="FD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191000"/>
            <a:ext cx="643890" cy="1190625"/>
          </a:xfrm>
          <a:prstGeom prst="rect">
            <a:avLst/>
          </a:prstGeom>
          <a:solidFill>
            <a:srgbClr val="EB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191000"/>
            <a:ext cx="643890" cy="1190625"/>
          </a:xfrm>
          <a:prstGeom prst="rect">
            <a:avLst/>
          </a:prstGeom>
          <a:solidFill>
            <a:srgbClr val="37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191000"/>
            <a:ext cx="643890" cy="1190625"/>
          </a:xfrm>
          <a:prstGeom prst="rect">
            <a:avLst/>
          </a:prstGeom>
          <a:solidFill>
            <a:srgbClr val="4E98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191000"/>
            <a:ext cx="643890" cy="1190625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191000"/>
            <a:ext cx="643890" cy="1190625"/>
          </a:xfrm>
          <a:prstGeom prst="rect">
            <a:avLst/>
          </a:prstGeom>
          <a:solidFill>
            <a:srgbClr val="0E6AA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191000"/>
            <a:ext cx="643890" cy="1190625"/>
          </a:xfrm>
          <a:prstGeom prst="rect">
            <a:avLst/>
          </a:prstGeom>
          <a:solidFill>
            <a:srgbClr val="539A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191000"/>
            <a:ext cx="643890" cy="1190625"/>
          </a:xfrm>
          <a:prstGeom prst="rect">
            <a:avLst/>
          </a:prstGeom>
          <a:solidFill>
            <a:srgbClr val="3389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191000"/>
            <a:ext cx="643890" cy="1190625"/>
          </a:xfrm>
          <a:prstGeom prst="rect">
            <a:avLst/>
          </a:prstGeom>
          <a:solidFill>
            <a:srgbClr val="2E85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191000"/>
            <a:ext cx="643890" cy="1190625"/>
          </a:xfrm>
          <a:prstGeom prst="rect">
            <a:avLst/>
          </a:prstGeom>
          <a:solidFill>
            <a:srgbClr val="1074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191000"/>
            <a:ext cx="643890" cy="1190625"/>
          </a:xfrm>
          <a:prstGeom prst="rect">
            <a:avLst/>
          </a:prstGeom>
          <a:solidFill>
            <a:srgbClr val="1E7C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191000"/>
            <a:ext cx="643890" cy="1190625"/>
          </a:xfrm>
          <a:prstGeom prst="rect">
            <a:avLst/>
          </a:prstGeom>
          <a:solidFill>
            <a:srgbClr val="1D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191000"/>
            <a:ext cx="643890" cy="1190625"/>
          </a:xfrm>
          <a:prstGeom prst="rect">
            <a:avLst/>
          </a:prstGeom>
          <a:solidFill>
            <a:srgbClr val="1978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5381625"/>
            <a:ext cx="1590675" cy="119062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Emerging Ingredients / Innovation Candidates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5381625"/>
            <a:ext cx="643890" cy="1190625"/>
          </a:xfrm>
          <a:prstGeom prst="rect">
            <a:avLst/>
          </a:prstGeom>
          <a:solidFill>
            <a:srgbClr val="D4E4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5381625"/>
            <a:ext cx="643890" cy="1190625"/>
          </a:xfrm>
          <a:prstGeom prst="rect">
            <a:avLst/>
          </a:prstGeom>
          <a:solidFill>
            <a:srgbClr val="F0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5381625"/>
            <a:ext cx="643890" cy="1190625"/>
          </a:xfrm>
          <a:prstGeom prst="rect">
            <a:avLst/>
          </a:prstGeom>
          <a:solidFill>
            <a:srgbClr val="EC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5381625"/>
            <a:ext cx="643890" cy="1190625"/>
          </a:xfrm>
          <a:prstGeom prst="rect">
            <a:avLst/>
          </a:prstGeom>
          <a:solidFill>
            <a:srgbClr val="E1EF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5381625"/>
            <a:ext cx="643890" cy="1190625"/>
          </a:xfrm>
          <a:prstGeom prst="rect">
            <a:avLst/>
          </a:prstGeom>
          <a:solidFill>
            <a:srgbClr val="1D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5381625"/>
            <a:ext cx="643890" cy="1190625"/>
          </a:xfrm>
          <a:prstGeom prst="rect">
            <a:avLst/>
          </a:prstGeom>
          <a:solidFill>
            <a:srgbClr val="358AC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5381625"/>
            <a:ext cx="643890" cy="1190625"/>
          </a:xfrm>
          <a:prstGeom prst="rect">
            <a:avLst/>
          </a:prstGeom>
          <a:solidFill>
            <a:srgbClr val="0C497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5381625"/>
            <a:ext cx="643890" cy="1190625"/>
          </a:xfrm>
          <a:prstGeom prst="rect">
            <a:avLst/>
          </a:prstGeom>
          <a:solidFill>
            <a:srgbClr val="0C416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5381625"/>
            <a:ext cx="643890" cy="1190625"/>
          </a:xfrm>
          <a:prstGeom prst="rect">
            <a:avLst/>
          </a:prstGeom>
          <a:solidFill>
            <a:srgbClr val="3187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5381625"/>
            <a:ext cx="643890" cy="1190625"/>
          </a:xfrm>
          <a:prstGeom prst="rect">
            <a:avLst/>
          </a:prstGeom>
          <a:solidFill>
            <a:srgbClr val="1F7D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5381625"/>
            <a:ext cx="643890" cy="1190625"/>
          </a:xfrm>
          <a:prstGeom prst="rect">
            <a:avLst/>
          </a:prstGeom>
          <a:solidFill>
            <a:srgbClr val="0E69A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5381625"/>
            <a:ext cx="643890" cy="1190625"/>
          </a:xfrm>
          <a:prstGeom prst="rect">
            <a:avLst/>
          </a:prstGeom>
          <a:solidFill>
            <a:srgbClr val="0C4E7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5381625"/>
            <a:ext cx="643890" cy="1190625"/>
          </a:xfrm>
          <a:prstGeom prst="rect">
            <a:avLst/>
          </a:prstGeom>
          <a:solidFill>
            <a:srgbClr val="0C466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5381625"/>
            <a:ext cx="643890" cy="1190625"/>
          </a:xfrm>
          <a:prstGeom prst="rect">
            <a:avLst/>
          </a:prstGeom>
          <a:solidFill>
            <a:srgbClr val="0C4F7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5381625"/>
            <a:ext cx="643890" cy="1190625"/>
          </a:xfrm>
          <a:prstGeom prst="rect">
            <a:avLst/>
          </a:prstGeom>
          <a:solidFill>
            <a:srgbClr val="0D578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Rectangle 79"/>
          <p:cNvSpPr/>
          <p:nvPr/>
        </p:nvSpPr>
        <p:spPr>
          <a:xfrm>
            <a:off x="11572875" y="3038475"/>
            <a:ext cx="104775" cy="95012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Rectangle 80"/>
          <p:cNvSpPr/>
          <p:nvPr/>
        </p:nvSpPr>
        <p:spPr>
          <a:xfrm>
            <a:off x="11572875" y="3125867"/>
            <a:ext cx="104775" cy="95012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11572875" y="3213259"/>
            <a:ext cx="104775" cy="95012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11572875" y="3300651"/>
            <a:ext cx="104775" cy="95012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11572875" y="3388042"/>
            <a:ext cx="104775" cy="95012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11572875" y="3475434"/>
            <a:ext cx="104775" cy="95012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11572875" y="3562826"/>
            <a:ext cx="104775" cy="95012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11572875" y="3650218"/>
            <a:ext cx="104775" cy="95012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11572875" y="3737610"/>
            <a:ext cx="104775" cy="95012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11572875" y="3825002"/>
            <a:ext cx="104775" cy="95012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11572875" y="3912394"/>
            <a:ext cx="104775" cy="95012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11572875" y="3999786"/>
            <a:ext cx="104775" cy="95012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11572875" y="4087178"/>
            <a:ext cx="104775" cy="95012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11572875" y="4174569"/>
            <a:ext cx="104775" cy="95012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1572875" y="4261961"/>
            <a:ext cx="104775" cy="95012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1572875" y="4349353"/>
            <a:ext cx="104775" cy="95012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Rectangle 95"/>
          <p:cNvSpPr/>
          <p:nvPr/>
        </p:nvSpPr>
        <p:spPr>
          <a:xfrm>
            <a:off x="11572875" y="4436745"/>
            <a:ext cx="104775" cy="95012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Rectangle 96"/>
          <p:cNvSpPr/>
          <p:nvPr/>
        </p:nvSpPr>
        <p:spPr>
          <a:xfrm>
            <a:off x="11572875" y="4524137"/>
            <a:ext cx="104775" cy="95012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11572875" y="4611529"/>
            <a:ext cx="104775" cy="95012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11572875" y="4698921"/>
            <a:ext cx="104775" cy="95012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11572875" y="4786312"/>
            <a:ext cx="104775" cy="95012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11572875" y="4873704"/>
            <a:ext cx="104775" cy="95012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11572875" y="4961096"/>
            <a:ext cx="104775" cy="95012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11572875" y="5048488"/>
            <a:ext cx="104775" cy="95012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11572875" y="5135880"/>
            <a:ext cx="104775" cy="95012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11572875" y="5223272"/>
            <a:ext cx="104775" cy="95012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11572875" y="5310664"/>
            <a:ext cx="104775" cy="95012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11572875" y="5398056"/>
            <a:ext cx="104775" cy="95012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11572875" y="5485448"/>
            <a:ext cx="104775" cy="95012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11572875" y="5572839"/>
            <a:ext cx="104775" cy="95012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1572875" y="5660231"/>
            <a:ext cx="104775" cy="95012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1572875" y="5747623"/>
            <a:ext cx="104775" cy="95012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Rectangle 111"/>
          <p:cNvSpPr/>
          <p:nvPr/>
        </p:nvSpPr>
        <p:spPr>
          <a:xfrm>
            <a:off x="11572875" y="5835015"/>
            <a:ext cx="104775" cy="95012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Rectangle 112"/>
          <p:cNvSpPr/>
          <p:nvPr/>
        </p:nvSpPr>
        <p:spPr>
          <a:xfrm>
            <a:off x="11572875" y="5922407"/>
            <a:ext cx="104775" cy="95012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11572875" y="6009799"/>
            <a:ext cx="104775" cy="95012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11572875" y="6097191"/>
            <a:ext cx="104775" cy="95012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11572875" y="6184582"/>
            <a:ext cx="104775" cy="95012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11572875" y="6271974"/>
            <a:ext cx="104775" cy="95012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11572875" y="6359366"/>
            <a:ext cx="104775" cy="95012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11572875" y="6446758"/>
            <a:ext cx="104775" cy="95012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11572875" y="3038475"/>
            <a:ext cx="104775" cy="3495675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TextBox 120"/>
          <p:cNvSpPr txBox="1"/>
          <p:nvPr/>
        </p:nvSpPr>
        <p:spPr>
          <a:xfrm>
            <a:off x="11687175" y="297180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11687175" y="4719638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124" name="TextBox 12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25" name="Picture 12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411442" y="1590441"/>
            <a:ext cx="365985" cy="532342"/>
          </a:xfrm>
          <a:prstGeom prst="rect">
            <a:avLst/>
          </a:prstGeom>
        </p:spPr>
      </p:pic>
    </p:spTree>
  </p:cSld>
  <p:clrMapOvr>
    <a:masterClrMapping/>
  </p:clrMapOvr>
</p:sld>
</file>

<file path=ppt/slides/slide7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7.3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Product Format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Product Format Segment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Structure &amp; Attractiveness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Volume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Value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7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By Product Format Segment Outlook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 analysis of market size, growth and share across 8 sub-segments of Product Format,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Product Format segment categorizes the market by product format. Each sub-category is evaluated on market size, growth outlook and adoption trends across the forecast period.</a:t>
            </a:r>
          </a:p>
        </p:txBody>
      </p:sp>
      <p:sp>
        <p:nvSpPr>
          <p:cNvPr id="12" name="Rectangle 11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Sub-Segment</a:t>
            </a:r>
          </a:p>
        </p:txBody>
      </p:sp>
      <p:sp>
        <p:nvSpPr>
          <p:cNvPr id="14" name="Rectangle 13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6" name="Rectangle 15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8" name="Rectangle 17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866900" y="1773916"/>
            <a:ext cx="1150144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Rectangle 20"/>
          <p:cNvSpPr/>
          <p:nvPr/>
        </p:nvSpPr>
        <p:spPr>
          <a:xfrm>
            <a:off x="1866900" y="1992961"/>
            <a:ext cx="1150144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905000" y="1773916"/>
            <a:ext cx="1073944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Liquid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230259"/>
            <a:ext cx="1150144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2723109"/>
            <a:ext cx="1150144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5" name="Rectangle 24"/>
          <p:cNvSpPr/>
          <p:nvPr/>
        </p:nvSpPr>
        <p:spPr>
          <a:xfrm>
            <a:off x="1866900" y="3215959"/>
            <a:ext cx="1150144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6" name="Oval 25"/>
          <p:cNvSpPr/>
          <p:nvPr/>
        </p:nvSpPr>
        <p:spPr>
          <a:xfrm>
            <a:off x="2280047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3131344" y="1773916"/>
            <a:ext cx="1150144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Rectangle 27"/>
          <p:cNvSpPr/>
          <p:nvPr/>
        </p:nvSpPr>
        <p:spPr>
          <a:xfrm>
            <a:off x="3131344" y="1992961"/>
            <a:ext cx="1150144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3169444" y="1773916"/>
            <a:ext cx="1073944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Spray</a:t>
            </a:r>
          </a:p>
        </p:txBody>
      </p:sp>
      <p:sp>
        <p:nvSpPr>
          <p:cNvPr id="30" name="Rectangle 29"/>
          <p:cNvSpPr/>
          <p:nvPr/>
        </p:nvSpPr>
        <p:spPr>
          <a:xfrm>
            <a:off x="3131344" y="2230259"/>
            <a:ext cx="1150144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3131344" y="2723109"/>
            <a:ext cx="1150144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2" name="Rectangle 31"/>
          <p:cNvSpPr/>
          <p:nvPr/>
        </p:nvSpPr>
        <p:spPr>
          <a:xfrm>
            <a:off x="3131344" y="3215959"/>
            <a:ext cx="1150144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3544491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4395788" y="1773916"/>
            <a:ext cx="1150144" cy="438089"/>
          </a:xfrm>
          <a:prstGeom prst="roundRect">
            <a:avLst>
              <a:gd name="adj" fmla="val 18000"/>
            </a:avLst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4395788" y="1992961"/>
            <a:ext cx="1150144" cy="21904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4433888" y="1773916"/>
            <a:ext cx="1073944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Cream &amp; Balm</a:t>
            </a:r>
          </a:p>
        </p:txBody>
      </p:sp>
      <p:sp>
        <p:nvSpPr>
          <p:cNvPr id="37" name="Rectangle 36"/>
          <p:cNvSpPr/>
          <p:nvPr/>
        </p:nvSpPr>
        <p:spPr>
          <a:xfrm>
            <a:off x="4395788" y="2230259"/>
            <a:ext cx="1150144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8" name="Rectangle 37"/>
          <p:cNvSpPr/>
          <p:nvPr/>
        </p:nvSpPr>
        <p:spPr>
          <a:xfrm>
            <a:off x="4395788" y="2723109"/>
            <a:ext cx="1150144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9" name="Rectangle 38"/>
          <p:cNvSpPr/>
          <p:nvPr/>
        </p:nvSpPr>
        <p:spPr>
          <a:xfrm>
            <a:off x="4395788" y="3215959"/>
            <a:ext cx="1150144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40" name="Oval 39"/>
          <p:cNvSpPr/>
          <p:nvPr/>
        </p:nvSpPr>
        <p:spPr>
          <a:xfrm>
            <a:off x="4808934" y="1445350"/>
            <a:ext cx="323850" cy="310313"/>
          </a:xfrm>
          <a:prstGeom prst="ellipse">
            <a:avLst/>
          </a:prstGeom>
          <a:solidFill>
            <a:srgbClr val="0081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41" name="Rounded Rectangle 40"/>
          <p:cNvSpPr/>
          <p:nvPr/>
        </p:nvSpPr>
        <p:spPr>
          <a:xfrm>
            <a:off x="5660231" y="1773916"/>
            <a:ext cx="1150144" cy="438089"/>
          </a:xfrm>
          <a:prstGeom prst="roundRect">
            <a:avLst>
              <a:gd name="adj" fmla="val 18000"/>
            </a:avLst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5660231" y="1992961"/>
            <a:ext cx="1150144" cy="219044"/>
          </a:xfrm>
          <a:prstGeom prst="rect">
            <a:avLst/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5698331" y="1773916"/>
            <a:ext cx="1073944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Wipe &amp; Pad</a:t>
            </a:r>
          </a:p>
        </p:txBody>
      </p:sp>
      <p:sp>
        <p:nvSpPr>
          <p:cNvPr id="44" name="Rectangle 43"/>
          <p:cNvSpPr/>
          <p:nvPr/>
        </p:nvSpPr>
        <p:spPr>
          <a:xfrm>
            <a:off x="5660231" y="2230259"/>
            <a:ext cx="1150144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5" name="Rectangle 44"/>
          <p:cNvSpPr/>
          <p:nvPr/>
        </p:nvSpPr>
        <p:spPr>
          <a:xfrm>
            <a:off x="5660231" y="2723109"/>
            <a:ext cx="1150144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6" name="Rectangle 45"/>
          <p:cNvSpPr/>
          <p:nvPr/>
        </p:nvSpPr>
        <p:spPr>
          <a:xfrm>
            <a:off x="5660231" y="3215959"/>
            <a:ext cx="1150144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7" name="Oval 46"/>
          <p:cNvSpPr/>
          <p:nvPr/>
        </p:nvSpPr>
        <p:spPr>
          <a:xfrm>
            <a:off x="6073378" y="1445350"/>
            <a:ext cx="323850" cy="310313"/>
          </a:xfrm>
          <a:prstGeom prst="ellipse">
            <a:avLst/>
          </a:prstGeom>
          <a:solidFill>
            <a:srgbClr val="6F3CC2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4</a:t>
            </a:r>
          </a:p>
        </p:txBody>
      </p:sp>
      <p:sp>
        <p:nvSpPr>
          <p:cNvPr id="48" name="Rounded Rectangle 47"/>
          <p:cNvSpPr/>
          <p:nvPr/>
        </p:nvSpPr>
        <p:spPr>
          <a:xfrm>
            <a:off x="6924675" y="1773916"/>
            <a:ext cx="1150144" cy="438089"/>
          </a:xfrm>
          <a:prstGeom prst="roundRect">
            <a:avLst>
              <a:gd name="adj" fmla="val 18000"/>
            </a:avLst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Rectangle 48"/>
          <p:cNvSpPr/>
          <p:nvPr/>
        </p:nvSpPr>
        <p:spPr>
          <a:xfrm>
            <a:off x="6924675" y="1992961"/>
            <a:ext cx="1150144" cy="219044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6962775" y="1773916"/>
            <a:ext cx="1073944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Foam</a:t>
            </a:r>
          </a:p>
        </p:txBody>
      </p:sp>
      <p:sp>
        <p:nvSpPr>
          <p:cNvPr id="51" name="Rectangle 50"/>
          <p:cNvSpPr/>
          <p:nvPr/>
        </p:nvSpPr>
        <p:spPr>
          <a:xfrm>
            <a:off x="6924675" y="2230259"/>
            <a:ext cx="1150144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52" name="Rectangle 51"/>
          <p:cNvSpPr/>
          <p:nvPr/>
        </p:nvSpPr>
        <p:spPr>
          <a:xfrm>
            <a:off x="6924675" y="2723109"/>
            <a:ext cx="1150144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53" name="Rectangle 52"/>
          <p:cNvSpPr/>
          <p:nvPr/>
        </p:nvSpPr>
        <p:spPr>
          <a:xfrm>
            <a:off x="6924675" y="3215959"/>
            <a:ext cx="1150144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54" name="Oval 53"/>
          <p:cNvSpPr/>
          <p:nvPr/>
        </p:nvSpPr>
        <p:spPr>
          <a:xfrm>
            <a:off x="7337822" y="1445350"/>
            <a:ext cx="323850" cy="310313"/>
          </a:xfrm>
          <a:prstGeom prst="ellipse">
            <a:avLst/>
          </a:prstGeom>
          <a:solidFill>
            <a:srgbClr val="A86F00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5</a:t>
            </a:r>
          </a:p>
        </p:txBody>
      </p:sp>
      <p:sp>
        <p:nvSpPr>
          <p:cNvPr id="55" name="Rounded Rectangle 54"/>
          <p:cNvSpPr/>
          <p:nvPr/>
        </p:nvSpPr>
        <p:spPr>
          <a:xfrm>
            <a:off x="8189119" y="1773916"/>
            <a:ext cx="1150144" cy="438089"/>
          </a:xfrm>
          <a:prstGeom prst="roundRect">
            <a:avLst>
              <a:gd name="adj" fmla="val 18000"/>
            </a:avLst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8189119" y="1992961"/>
            <a:ext cx="1150144" cy="219044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TextBox 56"/>
          <p:cNvSpPr txBox="1"/>
          <p:nvPr/>
        </p:nvSpPr>
        <p:spPr>
          <a:xfrm>
            <a:off x="8227219" y="1773916"/>
            <a:ext cx="1073944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Gel</a:t>
            </a:r>
          </a:p>
        </p:txBody>
      </p:sp>
      <p:sp>
        <p:nvSpPr>
          <p:cNvPr id="58" name="Rectangle 57"/>
          <p:cNvSpPr/>
          <p:nvPr/>
        </p:nvSpPr>
        <p:spPr>
          <a:xfrm>
            <a:off x="8189119" y="2230259"/>
            <a:ext cx="1150144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59" name="Rectangle 58"/>
          <p:cNvSpPr/>
          <p:nvPr/>
        </p:nvSpPr>
        <p:spPr>
          <a:xfrm>
            <a:off x="8189119" y="2723109"/>
            <a:ext cx="1150144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60" name="Rectangle 59"/>
          <p:cNvSpPr/>
          <p:nvPr/>
        </p:nvSpPr>
        <p:spPr>
          <a:xfrm>
            <a:off x="8189119" y="3215959"/>
            <a:ext cx="1150144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61" name="Oval 60"/>
          <p:cNvSpPr/>
          <p:nvPr/>
        </p:nvSpPr>
        <p:spPr>
          <a:xfrm>
            <a:off x="8602266" y="1445350"/>
            <a:ext cx="323850" cy="310313"/>
          </a:xfrm>
          <a:prstGeom prst="ellipse">
            <a:avLst/>
          </a:prstGeom>
          <a:solidFill>
            <a:srgbClr val="A35313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6</a:t>
            </a:r>
          </a:p>
        </p:txBody>
      </p:sp>
      <p:sp>
        <p:nvSpPr>
          <p:cNvPr id="62" name="Rounded Rectangle 61"/>
          <p:cNvSpPr/>
          <p:nvPr/>
        </p:nvSpPr>
        <p:spPr>
          <a:xfrm>
            <a:off x="9453562" y="1773916"/>
            <a:ext cx="1150144" cy="438089"/>
          </a:xfrm>
          <a:prstGeom prst="roundRect">
            <a:avLst>
              <a:gd name="adj" fmla="val 18000"/>
            </a:avLst>
          </a:prstGeom>
          <a:solidFill>
            <a:srgbClr val="6C7A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9453562" y="1992961"/>
            <a:ext cx="1150144" cy="219044"/>
          </a:xfrm>
          <a:prstGeom prst="rect">
            <a:avLst/>
          </a:prstGeom>
          <a:solidFill>
            <a:srgbClr val="6C7A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9491662" y="1773916"/>
            <a:ext cx="1073944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Powder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453562" y="2230259"/>
            <a:ext cx="1150144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66" name="Rectangle 65"/>
          <p:cNvSpPr/>
          <p:nvPr/>
        </p:nvSpPr>
        <p:spPr>
          <a:xfrm>
            <a:off x="9453562" y="2723109"/>
            <a:ext cx="1150144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67" name="Rectangle 66"/>
          <p:cNvSpPr/>
          <p:nvPr/>
        </p:nvSpPr>
        <p:spPr>
          <a:xfrm>
            <a:off x="9453562" y="3215959"/>
            <a:ext cx="1150144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68" name="Oval 67"/>
          <p:cNvSpPr/>
          <p:nvPr/>
        </p:nvSpPr>
        <p:spPr>
          <a:xfrm>
            <a:off x="9866709" y="1445350"/>
            <a:ext cx="323850" cy="310313"/>
          </a:xfrm>
          <a:prstGeom prst="ellipse">
            <a:avLst/>
          </a:prstGeom>
          <a:solidFill>
            <a:srgbClr val="6C7A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7</a:t>
            </a:r>
          </a:p>
        </p:txBody>
      </p:sp>
      <p:sp>
        <p:nvSpPr>
          <p:cNvPr id="69" name="Rounded Rectangle 68"/>
          <p:cNvSpPr/>
          <p:nvPr/>
        </p:nvSpPr>
        <p:spPr>
          <a:xfrm>
            <a:off x="10718006" y="1773916"/>
            <a:ext cx="1150144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10718006" y="1992961"/>
            <a:ext cx="1150144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TextBox 70"/>
          <p:cNvSpPr txBox="1"/>
          <p:nvPr/>
        </p:nvSpPr>
        <p:spPr>
          <a:xfrm>
            <a:off x="10756106" y="1773916"/>
            <a:ext cx="1073944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Solid</a:t>
            </a:r>
          </a:p>
        </p:txBody>
      </p:sp>
      <p:sp>
        <p:nvSpPr>
          <p:cNvPr id="72" name="Rectangle 71"/>
          <p:cNvSpPr/>
          <p:nvPr/>
        </p:nvSpPr>
        <p:spPr>
          <a:xfrm>
            <a:off x="10718006" y="2230259"/>
            <a:ext cx="1150144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73" name="Rectangle 72"/>
          <p:cNvSpPr/>
          <p:nvPr/>
        </p:nvSpPr>
        <p:spPr>
          <a:xfrm>
            <a:off x="10718006" y="2723109"/>
            <a:ext cx="1150144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74" name="Rectangle 73"/>
          <p:cNvSpPr/>
          <p:nvPr/>
        </p:nvSpPr>
        <p:spPr>
          <a:xfrm>
            <a:off x="10718006" y="3215959"/>
            <a:ext cx="1150144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75" name="Oval 74"/>
          <p:cNvSpPr/>
          <p:nvPr/>
        </p:nvSpPr>
        <p:spPr>
          <a:xfrm>
            <a:off x="11131153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8</a:t>
            </a:r>
          </a:p>
        </p:txBody>
      </p:sp>
      <p:sp>
        <p:nvSpPr>
          <p:cNvPr id="76" name="Rounded Rectangle 75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TextBox 76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78" name="Rectangle 77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TextBox 78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80" name="Rounded Rectangle 79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TextBox 80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82" name="Rectangle 81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TextBox 82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1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08189"/>
                </a:solidFill>
                <a:latin typeface="Calibri"/>
              </a:rPr>
              <a:t/>
            </a:r>
            <a:r>
              <a:rPr sz="1100" b="1">
                <a:solidFill>
                  <a:srgbClr val="0081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6F3CC2"/>
                </a:solidFill>
                <a:latin typeface="Calibri"/>
              </a:rPr>
              <a:t/>
            </a:r>
            <a:r>
              <a:rPr sz="1100" b="1">
                <a:solidFill>
                  <a:srgbClr val="6F3CC2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A86F00"/>
                </a:solidFill>
                <a:latin typeface="Calibri"/>
              </a:rPr>
              <a:t/>
            </a:r>
            <a:r>
              <a:rPr sz="1100" b="1">
                <a:solidFill>
                  <a:srgbClr val="A86F00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A35313"/>
                </a:solidFill>
                <a:latin typeface="Calibri"/>
              </a:rPr>
              <a:t/>
            </a:r>
            <a:r>
              <a:rPr sz="1100" b="1">
                <a:solidFill>
                  <a:srgbClr val="A35313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6C7A89"/>
                </a:solidFill>
                <a:latin typeface="Calibri"/>
              </a:rPr>
              <a:t/>
            </a:r>
            <a:r>
              <a:rPr sz="1100" b="1">
                <a:solidFill>
                  <a:srgbClr val="6C7A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84" name="Rounded Rectangle 83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TextBox 84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Segment Overview</a:t>
            </a:r>
          </a:p>
        </p:txBody>
      </p:sp>
      <p:sp>
        <p:nvSpPr>
          <p:cNvPr id="86" name="Rectangle 85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TextBox 86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Product Format split shows how demand is distributed across product format types and where growth concentrates.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preferences and product innovation are reshaping the mix through 2036.</a:t>
            </a:r>
          </a:p>
        </p:txBody>
      </p:sp>
      <p:sp>
        <p:nvSpPr>
          <p:cNvPr id="88" name="Rectangle 87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TextBox 88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90" name="TextBox 89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92" name="Picture 91" descr="991_2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844108" y="2286582"/>
            <a:ext cx="1195728" cy="361950"/>
          </a:xfrm>
          <a:prstGeom prst="rect">
            <a:avLst/>
          </a:prstGeom>
        </p:spPr>
      </p:pic>
      <p:pic>
        <p:nvPicPr>
          <p:cNvPr id="93" name="Picture 92" descr="1_775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844108" y="2779432"/>
            <a:ext cx="1195728" cy="361950"/>
          </a:xfrm>
          <a:prstGeom prst="rect">
            <a:avLst/>
          </a:prstGeom>
        </p:spPr>
      </p:pic>
      <p:pic>
        <p:nvPicPr>
          <p:cNvPr id="94" name="Picture 93" descr="6_0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950754" y="3272281"/>
            <a:ext cx="982436" cy="361950"/>
          </a:xfrm>
          <a:prstGeom prst="rect">
            <a:avLst/>
          </a:prstGeom>
        </p:spPr>
      </p:pic>
      <p:pic>
        <p:nvPicPr>
          <p:cNvPr id="95" name="Picture 94" descr="671_4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108552" y="2286582"/>
            <a:ext cx="1195728" cy="361950"/>
          </a:xfrm>
          <a:prstGeom prst="rect">
            <a:avLst/>
          </a:prstGeom>
        </p:spPr>
      </p:pic>
      <p:pic>
        <p:nvPicPr>
          <p:cNvPr id="96" name="Picture 95" descr="1_217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108552" y="2779432"/>
            <a:ext cx="1195728" cy="361950"/>
          </a:xfrm>
          <a:prstGeom prst="rect">
            <a:avLst/>
          </a:prstGeom>
        </p:spPr>
      </p:pic>
      <p:pic>
        <p:nvPicPr>
          <p:cNvPr id="97" name="Picture 96" descr="6_1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3215198" y="3272281"/>
            <a:ext cx="982436" cy="361950"/>
          </a:xfrm>
          <a:prstGeom prst="rect">
            <a:avLst/>
          </a:prstGeom>
        </p:spPr>
      </p:pic>
      <p:pic>
        <p:nvPicPr>
          <p:cNvPr id="98" name="Picture 97" descr="397_8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4372996" y="2286582"/>
            <a:ext cx="1195728" cy="361950"/>
          </a:xfrm>
          <a:prstGeom prst="rect">
            <a:avLst/>
          </a:prstGeom>
        </p:spPr>
      </p:pic>
      <p:pic>
        <p:nvPicPr>
          <p:cNvPr id="99" name="Picture 98" descr="731_2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4372996" y="2779432"/>
            <a:ext cx="1195728" cy="361950"/>
          </a:xfrm>
          <a:prstGeom prst="rect">
            <a:avLst/>
          </a:prstGeom>
        </p:spPr>
      </p:pic>
      <p:pic>
        <p:nvPicPr>
          <p:cNvPr id="100" name="Picture 99" descr="6_3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4479642" y="3272281"/>
            <a:ext cx="982436" cy="361950"/>
          </a:xfrm>
          <a:prstGeom prst="rect">
            <a:avLst/>
          </a:prstGeom>
        </p:spPr>
      </p:pic>
      <p:pic>
        <p:nvPicPr>
          <p:cNvPr id="101" name="Picture 100" descr="391_2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5637439" y="2286582"/>
            <a:ext cx="1195728" cy="361950"/>
          </a:xfrm>
          <a:prstGeom prst="rect">
            <a:avLst/>
          </a:prstGeom>
        </p:spPr>
      </p:pic>
      <p:pic>
        <p:nvPicPr>
          <p:cNvPr id="102" name="Picture 101" descr="714_4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5637439" y="2779432"/>
            <a:ext cx="1195728" cy="361950"/>
          </a:xfrm>
          <a:prstGeom prst="rect">
            <a:avLst/>
          </a:prstGeom>
        </p:spPr>
      </p:pic>
      <p:pic>
        <p:nvPicPr>
          <p:cNvPr id="103" name="Picture 102" descr="6_2_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5744085" y="3272281"/>
            <a:ext cx="982436" cy="361950"/>
          </a:xfrm>
          <a:prstGeom prst="rect">
            <a:avLst/>
          </a:prstGeom>
        </p:spPr>
      </p:pic>
      <p:pic>
        <p:nvPicPr>
          <p:cNvPr id="104" name="Picture 103" descr="248_2_605E5C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6901883" y="2286582"/>
            <a:ext cx="1195728" cy="361950"/>
          </a:xfrm>
          <a:prstGeom prst="rect">
            <a:avLst/>
          </a:prstGeom>
        </p:spPr>
      </p:pic>
      <p:pic>
        <p:nvPicPr>
          <p:cNvPr id="105" name="Picture 104" descr="443_9_605E5C.png"/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6901883" y="2779432"/>
            <a:ext cx="1195728" cy="361950"/>
          </a:xfrm>
          <a:prstGeom prst="rect">
            <a:avLst/>
          </a:prstGeom>
        </p:spPr>
      </p:pic>
      <p:pic>
        <p:nvPicPr>
          <p:cNvPr id="106" name="Picture 105" descr="6_0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008529" y="3272281"/>
            <a:ext cx="982436" cy="361950"/>
          </a:xfrm>
          <a:prstGeom prst="rect">
            <a:avLst/>
          </a:prstGeom>
        </p:spPr>
      </p:pic>
      <p:pic>
        <p:nvPicPr>
          <p:cNvPr id="107" name="Picture 106" descr="199_3_605E5C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8166327" y="2286582"/>
            <a:ext cx="1195728" cy="361950"/>
          </a:xfrm>
          <a:prstGeom prst="rect">
            <a:avLst/>
          </a:prstGeom>
        </p:spPr>
      </p:pic>
      <p:pic>
        <p:nvPicPr>
          <p:cNvPr id="108" name="Picture 107" descr="354_9_605E5C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8166327" y="2779432"/>
            <a:ext cx="1195728" cy="361950"/>
          </a:xfrm>
          <a:prstGeom prst="rect">
            <a:avLst/>
          </a:prstGeom>
        </p:spPr>
      </p:pic>
      <p:pic>
        <p:nvPicPr>
          <p:cNvPr id="109" name="Picture 108" descr="5_9__605E5C.png"/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8272973" y="3272281"/>
            <a:ext cx="982436" cy="361950"/>
          </a:xfrm>
          <a:prstGeom prst="rect">
            <a:avLst/>
          </a:prstGeom>
        </p:spPr>
      </p:pic>
      <p:pic>
        <p:nvPicPr>
          <p:cNvPr id="110" name="Picture 109" descr="128_5_605E5C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9430770" y="2286582"/>
            <a:ext cx="1195728" cy="361950"/>
          </a:xfrm>
          <a:prstGeom prst="rect">
            <a:avLst/>
          </a:prstGeom>
        </p:spPr>
      </p:pic>
      <p:pic>
        <p:nvPicPr>
          <p:cNvPr id="111" name="Picture 110" descr="228_7_605E5C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9430770" y="2779432"/>
            <a:ext cx="1195728" cy="361950"/>
          </a:xfrm>
          <a:prstGeom prst="rect">
            <a:avLst/>
          </a:prstGeom>
        </p:spPr>
      </p:pic>
      <p:pic>
        <p:nvPicPr>
          <p:cNvPr id="112" name="Picture 111" descr="5_9__605E5C.png"/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9537416" y="3272281"/>
            <a:ext cx="982436" cy="361950"/>
          </a:xfrm>
          <a:prstGeom prst="rect">
            <a:avLst/>
          </a:prstGeom>
        </p:spPr>
      </p:pic>
      <p:pic>
        <p:nvPicPr>
          <p:cNvPr id="113" name="Picture 112" descr="124_5_605E5C.png"/>
          <p:cNvPicPr>
            <a:picLocks noChangeAspect="1"/>
          </p:cNvPicPr>
          <p:nvPr/>
        </p:nvPicPr>
        <p:blipFill>
          <a:blip r:embed="rId23"/>
          <a:stretch>
            <a:fillRect/>
          </a:stretch>
        </p:blipFill>
        <p:spPr>
          <a:xfrm>
            <a:off x="10695214" y="2286582"/>
            <a:ext cx="1195728" cy="361950"/>
          </a:xfrm>
          <a:prstGeom prst="rect">
            <a:avLst/>
          </a:prstGeom>
        </p:spPr>
      </p:pic>
      <p:pic>
        <p:nvPicPr>
          <p:cNvPr id="114" name="Picture 113" descr="230_7_605E5C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10695214" y="2779432"/>
            <a:ext cx="1195728" cy="361950"/>
          </a:xfrm>
          <a:prstGeom prst="rect">
            <a:avLst/>
          </a:prstGeom>
        </p:spPr>
      </p:pic>
      <p:pic>
        <p:nvPicPr>
          <p:cNvPr id="115" name="Picture 114" descr="6_4__605E5C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10801860" y="3272281"/>
            <a:ext cx="982436" cy="361950"/>
          </a:xfrm>
          <a:prstGeom prst="rect">
            <a:avLst/>
          </a:prstGeom>
        </p:spPr>
      </p:pic>
      <p:pic>
        <p:nvPicPr>
          <p:cNvPr id="116" name="Picture 115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2348626" y="2827057"/>
            <a:ext cx="183356" cy="266700"/>
          </a:xfrm>
          <a:prstGeom prst="rect">
            <a:avLst/>
          </a:prstGeom>
        </p:spPr>
      </p:pic>
      <p:pic>
        <p:nvPicPr>
          <p:cNvPr id="117" name="Picture 116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3613071" y="2827057"/>
            <a:ext cx="183356" cy="266700"/>
          </a:xfrm>
          <a:prstGeom prst="rect">
            <a:avLst/>
          </a:prstGeom>
        </p:spPr>
      </p:pic>
      <p:pic>
        <p:nvPicPr>
          <p:cNvPr id="118" name="Picture 117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4877515" y="2827057"/>
            <a:ext cx="183356" cy="266700"/>
          </a:xfrm>
          <a:prstGeom prst="rect">
            <a:avLst/>
          </a:prstGeom>
        </p:spPr>
      </p:pic>
      <p:pic>
        <p:nvPicPr>
          <p:cNvPr id="119" name="Picture 118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6141958" y="2827057"/>
            <a:ext cx="183356" cy="266700"/>
          </a:xfrm>
          <a:prstGeom prst="rect">
            <a:avLst/>
          </a:prstGeom>
        </p:spPr>
      </p:pic>
      <p:pic>
        <p:nvPicPr>
          <p:cNvPr id="120" name="Picture 119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7406402" y="2827057"/>
            <a:ext cx="183356" cy="266700"/>
          </a:xfrm>
          <a:prstGeom prst="rect">
            <a:avLst/>
          </a:prstGeom>
        </p:spPr>
      </p:pic>
      <p:pic>
        <p:nvPicPr>
          <p:cNvPr id="121" name="Picture 120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8670846" y="2827057"/>
            <a:ext cx="183356" cy="266700"/>
          </a:xfrm>
          <a:prstGeom prst="rect">
            <a:avLst/>
          </a:prstGeom>
        </p:spPr>
      </p:pic>
      <p:pic>
        <p:nvPicPr>
          <p:cNvPr id="122" name="Picture 121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9935289" y="2827057"/>
            <a:ext cx="183356" cy="266700"/>
          </a:xfrm>
          <a:prstGeom prst="rect">
            <a:avLst/>
          </a:prstGeom>
        </p:spPr>
      </p:pic>
      <p:pic>
        <p:nvPicPr>
          <p:cNvPr id="123" name="Picture 122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11199733" y="2827057"/>
            <a:ext cx="183356" cy="266700"/>
          </a:xfrm>
          <a:prstGeom prst="rect">
            <a:avLst/>
          </a:prstGeom>
        </p:spPr>
      </p:pic>
      <p:sp>
        <p:nvSpPr>
          <p:cNvPr id="124" name="TextBox 123"/>
          <p:cNvSpPr txBox="1"/>
          <p:nvPr/>
        </p:nvSpPr>
        <p:spPr>
          <a:xfrm>
            <a:off x="485775" y="4229437"/>
            <a:ext cx="233650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'Liquid' holds the largest share in 2026</a:t>
            </a:r>
          </a:p>
        </p:txBody>
      </p:sp>
      <p:pic>
        <p:nvPicPr>
          <p:cNvPr id="125" name="Picture 124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2770328" y="4219658"/>
            <a:ext cx="128699" cy="187198"/>
          </a:xfrm>
          <a:prstGeom prst="rect">
            <a:avLst/>
          </a:prstGeom>
        </p:spPr>
      </p:pic>
      <p:sp>
        <p:nvSpPr>
          <p:cNvPr id="126" name="TextBox 125"/>
          <p:cNvSpPr txBox="1"/>
          <p:nvPr/>
        </p:nvSpPr>
        <p:spPr>
          <a:xfrm>
            <a:off x="2937824" y="4229437"/>
            <a:ext cx="19243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</a:t>
            </a:r>
          </a:p>
        </p:txBody>
      </p:sp>
      <p:sp>
        <p:nvSpPr>
          <p:cNvPr id="127" name="TextBox 126"/>
          <p:cNvSpPr txBox="1"/>
          <p:nvPr/>
        </p:nvSpPr>
        <p:spPr>
          <a:xfrm>
            <a:off x="485775" y="4397077"/>
            <a:ext cx="93950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segment value.</a:t>
            </a:r>
          </a:p>
        </p:txBody>
      </p:sp>
      <p:sp>
        <p:nvSpPr>
          <p:cNvPr id="128" name="TextBox 127"/>
          <p:cNvSpPr txBox="1"/>
          <p:nvPr/>
        </p:nvSpPr>
        <p:spPr>
          <a:xfrm>
            <a:off x="485775" y="4615009"/>
            <a:ext cx="266310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'Solid' is the fastest-growing sub-segment at</a:t>
            </a:r>
          </a:p>
        </p:txBody>
      </p:sp>
      <p:pic>
        <p:nvPicPr>
          <p:cNvPr id="129" name="Picture 128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3096932" y="4605230"/>
            <a:ext cx="128699" cy="187198"/>
          </a:xfrm>
          <a:prstGeom prst="rect">
            <a:avLst/>
          </a:prstGeom>
        </p:spPr>
      </p:pic>
      <p:sp>
        <p:nvSpPr>
          <p:cNvPr id="130" name="TextBox 129"/>
          <p:cNvSpPr txBox="1"/>
          <p:nvPr/>
        </p:nvSpPr>
        <p:spPr>
          <a:xfrm>
            <a:off x="485775" y="4782649"/>
            <a:ext cx="123307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through 2036.</a:t>
            </a:r>
          </a:p>
        </p:txBody>
      </p:sp>
      <p:sp>
        <p:nvSpPr>
          <p:cNvPr id="131" name="TextBox 130"/>
          <p:cNvSpPr txBox="1"/>
          <p:nvPr/>
        </p:nvSpPr>
        <p:spPr>
          <a:xfrm>
            <a:off x="485775" y="5000581"/>
            <a:ext cx="18066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Segment value expands from</a:t>
            </a:r>
          </a:p>
        </p:txBody>
      </p:sp>
      <p:pic>
        <p:nvPicPr>
          <p:cNvPr id="132" name="Picture 131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2240451" y="4990801"/>
            <a:ext cx="128699" cy="187198"/>
          </a:xfrm>
          <a:prstGeom prst="rect">
            <a:avLst/>
          </a:prstGeom>
        </p:spPr>
      </p:pic>
      <p:sp>
        <p:nvSpPr>
          <p:cNvPr id="133" name="TextBox 132"/>
          <p:cNvSpPr txBox="1"/>
          <p:nvPr/>
        </p:nvSpPr>
        <p:spPr>
          <a:xfrm>
            <a:off x="2407947" y="5000581"/>
            <a:ext cx="1968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134" name="Picture 133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2552799" y="4990801"/>
            <a:ext cx="128699" cy="187198"/>
          </a:xfrm>
          <a:prstGeom prst="rect">
            <a:avLst/>
          </a:prstGeom>
        </p:spPr>
      </p:pic>
      <p:sp>
        <p:nvSpPr>
          <p:cNvPr id="135" name="TextBox 134"/>
          <p:cNvSpPr txBox="1"/>
          <p:nvPr/>
        </p:nvSpPr>
        <p:spPr>
          <a:xfrm>
            <a:off x="2720294" y="5000581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136" name="TextBox 135"/>
          <p:cNvSpPr txBox="1"/>
          <p:nvPr/>
        </p:nvSpPr>
        <p:spPr>
          <a:xfrm>
            <a:off x="485775" y="5168221"/>
            <a:ext cx="11378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2026–2036.</a:t>
            </a:r>
          </a:p>
        </p:txBody>
      </p:sp>
      <p:sp>
        <p:nvSpPr>
          <p:cNvPr id="137" name="TextBox 136"/>
          <p:cNvSpPr txBox="1"/>
          <p:nvPr/>
        </p:nvSpPr>
        <p:spPr>
          <a:xfrm>
            <a:off x="485775" y="5386153"/>
            <a:ext cx="269584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8 sub-segments make up the product format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485775" y="5553793"/>
            <a:ext cx="68083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landscape.</a:t>
            </a:r>
          </a:p>
        </p:txBody>
      </p:sp>
      <p:sp>
        <p:nvSpPr>
          <p:cNvPr id="139" name="TextBox 138"/>
          <p:cNvSpPr txBox="1"/>
          <p:nvPr/>
        </p:nvSpPr>
        <p:spPr>
          <a:xfrm>
            <a:off x="3838575" y="4229437"/>
            <a:ext cx="57278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Liquid:</a:t>
            </a:r>
          </a:p>
        </p:txBody>
      </p:sp>
      <p:pic>
        <p:nvPicPr>
          <p:cNvPr id="140" name="Picture 139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4359416" y="4219658"/>
            <a:ext cx="128699" cy="187198"/>
          </a:xfrm>
          <a:prstGeom prst="rect">
            <a:avLst/>
          </a:prstGeom>
        </p:spPr>
      </p:pic>
      <p:sp>
        <p:nvSpPr>
          <p:cNvPr id="141" name="TextBox 140"/>
          <p:cNvSpPr txBox="1"/>
          <p:nvPr/>
        </p:nvSpPr>
        <p:spPr>
          <a:xfrm>
            <a:off x="4526912" y="422943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42" name="Picture 141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5386362" y="4219658"/>
            <a:ext cx="128699" cy="187198"/>
          </a:xfrm>
          <a:prstGeom prst="rect">
            <a:avLst/>
          </a:prstGeom>
        </p:spPr>
      </p:pic>
      <p:sp>
        <p:nvSpPr>
          <p:cNvPr id="143" name="TextBox 142"/>
          <p:cNvSpPr txBox="1"/>
          <p:nvPr/>
        </p:nvSpPr>
        <p:spPr>
          <a:xfrm>
            <a:off x="5553858" y="4229437"/>
            <a:ext cx="15034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leads the segment.</a:t>
            </a:r>
          </a:p>
        </p:txBody>
      </p:sp>
      <p:sp>
        <p:nvSpPr>
          <p:cNvPr id="144" name="TextBox 143"/>
          <p:cNvSpPr txBox="1"/>
          <p:nvPr/>
        </p:nvSpPr>
        <p:spPr>
          <a:xfrm>
            <a:off x="3838575" y="4447369"/>
            <a:ext cx="5460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Spray:</a:t>
            </a:r>
          </a:p>
        </p:txBody>
      </p:sp>
      <p:pic>
        <p:nvPicPr>
          <p:cNvPr id="145" name="Picture 144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4332676" y="4437590"/>
            <a:ext cx="128699" cy="187198"/>
          </a:xfrm>
          <a:prstGeom prst="rect">
            <a:avLst/>
          </a:prstGeom>
        </p:spPr>
      </p:pic>
      <p:sp>
        <p:nvSpPr>
          <p:cNvPr id="146" name="TextBox 145"/>
          <p:cNvSpPr txBox="1"/>
          <p:nvPr/>
        </p:nvSpPr>
        <p:spPr>
          <a:xfrm>
            <a:off x="4500172" y="444736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47" name="Picture 146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5359623" y="4437590"/>
            <a:ext cx="128699" cy="187198"/>
          </a:xfrm>
          <a:prstGeom prst="rect">
            <a:avLst/>
          </a:prstGeom>
        </p:spPr>
      </p:pic>
      <p:sp>
        <p:nvSpPr>
          <p:cNvPr id="148" name="TextBox 147"/>
          <p:cNvSpPr txBox="1"/>
          <p:nvPr/>
        </p:nvSpPr>
        <p:spPr>
          <a:xfrm>
            <a:off x="5527118" y="4447369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49" name="TextBox 148"/>
          <p:cNvSpPr txBox="1"/>
          <p:nvPr/>
        </p:nvSpPr>
        <p:spPr>
          <a:xfrm>
            <a:off x="3838575" y="4665301"/>
            <a:ext cx="104618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Cream &amp; Balm:</a:t>
            </a:r>
          </a:p>
        </p:txBody>
      </p:sp>
      <p:pic>
        <p:nvPicPr>
          <p:cNvPr id="150" name="Picture 149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4832813" y="4655522"/>
            <a:ext cx="128699" cy="187198"/>
          </a:xfrm>
          <a:prstGeom prst="rect">
            <a:avLst/>
          </a:prstGeom>
        </p:spPr>
      </p:pic>
      <p:sp>
        <p:nvSpPr>
          <p:cNvPr id="151" name="TextBox 150"/>
          <p:cNvSpPr txBox="1"/>
          <p:nvPr/>
        </p:nvSpPr>
        <p:spPr>
          <a:xfrm>
            <a:off x="5000309" y="4665301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52" name="Picture 151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5859759" y="4655522"/>
            <a:ext cx="128699" cy="187198"/>
          </a:xfrm>
          <a:prstGeom prst="rect">
            <a:avLst/>
          </a:prstGeom>
        </p:spPr>
      </p:pic>
      <p:sp>
        <p:nvSpPr>
          <p:cNvPr id="153" name="TextBox 152"/>
          <p:cNvSpPr txBox="1"/>
          <p:nvPr/>
        </p:nvSpPr>
        <p:spPr>
          <a:xfrm>
            <a:off x="6027255" y="4665301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3838575" y="4883233"/>
            <a:ext cx="9002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Wipe &amp; Pad:</a:t>
            </a:r>
          </a:p>
        </p:txBody>
      </p:sp>
      <p:pic>
        <p:nvPicPr>
          <p:cNvPr id="155" name="Picture 154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4686838" y="4873454"/>
            <a:ext cx="128699" cy="187198"/>
          </a:xfrm>
          <a:prstGeom prst="rect">
            <a:avLst/>
          </a:prstGeom>
        </p:spPr>
      </p:pic>
      <p:sp>
        <p:nvSpPr>
          <p:cNvPr id="156" name="TextBox 155"/>
          <p:cNvSpPr txBox="1"/>
          <p:nvPr/>
        </p:nvSpPr>
        <p:spPr>
          <a:xfrm>
            <a:off x="4854334" y="4883233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57" name="Picture 156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5713784" y="4873454"/>
            <a:ext cx="128699" cy="187198"/>
          </a:xfrm>
          <a:prstGeom prst="rect">
            <a:avLst/>
          </a:prstGeom>
        </p:spPr>
      </p:pic>
      <p:sp>
        <p:nvSpPr>
          <p:cNvPr id="158" name="TextBox 157"/>
          <p:cNvSpPr txBox="1"/>
          <p:nvPr/>
        </p:nvSpPr>
        <p:spPr>
          <a:xfrm>
            <a:off x="5881280" y="4883233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59" name="TextBox 158"/>
          <p:cNvSpPr txBox="1"/>
          <p:nvPr/>
        </p:nvSpPr>
        <p:spPr>
          <a:xfrm>
            <a:off x="3838575" y="5101165"/>
            <a:ext cx="54574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Foam:</a:t>
            </a:r>
          </a:p>
        </p:txBody>
      </p:sp>
      <p:pic>
        <p:nvPicPr>
          <p:cNvPr id="160" name="Picture 159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4332374" y="5091385"/>
            <a:ext cx="128699" cy="187198"/>
          </a:xfrm>
          <a:prstGeom prst="rect">
            <a:avLst/>
          </a:prstGeom>
        </p:spPr>
      </p:pic>
      <p:sp>
        <p:nvSpPr>
          <p:cNvPr id="161" name="TextBox 160"/>
          <p:cNvSpPr txBox="1"/>
          <p:nvPr/>
        </p:nvSpPr>
        <p:spPr>
          <a:xfrm>
            <a:off x="4499870" y="5101165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62" name="Picture 161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5359320" y="5091385"/>
            <a:ext cx="128699" cy="187198"/>
          </a:xfrm>
          <a:prstGeom prst="rect">
            <a:avLst/>
          </a:prstGeom>
        </p:spPr>
      </p:pic>
      <p:sp>
        <p:nvSpPr>
          <p:cNvPr id="163" name="TextBox 162"/>
          <p:cNvSpPr txBox="1"/>
          <p:nvPr/>
        </p:nvSpPr>
        <p:spPr>
          <a:xfrm>
            <a:off x="5526816" y="5101165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64" name="TextBox 163"/>
          <p:cNvSpPr txBox="1"/>
          <p:nvPr/>
        </p:nvSpPr>
        <p:spPr>
          <a:xfrm>
            <a:off x="3838575" y="5319097"/>
            <a:ext cx="41944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Gel:</a:t>
            </a:r>
          </a:p>
        </p:txBody>
      </p:sp>
      <p:pic>
        <p:nvPicPr>
          <p:cNvPr id="165" name="Picture 164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4206073" y="5309317"/>
            <a:ext cx="128699" cy="187198"/>
          </a:xfrm>
          <a:prstGeom prst="rect">
            <a:avLst/>
          </a:prstGeom>
        </p:spPr>
      </p:pic>
      <p:sp>
        <p:nvSpPr>
          <p:cNvPr id="166" name="TextBox 165"/>
          <p:cNvSpPr txBox="1"/>
          <p:nvPr/>
        </p:nvSpPr>
        <p:spPr>
          <a:xfrm>
            <a:off x="4373569" y="531909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67" name="Picture 166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5233019" y="5309317"/>
            <a:ext cx="128699" cy="187198"/>
          </a:xfrm>
          <a:prstGeom prst="rect">
            <a:avLst/>
          </a:prstGeom>
        </p:spPr>
      </p:pic>
      <p:sp>
        <p:nvSpPr>
          <p:cNvPr id="168" name="TextBox 167"/>
          <p:cNvSpPr txBox="1"/>
          <p:nvPr/>
        </p:nvSpPr>
        <p:spPr>
          <a:xfrm>
            <a:off x="5400515" y="5319097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69" name="TextBox 168"/>
          <p:cNvSpPr txBox="1"/>
          <p:nvPr/>
        </p:nvSpPr>
        <p:spPr>
          <a:xfrm>
            <a:off x="3838575" y="5537029"/>
            <a:ext cx="66719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Powder:</a:t>
            </a:r>
          </a:p>
        </p:txBody>
      </p:sp>
      <p:pic>
        <p:nvPicPr>
          <p:cNvPr id="170" name="Picture 169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4453823" y="5527249"/>
            <a:ext cx="128699" cy="187198"/>
          </a:xfrm>
          <a:prstGeom prst="rect">
            <a:avLst/>
          </a:prstGeom>
        </p:spPr>
      </p:pic>
      <p:sp>
        <p:nvSpPr>
          <p:cNvPr id="171" name="TextBox 170"/>
          <p:cNvSpPr txBox="1"/>
          <p:nvPr/>
        </p:nvSpPr>
        <p:spPr>
          <a:xfrm>
            <a:off x="4621318" y="553702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72" name="Picture 171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5480769" y="5527249"/>
            <a:ext cx="128699" cy="187198"/>
          </a:xfrm>
          <a:prstGeom prst="rect">
            <a:avLst/>
          </a:prstGeom>
        </p:spPr>
      </p:pic>
      <p:sp>
        <p:nvSpPr>
          <p:cNvPr id="173" name="TextBox 172"/>
          <p:cNvSpPr txBox="1"/>
          <p:nvPr/>
        </p:nvSpPr>
        <p:spPr>
          <a:xfrm>
            <a:off x="5648264" y="5537029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74" name="TextBox 173"/>
          <p:cNvSpPr txBox="1"/>
          <p:nvPr/>
        </p:nvSpPr>
        <p:spPr>
          <a:xfrm>
            <a:off x="3838575" y="5754961"/>
            <a:ext cx="50512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Solid:</a:t>
            </a:r>
          </a:p>
        </p:txBody>
      </p:sp>
      <p:pic>
        <p:nvPicPr>
          <p:cNvPr id="175" name="Picture 174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4291749" y="5745181"/>
            <a:ext cx="128699" cy="187198"/>
          </a:xfrm>
          <a:prstGeom prst="rect">
            <a:avLst/>
          </a:prstGeom>
        </p:spPr>
      </p:pic>
      <p:sp>
        <p:nvSpPr>
          <p:cNvPr id="176" name="TextBox 175"/>
          <p:cNvSpPr txBox="1"/>
          <p:nvPr/>
        </p:nvSpPr>
        <p:spPr>
          <a:xfrm>
            <a:off x="4459245" y="5754961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77" name="Picture 176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5318695" y="5745181"/>
            <a:ext cx="128699" cy="187198"/>
          </a:xfrm>
          <a:prstGeom prst="rect">
            <a:avLst/>
          </a:prstGeom>
        </p:spPr>
      </p:pic>
      <p:sp>
        <p:nvSpPr>
          <p:cNvPr id="178" name="TextBox 177"/>
          <p:cNvSpPr txBox="1"/>
          <p:nvPr/>
        </p:nvSpPr>
        <p:spPr>
          <a:xfrm>
            <a:off x="5486191" y="5754961"/>
            <a:ext cx="121861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grows fastest.</a:t>
            </a:r>
          </a:p>
        </p:txBody>
      </p:sp>
      <p:sp>
        <p:nvSpPr>
          <p:cNvPr id="179" name="TextBox 178"/>
          <p:cNvSpPr txBox="1"/>
          <p:nvPr/>
        </p:nvSpPr>
        <p:spPr>
          <a:xfrm>
            <a:off x="8524875" y="5842641"/>
            <a:ext cx="308702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The Product Format segment is projected to grow</a:t>
            </a:r>
          </a:p>
        </p:txBody>
      </p:sp>
      <p:sp>
        <p:nvSpPr>
          <p:cNvPr id="180" name="TextBox 179"/>
          <p:cNvSpPr txBox="1"/>
          <p:nvPr/>
        </p:nvSpPr>
        <p:spPr>
          <a:xfrm>
            <a:off x="8524875" y="6017901"/>
            <a:ext cx="83608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at a CAGR of</a:t>
            </a:r>
          </a:p>
        </p:txBody>
      </p:sp>
      <p:pic>
        <p:nvPicPr>
          <p:cNvPr id="181" name="Picture 180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9310118" y="6007677"/>
            <a:ext cx="134549" cy="195707"/>
          </a:xfrm>
          <a:prstGeom prst="rect">
            <a:avLst/>
          </a:prstGeom>
        </p:spPr>
      </p:pic>
      <p:sp>
        <p:nvSpPr>
          <p:cNvPr id="182" name="TextBox 181"/>
          <p:cNvSpPr txBox="1"/>
          <p:nvPr/>
        </p:nvSpPr>
        <p:spPr>
          <a:xfrm>
            <a:off x="9485227" y="6017901"/>
            <a:ext cx="12326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7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Structure &amp; Attractiveness, By Product Format (Value)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Product Format mix within each country and the attractiveness of each sub-segment on growth and size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052895"/>
            <a:ext cx="6667500" cy="5503490"/>
          </a:xfrm>
          <a:prstGeom prst="roundRect">
            <a:avLst>
              <a:gd name="adj" fmla="val 138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110045"/>
            <a:ext cx="647700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Product Format mix within each country (share of 2036 value) · row label = country size (US$ Mn), largest first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10095"/>
          <a:ext cx="6477000" cy="498914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886575" y="1052895"/>
            <a:ext cx="5162550" cy="3650740"/>
          </a:xfrm>
          <a:prstGeom prst="roundRect">
            <a:avLst>
              <a:gd name="adj" fmla="val 208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981825" y="1110045"/>
            <a:ext cx="49720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Attractiveness, By Product Format (bubble = 2036 size)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981825" y="1338645"/>
          <a:ext cx="4972050" cy="330784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6886575" y="4776650"/>
            <a:ext cx="5162550" cy="1779736"/>
          </a:xfrm>
          <a:prstGeom prst="roundRect">
            <a:avLst>
              <a:gd name="adj" fmla="val 428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613425" y="3638119"/>
            <a:ext cx="386128" cy="56164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7000875" y="5415058"/>
            <a:ext cx="48481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Between 2026 and 2036, 'Cream &amp; Balm' gains the most share in the Europe market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7000875" y="5582698"/>
            <a:ext cx="1880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(+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136995" y="5572919"/>
            <a:ext cx="128699" cy="187198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7304491" y="5582698"/>
            <a:ext cx="146446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BPS) while 'Liquid' cedes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717011" y="5572919"/>
            <a:ext cx="128699" cy="187198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8884507" y="5582698"/>
            <a:ext cx="27411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 Bubbles right of the CAGR-Index line grow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000875" y="5750338"/>
            <a:ext cx="195969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faster than the segment average.</a:t>
            </a:r>
          </a:p>
        </p:txBody>
      </p:sp>
      <p:sp>
        <p:nvSpPr>
          <p:cNvPr id="27" name="lockshield_13"/>
          <p:cNvSpPr/>
          <p:nvPr/>
        </p:nvSpPr>
        <p:spPr>
          <a:xfrm>
            <a:off x="238125" y="1510095"/>
            <a:ext cx="6477000" cy="498914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lockshield_16"/>
          <p:cNvSpPr/>
          <p:nvPr/>
        </p:nvSpPr>
        <p:spPr>
          <a:xfrm>
            <a:off x="6981825" y="1338645"/>
            <a:ext cx="4972050" cy="330784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7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Absolute $ Opportunity Analysis, By Product Format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Product Format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Liquid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Spray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267450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38125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Cream &amp; Balm</a:t>
            </a:r>
          </a:p>
        </p:txBody>
      </p:sp>
      <p:graphicFrame>
        <p:nvGraphicFramePr>
          <p:cNvPr id="19" name="Chart 18"/>
          <p:cNvGraphicFramePr>
            <a:graphicFrameLocks noGrp="1"/>
          </p:cNvGraphicFramePr>
          <p:nvPr/>
        </p:nvGraphicFramePr>
        <p:xfrm>
          <a:off x="238125" y="4152900"/>
          <a:ext cx="5686425" cy="2409825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0" name="Rounded Rectangle 19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6267450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Gel</a:t>
            </a:r>
          </a:p>
        </p:txBody>
      </p:sp>
      <p:graphicFrame>
        <p:nvGraphicFramePr>
          <p:cNvPr id="22" name="Chart 21"/>
          <p:cNvGraphicFramePr>
            <a:graphicFrameLocks noGrp="1"/>
          </p:cNvGraphicFramePr>
          <p:nvPr/>
        </p:nvGraphicFramePr>
        <p:xfrm>
          <a:off x="6267450" y="4152900"/>
          <a:ext cx="5686425" cy="2409825"/>
        </p:xfrm>
        <a:graphic>
          <a:graphicData uri="http://schemas.openxmlformats.org/drawingml/2006/chart">
            <c:chart xmlns:c="http://schemas.openxmlformats.org/drawingml/2006/chart" r:id="rId6"/>
          </a:graphicData>
        </a:graphic>
      </p:graphicFrame>
      <p:sp>
        <p:nvSpPr>
          <p:cNvPr id="23" name="TextBox 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4151" y="2237234"/>
            <a:ext cx="263506" cy="383281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094826" y="5123309"/>
            <a:ext cx="263506" cy="383281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4151" y="5123309"/>
            <a:ext cx="263506" cy="383281"/>
          </a:xfrm>
          <a:prstGeom prst="rect">
            <a:avLst/>
          </a:prstGeom>
        </p:spPr>
      </p:pic>
      <p:sp>
        <p:nvSpPr>
          <p:cNvPr id="28" name="lockshield_13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lockshield_16"/>
          <p:cNvSpPr/>
          <p:nvPr/>
        </p:nvSpPr>
        <p:spPr>
          <a:xfrm>
            <a:off x="6267450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lockshield_19"/>
          <p:cNvSpPr/>
          <p:nvPr/>
        </p:nvSpPr>
        <p:spPr>
          <a:xfrm>
            <a:off x="238125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lockshield_22"/>
          <p:cNvSpPr/>
          <p:nvPr/>
        </p:nvSpPr>
        <p:spPr>
          <a:xfrm>
            <a:off x="6267450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7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Absolute $ Opportunity Analysis, By Product Format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Product Format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Foam</a:t>
            </a:r>
          </a:p>
        </p:txBody>
      </p:sp>
      <p:graphicFrame>
        <p:nvGraphicFramePr>
          <p:cNvPr id="12" name="Chart 11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3" name="Rounded Rectangle 12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Wipe &amp; Pad</a:t>
            </a:r>
          </a:p>
        </p:txBody>
      </p:sp>
      <p:graphicFrame>
        <p:nvGraphicFramePr>
          <p:cNvPr id="15" name="Chart 14"/>
          <p:cNvGraphicFramePr>
            <a:graphicFrameLocks noGrp="1"/>
          </p:cNvGraphicFramePr>
          <p:nvPr/>
        </p:nvGraphicFramePr>
        <p:xfrm>
          <a:off x="6267450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6" name="Rounded Rectangle 15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38125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Powder</a:t>
            </a:r>
          </a:p>
        </p:txBody>
      </p:sp>
      <p:graphicFrame>
        <p:nvGraphicFramePr>
          <p:cNvPr id="18" name="Chart 17"/>
          <p:cNvGraphicFramePr>
            <a:graphicFrameLocks noGrp="1"/>
          </p:cNvGraphicFramePr>
          <p:nvPr/>
        </p:nvGraphicFramePr>
        <p:xfrm>
          <a:off x="238125" y="4152900"/>
          <a:ext cx="5686425" cy="2409825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19" name="Rounded Rectangle 18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267450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Solid</a:t>
            </a:r>
          </a:p>
        </p:txBody>
      </p:sp>
      <p:graphicFrame>
        <p:nvGraphicFramePr>
          <p:cNvPr id="21" name="Chart 20"/>
          <p:cNvGraphicFramePr>
            <a:graphicFrameLocks noGrp="1"/>
          </p:cNvGraphicFramePr>
          <p:nvPr/>
        </p:nvGraphicFramePr>
        <p:xfrm>
          <a:off x="6267450" y="4152900"/>
          <a:ext cx="5686425" cy="2409825"/>
        </p:xfrm>
        <a:graphic>
          <a:graphicData uri="http://schemas.openxmlformats.org/drawingml/2006/chart">
            <c:chart xmlns:c="http://schemas.openxmlformats.org/drawingml/2006/chart" r:id="rId6"/>
          </a:graphicData>
        </a:graphic>
      </p:graphicFrame>
      <p:sp>
        <p:nvSpPr>
          <p:cNvPr id="22" name="TextBox 2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4151" y="2237234"/>
            <a:ext cx="263506" cy="383281"/>
          </a:xfrm>
          <a:prstGeom prst="rect">
            <a:avLst/>
          </a:prstGeom>
        </p:spPr>
      </p:pic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094826" y="5123309"/>
            <a:ext cx="263506" cy="383281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4151" y="5123309"/>
            <a:ext cx="263506" cy="383281"/>
          </a:xfrm>
          <a:prstGeom prst="rect">
            <a:avLst/>
          </a:prstGeom>
        </p:spPr>
      </p:pic>
      <p:sp>
        <p:nvSpPr>
          <p:cNvPr id="27" name="lockshield_12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lockshield_15"/>
          <p:cNvSpPr/>
          <p:nvPr/>
        </p:nvSpPr>
        <p:spPr>
          <a:xfrm>
            <a:off x="6267450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lockshield_18"/>
          <p:cNvSpPr/>
          <p:nvPr/>
        </p:nvSpPr>
        <p:spPr>
          <a:xfrm>
            <a:off x="238125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lockshield_21"/>
          <p:cNvSpPr/>
          <p:nvPr/>
        </p:nvSpPr>
        <p:spPr>
          <a:xfrm>
            <a:off x="6267450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7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Volume Analysis, By Product Format (MT)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by Product Format,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933700"/>
          </a:xfrm>
          <a:prstGeom prst="roundRect">
            <a:avLst>
              <a:gd name="adj" fmla="val 259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Volume, By Product Format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1" cy="24669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132865"/>
                <a:gridCol w="632608"/>
                <a:gridCol w="632608"/>
                <a:gridCol w="632608"/>
                <a:gridCol w="632608"/>
                <a:gridCol w="632608"/>
                <a:gridCol w="632608"/>
                <a:gridCol w="632608"/>
                <a:gridCol w="632608"/>
                <a:gridCol w="632608"/>
                <a:gridCol w="632608"/>
                <a:gridCol w="632608"/>
                <a:gridCol w="632608"/>
                <a:gridCol w="632608"/>
                <a:gridCol w="632608"/>
                <a:gridCol w="632608"/>
                <a:gridCol w="632608"/>
                <a:gridCol w="632608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Format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Liquid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Spray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Cream &amp; Balm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Foam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Wipe &amp; Pad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Powder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Solid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7147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4048125"/>
            <a:ext cx="11906250" cy="2581275"/>
          </a:xfrm>
          <a:prstGeom prst="roundRect">
            <a:avLst>
              <a:gd name="adj" fmla="val 295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413385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Volume Analysis, By Product Format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437197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4457700"/>
            <a:ext cx="11639550" cy="20955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475742" y="2328100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4467225"/>
            <a:ext cx="24706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'Liquid' is the largest product format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696000" y="4457001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2871109" y="4467225"/>
            <a:ext cx="10805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volume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900842" y="445700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4075951" y="4467225"/>
            <a:ext cx="3534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4695063"/>
            <a:ext cx="133730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'Solid'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562686" y="4684839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1737795" y="4695063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4922900"/>
            <a:ext cx="241214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'Cream &amp; Balm'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637523" y="4912677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2812632" y="4922900"/>
            <a:ext cx="18433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'Liquid'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05134" y="4912677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4780243" y="4922900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5150738"/>
            <a:ext cx="15646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volume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90033" y="5140515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965143" y="5150738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16579" y="5140515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291688" y="5150738"/>
            <a:ext cx="14705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across 8 categories.</a:t>
            </a:r>
          </a:p>
        </p:txBody>
      </p:sp>
    </p:spTree>
  </p:cSld>
  <p:clrMapOvr>
    <a:masterClrMapping/>
  </p:clrMapOvr>
</p:sld>
</file>

<file path=ppt/slides/slide8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Value Analysis, By Product Format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by Product Format,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933700"/>
          </a:xfrm>
          <a:prstGeom prst="roundRect">
            <a:avLst>
              <a:gd name="adj" fmla="val 259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Value, By Product Format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7" cy="24669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187152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Format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Liquid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Spray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Cream &amp; Balm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Foam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Wipe &amp; Pad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Powder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Solid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7147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4048125"/>
            <a:ext cx="11906250" cy="2581275"/>
          </a:xfrm>
          <a:prstGeom prst="roundRect">
            <a:avLst>
              <a:gd name="adj" fmla="val 295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413385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Value Analysis, By Product Format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437197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4457700"/>
            <a:ext cx="11639550" cy="20955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02889" y="2328100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4467225"/>
            <a:ext cx="24706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'Liquid' is the largest product format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696000" y="4457001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2871109" y="4467225"/>
            <a:ext cx="9567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777042" y="445700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3952151" y="4467225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4695063"/>
            <a:ext cx="133730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'Solid'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562686" y="4684839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1737795" y="4695063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4922900"/>
            <a:ext cx="241214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'Cream &amp; Balm'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637523" y="4912677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2812632" y="4922900"/>
            <a:ext cx="18433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'Liquid'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05134" y="4912677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4780243" y="4922900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5150738"/>
            <a:ext cx="14408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66233" y="5140515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841342" y="5150738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92779" y="5140515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167888" y="5150738"/>
            <a:ext cx="17440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8 categories.</a:t>
            </a:r>
          </a:p>
        </p:txBody>
      </p:sp>
    </p:spTree>
  </p:cSld>
  <p:clrMapOvr>
    <a:masterClrMapping/>
  </p:clrMapOvr>
</p:sld>
</file>

<file path=ppt/slides/slide8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Value &amp; Share Shift, By Product Format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composition by Product Format in 2021, 2026 and 2036, highlighting share shifts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7400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7210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Composition, By Product Format ·  2021 / 2026 / 2036 (US$ Mn)  ·  right axis = BPS share shift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1150"/>
          <a:ext cx="4614672" cy="49911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852797" y="1590675"/>
            <a:ext cx="2595753" cy="17106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(2021→2036)</a:t>
            </a:r>
          </a:p>
        </p:txBody>
      </p:sp>
      <p:sp>
        <p:nvSpPr>
          <p:cNvPr id="15" name="FMI Lock Anchor"/>
          <p:cNvSpPr txBox="1"/>
          <p:nvPr/>
        </p:nvSpPr>
        <p:spPr>
          <a:xfrm>
            <a:off x="2678811" y="4014597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/>
        </p:txBody>
      </p:sp>
      <p:sp>
        <p:nvSpPr>
          <p:cNvPr id="16" name="FMI Legend Chip"/>
          <p:cNvSpPr/>
          <p:nvPr/>
        </p:nvSpPr>
        <p:spPr>
          <a:xfrm>
            <a:off x="4928997" y="1763062"/>
            <a:ext cx="85725" cy="85725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Isosceles Triangle 16"/>
          <p:cNvSpPr/>
          <p:nvPr/>
        </p:nvSpPr>
        <p:spPr>
          <a:xfrm rot="10800000">
            <a:off x="5090922" y="1758299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BPS Name 1"/>
          <p:cNvSpPr txBox="1"/>
          <p:nvPr/>
        </p:nvSpPr>
        <p:spPr>
          <a:xfrm>
            <a:off x="5233797" y="1682099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Powder</a:t>
            </a:r>
          </a:p>
        </p:txBody>
      </p:sp>
      <p:sp>
        <p:nvSpPr>
          <p:cNvPr id="19" name="BPS Value 1"/>
          <p:cNvSpPr txBox="1"/>
          <p:nvPr/>
        </p:nvSpPr>
        <p:spPr>
          <a:xfrm>
            <a:off x="6896100" y="1744012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0" name="FMI Legend Chip"/>
          <p:cNvSpPr/>
          <p:nvPr/>
        </p:nvSpPr>
        <p:spPr>
          <a:xfrm>
            <a:off x="4928997" y="1947475"/>
            <a:ext cx="85725" cy="85725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Isosceles Triangle 20"/>
          <p:cNvSpPr/>
          <p:nvPr/>
        </p:nvSpPr>
        <p:spPr>
          <a:xfrm>
            <a:off x="5090922" y="1942712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BPS Name 2"/>
          <p:cNvSpPr txBox="1"/>
          <p:nvPr/>
        </p:nvSpPr>
        <p:spPr>
          <a:xfrm>
            <a:off x="5233797" y="1866512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Solid</a:t>
            </a:r>
          </a:p>
        </p:txBody>
      </p:sp>
      <p:sp>
        <p:nvSpPr>
          <p:cNvPr id="23" name="BPS Value 2"/>
          <p:cNvSpPr txBox="1"/>
          <p:nvPr/>
        </p:nvSpPr>
        <p:spPr>
          <a:xfrm>
            <a:off x="6896100" y="1928425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4" name="FMI Legend Chip"/>
          <p:cNvSpPr/>
          <p:nvPr/>
        </p:nvSpPr>
        <p:spPr>
          <a:xfrm>
            <a:off x="4928997" y="2182528"/>
            <a:ext cx="85725" cy="85725"/>
          </a:xfrm>
          <a:prstGeom prst="rect">
            <a:avLst/>
          </a:prstGeom>
          <a:solidFill>
            <a:srgbClr val="8080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Isosceles Triangle 24"/>
          <p:cNvSpPr/>
          <p:nvPr/>
        </p:nvSpPr>
        <p:spPr>
          <a:xfrm rot="10800000">
            <a:off x="5090922" y="2177765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BPS Name 3"/>
          <p:cNvSpPr txBox="1"/>
          <p:nvPr/>
        </p:nvSpPr>
        <p:spPr>
          <a:xfrm>
            <a:off x="5233797" y="2101565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Gel</a:t>
            </a:r>
          </a:p>
        </p:txBody>
      </p:sp>
      <p:sp>
        <p:nvSpPr>
          <p:cNvPr id="27" name="BPS Value 3"/>
          <p:cNvSpPr txBox="1"/>
          <p:nvPr/>
        </p:nvSpPr>
        <p:spPr>
          <a:xfrm>
            <a:off x="6896100" y="2163478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8" name="FMI Legend Chip"/>
          <p:cNvSpPr/>
          <p:nvPr/>
        </p:nvSpPr>
        <p:spPr>
          <a:xfrm>
            <a:off x="4928997" y="2503151"/>
            <a:ext cx="85725" cy="85725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Isosceles Triangle 28"/>
          <p:cNvSpPr/>
          <p:nvPr/>
        </p:nvSpPr>
        <p:spPr>
          <a:xfrm rot="10800000">
            <a:off x="5090922" y="2498389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BPS Name 4"/>
          <p:cNvSpPr txBox="1"/>
          <p:nvPr/>
        </p:nvSpPr>
        <p:spPr>
          <a:xfrm>
            <a:off x="5233797" y="2422189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Foam</a:t>
            </a:r>
          </a:p>
        </p:txBody>
      </p:sp>
      <p:sp>
        <p:nvSpPr>
          <p:cNvPr id="31" name="BPS Value 4"/>
          <p:cNvSpPr txBox="1"/>
          <p:nvPr/>
        </p:nvSpPr>
        <p:spPr>
          <a:xfrm>
            <a:off x="6896100" y="2484101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32" name="FMI Legend Chip"/>
          <p:cNvSpPr/>
          <p:nvPr/>
        </p:nvSpPr>
        <p:spPr>
          <a:xfrm>
            <a:off x="4928997" y="2968069"/>
            <a:ext cx="85725" cy="8572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Isosceles Triangle 32"/>
          <p:cNvSpPr/>
          <p:nvPr/>
        </p:nvSpPr>
        <p:spPr>
          <a:xfrm>
            <a:off x="5090922" y="2963307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BPS Name 5"/>
          <p:cNvSpPr txBox="1"/>
          <p:nvPr/>
        </p:nvSpPr>
        <p:spPr>
          <a:xfrm>
            <a:off x="5233797" y="2887107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Wipe &amp; Pad</a:t>
            </a:r>
          </a:p>
        </p:txBody>
      </p:sp>
      <p:sp>
        <p:nvSpPr>
          <p:cNvPr id="35" name="BPS Value 5"/>
          <p:cNvSpPr txBox="1"/>
          <p:nvPr/>
        </p:nvSpPr>
        <p:spPr>
          <a:xfrm>
            <a:off x="6896100" y="2949019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36" name="FMI Legend Chip"/>
          <p:cNvSpPr/>
          <p:nvPr/>
        </p:nvSpPr>
        <p:spPr>
          <a:xfrm>
            <a:off x="4928997" y="3548295"/>
            <a:ext cx="85725" cy="8572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Isosceles Triangle 36"/>
          <p:cNvSpPr/>
          <p:nvPr/>
        </p:nvSpPr>
        <p:spPr>
          <a:xfrm>
            <a:off x="5090922" y="3543533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BPS Name 6"/>
          <p:cNvSpPr txBox="1"/>
          <p:nvPr/>
        </p:nvSpPr>
        <p:spPr>
          <a:xfrm>
            <a:off x="5233797" y="3467333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Cream &amp; Balm</a:t>
            </a:r>
          </a:p>
        </p:txBody>
      </p:sp>
      <p:sp>
        <p:nvSpPr>
          <p:cNvPr id="39" name="BPS Value 6"/>
          <p:cNvSpPr txBox="1"/>
          <p:nvPr/>
        </p:nvSpPr>
        <p:spPr>
          <a:xfrm>
            <a:off x="6896100" y="3529245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40" name="FMI Legend Chip"/>
          <p:cNvSpPr/>
          <p:nvPr/>
        </p:nvSpPr>
        <p:spPr>
          <a:xfrm>
            <a:off x="4928997" y="4330439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Isosceles Triangle 40"/>
          <p:cNvSpPr/>
          <p:nvPr/>
        </p:nvSpPr>
        <p:spPr>
          <a:xfrm>
            <a:off x="5090922" y="4325677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BPS Name 7"/>
          <p:cNvSpPr txBox="1"/>
          <p:nvPr/>
        </p:nvSpPr>
        <p:spPr>
          <a:xfrm>
            <a:off x="5233797" y="4249477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Spray</a:t>
            </a:r>
          </a:p>
        </p:txBody>
      </p:sp>
      <p:sp>
        <p:nvSpPr>
          <p:cNvPr id="43" name="BPS Value 7"/>
          <p:cNvSpPr txBox="1"/>
          <p:nvPr/>
        </p:nvSpPr>
        <p:spPr>
          <a:xfrm>
            <a:off x="6896100" y="4311389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44" name="FMI Legend Chip"/>
          <p:cNvSpPr/>
          <p:nvPr/>
        </p:nvSpPr>
        <p:spPr>
          <a:xfrm>
            <a:off x="4928997" y="5531367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Isosceles Triangle 44"/>
          <p:cNvSpPr/>
          <p:nvPr/>
        </p:nvSpPr>
        <p:spPr>
          <a:xfrm rot="10800000">
            <a:off x="5090922" y="5526605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BPS Name 8"/>
          <p:cNvSpPr txBox="1"/>
          <p:nvPr/>
        </p:nvSpPr>
        <p:spPr>
          <a:xfrm>
            <a:off x="5233797" y="5450405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Liquid</a:t>
            </a:r>
          </a:p>
        </p:txBody>
      </p:sp>
      <p:sp>
        <p:nvSpPr>
          <p:cNvPr id="47" name="BPS Value 8"/>
          <p:cNvSpPr txBox="1"/>
          <p:nvPr/>
        </p:nvSpPr>
        <p:spPr>
          <a:xfrm>
            <a:off x="6896100" y="5512317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48" name="Rounded Rectangle 47"/>
          <p:cNvSpPr/>
          <p:nvPr/>
        </p:nvSpPr>
        <p:spPr>
          <a:xfrm>
            <a:off x="7696200" y="981075"/>
            <a:ext cx="4343400" cy="5648325"/>
          </a:xfrm>
          <a:prstGeom prst="roundRect">
            <a:avLst>
              <a:gd name="adj" fmla="val 17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TextBox 48"/>
          <p:cNvSpPr txBox="1"/>
          <p:nvPr/>
        </p:nvSpPr>
        <p:spPr>
          <a:xfrm>
            <a:off x="7829550" y="1066800"/>
            <a:ext cx="4076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Read-out, By Product Format</a:t>
            </a:r>
          </a:p>
        </p:txBody>
      </p:sp>
      <p:sp>
        <p:nvSpPr>
          <p:cNvPr id="50" name="Rectangle 49"/>
          <p:cNvSpPr/>
          <p:nvPr/>
        </p:nvSpPr>
        <p:spPr>
          <a:xfrm>
            <a:off x="7829550" y="1304925"/>
            <a:ext cx="40767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TextBox 50"/>
          <p:cNvSpPr txBox="1"/>
          <p:nvPr/>
        </p:nvSpPr>
        <p:spPr>
          <a:xfrm>
            <a:off x="7829550" y="1390650"/>
            <a:ext cx="4076700" cy="5162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2E7D32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E44D3A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53" name="Picture 5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57843" y="3833622"/>
            <a:ext cx="275034" cy="400050"/>
          </a:xfrm>
          <a:prstGeom prst="rect">
            <a:avLst/>
          </a:prstGeom>
        </p:spPr>
      </p:pic>
      <p:sp>
        <p:nvSpPr>
          <p:cNvPr id="54" name="TextBox 53"/>
          <p:cNvSpPr txBox="1"/>
          <p:nvPr/>
        </p:nvSpPr>
        <p:spPr>
          <a:xfrm>
            <a:off x="7829550" y="1400175"/>
            <a:ext cx="244922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'Cream &amp; Balm' gains the most share +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227931" y="1389951"/>
            <a:ext cx="134549" cy="195707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10403040" y="1400175"/>
            <a:ext cx="144285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between 2026 and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7829550" y="1575435"/>
            <a:ext cx="172724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2036 (</a:t>
            </a:r>
            <a:r>
              <a:rPr sz="1150" b="0">
                <a:solidFill>
                  <a:srgbClr val="2E7D32"/>
                </a:solidFill>
                <a:latin typeface="Calibri"/>
              </a:rPr>
              <a:t>green ▲</a:t>
            </a:r>
            <a:r>
              <a:rPr sz="1150" b="0">
                <a:solidFill>
                  <a:srgbClr val="2E2E2E"/>
                </a:solidFill>
                <a:latin typeface="Calibri"/>
              </a:rPr>
              <a:t> on the scale).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7829550" y="1803273"/>
            <a:ext cx="16008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'Liquid' cedes the most -</a:t>
            </a:r>
          </a:p>
        </p:txBody>
      </p:sp>
      <p:pic>
        <p:nvPicPr>
          <p:cNvPr id="59" name="Picture 5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79586" y="1793049"/>
            <a:ext cx="134549" cy="195707"/>
          </a:xfrm>
          <a:prstGeom prst="rect">
            <a:avLst/>
          </a:prstGeom>
        </p:spPr>
      </p:pic>
      <p:sp>
        <p:nvSpPr>
          <p:cNvPr id="60" name="TextBox 59"/>
          <p:cNvSpPr txBox="1"/>
          <p:nvPr/>
        </p:nvSpPr>
        <p:spPr>
          <a:xfrm>
            <a:off x="9554695" y="1803273"/>
            <a:ext cx="215142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 the same window (</a:t>
            </a:r>
            <a:r>
              <a:rPr sz="1150" b="0">
                <a:solidFill>
                  <a:srgbClr val="E44D3A"/>
                </a:solidFill>
                <a:latin typeface="Calibri"/>
              </a:rPr>
              <a:t>red ▼</a:t>
            </a:r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7829550" y="2031111"/>
            <a:ext cx="29221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'Solid' is the fastest-growing product format at</a:t>
            </a:r>
          </a:p>
        </p:txBody>
      </p:sp>
      <p:pic>
        <p:nvPicPr>
          <p:cNvPr id="62" name="Picture 6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700882" y="2020887"/>
            <a:ext cx="134549" cy="195707"/>
          </a:xfrm>
          <a:prstGeom prst="rect">
            <a:avLst/>
          </a:prstGeom>
        </p:spPr>
      </p:pic>
      <p:sp>
        <p:nvSpPr>
          <p:cNvPr id="63" name="TextBox 62"/>
          <p:cNvSpPr txBox="1"/>
          <p:nvPr/>
        </p:nvSpPr>
        <p:spPr>
          <a:xfrm>
            <a:off x="10875991" y="2031111"/>
            <a:ext cx="40992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7829550" y="2206371"/>
            <a:ext cx="86749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(2026–2036).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7829550" y="2434209"/>
            <a:ext cx="15489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climbs from</a:t>
            </a:r>
          </a:p>
        </p:txBody>
      </p:sp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27669" y="2423985"/>
            <a:ext cx="134549" cy="195707"/>
          </a:xfrm>
          <a:prstGeom prst="rect">
            <a:avLst/>
          </a:prstGeom>
        </p:spPr>
      </p:pic>
      <p:sp>
        <p:nvSpPr>
          <p:cNvPr id="67" name="TextBox 66"/>
          <p:cNvSpPr txBox="1"/>
          <p:nvPr/>
        </p:nvSpPr>
        <p:spPr>
          <a:xfrm>
            <a:off x="9502779" y="2434209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68" name="Picture 67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54215" y="2423985"/>
            <a:ext cx="134549" cy="195707"/>
          </a:xfrm>
          <a:prstGeom prst="rect">
            <a:avLst/>
          </a:prstGeom>
        </p:spPr>
      </p:pic>
      <p:sp>
        <p:nvSpPr>
          <p:cNvPr id="69" name="TextBox 68"/>
          <p:cNvSpPr txBox="1"/>
          <p:nvPr/>
        </p:nvSpPr>
        <p:spPr>
          <a:xfrm>
            <a:off x="9829324" y="2434209"/>
            <a:ext cx="1689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2021–2036.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7829550" y="2662047"/>
            <a:ext cx="39325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Bars show the value mix at each snapshot; the scale shows how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7829550" y="2837307"/>
            <a:ext cx="11772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each share moves.</a:t>
            </a:r>
          </a:p>
        </p:txBody>
      </p:sp>
      <p:sp>
        <p:nvSpPr>
          <p:cNvPr id="72" name="lockshield_13"/>
          <p:cNvSpPr/>
          <p:nvPr/>
        </p:nvSpPr>
        <p:spPr>
          <a:xfrm>
            <a:off x="238125" y="1581150"/>
            <a:ext cx="4614672" cy="49911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8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Europe Market Volume, By Product Format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Product Format,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686050"/>
          </a:xfrm>
          <a:prstGeom prst="roundRect">
            <a:avLst>
              <a:gd name="adj" fmla="val 28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 YoY Growth, By Product Format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3" cy="22193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303398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Format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Liquid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Spray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Cream &amp; Balm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Foam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Wipe &amp; Pad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Powder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Solid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4671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800475"/>
            <a:ext cx="11906250" cy="2828925"/>
          </a:xfrm>
          <a:prstGeom prst="roundRect">
            <a:avLst>
              <a:gd name="adj" fmla="val 269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8576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 YoY Heatmap, By Product Format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4229100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Liquid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4229100"/>
            <a:ext cx="643890" cy="292894"/>
          </a:xfrm>
          <a:prstGeom prst="rect">
            <a:avLst/>
          </a:prstGeom>
          <a:solidFill>
            <a:srgbClr val="D8E8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4229100"/>
            <a:ext cx="643890" cy="292894"/>
          </a:xfrm>
          <a:prstGeom prst="rect">
            <a:avLst/>
          </a:prstGeom>
          <a:solidFill>
            <a:srgbClr val="F2F9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4229100"/>
            <a:ext cx="643890" cy="292894"/>
          </a:xfrm>
          <a:prstGeom prst="rect">
            <a:avLst/>
          </a:prstGeom>
          <a:solidFill>
            <a:srgbClr val="EF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4229100"/>
            <a:ext cx="643890" cy="292894"/>
          </a:xfrm>
          <a:prstGeom prst="rect">
            <a:avLst/>
          </a:prstGeom>
          <a:solidFill>
            <a:srgbClr val="E3F1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4229100"/>
            <a:ext cx="643890" cy="292894"/>
          </a:xfrm>
          <a:prstGeom prst="rect">
            <a:avLst/>
          </a:prstGeom>
          <a:solidFill>
            <a:srgbClr val="579D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4229100"/>
            <a:ext cx="643890" cy="292894"/>
          </a:xfrm>
          <a:prstGeom prst="rect">
            <a:avLst/>
          </a:prstGeom>
          <a:solidFill>
            <a:srgbClr val="66A5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4229100"/>
            <a:ext cx="643890" cy="292894"/>
          </a:xfrm>
          <a:prstGeom prst="rect">
            <a:avLst/>
          </a:prstGeom>
          <a:solidFill>
            <a:srgbClr val="3489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4229100"/>
            <a:ext cx="643890" cy="292894"/>
          </a:xfrm>
          <a:prstGeom prst="rect">
            <a:avLst/>
          </a:prstGeom>
          <a:solidFill>
            <a:srgbClr val="28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4229100"/>
            <a:ext cx="643890" cy="292894"/>
          </a:xfrm>
          <a:prstGeom prst="rect">
            <a:avLst/>
          </a:prstGeom>
          <a:solidFill>
            <a:srgbClr val="72AB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4229100"/>
            <a:ext cx="643890" cy="292894"/>
          </a:xfrm>
          <a:prstGeom prst="rect">
            <a:avLst/>
          </a:prstGeom>
          <a:solidFill>
            <a:srgbClr val="579D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4229100"/>
            <a:ext cx="643890" cy="292894"/>
          </a:xfrm>
          <a:prstGeom prst="rect">
            <a:avLst/>
          </a:prstGeom>
          <a:solidFill>
            <a:srgbClr val="4D97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4229100"/>
            <a:ext cx="643890" cy="292894"/>
          </a:xfrm>
          <a:prstGeom prst="rect">
            <a:avLst/>
          </a:prstGeom>
          <a:solidFill>
            <a:srgbClr val="3489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4229100"/>
            <a:ext cx="643890" cy="292894"/>
          </a:xfrm>
          <a:prstGeom prst="rect">
            <a:avLst/>
          </a:prstGeom>
          <a:solidFill>
            <a:srgbClr val="3A8D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4229100"/>
            <a:ext cx="643890" cy="292894"/>
          </a:xfrm>
          <a:prstGeom prst="rect">
            <a:avLst/>
          </a:prstGeom>
          <a:solidFill>
            <a:srgbClr val="398C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4229100"/>
            <a:ext cx="643890" cy="292894"/>
          </a:xfrm>
          <a:prstGeom prst="rect">
            <a:avLst/>
          </a:prstGeom>
          <a:solidFill>
            <a:srgbClr val="3A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521994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Spray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521994"/>
            <a:ext cx="643890" cy="292894"/>
          </a:xfrm>
          <a:prstGeom prst="rect">
            <a:avLst/>
          </a:prstGeom>
          <a:solidFill>
            <a:srgbClr val="C8DB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521994"/>
            <a:ext cx="643890" cy="292894"/>
          </a:xfrm>
          <a:prstGeom prst="rect">
            <a:avLst/>
          </a:prstGeom>
          <a:solidFill>
            <a:srgbClr val="E3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521994"/>
            <a:ext cx="643890" cy="292894"/>
          </a:xfrm>
          <a:prstGeom prst="rect">
            <a:avLst/>
          </a:prstGeom>
          <a:solidFill>
            <a:srgbClr val="DDEC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521994"/>
            <a:ext cx="643890" cy="292894"/>
          </a:xfrm>
          <a:prstGeom prst="rect">
            <a:avLst/>
          </a:prstGeom>
          <a:solidFill>
            <a:srgbClr val="D0E1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521994"/>
            <a:ext cx="643890" cy="292894"/>
          </a:xfrm>
          <a:prstGeom prst="rect">
            <a:avLst/>
          </a:prstGeom>
          <a:solidFill>
            <a:srgbClr val="3489C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521994"/>
            <a:ext cx="643890" cy="292894"/>
          </a:xfrm>
          <a:prstGeom prst="rect">
            <a:avLst/>
          </a:prstGeom>
          <a:solidFill>
            <a:srgbClr val="4190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521994"/>
            <a:ext cx="643890" cy="292894"/>
          </a:xfrm>
          <a:prstGeom prst="rect">
            <a:avLst/>
          </a:prstGeom>
          <a:solidFill>
            <a:srgbClr val="14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521994"/>
            <a:ext cx="643890" cy="292894"/>
          </a:xfrm>
          <a:prstGeom prst="rect">
            <a:avLst/>
          </a:prstGeom>
          <a:solidFill>
            <a:srgbClr val="10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521994"/>
            <a:ext cx="643890" cy="292894"/>
          </a:xfrm>
          <a:prstGeom prst="rect">
            <a:avLst/>
          </a:prstGeom>
          <a:solidFill>
            <a:srgbClr val="3F8F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521994"/>
            <a:ext cx="643890" cy="292894"/>
          </a:xfrm>
          <a:prstGeom prst="rect">
            <a:avLst/>
          </a:prstGeom>
          <a:solidFill>
            <a:srgbClr val="368A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521994"/>
            <a:ext cx="643890" cy="292894"/>
          </a:xfrm>
          <a:prstGeom prst="rect">
            <a:avLst/>
          </a:prstGeom>
          <a:solidFill>
            <a:srgbClr val="2680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521994"/>
            <a:ext cx="643890" cy="292894"/>
          </a:xfrm>
          <a:prstGeom prst="rect">
            <a:avLst/>
          </a:prstGeom>
          <a:solidFill>
            <a:srgbClr val="0F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521994"/>
            <a:ext cx="643890" cy="292894"/>
          </a:xfrm>
          <a:prstGeom prst="rect">
            <a:avLst/>
          </a:prstGeom>
          <a:solidFill>
            <a:srgbClr val="16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521994"/>
            <a:ext cx="643890" cy="292894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521994"/>
            <a:ext cx="643890" cy="292894"/>
          </a:xfrm>
          <a:prstGeom prst="rect">
            <a:avLst/>
          </a:prstGeom>
          <a:solidFill>
            <a:srgbClr val="1A79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4814888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Cream &amp; Balm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4814888"/>
            <a:ext cx="643890" cy="292894"/>
          </a:xfrm>
          <a:prstGeom prst="rect">
            <a:avLst/>
          </a:prstGeom>
          <a:solidFill>
            <a:srgbClr val="ADCC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4814888"/>
            <a:ext cx="643890" cy="292894"/>
          </a:xfrm>
          <a:prstGeom prst="rect">
            <a:avLst/>
          </a:prstGeom>
          <a:solidFill>
            <a:srgbClr val="CFE0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4814888"/>
            <a:ext cx="643890" cy="292894"/>
          </a:xfrm>
          <a:prstGeom prst="rect">
            <a:avLst/>
          </a:prstGeom>
          <a:solidFill>
            <a:srgbClr val="CBDD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4814888"/>
            <a:ext cx="643890" cy="292894"/>
          </a:xfrm>
          <a:prstGeom prst="rect">
            <a:avLst/>
          </a:prstGeom>
          <a:solidFill>
            <a:srgbClr val="BCD4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4814888"/>
            <a:ext cx="643890" cy="292894"/>
          </a:xfrm>
          <a:prstGeom prst="rect">
            <a:avLst/>
          </a:prstGeom>
          <a:solidFill>
            <a:srgbClr val="14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4814888"/>
            <a:ext cx="643890" cy="292894"/>
          </a:xfrm>
          <a:prstGeom prst="rect">
            <a:avLst/>
          </a:prstGeom>
          <a:solidFill>
            <a:srgbClr val="2580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4814888"/>
            <a:ext cx="643890" cy="292894"/>
          </a:xfrm>
          <a:prstGeom prst="rect">
            <a:avLst/>
          </a:prstGeom>
          <a:solidFill>
            <a:srgbClr val="0C4B7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4814888"/>
            <a:ext cx="643890" cy="292894"/>
          </a:xfrm>
          <a:prstGeom prst="rect">
            <a:avLst/>
          </a:prstGeom>
          <a:solidFill>
            <a:srgbClr val="0C416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4814888"/>
            <a:ext cx="643890" cy="292894"/>
          </a:xfrm>
          <a:prstGeom prst="rect">
            <a:avLst/>
          </a:prstGeom>
          <a:solidFill>
            <a:srgbClr val="23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4814888"/>
            <a:ext cx="643890" cy="292894"/>
          </a:xfrm>
          <a:prstGeom prst="rect">
            <a:avLst/>
          </a:prstGeom>
          <a:solidFill>
            <a:srgbClr val="15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4814888"/>
            <a:ext cx="643890" cy="292894"/>
          </a:xfrm>
          <a:prstGeom prst="rect">
            <a:avLst/>
          </a:prstGeom>
          <a:solidFill>
            <a:srgbClr val="0E689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4814888"/>
            <a:ext cx="643890" cy="292894"/>
          </a:xfrm>
          <a:prstGeom prst="rect">
            <a:avLst/>
          </a:prstGeom>
          <a:solidFill>
            <a:srgbClr val="0C4B7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4814888"/>
            <a:ext cx="643890" cy="292894"/>
          </a:xfrm>
          <a:prstGeom prst="rect">
            <a:avLst/>
          </a:prstGeom>
          <a:solidFill>
            <a:srgbClr val="0D517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4814888"/>
            <a:ext cx="643890" cy="292894"/>
          </a:xfrm>
          <a:prstGeom prst="rect">
            <a:avLst/>
          </a:prstGeom>
          <a:solidFill>
            <a:srgbClr val="0D527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4814888"/>
            <a:ext cx="643890" cy="292894"/>
          </a:xfrm>
          <a:prstGeom prst="rect">
            <a:avLst/>
          </a:prstGeom>
          <a:solidFill>
            <a:srgbClr val="0D568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238125" y="5107781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Gel</a:t>
            </a:r>
          </a:p>
        </p:txBody>
      </p:sp>
      <p:sp>
        <p:nvSpPr>
          <p:cNvPr id="81" name="Rectangle 80"/>
          <p:cNvSpPr/>
          <p:nvPr/>
        </p:nvSpPr>
        <p:spPr>
          <a:xfrm>
            <a:off x="1857375" y="5107781"/>
            <a:ext cx="643890" cy="292894"/>
          </a:xfrm>
          <a:prstGeom prst="rect">
            <a:avLst/>
          </a:prstGeom>
          <a:solidFill>
            <a:srgbClr val="EA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2501265" y="5107781"/>
            <a:ext cx="643890" cy="292894"/>
          </a:xfrm>
          <a:prstGeom prst="rect">
            <a:avLst/>
          </a:prstGeom>
          <a:solidFill>
            <a:srgbClr val="FB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3145155" y="5107781"/>
            <a:ext cx="643890" cy="292894"/>
          </a:xfrm>
          <a:prstGeom prst="rect">
            <a:avLst/>
          </a:prstGeom>
          <a:solidFill>
            <a:srgbClr val="F9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3789045" y="5107781"/>
            <a:ext cx="643890" cy="292894"/>
          </a:xfrm>
          <a:prstGeom prst="rect">
            <a:avLst/>
          </a:prstGeom>
          <a:solidFill>
            <a:srgbClr val="EE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4432935" y="5107781"/>
            <a:ext cx="643890" cy="292894"/>
          </a:xfrm>
          <a:prstGeom prst="rect">
            <a:avLst/>
          </a:prstGeom>
          <a:solidFill>
            <a:srgbClr val="7AB0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5076825" y="5107781"/>
            <a:ext cx="643890" cy="292894"/>
          </a:xfrm>
          <a:prstGeom prst="rect">
            <a:avLst/>
          </a:prstGeom>
          <a:solidFill>
            <a:srgbClr val="83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5720715" y="5107781"/>
            <a:ext cx="643890" cy="292894"/>
          </a:xfrm>
          <a:prstGeom prst="rect">
            <a:avLst/>
          </a:prstGeom>
          <a:solidFill>
            <a:srgbClr val="4995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6364605" y="5107781"/>
            <a:ext cx="643890" cy="292894"/>
          </a:xfrm>
          <a:prstGeom prst="rect">
            <a:avLst/>
          </a:prstGeom>
          <a:solidFill>
            <a:srgbClr val="3D8F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7008495" y="5107781"/>
            <a:ext cx="643890" cy="292894"/>
          </a:xfrm>
          <a:prstGeom prst="rect">
            <a:avLst/>
          </a:prstGeom>
          <a:solidFill>
            <a:srgbClr val="85B6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7652385" y="5107781"/>
            <a:ext cx="643890" cy="292894"/>
          </a:xfrm>
          <a:prstGeom prst="rect">
            <a:avLst/>
          </a:prstGeom>
          <a:solidFill>
            <a:srgbClr val="6CA8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8296275" y="5107781"/>
            <a:ext cx="643890" cy="292894"/>
          </a:xfrm>
          <a:prstGeom prst="rect">
            <a:avLst/>
          </a:prstGeom>
          <a:solidFill>
            <a:srgbClr val="63A3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8940165" y="5107781"/>
            <a:ext cx="643890" cy="292894"/>
          </a:xfrm>
          <a:prstGeom prst="rect">
            <a:avLst/>
          </a:prstGeom>
          <a:solidFill>
            <a:srgbClr val="45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9584055" y="5107781"/>
            <a:ext cx="643890" cy="292894"/>
          </a:xfrm>
          <a:prstGeom prst="rect">
            <a:avLst/>
          </a:prstGeom>
          <a:solidFill>
            <a:srgbClr val="549B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0227945" y="5107781"/>
            <a:ext cx="643890" cy="292894"/>
          </a:xfrm>
          <a:prstGeom prst="rect">
            <a:avLst/>
          </a:prstGeom>
          <a:solidFill>
            <a:srgbClr val="4F98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0871835" y="5107781"/>
            <a:ext cx="643890" cy="292894"/>
          </a:xfrm>
          <a:prstGeom prst="rect">
            <a:avLst/>
          </a:prstGeom>
          <a:solidFill>
            <a:srgbClr val="4492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238125" y="5400675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Foam</a:t>
            </a:r>
          </a:p>
        </p:txBody>
      </p:sp>
      <p:sp>
        <p:nvSpPr>
          <p:cNvPr id="97" name="Rectangle 96"/>
          <p:cNvSpPr/>
          <p:nvPr/>
        </p:nvSpPr>
        <p:spPr>
          <a:xfrm>
            <a:off x="1857375" y="5400675"/>
            <a:ext cx="643890" cy="292894"/>
          </a:xfrm>
          <a:prstGeom prst="rect">
            <a:avLst/>
          </a:prstGeom>
          <a:solidFill>
            <a:srgbClr val="DB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2501265" y="5400675"/>
            <a:ext cx="643890" cy="292894"/>
          </a:xfrm>
          <a:prstGeom prst="rect">
            <a:avLst/>
          </a:prstGeom>
          <a:solidFill>
            <a:srgbClr val="F3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3145155" y="5400675"/>
            <a:ext cx="643890" cy="292894"/>
          </a:xfrm>
          <a:prstGeom prst="rect">
            <a:avLst/>
          </a:prstGeom>
          <a:solidFill>
            <a:srgbClr val="EDF7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3789045" y="5400675"/>
            <a:ext cx="643890" cy="292894"/>
          </a:xfrm>
          <a:prstGeom prst="rect">
            <a:avLst/>
          </a:prstGeom>
          <a:solidFill>
            <a:srgbClr val="E2EF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4432935" y="5400675"/>
            <a:ext cx="643890" cy="292894"/>
          </a:xfrm>
          <a:prstGeom prst="rect">
            <a:avLst/>
          </a:prstGeom>
          <a:solidFill>
            <a:srgbClr val="5FA1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5076825" y="5400675"/>
            <a:ext cx="643890" cy="292894"/>
          </a:xfrm>
          <a:prstGeom prst="rect">
            <a:avLst/>
          </a:prstGeom>
          <a:solidFill>
            <a:srgbClr val="65A4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5720715" y="5400675"/>
            <a:ext cx="643890" cy="292894"/>
          </a:xfrm>
          <a:prstGeom prst="rect">
            <a:avLst/>
          </a:prstGeom>
          <a:solidFill>
            <a:srgbClr val="2E85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6364605" y="5400675"/>
            <a:ext cx="643890" cy="292894"/>
          </a:xfrm>
          <a:prstGeom prst="rect">
            <a:avLst/>
          </a:prstGeom>
          <a:solidFill>
            <a:srgbClr val="29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7008495" y="5400675"/>
            <a:ext cx="643890" cy="292894"/>
          </a:xfrm>
          <a:prstGeom prst="rect">
            <a:avLst/>
          </a:prstGeom>
          <a:solidFill>
            <a:srgbClr val="68A6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7652385" y="5400675"/>
            <a:ext cx="643890" cy="292894"/>
          </a:xfrm>
          <a:prstGeom prst="rect">
            <a:avLst/>
          </a:prstGeom>
          <a:solidFill>
            <a:srgbClr val="549B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8296275" y="5400675"/>
            <a:ext cx="643890" cy="292894"/>
          </a:xfrm>
          <a:prstGeom prst="rect">
            <a:avLst/>
          </a:prstGeom>
          <a:solidFill>
            <a:srgbClr val="41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8940165" y="5400675"/>
            <a:ext cx="643890" cy="292894"/>
          </a:xfrm>
          <a:prstGeom prst="rect">
            <a:avLst/>
          </a:prstGeom>
          <a:solidFill>
            <a:srgbClr val="28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9584055" y="5400675"/>
            <a:ext cx="643890" cy="292894"/>
          </a:xfrm>
          <a:prstGeom prst="rect">
            <a:avLst/>
          </a:prstGeom>
          <a:solidFill>
            <a:srgbClr val="368AC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0227945" y="5400675"/>
            <a:ext cx="643890" cy="292894"/>
          </a:xfrm>
          <a:prstGeom prst="rect">
            <a:avLst/>
          </a:prstGeom>
          <a:solidFill>
            <a:srgbClr val="3389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0871835" y="5400675"/>
            <a:ext cx="643890" cy="292894"/>
          </a:xfrm>
          <a:prstGeom prst="rect">
            <a:avLst/>
          </a:prstGeom>
          <a:solidFill>
            <a:srgbClr val="29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238125" y="5693569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Wipe &amp; Pad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857375" y="5693569"/>
            <a:ext cx="643890" cy="292894"/>
          </a:xfrm>
          <a:prstGeom prst="rect">
            <a:avLst/>
          </a:prstGeom>
          <a:solidFill>
            <a:srgbClr val="C3D8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2501265" y="5693569"/>
            <a:ext cx="643890" cy="292894"/>
          </a:xfrm>
          <a:prstGeom prst="rect">
            <a:avLst/>
          </a:prstGeom>
          <a:solidFill>
            <a:srgbClr val="E2EF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3145155" y="5693569"/>
            <a:ext cx="643890" cy="292894"/>
          </a:xfrm>
          <a:prstGeom prst="rect">
            <a:avLst/>
          </a:prstGeom>
          <a:solidFill>
            <a:srgbClr val="DF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3789045" y="5693569"/>
            <a:ext cx="643890" cy="292894"/>
          </a:xfrm>
          <a:prstGeom prst="rect">
            <a:avLst/>
          </a:prstGeom>
          <a:solidFill>
            <a:srgbClr val="CEDF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4432935" y="5693569"/>
            <a:ext cx="643890" cy="292894"/>
          </a:xfrm>
          <a:prstGeom prst="rect">
            <a:avLst/>
          </a:prstGeom>
          <a:solidFill>
            <a:srgbClr val="23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5076825" y="5693569"/>
            <a:ext cx="643890" cy="292894"/>
          </a:xfrm>
          <a:prstGeom prst="rect">
            <a:avLst/>
          </a:prstGeom>
          <a:solidFill>
            <a:srgbClr val="3489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5720715" y="5693569"/>
            <a:ext cx="643890" cy="292894"/>
          </a:xfrm>
          <a:prstGeom prst="rect">
            <a:avLst/>
          </a:prstGeom>
          <a:solidFill>
            <a:srgbClr val="0E6FA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6364605" y="5693569"/>
            <a:ext cx="643890" cy="292894"/>
          </a:xfrm>
          <a:prstGeom prst="rect">
            <a:avLst/>
          </a:prstGeom>
          <a:solidFill>
            <a:srgbClr val="0D5B8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7008495" y="5693569"/>
            <a:ext cx="643890" cy="292894"/>
          </a:xfrm>
          <a:prstGeom prst="rect">
            <a:avLst/>
          </a:prstGeom>
          <a:solidFill>
            <a:srgbClr val="3288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7652385" y="5693569"/>
            <a:ext cx="643890" cy="292894"/>
          </a:xfrm>
          <a:prstGeom prst="rect">
            <a:avLst/>
          </a:prstGeom>
          <a:solidFill>
            <a:srgbClr val="217D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Rectangle 122"/>
          <p:cNvSpPr/>
          <p:nvPr/>
        </p:nvSpPr>
        <p:spPr>
          <a:xfrm>
            <a:off x="8296275" y="5693569"/>
            <a:ext cx="643890" cy="292894"/>
          </a:xfrm>
          <a:prstGeom prst="rect">
            <a:avLst/>
          </a:prstGeom>
          <a:solidFill>
            <a:srgbClr val="1E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Rectangle 123"/>
          <p:cNvSpPr/>
          <p:nvPr/>
        </p:nvSpPr>
        <p:spPr>
          <a:xfrm>
            <a:off x="8940165" y="5693569"/>
            <a:ext cx="643890" cy="292894"/>
          </a:xfrm>
          <a:prstGeom prst="rect">
            <a:avLst/>
          </a:prstGeom>
          <a:solidFill>
            <a:srgbClr val="0D659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9584055" y="5693569"/>
            <a:ext cx="643890" cy="292894"/>
          </a:xfrm>
          <a:prstGeom prst="rect">
            <a:avLst/>
          </a:prstGeom>
          <a:solidFill>
            <a:srgbClr val="10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10227945" y="5693569"/>
            <a:ext cx="643890" cy="292894"/>
          </a:xfrm>
          <a:prstGeom prst="rect">
            <a:avLst/>
          </a:prstGeom>
          <a:solidFill>
            <a:srgbClr val="1275B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10871835" y="5693569"/>
            <a:ext cx="643890" cy="292894"/>
          </a:xfrm>
          <a:prstGeom prst="rect">
            <a:avLst/>
          </a:prstGeom>
          <a:solidFill>
            <a:srgbClr val="0E679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238125" y="5986462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Powder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1857375" y="5986462"/>
            <a:ext cx="643890" cy="292894"/>
          </a:xfrm>
          <a:prstGeom prst="rect">
            <a:avLst/>
          </a:prstGeom>
          <a:solidFill>
            <a:srgbClr val="EA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2501265" y="5986462"/>
            <a:ext cx="643890" cy="292894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3145155" y="5986462"/>
            <a:ext cx="643890" cy="292894"/>
          </a:xfrm>
          <a:prstGeom prst="rect">
            <a:avLst/>
          </a:prstGeom>
          <a:solidFill>
            <a:srgbClr val="FCFE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3789045" y="5986462"/>
            <a:ext cx="643890" cy="292894"/>
          </a:xfrm>
          <a:prstGeom prst="rect">
            <a:avLst/>
          </a:prstGeom>
          <a:solidFill>
            <a:srgbClr val="EE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4432935" y="5986462"/>
            <a:ext cx="643890" cy="292894"/>
          </a:xfrm>
          <a:prstGeom prst="rect">
            <a:avLst/>
          </a:prstGeom>
          <a:solidFill>
            <a:srgbClr val="78AE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5076825" y="5986462"/>
            <a:ext cx="643890" cy="292894"/>
          </a:xfrm>
          <a:prstGeom prst="rect">
            <a:avLst/>
          </a:prstGeom>
          <a:solidFill>
            <a:srgbClr val="7CB1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5720715" y="5986462"/>
            <a:ext cx="643890" cy="292894"/>
          </a:xfrm>
          <a:prstGeom prst="rect">
            <a:avLst/>
          </a:prstGeom>
          <a:solidFill>
            <a:srgbClr val="4A96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6364605" y="5986462"/>
            <a:ext cx="643890" cy="292894"/>
          </a:xfrm>
          <a:prstGeom prst="rect">
            <a:avLst/>
          </a:prstGeom>
          <a:solidFill>
            <a:srgbClr val="37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Rectangle 136"/>
          <p:cNvSpPr/>
          <p:nvPr/>
        </p:nvSpPr>
        <p:spPr>
          <a:xfrm>
            <a:off x="7008495" y="5986462"/>
            <a:ext cx="643890" cy="292894"/>
          </a:xfrm>
          <a:prstGeom prst="rect">
            <a:avLst/>
          </a:prstGeom>
          <a:solidFill>
            <a:srgbClr val="8AB8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Rectangle 137"/>
          <p:cNvSpPr/>
          <p:nvPr/>
        </p:nvSpPr>
        <p:spPr>
          <a:xfrm>
            <a:off x="7652385" y="5986462"/>
            <a:ext cx="643890" cy="292894"/>
          </a:xfrm>
          <a:prstGeom prst="rect">
            <a:avLst/>
          </a:prstGeom>
          <a:solidFill>
            <a:srgbClr val="69A6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Rectangle 138"/>
          <p:cNvSpPr/>
          <p:nvPr/>
        </p:nvSpPr>
        <p:spPr>
          <a:xfrm>
            <a:off x="8296275" y="5986462"/>
            <a:ext cx="643890" cy="292894"/>
          </a:xfrm>
          <a:prstGeom prst="rect">
            <a:avLst/>
          </a:prstGeom>
          <a:solidFill>
            <a:srgbClr val="65A4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Rectangle 139"/>
          <p:cNvSpPr/>
          <p:nvPr/>
        </p:nvSpPr>
        <p:spPr>
          <a:xfrm>
            <a:off x="8940165" y="5986462"/>
            <a:ext cx="643890" cy="292894"/>
          </a:xfrm>
          <a:prstGeom prst="rect">
            <a:avLst/>
          </a:prstGeom>
          <a:solidFill>
            <a:srgbClr val="42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Rectangle 140"/>
          <p:cNvSpPr/>
          <p:nvPr/>
        </p:nvSpPr>
        <p:spPr>
          <a:xfrm>
            <a:off x="9584055" y="5986462"/>
            <a:ext cx="643890" cy="292894"/>
          </a:xfrm>
          <a:prstGeom prst="rect">
            <a:avLst/>
          </a:prstGeom>
          <a:solidFill>
            <a:srgbClr val="569C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Rectangle 141"/>
          <p:cNvSpPr/>
          <p:nvPr/>
        </p:nvSpPr>
        <p:spPr>
          <a:xfrm>
            <a:off x="10227945" y="5986462"/>
            <a:ext cx="643890" cy="292894"/>
          </a:xfrm>
          <a:prstGeom prst="rect">
            <a:avLst/>
          </a:prstGeom>
          <a:solidFill>
            <a:srgbClr val="4E98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Rectangle 142"/>
          <p:cNvSpPr/>
          <p:nvPr/>
        </p:nvSpPr>
        <p:spPr>
          <a:xfrm>
            <a:off x="10871835" y="5986462"/>
            <a:ext cx="643890" cy="292894"/>
          </a:xfrm>
          <a:prstGeom prst="rect">
            <a:avLst/>
          </a:prstGeom>
          <a:solidFill>
            <a:srgbClr val="39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238125" y="6279356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Solid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1857375" y="6279356"/>
            <a:ext cx="643890" cy="292894"/>
          </a:xfrm>
          <a:prstGeom prst="rect">
            <a:avLst/>
          </a:prstGeom>
          <a:solidFill>
            <a:srgbClr val="9DC3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Rectangle 145"/>
          <p:cNvSpPr/>
          <p:nvPr/>
        </p:nvSpPr>
        <p:spPr>
          <a:xfrm>
            <a:off x="2501265" y="6279356"/>
            <a:ext cx="643890" cy="292894"/>
          </a:xfrm>
          <a:prstGeom prst="rect">
            <a:avLst/>
          </a:prstGeom>
          <a:solidFill>
            <a:srgbClr val="C3D8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Rectangle 146"/>
          <p:cNvSpPr/>
          <p:nvPr/>
        </p:nvSpPr>
        <p:spPr>
          <a:xfrm>
            <a:off x="3145155" y="6279356"/>
            <a:ext cx="643890" cy="292894"/>
          </a:xfrm>
          <a:prstGeom prst="rect">
            <a:avLst/>
          </a:prstGeom>
          <a:solidFill>
            <a:srgbClr val="C1D7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Rectangle 147"/>
          <p:cNvSpPr/>
          <p:nvPr/>
        </p:nvSpPr>
        <p:spPr>
          <a:xfrm>
            <a:off x="3789045" y="6279356"/>
            <a:ext cx="643890" cy="292894"/>
          </a:xfrm>
          <a:prstGeom prst="rect">
            <a:avLst/>
          </a:prstGeom>
          <a:solidFill>
            <a:srgbClr val="AA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Rectangle 148"/>
          <p:cNvSpPr/>
          <p:nvPr/>
        </p:nvSpPr>
        <p:spPr>
          <a:xfrm>
            <a:off x="4432935" y="6279356"/>
            <a:ext cx="643890" cy="292894"/>
          </a:xfrm>
          <a:prstGeom prst="rect">
            <a:avLst/>
          </a:prstGeom>
          <a:solidFill>
            <a:srgbClr val="0D598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Rectangle 149"/>
          <p:cNvSpPr/>
          <p:nvPr/>
        </p:nvSpPr>
        <p:spPr>
          <a:xfrm>
            <a:off x="5076825" y="6279356"/>
            <a:ext cx="643890" cy="292894"/>
          </a:xfrm>
          <a:prstGeom prst="rect">
            <a:avLst/>
          </a:prstGeom>
          <a:solidFill>
            <a:srgbClr val="16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Rectangle 150"/>
          <p:cNvSpPr/>
          <p:nvPr/>
        </p:nvSpPr>
        <p:spPr>
          <a:xfrm>
            <a:off x="5720715" y="6279356"/>
            <a:ext cx="643890" cy="292894"/>
          </a:xfrm>
          <a:prstGeom prst="rect">
            <a:avLst/>
          </a:prstGeom>
          <a:solidFill>
            <a:srgbClr val="0B335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Rectangle 151"/>
          <p:cNvSpPr/>
          <p:nvPr/>
        </p:nvSpPr>
        <p:spPr>
          <a:xfrm>
            <a:off x="6364605" y="6279356"/>
            <a:ext cx="643890" cy="292894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Rectangle 152"/>
          <p:cNvSpPr/>
          <p:nvPr/>
        </p:nvSpPr>
        <p:spPr>
          <a:xfrm>
            <a:off x="7008495" y="6279356"/>
            <a:ext cx="643890" cy="292894"/>
          </a:xfrm>
          <a:prstGeom prst="rect">
            <a:avLst/>
          </a:prstGeom>
          <a:solidFill>
            <a:srgbClr val="1174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Rectangle 153"/>
          <p:cNvSpPr/>
          <p:nvPr/>
        </p:nvSpPr>
        <p:spPr>
          <a:xfrm>
            <a:off x="7652385" y="6279356"/>
            <a:ext cx="643890" cy="292894"/>
          </a:xfrm>
          <a:prstGeom prst="rect">
            <a:avLst/>
          </a:prstGeom>
          <a:solidFill>
            <a:srgbClr val="0D639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5" name="Rectangle 154"/>
          <p:cNvSpPr/>
          <p:nvPr/>
        </p:nvSpPr>
        <p:spPr>
          <a:xfrm>
            <a:off x="8296275" y="6279356"/>
            <a:ext cx="643890" cy="292894"/>
          </a:xfrm>
          <a:prstGeom prst="rect">
            <a:avLst/>
          </a:prstGeom>
          <a:solidFill>
            <a:srgbClr val="0D558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Rectangle 155"/>
          <p:cNvSpPr/>
          <p:nvPr/>
        </p:nvSpPr>
        <p:spPr>
          <a:xfrm>
            <a:off x="8940165" y="6279356"/>
            <a:ext cx="643890" cy="292894"/>
          </a:xfrm>
          <a:prstGeom prst="rect">
            <a:avLst/>
          </a:prstGeom>
          <a:solidFill>
            <a:srgbClr val="0C3A5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Rectangle 156"/>
          <p:cNvSpPr/>
          <p:nvPr/>
        </p:nvSpPr>
        <p:spPr>
          <a:xfrm>
            <a:off x="9584055" y="6279356"/>
            <a:ext cx="643890" cy="292894"/>
          </a:xfrm>
          <a:prstGeom prst="rect">
            <a:avLst/>
          </a:prstGeom>
          <a:solidFill>
            <a:srgbClr val="0B395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Rectangle 157"/>
          <p:cNvSpPr/>
          <p:nvPr/>
        </p:nvSpPr>
        <p:spPr>
          <a:xfrm>
            <a:off x="10227945" y="6279356"/>
            <a:ext cx="643890" cy="292894"/>
          </a:xfrm>
          <a:prstGeom prst="rect">
            <a:avLst/>
          </a:prstGeom>
          <a:solidFill>
            <a:srgbClr val="0C436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Rectangle 158"/>
          <p:cNvSpPr/>
          <p:nvPr/>
        </p:nvSpPr>
        <p:spPr>
          <a:xfrm>
            <a:off x="10871835" y="6279356"/>
            <a:ext cx="643890" cy="292894"/>
          </a:xfrm>
          <a:prstGeom prst="rect">
            <a:avLst/>
          </a:prstGeom>
          <a:solidFill>
            <a:srgbClr val="0C3E6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Rectangle 159"/>
          <p:cNvSpPr/>
          <p:nvPr/>
        </p:nvSpPr>
        <p:spPr>
          <a:xfrm>
            <a:off x="11572875" y="4267200"/>
            <a:ext cx="104775" cy="6429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1" name="Rectangle 160"/>
          <p:cNvSpPr/>
          <p:nvPr/>
        </p:nvSpPr>
        <p:spPr>
          <a:xfrm>
            <a:off x="11572875" y="4323874"/>
            <a:ext cx="104775" cy="64294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Rectangle 161"/>
          <p:cNvSpPr/>
          <p:nvPr/>
        </p:nvSpPr>
        <p:spPr>
          <a:xfrm>
            <a:off x="11572875" y="4380548"/>
            <a:ext cx="104775" cy="64294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3" name="Rectangle 162"/>
          <p:cNvSpPr/>
          <p:nvPr/>
        </p:nvSpPr>
        <p:spPr>
          <a:xfrm>
            <a:off x="11572875" y="4437221"/>
            <a:ext cx="104775" cy="64294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Rectangle 163"/>
          <p:cNvSpPr/>
          <p:nvPr/>
        </p:nvSpPr>
        <p:spPr>
          <a:xfrm>
            <a:off x="11572875" y="4493895"/>
            <a:ext cx="104775" cy="64294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5" name="Rectangle 164"/>
          <p:cNvSpPr/>
          <p:nvPr/>
        </p:nvSpPr>
        <p:spPr>
          <a:xfrm>
            <a:off x="11572875" y="4550569"/>
            <a:ext cx="104775" cy="64294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Rectangle 165"/>
          <p:cNvSpPr/>
          <p:nvPr/>
        </p:nvSpPr>
        <p:spPr>
          <a:xfrm>
            <a:off x="11572875" y="4607242"/>
            <a:ext cx="104775" cy="64294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7" name="Rectangle 166"/>
          <p:cNvSpPr/>
          <p:nvPr/>
        </p:nvSpPr>
        <p:spPr>
          <a:xfrm>
            <a:off x="11572875" y="4663916"/>
            <a:ext cx="104775" cy="64294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Rectangle 167"/>
          <p:cNvSpPr/>
          <p:nvPr/>
        </p:nvSpPr>
        <p:spPr>
          <a:xfrm>
            <a:off x="11572875" y="4720590"/>
            <a:ext cx="104775" cy="64294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Rectangle 168"/>
          <p:cNvSpPr/>
          <p:nvPr/>
        </p:nvSpPr>
        <p:spPr>
          <a:xfrm>
            <a:off x="11572875" y="4777264"/>
            <a:ext cx="104775" cy="64294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Rectangle 169"/>
          <p:cNvSpPr/>
          <p:nvPr/>
        </p:nvSpPr>
        <p:spPr>
          <a:xfrm>
            <a:off x="11572875" y="4833938"/>
            <a:ext cx="104775" cy="64294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1" name="Rectangle 170"/>
          <p:cNvSpPr/>
          <p:nvPr/>
        </p:nvSpPr>
        <p:spPr>
          <a:xfrm>
            <a:off x="11572875" y="4890611"/>
            <a:ext cx="104775" cy="64294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Rectangle 171"/>
          <p:cNvSpPr/>
          <p:nvPr/>
        </p:nvSpPr>
        <p:spPr>
          <a:xfrm>
            <a:off x="11572875" y="4947285"/>
            <a:ext cx="104775" cy="64294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3" name="Rectangle 172"/>
          <p:cNvSpPr/>
          <p:nvPr/>
        </p:nvSpPr>
        <p:spPr>
          <a:xfrm>
            <a:off x="11572875" y="5003959"/>
            <a:ext cx="104775" cy="64294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Rectangle 173"/>
          <p:cNvSpPr/>
          <p:nvPr/>
        </p:nvSpPr>
        <p:spPr>
          <a:xfrm>
            <a:off x="11572875" y="5060632"/>
            <a:ext cx="104775" cy="64294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5" name="Rectangle 174"/>
          <p:cNvSpPr/>
          <p:nvPr/>
        </p:nvSpPr>
        <p:spPr>
          <a:xfrm>
            <a:off x="11572875" y="5117306"/>
            <a:ext cx="104775" cy="64294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Rectangle 175"/>
          <p:cNvSpPr/>
          <p:nvPr/>
        </p:nvSpPr>
        <p:spPr>
          <a:xfrm>
            <a:off x="11572875" y="5173980"/>
            <a:ext cx="104775" cy="64294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7" name="Rectangle 176"/>
          <p:cNvSpPr/>
          <p:nvPr/>
        </p:nvSpPr>
        <p:spPr>
          <a:xfrm>
            <a:off x="11572875" y="5230654"/>
            <a:ext cx="104775" cy="64294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Rectangle 177"/>
          <p:cNvSpPr/>
          <p:nvPr/>
        </p:nvSpPr>
        <p:spPr>
          <a:xfrm>
            <a:off x="11572875" y="5287328"/>
            <a:ext cx="104775" cy="64294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9" name="Rectangle 178"/>
          <p:cNvSpPr/>
          <p:nvPr/>
        </p:nvSpPr>
        <p:spPr>
          <a:xfrm>
            <a:off x="11572875" y="5344001"/>
            <a:ext cx="104775" cy="64294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Rectangle 179"/>
          <p:cNvSpPr/>
          <p:nvPr/>
        </p:nvSpPr>
        <p:spPr>
          <a:xfrm>
            <a:off x="11572875" y="5400675"/>
            <a:ext cx="104775" cy="64294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1" name="Rectangle 180"/>
          <p:cNvSpPr/>
          <p:nvPr/>
        </p:nvSpPr>
        <p:spPr>
          <a:xfrm>
            <a:off x="11572875" y="5457349"/>
            <a:ext cx="104775" cy="64294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Rectangle 181"/>
          <p:cNvSpPr/>
          <p:nvPr/>
        </p:nvSpPr>
        <p:spPr>
          <a:xfrm>
            <a:off x="11572875" y="5514022"/>
            <a:ext cx="104775" cy="64294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3" name="Rectangle 182"/>
          <p:cNvSpPr/>
          <p:nvPr/>
        </p:nvSpPr>
        <p:spPr>
          <a:xfrm>
            <a:off x="11572875" y="5570696"/>
            <a:ext cx="104775" cy="64294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Rectangle 183"/>
          <p:cNvSpPr/>
          <p:nvPr/>
        </p:nvSpPr>
        <p:spPr>
          <a:xfrm>
            <a:off x="11572875" y="5627370"/>
            <a:ext cx="104775" cy="64294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5" name="Rectangle 184"/>
          <p:cNvSpPr/>
          <p:nvPr/>
        </p:nvSpPr>
        <p:spPr>
          <a:xfrm>
            <a:off x="11572875" y="5684044"/>
            <a:ext cx="104775" cy="64294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Rectangle 185"/>
          <p:cNvSpPr/>
          <p:nvPr/>
        </p:nvSpPr>
        <p:spPr>
          <a:xfrm>
            <a:off x="11572875" y="5740718"/>
            <a:ext cx="104775" cy="64294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7" name="Rectangle 186"/>
          <p:cNvSpPr/>
          <p:nvPr/>
        </p:nvSpPr>
        <p:spPr>
          <a:xfrm>
            <a:off x="11572875" y="5797391"/>
            <a:ext cx="104775" cy="64294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Rectangle 187"/>
          <p:cNvSpPr/>
          <p:nvPr/>
        </p:nvSpPr>
        <p:spPr>
          <a:xfrm>
            <a:off x="11572875" y="5854065"/>
            <a:ext cx="104775" cy="64294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9" name="Rectangle 188"/>
          <p:cNvSpPr/>
          <p:nvPr/>
        </p:nvSpPr>
        <p:spPr>
          <a:xfrm>
            <a:off x="11572875" y="5910739"/>
            <a:ext cx="104775" cy="64294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Rectangle 189"/>
          <p:cNvSpPr/>
          <p:nvPr/>
        </p:nvSpPr>
        <p:spPr>
          <a:xfrm>
            <a:off x="11572875" y="5967412"/>
            <a:ext cx="104775" cy="64294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1" name="Rectangle 190"/>
          <p:cNvSpPr/>
          <p:nvPr/>
        </p:nvSpPr>
        <p:spPr>
          <a:xfrm>
            <a:off x="11572875" y="6024086"/>
            <a:ext cx="104775" cy="64294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Rectangle 191"/>
          <p:cNvSpPr/>
          <p:nvPr/>
        </p:nvSpPr>
        <p:spPr>
          <a:xfrm>
            <a:off x="11572875" y="6080760"/>
            <a:ext cx="104775" cy="64294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3" name="Rectangle 192"/>
          <p:cNvSpPr/>
          <p:nvPr/>
        </p:nvSpPr>
        <p:spPr>
          <a:xfrm>
            <a:off x="11572875" y="6137434"/>
            <a:ext cx="104775" cy="64294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Rectangle 193"/>
          <p:cNvSpPr/>
          <p:nvPr/>
        </p:nvSpPr>
        <p:spPr>
          <a:xfrm>
            <a:off x="11572875" y="6194108"/>
            <a:ext cx="104775" cy="64294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5" name="Rectangle 194"/>
          <p:cNvSpPr/>
          <p:nvPr/>
        </p:nvSpPr>
        <p:spPr>
          <a:xfrm>
            <a:off x="11572875" y="6250781"/>
            <a:ext cx="104775" cy="64294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Rectangle 195"/>
          <p:cNvSpPr/>
          <p:nvPr/>
        </p:nvSpPr>
        <p:spPr>
          <a:xfrm>
            <a:off x="11572875" y="6307455"/>
            <a:ext cx="104775" cy="64294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7" name="Rectangle 196"/>
          <p:cNvSpPr/>
          <p:nvPr/>
        </p:nvSpPr>
        <p:spPr>
          <a:xfrm>
            <a:off x="11572875" y="6364129"/>
            <a:ext cx="104775" cy="64294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Rectangle 197"/>
          <p:cNvSpPr/>
          <p:nvPr/>
        </p:nvSpPr>
        <p:spPr>
          <a:xfrm>
            <a:off x="11572875" y="6420802"/>
            <a:ext cx="104775" cy="64294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9" name="Rectangle 198"/>
          <p:cNvSpPr/>
          <p:nvPr/>
        </p:nvSpPr>
        <p:spPr>
          <a:xfrm>
            <a:off x="11572875" y="6477476"/>
            <a:ext cx="104775" cy="64294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Rectangle 199"/>
          <p:cNvSpPr/>
          <p:nvPr/>
        </p:nvSpPr>
        <p:spPr>
          <a:xfrm>
            <a:off x="11572875" y="4267200"/>
            <a:ext cx="104775" cy="2266950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1" name="TextBox 200"/>
          <p:cNvSpPr txBox="1"/>
          <p:nvPr/>
        </p:nvSpPr>
        <p:spPr>
          <a:xfrm>
            <a:off x="11687175" y="420052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202" name="TextBox 201"/>
          <p:cNvSpPr txBox="1"/>
          <p:nvPr/>
        </p:nvSpPr>
        <p:spPr>
          <a:xfrm>
            <a:off x="11687175" y="533400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203" name="TextBox 202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4%</a:t>
            </a:r>
          </a:p>
        </p:txBody>
      </p:sp>
      <p:sp>
        <p:nvSpPr>
          <p:cNvPr id="204" name="TextBox 20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5" name="Picture 20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61010" y="2204276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8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Europe Market Value, By Product Format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Product Format,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686050"/>
          </a:xfrm>
          <a:prstGeom prst="roundRect">
            <a:avLst>
              <a:gd name="adj" fmla="val 28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YoY Growth, By Product Format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3" cy="22193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303398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Format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Liquid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Spray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Cream &amp; Balm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Foam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Wipe &amp; Pad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Powder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Solid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4671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800475"/>
            <a:ext cx="11906250" cy="2828925"/>
          </a:xfrm>
          <a:prstGeom prst="roundRect">
            <a:avLst>
              <a:gd name="adj" fmla="val 269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8576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YoY Heatmap, By Product Format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4229100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Liquid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4229100"/>
            <a:ext cx="643890" cy="292894"/>
          </a:xfrm>
          <a:prstGeom prst="rect">
            <a:avLst/>
          </a:prstGeom>
          <a:solidFill>
            <a:srgbClr val="DCEB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4229100"/>
            <a:ext cx="643890" cy="292894"/>
          </a:xfrm>
          <a:prstGeom prst="rect">
            <a:avLst/>
          </a:prstGeom>
          <a:solidFill>
            <a:srgbClr val="F4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4229100"/>
            <a:ext cx="643890" cy="292894"/>
          </a:xfrm>
          <a:prstGeom prst="rect">
            <a:avLst/>
          </a:prstGeom>
          <a:solidFill>
            <a:srgbClr val="F4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4229100"/>
            <a:ext cx="643890" cy="292894"/>
          </a:xfrm>
          <a:prstGeom prst="rect">
            <a:avLst/>
          </a:prstGeom>
          <a:solidFill>
            <a:srgbClr val="E9F5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4229100"/>
            <a:ext cx="643890" cy="292894"/>
          </a:xfrm>
          <a:prstGeom prst="rect">
            <a:avLst/>
          </a:prstGeom>
          <a:solidFill>
            <a:srgbClr val="5199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4229100"/>
            <a:ext cx="643890" cy="292894"/>
          </a:xfrm>
          <a:prstGeom prst="rect">
            <a:avLst/>
          </a:prstGeom>
          <a:solidFill>
            <a:srgbClr val="6E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4229100"/>
            <a:ext cx="643890" cy="292894"/>
          </a:xfrm>
          <a:prstGeom prst="rect">
            <a:avLst/>
          </a:prstGeom>
          <a:solidFill>
            <a:srgbClr val="368A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4229100"/>
            <a:ext cx="643890" cy="292894"/>
          </a:xfrm>
          <a:prstGeom prst="rect">
            <a:avLst/>
          </a:prstGeom>
          <a:solidFill>
            <a:srgbClr val="29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4229100"/>
            <a:ext cx="643890" cy="292894"/>
          </a:xfrm>
          <a:prstGeom prst="rect">
            <a:avLst/>
          </a:prstGeom>
          <a:solidFill>
            <a:srgbClr val="78AF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4229100"/>
            <a:ext cx="643890" cy="292894"/>
          </a:xfrm>
          <a:prstGeom prst="rect">
            <a:avLst/>
          </a:prstGeom>
          <a:solidFill>
            <a:srgbClr val="589D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4229100"/>
            <a:ext cx="643890" cy="292894"/>
          </a:xfrm>
          <a:prstGeom prst="rect">
            <a:avLst/>
          </a:prstGeom>
          <a:solidFill>
            <a:srgbClr val="529A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4229100"/>
            <a:ext cx="643890" cy="292894"/>
          </a:xfrm>
          <a:prstGeom prst="rect">
            <a:avLst/>
          </a:prstGeom>
          <a:solidFill>
            <a:srgbClr val="3A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4229100"/>
            <a:ext cx="643890" cy="292894"/>
          </a:xfrm>
          <a:prstGeom prst="rect">
            <a:avLst/>
          </a:prstGeom>
          <a:solidFill>
            <a:srgbClr val="3D8F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4229100"/>
            <a:ext cx="643890" cy="292894"/>
          </a:xfrm>
          <a:prstGeom prst="rect">
            <a:avLst/>
          </a:prstGeom>
          <a:solidFill>
            <a:srgbClr val="3D8E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4229100"/>
            <a:ext cx="643890" cy="292894"/>
          </a:xfrm>
          <a:prstGeom prst="rect">
            <a:avLst/>
          </a:prstGeom>
          <a:solidFill>
            <a:srgbClr val="4090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521994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Spray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521994"/>
            <a:ext cx="643890" cy="292894"/>
          </a:xfrm>
          <a:prstGeom prst="rect">
            <a:avLst/>
          </a:prstGeom>
          <a:solidFill>
            <a:srgbClr val="CFE0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521994"/>
            <a:ext cx="643890" cy="292894"/>
          </a:xfrm>
          <a:prstGeom prst="rect">
            <a:avLst/>
          </a:prstGeom>
          <a:solidFill>
            <a:srgbClr val="E6F3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521994"/>
            <a:ext cx="643890" cy="292894"/>
          </a:xfrm>
          <a:prstGeom prst="rect">
            <a:avLst/>
          </a:prstGeom>
          <a:solidFill>
            <a:srgbClr val="E3F1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521994"/>
            <a:ext cx="643890" cy="292894"/>
          </a:xfrm>
          <a:prstGeom prst="rect">
            <a:avLst/>
          </a:prstGeom>
          <a:solidFill>
            <a:srgbClr val="D8E7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521994"/>
            <a:ext cx="643890" cy="292894"/>
          </a:xfrm>
          <a:prstGeom prst="rect">
            <a:avLst/>
          </a:prstGeom>
          <a:solidFill>
            <a:srgbClr val="38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521994"/>
            <a:ext cx="643890" cy="292894"/>
          </a:xfrm>
          <a:prstGeom prst="rect">
            <a:avLst/>
          </a:prstGeom>
          <a:solidFill>
            <a:srgbClr val="4D97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521994"/>
            <a:ext cx="643890" cy="292894"/>
          </a:xfrm>
          <a:prstGeom prst="rect">
            <a:avLst/>
          </a:prstGeom>
          <a:solidFill>
            <a:srgbClr val="1878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521994"/>
            <a:ext cx="643890" cy="292894"/>
          </a:xfrm>
          <a:prstGeom prst="rect">
            <a:avLst/>
          </a:prstGeom>
          <a:solidFill>
            <a:srgbClr val="14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521994"/>
            <a:ext cx="643890" cy="292894"/>
          </a:xfrm>
          <a:prstGeom prst="rect">
            <a:avLst/>
          </a:prstGeom>
          <a:solidFill>
            <a:srgbClr val="4B96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521994"/>
            <a:ext cx="643890" cy="292894"/>
          </a:xfrm>
          <a:prstGeom prst="rect">
            <a:avLst/>
          </a:prstGeom>
          <a:solidFill>
            <a:srgbClr val="3B8DC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521994"/>
            <a:ext cx="643890" cy="292894"/>
          </a:xfrm>
          <a:prstGeom prst="rect">
            <a:avLst/>
          </a:prstGeom>
          <a:solidFill>
            <a:srgbClr val="2C84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521994"/>
            <a:ext cx="643890" cy="292894"/>
          </a:xfrm>
          <a:prstGeom prst="rect">
            <a:avLst/>
          </a:prstGeom>
          <a:solidFill>
            <a:srgbClr val="1979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521994"/>
            <a:ext cx="643890" cy="292894"/>
          </a:xfrm>
          <a:prstGeom prst="rect">
            <a:avLst/>
          </a:prstGeom>
          <a:solidFill>
            <a:srgbClr val="1C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521994"/>
            <a:ext cx="643890" cy="292894"/>
          </a:xfrm>
          <a:prstGeom prst="rect">
            <a:avLst/>
          </a:prstGeom>
          <a:solidFill>
            <a:srgbClr val="227E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521994"/>
            <a:ext cx="643890" cy="292894"/>
          </a:xfrm>
          <a:prstGeom prst="rect">
            <a:avLst/>
          </a:prstGeom>
          <a:solidFill>
            <a:srgbClr val="24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4814888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Cream &amp; Balm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4814888"/>
            <a:ext cx="643890" cy="292894"/>
          </a:xfrm>
          <a:prstGeom prst="rect">
            <a:avLst/>
          </a:prstGeom>
          <a:solidFill>
            <a:srgbClr val="B6D1E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4814888"/>
            <a:ext cx="643890" cy="292894"/>
          </a:xfrm>
          <a:prstGeom prst="rect">
            <a:avLst/>
          </a:prstGeom>
          <a:solidFill>
            <a:srgbClr val="D4E5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4814888"/>
            <a:ext cx="643890" cy="292894"/>
          </a:xfrm>
          <a:prstGeom prst="rect">
            <a:avLst/>
          </a:prstGeom>
          <a:solidFill>
            <a:srgbClr val="D4E4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4814888"/>
            <a:ext cx="643890" cy="292894"/>
          </a:xfrm>
          <a:prstGeom prst="rect">
            <a:avLst/>
          </a:prstGeom>
          <a:solidFill>
            <a:srgbClr val="C9DC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4814888"/>
            <a:ext cx="643890" cy="292894"/>
          </a:xfrm>
          <a:prstGeom prst="rect">
            <a:avLst/>
          </a:prstGeom>
          <a:solidFill>
            <a:srgbClr val="1577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4814888"/>
            <a:ext cx="643890" cy="292894"/>
          </a:xfrm>
          <a:prstGeom prst="rect">
            <a:avLst/>
          </a:prstGeom>
          <a:solidFill>
            <a:srgbClr val="2D85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4814888"/>
            <a:ext cx="643890" cy="292894"/>
          </a:xfrm>
          <a:prstGeom prst="rect">
            <a:avLst/>
          </a:prstGeom>
          <a:solidFill>
            <a:srgbClr val="0D568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4814888"/>
            <a:ext cx="643890" cy="292894"/>
          </a:xfrm>
          <a:prstGeom prst="rect">
            <a:avLst/>
          </a:prstGeom>
          <a:solidFill>
            <a:srgbClr val="0C466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4814888"/>
            <a:ext cx="643890" cy="292894"/>
          </a:xfrm>
          <a:prstGeom prst="rect">
            <a:avLst/>
          </a:prstGeom>
          <a:solidFill>
            <a:srgbClr val="2B83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4814888"/>
            <a:ext cx="643890" cy="292894"/>
          </a:xfrm>
          <a:prstGeom prst="rect">
            <a:avLst/>
          </a:prstGeom>
          <a:solidFill>
            <a:srgbClr val="1A79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4814888"/>
            <a:ext cx="643890" cy="292894"/>
          </a:xfrm>
          <a:prstGeom prst="rect">
            <a:avLst/>
          </a:prstGeom>
          <a:solidFill>
            <a:srgbClr val="0F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4814888"/>
            <a:ext cx="643890" cy="292894"/>
          </a:xfrm>
          <a:prstGeom prst="rect">
            <a:avLst/>
          </a:prstGeom>
          <a:solidFill>
            <a:srgbClr val="0D598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4814888"/>
            <a:ext cx="643890" cy="292894"/>
          </a:xfrm>
          <a:prstGeom prst="rect">
            <a:avLst/>
          </a:prstGeom>
          <a:solidFill>
            <a:srgbClr val="0D5C8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4814888"/>
            <a:ext cx="643890" cy="292894"/>
          </a:xfrm>
          <a:prstGeom prst="rect">
            <a:avLst/>
          </a:prstGeom>
          <a:solidFill>
            <a:srgbClr val="0D5E9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4814888"/>
            <a:ext cx="643890" cy="292894"/>
          </a:xfrm>
          <a:prstGeom prst="rect">
            <a:avLst/>
          </a:prstGeom>
          <a:solidFill>
            <a:srgbClr val="0D639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238125" y="5107781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Gel</a:t>
            </a:r>
          </a:p>
        </p:txBody>
      </p:sp>
      <p:sp>
        <p:nvSpPr>
          <p:cNvPr id="81" name="Rectangle 80"/>
          <p:cNvSpPr/>
          <p:nvPr/>
        </p:nvSpPr>
        <p:spPr>
          <a:xfrm>
            <a:off x="1857375" y="5107781"/>
            <a:ext cx="643890" cy="292894"/>
          </a:xfrm>
          <a:prstGeom prst="rect">
            <a:avLst/>
          </a:prstGeom>
          <a:solidFill>
            <a:srgbClr val="EB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2501265" y="5107781"/>
            <a:ext cx="643890" cy="292894"/>
          </a:xfrm>
          <a:prstGeom prst="rect">
            <a:avLst/>
          </a:prstGeom>
          <a:solidFill>
            <a:srgbClr val="FD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3145155" y="5107781"/>
            <a:ext cx="643890" cy="292894"/>
          </a:xfrm>
          <a:prstGeom prst="rect">
            <a:avLst/>
          </a:prstGeom>
          <a:solidFill>
            <a:srgbClr val="FC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3789045" y="5107781"/>
            <a:ext cx="643890" cy="292894"/>
          </a:xfrm>
          <a:prstGeom prst="rect">
            <a:avLst/>
          </a:prstGeom>
          <a:solidFill>
            <a:srgbClr val="F1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4432935" y="5107781"/>
            <a:ext cx="643890" cy="292894"/>
          </a:xfrm>
          <a:prstGeom prst="rect">
            <a:avLst/>
          </a:prstGeom>
          <a:solidFill>
            <a:srgbClr val="6E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5076825" y="5107781"/>
            <a:ext cx="643890" cy="292894"/>
          </a:xfrm>
          <a:prstGeom prst="rect">
            <a:avLst/>
          </a:prstGeom>
          <a:solidFill>
            <a:srgbClr val="87B7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5720715" y="5107781"/>
            <a:ext cx="643890" cy="292894"/>
          </a:xfrm>
          <a:prstGeom prst="rect">
            <a:avLst/>
          </a:prstGeom>
          <a:solidFill>
            <a:srgbClr val="4894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6364605" y="5107781"/>
            <a:ext cx="643890" cy="292894"/>
          </a:xfrm>
          <a:prstGeom prst="rect">
            <a:avLst/>
          </a:prstGeom>
          <a:solidFill>
            <a:srgbClr val="3A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7008495" y="5107781"/>
            <a:ext cx="643890" cy="292894"/>
          </a:xfrm>
          <a:prstGeom prst="rect">
            <a:avLst/>
          </a:prstGeom>
          <a:solidFill>
            <a:srgbClr val="88B7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7652385" y="5107781"/>
            <a:ext cx="643890" cy="292894"/>
          </a:xfrm>
          <a:prstGeom prst="rect">
            <a:avLst/>
          </a:prstGeom>
          <a:solidFill>
            <a:srgbClr val="67A5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8296275" y="5107781"/>
            <a:ext cx="643890" cy="292894"/>
          </a:xfrm>
          <a:prstGeom prst="rect">
            <a:avLst/>
          </a:prstGeom>
          <a:solidFill>
            <a:srgbClr val="65A4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8940165" y="5107781"/>
            <a:ext cx="643890" cy="292894"/>
          </a:xfrm>
          <a:prstGeom prst="rect">
            <a:avLst/>
          </a:prstGeom>
          <a:solidFill>
            <a:srgbClr val="46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9584055" y="5107781"/>
            <a:ext cx="643890" cy="292894"/>
          </a:xfrm>
          <a:prstGeom prst="rect">
            <a:avLst/>
          </a:prstGeom>
          <a:solidFill>
            <a:srgbClr val="529A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0227945" y="5107781"/>
            <a:ext cx="643890" cy="292894"/>
          </a:xfrm>
          <a:prstGeom prst="rect">
            <a:avLst/>
          </a:prstGeom>
          <a:solidFill>
            <a:srgbClr val="4D97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0871835" y="5107781"/>
            <a:ext cx="643890" cy="292894"/>
          </a:xfrm>
          <a:prstGeom prst="rect">
            <a:avLst/>
          </a:prstGeom>
          <a:solidFill>
            <a:srgbClr val="46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238125" y="5400675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Foam</a:t>
            </a:r>
          </a:p>
        </p:txBody>
      </p:sp>
      <p:sp>
        <p:nvSpPr>
          <p:cNvPr id="97" name="Rectangle 96"/>
          <p:cNvSpPr/>
          <p:nvPr/>
        </p:nvSpPr>
        <p:spPr>
          <a:xfrm>
            <a:off x="1857375" y="5400675"/>
            <a:ext cx="643890" cy="292894"/>
          </a:xfrm>
          <a:prstGeom prst="rect">
            <a:avLst/>
          </a:prstGeom>
          <a:solidFill>
            <a:srgbClr val="E3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2501265" y="5400675"/>
            <a:ext cx="643890" cy="292894"/>
          </a:xfrm>
          <a:prstGeom prst="rect">
            <a:avLst/>
          </a:prstGeom>
          <a:solidFill>
            <a:srgbClr val="F9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3145155" y="5400675"/>
            <a:ext cx="643890" cy="292894"/>
          </a:xfrm>
          <a:prstGeom prst="rect">
            <a:avLst/>
          </a:prstGeom>
          <a:solidFill>
            <a:srgbClr val="F6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3789045" y="5400675"/>
            <a:ext cx="643890" cy="292894"/>
          </a:xfrm>
          <a:prstGeom prst="rect">
            <a:avLst/>
          </a:prstGeom>
          <a:solidFill>
            <a:srgbClr val="EDF7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4432935" y="5400675"/>
            <a:ext cx="643890" cy="292894"/>
          </a:xfrm>
          <a:prstGeom prst="rect">
            <a:avLst/>
          </a:prstGeom>
          <a:solidFill>
            <a:srgbClr val="69A6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5076825" y="5400675"/>
            <a:ext cx="643890" cy="292894"/>
          </a:xfrm>
          <a:prstGeom prst="rect">
            <a:avLst/>
          </a:prstGeom>
          <a:solidFill>
            <a:srgbClr val="7AB0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5720715" y="5400675"/>
            <a:ext cx="643890" cy="292894"/>
          </a:xfrm>
          <a:prstGeom prst="rect">
            <a:avLst/>
          </a:prstGeom>
          <a:solidFill>
            <a:srgbClr val="39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6364605" y="5400675"/>
            <a:ext cx="643890" cy="292894"/>
          </a:xfrm>
          <a:prstGeom prst="rect">
            <a:avLst/>
          </a:prstGeom>
          <a:solidFill>
            <a:srgbClr val="3388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7008495" y="5400675"/>
            <a:ext cx="643890" cy="292894"/>
          </a:xfrm>
          <a:prstGeom prst="rect">
            <a:avLst/>
          </a:prstGeom>
          <a:solidFill>
            <a:srgbClr val="7BB0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7652385" y="5400675"/>
            <a:ext cx="643890" cy="292894"/>
          </a:xfrm>
          <a:prstGeom prst="rect">
            <a:avLst/>
          </a:prstGeom>
          <a:solidFill>
            <a:srgbClr val="64A4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8296275" y="5400675"/>
            <a:ext cx="643890" cy="292894"/>
          </a:xfrm>
          <a:prstGeom prst="rect">
            <a:avLst/>
          </a:prstGeom>
          <a:solidFill>
            <a:srgbClr val="539A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8940165" y="5400675"/>
            <a:ext cx="643890" cy="292894"/>
          </a:xfrm>
          <a:prstGeom prst="rect">
            <a:avLst/>
          </a:prstGeom>
          <a:solidFill>
            <a:srgbClr val="37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9584055" y="5400675"/>
            <a:ext cx="643890" cy="292894"/>
          </a:xfrm>
          <a:prstGeom prst="rect">
            <a:avLst/>
          </a:prstGeom>
          <a:solidFill>
            <a:srgbClr val="4090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0227945" y="5400675"/>
            <a:ext cx="643890" cy="292894"/>
          </a:xfrm>
          <a:prstGeom prst="rect">
            <a:avLst/>
          </a:prstGeom>
          <a:solidFill>
            <a:srgbClr val="3F8F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0871835" y="5400675"/>
            <a:ext cx="643890" cy="292894"/>
          </a:xfrm>
          <a:prstGeom prst="rect">
            <a:avLst/>
          </a:prstGeom>
          <a:solidFill>
            <a:srgbClr val="39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238125" y="5693569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Wipe &amp; Pad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857375" y="5693569"/>
            <a:ext cx="643890" cy="292894"/>
          </a:xfrm>
          <a:prstGeom prst="rect">
            <a:avLst/>
          </a:prstGeom>
          <a:solidFill>
            <a:srgbClr val="C7DA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2501265" y="5693569"/>
            <a:ext cx="643890" cy="292894"/>
          </a:xfrm>
          <a:prstGeom prst="rect">
            <a:avLst/>
          </a:prstGeom>
          <a:solidFill>
            <a:srgbClr val="E4F1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3145155" y="5693569"/>
            <a:ext cx="643890" cy="292894"/>
          </a:xfrm>
          <a:prstGeom prst="rect">
            <a:avLst/>
          </a:prstGeom>
          <a:solidFill>
            <a:srgbClr val="E3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3789045" y="5693569"/>
            <a:ext cx="643890" cy="292894"/>
          </a:xfrm>
          <a:prstGeom prst="rect">
            <a:avLst/>
          </a:prstGeom>
          <a:solidFill>
            <a:srgbClr val="D3E3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4432935" y="5693569"/>
            <a:ext cx="643890" cy="292894"/>
          </a:xfrm>
          <a:prstGeom prst="rect">
            <a:avLst/>
          </a:prstGeom>
          <a:solidFill>
            <a:srgbClr val="24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5076825" y="5693569"/>
            <a:ext cx="643890" cy="292894"/>
          </a:xfrm>
          <a:prstGeom prst="rect">
            <a:avLst/>
          </a:prstGeom>
          <a:solidFill>
            <a:srgbClr val="368AC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5720715" y="5693569"/>
            <a:ext cx="643890" cy="292894"/>
          </a:xfrm>
          <a:prstGeom prst="rect">
            <a:avLst/>
          </a:prstGeom>
          <a:solidFill>
            <a:srgbClr val="0E70A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6364605" y="5693569"/>
            <a:ext cx="643890" cy="292894"/>
          </a:xfrm>
          <a:prstGeom prst="rect">
            <a:avLst/>
          </a:prstGeom>
          <a:solidFill>
            <a:srgbClr val="0D5D8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7008495" y="5693569"/>
            <a:ext cx="643890" cy="292894"/>
          </a:xfrm>
          <a:prstGeom prst="rect">
            <a:avLst/>
          </a:prstGeom>
          <a:solidFill>
            <a:srgbClr val="37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7652385" y="5693569"/>
            <a:ext cx="643890" cy="292894"/>
          </a:xfrm>
          <a:prstGeom prst="rect">
            <a:avLst/>
          </a:prstGeom>
          <a:solidFill>
            <a:srgbClr val="24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Rectangle 122"/>
          <p:cNvSpPr/>
          <p:nvPr/>
        </p:nvSpPr>
        <p:spPr>
          <a:xfrm>
            <a:off x="8296275" y="5693569"/>
            <a:ext cx="643890" cy="292894"/>
          </a:xfrm>
          <a:prstGeom prst="rect">
            <a:avLst/>
          </a:prstGeom>
          <a:solidFill>
            <a:srgbClr val="207D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Rectangle 123"/>
          <p:cNvSpPr/>
          <p:nvPr/>
        </p:nvSpPr>
        <p:spPr>
          <a:xfrm>
            <a:off x="8940165" y="5693569"/>
            <a:ext cx="643890" cy="292894"/>
          </a:xfrm>
          <a:prstGeom prst="rect">
            <a:avLst/>
          </a:prstGeom>
          <a:solidFill>
            <a:srgbClr val="0E6FA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9584055" y="5693569"/>
            <a:ext cx="643890" cy="292894"/>
          </a:xfrm>
          <a:prstGeom prst="rect">
            <a:avLst/>
          </a:prstGeom>
          <a:solidFill>
            <a:srgbClr val="14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10227945" y="5693569"/>
            <a:ext cx="643890" cy="292894"/>
          </a:xfrm>
          <a:prstGeom prst="rect">
            <a:avLst/>
          </a:prstGeom>
          <a:solidFill>
            <a:srgbClr val="17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10871835" y="5693569"/>
            <a:ext cx="643890" cy="292894"/>
          </a:xfrm>
          <a:prstGeom prst="rect">
            <a:avLst/>
          </a:prstGeom>
          <a:solidFill>
            <a:srgbClr val="0F73A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238125" y="5986462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Powder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1857375" y="5986462"/>
            <a:ext cx="643890" cy="292894"/>
          </a:xfrm>
          <a:prstGeom prst="rect">
            <a:avLst/>
          </a:prstGeom>
          <a:solidFill>
            <a:srgbClr val="EB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2501265" y="5986462"/>
            <a:ext cx="643890" cy="292894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3145155" y="5986462"/>
            <a:ext cx="643890" cy="292894"/>
          </a:xfrm>
          <a:prstGeom prst="rect">
            <a:avLst/>
          </a:prstGeom>
          <a:solidFill>
            <a:srgbClr val="FE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3789045" y="5986462"/>
            <a:ext cx="643890" cy="292894"/>
          </a:xfrm>
          <a:prstGeom prst="rect">
            <a:avLst/>
          </a:prstGeom>
          <a:solidFill>
            <a:srgbClr val="F3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4432935" y="5986462"/>
            <a:ext cx="643890" cy="292894"/>
          </a:xfrm>
          <a:prstGeom prst="rect">
            <a:avLst/>
          </a:prstGeom>
          <a:solidFill>
            <a:srgbClr val="6D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5076825" y="5986462"/>
            <a:ext cx="643890" cy="292894"/>
          </a:xfrm>
          <a:prstGeom prst="rect">
            <a:avLst/>
          </a:prstGeom>
          <a:solidFill>
            <a:srgbClr val="88B7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5720715" y="5986462"/>
            <a:ext cx="643890" cy="292894"/>
          </a:xfrm>
          <a:prstGeom prst="rect">
            <a:avLst/>
          </a:prstGeom>
          <a:solidFill>
            <a:srgbClr val="4A95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6364605" y="5986462"/>
            <a:ext cx="643890" cy="292894"/>
          </a:xfrm>
          <a:prstGeom prst="rect">
            <a:avLst/>
          </a:prstGeom>
          <a:solidFill>
            <a:srgbClr val="37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Rectangle 136"/>
          <p:cNvSpPr/>
          <p:nvPr/>
        </p:nvSpPr>
        <p:spPr>
          <a:xfrm>
            <a:off x="7008495" y="5986462"/>
            <a:ext cx="643890" cy="292894"/>
          </a:xfrm>
          <a:prstGeom prst="rect">
            <a:avLst/>
          </a:prstGeom>
          <a:solidFill>
            <a:srgbClr val="8E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Rectangle 137"/>
          <p:cNvSpPr/>
          <p:nvPr/>
        </p:nvSpPr>
        <p:spPr>
          <a:xfrm>
            <a:off x="7652385" y="5986462"/>
            <a:ext cx="643890" cy="292894"/>
          </a:xfrm>
          <a:prstGeom prst="rect">
            <a:avLst/>
          </a:prstGeom>
          <a:solidFill>
            <a:srgbClr val="66A5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Rectangle 138"/>
          <p:cNvSpPr/>
          <p:nvPr/>
        </p:nvSpPr>
        <p:spPr>
          <a:xfrm>
            <a:off x="8296275" y="5986462"/>
            <a:ext cx="643890" cy="292894"/>
          </a:xfrm>
          <a:prstGeom prst="rect">
            <a:avLst/>
          </a:prstGeom>
          <a:solidFill>
            <a:srgbClr val="67A5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Rectangle 139"/>
          <p:cNvSpPr/>
          <p:nvPr/>
        </p:nvSpPr>
        <p:spPr>
          <a:xfrm>
            <a:off x="8940165" y="5986462"/>
            <a:ext cx="643890" cy="292894"/>
          </a:xfrm>
          <a:prstGeom prst="rect">
            <a:avLst/>
          </a:prstGeom>
          <a:solidFill>
            <a:srgbClr val="4E98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Rectangle 140"/>
          <p:cNvSpPr/>
          <p:nvPr/>
        </p:nvSpPr>
        <p:spPr>
          <a:xfrm>
            <a:off x="9584055" y="5986462"/>
            <a:ext cx="643890" cy="292894"/>
          </a:xfrm>
          <a:prstGeom prst="rect">
            <a:avLst/>
          </a:prstGeom>
          <a:solidFill>
            <a:srgbClr val="5199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Rectangle 141"/>
          <p:cNvSpPr/>
          <p:nvPr/>
        </p:nvSpPr>
        <p:spPr>
          <a:xfrm>
            <a:off x="10227945" y="5986462"/>
            <a:ext cx="643890" cy="292894"/>
          </a:xfrm>
          <a:prstGeom prst="rect">
            <a:avLst/>
          </a:prstGeom>
          <a:solidFill>
            <a:srgbClr val="4E97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Rectangle 142"/>
          <p:cNvSpPr/>
          <p:nvPr/>
        </p:nvSpPr>
        <p:spPr>
          <a:xfrm>
            <a:off x="10871835" y="5986462"/>
            <a:ext cx="643890" cy="292894"/>
          </a:xfrm>
          <a:prstGeom prst="rect">
            <a:avLst/>
          </a:prstGeom>
          <a:solidFill>
            <a:srgbClr val="4090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238125" y="6279356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Solid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1857375" y="6279356"/>
            <a:ext cx="643890" cy="292894"/>
          </a:xfrm>
          <a:prstGeom prst="rect">
            <a:avLst/>
          </a:prstGeom>
          <a:solidFill>
            <a:srgbClr val="A0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Rectangle 145"/>
          <p:cNvSpPr/>
          <p:nvPr/>
        </p:nvSpPr>
        <p:spPr>
          <a:xfrm>
            <a:off x="2501265" y="6279356"/>
            <a:ext cx="643890" cy="292894"/>
          </a:xfrm>
          <a:prstGeom prst="rect">
            <a:avLst/>
          </a:prstGeom>
          <a:solidFill>
            <a:srgbClr val="C7DB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Rectangle 146"/>
          <p:cNvSpPr/>
          <p:nvPr/>
        </p:nvSpPr>
        <p:spPr>
          <a:xfrm>
            <a:off x="3145155" y="6279356"/>
            <a:ext cx="643890" cy="292894"/>
          </a:xfrm>
          <a:prstGeom prst="rect">
            <a:avLst/>
          </a:prstGeom>
          <a:solidFill>
            <a:srgbClr val="C9DC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Rectangle 147"/>
          <p:cNvSpPr/>
          <p:nvPr/>
        </p:nvSpPr>
        <p:spPr>
          <a:xfrm>
            <a:off x="3789045" y="6279356"/>
            <a:ext cx="643890" cy="292894"/>
          </a:xfrm>
          <a:prstGeom prst="rect">
            <a:avLst/>
          </a:prstGeom>
          <a:solidFill>
            <a:srgbClr val="B2CFE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Rectangle 148"/>
          <p:cNvSpPr/>
          <p:nvPr/>
        </p:nvSpPr>
        <p:spPr>
          <a:xfrm>
            <a:off x="4432935" y="6279356"/>
            <a:ext cx="643890" cy="292894"/>
          </a:xfrm>
          <a:prstGeom prst="rect">
            <a:avLst/>
          </a:prstGeom>
          <a:solidFill>
            <a:srgbClr val="0D558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Rectangle 149"/>
          <p:cNvSpPr/>
          <p:nvPr/>
        </p:nvSpPr>
        <p:spPr>
          <a:xfrm>
            <a:off x="5076825" y="6279356"/>
            <a:ext cx="643890" cy="292894"/>
          </a:xfrm>
          <a:prstGeom prst="rect">
            <a:avLst/>
          </a:prstGeom>
          <a:solidFill>
            <a:srgbClr val="1A79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Rectangle 150"/>
          <p:cNvSpPr/>
          <p:nvPr/>
        </p:nvSpPr>
        <p:spPr>
          <a:xfrm>
            <a:off x="5720715" y="6279356"/>
            <a:ext cx="643890" cy="292894"/>
          </a:xfrm>
          <a:prstGeom prst="rect">
            <a:avLst/>
          </a:prstGeom>
          <a:solidFill>
            <a:srgbClr val="0B365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Rectangle 151"/>
          <p:cNvSpPr/>
          <p:nvPr/>
        </p:nvSpPr>
        <p:spPr>
          <a:xfrm>
            <a:off x="6364605" y="6279356"/>
            <a:ext cx="643890" cy="292894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Rectangle 152"/>
          <p:cNvSpPr/>
          <p:nvPr/>
        </p:nvSpPr>
        <p:spPr>
          <a:xfrm>
            <a:off x="7008495" y="6279356"/>
            <a:ext cx="643890" cy="292894"/>
          </a:xfrm>
          <a:prstGeom prst="rect">
            <a:avLst/>
          </a:prstGeom>
          <a:solidFill>
            <a:srgbClr val="14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Rectangle 153"/>
          <p:cNvSpPr/>
          <p:nvPr/>
        </p:nvSpPr>
        <p:spPr>
          <a:xfrm>
            <a:off x="7652385" y="6279356"/>
            <a:ext cx="643890" cy="292894"/>
          </a:xfrm>
          <a:prstGeom prst="rect">
            <a:avLst/>
          </a:prstGeom>
          <a:solidFill>
            <a:srgbClr val="0E6AA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5" name="Rectangle 154"/>
          <p:cNvSpPr/>
          <p:nvPr/>
        </p:nvSpPr>
        <p:spPr>
          <a:xfrm>
            <a:off x="8296275" y="6279356"/>
            <a:ext cx="643890" cy="292894"/>
          </a:xfrm>
          <a:prstGeom prst="rect">
            <a:avLst/>
          </a:prstGeom>
          <a:solidFill>
            <a:srgbClr val="0D5A8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Rectangle 155"/>
          <p:cNvSpPr/>
          <p:nvPr/>
        </p:nvSpPr>
        <p:spPr>
          <a:xfrm>
            <a:off x="8940165" y="6279356"/>
            <a:ext cx="643890" cy="292894"/>
          </a:xfrm>
          <a:prstGeom prst="rect">
            <a:avLst/>
          </a:prstGeom>
          <a:solidFill>
            <a:srgbClr val="0C3F6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Rectangle 156"/>
          <p:cNvSpPr/>
          <p:nvPr/>
        </p:nvSpPr>
        <p:spPr>
          <a:xfrm>
            <a:off x="9584055" y="6279356"/>
            <a:ext cx="643890" cy="292894"/>
          </a:xfrm>
          <a:prstGeom prst="rect">
            <a:avLst/>
          </a:prstGeom>
          <a:solidFill>
            <a:srgbClr val="0C3E6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Rectangle 157"/>
          <p:cNvSpPr/>
          <p:nvPr/>
        </p:nvSpPr>
        <p:spPr>
          <a:xfrm>
            <a:off x="10227945" y="6279356"/>
            <a:ext cx="643890" cy="292894"/>
          </a:xfrm>
          <a:prstGeom prst="rect">
            <a:avLst/>
          </a:prstGeom>
          <a:solidFill>
            <a:srgbClr val="0C497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Rectangle 158"/>
          <p:cNvSpPr/>
          <p:nvPr/>
        </p:nvSpPr>
        <p:spPr>
          <a:xfrm>
            <a:off x="10871835" y="6279356"/>
            <a:ext cx="643890" cy="292894"/>
          </a:xfrm>
          <a:prstGeom prst="rect">
            <a:avLst/>
          </a:prstGeom>
          <a:solidFill>
            <a:srgbClr val="0C497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Rectangle 159"/>
          <p:cNvSpPr/>
          <p:nvPr/>
        </p:nvSpPr>
        <p:spPr>
          <a:xfrm>
            <a:off x="11572875" y="4267200"/>
            <a:ext cx="104775" cy="6429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1" name="Rectangle 160"/>
          <p:cNvSpPr/>
          <p:nvPr/>
        </p:nvSpPr>
        <p:spPr>
          <a:xfrm>
            <a:off x="11572875" y="4323874"/>
            <a:ext cx="104775" cy="64294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Rectangle 161"/>
          <p:cNvSpPr/>
          <p:nvPr/>
        </p:nvSpPr>
        <p:spPr>
          <a:xfrm>
            <a:off x="11572875" y="4380548"/>
            <a:ext cx="104775" cy="64294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3" name="Rectangle 162"/>
          <p:cNvSpPr/>
          <p:nvPr/>
        </p:nvSpPr>
        <p:spPr>
          <a:xfrm>
            <a:off x="11572875" y="4437221"/>
            <a:ext cx="104775" cy="64294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Rectangle 163"/>
          <p:cNvSpPr/>
          <p:nvPr/>
        </p:nvSpPr>
        <p:spPr>
          <a:xfrm>
            <a:off x="11572875" y="4493895"/>
            <a:ext cx="104775" cy="64294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5" name="Rectangle 164"/>
          <p:cNvSpPr/>
          <p:nvPr/>
        </p:nvSpPr>
        <p:spPr>
          <a:xfrm>
            <a:off x="11572875" y="4550569"/>
            <a:ext cx="104775" cy="64294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Rectangle 165"/>
          <p:cNvSpPr/>
          <p:nvPr/>
        </p:nvSpPr>
        <p:spPr>
          <a:xfrm>
            <a:off x="11572875" y="4607242"/>
            <a:ext cx="104775" cy="64294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7" name="Rectangle 166"/>
          <p:cNvSpPr/>
          <p:nvPr/>
        </p:nvSpPr>
        <p:spPr>
          <a:xfrm>
            <a:off x="11572875" y="4663916"/>
            <a:ext cx="104775" cy="64294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Rectangle 167"/>
          <p:cNvSpPr/>
          <p:nvPr/>
        </p:nvSpPr>
        <p:spPr>
          <a:xfrm>
            <a:off x="11572875" y="4720590"/>
            <a:ext cx="104775" cy="64294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Rectangle 168"/>
          <p:cNvSpPr/>
          <p:nvPr/>
        </p:nvSpPr>
        <p:spPr>
          <a:xfrm>
            <a:off x="11572875" y="4777264"/>
            <a:ext cx="104775" cy="64294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Rectangle 169"/>
          <p:cNvSpPr/>
          <p:nvPr/>
        </p:nvSpPr>
        <p:spPr>
          <a:xfrm>
            <a:off x="11572875" y="4833938"/>
            <a:ext cx="104775" cy="64294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1" name="Rectangle 170"/>
          <p:cNvSpPr/>
          <p:nvPr/>
        </p:nvSpPr>
        <p:spPr>
          <a:xfrm>
            <a:off x="11572875" y="4890611"/>
            <a:ext cx="104775" cy="64294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Rectangle 171"/>
          <p:cNvSpPr/>
          <p:nvPr/>
        </p:nvSpPr>
        <p:spPr>
          <a:xfrm>
            <a:off x="11572875" y="4947285"/>
            <a:ext cx="104775" cy="64294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3" name="Rectangle 172"/>
          <p:cNvSpPr/>
          <p:nvPr/>
        </p:nvSpPr>
        <p:spPr>
          <a:xfrm>
            <a:off x="11572875" y="5003959"/>
            <a:ext cx="104775" cy="64294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Rectangle 173"/>
          <p:cNvSpPr/>
          <p:nvPr/>
        </p:nvSpPr>
        <p:spPr>
          <a:xfrm>
            <a:off x="11572875" y="5060632"/>
            <a:ext cx="104775" cy="64294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5" name="Rectangle 174"/>
          <p:cNvSpPr/>
          <p:nvPr/>
        </p:nvSpPr>
        <p:spPr>
          <a:xfrm>
            <a:off x="11572875" y="5117306"/>
            <a:ext cx="104775" cy="64294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Rectangle 175"/>
          <p:cNvSpPr/>
          <p:nvPr/>
        </p:nvSpPr>
        <p:spPr>
          <a:xfrm>
            <a:off x="11572875" y="5173980"/>
            <a:ext cx="104775" cy="64294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7" name="Rectangle 176"/>
          <p:cNvSpPr/>
          <p:nvPr/>
        </p:nvSpPr>
        <p:spPr>
          <a:xfrm>
            <a:off x="11572875" y="5230654"/>
            <a:ext cx="104775" cy="64294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Rectangle 177"/>
          <p:cNvSpPr/>
          <p:nvPr/>
        </p:nvSpPr>
        <p:spPr>
          <a:xfrm>
            <a:off x="11572875" y="5287328"/>
            <a:ext cx="104775" cy="64294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9" name="Rectangle 178"/>
          <p:cNvSpPr/>
          <p:nvPr/>
        </p:nvSpPr>
        <p:spPr>
          <a:xfrm>
            <a:off x="11572875" y="5344001"/>
            <a:ext cx="104775" cy="64294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Rectangle 179"/>
          <p:cNvSpPr/>
          <p:nvPr/>
        </p:nvSpPr>
        <p:spPr>
          <a:xfrm>
            <a:off x="11572875" y="5400675"/>
            <a:ext cx="104775" cy="64294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1" name="Rectangle 180"/>
          <p:cNvSpPr/>
          <p:nvPr/>
        </p:nvSpPr>
        <p:spPr>
          <a:xfrm>
            <a:off x="11572875" y="5457349"/>
            <a:ext cx="104775" cy="64294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Rectangle 181"/>
          <p:cNvSpPr/>
          <p:nvPr/>
        </p:nvSpPr>
        <p:spPr>
          <a:xfrm>
            <a:off x="11572875" y="5514022"/>
            <a:ext cx="104775" cy="64294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3" name="Rectangle 182"/>
          <p:cNvSpPr/>
          <p:nvPr/>
        </p:nvSpPr>
        <p:spPr>
          <a:xfrm>
            <a:off x="11572875" y="5570696"/>
            <a:ext cx="104775" cy="64294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Rectangle 183"/>
          <p:cNvSpPr/>
          <p:nvPr/>
        </p:nvSpPr>
        <p:spPr>
          <a:xfrm>
            <a:off x="11572875" y="5627370"/>
            <a:ext cx="104775" cy="64294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5" name="Rectangle 184"/>
          <p:cNvSpPr/>
          <p:nvPr/>
        </p:nvSpPr>
        <p:spPr>
          <a:xfrm>
            <a:off x="11572875" y="5684044"/>
            <a:ext cx="104775" cy="64294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Rectangle 185"/>
          <p:cNvSpPr/>
          <p:nvPr/>
        </p:nvSpPr>
        <p:spPr>
          <a:xfrm>
            <a:off x="11572875" y="5740718"/>
            <a:ext cx="104775" cy="64294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7" name="Rectangle 186"/>
          <p:cNvSpPr/>
          <p:nvPr/>
        </p:nvSpPr>
        <p:spPr>
          <a:xfrm>
            <a:off x="11572875" y="5797391"/>
            <a:ext cx="104775" cy="64294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Rectangle 187"/>
          <p:cNvSpPr/>
          <p:nvPr/>
        </p:nvSpPr>
        <p:spPr>
          <a:xfrm>
            <a:off x="11572875" y="5854065"/>
            <a:ext cx="104775" cy="64294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9" name="Rectangle 188"/>
          <p:cNvSpPr/>
          <p:nvPr/>
        </p:nvSpPr>
        <p:spPr>
          <a:xfrm>
            <a:off x="11572875" y="5910739"/>
            <a:ext cx="104775" cy="64294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Rectangle 189"/>
          <p:cNvSpPr/>
          <p:nvPr/>
        </p:nvSpPr>
        <p:spPr>
          <a:xfrm>
            <a:off x="11572875" y="5967412"/>
            <a:ext cx="104775" cy="64294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1" name="Rectangle 190"/>
          <p:cNvSpPr/>
          <p:nvPr/>
        </p:nvSpPr>
        <p:spPr>
          <a:xfrm>
            <a:off x="11572875" y="6024086"/>
            <a:ext cx="104775" cy="64294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Rectangle 191"/>
          <p:cNvSpPr/>
          <p:nvPr/>
        </p:nvSpPr>
        <p:spPr>
          <a:xfrm>
            <a:off x="11572875" y="6080760"/>
            <a:ext cx="104775" cy="64294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3" name="Rectangle 192"/>
          <p:cNvSpPr/>
          <p:nvPr/>
        </p:nvSpPr>
        <p:spPr>
          <a:xfrm>
            <a:off x="11572875" y="6137434"/>
            <a:ext cx="104775" cy="64294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Rectangle 193"/>
          <p:cNvSpPr/>
          <p:nvPr/>
        </p:nvSpPr>
        <p:spPr>
          <a:xfrm>
            <a:off x="11572875" y="6194108"/>
            <a:ext cx="104775" cy="64294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5" name="Rectangle 194"/>
          <p:cNvSpPr/>
          <p:nvPr/>
        </p:nvSpPr>
        <p:spPr>
          <a:xfrm>
            <a:off x="11572875" y="6250781"/>
            <a:ext cx="104775" cy="64294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Rectangle 195"/>
          <p:cNvSpPr/>
          <p:nvPr/>
        </p:nvSpPr>
        <p:spPr>
          <a:xfrm>
            <a:off x="11572875" y="6307455"/>
            <a:ext cx="104775" cy="64294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7" name="Rectangle 196"/>
          <p:cNvSpPr/>
          <p:nvPr/>
        </p:nvSpPr>
        <p:spPr>
          <a:xfrm>
            <a:off x="11572875" y="6364129"/>
            <a:ext cx="104775" cy="64294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Rectangle 197"/>
          <p:cNvSpPr/>
          <p:nvPr/>
        </p:nvSpPr>
        <p:spPr>
          <a:xfrm>
            <a:off x="11572875" y="6420802"/>
            <a:ext cx="104775" cy="64294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9" name="Rectangle 198"/>
          <p:cNvSpPr/>
          <p:nvPr/>
        </p:nvSpPr>
        <p:spPr>
          <a:xfrm>
            <a:off x="11572875" y="6477476"/>
            <a:ext cx="104775" cy="64294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Rectangle 199"/>
          <p:cNvSpPr/>
          <p:nvPr/>
        </p:nvSpPr>
        <p:spPr>
          <a:xfrm>
            <a:off x="11572875" y="4267200"/>
            <a:ext cx="104775" cy="2266950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1" name="TextBox 200"/>
          <p:cNvSpPr txBox="1"/>
          <p:nvPr/>
        </p:nvSpPr>
        <p:spPr>
          <a:xfrm>
            <a:off x="11687175" y="420052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202" name="TextBox 201"/>
          <p:cNvSpPr txBox="1"/>
          <p:nvPr/>
        </p:nvSpPr>
        <p:spPr>
          <a:xfrm>
            <a:off x="11687175" y="533400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203" name="TextBox 202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204" name="TextBox 20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5" name="Picture 20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61010" y="2204276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8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7.4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Primary Product Function / Benefit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Primary Product Function / Benefit Segment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Structure &amp; Attractiveness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Volume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Value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8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By Primary Product Function / Benefit Segment Outlook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 analysis of market size, growth and share across 7 sub-segments of Primary Product Function / Benefit,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Primary Product Function / Benefit segment categorizes the market by primary product function / benefit. Each sub-category is evaluated on market size, growth outlook and adoption trends across the forecast period.</a:t>
            </a:r>
          </a:p>
        </p:txBody>
      </p:sp>
      <p:sp>
        <p:nvSpPr>
          <p:cNvPr id="12" name="Rectangle 11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Sub-Segment</a:t>
            </a:r>
          </a:p>
        </p:txBody>
      </p:sp>
      <p:sp>
        <p:nvSpPr>
          <p:cNvPr id="14" name="Rectangle 13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6" name="Rectangle 15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8" name="Rectangle 17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866900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Rectangle 20"/>
          <p:cNvSpPr/>
          <p:nvPr/>
        </p:nvSpPr>
        <p:spPr>
          <a:xfrm>
            <a:off x="1866900" y="1992961"/>
            <a:ext cx="1330779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905000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Cleansing &amp; General Hygiene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5" name="Rectangle 24"/>
          <p:cNvSpPr/>
          <p:nvPr/>
        </p:nvSpPr>
        <p:spPr>
          <a:xfrm>
            <a:off x="1866900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6" name="Oval 25"/>
          <p:cNvSpPr/>
          <p:nvPr/>
        </p:nvSpPr>
        <p:spPr>
          <a:xfrm>
            <a:off x="2370364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3311979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Rectangle 27"/>
          <p:cNvSpPr/>
          <p:nvPr/>
        </p:nvSpPr>
        <p:spPr>
          <a:xfrm>
            <a:off x="3311979" y="1992961"/>
            <a:ext cx="1330779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3350079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Coat Conditioning &amp; Softening</a:t>
            </a:r>
          </a:p>
        </p:txBody>
      </p:sp>
      <p:sp>
        <p:nvSpPr>
          <p:cNvPr id="30" name="Rectangle 29"/>
          <p:cNvSpPr/>
          <p:nvPr/>
        </p:nvSpPr>
        <p:spPr>
          <a:xfrm>
            <a:off x="3311979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3311979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2" name="Rectangle 31"/>
          <p:cNvSpPr/>
          <p:nvPr/>
        </p:nvSpPr>
        <p:spPr>
          <a:xfrm>
            <a:off x="3311979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3815443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4757057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4757057" y="1992961"/>
            <a:ext cx="1330779" cy="21904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4795157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Moisturizing &amp; Skin Barrier Care</a:t>
            </a:r>
          </a:p>
        </p:txBody>
      </p:sp>
      <p:sp>
        <p:nvSpPr>
          <p:cNvPr id="37" name="Rectangle 36"/>
          <p:cNvSpPr/>
          <p:nvPr/>
        </p:nvSpPr>
        <p:spPr>
          <a:xfrm>
            <a:off x="4757057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8" name="Rectangle 37"/>
          <p:cNvSpPr/>
          <p:nvPr/>
        </p:nvSpPr>
        <p:spPr>
          <a:xfrm>
            <a:off x="4757057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9" name="Rectangle 38"/>
          <p:cNvSpPr/>
          <p:nvPr/>
        </p:nvSpPr>
        <p:spPr>
          <a:xfrm>
            <a:off x="4757057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40" name="Oval 39"/>
          <p:cNvSpPr/>
          <p:nvPr/>
        </p:nvSpPr>
        <p:spPr>
          <a:xfrm>
            <a:off x="5260521" y="1445350"/>
            <a:ext cx="323850" cy="310313"/>
          </a:xfrm>
          <a:prstGeom prst="ellipse">
            <a:avLst/>
          </a:prstGeom>
          <a:solidFill>
            <a:srgbClr val="0081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41" name="Rounded Rectangle 40"/>
          <p:cNvSpPr/>
          <p:nvPr/>
        </p:nvSpPr>
        <p:spPr>
          <a:xfrm>
            <a:off x="6202136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6202136" y="1992961"/>
            <a:ext cx="1330779" cy="219044"/>
          </a:xfrm>
          <a:prstGeom prst="rect">
            <a:avLst/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6240236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Skin Soothing &amp; Comfort</a:t>
            </a:r>
          </a:p>
        </p:txBody>
      </p:sp>
      <p:sp>
        <p:nvSpPr>
          <p:cNvPr id="44" name="Rectangle 43"/>
          <p:cNvSpPr/>
          <p:nvPr/>
        </p:nvSpPr>
        <p:spPr>
          <a:xfrm>
            <a:off x="6202136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5" name="Rectangle 44"/>
          <p:cNvSpPr/>
          <p:nvPr/>
        </p:nvSpPr>
        <p:spPr>
          <a:xfrm>
            <a:off x="6202136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6" name="Rectangle 45"/>
          <p:cNvSpPr/>
          <p:nvPr/>
        </p:nvSpPr>
        <p:spPr>
          <a:xfrm>
            <a:off x="6202136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7" name="Oval 46"/>
          <p:cNvSpPr/>
          <p:nvPr/>
        </p:nvSpPr>
        <p:spPr>
          <a:xfrm>
            <a:off x="6705600" y="1445350"/>
            <a:ext cx="323850" cy="310313"/>
          </a:xfrm>
          <a:prstGeom prst="ellipse">
            <a:avLst/>
          </a:prstGeom>
          <a:solidFill>
            <a:srgbClr val="6F3CC2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4</a:t>
            </a:r>
          </a:p>
        </p:txBody>
      </p:sp>
      <p:sp>
        <p:nvSpPr>
          <p:cNvPr id="48" name="Rounded Rectangle 47"/>
          <p:cNvSpPr/>
          <p:nvPr/>
        </p:nvSpPr>
        <p:spPr>
          <a:xfrm>
            <a:off x="7647214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Rectangle 48"/>
          <p:cNvSpPr/>
          <p:nvPr/>
        </p:nvSpPr>
        <p:spPr>
          <a:xfrm>
            <a:off x="7647214" y="1992961"/>
            <a:ext cx="1330779" cy="219044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7685314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Dental &amp; Oral Hygiene</a:t>
            </a:r>
          </a:p>
        </p:txBody>
      </p:sp>
      <p:sp>
        <p:nvSpPr>
          <p:cNvPr id="51" name="Rectangle 50"/>
          <p:cNvSpPr/>
          <p:nvPr/>
        </p:nvSpPr>
        <p:spPr>
          <a:xfrm>
            <a:off x="7647214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52" name="Rectangle 51"/>
          <p:cNvSpPr/>
          <p:nvPr/>
        </p:nvSpPr>
        <p:spPr>
          <a:xfrm>
            <a:off x="7647214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53" name="Rectangle 52"/>
          <p:cNvSpPr/>
          <p:nvPr/>
        </p:nvSpPr>
        <p:spPr>
          <a:xfrm>
            <a:off x="7647214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54" name="Oval 53"/>
          <p:cNvSpPr/>
          <p:nvPr/>
        </p:nvSpPr>
        <p:spPr>
          <a:xfrm>
            <a:off x="8150679" y="1445350"/>
            <a:ext cx="323850" cy="310313"/>
          </a:xfrm>
          <a:prstGeom prst="ellipse">
            <a:avLst/>
          </a:prstGeom>
          <a:solidFill>
            <a:srgbClr val="A86F00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5</a:t>
            </a:r>
          </a:p>
        </p:txBody>
      </p:sp>
      <p:sp>
        <p:nvSpPr>
          <p:cNvPr id="55" name="Rounded Rectangle 54"/>
          <p:cNvSpPr/>
          <p:nvPr/>
        </p:nvSpPr>
        <p:spPr>
          <a:xfrm>
            <a:off x="9092293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9092293" y="1992961"/>
            <a:ext cx="1330779" cy="219044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TextBox 56"/>
          <p:cNvSpPr txBox="1"/>
          <p:nvPr/>
        </p:nvSpPr>
        <p:spPr>
          <a:xfrm>
            <a:off x="9130393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Body &amp; Coat Odor Management</a:t>
            </a:r>
          </a:p>
        </p:txBody>
      </p:sp>
      <p:sp>
        <p:nvSpPr>
          <p:cNvPr id="58" name="Rectangle 57"/>
          <p:cNvSpPr/>
          <p:nvPr/>
        </p:nvSpPr>
        <p:spPr>
          <a:xfrm>
            <a:off x="9092293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59" name="Rectangle 58"/>
          <p:cNvSpPr/>
          <p:nvPr/>
        </p:nvSpPr>
        <p:spPr>
          <a:xfrm>
            <a:off x="9092293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60" name="Rectangle 59"/>
          <p:cNvSpPr/>
          <p:nvPr/>
        </p:nvSpPr>
        <p:spPr>
          <a:xfrm>
            <a:off x="9092293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61" name="Oval 60"/>
          <p:cNvSpPr/>
          <p:nvPr/>
        </p:nvSpPr>
        <p:spPr>
          <a:xfrm>
            <a:off x="9595757" y="1445350"/>
            <a:ext cx="323850" cy="310313"/>
          </a:xfrm>
          <a:prstGeom prst="ellipse">
            <a:avLst/>
          </a:prstGeom>
          <a:solidFill>
            <a:srgbClr val="A35313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6</a:t>
            </a:r>
          </a:p>
        </p:txBody>
      </p:sp>
      <p:sp>
        <p:nvSpPr>
          <p:cNvPr id="62" name="Rounded Rectangle 61"/>
          <p:cNvSpPr/>
          <p:nvPr/>
        </p:nvSpPr>
        <p:spPr>
          <a:xfrm>
            <a:off x="10537371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6C7A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537371" y="1992961"/>
            <a:ext cx="1330779" cy="219044"/>
          </a:xfrm>
          <a:prstGeom prst="rect">
            <a:avLst/>
          </a:prstGeom>
          <a:solidFill>
            <a:srgbClr val="6C7A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10575471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Ear &amp; Eye-Area Hygiene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0537371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66" name="Rectangle 65"/>
          <p:cNvSpPr/>
          <p:nvPr/>
        </p:nvSpPr>
        <p:spPr>
          <a:xfrm>
            <a:off x="10537371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67" name="Rectangle 66"/>
          <p:cNvSpPr/>
          <p:nvPr/>
        </p:nvSpPr>
        <p:spPr>
          <a:xfrm>
            <a:off x="10537371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68" name="Oval 67"/>
          <p:cNvSpPr/>
          <p:nvPr/>
        </p:nvSpPr>
        <p:spPr>
          <a:xfrm>
            <a:off x="11040836" y="1445350"/>
            <a:ext cx="323850" cy="310313"/>
          </a:xfrm>
          <a:prstGeom prst="ellipse">
            <a:avLst/>
          </a:prstGeom>
          <a:solidFill>
            <a:srgbClr val="6C7A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7</a:t>
            </a:r>
          </a:p>
        </p:txBody>
      </p:sp>
      <p:sp>
        <p:nvSpPr>
          <p:cNvPr id="69" name="Rounded Rectangle 68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71" name="Rectangle 70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73" name="Rounded Rectangle 72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75" name="Rectangle 74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1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08189"/>
                </a:solidFill>
                <a:latin typeface="Calibri"/>
              </a:rPr>
              <a:t/>
            </a:r>
            <a:r>
              <a:rPr sz="1100" b="1">
                <a:solidFill>
                  <a:srgbClr val="0081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6F3CC2"/>
                </a:solidFill>
                <a:latin typeface="Calibri"/>
              </a:rPr>
              <a:t/>
            </a:r>
            <a:r>
              <a:rPr sz="1100" b="1">
                <a:solidFill>
                  <a:srgbClr val="6F3CC2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A86F00"/>
                </a:solidFill>
                <a:latin typeface="Calibri"/>
              </a:rPr>
              <a:t/>
            </a:r>
            <a:r>
              <a:rPr sz="1100" b="1">
                <a:solidFill>
                  <a:srgbClr val="A86F00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A35313"/>
                </a:solidFill>
                <a:latin typeface="Calibri"/>
              </a:rPr>
              <a:t/>
            </a:r>
            <a:r>
              <a:rPr sz="1100" b="1">
                <a:solidFill>
                  <a:srgbClr val="A35313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6C7A89"/>
                </a:solidFill>
                <a:latin typeface="Calibri"/>
              </a:rPr>
              <a:t/>
            </a:r>
            <a:r>
              <a:rPr sz="1100" b="1">
                <a:solidFill>
                  <a:srgbClr val="6C7A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77" name="Rounded Rectangle 76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Segment Overview</a:t>
            </a:r>
          </a:p>
        </p:txBody>
      </p:sp>
      <p:sp>
        <p:nvSpPr>
          <p:cNvPr id="79" name="Rectangle 78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Primary Product Function / Benefit split shows how demand is distributed across primary product function / benefit types and where growth concentrates.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preferences and product innovation are reshaping the mix through 2036.</a:t>
            </a:r>
          </a:p>
        </p:txBody>
      </p:sp>
      <p:sp>
        <p:nvSpPr>
          <p:cNvPr id="81" name="Rectangle 80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85" name="Picture 84" descr="880_3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34425" y="2286582"/>
            <a:ext cx="1195728" cy="361950"/>
          </a:xfrm>
          <a:prstGeom prst="rect">
            <a:avLst/>
          </a:prstGeom>
        </p:spPr>
      </p:pic>
      <p:pic>
        <p:nvPicPr>
          <p:cNvPr id="86" name="Picture 85" descr="1_596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934425" y="2779432"/>
            <a:ext cx="1195728" cy="361950"/>
          </a:xfrm>
          <a:prstGeom prst="rect">
            <a:avLst/>
          </a:prstGeom>
        </p:spPr>
      </p:pic>
      <p:pic>
        <p:nvPicPr>
          <p:cNvPr id="87" name="Picture 86" descr="6_1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041071" y="3272281"/>
            <a:ext cx="982436" cy="361950"/>
          </a:xfrm>
          <a:prstGeom prst="rect">
            <a:avLst/>
          </a:prstGeom>
        </p:spPr>
      </p:pic>
      <p:pic>
        <p:nvPicPr>
          <p:cNvPr id="88" name="Picture 87" descr="542_5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379504" y="2286582"/>
            <a:ext cx="1195728" cy="361950"/>
          </a:xfrm>
          <a:prstGeom prst="rect">
            <a:avLst/>
          </a:prstGeom>
        </p:spPr>
      </p:pic>
      <p:pic>
        <p:nvPicPr>
          <p:cNvPr id="89" name="Picture 88" descr="986_9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379504" y="2779432"/>
            <a:ext cx="1195728" cy="361950"/>
          </a:xfrm>
          <a:prstGeom prst="rect">
            <a:avLst/>
          </a:prstGeom>
        </p:spPr>
      </p:pic>
      <p:pic>
        <p:nvPicPr>
          <p:cNvPr id="90" name="Picture 89" descr="6_2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3486150" y="3272281"/>
            <a:ext cx="982436" cy="361950"/>
          </a:xfrm>
          <a:prstGeom prst="rect">
            <a:avLst/>
          </a:prstGeom>
        </p:spPr>
      </p:pic>
      <p:pic>
        <p:nvPicPr>
          <p:cNvPr id="91" name="Picture 90" descr="440_4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4824582" y="2286582"/>
            <a:ext cx="1195728" cy="361950"/>
          </a:xfrm>
          <a:prstGeom prst="rect">
            <a:avLst/>
          </a:prstGeom>
        </p:spPr>
      </p:pic>
      <p:pic>
        <p:nvPicPr>
          <p:cNvPr id="92" name="Picture 91" descr="789_9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4824582" y="2779432"/>
            <a:ext cx="1195728" cy="361950"/>
          </a:xfrm>
          <a:prstGeom prst="rect">
            <a:avLst/>
          </a:prstGeom>
        </p:spPr>
      </p:pic>
      <p:pic>
        <p:nvPicPr>
          <p:cNvPr id="93" name="Picture 92" descr="6_0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4931228" y="3272281"/>
            <a:ext cx="982436" cy="361950"/>
          </a:xfrm>
          <a:prstGeom prst="rect">
            <a:avLst/>
          </a:prstGeom>
        </p:spPr>
      </p:pic>
      <p:pic>
        <p:nvPicPr>
          <p:cNvPr id="94" name="Picture 93" descr="410_4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6269661" y="2286582"/>
            <a:ext cx="1195728" cy="361950"/>
          </a:xfrm>
          <a:prstGeom prst="rect">
            <a:avLst/>
          </a:prstGeom>
        </p:spPr>
      </p:pic>
      <p:pic>
        <p:nvPicPr>
          <p:cNvPr id="95" name="Picture 94" descr="747_3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6269661" y="2779432"/>
            <a:ext cx="1195728" cy="361950"/>
          </a:xfrm>
          <a:prstGeom prst="rect">
            <a:avLst/>
          </a:prstGeom>
        </p:spPr>
      </p:pic>
      <p:pic>
        <p:nvPicPr>
          <p:cNvPr id="96" name="Picture 95" descr="6_2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376307" y="3272281"/>
            <a:ext cx="982436" cy="361950"/>
          </a:xfrm>
          <a:prstGeom prst="rect">
            <a:avLst/>
          </a:prstGeom>
        </p:spPr>
      </p:pic>
      <p:pic>
        <p:nvPicPr>
          <p:cNvPr id="97" name="Picture 96" descr="351_4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7714739" y="2286582"/>
            <a:ext cx="1195728" cy="361950"/>
          </a:xfrm>
          <a:prstGeom prst="rect">
            <a:avLst/>
          </a:prstGeom>
        </p:spPr>
      </p:pic>
      <p:pic>
        <p:nvPicPr>
          <p:cNvPr id="98" name="Picture 97" descr="615_7_605E5C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7714739" y="2779432"/>
            <a:ext cx="1195728" cy="361950"/>
          </a:xfrm>
          <a:prstGeom prst="rect">
            <a:avLst/>
          </a:prstGeom>
        </p:spPr>
      </p:pic>
      <p:pic>
        <p:nvPicPr>
          <p:cNvPr id="99" name="Picture 98" descr="5_8__605E5C.png"/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7821385" y="3272281"/>
            <a:ext cx="982436" cy="361950"/>
          </a:xfrm>
          <a:prstGeom prst="rect">
            <a:avLst/>
          </a:prstGeom>
        </p:spPr>
      </p:pic>
      <p:pic>
        <p:nvPicPr>
          <p:cNvPr id="100" name="Picture 99" descr="299_6_605E5C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9159818" y="2286582"/>
            <a:ext cx="1195728" cy="361950"/>
          </a:xfrm>
          <a:prstGeom prst="rect">
            <a:avLst/>
          </a:prstGeom>
        </p:spPr>
      </p:pic>
      <p:pic>
        <p:nvPicPr>
          <p:cNvPr id="101" name="Picture 100" descr="545_0_605E5C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9159818" y="2779432"/>
            <a:ext cx="1195728" cy="361950"/>
          </a:xfrm>
          <a:prstGeom prst="rect">
            <a:avLst/>
          </a:prstGeom>
        </p:spPr>
      </p:pic>
      <p:pic>
        <p:nvPicPr>
          <p:cNvPr id="102" name="Picture 101" descr="6_2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9266464" y="3272281"/>
            <a:ext cx="982436" cy="361950"/>
          </a:xfrm>
          <a:prstGeom prst="rect">
            <a:avLst/>
          </a:prstGeom>
        </p:spPr>
      </p:pic>
      <p:pic>
        <p:nvPicPr>
          <p:cNvPr id="103" name="Picture 102" descr="227_5_605E5C.png"/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10604896" y="2286582"/>
            <a:ext cx="1195728" cy="361950"/>
          </a:xfrm>
          <a:prstGeom prst="rect">
            <a:avLst/>
          </a:prstGeom>
        </p:spPr>
      </p:pic>
      <p:pic>
        <p:nvPicPr>
          <p:cNvPr id="104" name="Picture 103" descr="415_2_605E5C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10604896" y="2779432"/>
            <a:ext cx="1195728" cy="361950"/>
          </a:xfrm>
          <a:prstGeom prst="rect">
            <a:avLst/>
          </a:prstGeom>
        </p:spPr>
      </p:pic>
      <p:pic>
        <p:nvPicPr>
          <p:cNvPr id="105" name="Picture 104" descr="6_2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10711542" y="3272281"/>
            <a:ext cx="982436" cy="361950"/>
          </a:xfrm>
          <a:prstGeom prst="rect">
            <a:avLst/>
          </a:prstGeom>
        </p:spPr>
      </p:pic>
      <p:pic>
        <p:nvPicPr>
          <p:cNvPr id="106" name="Picture 105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2438944" y="2827057"/>
            <a:ext cx="183356" cy="266700"/>
          </a:xfrm>
          <a:prstGeom prst="rect">
            <a:avLst/>
          </a:prstGeom>
        </p:spPr>
      </p:pic>
      <p:pic>
        <p:nvPicPr>
          <p:cNvPr id="107" name="Picture 106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3884023" y="2827057"/>
            <a:ext cx="183356" cy="266700"/>
          </a:xfrm>
          <a:prstGeom prst="rect">
            <a:avLst/>
          </a:prstGeom>
        </p:spPr>
      </p:pic>
      <p:pic>
        <p:nvPicPr>
          <p:cNvPr id="108" name="Picture 107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5329101" y="2827057"/>
            <a:ext cx="183356" cy="266700"/>
          </a:xfrm>
          <a:prstGeom prst="rect">
            <a:avLst/>
          </a:prstGeom>
        </p:spPr>
      </p:pic>
      <p:pic>
        <p:nvPicPr>
          <p:cNvPr id="109" name="Picture 108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6774180" y="2827057"/>
            <a:ext cx="183356" cy="266700"/>
          </a:xfrm>
          <a:prstGeom prst="rect">
            <a:avLst/>
          </a:prstGeom>
        </p:spPr>
      </p:pic>
      <p:pic>
        <p:nvPicPr>
          <p:cNvPr id="110" name="Picture 109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8219258" y="2827057"/>
            <a:ext cx="183356" cy="266700"/>
          </a:xfrm>
          <a:prstGeom prst="rect">
            <a:avLst/>
          </a:prstGeom>
        </p:spPr>
      </p:pic>
      <p:pic>
        <p:nvPicPr>
          <p:cNvPr id="111" name="Picture 110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9664337" y="2827057"/>
            <a:ext cx="183356" cy="266700"/>
          </a:xfrm>
          <a:prstGeom prst="rect">
            <a:avLst/>
          </a:prstGeom>
        </p:spPr>
      </p:pic>
      <p:pic>
        <p:nvPicPr>
          <p:cNvPr id="112" name="Picture 111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11109415" y="2827057"/>
            <a:ext cx="183356" cy="266700"/>
          </a:xfrm>
          <a:prstGeom prst="rect">
            <a:avLst/>
          </a:prstGeom>
        </p:spPr>
      </p:pic>
      <p:sp>
        <p:nvSpPr>
          <p:cNvPr id="113" name="TextBox 112"/>
          <p:cNvSpPr txBox="1"/>
          <p:nvPr/>
        </p:nvSpPr>
        <p:spPr>
          <a:xfrm>
            <a:off x="485775" y="4229437"/>
            <a:ext cx="283773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'Cleansing &amp; General Hygiene' holds the largest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485775" y="4397077"/>
            <a:ext cx="84209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 in 2026</a:t>
            </a:r>
          </a:p>
        </p:txBody>
      </p:sp>
      <p:pic>
        <p:nvPicPr>
          <p:cNvPr id="115" name="Picture 114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1275920" y="4387298"/>
            <a:ext cx="128699" cy="187198"/>
          </a:xfrm>
          <a:prstGeom prst="rect">
            <a:avLst/>
          </a:prstGeom>
        </p:spPr>
      </p:pic>
      <p:sp>
        <p:nvSpPr>
          <p:cNvPr id="116" name="TextBox 115"/>
          <p:cNvSpPr txBox="1"/>
          <p:nvPr/>
        </p:nvSpPr>
        <p:spPr>
          <a:xfrm>
            <a:off x="1443416" y="4397077"/>
            <a:ext cx="108738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segment value.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485775" y="4615009"/>
            <a:ext cx="281963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'Ear &amp; Eye-Area Hygiene' is the fastest-growing</a:t>
            </a:r>
          </a:p>
        </p:txBody>
      </p:sp>
      <p:sp>
        <p:nvSpPr>
          <p:cNvPr id="118" name="TextBox 117"/>
          <p:cNvSpPr txBox="1"/>
          <p:nvPr/>
        </p:nvSpPr>
        <p:spPr>
          <a:xfrm>
            <a:off x="485775" y="4782649"/>
            <a:ext cx="95723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sub-segment at</a:t>
            </a:r>
          </a:p>
        </p:txBody>
      </p:sp>
      <p:pic>
        <p:nvPicPr>
          <p:cNvPr id="119" name="Picture 118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1391064" y="4772870"/>
            <a:ext cx="128699" cy="187198"/>
          </a:xfrm>
          <a:prstGeom prst="rect">
            <a:avLst/>
          </a:prstGeom>
        </p:spPr>
      </p:pic>
      <p:sp>
        <p:nvSpPr>
          <p:cNvPr id="120" name="TextBox 119"/>
          <p:cNvSpPr txBox="1"/>
          <p:nvPr/>
        </p:nvSpPr>
        <p:spPr>
          <a:xfrm>
            <a:off x="1558560" y="4782649"/>
            <a:ext cx="123307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through 2036.</a:t>
            </a:r>
          </a:p>
        </p:txBody>
      </p:sp>
      <p:sp>
        <p:nvSpPr>
          <p:cNvPr id="121" name="TextBox 120"/>
          <p:cNvSpPr txBox="1"/>
          <p:nvPr/>
        </p:nvSpPr>
        <p:spPr>
          <a:xfrm>
            <a:off x="485775" y="5000581"/>
            <a:ext cx="18066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Segment value expands from</a:t>
            </a:r>
          </a:p>
        </p:txBody>
      </p:sp>
      <p:pic>
        <p:nvPicPr>
          <p:cNvPr id="122" name="Picture 121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2240451" y="4990801"/>
            <a:ext cx="128699" cy="187198"/>
          </a:xfrm>
          <a:prstGeom prst="rect">
            <a:avLst/>
          </a:prstGeom>
        </p:spPr>
      </p:pic>
      <p:sp>
        <p:nvSpPr>
          <p:cNvPr id="123" name="TextBox 122"/>
          <p:cNvSpPr txBox="1"/>
          <p:nvPr/>
        </p:nvSpPr>
        <p:spPr>
          <a:xfrm>
            <a:off x="2407947" y="5000581"/>
            <a:ext cx="1968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124" name="Picture 123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2552799" y="4990801"/>
            <a:ext cx="128699" cy="187198"/>
          </a:xfrm>
          <a:prstGeom prst="rect">
            <a:avLst/>
          </a:prstGeom>
        </p:spPr>
      </p:pic>
      <p:sp>
        <p:nvSpPr>
          <p:cNvPr id="125" name="TextBox 124"/>
          <p:cNvSpPr txBox="1"/>
          <p:nvPr/>
        </p:nvSpPr>
        <p:spPr>
          <a:xfrm>
            <a:off x="2720294" y="5000581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126" name="TextBox 125"/>
          <p:cNvSpPr txBox="1"/>
          <p:nvPr/>
        </p:nvSpPr>
        <p:spPr>
          <a:xfrm>
            <a:off x="485775" y="5168221"/>
            <a:ext cx="11378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2026–2036.</a:t>
            </a:r>
          </a:p>
        </p:txBody>
      </p:sp>
      <p:sp>
        <p:nvSpPr>
          <p:cNvPr id="127" name="TextBox 126"/>
          <p:cNvSpPr txBox="1"/>
          <p:nvPr/>
        </p:nvSpPr>
        <p:spPr>
          <a:xfrm>
            <a:off x="485775" y="5386153"/>
            <a:ext cx="275041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7 sub-segments make up the primary product</a:t>
            </a:r>
          </a:p>
        </p:txBody>
      </p:sp>
      <p:sp>
        <p:nvSpPr>
          <p:cNvPr id="128" name="TextBox 127"/>
          <p:cNvSpPr txBox="1"/>
          <p:nvPr/>
        </p:nvSpPr>
        <p:spPr>
          <a:xfrm>
            <a:off x="485775" y="5553793"/>
            <a:ext cx="171221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function / benefit landscape.</a:t>
            </a:r>
          </a:p>
        </p:txBody>
      </p:sp>
      <p:sp>
        <p:nvSpPr>
          <p:cNvPr id="129" name="TextBox 128"/>
          <p:cNvSpPr txBox="1"/>
          <p:nvPr/>
        </p:nvSpPr>
        <p:spPr>
          <a:xfrm>
            <a:off x="3838575" y="4229437"/>
            <a:ext cx="1727934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● Cleansing &amp; General Hygiene:</a:t>
            </a:r>
          </a:p>
        </p:txBody>
      </p:sp>
      <p:pic>
        <p:nvPicPr>
          <p:cNvPr id="130" name="Picture 129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5512620" y="4220440"/>
            <a:ext cx="118403" cy="172222"/>
          </a:xfrm>
          <a:prstGeom prst="rect">
            <a:avLst/>
          </a:prstGeom>
        </p:spPr>
      </p:pic>
      <p:sp>
        <p:nvSpPr>
          <p:cNvPr id="131" name="TextBox 130"/>
          <p:cNvSpPr txBox="1"/>
          <p:nvPr/>
        </p:nvSpPr>
        <p:spPr>
          <a:xfrm>
            <a:off x="5666716" y="4229437"/>
            <a:ext cx="844582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32" name="Picture 131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6457411" y="4220440"/>
            <a:ext cx="118403" cy="172222"/>
          </a:xfrm>
          <a:prstGeom prst="rect">
            <a:avLst/>
          </a:prstGeom>
        </p:spPr>
      </p:pic>
      <p:sp>
        <p:nvSpPr>
          <p:cNvPr id="133" name="TextBox 132"/>
          <p:cNvSpPr txBox="1"/>
          <p:nvPr/>
        </p:nvSpPr>
        <p:spPr>
          <a:xfrm>
            <a:off x="6611507" y="4229437"/>
            <a:ext cx="875693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CAGR leads the</a:t>
            </a:r>
          </a:p>
        </p:txBody>
      </p:sp>
      <p:sp>
        <p:nvSpPr>
          <p:cNvPr id="134" name="TextBox 133"/>
          <p:cNvSpPr txBox="1"/>
          <p:nvPr/>
        </p:nvSpPr>
        <p:spPr>
          <a:xfrm>
            <a:off x="3838575" y="4383665"/>
            <a:ext cx="560675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segment.</a:t>
            </a:r>
          </a:p>
        </p:txBody>
      </p:sp>
      <p:sp>
        <p:nvSpPr>
          <p:cNvPr id="135" name="TextBox 134"/>
          <p:cNvSpPr txBox="1"/>
          <p:nvPr/>
        </p:nvSpPr>
        <p:spPr>
          <a:xfrm>
            <a:off x="3838575" y="4584163"/>
            <a:ext cx="1798220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● Coat Conditioning &amp; Softening:</a:t>
            </a:r>
          </a:p>
        </p:txBody>
      </p:sp>
      <p:pic>
        <p:nvPicPr>
          <p:cNvPr id="136" name="Picture 135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5582907" y="4575166"/>
            <a:ext cx="118403" cy="172222"/>
          </a:xfrm>
          <a:prstGeom prst="rect">
            <a:avLst/>
          </a:prstGeom>
        </p:spPr>
      </p:pic>
      <p:sp>
        <p:nvSpPr>
          <p:cNvPr id="137" name="TextBox 136"/>
          <p:cNvSpPr txBox="1"/>
          <p:nvPr/>
        </p:nvSpPr>
        <p:spPr>
          <a:xfrm>
            <a:off x="5737003" y="4584163"/>
            <a:ext cx="844582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38" name="Picture 137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6527697" y="4575166"/>
            <a:ext cx="118403" cy="172222"/>
          </a:xfrm>
          <a:prstGeom prst="rect">
            <a:avLst/>
          </a:prstGeom>
        </p:spPr>
      </p:pic>
      <p:sp>
        <p:nvSpPr>
          <p:cNvPr id="139" name="TextBox 138"/>
          <p:cNvSpPr txBox="1"/>
          <p:nvPr/>
        </p:nvSpPr>
        <p:spPr>
          <a:xfrm>
            <a:off x="6681793" y="4584163"/>
            <a:ext cx="1165626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40" name="TextBox 139"/>
          <p:cNvSpPr txBox="1"/>
          <p:nvPr/>
        </p:nvSpPr>
        <p:spPr>
          <a:xfrm>
            <a:off x="3838575" y="4784660"/>
            <a:ext cx="1886078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● Moisturizing &amp; Skin Barrier Care:</a:t>
            </a:r>
          </a:p>
        </p:txBody>
      </p:sp>
      <p:pic>
        <p:nvPicPr>
          <p:cNvPr id="141" name="Picture 140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5670765" y="4775664"/>
            <a:ext cx="118403" cy="172222"/>
          </a:xfrm>
          <a:prstGeom prst="rect">
            <a:avLst/>
          </a:prstGeom>
        </p:spPr>
      </p:pic>
      <p:sp>
        <p:nvSpPr>
          <p:cNvPr id="142" name="TextBox 141"/>
          <p:cNvSpPr txBox="1"/>
          <p:nvPr/>
        </p:nvSpPr>
        <p:spPr>
          <a:xfrm>
            <a:off x="5824861" y="4784660"/>
            <a:ext cx="844582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43" name="Picture 142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6615555" y="4775664"/>
            <a:ext cx="118403" cy="172222"/>
          </a:xfrm>
          <a:prstGeom prst="rect">
            <a:avLst/>
          </a:prstGeom>
        </p:spPr>
      </p:pic>
      <p:sp>
        <p:nvSpPr>
          <p:cNvPr id="144" name="TextBox 143"/>
          <p:cNvSpPr txBox="1"/>
          <p:nvPr/>
        </p:nvSpPr>
        <p:spPr>
          <a:xfrm>
            <a:off x="6769651" y="4784660"/>
            <a:ext cx="820970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CAGR serves a</a:t>
            </a:r>
          </a:p>
        </p:txBody>
      </p:sp>
      <p:sp>
        <p:nvSpPr>
          <p:cNvPr id="145" name="TextBox 144"/>
          <p:cNvSpPr txBox="1"/>
          <p:nvPr/>
        </p:nvSpPr>
        <p:spPr>
          <a:xfrm>
            <a:off x="3838575" y="4938889"/>
            <a:ext cx="391736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niche.</a:t>
            </a:r>
          </a:p>
        </p:txBody>
      </p:sp>
      <p:sp>
        <p:nvSpPr>
          <p:cNvPr id="146" name="TextBox 145"/>
          <p:cNvSpPr txBox="1"/>
          <p:nvPr/>
        </p:nvSpPr>
        <p:spPr>
          <a:xfrm>
            <a:off x="3838575" y="5139386"/>
            <a:ext cx="1503770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● Skin Soothing &amp; Comfort:</a:t>
            </a:r>
          </a:p>
        </p:txBody>
      </p:sp>
      <p:pic>
        <p:nvPicPr>
          <p:cNvPr id="147" name="Picture 146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5288456" y="5130390"/>
            <a:ext cx="118403" cy="172222"/>
          </a:xfrm>
          <a:prstGeom prst="rect">
            <a:avLst/>
          </a:prstGeom>
        </p:spPr>
      </p:pic>
      <p:sp>
        <p:nvSpPr>
          <p:cNvPr id="148" name="TextBox 147"/>
          <p:cNvSpPr txBox="1"/>
          <p:nvPr/>
        </p:nvSpPr>
        <p:spPr>
          <a:xfrm>
            <a:off x="5442552" y="5139386"/>
            <a:ext cx="844582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49" name="Picture 148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6233247" y="5130390"/>
            <a:ext cx="118403" cy="172222"/>
          </a:xfrm>
          <a:prstGeom prst="rect">
            <a:avLst/>
          </a:prstGeom>
        </p:spPr>
      </p:pic>
      <p:sp>
        <p:nvSpPr>
          <p:cNvPr id="150" name="TextBox 149"/>
          <p:cNvSpPr txBox="1"/>
          <p:nvPr/>
        </p:nvSpPr>
        <p:spPr>
          <a:xfrm>
            <a:off x="6387343" y="5139386"/>
            <a:ext cx="1165626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51" name="TextBox 150"/>
          <p:cNvSpPr txBox="1"/>
          <p:nvPr/>
        </p:nvSpPr>
        <p:spPr>
          <a:xfrm>
            <a:off x="3838575" y="5339884"/>
            <a:ext cx="1382274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● Dental &amp; Oral Hygiene:</a:t>
            </a:r>
          </a:p>
        </p:txBody>
      </p:sp>
      <p:pic>
        <p:nvPicPr>
          <p:cNvPr id="152" name="Picture 151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5166961" y="5330887"/>
            <a:ext cx="118403" cy="172222"/>
          </a:xfrm>
          <a:prstGeom prst="rect">
            <a:avLst/>
          </a:prstGeom>
        </p:spPr>
      </p:pic>
      <p:sp>
        <p:nvSpPr>
          <p:cNvPr id="153" name="TextBox 152"/>
          <p:cNvSpPr txBox="1"/>
          <p:nvPr/>
        </p:nvSpPr>
        <p:spPr>
          <a:xfrm>
            <a:off x="5321057" y="5339884"/>
            <a:ext cx="844582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54" name="Picture 153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6111751" y="5330887"/>
            <a:ext cx="118403" cy="172222"/>
          </a:xfrm>
          <a:prstGeom prst="rect">
            <a:avLst/>
          </a:prstGeom>
        </p:spPr>
      </p:pic>
      <p:sp>
        <p:nvSpPr>
          <p:cNvPr id="155" name="TextBox 154"/>
          <p:cNvSpPr txBox="1"/>
          <p:nvPr/>
        </p:nvSpPr>
        <p:spPr>
          <a:xfrm>
            <a:off x="6265847" y="5339884"/>
            <a:ext cx="1165626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56" name="TextBox 155"/>
          <p:cNvSpPr txBox="1"/>
          <p:nvPr/>
        </p:nvSpPr>
        <p:spPr>
          <a:xfrm>
            <a:off x="3838575" y="5540381"/>
            <a:ext cx="1893609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● Body &amp; Coat Odor Management:</a:t>
            </a:r>
          </a:p>
        </p:txBody>
      </p:sp>
      <p:pic>
        <p:nvPicPr>
          <p:cNvPr id="157" name="Picture 156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5678296" y="5531385"/>
            <a:ext cx="118403" cy="172222"/>
          </a:xfrm>
          <a:prstGeom prst="rect">
            <a:avLst/>
          </a:prstGeom>
        </p:spPr>
      </p:pic>
      <p:sp>
        <p:nvSpPr>
          <p:cNvPr id="158" name="TextBox 157"/>
          <p:cNvSpPr txBox="1"/>
          <p:nvPr/>
        </p:nvSpPr>
        <p:spPr>
          <a:xfrm>
            <a:off x="5832392" y="5540381"/>
            <a:ext cx="844582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59" name="Picture 158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6623086" y="5531385"/>
            <a:ext cx="118403" cy="172222"/>
          </a:xfrm>
          <a:prstGeom prst="rect">
            <a:avLst/>
          </a:prstGeom>
        </p:spPr>
      </p:pic>
      <p:sp>
        <p:nvSpPr>
          <p:cNvPr id="160" name="TextBox 159"/>
          <p:cNvSpPr txBox="1"/>
          <p:nvPr/>
        </p:nvSpPr>
        <p:spPr>
          <a:xfrm>
            <a:off x="6777182" y="5540381"/>
            <a:ext cx="820970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CAGR serves a</a:t>
            </a:r>
          </a:p>
        </p:txBody>
      </p:sp>
      <p:sp>
        <p:nvSpPr>
          <p:cNvPr id="161" name="TextBox 160"/>
          <p:cNvSpPr txBox="1"/>
          <p:nvPr/>
        </p:nvSpPr>
        <p:spPr>
          <a:xfrm>
            <a:off x="3838575" y="5694610"/>
            <a:ext cx="391736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niche.</a:t>
            </a:r>
          </a:p>
        </p:txBody>
      </p:sp>
      <p:sp>
        <p:nvSpPr>
          <p:cNvPr id="162" name="TextBox 161"/>
          <p:cNvSpPr txBox="1"/>
          <p:nvPr/>
        </p:nvSpPr>
        <p:spPr>
          <a:xfrm>
            <a:off x="3838575" y="5895108"/>
            <a:ext cx="1454491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● Ear &amp; Eye-Area Hygiene:</a:t>
            </a:r>
          </a:p>
        </p:txBody>
      </p:sp>
      <p:pic>
        <p:nvPicPr>
          <p:cNvPr id="163" name="Picture 162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5239177" y="5886111"/>
            <a:ext cx="118403" cy="172222"/>
          </a:xfrm>
          <a:prstGeom prst="rect">
            <a:avLst/>
          </a:prstGeom>
        </p:spPr>
      </p:pic>
      <p:sp>
        <p:nvSpPr>
          <p:cNvPr id="164" name="TextBox 163"/>
          <p:cNvSpPr txBox="1"/>
          <p:nvPr/>
        </p:nvSpPr>
        <p:spPr>
          <a:xfrm>
            <a:off x="5393273" y="5895108"/>
            <a:ext cx="844582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65" name="Picture 164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6183968" y="5886111"/>
            <a:ext cx="118403" cy="172222"/>
          </a:xfrm>
          <a:prstGeom prst="rect">
            <a:avLst/>
          </a:prstGeom>
        </p:spPr>
      </p:pic>
      <p:sp>
        <p:nvSpPr>
          <p:cNvPr id="166" name="TextBox 165"/>
          <p:cNvSpPr txBox="1"/>
          <p:nvPr/>
        </p:nvSpPr>
        <p:spPr>
          <a:xfrm>
            <a:off x="6338064" y="5895108"/>
            <a:ext cx="1127219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CAGR grows fastest.</a:t>
            </a:r>
          </a:p>
        </p:txBody>
      </p:sp>
      <p:sp>
        <p:nvSpPr>
          <p:cNvPr id="167" name="TextBox 166"/>
          <p:cNvSpPr txBox="1"/>
          <p:nvPr/>
        </p:nvSpPr>
        <p:spPr>
          <a:xfrm>
            <a:off x="8524875" y="5856661"/>
            <a:ext cx="2891325" cy="1802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7" b="1">
                <a:solidFill>
                  <a:srgbClr val="0B2E4A"/>
                </a:solidFill>
                <a:latin typeface="Calibri"/>
              </a:rPr>
              <a:t>The Primary Product Function / Benefit segment is</a:t>
            </a:r>
          </a:p>
        </p:txBody>
      </p:sp>
      <p:sp>
        <p:nvSpPr>
          <p:cNvPr id="168" name="TextBox 167"/>
          <p:cNvSpPr txBox="1"/>
          <p:nvPr/>
        </p:nvSpPr>
        <p:spPr>
          <a:xfrm>
            <a:off x="8524875" y="6017901"/>
            <a:ext cx="1806400" cy="1802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7" b="1">
                <a:solidFill>
                  <a:srgbClr val="0B2E4A"/>
                </a:solidFill>
                <a:latin typeface="Calibri"/>
              </a:rPr>
              <a:t>projected to grow at a CAGR of</a:t>
            </a:r>
          </a:p>
        </p:txBody>
      </p:sp>
      <p:pic>
        <p:nvPicPr>
          <p:cNvPr id="169" name="Picture 168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10278400" y="6008495"/>
            <a:ext cx="123784" cy="180050"/>
          </a:xfrm>
          <a:prstGeom prst="rect">
            <a:avLst/>
          </a:prstGeom>
        </p:spPr>
      </p:pic>
      <p:sp>
        <p:nvSpPr>
          <p:cNvPr id="170" name="TextBox 169"/>
          <p:cNvSpPr txBox="1"/>
          <p:nvPr/>
        </p:nvSpPr>
        <p:spPr>
          <a:xfrm>
            <a:off x="10439501" y="6017901"/>
            <a:ext cx="1140105" cy="1802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7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8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Structure &amp; Attractiveness, By Primary Product Function / Benefit (Value)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Primary Product Function / Benefit mix within each country and the attractiveness of each sub-segment on growth and size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052895"/>
            <a:ext cx="6667500" cy="5503490"/>
          </a:xfrm>
          <a:prstGeom prst="roundRect">
            <a:avLst>
              <a:gd name="adj" fmla="val 138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110045"/>
            <a:ext cx="647700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Primary Product Function / Benefit mix within each country (share of 2036 value) · row label = country size (US$ Mn), largest first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10095"/>
          <a:ext cx="6477000" cy="498914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886575" y="1052895"/>
            <a:ext cx="5162550" cy="3650740"/>
          </a:xfrm>
          <a:prstGeom prst="roundRect">
            <a:avLst>
              <a:gd name="adj" fmla="val 208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981825" y="1110045"/>
            <a:ext cx="497205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Attractiveness, By Primary Product Function / Benefit (bubble = 2036 size)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981825" y="1510095"/>
          <a:ext cx="4972050" cy="313639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6886575" y="4776650"/>
            <a:ext cx="5162550" cy="1779736"/>
          </a:xfrm>
          <a:prstGeom prst="roundRect">
            <a:avLst>
              <a:gd name="adj" fmla="val 428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613425" y="3638119"/>
            <a:ext cx="386128" cy="56164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7000875" y="5415058"/>
            <a:ext cx="48721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Between 2026 and 2036, 'Coat Conditioning &amp; Softening' gains the most share in the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7000875" y="5582698"/>
            <a:ext cx="106583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Europe market (+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014759" y="5572919"/>
            <a:ext cx="128699" cy="187198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8182255" y="5582698"/>
            <a:ext cx="238752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BPS) while 'Dental &amp; Oral Hygiene' cedes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517832" y="5572919"/>
            <a:ext cx="128699" cy="187198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10685328" y="5582698"/>
            <a:ext cx="110703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 Bubbles right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000875" y="5750338"/>
            <a:ext cx="359378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the CAGR-Index line grow faster than the segment average.</a:t>
            </a:r>
          </a:p>
        </p:txBody>
      </p:sp>
      <p:sp>
        <p:nvSpPr>
          <p:cNvPr id="27" name="lockshield_13"/>
          <p:cNvSpPr/>
          <p:nvPr/>
        </p:nvSpPr>
        <p:spPr>
          <a:xfrm>
            <a:off x="238125" y="1510095"/>
            <a:ext cx="6477000" cy="498914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lockshield_16"/>
          <p:cNvSpPr/>
          <p:nvPr/>
        </p:nvSpPr>
        <p:spPr>
          <a:xfrm>
            <a:off x="6981825" y="1510095"/>
            <a:ext cx="4972050" cy="313639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8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Absolute $ Opportunity Analysis, By Primary Product Function / Benefit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Primary Product Function / Benefit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Cleansing &amp; General Hygiene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38275"/>
          <a:ext cx="5686425" cy="223837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Moisturizing &amp; Skin Barrier Care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267450" y="1438275"/>
          <a:ext cx="5686425" cy="223837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38125" y="39243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Skin Soothing &amp; Comfort</a:t>
            </a:r>
          </a:p>
        </p:txBody>
      </p:sp>
      <p:graphicFrame>
        <p:nvGraphicFramePr>
          <p:cNvPr id="19" name="Chart 18"/>
          <p:cNvGraphicFramePr>
            <a:graphicFrameLocks noGrp="1"/>
          </p:cNvGraphicFramePr>
          <p:nvPr/>
        </p:nvGraphicFramePr>
        <p:xfrm>
          <a:off x="238125" y="4324350"/>
          <a:ext cx="5686425" cy="2238375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0" name="Rounded Rectangle 19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6267450" y="39243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Coat Conditioning &amp; Softening</a:t>
            </a:r>
          </a:p>
        </p:txBody>
      </p:sp>
      <p:graphicFrame>
        <p:nvGraphicFramePr>
          <p:cNvPr id="22" name="Chart 21"/>
          <p:cNvGraphicFramePr>
            <a:graphicFrameLocks noGrp="1"/>
          </p:cNvGraphicFramePr>
          <p:nvPr/>
        </p:nvGraphicFramePr>
        <p:xfrm>
          <a:off x="6267450" y="4324350"/>
          <a:ext cx="5686425" cy="2238375"/>
        </p:xfrm>
        <a:graphic>
          <a:graphicData uri="http://schemas.openxmlformats.org/drawingml/2006/chart">
            <c:chart xmlns:c="http://schemas.openxmlformats.org/drawingml/2006/chart" r:id="rId6"/>
          </a:graphicData>
        </a:graphic>
      </p:graphicFrame>
      <p:sp>
        <p:nvSpPr>
          <p:cNvPr id="23" name="TextBox 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100230" y="2330679"/>
            <a:ext cx="252890" cy="367840"/>
          </a:xfrm>
          <a:prstGeom prst="rect">
            <a:avLst/>
          </a:prstGeom>
        </p:spPr>
      </p:pic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9555" y="2330679"/>
            <a:ext cx="252890" cy="367840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100230" y="5216754"/>
            <a:ext cx="252890" cy="367840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9555" y="5216754"/>
            <a:ext cx="252890" cy="367840"/>
          </a:xfrm>
          <a:prstGeom prst="rect">
            <a:avLst/>
          </a:prstGeom>
        </p:spPr>
      </p:pic>
      <p:sp>
        <p:nvSpPr>
          <p:cNvPr id="28" name="lockshield_13"/>
          <p:cNvSpPr/>
          <p:nvPr/>
        </p:nvSpPr>
        <p:spPr>
          <a:xfrm>
            <a:off x="238125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lockshield_16"/>
          <p:cNvSpPr/>
          <p:nvPr/>
        </p:nvSpPr>
        <p:spPr>
          <a:xfrm>
            <a:off x="6267450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lockshield_19"/>
          <p:cNvSpPr/>
          <p:nvPr/>
        </p:nvSpPr>
        <p:spPr>
          <a:xfrm>
            <a:off x="238125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lockshield_22"/>
          <p:cNvSpPr/>
          <p:nvPr/>
        </p:nvSpPr>
        <p:spPr>
          <a:xfrm>
            <a:off x="6267450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8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Absolute $ Opportunity Analysis, By Primary Product Function / Benefit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Primary Product Function / Benefit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Dental &amp; Oral Hygiene</a:t>
            </a:r>
          </a:p>
        </p:txBody>
      </p:sp>
      <p:graphicFrame>
        <p:nvGraphicFramePr>
          <p:cNvPr id="12" name="Chart 11"/>
          <p:cNvGraphicFramePr>
            <a:graphicFrameLocks noGrp="1"/>
          </p:cNvGraphicFramePr>
          <p:nvPr/>
        </p:nvGraphicFramePr>
        <p:xfrm>
          <a:off x="238125" y="1438275"/>
          <a:ext cx="5686425" cy="223837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3" name="Rounded Rectangle 12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6267450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Body &amp; Coat Odor Management</a:t>
            </a:r>
          </a:p>
        </p:txBody>
      </p:sp>
      <p:graphicFrame>
        <p:nvGraphicFramePr>
          <p:cNvPr id="15" name="Chart 14"/>
          <p:cNvGraphicFramePr>
            <a:graphicFrameLocks noGrp="1"/>
          </p:cNvGraphicFramePr>
          <p:nvPr/>
        </p:nvGraphicFramePr>
        <p:xfrm>
          <a:off x="6267450" y="1438275"/>
          <a:ext cx="5686425" cy="223837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6" name="Rounded Rectangle 15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38125" y="39243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Ear &amp; Eye-Area Hygiene</a:t>
            </a:r>
          </a:p>
        </p:txBody>
      </p:sp>
      <p:graphicFrame>
        <p:nvGraphicFramePr>
          <p:cNvPr id="18" name="Chart 17"/>
          <p:cNvGraphicFramePr>
            <a:graphicFrameLocks noGrp="1"/>
          </p:cNvGraphicFramePr>
          <p:nvPr/>
        </p:nvGraphicFramePr>
        <p:xfrm>
          <a:off x="238125" y="4324350"/>
          <a:ext cx="5686425" cy="2238375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19" name="Rounded Rectangle 18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305550" y="3952875"/>
            <a:ext cx="56102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Summary of Europe Absolute $ Opportunity Analysis, By Primary Product Function / Benefit</a:t>
            </a:r>
          </a:p>
        </p:txBody>
      </p:sp>
      <p:sp>
        <p:nvSpPr>
          <p:cNvPr id="21" name="Rectangle 20"/>
          <p:cNvSpPr/>
          <p:nvPr/>
        </p:nvSpPr>
        <p:spPr>
          <a:xfrm>
            <a:off x="6305550" y="4191000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6305550" y="4276725"/>
            <a:ext cx="5610225" cy="22669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100230" y="2330679"/>
            <a:ext cx="252890" cy="367840"/>
          </a:xfrm>
          <a:prstGeom prst="rect">
            <a:avLst/>
          </a:prstGeom>
        </p:spPr>
      </p:pic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129555" y="2330679"/>
            <a:ext cx="252890" cy="367840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100230" y="5216754"/>
            <a:ext cx="252890" cy="367840"/>
          </a:xfrm>
          <a:prstGeom prst="rect">
            <a:avLst/>
          </a:prstGeom>
        </p:spPr>
      </p:pic>
      <p:sp>
        <p:nvSpPr>
          <p:cNvPr id="27" name="TextBox 26"/>
          <p:cNvSpPr txBox="1"/>
          <p:nvPr/>
        </p:nvSpPr>
        <p:spPr>
          <a:xfrm>
            <a:off x="6305550" y="4286250"/>
            <a:ext cx="42936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Across its 7 sub-segments, by primary product function / benefit adds</a:t>
            </a:r>
          </a:p>
        </p:txBody>
      </p:sp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0548382" y="4276026"/>
            <a:ext cx="134549" cy="195707"/>
          </a:xfrm>
          <a:prstGeom prst="rect">
            <a:avLst/>
          </a:prstGeom>
        </p:spPr>
      </p:pic>
      <p:sp>
        <p:nvSpPr>
          <p:cNvPr id="29" name="TextBox 28"/>
          <p:cNvSpPr txBox="1"/>
          <p:nvPr/>
        </p:nvSpPr>
        <p:spPr>
          <a:xfrm>
            <a:off x="10723492" y="4286250"/>
            <a:ext cx="93681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to the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6305550" y="4461510"/>
            <a:ext cx="247176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Europe market between 2026 and 2036.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6305550" y="4689347"/>
            <a:ext cx="225553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'Cleansing &amp; General Hygiene' adds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510243" y="4679124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8685353" y="4689347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257823" y="4679124"/>
            <a:ext cx="134549" cy="195707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9432933" y="4689347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6305550" y="4917185"/>
            <a:ext cx="233541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'Coat Conditioning &amp; Softening' adds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590114" y="4906962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8765224" y="4917185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337695" y="4906962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9512804" y="4917185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6305550" y="5145023"/>
            <a:ext cx="243524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'Moisturizing &amp; Skin Barrier Care' adds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689953" y="5134800"/>
            <a:ext cx="134549" cy="195707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8865063" y="5145023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437533" y="5134800"/>
            <a:ext cx="134549" cy="195707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9612643" y="5145023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6305550" y="5372861"/>
            <a:ext cx="253100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'Ear &amp; Eye-Area Hygiene' adds the least: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785709" y="5362638"/>
            <a:ext cx="134549" cy="195707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8960819" y="5372861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533290" y="5362638"/>
            <a:ext cx="134549" cy="195707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9708399" y="5372861"/>
            <a:ext cx="1572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51" name="lockshield_12"/>
          <p:cNvSpPr/>
          <p:nvPr/>
        </p:nvSpPr>
        <p:spPr>
          <a:xfrm>
            <a:off x="238125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lockshield_15"/>
          <p:cNvSpPr/>
          <p:nvPr/>
        </p:nvSpPr>
        <p:spPr>
          <a:xfrm>
            <a:off x="6267450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lockshield_18"/>
          <p:cNvSpPr/>
          <p:nvPr/>
        </p:nvSpPr>
        <p:spPr>
          <a:xfrm>
            <a:off x="238125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8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Volume Analysis, By Primary Product Function / Benefit (MT)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by Primary Product Function / Benefit,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876550"/>
          </a:xfrm>
          <a:prstGeom prst="roundRect">
            <a:avLst>
              <a:gd name="adj" fmla="val 26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Volume, By Primary Product Function / Benefit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9" cy="240982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082306"/>
                <a:gridCol w="583049"/>
                <a:gridCol w="583049"/>
                <a:gridCol w="583049"/>
                <a:gridCol w="583049"/>
                <a:gridCol w="583049"/>
                <a:gridCol w="583049"/>
                <a:gridCol w="583049"/>
                <a:gridCol w="583049"/>
                <a:gridCol w="583049"/>
                <a:gridCol w="583049"/>
                <a:gridCol w="583049"/>
                <a:gridCol w="583049"/>
                <a:gridCol w="583049"/>
                <a:gridCol w="583049"/>
                <a:gridCol w="583049"/>
                <a:gridCol w="583049"/>
                <a:gridCol w="476109"/>
              </a:tblGrid>
              <a:tr h="43891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Primary Product Function /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Benefit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Cleansing &amp; General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Moisturizing &amp; Skin Barrier 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 Soothing &amp; Comfort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Softening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Body &amp; Coat Odor Management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Eye-Area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6576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990975"/>
            <a:ext cx="11906250" cy="2638425"/>
          </a:xfrm>
          <a:prstGeom prst="roundRect">
            <a:avLst>
              <a:gd name="adj" fmla="val 288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407670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Volume Analysis, By Primary Product Function / Benefit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43148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4400550"/>
            <a:ext cx="11639550" cy="21526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50462" y="2395917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4410075"/>
            <a:ext cx="496374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'Cleansing &amp; General Hygiene' is the largest primary product function / benefit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189119" y="4399851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5364228" y="4410075"/>
            <a:ext cx="10805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volume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393961" y="439985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6569070" y="4410075"/>
            <a:ext cx="3534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4637913"/>
            <a:ext cx="245512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'Ear &amp; Eye-Area Hygiene'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680507" y="4627689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855616" y="4637913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4865750"/>
            <a:ext cx="335490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'Coat Conditioning &amp; Softening'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80287" y="4855527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3755396" y="4865750"/>
            <a:ext cx="280836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'Dental &amp; Oral Hygiene'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12912" y="4855527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6688021" y="4865750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5093588"/>
            <a:ext cx="15646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volume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90033" y="5083365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965143" y="5093588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16579" y="5083365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291688" y="5093588"/>
            <a:ext cx="14705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across 7 categories.</a:t>
            </a:r>
          </a:p>
        </p:txBody>
      </p:sp>
    </p:spTree>
  </p:cSld>
  <p:clrMapOvr>
    <a:masterClrMapping/>
  </p:clrMapOvr>
</p:sld>
</file>

<file path=ppt/slides/slide9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Value Analysis, By Primary Product Function / Benefit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by Primary Product Function / Benefit,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686050"/>
          </a:xfrm>
          <a:prstGeom prst="roundRect">
            <a:avLst>
              <a:gd name="adj" fmla="val 28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Value, By Primary Product Function / Benefit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5" cy="22193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251843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Primary Product Function / Benefit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Cleansing &amp; General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Moisturizing &amp; Skin Barrier 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 Soothing &amp; Comfort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Softening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Body &amp; Coat Odor Management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Eye-Area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4671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800475"/>
            <a:ext cx="11906250" cy="2828925"/>
          </a:xfrm>
          <a:prstGeom prst="roundRect">
            <a:avLst>
              <a:gd name="adj" fmla="val 269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388620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Value Analysis, By Primary Product Function / Benefit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41243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4210050"/>
            <a:ext cx="11639550" cy="23431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35233" y="2204276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4219575"/>
            <a:ext cx="496374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'Cleansing &amp; General Hygiene' is the largest primary product function / benefit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189119" y="4209351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5364228" y="4219575"/>
            <a:ext cx="9567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270161" y="420935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6445270" y="4219575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4447413"/>
            <a:ext cx="245512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'Ear &amp; Eye-Area Hygiene'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680507" y="4437189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855616" y="4447413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4675250"/>
            <a:ext cx="335490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'Coat Conditioning &amp; Softening'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80287" y="4665027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3755396" y="4675250"/>
            <a:ext cx="280836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'Dental &amp; Oral Hygiene'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12912" y="4665027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6688021" y="4675250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4903088"/>
            <a:ext cx="14408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66233" y="4892865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841342" y="4903088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92779" y="4892865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167888" y="4903088"/>
            <a:ext cx="17440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7 categories.</a:t>
            </a:r>
          </a:p>
        </p:txBody>
      </p:sp>
    </p:spTree>
  </p:cSld>
  <p:clrMapOvr>
    <a:masterClrMapping/>
  </p:clrMapOvr>
</p:sld>
</file>

<file path=ppt/slides/slide9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Value &amp; Share Shift, By Primary Product Function / Benefit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composition by Primary Product Function / Benefit in 2021, 2026 and 2036, highlighting share shifts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7400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7210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Composition, By Primary Product Function / Benefit ·  2021 / 2026 / 2036 (US$ Mn)  ·  right axis = BPS share shift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1150"/>
          <a:ext cx="4614672" cy="49911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852797" y="1590675"/>
            <a:ext cx="2595753" cy="17106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(2021→2036)</a:t>
            </a:r>
          </a:p>
        </p:txBody>
      </p:sp>
      <p:sp>
        <p:nvSpPr>
          <p:cNvPr id="15" name="FMI Lock Anchor"/>
          <p:cNvSpPr txBox="1"/>
          <p:nvPr/>
        </p:nvSpPr>
        <p:spPr>
          <a:xfrm>
            <a:off x="2678811" y="4014597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/>
        </p:txBody>
      </p:sp>
      <p:sp>
        <p:nvSpPr>
          <p:cNvPr id="16" name="FMI Legend Chip"/>
          <p:cNvSpPr/>
          <p:nvPr/>
        </p:nvSpPr>
        <p:spPr>
          <a:xfrm>
            <a:off x="4928997" y="1837929"/>
            <a:ext cx="85725" cy="85725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Isosceles Triangle 16"/>
          <p:cNvSpPr/>
          <p:nvPr/>
        </p:nvSpPr>
        <p:spPr>
          <a:xfrm>
            <a:off x="5090922" y="1833167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BPS Name 1"/>
          <p:cNvSpPr txBox="1"/>
          <p:nvPr/>
        </p:nvSpPr>
        <p:spPr>
          <a:xfrm>
            <a:off x="5233797" y="1756967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Ear &amp; Eye-Area Hygiene</a:t>
            </a:r>
          </a:p>
        </p:txBody>
      </p:sp>
      <p:sp>
        <p:nvSpPr>
          <p:cNvPr id="19" name="BPS Value 1"/>
          <p:cNvSpPr txBox="1"/>
          <p:nvPr/>
        </p:nvSpPr>
        <p:spPr>
          <a:xfrm>
            <a:off x="6896100" y="1818879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0" name="FMI Legend Chip"/>
          <p:cNvSpPr/>
          <p:nvPr/>
        </p:nvSpPr>
        <p:spPr>
          <a:xfrm>
            <a:off x="4928997" y="2223348"/>
            <a:ext cx="85725" cy="85725"/>
          </a:xfrm>
          <a:prstGeom prst="rect">
            <a:avLst/>
          </a:prstGeom>
          <a:solidFill>
            <a:srgbClr val="8080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Isosceles Triangle 20"/>
          <p:cNvSpPr/>
          <p:nvPr/>
        </p:nvSpPr>
        <p:spPr>
          <a:xfrm>
            <a:off x="5090922" y="2218585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BPS Name 2"/>
          <p:cNvSpPr txBox="1"/>
          <p:nvPr/>
        </p:nvSpPr>
        <p:spPr>
          <a:xfrm>
            <a:off x="5233797" y="2142385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Body &amp; Coat Odor Management</a:t>
            </a:r>
          </a:p>
        </p:txBody>
      </p:sp>
      <p:sp>
        <p:nvSpPr>
          <p:cNvPr id="23" name="BPS Value 2"/>
          <p:cNvSpPr txBox="1"/>
          <p:nvPr/>
        </p:nvSpPr>
        <p:spPr>
          <a:xfrm>
            <a:off x="6896100" y="2204298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4" name="FMI Legend Chip"/>
          <p:cNvSpPr/>
          <p:nvPr/>
        </p:nvSpPr>
        <p:spPr>
          <a:xfrm>
            <a:off x="4928997" y="2689224"/>
            <a:ext cx="85725" cy="85725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Isosceles Triangle 24"/>
          <p:cNvSpPr/>
          <p:nvPr/>
        </p:nvSpPr>
        <p:spPr>
          <a:xfrm rot="10800000">
            <a:off x="5090922" y="2684462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BPS Name 3"/>
          <p:cNvSpPr txBox="1"/>
          <p:nvPr/>
        </p:nvSpPr>
        <p:spPr>
          <a:xfrm>
            <a:off x="5233797" y="2608262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Dental &amp; Oral Hygiene</a:t>
            </a:r>
          </a:p>
        </p:txBody>
      </p:sp>
      <p:sp>
        <p:nvSpPr>
          <p:cNvPr id="27" name="BPS Value 3"/>
          <p:cNvSpPr txBox="1"/>
          <p:nvPr/>
        </p:nvSpPr>
        <p:spPr>
          <a:xfrm>
            <a:off x="6896100" y="2670174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8" name="FMI Legend Chip"/>
          <p:cNvSpPr/>
          <p:nvPr/>
        </p:nvSpPr>
        <p:spPr>
          <a:xfrm>
            <a:off x="4928997" y="3236299"/>
            <a:ext cx="85725" cy="8572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Isosceles Triangle 28"/>
          <p:cNvSpPr/>
          <p:nvPr/>
        </p:nvSpPr>
        <p:spPr>
          <a:xfrm>
            <a:off x="5090922" y="3231536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BPS Name 4"/>
          <p:cNvSpPr txBox="1"/>
          <p:nvPr/>
        </p:nvSpPr>
        <p:spPr>
          <a:xfrm>
            <a:off x="5233797" y="3155336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Skin Soothing &amp; Comfort</a:t>
            </a:r>
          </a:p>
        </p:txBody>
      </p:sp>
      <p:sp>
        <p:nvSpPr>
          <p:cNvPr id="31" name="BPS Value 4"/>
          <p:cNvSpPr txBox="1"/>
          <p:nvPr/>
        </p:nvSpPr>
        <p:spPr>
          <a:xfrm>
            <a:off x="6896100" y="3217249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32" name="FMI Legend Chip"/>
          <p:cNvSpPr/>
          <p:nvPr/>
        </p:nvSpPr>
        <p:spPr>
          <a:xfrm>
            <a:off x="4928997" y="3853309"/>
            <a:ext cx="85725" cy="8572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Isosceles Triangle 32"/>
          <p:cNvSpPr/>
          <p:nvPr/>
        </p:nvSpPr>
        <p:spPr>
          <a:xfrm rot="10800000">
            <a:off x="5090922" y="3848546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BPS Name 5"/>
          <p:cNvSpPr txBox="1"/>
          <p:nvPr/>
        </p:nvSpPr>
        <p:spPr>
          <a:xfrm>
            <a:off x="5233797" y="3772346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Moisturizing &amp; Skin Barrier Care</a:t>
            </a:r>
          </a:p>
        </p:txBody>
      </p:sp>
      <p:sp>
        <p:nvSpPr>
          <p:cNvPr id="35" name="BPS Value 5"/>
          <p:cNvSpPr txBox="1"/>
          <p:nvPr/>
        </p:nvSpPr>
        <p:spPr>
          <a:xfrm>
            <a:off x="6896100" y="3834259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36" name="FMI Legend Chip"/>
          <p:cNvSpPr/>
          <p:nvPr/>
        </p:nvSpPr>
        <p:spPr>
          <a:xfrm>
            <a:off x="4928997" y="4566516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Isosceles Triangle 36"/>
          <p:cNvSpPr/>
          <p:nvPr/>
        </p:nvSpPr>
        <p:spPr>
          <a:xfrm>
            <a:off x="5090922" y="4561754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BPS Name 6"/>
          <p:cNvSpPr txBox="1"/>
          <p:nvPr/>
        </p:nvSpPr>
        <p:spPr>
          <a:xfrm>
            <a:off x="5233797" y="4485554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Coat Conditioning &amp; Softening</a:t>
            </a:r>
          </a:p>
        </p:txBody>
      </p:sp>
      <p:sp>
        <p:nvSpPr>
          <p:cNvPr id="39" name="BPS Value 6"/>
          <p:cNvSpPr txBox="1"/>
          <p:nvPr/>
        </p:nvSpPr>
        <p:spPr>
          <a:xfrm>
            <a:off x="6896100" y="4547466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40" name="FMI Legend Chip"/>
          <p:cNvSpPr/>
          <p:nvPr/>
        </p:nvSpPr>
        <p:spPr>
          <a:xfrm>
            <a:off x="4928997" y="5603148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Isosceles Triangle 40"/>
          <p:cNvSpPr/>
          <p:nvPr/>
        </p:nvSpPr>
        <p:spPr>
          <a:xfrm>
            <a:off x="5090922" y="5598385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BPS Name 7"/>
          <p:cNvSpPr txBox="1"/>
          <p:nvPr/>
        </p:nvSpPr>
        <p:spPr>
          <a:xfrm>
            <a:off x="5233797" y="5522185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Cleansing &amp; General Hygiene</a:t>
            </a:r>
          </a:p>
        </p:txBody>
      </p:sp>
      <p:sp>
        <p:nvSpPr>
          <p:cNvPr id="43" name="BPS Value 7"/>
          <p:cNvSpPr txBox="1"/>
          <p:nvPr/>
        </p:nvSpPr>
        <p:spPr>
          <a:xfrm>
            <a:off x="6896100" y="5584098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44" name="Rounded Rectangle 43"/>
          <p:cNvSpPr/>
          <p:nvPr/>
        </p:nvSpPr>
        <p:spPr>
          <a:xfrm>
            <a:off x="7696200" y="981075"/>
            <a:ext cx="4343400" cy="5648325"/>
          </a:xfrm>
          <a:prstGeom prst="roundRect">
            <a:avLst>
              <a:gd name="adj" fmla="val 17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TextBox 44"/>
          <p:cNvSpPr txBox="1"/>
          <p:nvPr/>
        </p:nvSpPr>
        <p:spPr>
          <a:xfrm>
            <a:off x="7829550" y="1066800"/>
            <a:ext cx="4076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Read-out, By Primary Product Function / Benefit</a:t>
            </a:r>
          </a:p>
        </p:txBody>
      </p:sp>
      <p:sp>
        <p:nvSpPr>
          <p:cNvPr id="46" name="Rectangle 45"/>
          <p:cNvSpPr/>
          <p:nvPr/>
        </p:nvSpPr>
        <p:spPr>
          <a:xfrm>
            <a:off x="7829550" y="1304925"/>
            <a:ext cx="40767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TextBox 46"/>
          <p:cNvSpPr txBox="1"/>
          <p:nvPr/>
        </p:nvSpPr>
        <p:spPr>
          <a:xfrm>
            <a:off x="7829550" y="1390650"/>
            <a:ext cx="4076700" cy="5162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2E7D32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E44D3A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57843" y="3833622"/>
            <a:ext cx="275034" cy="400050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7829550" y="1400175"/>
            <a:ext cx="339199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'Coat Conditioning &amp; Softening' gains the most share +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170695" y="1389951"/>
            <a:ext cx="134549" cy="195707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11345804" y="1400175"/>
            <a:ext cx="2984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7829550" y="1575435"/>
            <a:ext cx="287168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between 2026 and 2036 (</a:t>
            </a:r>
            <a:r>
              <a:rPr sz="1150" b="0">
                <a:solidFill>
                  <a:srgbClr val="2E7D32"/>
                </a:solidFill>
                <a:latin typeface="Calibri"/>
              </a:rPr>
              <a:t>green ▲</a:t>
            </a:r>
            <a:r>
              <a:rPr sz="1150" b="0">
                <a:solidFill>
                  <a:srgbClr val="2E2E2E"/>
                </a:solidFill>
                <a:latin typeface="Calibri"/>
              </a:rPr>
              <a:t> on the scale).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7829550" y="1803273"/>
            <a:ext cx="256589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'Dental &amp; Oral Hygiene' cedes the most -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344600" y="1793049"/>
            <a:ext cx="134549" cy="195707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10519709" y="1803273"/>
            <a:ext cx="117927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 the same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7829550" y="1978533"/>
            <a:ext cx="101525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window (</a:t>
            </a:r>
            <a:r>
              <a:rPr sz="1150" b="0">
                <a:solidFill>
                  <a:srgbClr val="E44D3A"/>
                </a:solidFill>
                <a:latin typeface="Calibri"/>
              </a:rPr>
              <a:t>red ▼</a:t>
            </a:r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7829550" y="2206371"/>
            <a:ext cx="394500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'Ear &amp; Eye-Area Hygiene' is the fastest-growing primary product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7829550" y="2381631"/>
            <a:ext cx="127341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function / benefit at</a:t>
            </a:r>
          </a:p>
        </p:txBody>
      </p:sp>
      <p:pic>
        <p:nvPicPr>
          <p:cNvPr id="60" name="Picture 59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052114" y="2371407"/>
            <a:ext cx="134549" cy="195707"/>
          </a:xfrm>
          <a:prstGeom prst="rect">
            <a:avLst/>
          </a:prstGeom>
        </p:spPr>
      </p:pic>
      <p:sp>
        <p:nvSpPr>
          <p:cNvPr id="61" name="TextBox 60"/>
          <p:cNvSpPr txBox="1"/>
          <p:nvPr/>
        </p:nvSpPr>
        <p:spPr>
          <a:xfrm>
            <a:off x="9227223" y="2381631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7829550" y="2609469"/>
            <a:ext cx="15489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climbs from</a:t>
            </a:r>
          </a:p>
        </p:txBody>
      </p:sp>
      <p:pic>
        <p:nvPicPr>
          <p:cNvPr id="63" name="Picture 6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27669" y="2599245"/>
            <a:ext cx="134549" cy="195707"/>
          </a:xfrm>
          <a:prstGeom prst="rect">
            <a:avLst/>
          </a:prstGeom>
        </p:spPr>
      </p:pic>
      <p:sp>
        <p:nvSpPr>
          <p:cNvPr id="64" name="TextBox 63"/>
          <p:cNvSpPr txBox="1"/>
          <p:nvPr/>
        </p:nvSpPr>
        <p:spPr>
          <a:xfrm>
            <a:off x="9502779" y="2609469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65" name="Picture 6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54215" y="2599245"/>
            <a:ext cx="134549" cy="195707"/>
          </a:xfrm>
          <a:prstGeom prst="rect">
            <a:avLst/>
          </a:prstGeom>
        </p:spPr>
      </p:pic>
      <p:sp>
        <p:nvSpPr>
          <p:cNvPr id="66" name="TextBox 65"/>
          <p:cNvSpPr txBox="1"/>
          <p:nvPr/>
        </p:nvSpPr>
        <p:spPr>
          <a:xfrm>
            <a:off x="9829324" y="2609469"/>
            <a:ext cx="1689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2021–2036.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7829550" y="2837307"/>
            <a:ext cx="39325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Bars show the value mix at each snapshot; the scale shows how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7829550" y="3012566"/>
            <a:ext cx="11772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each share moves.</a:t>
            </a:r>
          </a:p>
        </p:txBody>
      </p:sp>
      <p:sp>
        <p:nvSpPr>
          <p:cNvPr id="69" name="lockshield_13"/>
          <p:cNvSpPr/>
          <p:nvPr/>
        </p:nvSpPr>
        <p:spPr>
          <a:xfrm>
            <a:off x="238125" y="1581150"/>
            <a:ext cx="4614672" cy="49911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9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Europe Market Volume, By Primary Product Function / Benefit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Primary Product Function / Benefit,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438400"/>
          </a:xfrm>
          <a:prstGeom prst="roundRect">
            <a:avLst>
              <a:gd name="adj" fmla="val 31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 YoY Growth, By Primary Product Function / Benefit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6" cy="19716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448486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Primary Product Function / Benefit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Cleansing &amp; General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Moisturizing &amp; Skin Barrier 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 Soothing &amp; Comfort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Softening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Body &amp; Coat Odor Management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Eye-Area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2194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552825"/>
            <a:ext cx="11906250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60997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 YoY Heatmap, By Primary Product Function / Benefit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981450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Cleansing &amp; General Hygiene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981450"/>
            <a:ext cx="643890" cy="370114"/>
          </a:xfrm>
          <a:prstGeom prst="rect">
            <a:avLst/>
          </a:prstGeom>
          <a:solidFill>
            <a:srgbClr val="CCDE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3981450"/>
            <a:ext cx="643890" cy="370114"/>
          </a:xfrm>
          <a:prstGeom prst="rect">
            <a:avLst/>
          </a:prstGeom>
          <a:solidFill>
            <a:srgbClr val="E3F1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3981450"/>
            <a:ext cx="643890" cy="370114"/>
          </a:xfrm>
          <a:prstGeom prst="rect">
            <a:avLst/>
          </a:prstGeom>
          <a:solidFill>
            <a:srgbClr val="E1EF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3981450"/>
            <a:ext cx="643890" cy="370114"/>
          </a:xfrm>
          <a:prstGeom prst="rect">
            <a:avLst/>
          </a:prstGeom>
          <a:solidFill>
            <a:srgbClr val="D5E5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3981450"/>
            <a:ext cx="643890" cy="370114"/>
          </a:xfrm>
          <a:prstGeom prst="rect">
            <a:avLst/>
          </a:prstGeom>
          <a:solidFill>
            <a:srgbClr val="2983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3981450"/>
            <a:ext cx="643890" cy="370114"/>
          </a:xfrm>
          <a:prstGeom prst="rect">
            <a:avLst/>
          </a:prstGeom>
          <a:solidFill>
            <a:srgbClr val="3D8EC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3981450"/>
            <a:ext cx="643890" cy="370114"/>
          </a:xfrm>
          <a:prstGeom prst="rect">
            <a:avLst/>
          </a:prstGeom>
          <a:solidFill>
            <a:srgbClr val="0E70A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3981450"/>
            <a:ext cx="643890" cy="370114"/>
          </a:xfrm>
          <a:prstGeom prst="rect">
            <a:avLst/>
          </a:prstGeom>
          <a:solidFill>
            <a:srgbClr val="0D639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3981450"/>
            <a:ext cx="643890" cy="370114"/>
          </a:xfrm>
          <a:prstGeom prst="rect">
            <a:avLst/>
          </a:prstGeom>
          <a:solidFill>
            <a:srgbClr val="388C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3981450"/>
            <a:ext cx="643890" cy="370114"/>
          </a:xfrm>
          <a:prstGeom prst="rect">
            <a:avLst/>
          </a:prstGeom>
          <a:solidFill>
            <a:srgbClr val="2580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3981450"/>
            <a:ext cx="643890" cy="370114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3981450"/>
            <a:ext cx="643890" cy="370114"/>
          </a:xfrm>
          <a:prstGeom prst="rect">
            <a:avLst/>
          </a:prstGeom>
          <a:solidFill>
            <a:srgbClr val="0E6CA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3981450"/>
            <a:ext cx="643890" cy="370114"/>
          </a:xfrm>
          <a:prstGeom prst="rect">
            <a:avLst/>
          </a:prstGeom>
          <a:solidFill>
            <a:srgbClr val="0E689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3981450"/>
            <a:ext cx="643890" cy="370114"/>
          </a:xfrm>
          <a:prstGeom prst="rect">
            <a:avLst/>
          </a:prstGeom>
          <a:solidFill>
            <a:srgbClr val="0E6DA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3981450"/>
            <a:ext cx="643890" cy="370114"/>
          </a:xfrm>
          <a:prstGeom prst="rect">
            <a:avLst/>
          </a:prstGeom>
          <a:solidFill>
            <a:srgbClr val="0E6AA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351564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Moisturizing &amp; Skin Barrier Care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351564"/>
            <a:ext cx="643890" cy="370114"/>
          </a:xfrm>
          <a:prstGeom prst="rect">
            <a:avLst/>
          </a:prstGeom>
          <a:solidFill>
            <a:srgbClr val="CBDD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351564"/>
            <a:ext cx="643890" cy="370114"/>
          </a:xfrm>
          <a:prstGeom prst="rect">
            <a:avLst/>
          </a:prstGeom>
          <a:solidFill>
            <a:srgbClr val="EB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351564"/>
            <a:ext cx="643890" cy="370114"/>
          </a:xfrm>
          <a:prstGeom prst="rect">
            <a:avLst/>
          </a:prstGeom>
          <a:solidFill>
            <a:srgbClr val="E3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351564"/>
            <a:ext cx="643890" cy="370114"/>
          </a:xfrm>
          <a:prstGeom prst="rect">
            <a:avLst/>
          </a:prstGeom>
          <a:solidFill>
            <a:srgbClr val="D3E3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351564"/>
            <a:ext cx="643890" cy="370114"/>
          </a:xfrm>
          <a:prstGeom prst="rect">
            <a:avLst/>
          </a:prstGeom>
          <a:solidFill>
            <a:srgbClr val="3A8D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351564"/>
            <a:ext cx="643890" cy="370114"/>
          </a:xfrm>
          <a:prstGeom prst="rect">
            <a:avLst/>
          </a:prstGeom>
          <a:solidFill>
            <a:srgbClr val="39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351564"/>
            <a:ext cx="643890" cy="370114"/>
          </a:xfrm>
          <a:prstGeom prst="rect">
            <a:avLst/>
          </a:prstGeom>
          <a:solidFill>
            <a:srgbClr val="16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351564"/>
            <a:ext cx="643890" cy="370114"/>
          </a:xfrm>
          <a:prstGeom prst="rect">
            <a:avLst/>
          </a:prstGeom>
          <a:solidFill>
            <a:srgbClr val="0E6DA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351564"/>
            <a:ext cx="643890" cy="370114"/>
          </a:xfrm>
          <a:prstGeom prst="rect">
            <a:avLst/>
          </a:prstGeom>
          <a:solidFill>
            <a:srgbClr val="3F90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351564"/>
            <a:ext cx="643890" cy="370114"/>
          </a:xfrm>
          <a:prstGeom prst="rect">
            <a:avLst/>
          </a:prstGeom>
          <a:solidFill>
            <a:srgbClr val="3489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351564"/>
            <a:ext cx="643890" cy="370114"/>
          </a:xfrm>
          <a:prstGeom prst="rect">
            <a:avLst/>
          </a:prstGeom>
          <a:solidFill>
            <a:srgbClr val="2C84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351564"/>
            <a:ext cx="643890" cy="370114"/>
          </a:xfrm>
          <a:prstGeom prst="rect">
            <a:avLst/>
          </a:prstGeom>
          <a:solidFill>
            <a:srgbClr val="0E6CA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351564"/>
            <a:ext cx="643890" cy="370114"/>
          </a:xfrm>
          <a:prstGeom prst="rect">
            <a:avLst/>
          </a:prstGeom>
          <a:solidFill>
            <a:srgbClr val="217D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351564"/>
            <a:ext cx="643890" cy="370114"/>
          </a:xfrm>
          <a:prstGeom prst="rect">
            <a:avLst/>
          </a:prstGeom>
          <a:solidFill>
            <a:srgbClr val="1D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351564"/>
            <a:ext cx="643890" cy="370114"/>
          </a:xfrm>
          <a:prstGeom prst="rect">
            <a:avLst/>
          </a:prstGeom>
          <a:solidFill>
            <a:srgbClr val="17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4721679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Skin Soothing &amp; Comfort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4721679"/>
            <a:ext cx="643890" cy="370114"/>
          </a:xfrm>
          <a:prstGeom prst="rect">
            <a:avLst/>
          </a:prstGeom>
          <a:solidFill>
            <a:srgbClr val="BBD4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4721679"/>
            <a:ext cx="643890" cy="370114"/>
          </a:xfrm>
          <a:prstGeom prst="rect">
            <a:avLst/>
          </a:prstGeom>
          <a:solidFill>
            <a:srgbClr val="DCEB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4721679"/>
            <a:ext cx="643890" cy="370114"/>
          </a:xfrm>
          <a:prstGeom prst="rect">
            <a:avLst/>
          </a:prstGeom>
          <a:solidFill>
            <a:srgbClr val="D7E7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4721679"/>
            <a:ext cx="643890" cy="370114"/>
          </a:xfrm>
          <a:prstGeom prst="rect">
            <a:avLst/>
          </a:prstGeom>
          <a:solidFill>
            <a:srgbClr val="CBDD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4721679"/>
            <a:ext cx="643890" cy="370114"/>
          </a:xfrm>
          <a:prstGeom prst="rect">
            <a:avLst/>
          </a:prstGeom>
          <a:solidFill>
            <a:srgbClr val="227E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4721679"/>
            <a:ext cx="643890" cy="370114"/>
          </a:xfrm>
          <a:prstGeom prst="rect">
            <a:avLst/>
          </a:prstGeom>
          <a:solidFill>
            <a:srgbClr val="2580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4721679"/>
            <a:ext cx="643890" cy="370114"/>
          </a:xfrm>
          <a:prstGeom prst="rect">
            <a:avLst/>
          </a:prstGeom>
          <a:solidFill>
            <a:srgbClr val="0D588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4721679"/>
            <a:ext cx="643890" cy="370114"/>
          </a:xfrm>
          <a:prstGeom prst="rect">
            <a:avLst/>
          </a:prstGeom>
          <a:solidFill>
            <a:srgbClr val="0C476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4721679"/>
            <a:ext cx="643890" cy="370114"/>
          </a:xfrm>
          <a:prstGeom prst="rect">
            <a:avLst/>
          </a:prstGeom>
          <a:solidFill>
            <a:srgbClr val="3087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4721679"/>
            <a:ext cx="643890" cy="370114"/>
          </a:xfrm>
          <a:prstGeom prst="rect">
            <a:avLst/>
          </a:prstGeom>
          <a:solidFill>
            <a:srgbClr val="1878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4721679"/>
            <a:ext cx="643890" cy="370114"/>
          </a:xfrm>
          <a:prstGeom prst="rect">
            <a:avLst/>
          </a:prstGeom>
          <a:solidFill>
            <a:srgbClr val="10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4721679"/>
            <a:ext cx="643890" cy="370114"/>
          </a:xfrm>
          <a:prstGeom prst="rect">
            <a:avLst/>
          </a:prstGeom>
          <a:solidFill>
            <a:srgbClr val="0D5B8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4721679"/>
            <a:ext cx="643890" cy="370114"/>
          </a:xfrm>
          <a:prstGeom prst="rect">
            <a:avLst/>
          </a:prstGeom>
          <a:solidFill>
            <a:srgbClr val="0D639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4721679"/>
            <a:ext cx="643890" cy="370114"/>
          </a:xfrm>
          <a:prstGeom prst="rect">
            <a:avLst/>
          </a:prstGeom>
          <a:solidFill>
            <a:srgbClr val="0D5B8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4721679"/>
            <a:ext cx="643890" cy="370114"/>
          </a:xfrm>
          <a:prstGeom prst="rect">
            <a:avLst/>
          </a:prstGeom>
          <a:solidFill>
            <a:srgbClr val="0D568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238125" y="5091793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Coat Conditioning &amp; Softening</a:t>
            </a:r>
          </a:p>
        </p:txBody>
      </p:sp>
      <p:sp>
        <p:nvSpPr>
          <p:cNvPr id="81" name="Rectangle 80"/>
          <p:cNvSpPr/>
          <p:nvPr/>
        </p:nvSpPr>
        <p:spPr>
          <a:xfrm>
            <a:off x="1857375" y="5091793"/>
            <a:ext cx="643890" cy="370114"/>
          </a:xfrm>
          <a:prstGeom prst="rect">
            <a:avLst/>
          </a:prstGeom>
          <a:solidFill>
            <a:srgbClr val="A0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2501265" y="5091793"/>
            <a:ext cx="643890" cy="370114"/>
          </a:xfrm>
          <a:prstGeom prst="rect">
            <a:avLst/>
          </a:prstGeom>
          <a:solidFill>
            <a:srgbClr val="D0E1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3145155" y="5091793"/>
            <a:ext cx="643890" cy="370114"/>
          </a:xfrm>
          <a:prstGeom prst="rect">
            <a:avLst/>
          </a:prstGeom>
          <a:solidFill>
            <a:srgbClr val="CDDE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3789045" y="5091793"/>
            <a:ext cx="643890" cy="370114"/>
          </a:xfrm>
          <a:prstGeom prst="rect">
            <a:avLst/>
          </a:prstGeom>
          <a:solidFill>
            <a:srgbClr val="B1CEE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4432935" y="5091793"/>
            <a:ext cx="643890" cy="370114"/>
          </a:xfrm>
          <a:prstGeom prst="rect">
            <a:avLst/>
          </a:prstGeom>
          <a:solidFill>
            <a:srgbClr val="0E6CA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5076825" y="5091793"/>
            <a:ext cx="643890" cy="370114"/>
          </a:xfrm>
          <a:prstGeom prst="rect">
            <a:avLst/>
          </a:prstGeom>
          <a:solidFill>
            <a:srgbClr val="1475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5720715" y="5091793"/>
            <a:ext cx="643890" cy="370114"/>
          </a:xfrm>
          <a:prstGeom prst="rect">
            <a:avLst/>
          </a:prstGeom>
          <a:solidFill>
            <a:srgbClr val="0C3F6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6364605" y="5091793"/>
            <a:ext cx="643890" cy="370114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7008495" y="5091793"/>
            <a:ext cx="643890" cy="370114"/>
          </a:xfrm>
          <a:prstGeom prst="rect">
            <a:avLst/>
          </a:prstGeom>
          <a:solidFill>
            <a:srgbClr val="1C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7652385" y="5091793"/>
            <a:ext cx="643890" cy="370114"/>
          </a:xfrm>
          <a:prstGeom prst="rect">
            <a:avLst/>
          </a:prstGeom>
          <a:solidFill>
            <a:srgbClr val="10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8296275" y="5091793"/>
            <a:ext cx="643890" cy="370114"/>
          </a:xfrm>
          <a:prstGeom prst="rect">
            <a:avLst/>
          </a:prstGeom>
          <a:solidFill>
            <a:srgbClr val="0E69A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8940165" y="5091793"/>
            <a:ext cx="643890" cy="370114"/>
          </a:xfrm>
          <a:prstGeom prst="rect">
            <a:avLst/>
          </a:prstGeom>
          <a:solidFill>
            <a:srgbClr val="0C406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9584055" y="5091793"/>
            <a:ext cx="643890" cy="370114"/>
          </a:xfrm>
          <a:prstGeom prst="rect">
            <a:avLst/>
          </a:prstGeom>
          <a:solidFill>
            <a:srgbClr val="0D5D8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0227945" y="5091793"/>
            <a:ext cx="643890" cy="370114"/>
          </a:xfrm>
          <a:prstGeom prst="rect">
            <a:avLst/>
          </a:prstGeom>
          <a:solidFill>
            <a:srgbClr val="0D588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0871835" y="5091793"/>
            <a:ext cx="643890" cy="370114"/>
          </a:xfrm>
          <a:prstGeom prst="rect">
            <a:avLst/>
          </a:prstGeom>
          <a:solidFill>
            <a:srgbClr val="0C4F7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238125" y="5461907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Dental &amp; Oral Hygiene</a:t>
            </a:r>
          </a:p>
        </p:txBody>
      </p:sp>
      <p:sp>
        <p:nvSpPr>
          <p:cNvPr id="97" name="Rectangle 96"/>
          <p:cNvSpPr/>
          <p:nvPr/>
        </p:nvSpPr>
        <p:spPr>
          <a:xfrm>
            <a:off x="1857375" y="5461907"/>
            <a:ext cx="643890" cy="370114"/>
          </a:xfrm>
          <a:prstGeom prst="rect">
            <a:avLst/>
          </a:prstGeom>
          <a:solidFill>
            <a:srgbClr val="E9F5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2501265" y="5461907"/>
            <a:ext cx="643890" cy="370114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3145155" y="5461907"/>
            <a:ext cx="643890" cy="370114"/>
          </a:xfrm>
          <a:prstGeom prst="rect">
            <a:avLst/>
          </a:prstGeom>
          <a:solidFill>
            <a:srgbClr val="FCFE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3789045" y="5461907"/>
            <a:ext cx="643890" cy="370114"/>
          </a:xfrm>
          <a:prstGeom prst="rect">
            <a:avLst/>
          </a:prstGeom>
          <a:solidFill>
            <a:srgbClr val="F2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4432935" y="5461907"/>
            <a:ext cx="643890" cy="370114"/>
          </a:xfrm>
          <a:prstGeom prst="rect">
            <a:avLst/>
          </a:prstGeom>
          <a:solidFill>
            <a:srgbClr val="80B3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5076825" y="5461907"/>
            <a:ext cx="643890" cy="370114"/>
          </a:xfrm>
          <a:prstGeom prst="rect">
            <a:avLst/>
          </a:prstGeom>
          <a:solidFill>
            <a:srgbClr val="94BE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5720715" y="5461907"/>
            <a:ext cx="643890" cy="370114"/>
          </a:xfrm>
          <a:prstGeom prst="rect">
            <a:avLst/>
          </a:prstGeom>
          <a:solidFill>
            <a:srgbClr val="4F98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6364605" y="5461907"/>
            <a:ext cx="643890" cy="370114"/>
          </a:xfrm>
          <a:prstGeom prst="rect">
            <a:avLst/>
          </a:prstGeom>
          <a:solidFill>
            <a:srgbClr val="4D97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7008495" y="5461907"/>
            <a:ext cx="643890" cy="370114"/>
          </a:xfrm>
          <a:prstGeom prst="rect">
            <a:avLst/>
          </a:prstGeom>
          <a:solidFill>
            <a:srgbClr val="8E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7652385" y="5461907"/>
            <a:ext cx="643890" cy="370114"/>
          </a:xfrm>
          <a:prstGeom prst="rect">
            <a:avLst/>
          </a:prstGeom>
          <a:solidFill>
            <a:srgbClr val="83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8296275" y="5461907"/>
            <a:ext cx="643890" cy="370114"/>
          </a:xfrm>
          <a:prstGeom prst="rect">
            <a:avLst/>
          </a:prstGeom>
          <a:solidFill>
            <a:srgbClr val="69A6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8940165" y="5461907"/>
            <a:ext cx="643890" cy="370114"/>
          </a:xfrm>
          <a:prstGeom prst="rect">
            <a:avLst/>
          </a:prstGeom>
          <a:solidFill>
            <a:srgbClr val="4F98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9584055" y="5461907"/>
            <a:ext cx="643890" cy="370114"/>
          </a:xfrm>
          <a:prstGeom prst="rect">
            <a:avLst/>
          </a:prstGeom>
          <a:solidFill>
            <a:srgbClr val="4A96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0227945" y="5461907"/>
            <a:ext cx="643890" cy="370114"/>
          </a:xfrm>
          <a:prstGeom prst="rect">
            <a:avLst/>
          </a:prstGeom>
          <a:solidFill>
            <a:srgbClr val="5A9E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0871835" y="5461907"/>
            <a:ext cx="643890" cy="370114"/>
          </a:xfrm>
          <a:prstGeom prst="rect">
            <a:avLst/>
          </a:prstGeom>
          <a:solidFill>
            <a:srgbClr val="599E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238125" y="5832021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Body &amp; Coat Odor Management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857375" y="5832021"/>
            <a:ext cx="643890" cy="370114"/>
          </a:xfrm>
          <a:prstGeom prst="rect">
            <a:avLst/>
          </a:prstGeom>
          <a:solidFill>
            <a:srgbClr val="A3C6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2501265" y="5832021"/>
            <a:ext cx="643890" cy="370114"/>
          </a:xfrm>
          <a:prstGeom prst="rect">
            <a:avLst/>
          </a:prstGeom>
          <a:solidFill>
            <a:srgbClr val="CFE0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3145155" y="5832021"/>
            <a:ext cx="643890" cy="370114"/>
          </a:xfrm>
          <a:prstGeom prst="rect">
            <a:avLst/>
          </a:prstGeom>
          <a:solidFill>
            <a:srgbClr val="CADD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3789045" y="5832021"/>
            <a:ext cx="643890" cy="370114"/>
          </a:xfrm>
          <a:prstGeom prst="rect">
            <a:avLst/>
          </a:prstGeom>
          <a:solidFill>
            <a:srgbClr val="B7D2E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4432935" y="5832021"/>
            <a:ext cx="643890" cy="370114"/>
          </a:xfrm>
          <a:prstGeom prst="rect">
            <a:avLst/>
          </a:prstGeom>
          <a:solidFill>
            <a:srgbClr val="0E72A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5076825" y="5832021"/>
            <a:ext cx="643890" cy="370114"/>
          </a:xfrm>
          <a:prstGeom prst="rect">
            <a:avLst/>
          </a:prstGeom>
          <a:solidFill>
            <a:srgbClr val="1E7C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5720715" y="5832021"/>
            <a:ext cx="643890" cy="370114"/>
          </a:xfrm>
          <a:prstGeom prst="rect">
            <a:avLst/>
          </a:prstGeom>
          <a:solidFill>
            <a:srgbClr val="0C436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6364605" y="5832021"/>
            <a:ext cx="643890" cy="370114"/>
          </a:xfrm>
          <a:prstGeom prst="rect">
            <a:avLst/>
          </a:prstGeom>
          <a:solidFill>
            <a:srgbClr val="0B355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7008495" y="5832021"/>
            <a:ext cx="643890" cy="370114"/>
          </a:xfrm>
          <a:prstGeom prst="rect">
            <a:avLst/>
          </a:prstGeom>
          <a:solidFill>
            <a:srgbClr val="217E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7652385" y="5832021"/>
            <a:ext cx="643890" cy="370114"/>
          </a:xfrm>
          <a:prstGeom prst="rect">
            <a:avLst/>
          </a:prstGeom>
          <a:solidFill>
            <a:srgbClr val="16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Rectangle 122"/>
          <p:cNvSpPr/>
          <p:nvPr/>
        </p:nvSpPr>
        <p:spPr>
          <a:xfrm>
            <a:off x="8296275" y="5832021"/>
            <a:ext cx="643890" cy="370114"/>
          </a:xfrm>
          <a:prstGeom prst="rect">
            <a:avLst/>
          </a:prstGeom>
          <a:solidFill>
            <a:srgbClr val="0D669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Rectangle 123"/>
          <p:cNvSpPr/>
          <p:nvPr/>
        </p:nvSpPr>
        <p:spPr>
          <a:xfrm>
            <a:off x="8940165" y="5832021"/>
            <a:ext cx="643890" cy="370114"/>
          </a:xfrm>
          <a:prstGeom prst="rect">
            <a:avLst/>
          </a:prstGeom>
          <a:solidFill>
            <a:srgbClr val="0C487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9584055" y="5832021"/>
            <a:ext cx="643890" cy="370114"/>
          </a:xfrm>
          <a:prstGeom prst="rect">
            <a:avLst/>
          </a:prstGeom>
          <a:solidFill>
            <a:srgbClr val="0C4E7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10227945" y="5832021"/>
            <a:ext cx="643890" cy="370114"/>
          </a:xfrm>
          <a:prstGeom prst="rect">
            <a:avLst/>
          </a:prstGeom>
          <a:solidFill>
            <a:srgbClr val="0D578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10871835" y="5832021"/>
            <a:ext cx="643890" cy="370114"/>
          </a:xfrm>
          <a:prstGeom prst="rect">
            <a:avLst/>
          </a:prstGeom>
          <a:solidFill>
            <a:srgbClr val="0D588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238125" y="6202136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Ear &amp; Eye-Area Hygiene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1857375" y="6202136"/>
            <a:ext cx="643890" cy="370114"/>
          </a:xfrm>
          <a:prstGeom prst="rect">
            <a:avLst/>
          </a:prstGeom>
          <a:solidFill>
            <a:srgbClr val="A4C7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2501265" y="6202136"/>
            <a:ext cx="643890" cy="370114"/>
          </a:xfrm>
          <a:prstGeom prst="rect">
            <a:avLst/>
          </a:prstGeom>
          <a:solidFill>
            <a:srgbClr val="D1E2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3145155" y="6202136"/>
            <a:ext cx="643890" cy="370114"/>
          </a:xfrm>
          <a:prstGeom prst="rect">
            <a:avLst/>
          </a:prstGeom>
          <a:solidFill>
            <a:srgbClr val="CEDF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3789045" y="6202136"/>
            <a:ext cx="643890" cy="370114"/>
          </a:xfrm>
          <a:prstGeom prst="rect">
            <a:avLst/>
          </a:prstGeom>
          <a:solidFill>
            <a:srgbClr val="ACCC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4432935" y="6202136"/>
            <a:ext cx="643890" cy="370114"/>
          </a:xfrm>
          <a:prstGeom prst="rect">
            <a:avLst/>
          </a:prstGeom>
          <a:solidFill>
            <a:srgbClr val="0E6AA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5076825" y="6202136"/>
            <a:ext cx="643890" cy="370114"/>
          </a:xfrm>
          <a:prstGeom prst="rect">
            <a:avLst/>
          </a:prstGeom>
          <a:solidFill>
            <a:srgbClr val="16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5720715" y="6202136"/>
            <a:ext cx="643890" cy="370114"/>
          </a:xfrm>
          <a:prstGeom prst="rect">
            <a:avLst/>
          </a:prstGeom>
          <a:solidFill>
            <a:srgbClr val="0C406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6364605" y="6202136"/>
            <a:ext cx="643890" cy="370114"/>
          </a:xfrm>
          <a:prstGeom prst="rect">
            <a:avLst/>
          </a:prstGeom>
          <a:solidFill>
            <a:srgbClr val="0B314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Rectangle 136"/>
          <p:cNvSpPr/>
          <p:nvPr/>
        </p:nvSpPr>
        <p:spPr>
          <a:xfrm>
            <a:off x="7008495" y="6202136"/>
            <a:ext cx="643890" cy="370114"/>
          </a:xfrm>
          <a:prstGeom prst="rect">
            <a:avLst/>
          </a:prstGeom>
          <a:solidFill>
            <a:srgbClr val="16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Rectangle 137"/>
          <p:cNvSpPr/>
          <p:nvPr/>
        </p:nvSpPr>
        <p:spPr>
          <a:xfrm>
            <a:off x="7652385" y="6202136"/>
            <a:ext cx="643890" cy="370114"/>
          </a:xfrm>
          <a:prstGeom prst="rect">
            <a:avLst/>
          </a:prstGeom>
          <a:solidFill>
            <a:srgbClr val="0E6FA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Rectangle 138"/>
          <p:cNvSpPr/>
          <p:nvPr/>
        </p:nvSpPr>
        <p:spPr>
          <a:xfrm>
            <a:off x="8296275" y="6202136"/>
            <a:ext cx="643890" cy="370114"/>
          </a:xfrm>
          <a:prstGeom prst="rect">
            <a:avLst/>
          </a:prstGeom>
          <a:solidFill>
            <a:srgbClr val="0D5D8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Rectangle 139"/>
          <p:cNvSpPr/>
          <p:nvPr/>
        </p:nvSpPr>
        <p:spPr>
          <a:xfrm>
            <a:off x="8940165" y="6202136"/>
            <a:ext cx="643890" cy="370114"/>
          </a:xfrm>
          <a:prstGeom prst="rect">
            <a:avLst/>
          </a:prstGeom>
          <a:solidFill>
            <a:srgbClr val="0B335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Rectangle 140"/>
          <p:cNvSpPr/>
          <p:nvPr/>
        </p:nvSpPr>
        <p:spPr>
          <a:xfrm>
            <a:off x="9584055" y="6202136"/>
            <a:ext cx="643890" cy="370114"/>
          </a:xfrm>
          <a:prstGeom prst="rect">
            <a:avLst/>
          </a:prstGeom>
          <a:solidFill>
            <a:srgbClr val="0C446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Rectangle 141"/>
          <p:cNvSpPr/>
          <p:nvPr/>
        </p:nvSpPr>
        <p:spPr>
          <a:xfrm>
            <a:off x="10227945" y="6202136"/>
            <a:ext cx="643890" cy="370114"/>
          </a:xfrm>
          <a:prstGeom prst="rect">
            <a:avLst/>
          </a:prstGeom>
          <a:solidFill>
            <a:srgbClr val="0C4D7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Rectangle 142"/>
          <p:cNvSpPr/>
          <p:nvPr/>
        </p:nvSpPr>
        <p:spPr>
          <a:xfrm>
            <a:off x="10871835" y="6202136"/>
            <a:ext cx="643890" cy="370114"/>
          </a:xfrm>
          <a:prstGeom prst="rect">
            <a:avLst/>
          </a:prstGeom>
          <a:solidFill>
            <a:srgbClr val="0C3C5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Rectangle 143"/>
          <p:cNvSpPr/>
          <p:nvPr/>
        </p:nvSpPr>
        <p:spPr>
          <a:xfrm>
            <a:off x="11572875" y="4019550"/>
            <a:ext cx="104775" cy="70485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5" name="Rectangle 144"/>
          <p:cNvSpPr/>
          <p:nvPr/>
        </p:nvSpPr>
        <p:spPr>
          <a:xfrm>
            <a:off x="11572875" y="4082415"/>
            <a:ext cx="104775" cy="70485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Rectangle 145"/>
          <p:cNvSpPr/>
          <p:nvPr/>
        </p:nvSpPr>
        <p:spPr>
          <a:xfrm>
            <a:off x="11572875" y="4145280"/>
            <a:ext cx="104775" cy="70485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Rectangle 146"/>
          <p:cNvSpPr/>
          <p:nvPr/>
        </p:nvSpPr>
        <p:spPr>
          <a:xfrm>
            <a:off x="11572875" y="4208145"/>
            <a:ext cx="104775" cy="70485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Rectangle 147"/>
          <p:cNvSpPr/>
          <p:nvPr/>
        </p:nvSpPr>
        <p:spPr>
          <a:xfrm>
            <a:off x="11572875" y="4271010"/>
            <a:ext cx="104775" cy="70485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Rectangle 148"/>
          <p:cNvSpPr/>
          <p:nvPr/>
        </p:nvSpPr>
        <p:spPr>
          <a:xfrm>
            <a:off x="11572875" y="4333875"/>
            <a:ext cx="104775" cy="70485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Rectangle 149"/>
          <p:cNvSpPr/>
          <p:nvPr/>
        </p:nvSpPr>
        <p:spPr>
          <a:xfrm>
            <a:off x="11572875" y="4396740"/>
            <a:ext cx="104775" cy="70485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Rectangle 150"/>
          <p:cNvSpPr/>
          <p:nvPr/>
        </p:nvSpPr>
        <p:spPr>
          <a:xfrm>
            <a:off x="11572875" y="4459605"/>
            <a:ext cx="104775" cy="70485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Rectangle 151"/>
          <p:cNvSpPr/>
          <p:nvPr/>
        </p:nvSpPr>
        <p:spPr>
          <a:xfrm>
            <a:off x="11572875" y="4522470"/>
            <a:ext cx="104775" cy="70485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Rectangle 152"/>
          <p:cNvSpPr/>
          <p:nvPr/>
        </p:nvSpPr>
        <p:spPr>
          <a:xfrm>
            <a:off x="11572875" y="4585335"/>
            <a:ext cx="104775" cy="70485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Rectangle 153"/>
          <p:cNvSpPr/>
          <p:nvPr/>
        </p:nvSpPr>
        <p:spPr>
          <a:xfrm>
            <a:off x="11572875" y="4648200"/>
            <a:ext cx="104775" cy="70485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5" name="Rectangle 154"/>
          <p:cNvSpPr/>
          <p:nvPr/>
        </p:nvSpPr>
        <p:spPr>
          <a:xfrm>
            <a:off x="11572875" y="4711065"/>
            <a:ext cx="104775" cy="70485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Rectangle 155"/>
          <p:cNvSpPr/>
          <p:nvPr/>
        </p:nvSpPr>
        <p:spPr>
          <a:xfrm>
            <a:off x="11572875" y="4773930"/>
            <a:ext cx="104775" cy="70485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Rectangle 156"/>
          <p:cNvSpPr/>
          <p:nvPr/>
        </p:nvSpPr>
        <p:spPr>
          <a:xfrm>
            <a:off x="11572875" y="4836795"/>
            <a:ext cx="104775" cy="70485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Rectangle 157"/>
          <p:cNvSpPr/>
          <p:nvPr/>
        </p:nvSpPr>
        <p:spPr>
          <a:xfrm>
            <a:off x="11572875" y="4899660"/>
            <a:ext cx="104775" cy="70485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Rectangle 158"/>
          <p:cNvSpPr/>
          <p:nvPr/>
        </p:nvSpPr>
        <p:spPr>
          <a:xfrm>
            <a:off x="11572875" y="4962525"/>
            <a:ext cx="104775" cy="70485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Rectangle 159"/>
          <p:cNvSpPr/>
          <p:nvPr/>
        </p:nvSpPr>
        <p:spPr>
          <a:xfrm>
            <a:off x="11572875" y="5025390"/>
            <a:ext cx="104775" cy="70485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1" name="Rectangle 160"/>
          <p:cNvSpPr/>
          <p:nvPr/>
        </p:nvSpPr>
        <p:spPr>
          <a:xfrm>
            <a:off x="11572875" y="5088255"/>
            <a:ext cx="104775" cy="70485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Rectangle 161"/>
          <p:cNvSpPr/>
          <p:nvPr/>
        </p:nvSpPr>
        <p:spPr>
          <a:xfrm>
            <a:off x="11572875" y="5151120"/>
            <a:ext cx="104775" cy="70485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3" name="Rectangle 162"/>
          <p:cNvSpPr/>
          <p:nvPr/>
        </p:nvSpPr>
        <p:spPr>
          <a:xfrm>
            <a:off x="11572875" y="5213985"/>
            <a:ext cx="104775" cy="70485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Rectangle 163"/>
          <p:cNvSpPr/>
          <p:nvPr/>
        </p:nvSpPr>
        <p:spPr>
          <a:xfrm>
            <a:off x="11572875" y="5276850"/>
            <a:ext cx="104775" cy="70485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5" name="Rectangle 164"/>
          <p:cNvSpPr/>
          <p:nvPr/>
        </p:nvSpPr>
        <p:spPr>
          <a:xfrm>
            <a:off x="11572875" y="5339715"/>
            <a:ext cx="104775" cy="70485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Rectangle 165"/>
          <p:cNvSpPr/>
          <p:nvPr/>
        </p:nvSpPr>
        <p:spPr>
          <a:xfrm>
            <a:off x="11572875" y="5402580"/>
            <a:ext cx="104775" cy="70485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7" name="Rectangle 166"/>
          <p:cNvSpPr/>
          <p:nvPr/>
        </p:nvSpPr>
        <p:spPr>
          <a:xfrm>
            <a:off x="11572875" y="5465445"/>
            <a:ext cx="104775" cy="70485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Rectangle 167"/>
          <p:cNvSpPr/>
          <p:nvPr/>
        </p:nvSpPr>
        <p:spPr>
          <a:xfrm>
            <a:off x="11572875" y="5528310"/>
            <a:ext cx="104775" cy="70485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Rectangle 168"/>
          <p:cNvSpPr/>
          <p:nvPr/>
        </p:nvSpPr>
        <p:spPr>
          <a:xfrm>
            <a:off x="11572875" y="5591175"/>
            <a:ext cx="104775" cy="70485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Rectangle 169"/>
          <p:cNvSpPr/>
          <p:nvPr/>
        </p:nvSpPr>
        <p:spPr>
          <a:xfrm>
            <a:off x="11572875" y="5654040"/>
            <a:ext cx="104775" cy="70485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1" name="Rectangle 170"/>
          <p:cNvSpPr/>
          <p:nvPr/>
        </p:nvSpPr>
        <p:spPr>
          <a:xfrm>
            <a:off x="11572875" y="5716905"/>
            <a:ext cx="104775" cy="70485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Rectangle 171"/>
          <p:cNvSpPr/>
          <p:nvPr/>
        </p:nvSpPr>
        <p:spPr>
          <a:xfrm>
            <a:off x="11572875" y="5779770"/>
            <a:ext cx="104775" cy="70485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3" name="Rectangle 172"/>
          <p:cNvSpPr/>
          <p:nvPr/>
        </p:nvSpPr>
        <p:spPr>
          <a:xfrm>
            <a:off x="11572875" y="5842635"/>
            <a:ext cx="104775" cy="70485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Rectangle 173"/>
          <p:cNvSpPr/>
          <p:nvPr/>
        </p:nvSpPr>
        <p:spPr>
          <a:xfrm>
            <a:off x="11572875" y="5905500"/>
            <a:ext cx="104775" cy="70485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5" name="Rectangle 174"/>
          <p:cNvSpPr/>
          <p:nvPr/>
        </p:nvSpPr>
        <p:spPr>
          <a:xfrm>
            <a:off x="11572875" y="5968365"/>
            <a:ext cx="104775" cy="70485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Rectangle 175"/>
          <p:cNvSpPr/>
          <p:nvPr/>
        </p:nvSpPr>
        <p:spPr>
          <a:xfrm>
            <a:off x="11572875" y="6031230"/>
            <a:ext cx="104775" cy="70485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7" name="Rectangle 176"/>
          <p:cNvSpPr/>
          <p:nvPr/>
        </p:nvSpPr>
        <p:spPr>
          <a:xfrm>
            <a:off x="11572875" y="6094095"/>
            <a:ext cx="104775" cy="70485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Rectangle 177"/>
          <p:cNvSpPr/>
          <p:nvPr/>
        </p:nvSpPr>
        <p:spPr>
          <a:xfrm>
            <a:off x="11572875" y="6156960"/>
            <a:ext cx="104775" cy="70485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9" name="Rectangle 178"/>
          <p:cNvSpPr/>
          <p:nvPr/>
        </p:nvSpPr>
        <p:spPr>
          <a:xfrm>
            <a:off x="11572875" y="6219825"/>
            <a:ext cx="104775" cy="70485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Rectangle 179"/>
          <p:cNvSpPr/>
          <p:nvPr/>
        </p:nvSpPr>
        <p:spPr>
          <a:xfrm>
            <a:off x="11572875" y="6282690"/>
            <a:ext cx="104775" cy="70485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1" name="Rectangle 180"/>
          <p:cNvSpPr/>
          <p:nvPr/>
        </p:nvSpPr>
        <p:spPr>
          <a:xfrm>
            <a:off x="11572875" y="6345555"/>
            <a:ext cx="104775" cy="70485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Rectangle 181"/>
          <p:cNvSpPr/>
          <p:nvPr/>
        </p:nvSpPr>
        <p:spPr>
          <a:xfrm>
            <a:off x="11572875" y="6408420"/>
            <a:ext cx="104775" cy="70485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3" name="Rectangle 182"/>
          <p:cNvSpPr/>
          <p:nvPr/>
        </p:nvSpPr>
        <p:spPr>
          <a:xfrm>
            <a:off x="11572875" y="6471285"/>
            <a:ext cx="104775" cy="70485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Rectangle 183"/>
          <p:cNvSpPr/>
          <p:nvPr/>
        </p:nvSpPr>
        <p:spPr>
          <a:xfrm>
            <a:off x="11572875" y="4019550"/>
            <a:ext cx="104775" cy="2514600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5" name="TextBox 184"/>
          <p:cNvSpPr txBox="1"/>
          <p:nvPr/>
        </p:nvSpPr>
        <p:spPr>
          <a:xfrm>
            <a:off x="11687175" y="39528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186" name="TextBox 185"/>
          <p:cNvSpPr txBox="1"/>
          <p:nvPr/>
        </p:nvSpPr>
        <p:spPr>
          <a:xfrm>
            <a:off x="11687175" y="52101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187" name="TextBox 186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4%</a:t>
            </a:r>
          </a:p>
        </p:txBody>
      </p:sp>
      <p:sp>
        <p:nvSpPr>
          <p:cNvPr id="188" name="TextBox 18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89" name="Picture 18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33556" y="2080450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9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Europe Market Value, By Primary Product Function / Benefit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Primary Product Function / Benefit,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438400"/>
          </a:xfrm>
          <a:prstGeom prst="roundRect">
            <a:avLst>
              <a:gd name="adj" fmla="val 31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YoY Growth, By Primary Product Function / Benefit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6" cy="19716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448486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Primary Product Function / Benefit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Cleansing &amp; General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Moisturizing &amp; Skin Barrier 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 Soothing &amp; Comfort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Softening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Body &amp; Coat Odor Management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Eye-Area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2194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552825"/>
            <a:ext cx="11906250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60997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YoY Heatmap, By Primary Product Function / Benefit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981450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Cleansing &amp; General Hygiene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981450"/>
            <a:ext cx="643890" cy="370114"/>
          </a:xfrm>
          <a:prstGeom prst="rect">
            <a:avLst/>
          </a:prstGeom>
          <a:solidFill>
            <a:srgbClr val="C6DAE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3981450"/>
            <a:ext cx="643890" cy="370114"/>
          </a:xfrm>
          <a:prstGeom prst="rect">
            <a:avLst/>
          </a:prstGeom>
          <a:solidFill>
            <a:srgbClr val="DDEC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3981450"/>
            <a:ext cx="643890" cy="370114"/>
          </a:xfrm>
          <a:prstGeom prst="rect">
            <a:avLst/>
          </a:prstGeom>
          <a:solidFill>
            <a:srgbClr val="DF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3981450"/>
            <a:ext cx="643890" cy="370114"/>
          </a:xfrm>
          <a:prstGeom prst="rect">
            <a:avLst/>
          </a:prstGeom>
          <a:solidFill>
            <a:srgbClr val="D2E3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3981450"/>
            <a:ext cx="643890" cy="370114"/>
          </a:xfrm>
          <a:prstGeom prst="rect">
            <a:avLst/>
          </a:prstGeom>
          <a:solidFill>
            <a:srgbClr val="16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3981450"/>
            <a:ext cx="643890" cy="370114"/>
          </a:xfrm>
          <a:prstGeom prst="rect">
            <a:avLst/>
          </a:prstGeom>
          <a:solidFill>
            <a:srgbClr val="3489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3981450"/>
            <a:ext cx="643890" cy="370114"/>
          </a:xfrm>
          <a:prstGeom prst="rect">
            <a:avLst/>
          </a:prstGeom>
          <a:solidFill>
            <a:srgbClr val="0D5C8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3981450"/>
            <a:ext cx="643890" cy="370114"/>
          </a:xfrm>
          <a:prstGeom prst="rect">
            <a:avLst/>
          </a:prstGeom>
          <a:solidFill>
            <a:srgbClr val="0C4C7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3981450"/>
            <a:ext cx="643890" cy="370114"/>
          </a:xfrm>
          <a:prstGeom prst="rect">
            <a:avLst/>
          </a:prstGeom>
          <a:solidFill>
            <a:srgbClr val="2E85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3981450"/>
            <a:ext cx="643890" cy="370114"/>
          </a:xfrm>
          <a:prstGeom prst="rect">
            <a:avLst/>
          </a:prstGeom>
          <a:solidFill>
            <a:srgbClr val="17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3981450"/>
            <a:ext cx="643890" cy="370114"/>
          </a:xfrm>
          <a:prstGeom prst="rect">
            <a:avLst/>
          </a:prstGeom>
          <a:solidFill>
            <a:srgbClr val="10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3981450"/>
            <a:ext cx="643890" cy="370114"/>
          </a:xfrm>
          <a:prstGeom prst="rect">
            <a:avLst/>
          </a:prstGeom>
          <a:solidFill>
            <a:srgbClr val="0D5D8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3981450"/>
            <a:ext cx="643890" cy="370114"/>
          </a:xfrm>
          <a:prstGeom prst="rect">
            <a:avLst/>
          </a:prstGeom>
          <a:solidFill>
            <a:srgbClr val="0D548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3981450"/>
            <a:ext cx="643890" cy="370114"/>
          </a:xfrm>
          <a:prstGeom prst="rect">
            <a:avLst/>
          </a:prstGeom>
          <a:solidFill>
            <a:srgbClr val="0D5B8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3981450"/>
            <a:ext cx="643890" cy="370114"/>
          </a:xfrm>
          <a:prstGeom prst="rect">
            <a:avLst/>
          </a:prstGeom>
          <a:solidFill>
            <a:srgbClr val="0D5B8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351564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Moisturizing &amp; Skin Barrier Care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351564"/>
            <a:ext cx="643890" cy="370114"/>
          </a:xfrm>
          <a:prstGeom prst="rect">
            <a:avLst/>
          </a:prstGeom>
          <a:solidFill>
            <a:srgbClr val="CFE0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351564"/>
            <a:ext cx="643890" cy="370114"/>
          </a:xfrm>
          <a:prstGeom prst="rect">
            <a:avLst/>
          </a:prstGeom>
          <a:solidFill>
            <a:srgbClr val="EC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351564"/>
            <a:ext cx="643890" cy="370114"/>
          </a:xfrm>
          <a:prstGeom prst="rect">
            <a:avLst/>
          </a:prstGeom>
          <a:solidFill>
            <a:srgbClr val="E7F4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351564"/>
            <a:ext cx="643890" cy="370114"/>
          </a:xfrm>
          <a:prstGeom prst="rect">
            <a:avLst/>
          </a:prstGeom>
          <a:solidFill>
            <a:srgbClr val="D8E8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351564"/>
            <a:ext cx="643890" cy="370114"/>
          </a:xfrm>
          <a:prstGeom prst="rect">
            <a:avLst/>
          </a:prstGeom>
          <a:solidFill>
            <a:srgbClr val="368AC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351564"/>
            <a:ext cx="643890" cy="370114"/>
          </a:xfrm>
          <a:prstGeom prst="rect">
            <a:avLst/>
          </a:prstGeom>
          <a:solidFill>
            <a:srgbClr val="3C8EC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351564"/>
            <a:ext cx="643890" cy="370114"/>
          </a:xfrm>
          <a:prstGeom prst="rect">
            <a:avLst/>
          </a:prstGeom>
          <a:solidFill>
            <a:srgbClr val="16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351564"/>
            <a:ext cx="643890" cy="370114"/>
          </a:xfrm>
          <a:prstGeom prst="rect">
            <a:avLst/>
          </a:prstGeom>
          <a:solidFill>
            <a:srgbClr val="0E69A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351564"/>
            <a:ext cx="643890" cy="370114"/>
          </a:xfrm>
          <a:prstGeom prst="rect">
            <a:avLst/>
          </a:prstGeom>
          <a:solidFill>
            <a:srgbClr val="4492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351564"/>
            <a:ext cx="643890" cy="370114"/>
          </a:xfrm>
          <a:prstGeom prst="rect">
            <a:avLst/>
          </a:prstGeom>
          <a:solidFill>
            <a:srgbClr val="3389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351564"/>
            <a:ext cx="643890" cy="370114"/>
          </a:xfrm>
          <a:prstGeom prst="rect">
            <a:avLst/>
          </a:prstGeom>
          <a:solidFill>
            <a:srgbClr val="2C84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351564"/>
            <a:ext cx="643890" cy="370114"/>
          </a:xfrm>
          <a:prstGeom prst="rect">
            <a:avLst/>
          </a:prstGeom>
          <a:solidFill>
            <a:srgbClr val="0F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351564"/>
            <a:ext cx="643890" cy="370114"/>
          </a:xfrm>
          <a:prstGeom prst="rect">
            <a:avLst/>
          </a:prstGeom>
          <a:solidFill>
            <a:srgbClr val="207D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351564"/>
            <a:ext cx="643890" cy="370114"/>
          </a:xfrm>
          <a:prstGeom prst="rect">
            <a:avLst/>
          </a:prstGeom>
          <a:solidFill>
            <a:srgbClr val="1F7C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351564"/>
            <a:ext cx="643890" cy="370114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4721679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Skin Soothing &amp; Comfort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4721679"/>
            <a:ext cx="643890" cy="370114"/>
          </a:xfrm>
          <a:prstGeom prst="rect">
            <a:avLst/>
          </a:prstGeom>
          <a:solidFill>
            <a:srgbClr val="B4D0E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4721679"/>
            <a:ext cx="643890" cy="370114"/>
          </a:xfrm>
          <a:prstGeom prst="rect">
            <a:avLst/>
          </a:prstGeom>
          <a:solidFill>
            <a:srgbClr val="D6E6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4721679"/>
            <a:ext cx="643890" cy="370114"/>
          </a:xfrm>
          <a:prstGeom prst="rect">
            <a:avLst/>
          </a:prstGeom>
          <a:solidFill>
            <a:srgbClr val="D5E5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4721679"/>
            <a:ext cx="643890" cy="370114"/>
          </a:xfrm>
          <a:prstGeom prst="rect">
            <a:avLst/>
          </a:prstGeom>
          <a:solidFill>
            <a:srgbClr val="C9DC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4721679"/>
            <a:ext cx="643890" cy="370114"/>
          </a:xfrm>
          <a:prstGeom prst="rect">
            <a:avLst/>
          </a:prstGeom>
          <a:solidFill>
            <a:srgbClr val="1174B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4721679"/>
            <a:ext cx="643890" cy="370114"/>
          </a:xfrm>
          <a:prstGeom prst="rect">
            <a:avLst/>
          </a:prstGeom>
          <a:solidFill>
            <a:srgbClr val="1D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4721679"/>
            <a:ext cx="643890" cy="370114"/>
          </a:xfrm>
          <a:prstGeom prst="rect">
            <a:avLst/>
          </a:prstGeom>
          <a:solidFill>
            <a:srgbClr val="0C476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4721679"/>
            <a:ext cx="643890" cy="370114"/>
          </a:xfrm>
          <a:prstGeom prst="rect">
            <a:avLst/>
          </a:prstGeom>
          <a:solidFill>
            <a:srgbClr val="0B355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4721679"/>
            <a:ext cx="643890" cy="370114"/>
          </a:xfrm>
          <a:prstGeom prst="rect">
            <a:avLst/>
          </a:prstGeom>
          <a:solidFill>
            <a:srgbClr val="28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4721679"/>
            <a:ext cx="643890" cy="370114"/>
          </a:xfrm>
          <a:prstGeom prst="rect">
            <a:avLst/>
          </a:prstGeom>
          <a:solidFill>
            <a:srgbClr val="0E6FA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4721679"/>
            <a:ext cx="643890" cy="370114"/>
          </a:xfrm>
          <a:prstGeom prst="rect">
            <a:avLst/>
          </a:prstGeom>
          <a:solidFill>
            <a:srgbClr val="0E689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4721679"/>
            <a:ext cx="643890" cy="370114"/>
          </a:xfrm>
          <a:prstGeom prst="rect">
            <a:avLst/>
          </a:prstGeom>
          <a:solidFill>
            <a:srgbClr val="0C507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4721679"/>
            <a:ext cx="643890" cy="370114"/>
          </a:xfrm>
          <a:prstGeom prst="rect">
            <a:avLst/>
          </a:prstGeom>
          <a:solidFill>
            <a:srgbClr val="0D538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4721679"/>
            <a:ext cx="643890" cy="370114"/>
          </a:xfrm>
          <a:prstGeom prst="rect">
            <a:avLst/>
          </a:prstGeom>
          <a:solidFill>
            <a:srgbClr val="0C4C7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4721679"/>
            <a:ext cx="643890" cy="370114"/>
          </a:xfrm>
          <a:prstGeom prst="rect">
            <a:avLst/>
          </a:prstGeom>
          <a:solidFill>
            <a:srgbClr val="0C4D7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238125" y="5091793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Coat Conditioning &amp; Softening</a:t>
            </a:r>
          </a:p>
        </p:txBody>
      </p:sp>
      <p:sp>
        <p:nvSpPr>
          <p:cNvPr id="81" name="Rectangle 80"/>
          <p:cNvSpPr/>
          <p:nvPr/>
        </p:nvSpPr>
        <p:spPr>
          <a:xfrm>
            <a:off x="1857375" y="5091793"/>
            <a:ext cx="643890" cy="370114"/>
          </a:xfrm>
          <a:prstGeom prst="rect">
            <a:avLst/>
          </a:prstGeom>
          <a:solidFill>
            <a:srgbClr val="A7C9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2501265" y="5091793"/>
            <a:ext cx="643890" cy="370114"/>
          </a:xfrm>
          <a:prstGeom prst="rect">
            <a:avLst/>
          </a:prstGeom>
          <a:solidFill>
            <a:srgbClr val="D3E4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3145155" y="5091793"/>
            <a:ext cx="643890" cy="370114"/>
          </a:xfrm>
          <a:prstGeom prst="rect">
            <a:avLst/>
          </a:prstGeom>
          <a:solidFill>
            <a:srgbClr val="D2E3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3789045" y="5091793"/>
            <a:ext cx="643890" cy="370114"/>
          </a:xfrm>
          <a:prstGeom prst="rect">
            <a:avLst/>
          </a:prstGeom>
          <a:solidFill>
            <a:srgbClr val="BBD4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4432935" y="5091793"/>
            <a:ext cx="643890" cy="370114"/>
          </a:xfrm>
          <a:prstGeom prst="rect">
            <a:avLst/>
          </a:prstGeom>
          <a:solidFill>
            <a:srgbClr val="0E69A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5076825" y="5091793"/>
            <a:ext cx="643890" cy="370114"/>
          </a:xfrm>
          <a:prstGeom prst="rect">
            <a:avLst/>
          </a:prstGeom>
          <a:solidFill>
            <a:srgbClr val="1878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5720715" y="5091793"/>
            <a:ext cx="643890" cy="370114"/>
          </a:xfrm>
          <a:prstGeom prst="rect">
            <a:avLst/>
          </a:prstGeom>
          <a:solidFill>
            <a:srgbClr val="0C456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6364605" y="5091793"/>
            <a:ext cx="643890" cy="370114"/>
          </a:xfrm>
          <a:prstGeom prst="rect">
            <a:avLst/>
          </a:prstGeom>
          <a:solidFill>
            <a:srgbClr val="0B2F4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7008495" y="5091793"/>
            <a:ext cx="643890" cy="370114"/>
          </a:xfrm>
          <a:prstGeom prst="rect">
            <a:avLst/>
          </a:prstGeom>
          <a:solidFill>
            <a:srgbClr val="227E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7652385" y="5091793"/>
            <a:ext cx="643890" cy="370114"/>
          </a:xfrm>
          <a:prstGeom prst="rect">
            <a:avLst/>
          </a:prstGeom>
          <a:solidFill>
            <a:srgbClr val="10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8296275" y="5091793"/>
            <a:ext cx="643890" cy="370114"/>
          </a:xfrm>
          <a:prstGeom prst="rect">
            <a:avLst/>
          </a:prstGeom>
          <a:solidFill>
            <a:srgbClr val="0E71A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8940165" y="5091793"/>
            <a:ext cx="643890" cy="370114"/>
          </a:xfrm>
          <a:prstGeom prst="rect">
            <a:avLst/>
          </a:prstGeom>
          <a:solidFill>
            <a:srgbClr val="0C4A7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9584055" y="5091793"/>
            <a:ext cx="643890" cy="370114"/>
          </a:xfrm>
          <a:prstGeom prst="rect">
            <a:avLst/>
          </a:prstGeom>
          <a:solidFill>
            <a:srgbClr val="0D659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0227945" y="5091793"/>
            <a:ext cx="643890" cy="370114"/>
          </a:xfrm>
          <a:prstGeom prst="rect">
            <a:avLst/>
          </a:prstGeom>
          <a:solidFill>
            <a:srgbClr val="0D5E9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0871835" y="5091793"/>
            <a:ext cx="643890" cy="370114"/>
          </a:xfrm>
          <a:prstGeom prst="rect">
            <a:avLst/>
          </a:prstGeom>
          <a:solidFill>
            <a:srgbClr val="0D5A8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238125" y="5461907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Dental &amp; Oral Hygiene</a:t>
            </a:r>
          </a:p>
        </p:txBody>
      </p:sp>
      <p:sp>
        <p:nvSpPr>
          <p:cNvPr id="97" name="Rectangle 96"/>
          <p:cNvSpPr/>
          <p:nvPr/>
        </p:nvSpPr>
        <p:spPr>
          <a:xfrm>
            <a:off x="1857375" y="5461907"/>
            <a:ext cx="643890" cy="370114"/>
          </a:xfrm>
          <a:prstGeom prst="rect">
            <a:avLst/>
          </a:prstGeom>
          <a:solidFill>
            <a:srgbClr val="EB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2501265" y="5461907"/>
            <a:ext cx="643890" cy="370114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3145155" y="5461907"/>
            <a:ext cx="643890" cy="370114"/>
          </a:xfrm>
          <a:prstGeom prst="rect">
            <a:avLst/>
          </a:prstGeom>
          <a:solidFill>
            <a:srgbClr val="FE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3789045" y="5461907"/>
            <a:ext cx="643890" cy="370114"/>
          </a:xfrm>
          <a:prstGeom prst="rect">
            <a:avLst/>
          </a:prstGeom>
          <a:solidFill>
            <a:srgbClr val="F5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4432935" y="5461907"/>
            <a:ext cx="643890" cy="370114"/>
          </a:xfrm>
          <a:prstGeom prst="rect">
            <a:avLst/>
          </a:prstGeom>
          <a:solidFill>
            <a:srgbClr val="78AF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5076825" y="5461907"/>
            <a:ext cx="643890" cy="370114"/>
          </a:xfrm>
          <a:prstGeom prst="rect">
            <a:avLst/>
          </a:prstGeom>
          <a:solidFill>
            <a:srgbClr val="95BE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5720715" y="5461907"/>
            <a:ext cx="643890" cy="370114"/>
          </a:xfrm>
          <a:prstGeom prst="rect">
            <a:avLst/>
          </a:prstGeom>
          <a:solidFill>
            <a:srgbClr val="4B96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6364605" y="5461907"/>
            <a:ext cx="643890" cy="370114"/>
          </a:xfrm>
          <a:prstGeom prst="rect">
            <a:avLst/>
          </a:prstGeom>
          <a:solidFill>
            <a:srgbClr val="4894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7008495" y="5461907"/>
            <a:ext cx="643890" cy="370114"/>
          </a:xfrm>
          <a:prstGeom prst="rect">
            <a:avLst/>
          </a:prstGeom>
          <a:solidFill>
            <a:srgbClr val="91BC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7652385" y="5461907"/>
            <a:ext cx="643890" cy="370114"/>
          </a:xfrm>
          <a:prstGeom prst="rect">
            <a:avLst/>
          </a:prstGeom>
          <a:solidFill>
            <a:srgbClr val="82B4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8296275" y="5461907"/>
            <a:ext cx="643890" cy="370114"/>
          </a:xfrm>
          <a:prstGeom prst="rect">
            <a:avLst/>
          </a:prstGeom>
          <a:solidFill>
            <a:srgbClr val="69A6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8940165" y="5461907"/>
            <a:ext cx="643890" cy="370114"/>
          </a:xfrm>
          <a:prstGeom prst="rect">
            <a:avLst/>
          </a:prstGeom>
          <a:solidFill>
            <a:srgbClr val="529A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9584055" y="5461907"/>
            <a:ext cx="643890" cy="370114"/>
          </a:xfrm>
          <a:prstGeom prst="rect">
            <a:avLst/>
          </a:prstGeom>
          <a:solidFill>
            <a:srgbClr val="4B96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0227945" y="5461907"/>
            <a:ext cx="643890" cy="370114"/>
          </a:xfrm>
          <a:prstGeom prst="rect">
            <a:avLst/>
          </a:prstGeom>
          <a:solidFill>
            <a:srgbClr val="5A9E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0871835" y="5461907"/>
            <a:ext cx="643890" cy="370114"/>
          </a:xfrm>
          <a:prstGeom prst="rect">
            <a:avLst/>
          </a:prstGeom>
          <a:solidFill>
            <a:srgbClr val="5EA1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238125" y="5832021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Body &amp; Coat Odor Management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857375" y="5832021"/>
            <a:ext cx="643890" cy="370114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2501265" y="5832021"/>
            <a:ext cx="643890" cy="370114"/>
          </a:xfrm>
          <a:prstGeom prst="rect">
            <a:avLst/>
          </a:prstGeom>
          <a:solidFill>
            <a:srgbClr val="CEE0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3145155" y="5832021"/>
            <a:ext cx="643890" cy="370114"/>
          </a:xfrm>
          <a:prstGeom prst="rect">
            <a:avLst/>
          </a:prstGeom>
          <a:solidFill>
            <a:srgbClr val="CEDF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3789045" y="5832021"/>
            <a:ext cx="643890" cy="370114"/>
          </a:xfrm>
          <a:prstGeom prst="rect">
            <a:avLst/>
          </a:prstGeom>
          <a:solidFill>
            <a:srgbClr val="BFD6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4432935" y="5832021"/>
            <a:ext cx="643890" cy="370114"/>
          </a:xfrm>
          <a:prstGeom prst="rect">
            <a:avLst/>
          </a:prstGeom>
          <a:solidFill>
            <a:srgbClr val="0E6DA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5076825" y="5832021"/>
            <a:ext cx="643890" cy="370114"/>
          </a:xfrm>
          <a:prstGeom prst="rect">
            <a:avLst/>
          </a:prstGeom>
          <a:solidFill>
            <a:srgbClr val="217E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5720715" y="5832021"/>
            <a:ext cx="643890" cy="370114"/>
          </a:xfrm>
          <a:prstGeom prst="rect">
            <a:avLst/>
          </a:prstGeom>
          <a:solidFill>
            <a:srgbClr val="0C416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6364605" y="5832021"/>
            <a:ext cx="643890" cy="370114"/>
          </a:xfrm>
          <a:prstGeom prst="rect">
            <a:avLst/>
          </a:prstGeom>
          <a:solidFill>
            <a:srgbClr val="0B365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7008495" y="5832021"/>
            <a:ext cx="643890" cy="370114"/>
          </a:xfrm>
          <a:prstGeom prst="rect">
            <a:avLst/>
          </a:prstGeom>
          <a:solidFill>
            <a:srgbClr val="227E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7652385" y="5832021"/>
            <a:ext cx="643890" cy="370114"/>
          </a:xfrm>
          <a:prstGeom prst="rect">
            <a:avLst/>
          </a:prstGeom>
          <a:solidFill>
            <a:srgbClr val="15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Rectangle 122"/>
          <p:cNvSpPr/>
          <p:nvPr/>
        </p:nvSpPr>
        <p:spPr>
          <a:xfrm>
            <a:off x="8296275" y="5832021"/>
            <a:ext cx="643890" cy="370114"/>
          </a:xfrm>
          <a:prstGeom prst="rect">
            <a:avLst/>
          </a:prstGeom>
          <a:solidFill>
            <a:srgbClr val="0E68A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Rectangle 123"/>
          <p:cNvSpPr/>
          <p:nvPr/>
        </p:nvSpPr>
        <p:spPr>
          <a:xfrm>
            <a:off x="8940165" y="5832021"/>
            <a:ext cx="643890" cy="370114"/>
          </a:xfrm>
          <a:prstGeom prst="rect">
            <a:avLst/>
          </a:prstGeom>
          <a:solidFill>
            <a:srgbClr val="0C4E7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9584055" y="5832021"/>
            <a:ext cx="643890" cy="370114"/>
          </a:xfrm>
          <a:prstGeom prst="rect">
            <a:avLst/>
          </a:prstGeom>
          <a:solidFill>
            <a:srgbClr val="0C4F7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10227945" y="5832021"/>
            <a:ext cx="643890" cy="370114"/>
          </a:xfrm>
          <a:prstGeom prst="rect">
            <a:avLst/>
          </a:prstGeom>
          <a:solidFill>
            <a:srgbClr val="0D578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10871835" y="5832021"/>
            <a:ext cx="643890" cy="370114"/>
          </a:xfrm>
          <a:prstGeom prst="rect">
            <a:avLst/>
          </a:prstGeom>
          <a:solidFill>
            <a:srgbClr val="0D5F9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238125" y="6202136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Ear &amp; Eye-Area Hygiene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1857375" y="6202136"/>
            <a:ext cx="643890" cy="370114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2501265" y="6202136"/>
            <a:ext cx="643890" cy="370114"/>
          </a:xfrm>
          <a:prstGeom prst="rect">
            <a:avLst/>
          </a:prstGeom>
          <a:solidFill>
            <a:srgbClr val="D2E3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3145155" y="6202136"/>
            <a:ext cx="643890" cy="370114"/>
          </a:xfrm>
          <a:prstGeom prst="rect">
            <a:avLst/>
          </a:prstGeom>
          <a:solidFill>
            <a:srgbClr val="D1E2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3789045" y="6202136"/>
            <a:ext cx="643890" cy="370114"/>
          </a:xfrm>
          <a:prstGeom prst="rect">
            <a:avLst/>
          </a:prstGeom>
          <a:solidFill>
            <a:srgbClr val="B6D1E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4432935" y="6202136"/>
            <a:ext cx="643890" cy="370114"/>
          </a:xfrm>
          <a:prstGeom prst="rect">
            <a:avLst/>
          </a:prstGeom>
          <a:solidFill>
            <a:srgbClr val="0D639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5076825" y="6202136"/>
            <a:ext cx="643890" cy="370114"/>
          </a:xfrm>
          <a:prstGeom prst="rect">
            <a:avLst/>
          </a:prstGeom>
          <a:solidFill>
            <a:srgbClr val="1778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5720715" y="6202136"/>
            <a:ext cx="643890" cy="370114"/>
          </a:xfrm>
          <a:prstGeom prst="rect">
            <a:avLst/>
          </a:prstGeom>
          <a:solidFill>
            <a:srgbClr val="0C3D5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6364605" y="6202136"/>
            <a:ext cx="643890" cy="370114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Rectangle 136"/>
          <p:cNvSpPr/>
          <p:nvPr/>
        </p:nvSpPr>
        <p:spPr>
          <a:xfrm>
            <a:off x="7008495" y="6202136"/>
            <a:ext cx="643890" cy="370114"/>
          </a:xfrm>
          <a:prstGeom prst="rect">
            <a:avLst/>
          </a:prstGeom>
          <a:solidFill>
            <a:srgbClr val="1A79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Rectangle 137"/>
          <p:cNvSpPr/>
          <p:nvPr/>
        </p:nvSpPr>
        <p:spPr>
          <a:xfrm>
            <a:off x="7652385" y="6202136"/>
            <a:ext cx="643890" cy="370114"/>
          </a:xfrm>
          <a:prstGeom prst="rect">
            <a:avLst/>
          </a:prstGeom>
          <a:solidFill>
            <a:srgbClr val="0E70A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Rectangle 138"/>
          <p:cNvSpPr/>
          <p:nvPr/>
        </p:nvSpPr>
        <p:spPr>
          <a:xfrm>
            <a:off x="8296275" y="6202136"/>
            <a:ext cx="643890" cy="370114"/>
          </a:xfrm>
          <a:prstGeom prst="rect">
            <a:avLst/>
          </a:prstGeom>
          <a:solidFill>
            <a:srgbClr val="0D609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Rectangle 139"/>
          <p:cNvSpPr/>
          <p:nvPr/>
        </p:nvSpPr>
        <p:spPr>
          <a:xfrm>
            <a:off x="8940165" y="6202136"/>
            <a:ext cx="643890" cy="370114"/>
          </a:xfrm>
          <a:prstGeom prst="rect">
            <a:avLst/>
          </a:prstGeom>
          <a:solidFill>
            <a:srgbClr val="0C3A5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Rectangle 140"/>
          <p:cNvSpPr/>
          <p:nvPr/>
        </p:nvSpPr>
        <p:spPr>
          <a:xfrm>
            <a:off x="9584055" y="6202136"/>
            <a:ext cx="643890" cy="370114"/>
          </a:xfrm>
          <a:prstGeom prst="rect">
            <a:avLst/>
          </a:prstGeom>
          <a:solidFill>
            <a:srgbClr val="0C487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Rectangle 141"/>
          <p:cNvSpPr/>
          <p:nvPr/>
        </p:nvSpPr>
        <p:spPr>
          <a:xfrm>
            <a:off x="10227945" y="6202136"/>
            <a:ext cx="643890" cy="370114"/>
          </a:xfrm>
          <a:prstGeom prst="rect">
            <a:avLst/>
          </a:prstGeom>
          <a:solidFill>
            <a:srgbClr val="0C507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Rectangle 142"/>
          <p:cNvSpPr/>
          <p:nvPr/>
        </p:nvSpPr>
        <p:spPr>
          <a:xfrm>
            <a:off x="10871835" y="6202136"/>
            <a:ext cx="643890" cy="370114"/>
          </a:xfrm>
          <a:prstGeom prst="rect">
            <a:avLst/>
          </a:prstGeom>
          <a:solidFill>
            <a:srgbClr val="0C487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Rectangle 143"/>
          <p:cNvSpPr/>
          <p:nvPr/>
        </p:nvSpPr>
        <p:spPr>
          <a:xfrm>
            <a:off x="11572875" y="4019550"/>
            <a:ext cx="104775" cy="70485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5" name="Rectangle 144"/>
          <p:cNvSpPr/>
          <p:nvPr/>
        </p:nvSpPr>
        <p:spPr>
          <a:xfrm>
            <a:off x="11572875" y="4082415"/>
            <a:ext cx="104775" cy="70485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Rectangle 145"/>
          <p:cNvSpPr/>
          <p:nvPr/>
        </p:nvSpPr>
        <p:spPr>
          <a:xfrm>
            <a:off x="11572875" y="4145280"/>
            <a:ext cx="104775" cy="70485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Rectangle 146"/>
          <p:cNvSpPr/>
          <p:nvPr/>
        </p:nvSpPr>
        <p:spPr>
          <a:xfrm>
            <a:off x="11572875" y="4208145"/>
            <a:ext cx="104775" cy="70485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Rectangle 147"/>
          <p:cNvSpPr/>
          <p:nvPr/>
        </p:nvSpPr>
        <p:spPr>
          <a:xfrm>
            <a:off x="11572875" y="4271010"/>
            <a:ext cx="104775" cy="70485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Rectangle 148"/>
          <p:cNvSpPr/>
          <p:nvPr/>
        </p:nvSpPr>
        <p:spPr>
          <a:xfrm>
            <a:off x="11572875" y="4333875"/>
            <a:ext cx="104775" cy="70485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Rectangle 149"/>
          <p:cNvSpPr/>
          <p:nvPr/>
        </p:nvSpPr>
        <p:spPr>
          <a:xfrm>
            <a:off x="11572875" y="4396740"/>
            <a:ext cx="104775" cy="70485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Rectangle 150"/>
          <p:cNvSpPr/>
          <p:nvPr/>
        </p:nvSpPr>
        <p:spPr>
          <a:xfrm>
            <a:off x="11572875" y="4459605"/>
            <a:ext cx="104775" cy="70485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Rectangle 151"/>
          <p:cNvSpPr/>
          <p:nvPr/>
        </p:nvSpPr>
        <p:spPr>
          <a:xfrm>
            <a:off x="11572875" y="4522470"/>
            <a:ext cx="104775" cy="70485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Rectangle 152"/>
          <p:cNvSpPr/>
          <p:nvPr/>
        </p:nvSpPr>
        <p:spPr>
          <a:xfrm>
            <a:off x="11572875" y="4585335"/>
            <a:ext cx="104775" cy="70485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Rectangle 153"/>
          <p:cNvSpPr/>
          <p:nvPr/>
        </p:nvSpPr>
        <p:spPr>
          <a:xfrm>
            <a:off x="11572875" y="4648200"/>
            <a:ext cx="104775" cy="70485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5" name="Rectangle 154"/>
          <p:cNvSpPr/>
          <p:nvPr/>
        </p:nvSpPr>
        <p:spPr>
          <a:xfrm>
            <a:off x="11572875" y="4711065"/>
            <a:ext cx="104775" cy="70485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Rectangle 155"/>
          <p:cNvSpPr/>
          <p:nvPr/>
        </p:nvSpPr>
        <p:spPr>
          <a:xfrm>
            <a:off x="11572875" y="4773930"/>
            <a:ext cx="104775" cy="70485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Rectangle 156"/>
          <p:cNvSpPr/>
          <p:nvPr/>
        </p:nvSpPr>
        <p:spPr>
          <a:xfrm>
            <a:off x="11572875" y="4836795"/>
            <a:ext cx="104775" cy="70485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Rectangle 157"/>
          <p:cNvSpPr/>
          <p:nvPr/>
        </p:nvSpPr>
        <p:spPr>
          <a:xfrm>
            <a:off x="11572875" y="4899660"/>
            <a:ext cx="104775" cy="70485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Rectangle 158"/>
          <p:cNvSpPr/>
          <p:nvPr/>
        </p:nvSpPr>
        <p:spPr>
          <a:xfrm>
            <a:off x="11572875" y="4962525"/>
            <a:ext cx="104775" cy="70485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Rectangle 159"/>
          <p:cNvSpPr/>
          <p:nvPr/>
        </p:nvSpPr>
        <p:spPr>
          <a:xfrm>
            <a:off x="11572875" y="5025390"/>
            <a:ext cx="104775" cy="70485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1" name="Rectangle 160"/>
          <p:cNvSpPr/>
          <p:nvPr/>
        </p:nvSpPr>
        <p:spPr>
          <a:xfrm>
            <a:off x="11572875" y="5088255"/>
            <a:ext cx="104775" cy="70485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Rectangle 161"/>
          <p:cNvSpPr/>
          <p:nvPr/>
        </p:nvSpPr>
        <p:spPr>
          <a:xfrm>
            <a:off x="11572875" y="5151120"/>
            <a:ext cx="104775" cy="70485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3" name="Rectangle 162"/>
          <p:cNvSpPr/>
          <p:nvPr/>
        </p:nvSpPr>
        <p:spPr>
          <a:xfrm>
            <a:off x="11572875" y="5213985"/>
            <a:ext cx="104775" cy="70485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Rectangle 163"/>
          <p:cNvSpPr/>
          <p:nvPr/>
        </p:nvSpPr>
        <p:spPr>
          <a:xfrm>
            <a:off x="11572875" y="5276850"/>
            <a:ext cx="104775" cy="70485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5" name="Rectangle 164"/>
          <p:cNvSpPr/>
          <p:nvPr/>
        </p:nvSpPr>
        <p:spPr>
          <a:xfrm>
            <a:off x="11572875" y="5339715"/>
            <a:ext cx="104775" cy="70485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Rectangle 165"/>
          <p:cNvSpPr/>
          <p:nvPr/>
        </p:nvSpPr>
        <p:spPr>
          <a:xfrm>
            <a:off x="11572875" y="5402580"/>
            <a:ext cx="104775" cy="70485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7" name="Rectangle 166"/>
          <p:cNvSpPr/>
          <p:nvPr/>
        </p:nvSpPr>
        <p:spPr>
          <a:xfrm>
            <a:off x="11572875" y="5465445"/>
            <a:ext cx="104775" cy="70485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Rectangle 167"/>
          <p:cNvSpPr/>
          <p:nvPr/>
        </p:nvSpPr>
        <p:spPr>
          <a:xfrm>
            <a:off x="11572875" y="5528310"/>
            <a:ext cx="104775" cy="70485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Rectangle 168"/>
          <p:cNvSpPr/>
          <p:nvPr/>
        </p:nvSpPr>
        <p:spPr>
          <a:xfrm>
            <a:off x="11572875" y="5591175"/>
            <a:ext cx="104775" cy="70485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Rectangle 169"/>
          <p:cNvSpPr/>
          <p:nvPr/>
        </p:nvSpPr>
        <p:spPr>
          <a:xfrm>
            <a:off x="11572875" y="5654040"/>
            <a:ext cx="104775" cy="70485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1" name="Rectangle 170"/>
          <p:cNvSpPr/>
          <p:nvPr/>
        </p:nvSpPr>
        <p:spPr>
          <a:xfrm>
            <a:off x="11572875" y="5716905"/>
            <a:ext cx="104775" cy="70485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Rectangle 171"/>
          <p:cNvSpPr/>
          <p:nvPr/>
        </p:nvSpPr>
        <p:spPr>
          <a:xfrm>
            <a:off x="11572875" y="5779770"/>
            <a:ext cx="104775" cy="70485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3" name="Rectangle 172"/>
          <p:cNvSpPr/>
          <p:nvPr/>
        </p:nvSpPr>
        <p:spPr>
          <a:xfrm>
            <a:off x="11572875" y="5842635"/>
            <a:ext cx="104775" cy="70485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Rectangle 173"/>
          <p:cNvSpPr/>
          <p:nvPr/>
        </p:nvSpPr>
        <p:spPr>
          <a:xfrm>
            <a:off x="11572875" y="5905500"/>
            <a:ext cx="104775" cy="70485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5" name="Rectangle 174"/>
          <p:cNvSpPr/>
          <p:nvPr/>
        </p:nvSpPr>
        <p:spPr>
          <a:xfrm>
            <a:off x="11572875" y="5968365"/>
            <a:ext cx="104775" cy="70485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Rectangle 175"/>
          <p:cNvSpPr/>
          <p:nvPr/>
        </p:nvSpPr>
        <p:spPr>
          <a:xfrm>
            <a:off x="11572875" y="6031230"/>
            <a:ext cx="104775" cy="70485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7" name="Rectangle 176"/>
          <p:cNvSpPr/>
          <p:nvPr/>
        </p:nvSpPr>
        <p:spPr>
          <a:xfrm>
            <a:off x="11572875" y="6094095"/>
            <a:ext cx="104775" cy="70485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Rectangle 177"/>
          <p:cNvSpPr/>
          <p:nvPr/>
        </p:nvSpPr>
        <p:spPr>
          <a:xfrm>
            <a:off x="11572875" y="6156960"/>
            <a:ext cx="104775" cy="70485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9" name="Rectangle 178"/>
          <p:cNvSpPr/>
          <p:nvPr/>
        </p:nvSpPr>
        <p:spPr>
          <a:xfrm>
            <a:off x="11572875" y="6219825"/>
            <a:ext cx="104775" cy="70485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Rectangle 179"/>
          <p:cNvSpPr/>
          <p:nvPr/>
        </p:nvSpPr>
        <p:spPr>
          <a:xfrm>
            <a:off x="11572875" y="6282690"/>
            <a:ext cx="104775" cy="70485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1" name="Rectangle 180"/>
          <p:cNvSpPr/>
          <p:nvPr/>
        </p:nvSpPr>
        <p:spPr>
          <a:xfrm>
            <a:off x="11572875" y="6345555"/>
            <a:ext cx="104775" cy="70485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Rectangle 181"/>
          <p:cNvSpPr/>
          <p:nvPr/>
        </p:nvSpPr>
        <p:spPr>
          <a:xfrm>
            <a:off x="11572875" y="6408420"/>
            <a:ext cx="104775" cy="70485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3" name="Rectangle 182"/>
          <p:cNvSpPr/>
          <p:nvPr/>
        </p:nvSpPr>
        <p:spPr>
          <a:xfrm>
            <a:off x="11572875" y="6471285"/>
            <a:ext cx="104775" cy="70485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Rectangle 183"/>
          <p:cNvSpPr/>
          <p:nvPr/>
        </p:nvSpPr>
        <p:spPr>
          <a:xfrm>
            <a:off x="11572875" y="4019550"/>
            <a:ext cx="104775" cy="2514600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5" name="TextBox 184"/>
          <p:cNvSpPr txBox="1"/>
          <p:nvPr/>
        </p:nvSpPr>
        <p:spPr>
          <a:xfrm>
            <a:off x="11687175" y="39528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186" name="TextBox 185"/>
          <p:cNvSpPr txBox="1"/>
          <p:nvPr/>
        </p:nvSpPr>
        <p:spPr>
          <a:xfrm>
            <a:off x="11687175" y="52101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187" name="TextBox 186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188" name="TextBox 18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89" name="Picture 18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33556" y="2080450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9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7.5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Pet Type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Pet Type Segment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Structure &amp; Attractiveness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Volume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Value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9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By Pet Type Segment Outlook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 analysis of market size, growth and share across 2 sub-segments of Pet Type,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Pet Type segment categorizes the market by pet type. Each sub-category is evaluated on market size, growth outlook and adoption trends across the forecast period.</a:t>
            </a:r>
          </a:p>
        </p:txBody>
      </p:sp>
      <p:sp>
        <p:nvSpPr>
          <p:cNvPr id="12" name="Rectangle 11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Sub-Segment</a:t>
            </a:r>
          </a:p>
        </p:txBody>
      </p:sp>
      <p:sp>
        <p:nvSpPr>
          <p:cNvPr id="14" name="Rectangle 13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6" name="Rectangle 15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8" name="Rectangle 17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866900" y="1773916"/>
            <a:ext cx="4943475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Rectangle 20"/>
          <p:cNvSpPr/>
          <p:nvPr/>
        </p:nvSpPr>
        <p:spPr>
          <a:xfrm>
            <a:off x="1866900" y="1992961"/>
            <a:ext cx="4943475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905000" y="1773916"/>
            <a:ext cx="4867275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Dogs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230259"/>
            <a:ext cx="494347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2723109"/>
            <a:ext cx="494347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5" name="Rectangle 24"/>
          <p:cNvSpPr/>
          <p:nvPr/>
        </p:nvSpPr>
        <p:spPr>
          <a:xfrm>
            <a:off x="1866900" y="3215959"/>
            <a:ext cx="494347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6" name="Oval 25"/>
          <p:cNvSpPr/>
          <p:nvPr/>
        </p:nvSpPr>
        <p:spPr>
          <a:xfrm>
            <a:off x="4176712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6924675" y="1773916"/>
            <a:ext cx="4943475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Rectangle 27"/>
          <p:cNvSpPr/>
          <p:nvPr/>
        </p:nvSpPr>
        <p:spPr>
          <a:xfrm>
            <a:off x="6924675" y="1992961"/>
            <a:ext cx="4943475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6962775" y="1773916"/>
            <a:ext cx="4867275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Cats</a:t>
            </a:r>
          </a:p>
        </p:txBody>
      </p:sp>
      <p:sp>
        <p:nvSpPr>
          <p:cNvPr id="30" name="Rectangle 29"/>
          <p:cNvSpPr/>
          <p:nvPr/>
        </p:nvSpPr>
        <p:spPr>
          <a:xfrm>
            <a:off x="6924675" y="2230259"/>
            <a:ext cx="494347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6924675" y="2723109"/>
            <a:ext cx="494347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2" name="Rectangle 31"/>
          <p:cNvSpPr/>
          <p:nvPr/>
        </p:nvSpPr>
        <p:spPr>
          <a:xfrm>
            <a:off x="6924675" y="3215959"/>
            <a:ext cx="494347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9234488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TextBox 34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36" name="Rectangle 35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TextBox 36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8" name="Rounded Rectangle 37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TextBox 38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40" name="Rectangle 39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TextBox 40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1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2" name="Rounded Rectangle 41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Segment Overview</a:t>
            </a:r>
          </a:p>
        </p:txBody>
      </p:sp>
      <p:sp>
        <p:nvSpPr>
          <p:cNvPr id="44" name="Rectangle 43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TextBox 44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Pet Type split shows how demand is distributed across pet type types and where growth concentrates.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preferences and product innovation are reshaping the mix through 2036.</a:t>
            </a:r>
          </a:p>
        </p:txBody>
      </p:sp>
      <p:sp>
        <p:nvSpPr>
          <p:cNvPr id="46" name="Rectangle 45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TextBox 46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50" name="Picture 49" descr="2_215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740773" y="2286582"/>
            <a:ext cx="1195728" cy="361950"/>
          </a:xfrm>
          <a:prstGeom prst="rect">
            <a:avLst/>
          </a:prstGeom>
        </p:spPr>
      </p:pic>
      <p:pic>
        <p:nvPicPr>
          <p:cNvPr id="51" name="Picture 50" descr="3_983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740773" y="2779432"/>
            <a:ext cx="1195728" cy="361950"/>
          </a:xfrm>
          <a:prstGeom prst="rect">
            <a:avLst/>
          </a:prstGeom>
        </p:spPr>
      </p:pic>
      <p:pic>
        <p:nvPicPr>
          <p:cNvPr id="52" name="Picture 51" descr="6_0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847419" y="3272281"/>
            <a:ext cx="982436" cy="361950"/>
          </a:xfrm>
          <a:prstGeom prst="rect">
            <a:avLst/>
          </a:prstGeom>
        </p:spPr>
      </p:pic>
      <p:pic>
        <p:nvPicPr>
          <p:cNvPr id="53" name="Picture 52" descr="937_5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798548" y="2286582"/>
            <a:ext cx="1195728" cy="361950"/>
          </a:xfrm>
          <a:prstGeom prst="rect">
            <a:avLst/>
          </a:prstGeom>
        </p:spPr>
      </p:pic>
      <p:pic>
        <p:nvPicPr>
          <p:cNvPr id="54" name="Picture 53" descr="1_713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798548" y="2779432"/>
            <a:ext cx="1195728" cy="361950"/>
          </a:xfrm>
          <a:prstGeom prst="rect">
            <a:avLst/>
          </a:prstGeom>
        </p:spPr>
      </p:pic>
      <p:pic>
        <p:nvPicPr>
          <p:cNvPr id="55" name="Picture 54" descr="6_2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8905194" y="3272281"/>
            <a:ext cx="982436" cy="361950"/>
          </a:xfrm>
          <a:prstGeom prst="rect">
            <a:avLst/>
          </a:prstGeom>
        </p:spPr>
      </p:pic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4230493" y="2805915"/>
            <a:ext cx="212425" cy="308982"/>
          </a:xfrm>
          <a:prstGeom prst="rect">
            <a:avLst/>
          </a:prstGeom>
        </p:spPr>
      </p:pic>
      <p:pic>
        <p:nvPicPr>
          <p:cNvPr id="57" name="Picture 56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9288268" y="2805915"/>
            <a:ext cx="212425" cy="308982"/>
          </a:xfrm>
          <a:prstGeom prst="rect">
            <a:avLst/>
          </a:prstGeom>
        </p:spPr>
      </p:pic>
      <p:sp>
        <p:nvSpPr>
          <p:cNvPr id="58" name="TextBox 57"/>
          <p:cNvSpPr txBox="1"/>
          <p:nvPr/>
        </p:nvSpPr>
        <p:spPr>
          <a:xfrm>
            <a:off x="485775" y="4229437"/>
            <a:ext cx="22732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'Dogs' holds the largest share in 2026</a:t>
            </a:r>
          </a:p>
        </p:txBody>
      </p:sp>
      <p:pic>
        <p:nvPicPr>
          <p:cNvPr id="59" name="Picture 58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2707027" y="4219658"/>
            <a:ext cx="128699" cy="187198"/>
          </a:xfrm>
          <a:prstGeom prst="rect">
            <a:avLst/>
          </a:prstGeom>
        </p:spPr>
      </p:pic>
      <p:sp>
        <p:nvSpPr>
          <p:cNvPr id="60" name="TextBox 59"/>
          <p:cNvSpPr txBox="1"/>
          <p:nvPr/>
        </p:nvSpPr>
        <p:spPr>
          <a:xfrm>
            <a:off x="2874523" y="4229437"/>
            <a:ext cx="19243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485775" y="4397077"/>
            <a:ext cx="93950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segment value.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485775" y="4615009"/>
            <a:ext cx="263036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'Cats' is the fastest-growing sub-segment at</a:t>
            </a:r>
          </a:p>
        </p:txBody>
      </p:sp>
      <p:pic>
        <p:nvPicPr>
          <p:cNvPr id="63" name="Picture 62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3064190" y="4605230"/>
            <a:ext cx="128699" cy="187198"/>
          </a:xfrm>
          <a:prstGeom prst="rect">
            <a:avLst/>
          </a:prstGeom>
        </p:spPr>
      </p:pic>
      <p:sp>
        <p:nvSpPr>
          <p:cNvPr id="64" name="TextBox 63"/>
          <p:cNvSpPr txBox="1"/>
          <p:nvPr/>
        </p:nvSpPr>
        <p:spPr>
          <a:xfrm>
            <a:off x="485775" y="4782649"/>
            <a:ext cx="123307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through 2036.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485775" y="5000581"/>
            <a:ext cx="18066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Segment value expands from</a:t>
            </a:r>
          </a:p>
        </p:txBody>
      </p:sp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2240451" y="4990801"/>
            <a:ext cx="128699" cy="187198"/>
          </a:xfrm>
          <a:prstGeom prst="rect">
            <a:avLst/>
          </a:prstGeom>
        </p:spPr>
      </p:pic>
      <p:sp>
        <p:nvSpPr>
          <p:cNvPr id="67" name="TextBox 66"/>
          <p:cNvSpPr txBox="1"/>
          <p:nvPr/>
        </p:nvSpPr>
        <p:spPr>
          <a:xfrm>
            <a:off x="2407947" y="5000581"/>
            <a:ext cx="1968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68" name="Picture 67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2552799" y="4990801"/>
            <a:ext cx="128699" cy="187198"/>
          </a:xfrm>
          <a:prstGeom prst="rect">
            <a:avLst/>
          </a:prstGeom>
        </p:spPr>
      </p:pic>
      <p:sp>
        <p:nvSpPr>
          <p:cNvPr id="69" name="TextBox 68"/>
          <p:cNvSpPr txBox="1"/>
          <p:nvPr/>
        </p:nvSpPr>
        <p:spPr>
          <a:xfrm>
            <a:off x="2720294" y="5000581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485775" y="5168221"/>
            <a:ext cx="11378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2026–2036.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485775" y="5386153"/>
            <a:ext cx="29146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2 sub-segments make up the pet type landscape.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3838575" y="4229437"/>
            <a:ext cx="50948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Dogs:</a:t>
            </a:r>
          </a:p>
        </p:txBody>
      </p:sp>
      <p:pic>
        <p:nvPicPr>
          <p:cNvPr id="73" name="Picture 72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4296114" y="4219658"/>
            <a:ext cx="128699" cy="187198"/>
          </a:xfrm>
          <a:prstGeom prst="rect">
            <a:avLst/>
          </a:prstGeom>
        </p:spPr>
      </p:pic>
      <p:sp>
        <p:nvSpPr>
          <p:cNvPr id="74" name="TextBox 73"/>
          <p:cNvSpPr txBox="1"/>
          <p:nvPr/>
        </p:nvSpPr>
        <p:spPr>
          <a:xfrm>
            <a:off x="4463610" y="422943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5323060" y="4219658"/>
            <a:ext cx="128699" cy="187198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5490556" y="4229437"/>
            <a:ext cx="15034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leads the segment.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3838575" y="4447369"/>
            <a:ext cx="47238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Cats:</a:t>
            </a:r>
          </a:p>
        </p:txBody>
      </p:sp>
      <p:pic>
        <p:nvPicPr>
          <p:cNvPr id="78" name="Picture 77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4259007" y="4437590"/>
            <a:ext cx="128699" cy="187198"/>
          </a:xfrm>
          <a:prstGeom prst="rect">
            <a:avLst/>
          </a:prstGeom>
        </p:spPr>
      </p:pic>
      <p:sp>
        <p:nvSpPr>
          <p:cNvPr id="79" name="TextBox 78"/>
          <p:cNvSpPr txBox="1"/>
          <p:nvPr/>
        </p:nvSpPr>
        <p:spPr>
          <a:xfrm>
            <a:off x="4426502" y="444736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80" name="Picture 79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5285953" y="4437590"/>
            <a:ext cx="128699" cy="187198"/>
          </a:xfrm>
          <a:prstGeom prst="rect">
            <a:avLst/>
          </a:prstGeom>
        </p:spPr>
      </p:pic>
      <p:sp>
        <p:nvSpPr>
          <p:cNvPr id="81" name="TextBox 80"/>
          <p:cNvSpPr txBox="1"/>
          <p:nvPr/>
        </p:nvSpPr>
        <p:spPr>
          <a:xfrm>
            <a:off x="5453448" y="4447369"/>
            <a:ext cx="121861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grows fastest.</a:t>
            </a:r>
          </a:p>
        </p:txBody>
      </p:sp>
      <p:sp>
        <p:nvSpPr>
          <p:cNvPr id="82" name="TextBox 81"/>
          <p:cNvSpPr txBox="1"/>
          <p:nvPr/>
        </p:nvSpPr>
        <p:spPr>
          <a:xfrm>
            <a:off x="8524875" y="5842641"/>
            <a:ext cx="292816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The Pet Type segment is projected to grow at a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8524875" y="6017901"/>
            <a:ext cx="5747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CAGR of</a:t>
            </a:r>
          </a:p>
        </p:txBody>
      </p:sp>
      <p:pic>
        <p:nvPicPr>
          <p:cNvPr id="84" name="Picture 83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9048826" y="6007677"/>
            <a:ext cx="134549" cy="195707"/>
          </a:xfrm>
          <a:prstGeom prst="rect">
            <a:avLst/>
          </a:prstGeom>
        </p:spPr>
      </p:pic>
      <p:sp>
        <p:nvSpPr>
          <p:cNvPr id="85" name="TextBox 84"/>
          <p:cNvSpPr txBox="1"/>
          <p:nvPr/>
        </p:nvSpPr>
        <p:spPr>
          <a:xfrm>
            <a:off x="9223935" y="6017901"/>
            <a:ext cx="12326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9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Structure &amp; Attractiveness, By Pet Type (Value)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Pet Type mix within each country and the attractiveness of each sub-segment on growth and size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052895"/>
            <a:ext cx="6667500" cy="5503490"/>
          </a:xfrm>
          <a:prstGeom prst="roundRect">
            <a:avLst>
              <a:gd name="adj" fmla="val 138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110045"/>
            <a:ext cx="647700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Pet Type mix within each country (share of 2036 value) · row label = country size (US$ Mn), largest first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10095"/>
          <a:ext cx="6477000" cy="498914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886575" y="1052895"/>
            <a:ext cx="5162550" cy="3650740"/>
          </a:xfrm>
          <a:prstGeom prst="roundRect">
            <a:avLst>
              <a:gd name="adj" fmla="val 208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981825" y="1110045"/>
            <a:ext cx="49720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Attractiveness, By Pet Type (bubble = 2036 size)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981825" y="1338645"/>
          <a:ext cx="4972050" cy="330784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6886575" y="4776650"/>
            <a:ext cx="5162550" cy="1779736"/>
          </a:xfrm>
          <a:prstGeom prst="roundRect">
            <a:avLst>
              <a:gd name="adj" fmla="val 428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613425" y="3638119"/>
            <a:ext cx="386128" cy="56164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7000875" y="5415058"/>
            <a:ext cx="441781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Between 2026 and 2036, 'Cats' gains the most share in the Europe market (+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366740" y="5405279"/>
            <a:ext cx="128699" cy="187198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11534236" y="5415058"/>
            <a:ext cx="33104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BPS)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7000875" y="5582698"/>
            <a:ext cx="111467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while 'Dogs' cedes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063599" y="5572919"/>
            <a:ext cx="128699" cy="187198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8231095" y="5582698"/>
            <a:ext cx="36158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 Bubbles right of the CAGR-Index line grow faster than the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000875" y="5750338"/>
            <a:ext cx="108493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segment average.</a:t>
            </a:r>
          </a:p>
        </p:txBody>
      </p:sp>
      <p:sp>
        <p:nvSpPr>
          <p:cNvPr id="27" name="lockshield_13"/>
          <p:cNvSpPr/>
          <p:nvPr/>
        </p:nvSpPr>
        <p:spPr>
          <a:xfrm>
            <a:off x="238125" y="1510095"/>
            <a:ext cx="6477000" cy="498914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lockshield_16"/>
          <p:cNvSpPr/>
          <p:nvPr/>
        </p:nvSpPr>
        <p:spPr>
          <a:xfrm>
            <a:off x="6981825" y="1338645"/>
            <a:ext cx="4972050" cy="330784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9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Absolute $ Opportunity Analysis, By Pet Type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Pet Type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Dogs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5686425" cy="53054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Cats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267450" y="1266825"/>
          <a:ext cx="5686425" cy="530542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TextBox 1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8" name="Picture 1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24059" y="3583939"/>
            <a:ext cx="402511" cy="585471"/>
          </a:xfrm>
          <a:prstGeom prst="rect">
            <a:avLst/>
          </a:prstGeom>
        </p:spPr>
      </p:pic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053384" y="3583939"/>
            <a:ext cx="402511" cy="585471"/>
          </a:xfrm>
          <a:prstGeom prst="rect">
            <a:avLst/>
          </a:prstGeom>
        </p:spPr>
      </p:pic>
      <p:sp>
        <p:nvSpPr>
          <p:cNvPr id="20" name="lockshield_13"/>
          <p:cNvSpPr/>
          <p:nvPr/>
        </p:nvSpPr>
        <p:spPr>
          <a:xfrm>
            <a:off x="238125" y="1266825"/>
            <a:ext cx="5686425" cy="53054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lockshield_16"/>
          <p:cNvSpPr/>
          <p:nvPr/>
        </p:nvSpPr>
        <p:spPr>
          <a:xfrm>
            <a:off x="6267450" y="1266825"/>
            <a:ext cx="5686425" cy="53054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9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Volume Analysis, By Pet Type (MT)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by Pet Type,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457325"/>
          </a:xfrm>
          <a:prstGeom prst="roundRect">
            <a:avLst>
              <a:gd name="adj" fmla="val 522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Volume, By Pet Type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7" cy="9906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707429"/>
                <a:gridCol w="657634"/>
                <a:gridCol w="657634"/>
                <a:gridCol w="657634"/>
                <a:gridCol w="657634"/>
                <a:gridCol w="657634"/>
                <a:gridCol w="657634"/>
                <a:gridCol w="657634"/>
                <a:gridCol w="657634"/>
                <a:gridCol w="657634"/>
                <a:gridCol w="657634"/>
                <a:gridCol w="657634"/>
                <a:gridCol w="657634"/>
                <a:gridCol w="657634"/>
                <a:gridCol w="657634"/>
                <a:gridCol w="657634"/>
                <a:gridCol w="657634"/>
                <a:gridCol w="657634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Pet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Dogs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Cats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2383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571750"/>
            <a:ext cx="11906250" cy="4057650"/>
          </a:xfrm>
          <a:prstGeom prst="roundRect">
            <a:avLst>
              <a:gd name="adj" fmla="val 187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265747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Volume Analysis, By Pet Type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289560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2981325"/>
            <a:ext cx="11639550" cy="357187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263028" y="1589913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2990850"/>
            <a:ext cx="199025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'Dogs' is the largest pet type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215632" y="2980626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2390741" y="2990850"/>
            <a:ext cx="10805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volume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420474" y="298062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3595584" y="2990850"/>
            <a:ext cx="3534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3218687"/>
            <a:ext cx="130307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'Cats'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528455" y="3208464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1703565" y="3218687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3446525"/>
            <a:ext cx="181225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'Cats'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037634" y="3436302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2212743" y="3446525"/>
            <a:ext cx="177716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'Dogs'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939066" y="3436302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4114175" y="3446525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3674363"/>
            <a:ext cx="15646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volume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90033" y="3664140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965143" y="3674363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16579" y="3664140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291688" y="3674363"/>
            <a:ext cx="14705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across 2 categories.</a:t>
            </a:r>
          </a:p>
        </p:txBody>
      </p:sp>
    </p:spTree>
  </p:cSld>
  <p:clrMapOvr>
    <a:masterClrMapping/>
  </p:clrMapOvr>
</p:sld>
</file>

<file path=ppt/slides/slide9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Value Analysis, By Pet Type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by Pet Type,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457325"/>
          </a:xfrm>
          <a:prstGeom prst="roundRect">
            <a:avLst>
              <a:gd name="adj" fmla="val 522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Value, By Pet Type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6" cy="9906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74273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Pet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Dogs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Cats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2383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571750"/>
            <a:ext cx="11906250" cy="4057650"/>
          </a:xfrm>
          <a:prstGeom prst="roundRect">
            <a:avLst>
              <a:gd name="adj" fmla="val 187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265747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Value Analysis, By Pet Type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289560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2981325"/>
            <a:ext cx="11639550" cy="357187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280681" y="1589913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2990850"/>
            <a:ext cx="199025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'Dogs' is the largest pet type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215632" y="2980626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2390741" y="2990850"/>
            <a:ext cx="9567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296674" y="298062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3471783" y="2990850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3218687"/>
            <a:ext cx="130307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'Cats'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528455" y="3208464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1703565" y="3218687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3446525"/>
            <a:ext cx="181225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'Cats'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037634" y="3436302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2212743" y="3446525"/>
            <a:ext cx="177716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'Dogs'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939066" y="3436302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4114175" y="3446525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3674363"/>
            <a:ext cx="14408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66233" y="3664140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841342" y="3674363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92779" y="3664140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167888" y="3674363"/>
            <a:ext cx="17440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 categories.</a:t>
            </a:r>
          </a:p>
        </p:txBody>
      </p:sp>
    </p:spTree>
  </p:cSld>
  <p:clrMapOvr>
    <a:masterClrMapping/>
  </p:clrMapOvr>
</p:sld>
</file>

<file path=ppt/slides/slide10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Value &amp; Share Shift, By Pet Type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composition by Pet Type in 2021, 2026 and 2036, highlighting share shifts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7400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7210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Composition, By Pet Type ·  2021 / 2026 / 2036 (US$ Mn)  ·  right axis = BPS share shift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09700"/>
          <a:ext cx="4614672" cy="516255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852797" y="1419225"/>
            <a:ext cx="2595753" cy="17792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(2021→2036)</a:t>
            </a:r>
          </a:p>
        </p:txBody>
      </p:sp>
      <p:sp>
        <p:nvSpPr>
          <p:cNvPr id="15" name="FMI Lock Anchor"/>
          <p:cNvSpPr txBox="1"/>
          <p:nvPr/>
        </p:nvSpPr>
        <p:spPr>
          <a:xfrm>
            <a:off x="2678811" y="3932301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/>
        </p:txBody>
      </p:sp>
      <p:sp>
        <p:nvSpPr>
          <p:cNvPr id="16" name="FMI Legend Chip"/>
          <p:cNvSpPr/>
          <p:nvPr/>
        </p:nvSpPr>
        <p:spPr>
          <a:xfrm>
            <a:off x="4928997" y="2218952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Isosceles Triangle 16"/>
          <p:cNvSpPr/>
          <p:nvPr/>
        </p:nvSpPr>
        <p:spPr>
          <a:xfrm>
            <a:off x="5090922" y="2214189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BPS Name 1"/>
          <p:cNvSpPr txBox="1"/>
          <p:nvPr/>
        </p:nvSpPr>
        <p:spPr>
          <a:xfrm>
            <a:off x="5233797" y="2137989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Cats</a:t>
            </a:r>
          </a:p>
        </p:txBody>
      </p:sp>
      <p:sp>
        <p:nvSpPr>
          <p:cNvPr id="19" name="BPS Value 1"/>
          <p:cNvSpPr txBox="1"/>
          <p:nvPr/>
        </p:nvSpPr>
        <p:spPr>
          <a:xfrm>
            <a:off x="6896100" y="2199902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0" name="FMI Legend Chip"/>
          <p:cNvSpPr/>
          <p:nvPr/>
        </p:nvSpPr>
        <p:spPr>
          <a:xfrm>
            <a:off x="4928997" y="4587438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Isosceles Triangle 20"/>
          <p:cNvSpPr/>
          <p:nvPr/>
        </p:nvSpPr>
        <p:spPr>
          <a:xfrm rot="10800000">
            <a:off x="5090922" y="4582676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BPS Name 2"/>
          <p:cNvSpPr txBox="1"/>
          <p:nvPr/>
        </p:nvSpPr>
        <p:spPr>
          <a:xfrm>
            <a:off x="5233797" y="4506476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Dogs</a:t>
            </a:r>
          </a:p>
        </p:txBody>
      </p:sp>
      <p:sp>
        <p:nvSpPr>
          <p:cNvPr id="23" name="BPS Value 2"/>
          <p:cNvSpPr txBox="1"/>
          <p:nvPr/>
        </p:nvSpPr>
        <p:spPr>
          <a:xfrm>
            <a:off x="6896100" y="4568388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4" name="Rounded Rectangle 23"/>
          <p:cNvSpPr/>
          <p:nvPr/>
        </p:nvSpPr>
        <p:spPr>
          <a:xfrm>
            <a:off x="7696200" y="981075"/>
            <a:ext cx="4343400" cy="5648325"/>
          </a:xfrm>
          <a:prstGeom prst="roundRect">
            <a:avLst>
              <a:gd name="adj" fmla="val 17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7829550" y="1066800"/>
            <a:ext cx="4076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Read-out, By Pet Type</a:t>
            </a:r>
          </a:p>
        </p:txBody>
      </p:sp>
      <p:sp>
        <p:nvSpPr>
          <p:cNvPr id="26" name="Rectangle 25"/>
          <p:cNvSpPr/>
          <p:nvPr/>
        </p:nvSpPr>
        <p:spPr>
          <a:xfrm>
            <a:off x="7829550" y="1304925"/>
            <a:ext cx="40767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TextBox 26"/>
          <p:cNvSpPr txBox="1"/>
          <p:nvPr/>
        </p:nvSpPr>
        <p:spPr>
          <a:xfrm>
            <a:off x="7829550" y="1390650"/>
            <a:ext cx="4076700" cy="5162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2E7D32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E44D3A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57843" y="3751325"/>
            <a:ext cx="275034" cy="400050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7829550" y="1400175"/>
            <a:ext cx="184933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'Cats' gains the most share +</a:t>
            </a:r>
          </a:p>
        </p:txBody>
      </p:sp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28042" y="1389951"/>
            <a:ext cx="134549" cy="195707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9803151" y="1400175"/>
            <a:ext cx="177260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between 2026 and 2036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7829550" y="1575435"/>
            <a:ext cx="139749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(</a:t>
            </a:r>
            <a:r>
              <a:rPr sz="1150" b="0">
                <a:solidFill>
                  <a:srgbClr val="2E7D32"/>
                </a:solidFill>
                <a:latin typeface="Calibri"/>
              </a:rPr>
              <a:t>green ▲</a:t>
            </a:r>
            <a:r>
              <a:rPr sz="1150" b="0">
                <a:solidFill>
                  <a:srgbClr val="2E2E2E"/>
                </a:solidFill>
                <a:latin typeface="Calibri"/>
              </a:rPr>
              <a:t> on the scale).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7829550" y="1803273"/>
            <a:ext cx="153470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'Dogs' cedes the most -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13407" y="1793049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9488516" y="1803273"/>
            <a:ext cx="215142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 the same window (</a:t>
            </a:r>
            <a:r>
              <a:rPr sz="1150" b="0">
                <a:solidFill>
                  <a:srgbClr val="E44D3A"/>
                </a:solidFill>
                <a:latin typeface="Calibri"/>
              </a:rPr>
              <a:t>red ▼</a:t>
            </a:r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7829550" y="2031111"/>
            <a:ext cx="247375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'Cats' is the fastest-growing pet type at</a:t>
            </a:r>
          </a:p>
        </p:txBody>
      </p:sp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252463" y="2020887"/>
            <a:ext cx="134549" cy="195707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10427572" y="2031111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7829550" y="2258949"/>
            <a:ext cx="15489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climbs from</a:t>
            </a:r>
          </a:p>
        </p:txBody>
      </p:sp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27669" y="2248725"/>
            <a:ext cx="134549" cy="195707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9502779" y="2258949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54215" y="2248725"/>
            <a:ext cx="134549" cy="195707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9829324" y="2258949"/>
            <a:ext cx="1689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2021–2036.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7829550" y="2486787"/>
            <a:ext cx="39325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Bars show the value mix at each snapshot; the scale shows how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7829550" y="2662047"/>
            <a:ext cx="11772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each share moves.</a:t>
            </a:r>
          </a:p>
        </p:txBody>
      </p:sp>
      <p:sp>
        <p:nvSpPr>
          <p:cNvPr id="47" name="lockshield_13"/>
          <p:cNvSpPr/>
          <p:nvPr/>
        </p:nvSpPr>
        <p:spPr>
          <a:xfrm>
            <a:off x="238125" y="1409700"/>
            <a:ext cx="4614672" cy="516255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0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Europe Market Volume, By Pet Type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Pet Type,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209675"/>
          </a:xfrm>
          <a:prstGeom prst="roundRect">
            <a:avLst>
              <a:gd name="adj" fmla="val 629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 YoY Growth, By Pet Type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6" cy="74294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818796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Pet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Dogs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Cats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19907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324100"/>
            <a:ext cx="11906250" cy="4305300"/>
          </a:xfrm>
          <a:prstGeom prst="roundRect">
            <a:avLst>
              <a:gd name="adj" fmla="val 17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38125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 YoY Heatmap, By Pet Type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2752725"/>
            <a:ext cx="1590675" cy="190976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Dogs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2752725"/>
            <a:ext cx="643890" cy="1909762"/>
          </a:xfrm>
          <a:prstGeom prst="rect">
            <a:avLst/>
          </a:prstGeom>
          <a:solidFill>
            <a:srgbClr val="E3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2752725"/>
            <a:ext cx="643890" cy="1909762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2752725"/>
            <a:ext cx="643890" cy="1909762"/>
          </a:xfrm>
          <a:prstGeom prst="rect">
            <a:avLst/>
          </a:prstGeom>
          <a:solidFill>
            <a:srgbClr val="FB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2752725"/>
            <a:ext cx="643890" cy="1909762"/>
          </a:xfrm>
          <a:prstGeom prst="rect">
            <a:avLst/>
          </a:prstGeom>
          <a:solidFill>
            <a:srgbClr val="ED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2752725"/>
            <a:ext cx="643890" cy="1909762"/>
          </a:xfrm>
          <a:prstGeom prst="rect">
            <a:avLst/>
          </a:prstGeom>
          <a:solidFill>
            <a:srgbClr val="41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2752725"/>
            <a:ext cx="643890" cy="1909762"/>
          </a:xfrm>
          <a:prstGeom prst="rect">
            <a:avLst/>
          </a:prstGeom>
          <a:solidFill>
            <a:srgbClr val="589D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2752725"/>
            <a:ext cx="643890" cy="1909762"/>
          </a:xfrm>
          <a:prstGeom prst="rect">
            <a:avLst/>
          </a:prstGeom>
          <a:solidFill>
            <a:srgbClr val="1D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2752725"/>
            <a:ext cx="643890" cy="1909762"/>
          </a:xfrm>
          <a:prstGeom prst="rect">
            <a:avLst/>
          </a:prstGeom>
          <a:solidFill>
            <a:srgbClr val="1375B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2752725"/>
            <a:ext cx="643890" cy="1909762"/>
          </a:xfrm>
          <a:prstGeom prst="rect">
            <a:avLst/>
          </a:prstGeom>
          <a:solidFill>
            <a:srgbClr val="5A9E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2752725"/>
            <a:ext cx="643890" cy="1909762"/>
          </a:xfrm>
          <a:prstGeom prst="rect">
            <a:avLst/>
          </a:prstGeom>
          <a:solidFill>
            <a:srgbClr val="3F90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2752725"/>
            <a:ext cx="643890" cy="1909762"/>
          </a:xfrm>
          <a:prstGeom prst="rect">
            <a:avLst/>
          </a:prstGeom>
          <a:solidFill>
            <a:srgbClr val="3489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2752725"/>
            <a:ext cx="643890" cy="1909762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2752725"/>
            <a:ext cx="643890" cy="1909762"/>
          </a:xfrm>
          <a:prstGeom prst="rect">
            <a:avLst/>
          </a:prstGeom>
          <a:solidFill>
            <a:srgbClr val="23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2752725"/>
            <a:ext cx="643890" cy="1909762"/>
          </a:xfrm>
          <a:prstGeom prst="rect">
            <a:avLst/>
          </a:prstGeom>
          <a:solidFill>
            <a:srgbClr val="24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2752725"/>
            <a:ext cx="643890" cy="1909762"/>
          </a:xfrm>
          <a:prstGeom prst="rect">
            <a:avLst/>
          </a:prstGeom>
          <a:solidFill>
            <a:srgbClr val="1E7C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662488"/>
            <a:ext cx="1590675" cy="190976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Cats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662488"/>
            <a:ext cx="643890" cy="1909762"/>
          </a:xfrm>
          <a:prstGeom prst="rect">
            <a:avLst/>
          </a:prstGeom>
          <a:solidFill>
            <a:srgbClr val="C3D8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662488"/>
            <a:ext cx="643890" cy="1909762"/>
          </a:xfrm>
          <a:prstGeom prst="rect">
            <a:avLst/>
          </a:prstGeom>
          <a:solidFill>
            <a:srgbClr val="E2EF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662488"/>
            <a:ext cx="643890" cy="1909762"/>
          </a:xfrm>
          <a:prstGeom prst="rect">
            <a:avLst/>
          </a:prstGeom>
          <a:solidFill>
            <a:srgbClr val="DDEC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662488"/>
            <a:ext cx="643890" cy="1909762"/>
          </a:xfrm>
          <a:prstGeom prst="rect">
            <a:avLst/>
          </a:prstGeom>
          <a:solidFill>
            <a:srgbClr val="CFE0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662488"/>
            <a:ext cx="643890" cy="1909762"/>
          </a:xfrm>
          <a:prstGeom prst="rect">
            <a:avLst/>
          </a:prstGeom>
          <a:solidFill>
            <a:srgbClr val="15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662488"/>
            <a:ext cx="643890" cy="1909762"/>
          </a:xfrm>
          <a:prstGeom prst="rect">
            <a:avLst/>
          </a:prstGeom>
          <a:solidFill>
            <a:srgbClr val="207D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662488"/>
            <a:ext cx="643890" cy="1909762"/>
          </a:xfrm>
          <a:prstGeom prst="rect">
            <a:avLst/>
          </a:prstGeom>
          <a:solidFill>
            <a:srgbClr val="0C406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662488"/>
            <a:ext cx="643890" cy="1909762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662488"/>
            <a:ext cx="643890" cy="1909762"/>
          </a:xfrm>
          <a:prstGeom prst="rect">
            <a:avLst/>
          </a:prstGeom>
          <a:solidFill>
            <a:srgbClr val="2580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662488"/>
            <a:ext cx="643890" cy="1909762"/>
          </a:xfrm>
          <a:prstGeom prst="rect">
            <a:avLst/>
          </a:prstGeom>
          <a:solidFill>
            <a:srgbClr val="15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662488"/>
            <a:ext cx="643890" cy="1909762"/>
          </a:xfrm>
          <a:prstGeom prst="rect">
            <a:avLst/>
          </a:prstGeom>
          <a:solidFill>
            <a:srgbClr val="0D669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662488"/>
            <a:ext cx="643890" cy="1909762"/>
          </a:xfrm>
          <a:prstGeom prst="rect">
            <a:avLst/>
          </a:prstGeom>
          <a:solidFill>
            <a:srgbClr val="0B385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662488"/>
            <a:ext cx="643890" cy="1909762"/>
          </a:xfrm>
          <a:prstGeom prst="rect">
            <a:avLst/>
          </a:prstGeom>
          <a:solidFill>
            <a:srgbClr val="0C476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662488"/>
            <a:ext cx="643890" cy="1909762"/>
          </a:xfrm>
          <a:prstGeom prst="rect">
            <a:avLst/>
          </a:prstGeom>
          <a:solidFill>
            <a:srgbClr val="0C497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662488"/>
            <a:ext cx="643890" cy="1909762"/>
          </a:xfrm>
          <a:prstGeom prst="rect">
            <a:avLst/>
          </a:prstGeom>
          <a:solidFill>
            <a:srgbClr val="0C4D7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Rectangle 63"/>
          <p:cNvSpPr/>
          <p:nvPr/>
        </p:nvSpPr>
        <p:spPr>
          <a:xfrm>
            <a:off x="11572875" y="2790825"/>
            <a:ext cx="104775" cy="101203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Rectangle 64"/>
          <p:cNvSpPr/>
          <p:nvPr/>
        </p:nvSpPr>
        <p:spPr>
          <a:xfrm>
            <a:off x="11572875" y="2884408"/>
            <a:ext cx="104775" cy="101203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11572875" y="2977991"/>
            <a:ext cx="104775" cy="101203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11572875" y="3071574"/>
            <a:ext cx="104775" cy="101203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11572875" y="3165158"/>
            <a:ext cx="104775" cy="101203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11572875" y="3258741"/>
            <a:ext cx="104775" cy="101203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11572875" y="3352324"/>
            <a:ext cx="104775" cy="101203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11572875" y="3445907"/>
            <a:ext cx="104775" cy="101203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11572875" y="3539490"/>
            <a:ext cx="104775" cy="101203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11572875" y="3633073"/>
            <a:ext cx="104775" cy="101203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11572875" y="3726656"/>
            <a:ext cx="104775" cy="101203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11572875" y="3820239"/>
            <a:ext cx="104775" cy="101203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11572875" y="3913822"/>
            <a:ext cx="104775" cy="101203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11572875" y="4007406"/>
            <a:ext cx="104775" cy="101203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1572875" y="4100989"/>
            <a:ext cx="104775" cy="101203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1572875" y="4194572"/>
            <a:ext cx="104775" cy="101203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Rectangle 79"/>
          <p:cNvSpPr/>
          <p:nvPr/>
        </p:nvSpPr>
        <p:spPr>
          <a:xfrm>
            <a:off x="11572875" y="4288155"/>
            <a:ext cx="104775" cy="101203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Rectangle 80"/>
          <p:cNvSpPr/>
          <p:nvPr/>
        </p:nvSpPr>
        <p:spPr>
          <a:xfrm>
            <a:off x="11572875" y="4381738"/>
            <a:ext cx="104775" cy="101203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11572875" y="4475321"/>
            <a:ext cx="104775" cy="101203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11572875" y="4568904"/>
            <a:ext cx="104775" cy="101203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11572875" y="4662488"/>
            <a:ext cx="104775" cy="101203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11572875" y="4756071"/>
            <a:ext cx="104775" cy="101203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11572875" y="4849654"/>
            <a:ext cx="104775" cy="101203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11572875" y="4943237"/>
            <a:ext cx="104775" cy="101203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11572875" y="5036820"/>
            <a:ext cx="104775" cy="101203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11572875" y="5130403"/>
            <a:ext cx="104775" cy="101203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11572875" y="5223986"/>
            <a:ext cx="104775" cy="101203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11572875" y="5317569"/>
            <a:ext cx="104775" cy="101203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11572875" y="5411152"/>
            <a:ext cx="104775" cy="101203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11572875" y="5504736"/>
            <a:ext cx="104775" cy="101203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1572875" y="5598319"/>
            <a:ext cx="104775" cy="101203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1572875" y="5691902"/>
            <a:ext cx="104775" cy="101203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Rectangle 95"/>
          <p:cNvSpPr/>
          <p:nvPr/>
        </p:nvSpPr>
        <p:spPr>
          <a:xfrm>
            <a:off x="11572875" y="5785485"/>
            <a:ext cx="104775" cy="101203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Rectangle 96"/>
          <p:cNvSpPr/>
          <p:nvPr/>
        </p:nvSpPr>
        <p:spPr>
          <a:xfrm>
            <a:off x="11572875" y="5879068"/>
            <a:ext cx="104775" cy="101203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11572875" y="5972651"/>
            <a:ext cx="104775" cy="101203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11572875" y="6066234"/>
            <a:ext cx="104775" cy="101203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11572875" y="6159818"/>
            <a:ext cx="104775" cy="101203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11572875" y="6253401"/>
            <a:ext cx="104775" cy="101203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11572875" y="6346984"/>
            <a:ext cx="104775" cy="101203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11572875" y="6440567"/>
            <a:ext cx="104775" cy="101203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11572875" y="2790825"/>
            <a:ext cx="104775" cy="3743325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TextBox 104"/>
          <p:cNvSpPr txBox="1"/>
          <p:nvPr/>
        </p:nvSpPr>
        <p:spPr>
          <a:xfrm>
            <a:off x="11687175" y="272415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106" name="TextBox 105"/>
          <p:cNvSpPr txBox="1"/>
          <p:nvPr/>
        </p:nvSpPr>
        <p:spPr>
          <a:xfrm>
            <a:off x="11687175" y="4595812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09" name="Picture 108" descr="__4_8_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23502" y="1475867"/>
            <a:ext cx="1033277" cy="265429"/>
          </a:xfrm>
          <a:prstGeom prst="rect">
            <a:avLst/>
          </a:prstGeom>
        </p:spPr>
      </p:pic>
      <p:pic>
        <p:nvPicPr>
          <p:cNvPr id="110" name="Picture 109" descr="__4_5_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561396" y="1475867"/>
            <a:ext cx="1033277" cy="265429"/>
          </a:xfrm>
          <a:prstGeom prst="rect">
            <a:avLst/>
          </a:prstGeom>
        </p:spPr>
      </p:pic>
      <p:pic>
        <p:nvPicPr>
          <p:cNvPr id="111" name="Picture 110" descr="__4_6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299290" y="1475867"/>
            <a:ext cx="1033277" cy="265429"/>
          </a:xfrm>
          <a:prstGeom prst="rect">
            <a:avLst/>
          </a:prstGeom>
        </p:spPr>
      </p:pic>
      <p:pic>
        <p:nvPicPr>
          <p:cNvPr id="112" name="Picture 111" descr="__4_7_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037184" y="1475867"/>
            <a:ext cx="1033277" cy="265429"/>
          </a:xfrm>
          <a:prstGeom prst="rect">
            <a:avLst/>
          </a:prstGeom>
        </p:spPr>
      </p:pic>
      <p:pic>
        <p:nvPicPr>
          <p:cNvPr id="113" name="Picture 112" descr="__5_4_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775078" y="1475867"/>
            <a:ext cx="1033277" cy="265429"/>
          </a:xfrm>
          <a:prstGeom prst="rect">
            <a:avLst/>
          </a:prstGeom>
        </p:spPr>
      </p:pic>
      <p:pic>
        <p:nvPicPr>
          <p:cNvPr id="114" name="Picture 113" descr="__5_3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4512972" y="1475867"/>
            <a:ext cx="1033277" cy="265429"/>
          </a:xfrm>
          <a:prstGeom prst="rect">
            <a:avLst/>
          </a:prstGeom>
        </p:spPr>
      </p:pic>
      <p:pic>
        <p:nvPicPr>
          <p:cNvPr id="115" name="Picture 114" descr="__5_5_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5250866" y="1475867"/>
            <a:ext cx="1033277" cy="265429"/>
          </a:xfrm>
          <a:prstGeom prst="rect">
            <a:avLst/>
          </a:prstGeom>
        </p:spPr>
      </p:pic>
      <p:pic>
        <p:nvPicPr>
          <p:cNvPr id="116" name="Picture 115" descr="__5_6_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5988760" y="1475867"/>
            <a:ext cx="1033277" cy="265429"/>
          </a:xfrm>
          <a:prstGeom prst="rect">
            <a:avLst/>
          </a:prstGeom>
        </p:spPr>
      </p:pic>
      <p:pic>
        <p:nvPicPr>
          <p:cNvPr id="117" name="Picture 116" descr="__5_3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726654" y="1475867"/>
            <a:ext cx="1033277" cy="265429"/>
          </a:xfrm>
          <a:prstGeom prst="rect">
            <a:avLst/>
          </a:prstGeom>
        </p:spPr>
      </p:pic>
      <p:pic>
        <p:nvPicPr>
          <p:cNvPr id="118" name="Picture 117" descr="__5_4_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7464548" y="1475867"/>
            <a:ext cx="1033277" cy="265429"/>
          </a:xfrm>
          <a:prstGeom prst="rect">
            <a:avLst/>
          </a:prstGeom>
        </p:spPr>
      </p:pic>
      <p:pic>
        <p:nvPicPr>
          <p:cNvPr id="119" name="Picture 118" descr="__5_4_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202442" y="1475867"/>
            <a:ext cx="1033277" cy="265429"/>
          </a:xfrm>
          <a:prstGeom prst="rect">
            <a:avLst/>
          </a:prstGeom>
        </p:spPr>
      </p:pic>
      <p:pic>
        <p:nvPicPr>
          <p:cNvPr id="120" name="Picture 119" descr="__5_5_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8940336" y="1475867"/>
            <a:ext cx="1033277" cy="265429"/>
          </a:xfrm>
          <a:prstGeom prst="rect">
            <a:avLst/>
          </a:prstGeom>
        </p:spPr>
      </p:pic>
      <p:pic>
        <p:nvPicPr>
          <p:cNvPr id="121" name="Picture 120" descr="__5_5_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9678230" y="1475867"/>
            <a:ext cx="1033277" cy="265429"/>
          </a:xfrm>
          <a:prstGeom prst="rect">
            <a:avLst/>
          </a:prstGeom>
        </p:spPr>
      </p:pic>
      <p:pic>
        <p:nvPicPr>
          <p:cNvPr id="122" name="Picture 121" descr="__5_5_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10416124" y="1475867"/>
            <a:ext cx="1033277" cy="265429"/>
          </a:xfrm>
          <a:prstGeom prst="rect">
            <a:avLst/>
          </a:prstGeom>
        </p:spPr>
      </p:pic>
      <p:pic>
        <p:nvPicPr>
          <p:cNvPr id="123" name="Picture 122" descr="__5_5_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11154018" y="1475867"/>
            <a:ext cx="1033277" cy="265429"/>
          </a:xfrm>
          <a:prstGeom prst="rect">
            <a:avLst/>
          </a:prstGeom>
        </p:spPr>
      </p:pic>
      <p:pic>
        <p:nvPicPr>
          <p:cNvPr id="124" name="Picture 123" descr="__5_0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823502" y="1724279"/>
            <a:ext cx="1033277" cy="265429"/>
          </a:xfrm>
          <a:prstGeom prst="rect">
            <a:avLst/>
          </a:prstGeom>
        </p:spPr>
      </p:pic>
      <p:pic>
        <p:nvPicPr>
          <p:cNvPr id="125" name="Picture 124" descr="__4_8_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561396" y="1724279"/>
            <a:ext cx="1033277" cy="265429"/>
          </a:xfrm>
          <a:prstGeom prst="rect">
            <a:avLst/>
          </a:prstGeom>
        </p:spPr>
      </p:pic>
      <p:pic>
        <p:nvPicPr>
          <p:cNvPr id="126" name="Picture 125" descr="__4_8_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299290" y="1724279"/>
            <a:ext cx="1033277" cy="265429"/>
          </a:xfrm>
          <a:prstGeom prst="rect">
            <a:avLst/>
          </a:prstGeom>
        </p:spPr>
      </p:pic>
      <p:pic>
        <p:nvPicPr>
          <p:cNvPr id="127" name="Picture 126" descr="__4_9_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3037184" y="1724279"/>
            <a:ext cx="1033277" cy="265429"/>
          </a:xfrm>
          <a:prstGeom prst="rect">
            <a:avLst/>
          </a:prstGeom>
        </p:spPr>
      </p:pic>
      <p:pic>
        <p:nvPicPr>
          <p:cNvPr id="128" name="Picture 127" descr="__5_6_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3775078" y="1724279"/>
            <a:ext cx="1033277" cy="265429"/>
          </a:xfrm>
          <a:prstGeom prst="rect">
            <a:avLst/>
          </a:prstGeom>
        </p:spPr>
      </p:pic>
      <p:pic>
        <p:nvPicPr>
          <p:cNvPr id="129" name="Picture 128" descr="__5_5_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4512972" y="1724279"/>
            <a:ext cx="1033277" cy="265429"/>
          </a:xfrm>
          <a:prstGeom prst="rect">
            <a:avLst/>
          </a:prstGeom>
        </p:spPr>
      </p:pic>
      <p:pic>
        <p:nvPicPr>
          <p:cNvPr id="130" name="Picture 129" descr="__5_7_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5250866" y="1724279"/>
            <a:ext cx="1033277" cy="265429"/>
          </a:xfrm>
          <a:prstGeom prst="rect">
            <a:avLst/>
          </a:prstGeom>
        </p:spPr>
      </p:pic>
      <p:pic>
        <p:nvPicPr>
          <p:cNvPr id="131" name="Picture 130" descr="__5_8_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5988760" y="1724279"/>
            <a:ext cx="1033277" cy="265429"/>
          </a:xfrm>
          <a:prstGeom prst="rect">
            <a:avLst/>
          </a:prstGeom>
        </p:spPr>
      </p:pic>
      <p:pic>
        <p:nvPicPr>
          <p:cNvPr id="132" name="Picture 131" descr="__5_5_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6726654" y="1724279"/>
            <a:ext cx="1033277" cy="265429"/>
          </a:xfrm>
          <a:prstGeom prst="rect">
            <a:avLst/>
          </a:prstGeom>
        </p:spPr>
      </p:pic>
      <p:pic>
        <p:nvPicPr>
          <p:cNvPr id="133" name="Picture 132" descr="__5_6_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7464548" y="1724279"/>
            <a:ext cx="1033277" cy="265429"/>
          </a:xfrm>
          <a:prstGeom prst="rect">
            <a:avLst/>
          </a:prstGeom>
        </p:spPr>
      </p:pic>
      <p:pic>
        <p:nvPicPr>
          <p:cNvPr id="134" name="Picture 133" descr="__5_6_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8202442" y="1724279"/>
            <a:ext cx="1033277" cy="265429"/>
          </a:xfrm>
          <a:prstGeom prst="rect">
            <a:avLst/>
          </a:prstGeom>
        </p:spPr>
      </p:pic>
      <p:pic>
        <p:nvPicPr>
          <p:cNvPr id="135" name="Picture 134" descr="__5_8_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8940336" y="1724279"/>
            <a:ext cx="1033277" cy="265429"/>
          </a:xfrm>
          <a:prstGeom prst="rect">
            <a:avLst/>
          </a:prstGeom>
        </p:spPr>
      </p:pic>
      <p:pic>
        <p:nvPicPr>
          <p:cNvPr id="136" name="Picture 135" descr="__5_7_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9678230" y="1724279"/>
            <a:ext cx="1033277" cy="265429"/>
          </a:xfrm>
          <a:prstGeom prst="rect">
            <a:avLst/>
          </a:prstGeom>
        </p:spPr>
      </p:pic>
      <p:pic>
        <p:nvPicPr>
          <p:cNvPr id="137" name="Picture 136" descr="__5_7_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10416124" y="1724279"/>
            <a:ext cx="1033277" cy="265429"/>
          </a:xfrm>
          <a:prstGeom prst="rect">
            <a:avLst/>
          </a:prstGeom>
        </p:spPr>
      </p:pic>
      <p:pic>
        <p:nvPicPr>
          <p:cNvPr id="138" name="Picture 137" descr="__5_7_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11154018" y="1724279"/>
            <a:ext cx="1033277" cy="265429"/>
          </a:xfrm>
          <a:prstGeom prst="rect">
            <a:avLst/>
          </a:prstGeom>
        </p:spPr>
      </p:pic>
      <p:pic>
        <p:nvPicPr>
          <p:cNvPr id="139" name="Picture 138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6335505" y="1476733"/>
            <a:ext cx="333724" cy="485416"/>
          </a:xfrm>
          <a:prstGeom prst="rect">
            <a:avLst/>
          </a:prstGeom>
        </p:spPr>
      </p:pic>
    </p:spTree>
  </p:cSld>
  <p:clrMapOvr>
    <a:masterClrMapping/>
  </p:clrMapOvr>
</p:sld>
</file>

<file path=ppt/slides/slide10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Europe Market Value, By Pet Type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Pet Type,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209675"/>
          </a:xfrm>
          <a:prstGeom prst="roundRect">
            <a:avLst>
              <a:gd name="adj" fmla="val 629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YoY Growth, By Pet Type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6" cy="74294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818796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Pet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Dogs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Cats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19907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324100"/>
            <a:ext cx="11906250" cy="4305300"/>
          </a:xfrm>
          <a:prstGeom prst="roundRect">
            <a:avLst>
              <a:gd name="adj" fmla="val 17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38125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YoY Heatmap, By Pet Type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2752725"/>
            <a:ext cx="1590675" cy="190976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Dogs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2752725"/>
            <a:ext cx="643890" cy="1909762"/>
          </a:xfrm>
          <a:prstGeom prst="rect">
            <a:avLst/>
          </a:prstGeom>
          <a:solidFill>
            <a:srgbClr val="E4F1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2752725"/>
            <a:ext cx="643890" cy="1909762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2752725"/>
            <a:ext cx="643890" cy="1909762"/>
          </a:xfrm>
          <a:prstGeom prst="rect">
            <a:avLst/>
          </a:prstGeom>
          <a:solidFill>
            <a:srgbClr val="FE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2752725"/>
            <a:ext cx="643890" cy="1909762"/>
          </a:xfrm>
          <a:prstGeom prst="rect">
            <a:avLst/>
          </a:prstGeom>
          <a:solidFill>
            <a:srgbClr val="F1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2752725"/>
            <a:ext cx="643890" cy="1909762"/>
          </a:xfrm>
          <a:prstGeom prst="rect">
            <a:avLst/>
          </a:prstGeom>
          <a:solidFill>
            <a:srgbClr val="39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2752725"/>
            <a:ext cx="643890" cy="1909762"/>
          </a:xfrm>
          <a:prstGeom prst="rect">
            <a:avLst/>
          </a:prstGeom>
          <a:solidFill>
            <a:srgbClr val="5B9F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2752725"/>
            <a:ext cx="643890" cy="1909762"/>
          </a:xfrm>
          <a:prstGeom prst="rect">
            <a:avLst/>
          </a:prstGeom>
          <a:solidFill>
            <a:srgbClr val="1C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2752725"/>
            <a:ext cx="643890" cy="1909762"/>
          </a:xfrm>
          <a:prstGeom prst="rect">
            <a:avLst/>
          </a:prstGeom>
          <a:solidFill>
            <a:srgbClr val="0F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2752725"/>
            <a:ext cx="643890" cy="1909762"/>
          </a:xfrm>
          <a:prstGeom prst="rect">
            <a:avLst/>
          </a:prstGeom>
          <a:solidFill>
            <a:srgbClr val="5C9F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2752725"/>
            <a:ext cx="643890" cy="1909762"/>
          </a:xfrm>
          <a:prstGeom prst="rect">
            <a:avLst/>
          </a:prstGeom>
          <a:solidFill>
            <a:srgbClr val="3B8DC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2752725"/>
            <a:ext cx="643890" cy="1909762"/>
          </a:xfrm>
          <a:prstGeom prst="rect">
            <a:avLst/>
          </a:prstGeom>
          <a:solidFill>
            <a:srgbClr val="3388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2752725"/>
            <a:ext cx="643890" cy="1909762"/>
          </a:xfrm>
          <a:prstGeom prst="rect">
            <a:avLst/>
          </a:prstGeom>
          <a:solidFill>
            <a:srgbClr val="1E7C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2752725"/>
            <a:ext cx="643890" cy="1909762"/>
          </a:xfrm>
          <a:prstGeom prst="rect">
            <a:avLst/>
          </a:prstGeom>
          <a:solidFill>
            <a:srgbClr val="227E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2752725"/>
            <a:ext cx="643890" cy="1909762"/>
          </a:xfrm>
          <a:prstGeom prst="rect">
            <a:avLst/>
          </a:prstGeom>
          <a:solidFill>
            <a:srgbClr val="24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2752725"/>
            <a:ext cx="643890" cy="1909762"/>
          </a:xfrm>
          <a:prstGeom prst="rect">
            <a:avLst/>
          </a:prstGeom>
          <a:solidFill>
            <a:srgbClr val="207D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662488"/>
            <a:ext cx="1590675" cy="190976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Cats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662488"/>
            <a:ext cx="643890" cy="1909762"/>
          </a:xfrm>
          <a:prstGeom prst="rect">
            <a:avLst/>
          </a:prstGeom>
          <a:solidFill>
            <a:srgbClr val="C7DB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662488"/>
            <a:ext cx="643890" cy="1909762"/>
          </a:xfrm>
          <a:prstGeom prst="rect">
            <a:avLst/>
          </a:prstGeom>
          <a:solidFill>
            <a:srgbClr val="E4F1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662488"/>
            <a:ext cx="643890" cy="1909762"/>
          </a:xfrm>
          <a:prstGeom prst="rect">
            <a:avLst/>
          </a:prstGeom>
          <a:solidFill>
            <a:srgbClr val="E2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662488"/>
            <a:ext cx="643890" cy="1909762"/>
          </a:xfrm>
          <a:prstGeom prst="rect">
            <a:avLst/>
          </a:prstGeom>
          <a:solidFill>
            <a:srgbClr val="D4E4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662488"/>
            <a:ext cx="643890" cy="1909762"/>
          </a:xfrm>
          <a:prstGeom prst="rect">
            <a:avLst/>
          </a:prstGeom>
          <a:solidFill>
            <a:srgbClr val="1174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662488"/>
            <a:ext cx="643890" cy="1909762"/>
          </a:xfrm>
          <a:prstGeom prst="rect">
            <a:avLst/>
          </a:prstGeom>
          <a:solidFill>
            <a:srgbClr val="23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662488"/>
            <a:ext cx="643890" cy="1909762"/>
          </a:xfrm>
          <a:prstGeom prst="rect">
            <a:avLst/>
          </a:prstGeom>
          <a:solidFill>
            <a:srgbClr val="0C406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662488"/>
            <a:ext cx="643890" cy="1909762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662488"/>
            <a:ext cx="643890" cy="1909762"/>
          </a:xfrm>
          <a:prstGeom prst="rect">
            <a:avLst/>
          </a:prstGeom>
          <a:solidFill>
            <a:srgbClr val="29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662488"/>
            <a:ext cx="643890" cy="1909762"/>
          </a:xfrm>
          <a:prstGeom prst="rect">
            <a:avLst/>
          </a:prstGeom>
          <a:solidFill>
            <a:srgbClr val="16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662488"/>
            <a:ext cx="643890" cy="1909762"/>
          </a:xfrm>
          <a:prstGeom prst="rect">
            <a:avLst/>
          </a:prstGeom>
          <a:solidFill>
            <a:srgbClr val="0E6AA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662488"/>
            <a:ext cx="643890" cy="1909762"/>
          </a:xfrm>
          <a:prstGeom prst="rect">
            <a:avLst/>
          </a:prstGeom>
          <a:solidFill>
            <a:srgbClr val="0C416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662488"/>
            <a:ext cx="643890" cy="1909762"/>
          </a:xfrm>
          <a:prstGeom prst="rect">
            <a:avLst/>
          </a:prstGeom>
          <a:solidFill>
            <a:srgbClr val="0C4D7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662488"/>
            <a:ext cx="643890" cy="1909762"/>
          </a:xfrm>
          <a:prstGeom prst="rect">
            <a:avLst/>
          </a:prstGeom>
          <a:solidFill>
            <a:srgbClr val="0D517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662488"/>
            <a:ext cx="643890" cy="1909762"/>
          </a:xfrm>
          <a:prstGeom prst="rect">
            <a:avLst/>
          </a:prstGeom>
          <a:solidFill>
            <a:srgbClr val="0D598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Rectangle 63"/>
          <p:cNvSpPr/>
          <p:nvPr/>
        </p:nvSpPr>
        <p:spPr>
          <a:xfrm>
            <a:off x="11572875" y="2790825"/>
            <a:ext cx="104775" cy="101203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Rectangle 64"/>
          <p:cNvSpPr/>
          <p:nvPr/>
        </p:nvSpPr>
        <p:spPr>
          <a:xfrm>
            <a:off x="11572875" y="2884408"/>
            <a:ext cx="104775" cy="101203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11572875" y="2977991"/>
            <a:ext cx="104775" cy="101203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11572875" y="3071574"/>
            <a:ext cx="104775" cy="101203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11572875" y="3165158"/>
            <a:ext cx="104775" cy="101203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11572875" y="3258741"/>
            <a:ext cx="104775" cy="101203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11572875" y="3352324"/>
            <a:ext cx="104775" cy="101203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11572875" y="3445907"/>
            <a:ext cx="104775" cy="101203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11572875" y="3539490"/>
            <a:ext cx="104775" cy="101203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11572875" y="3633073"/>
            <a:ext cx="104775" cy="101203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11572875" y="3726656"/>
            <a:ext cx="104775" cy="101203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11572875" y="3820239"/>
            <a:ext cx="104775" cy="101203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11572875" y="3913822"/>
            <a:ext cx="104775" cy="101203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11572875" y="4007406"/>
            <a:ext cx="104775" cy="101203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1572875" y="4100989"/>
            <a:ext cx="104775" cy="101203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1572875" y="4194572"/>
            <a:ext cx="104775" cy="101203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Rectangle 79"/>
          <p:cNvSpPr/>
          <p:nvPr/>
        </p:nvSpPr>
        <p:spPr>
          <a:xfrm>
            <a:off x="11572875" y="4288155"/>
            <a:ext cx="104775" cy="101203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Rectangle 80"/>
          <p:cNvSpPr/>
          <p:nvPr/>
        </p:nvSpPr>
        <p:spPr>
          <a:xfrm>
            <a:off x="11572875" y="4381738"/>
            <a:ext cx="104775" cy="101203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11572875" y="4475321"/>
            <a:ext cx="104775" cy="101203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11572875" y="4568904"/>
            <a:ext cx="104775" cy="101203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11572875" y="4662488"/>
            <a:ext cx="104775" cy="101203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11572875" y="4756071"/>
            <a:ext cx="104775" cy="101203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11572875" y="4849654"/>
            <a:ext cx="104775" cy="101203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11572875" y="4943237"/>
            <a:ext cx="104775" cy="101203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11572875" y="5036820"/>
            <a:ext cx="104775" cy="101203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11572875" y="5130403"/>
            <a:ext cx="104775" cy="101203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11572875" y="5223986"/>
            <a:ext cx="104775" cy="101203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11572875" y="5317569"/>
            <a:ext cx="104775" cy="101203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11572875" y="5411152"/>
            <a:ext cx="104775" cy="101203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11572875" y="5504736"/>
            <a:ext cx="104775" cy="101203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1572875" y="5598319"/>
            <a:ext cx="104775" cy="101203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1572875" y="5691902"/>
            <a:ext cx="104775" cy="101203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Rectangle 95"/>
          <p:cNvSpPr/>
          <p:nvPr/>
        </p:nvSpPr>
        <p:spPr>
          <a:xfrm>
            <a:off x="11572875" y="5785485"/>
            <a:ext cx="104775" cy="101203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Rectangle 96"/>
          <p:cNvSpPr/>
          <p:nvPr/>
        </p:nvSpPr>
        <p:spPr>
          <a:xfrm>
            <a:off x="11572875" y="5879068"/>
            <a:ext cx="104775" cy="101203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11572875" y="5972651"/>
            <a:ext cx="104775" cy="101203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11572875" y="6066234"/>
            <a:ext cx="104775" cy="101203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11572875" y="6159818"/>
            <a:ext cx="104775" cy="101203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11572875" y="6253401"/>
            <a:ext cx="104775" cy="101203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11572875" y="6346984"/>
            <a:ext cx="104775" cy="101203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11572875" y="6440567"/>
            <a:ext cx="104775" cy="101203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11572875" y="2790825"/>
            <a:ext cx="104775" cy="3743325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TextBox 104"/>
          <p:cNvSpPr txBox="1"/>
          <p:nvPr/>
        </p:nvSpPr>
        <p:spPr>
          <a:xfrm>
            <a:off x="11687175" y="272415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106" name="TextBox 105"/>
          <p:cNvSpPr txBox="1"/>
          <p:nvPr/>
        </p:nvSpPr>
        <p:spPr>
          <a:xfrm>
            <a:off x="11687175" y="4595812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09" name="Picture 108" descr="__5_3_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23502" y="1475867"/>
            <a:ext cx="1033277" cy="265429"/>
          </a:xfrm>
          <a:prstGeom prst="rect">
            <a:avLst/>
          </a:prstGeom>
        </p:spPr>
      </p:pic>
      <p:pic>
        <p:nvPicPr>
          <p:cNvPr id="110" name="Picture 109" descr="__5_1_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561396" y="1475867"/>
            <a:ext cx="1033277" cy="265429"/>
          </a:xfrm>
          <a:prstGeom prst="rect">
            <a:avLst/>
          </a:prstGeom>
        </p:spPr>
      </p:pic>
      <p:pic>
        <p:nvPicPr>
          <p:cNvPr id="111" name="Picture 110" descr="__5_1_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299290" y="1475867"/>
            <a:ext cx="1033277" cy="265429"/>
          </a:xfrm>
          <a:prstGeom prst="rect">
            <a:avLst/>
          </a:prstGeom>
        </p:spPr>
      </p:pic>
      <p:pic>
        <p:nvPicPr>
          <p:cNvPr id="112" name="Picture 111" descr="__5_2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37184" y="1475867"/>
            <a:ext cx="1033277" cy="265429"/>
          </a:xfrm>
          <a:prstGeom prst="rect">
            <a:avLst/>
          </a:prstGeom>
        </p:spPr>
      </p:pic>
      <p:pic>
        <p:nvPicPr>
          <p:cNvPr id="113" name="Picture 112" descr="__6_0_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775078" y="1475867"/>
            <a:ext cx="1033277" cy="265429"/>
          </a:xfrm>
          <a:prstGeom prst="rect">
            <a:avLst/>
          </a:prstGeom>
        </p:spPr>
      </p:pic>
      <p:pic>
        <p:nvPicPr>
          <p:cNvPr id="114" name="Picture 113" descr="__5_9_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4512972" y="1475867"/>
            <a:ext cx="1033277" cy="265429"/>
          </a:xfrm>
          <a:prstGeom prst="rect">
            <a:avLst/>
          </a:prstGeom>
        </p:spPr>
      </p:pic>
      <p:pic>
        <p:nvPicPr>
          <p:cNvPr id="115" name="Picture 114" descr="__6_1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5250866" y="1475867"/>
            <a:ext cx="1033277" cy="265429"/>
          </a:xfrm>
          <a:prstGeom prst="rect">
            <a:avLst/>
          </a:prstGeom>
        </p:spPr>
      </p:pic>
      <p:pic>
        <p:nvPicPr>
          <p:cNvPr id="116" name="Picture 115" descr="__6_2_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5988760" y="1475867"/>
            <a:ext cx="1033277" cy="265429"/>
          </a:xfrm>
          <a:prstGeom prst="rect">
            <a:avLst/>
          </a:prstGeom>
        </p:spPr>
      </p:pic>
      <p:pic>
        <p:nvPicPr>
          <p:cNvPr id="117" name="Picture 116" descr="__5_9_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6726654" y="1475867"/>
            <a:ext cx="1033277" cy="265429"/>
          </a:xfrm>
          <a:prstGeom prst="rect">
            <a:avLst/>
          </a:prstGeom>
        </p:spPr>
      </p:pic>
      <p:pic>
        <p:nvPicPr>
          <p:cNvPr id="118" name="Picture 117" descr="__6_0_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7464548" y="1475867"/>
            <a:ext cx="1033277" cy="265429"/>
          </a:xfrm>
          <a:prstGeom prst="rect">
            <a:avLst/>
          </a:prstGeom>
        </p:spPr>
      </p:pic>
      <p:pic>
        <p:nvPicPr>
          <p:cNvPr id="119" name="Picture 118" descr="__6_0_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202442" y="1475867"/>
            <a:ext cx="1033277" cy="265429"/>
          </a:xfrm>
          <a:prstGeom prst="rect">
            <a:avLst/>
          </a:prstGeom>
        </p:spPr>
      </p:pic>
      <p:pic>
        <p:nvPicPr>
          <p:cNvPr id="120" name="Picture 119" descr="__6_1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8940336" y="1475867"/>
            <a:ext cx="1033277" cy="265429"/>
          </a:xfrm>
          <a:prstGeom prst="rect">
            <a:avLst/>
          </a:prstGeom>
        </p:spPr>
      </p:pic>
      <p:pic>
        <p:nvPicPr>
          <p:cNvPr id="121" name="Picture 120" descr="__6_1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9678230" y="1475867"/>
            <a:ext cx="1033277" cy="265429"/>
          </a:xfrm>
          <a:prstGeom prst="rect">
            <a:avLst/>
          </a:prstGeom>
        </p:spPr>
      </p:pic>
      <p:pic>
        <p:nvPicPr>
          <p:cNvPr id="122" name="Picture 121" descr="__6_1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10416124" y="1475867"/>
            <a:ext cx="1033277" cy="265429"/>
          </a:xfrm>
          <a:prstGeom prst="rect">
            <a:avLst/>
          </a:prstGeom>
        </p:spPr>
      </p:pic>
      <p:pic>
        <p:nvPicPr>
          <p:cNvPr id="123" name="Picture 122" descr="__6_1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11154018" y="1475867"/>
            <a:ext cx="1033277" cy="265429"/>
          </a:xfrm>
          <a:prstGeom prst="rect">
            <a:avLst/>
          </a:prstGeom>
        </p:spPr>
      </p:pic>
      <p:pic>
        <p:nvPicPr>
          <p:cNvPr id="124" name="Picture 123" descr="__5_5_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823502" y="1724279"/>
            <a:ext cx="1033277" cy="265429"/>
          </a:xfrm>
          <a:prstGeom prst="rect">
            <a:avLst/>
          </a:prstGeom>
        </p:spPr>
      </p:pic>
      <p:pic>
        <p:nvPicPr>
          <p:cNvPr id="125" name="Picture 124" descr="__5_3_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561396" y="1724279"/>
            <a:ext cx="1033277" cy="265429"/>
          </a:xfrm>
          <a:prstGeom prst="rect">
            <a:avLst/>
          </a:prstGeom>
        </p:spPr>
      </p:pic>
      <p:pic>
        <p:nvPicPr>
          <p:cNvPr id="126" name="Picture 125" descr="__5_4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2299290" y="1724279"/>
            <a:ext cx="1033277" cy="265429"/>
          </a:xfrm>
          <a:prstGeom prst="rect">
            <a:avLst/>
          </a:prstGeom>
        </p:spPr>
      </p:pic>
      <p:pic>
        <p:nvPicPr>
          <p:cNvPr id="127" name="Picture 126" descr="__5_5_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3037184" y="1724279"/>
            <a:ext cx="1033277" cy="265429"/>
          </a:xfrm>
          <a:prstGeom prst="rect">
            <a:avLst/>
          </a:prstGeom>
        </p:spPr>
      </p:pic>
      <p:pic>
        <p:nvPicPr>
          <p:cNvPr id="128" name="Picture 127" descr="__6_2_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3775078" y="1724279"/>
            <a:ext cx="1033277" cy="265429"/>
          </a:xfrm>
          <a:prstGeom prst="rect">
            <a:avLst/>
          </a:prstGeom>
        </p:spPr>
      </p:pic>
      <p:pic>
        <p:nvPicPr>
          <p:cNvPr id="129" name="Picture 128" descr="__6_1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4512972" y="1724279"/>
            <a:ext cx="1033277" cy="265429"/>
          </a:xfrm>
          <a:prstGeom prst="rect">
            <a:avLst/>
          </a:prstGeom>
        </p:spPr>
      </p:pic>
      <p:pic>
        <p:nvPicPr>
          <p:cNvPr id="130" name="Picture 129" descr="__6_3_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5250866" y="1724279"/>
            <a:ext cx="1033277" cy="265429"/>
          </a:xfrm>
          <a:prstGeom prst="rect">
            <a:avLst/>
          </a:prstGeom>
        </p:spPr>
      </p:pic>
      <p:pic>
        <p:nvPicPr>
          <p:cNvPr id="131" name="Picture 130" descr="__6_3_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5988760" y="1724279"/>
            <a:ext cx="1033277" cy="265429"/>
          </a:xfrm>
          <a:prstGeom prst="rect">
            <a:avLst/>
          </a:prstGeom>
        </p:spPr>
      </p:pic>
      <p:pic>
        <p:nvPicPr>
          <p:cNvPr id="132" name="Picture 131" descr="__6_1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726654" y="1724279"/>
            <a:ext cx="1033277" cy="265429"/>
          </a:xfrm>
          <a:prstGeom prst="rect">
            <a:avLst/>
          </a:prstGeom>
        </p:spPr>
      </p:pic>
      <p:pic>
        <p:nvPicPr>
          <p:cNvPr id="133" name="Picture 132" descr="__6_1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7464548" y="1724279"/>
            <a:ext cx="1033277" cy="265429"/>
          </a:xfrm>
          <a:prstGeom prst="rect">
            <a:avLst/>
          </a:prstGeom>
        </p:spPr>
      </p:pic>
      <p:pic>
        <p:nvPicPr>
          <p:cNvPr id="134" name="Picture 133" descr="__6_2_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8202442" y="1724279"/>
            <a:ext cx="1033277" cy="265429"/>
          </a:xfrm>
          <a:prstGeom prst="rect">
            <a:avLst/>
          </a:prstGeom>
        </p:spPr>
      </p:pic>
      <p:pic>
        <p:nvPicPr>
          <p:cNvPr id="135" name="Picture 134" descr="__6_3_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8940336" y="1724279"/>
            <a:ext cx="1033277" cy="265429"/>
          </a:xfrm>
          <a:prstGeom prst="rect">
            <a:avLst/>
          </a:prstGeom>
        </p:spPr>
      </p:pic>
      <p:pic>
        <p:nvPicPr>
          <p:cNvPr id="136" name="Picture 135" descr="__6_3_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9678230" y="1724279"/>
            <a:ext cx="1033277" cy="265429"/>
          </a:xfrm>
          <a:prstGeom prst="rect">
            <a:avLst/>
          </a:prstGeom>
        </p:spPr>
      </p:pic>
      <p:pic>
        <p:nvPicPr>
          <p:cNvPr id="137" name="Picture 136" descr="__6_3_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0416124" y="1724279"/>
            <a:ext cx="1033277" cy="265429"/>
          </a:xfrm>
          <a:prstGeom prst="rect">
            <a:avLst/>
          </a:prstGeom>
        </p:spPr>
      </p:pic>
      <p:pic>
        <p:nvPicPr>
          <p:cNvPr id="138" name="Picture 137" descr="__6_2_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11154018" y="1724279"/>
            <a:ext cx="1033277" cy="265429"/>
          </a:xfrm>
          <a:prstGeom prst="rect">
            <a:avLst/>
          </a:prstGeom>
        </p:spPr>
      </p:pic>
      <p:pic>
        <p:nvPicPr>
          <p:cNvPr id="139" name="Picture 138" descr="lock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6335505" y="1476733"/>
            <a:ext cx="333724" cy="485416"/>
          </a:xfrm>
          <a:prstGeom prst="rect">
            <a:avLst/>
          </a:prstGeom>
        </p:spPr>
      </p:pic>
    </p:spTree>
  </p:cSld>
  <p:clrMapOvr>
    <a:masterClrMapping/>
  </p:clrMapOvr>
</p:sld>
</file>

<file path=ppt/slides/slide10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7.6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Pack Size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Pack Size Segment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Structure &amp; Attractiveness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Volume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Value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0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By Pack Size Segment Outlook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 analysis of market size, growth and share across 3 sub-segments of Pack Size,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Pack Size segment categorizes the market by pack size. Each sub-category is evaluated on market size, growth outlook and adoption trends across the forecast period.</a:t>
            </a:r>
          </a:p>
        </p:txBody>
      </p:sp>
      <p:sp>
        <p:nvSpPr>
          <p:cNvPr id="12" name="Rectangle 11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Sub-Segment</a:t>
            </a:r>
          </a:p>
        </p:txBody>
      </p:sp>
      <p:sp>
        <p:nvSpPr>
          <p:cNvPr id="14" name="Rectangle 13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6" name="Rectangle 15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8" name="Rectangle 17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866900" y="1773916"/>
            <a:ext cx="3257550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Rectangle 20"/>
          <p:cNvSpPr/>
          <p:nvPr/>
        </p:nvSpPr>
        <p:spPr>
          <a:xfrm>
            <a:off x="1866900" y="1992961"/>
            <a:ext cx="3257550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905000" y="1773916"/>
            <a:ext cx="318135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Liquid, Gel &amp; Cream Products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2302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2723109"/>
            <a:ext cx="325755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5" name="Rectangle 24"/>
          <p:cNvSpPr/>
          <p:nvPr/>
        </p:nvSpPr>
        <p:spPr>
          <a:xfrm>
            <a:off x="1866900" y="32159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6" name="Oval 25"/>
          <p:cNvSpPr/>
          <p:nvPr/>
        </p:nvSpPr>
        <p:spPr>
          <a:xfrm>
            <a:off x="3333750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5238750" y="1773916"/>
            <a:ext cx="3257550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Rectangle 27"/>
          <p:cNvSpPr/>
          <p:nvPr/>
        </p:nvSpPr>
        <p:spPr>
          <a:xfrm>
            <a:off x="5238750" y="1992961"/>
            <a:ext cx="3257550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5276850" y="1773916"/>
            <a:ext cx="318135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Wipes &amp; Other Count-Based Products</a:t>
            </a:r>
          </a:p>
        </p:txBody>
      </p:sp>
      <p:sp>
        <p:nvSpPr>
          <p:cNvPr id="30" name="Rectangle 29"/>
          <p:cNvSpPr/>
          <p:nvPr/>
        </p:nvSpPr>
        <p:spPr>
          <a:xfrm>
            <a:off x="5238750" y="22302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5238750" y="2723109"/>
            <a:ext cx="325755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2" name="Rectangle 31"/>
          <p:cNvSpPr/>
          <p:nvPr/>
        </p:nvSpPr>
        <p:spPr>
          <a:xfrm>
            <a:off x="5238750" y="32159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6705600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8610600" y="1773916"/>
            <a:ext cx="3257550" cy="438089"/>
          </a:xfrm>
          <a:prstGeom prst="roundRect">
            <a:avLst>
              <a:gd name="adj" fmla="val 18000"/>
            </a:avLst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8610600" y="1992961"/>
            <a:ext cx="3257550" cy="21904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648700" y="1773916"/>
            <a:ext cx="318135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Solid, Powder &amp; Weight-Labeled Pr…</a:t>
            </a:r>
          </a:p>
        </p:txBody>
      </p:sp>
      <p:sp>
        <p:nvSpPr>
          <p:cNvPr id="37" name="Rectangle 36"/>
          <p:cNvSpPr/>
          <p:nvPr/>
        </p:nvSpPr>
        <p:spPr>
          <a:xfrm>
            <a:off x="8610600" y="22302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8" name="Rectangle 37"/>
          <p:cNvSpPr/>
          <p:nvPr/>
        </p:nvSpPr>
        <p:spPr>
          <a:xfrm>
            <a:off x="8610600" y="2723109"/>
            <a:ext cx="325755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9" name="Rectangle 38"/>
          <p:cNvSpPr/>
          <p:nvPr/>
        </p:nvSpPr>
        <p:spPr>
          <a:xfrm>
            <a:off x="8610600" y="32159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40" name="Oval 39"/>
          <p:cNvSpPr/>
          <p:nvPr/>
        </p:nvSpPr>
        <p:spPr>
          <a:xfrm>
            <a:off x="10077450" y="1445350"/>
            <a:ext cx="323850" cy="310313"/>
          </a:xfrm>
          <a:prstGeom prst="ellipse">
            <a:avLst/>
          </a:prstGeom>
          <a:solidFill>
            <a:srgbClr val="0081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41" name="Rounded Rectangle 40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43" name="Rectangle 42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5" name="Rounded Rectangle 44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47" name="Rectangle 46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1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08189"/>
                </a:solidFill>
                <a:latin typeface="Calibri"/>
              </a:rPr>
              <a:t/>
            </a:r>
            <a:r>
              <a:rPr sz="1100" b="1">
                <a:solidFill>
                  <a:srgbClr val="0081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9" name="Rounded Rectangle 48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Segment Overview</a:t>
            </a:r>
          </a:p>
        </p:txBody>
      </p:sp>
      <p:sp>
        <p:nvSpPr>
          <p:cNvPr id="51" name="Rectangle 50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Pack Size split shows how demand is distributed across pack size types and where growth concentrates.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preferences and product innovation are reshaping the mix through 2036.</a:t>
            </a:r>
          </a:p>
        </p:txBody>
      </p:sp>
      <p:sp>
        <p:nvSpPr>
          <p:cNvPr id="53" name="Rectangle 52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57" name="Picture 56" descr="2_038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97811" y="2286582"/>
            <a:ext cx="1195728" cy="361950"/>
          </a:xfrm>
          <a:prstGeom prst="rect">
            <a:avLst/>
          </a:prstGeom>
        </p:spPr>
      </p:pic>
      <p:pic>
        <p:nvPicPr>
          <p:cNvPr id="58" name="Picture 57" descr="3_651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897811" y="2779432"/>
            <a:ext cx="1195728" cy="361950"/>
          </a:xfrm>
          <a:prstGeom prst="rect">
            <a:avLst/>
          </a:prstGeom>
        </p:spPr>
      </p:pic>
      <p:pic>
        <p:nvPicPr>
          <p:cNvPr id="59" name="Picture 58" descr="6_0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04457" y="3272281"/>
            <a:ext cx="982436" cy="361950"/>
          </a:xfrm>
          <a:prstGeom prst="rect">
            <a:avLst/>
          </a:prstGeom>
        </p:spPr>
      </p:pic>
      <p:pic>
        <p:nvPicPr>
          <p:cNvPr id="60" name="Picture 59" descr="712_5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269661" y="2286582"/>
            <a:ext cx="1195728" cy="361950"/>
          </a:xfrm>
          <a:prstGeom prst="rect">
            <a:avLst/>
          </a:prstGeom>
        </p:spPr>
      </p:pic>
      <p:pic>
        <p:nvPicPr>
          <p:cNvPr id="61" name="Picture 60" descr="1_307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6269661" y="2779432"/>
            <a:ext cx="1195728" cy="361950"/>
          </a:xfrm>
          <a:prstGeom prst="rect">
            <a:avLst/>
          </a:prstGeom>
        </p:spPr>
      </p:pic>
      <p:pic>
        <p:nvPicPr>
          <p:cNvPr id="62" name="Picture 61" descr="6_3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376307" y="3272281"/>
            <a:ext cx="982436" cy="361950"/>
          </a:xfrm>
          <a:prstGeom prst="rect">
            <a:avLst/>
          </a:prstGeom>
        </p:spPr>
      </p:pic>
      <p:pic>
        <p:nvPicPr>
          <p:cNvPr id="63" name="Picture 62" descr="401_8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9641511" y="2286582"/>
            <a:ext cx="1195728" cy="361950"/>
          </a:xfrm>
          <a:prstGeom prst="rect">
            <a:avLst/>
          </a:prstGeom>
        </p:spPr>
      </p:pic>
      <p:pic>
        <p:nvPicPr>
          <p:cNvPr id="64" name="Picture 63" descr="737_9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9641511" y="2779432"/>
            <a:ext cx="1195728" cy="361950"/>
          </a:xfrm>
          <a:prstGeom prst="rect">
            <a:avLst/>
          </a:prstGeom>
        </p:spPr>
      </p:pic>
      <p:pic>
        <p:nvPicPr>
          <p:cNvPr id="65" name="Picture 64" descr="6_3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9748157" y="3272281"/>
            <a:ext cx="982436" cy="361950"/>
          </a:xfrm>
          <a:prstGeom prst="rect">
            <a:avLst/>
          </a:prstGeom>
        </p:spPr>
      </p:pic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3402330" y="2827057"/>
            <a:ext cx="183356" cy="266700"/>
          </a:xfrm>
          <a:prstGeom prst="rect">
            <a:avLst/>
          </a:prstGeom>
        </p:spPr>
      </p:pic>
      <p:pic>
        <p:nvPicPr>
          <p:cNvPr id="67" name="Picture 66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6774180" y="2827057"/>
            <a:ext cx="183356" cy="266700"/>
          </a:xfrm>
          <a:prstGeom prst="rect">
            <a:avLst/>
          </a:prstGeom>
        </p:spPr>
      </p:pic>
      <p:pic>
        <p:nvPicPr>
          <p:cNvPr id="68" name="Picture 67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10146030" y="2827057"/>
            <a:ext cx="183356" cy="266700"/>
          </a:xfrm>
          <a:prstGeom prst="rect">
            <a:avLst/>
          </a:prstGeom>
        </p:spPr>
      </p:pic>
      <p:sp>
        <p:nvSpPr>
          <p:cNvPr id="69" name="TextBox 68"/>
          <p:cNvSpPr txBox="1"/>
          <p:nvPr/>
        </p:nvSpPr>
        <p:spPr>
          <a:xfrm>
            <a:off x="485775" y="4229437"/>
            <a:ext cx="285928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'Liquid, Gel &amp; Cream Products' holds the largest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485775" y="4397077"/>
            <a:ext cx="84209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 in 2026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1275920" y="4387298"/>
            <a:ext cx="128699" cy="187198"/>
          </a:xfrm>
          <a:prstGeom prst="rect">
            <a:avLst/>
          </a:prstGeom>
        </p:spPr>
      </p:pic>
      <p:sp>
        <p:nvSpPr>
          <p:cNvPr id="72" name="TextBox 71"/>
          <p:cNvSpPr txBox="1"/>
          <p:nvPr/>
        </p:nvSpPr>
        <p:spPr>
          <a:xfrm>
            <a:off x="1443416" y="4397077"/>
            <a:ext cx="108738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segment value.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485775" y="4615009"/>
            <a:ext cx="29146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'Solid, Powder &amp; Weight-Labeled Products' is the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485775" y="4782649"/>
            <a:ext cx="18732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fastest-growing sub-segment at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2307026" y="4772870"/>
            <a:ext cx="128699" cy="187198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2474522" y="4782649"/>
            <a:ext cx="88245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through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485775" y="4950289"/>
            <a:ext cx="39516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2036.</a:t>
            </a:r>
          </a:p>
        </p:txBody>
      </p:sp>
      <p:sp>
        <p:nvSpPr>
          <p:cNvPr id="78" name="TextBox 77"/>
          <p:cNvSpPr txBox="1"/>
          <p:nvPr/>
        </p:nvSpPr>
        <p:spPr>
          <a:xfrm>
            <a:off x="485775" y="5168221"/>
            <a:ext cx="18066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Segment value expands from</a:t>
            </a:r>
          </a:p>
        </p:txBody>
      </p:sp>
      <p:pic>
        <p:nvPicPr>
          <p:cNvPr id="79" name="Picture 78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2240451" y="5158441"/>
            <a:ext cx="128699" cy="187198"/>
          </a:xfrm>
          <a:prstGeom prst="rect">
            <a:avLst/>
          </a:prstGeom>
        </p:spPr>
      </p:pic>
      <p:sp>
        <p:nvSpPr>
          <p:cNvPr id="80" name="TextBox 79"/>
          <p:cNvSpPr txBox="1"/>
          <p:nvPr/>
        </p:nvSpPr>
        <p:spPr>
          <a:xfrm>
            <a:off x="2407947" y="5168221"/>
            <a:ext cx="1968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81" name="Picture 80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2552799" y="5158441"/>
            <a:ext cx="128699" cy="187198"/>
          </a:xfrm>
          <a:prstGeom prst="rect">
            <a:avLst/>
          </a:prstGeom>
        </p:spPr>
      </p:pic>
      <p:sp>
        <p:nvSpPr>
          <p:cNvPr id="82" name="TextBox 81"/>
          <p:cNvSpPr txBox="1"/>
          <p:nvPr/>
        </p:nvSpPr>
        <p:spPr>
          <a:xfrm>
            <a:off x="2720294" y="5168221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485775" y="5335861"/>
            <a:ext cx="11378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2026–2036.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485775" y="5553793"/>
            <a:ext cx="29146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3 sub-segments make up the pack size landscape.</a:t>
            </a:r>
          </a:p>
        </p:txBody>
      </p:sp>
      <p:sp>
        <p:nvSpPr>
          <p:cNvPr id="85" name="TextBox 84"/>
          <p:cNvSpPr txBox="1"/>
          <p:nvPr/>
        </p:nvSpPr>
        <p:spPr>
          <a:xfrm>
            <a:off x="3838575" y="4229437"/>
            <a:ext cx="189311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Liquid, Gel &amp; Cream Products:</a:t>
            </a:r>
          </a:p>
        </p:txBody>
      </p:sp>
      <p:pic>
        <p:nvPicPr>
          <p:cNvPr id="86" name="Picture 85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5679745" y="4219658"/>
            <a:ext cx="128699" cy="187198"/>
          </a:xfrm>
          <a:prstGeom prst="rect">
            <a:avLst/>
          </a:prstGeom>
        </p:spPr>
      </p:pic>
      <p:sp>
        <p:nvSpPr>
          <p:cNvPr id="87" name="TextBox 86"/>
          <p:cNvSpPr txBox="1"/>
          <p:nvPr/>
        </p:nvSpPr>
        <p:spPr>
          <a:xfrm>
            <a:off x="5847240" y="422943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88" name="Picture 87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6706691" y="4219658"/>
            <a:ext cx="128699" cy="187198"/>
          </a:xfrm>
          <a:prstGeom prst="rect">
            <a:avLst/>
          </a:prstGeom>
        </p:spPr>
      </p:pic>
      <p:sp>
        <p:nvSpPr>
          <p:cNvPr id="89" name="TextBox 88"/>
          <p:cNvSpPr txBox="1"/>
          <p:nvPr/>
        </p:nvSpPr>
        <p:spPr>
          <a:xfrm>
            <a:off x="6874187" y="4229437"/>
            <a:ext cx="94521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leads the</a:t>
            </a:r>
          </a:p>
        </p:txBody>
      </p:sp>
      <p:sp>
        <p:nvSpPr>
          <p:cNvPr id="90" name="TextBox 89"/>
          <p:cNvSpPr txBox="1"/>
          <p:nvPr/>
        </p:nvSpPr>
        <p:spPr>
          <a:xfrm>
            <a:off x="3838575" y="4397077"/>
            <a:ext cx="60280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segment.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3838575" y="4615009"/>
            <a:ext cx="236433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Wipes &amp; Other Count-Based Products:</a:t>
            </a:r>
          </a:p>
        </p:txBody>
      </p:sp>
      <p:pic>
        <p:nvPicPr>
          <p:cNvPr id="92" name="Picture 91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6150959" y="4605230"/>
            <a:ext cx="128699" cy="187198"/>
          </a:xfrm>
          <a:prstGeom prst="rect">
            <a:avLst/>
          </a:prstGeom>
        </p:spPr>
      </p:pic>
      <p:sp>
        <p:nvSpPr>
          <p:cNvPr id="93" name="TextBox 92"/>
          <p:cNvSpPr txBox="1"/>
          <p:nvPr/>
        </p:nvSpPr>
        <p:spPr>
          <a:xfrm>
            <a:off x="6318455" y="461500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94" name="Picture 93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7177905" y="4605230"/>
            <a:ext cx="128699" cy="187198"/>
          </a:xfrm>
          <a:prstGeom prst="rect">
            <a:avLst/>
          </a:prstGeom>
        </p:spPr>
      </p:pic>
      <p:sp>
        <p:nvSpPr>
          <p:cNvPr id="95" name="TextBox 94"/>
          <p:cNvSpPr txBox="1"/>
          <p:nvPr/>
        </p:nvSpPr>
        <p:spPr>
          <a:xfrm>
            <a:off x="7345401" y="4615009"/>
            <a:ext cx="39541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</a:t>
            </a:r>
          </a:p>
        </p:txBody>
      </p:sp>
      <p:sp>
        <p:nvSpPr>
          <p:cNvPr id="96" name="TextBox 95"/>
          <p:cNvSpPr txBox="1"/>
          <p:nvPr/>
        </p:nvSpPr>
        <p:spPr>
          <a:xfrm>
            <a:off x="3838575" y="4782649"/>
            <a:ext cx="90948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serves a niche.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3838575" y="5000581"/>
            <a:ext cx="260062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Solid, Powder &amp; Weight-Labeled Products:</a:t>
            </a:r>
          </a:p>
        </p:txBody>
      </p:sp>
      <p:pic>
        <p:nvPicPr>
          <p:cNvPr id="98" name="Picture 97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6387249" y="4990801"/>
            <a:ext cx="128699" cy="187198"/>
          </a:xfrm>
          <a:prstGeom prst="rect">
            <a:avLst/>
          </a:prstGeom>
        </p:spPr>
      </p:pic>
      <p:sp>
        <p:nvSpPr>
          <p:cNvPr id="99" name="TextBox 98"/>
          <p:cNvSpPr txBox="1"/>
          <p:nvPr/>
        </p:nvSpPr>
        <p:spPr>
          <a:xfrm>
            <a:off x="6554745" y="5000581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00" name="Picture 99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7414195" y="4990801"/>
            <a:ext cx="128699" cy="187198"/>
          </a:xfrm>
          <a:prstGeom prst="rect">
            <a:avLst/>
          </a:prstGeom>
        </p:spPr>
      </p:pic>
      <p:sp>
        <p:nvSpPr>
          <p:cNvPr id="101" name="TextBox 100"/>
          <p:cNvSpPr txBox="1"/>
          <p:nvPr/>
        </p:nvSpPr>
        <p:spPr>
          <a:xfrm>
            <a:off x="3838575" y="5168221"/>
            <a:ext cx="121861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grows fastest.</a:t>
            </a:r>
          </a:p>
        </p:txBody>
      </p:sp>
      <p:sp>
        <p:nvSpPr>
          <p:cNvPr id="102" name="TextBox 101"/>
          <p:cNvSpPr txBox="1"/>
          <p:nvPr/>
        </p:nvSpPr>
        <p:spPr>
          <a:xfrm>
            <a:off x="8524875" y="5842641"/>
            <a:ext cx="295013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The Pack Size segment is projected to grow at a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8524875" y="6017901"/>
            <a:ext cx="5747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CAGR of</a:t>
            </a:r>
          </a:p>
        </p:txBody>
      </p:sp>
      <p:pic>
        <p:nvPicPr>
          <p:cNvPr id="104" name="Picture 103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9048826" y="6007677"/>
            <a:ext cx="134549" cy="195707"/>
          </a:xfrm>
          <a:prstGeom prst="rect">
            <a:avLst/>
          </a:prstGeom>
        </p:spPr>
      </p:pic>
      <p:sp>
        <p:nvSpPr>
          <p:cNvPr id="105" name="TextBox 104"/>
          <p:cNvSpPr txBox="1"/>
          <p:nvPr/>
        </p:nvSpPr>
        <p:spPr>
          <a:xfrm>
            <a:off x="9223935" y="6017901"/>
            <a:ext cx="12326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10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Structure &amp; Attractiveness, By Pack Size (Value)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Pack Size mix within each country and the attractiveness of each sub-segment on growth and size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052895"/>
            <a:ext cx="6667500" cy="5503490"/>
          </a:xfrm>
          <a:prstGeom prst="roundRect">
            <a:avLst>
              <a:gd name="adj" fmla="val 138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110045"/>
            <a:ext cx="647700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Pack Size mix within each country (share of 2036 value) · row label = country size (US$ Mn), largest first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10095"/>
          <a:ext cx="6477000" cy="498914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886575" y="1052895"/>
            <a:ext cx="5162550" cy="3650740"/>
          </a:xfrm>
          <a:prstGeom prst="roundRect">
            <a:avLst>
              <a:gd name="adj" fmla="val 208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981825" y="1110045"/>
            <a:ext cx="49720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Attractiveness, By Pack Size (bubble = 2036 size)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981825" y="1338645"/>
          <a:ext cx="4972050" cy="330784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6886575" y="4776650"/>
            <a:ext cx="5162550" cy="1779736"/>
          </a:xfrm>
          <a:prstGeom prst="roundRect">
            <a:avLst>
              <a:gd name="adj" fmla="val 428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613425" y="3638119"/>
            <a:ext cx="386128" cy="56164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7000875" y="5415058"/>
            <a:ext cx="492968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Between 2026 and 2036, 'Wipes &amp; Other Count-Based Products' gains the most share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7000875" y="5582698"/>
            <a:ext cx="142463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in the Europe market (+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373559" y="5572919"/>
            <a:ext cx="128699" cy="187198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8541054" y="5582698"/>
            <a:ext cx="27847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BPS) while 'Liquid, Gel &amp; Cream Products' cedes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273903" y="5572919"/>
            <a:ext cx="128699" cy="187198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11441399" y="5582698"/>
            <a:ext cx="32394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000875" y="5750338"/>
            <a:ext cx="43768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Bubbles right of the CAGR-Index line grow faster than the segment average.</a:t>
            </a:r>
          </a:p>
        </p:txBody>
      </p:sp>
      <p:sp>
        <p:nvSpPr>
          <p:cNvPr id="27" name="lockshield_13"/>
          <p:cNvSpPr/>
          <p:nvPr/>
        </p:nvSpPr>
        <p:spPr>
          <a:xfrm>
            <a:off x="238125" y="1510095"/>
            <a:ext cx="6477000" cy="498914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lockshield_16"/>
          <p:cNvSpPr/>
          <p:nvPr/>
        </p:nvSpPr>
        <p:spPr>
          <a:xfrm>
            <a:off x="6981825" y="1338645"/>
            <a:ext cx="4972050" cy="330784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0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Absolute $ Opportunity Analysis, By Pack Size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Pack Size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Liquid, Gel &amp; Cream Products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38275"/>
          <a:ext cx="5686425" cy="223837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Solid, Powder &amp; Weight-Labeled Products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267450" y="1438275"/>
          <a:ext cx="5686425" cy="223837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38125" y="39243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Wipes &amp; Other Count-Based Products</a:t>
            </a:r>
          </a:p>
        </p:txBody>
      </p:sp>
      <p:graphicFrame>
        <p:nvGraphicFramePr>
          <p:cNvPr id="19" name="Chart 18"/>
          <p:cNvGraphicFramePr>
            <a:graphicFrameLocks noGrp="1"/>
          </p:cNvGraphicFramePr>
          <p:nvPr/>
        </p:nvGraphicFramePr>
        <p:xfrm>
          <a:off x="238125" y="4324350"/>
          <a:ext cx="5686425" cy="2238375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0" name="Rounded Rectangle 19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6305550" y="3952875"/>
            <a:ext cx="56102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Summary of Europe Absolute $ Opportunity Analysis, By Pack Size</a:t>
            </a:r>
          </a:p>
        </p:txBody>
      </p:sp>
      <p:sp>
        <p:nvSpPr>
          <p:cNvPr id="22" name="Rectangle 21"/>
          <p:cNvSpPr/>
          <p:nvPr/>
        </p:nvSpPr>
        <p:spPr>
          <a:xfrm>
            <a:off x="6305550" y="4191000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6305550" y="4276725"/>
            <a:ext cx="5610225" cy="22669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100230" y="2330679"/>
            <a:ext cx="252890" cy="367840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129555" y="2330679"/>
            <a:ext cx="252890" cy="367840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100230" y="5216754"/>
            <a:ext cx="252890" cy="367840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6305550" y="4286250"/>
            <a:ext cx="277698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Across its 3 sub-segments, by pack size adds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031687" y="4276026"/>
            <a:ext cx="134549" cy="195707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9206797" y="4286250"/>
            <a:ext cx="241271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to the Europe market between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6305550" y="4461510"/>
            <a:ext cx="99585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2026 and 2036.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6305550" y="4689347"/>
            <a:ext cx="227807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'Liquid, Gel &amp; Cream Products' adds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532778" y="4679124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8707888" y="4689347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280359" y="4679124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9455468" y="4689347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6305550" y="4917185"/>
            <a:ext cx="277070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'Wipes &amp; Other Count-Based Products' adds</a:t>
            </a:r>
          </a:p>
        </p:txBody>
      </p:sp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025412" y="4906962"/>
            <a:ext cx="134549" cy="195707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9200521" y="4917185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772992" y="4906962"/>
            <a:ext cx="134549" cy="195707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9948101" y="4917185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6305550" y="5145023"/>
            <a:ext cx="301773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'Solid, Powder &amp; Weight-Labeled Products' adds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272442" y="5134800"/>
            <a:ext cx="134549" cy="195707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9447551" y="5145023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0020022" y="5134800"/>
            <a:ext cx="134549" cy="195707"/>
          </a:xfrm>
          <a:prstGeom prst="rect">
            <a:avLst/>
          </a:prstGeom>
        </p:spPr>
      </p:pic>
      <p:sp>
        <p:nvSpPr>
          <p:cNvPr id="46" name="TextBox 45"/>
          <p:cNvSpPr txBox="1"/>
          <p:nvPr/>
        </p:nvSpPr>
        <p:spPr>
          <a:xfrm>
            <a:off x="10195131" y="5145023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47" name="lockshield_13"/>
          <p:cNvSpPr/>
          <p:nvPr/>
        </p:nvSpPr>
        <p:spPr>
          <a:xfrm>
            <a:off x="238125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lockshield_16"/>
          <p:cNvSpPr/>
          <p:nvPr/>
        </p:nvSpPr>
        <p:spPr>
          <a:xfrm>
            <a:off x="6267450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lockshield_19"/>
          <p:cNvSpPr/>
          <p:nvPr/>
        </p:nvSpPr>
        <p:spPr>
          <a:xfrm>
            <a:off x="238125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0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Volume Analysis, By Pack Size (MT)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by Pack Size,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Volume, By Pack Size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5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586063"/>
                <a:gridCol w="547126"/>
                <a:gridCol w="547126"/>
                <a:gridCol w="547126"/>
                <a:gridCol w="547126"/>
                <a:gridCol w="547126"/>
                <a:gridCol w="547126"/>
                <a:gridCol w="547126"/>
                <a:gridCol w="547126"/>
                <a:gridCol w="547126"/>
                <a:gridCol w="547126"/>
                <a:gridCol w="547126"/>
                <a:gridCol w="547126"/>
                <a:gridCol w="547126"/>
                <a:gridCol w="547126"/>
                <a:gridCol w="547126"/>
                <a:gridCol w="547126"/>
                <a:gridCol w="547126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Pack Size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Liquid, Gel &amp; Cream Products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Solid, Powder &amp; Weight-Labeled Products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Wipes &amp; Other Count-Based Products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4860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819400"/>
            <a:ext cx="11906250" cy="3810000"/>
          </a:xfrm>
          <a:prstGeom prst="roundRect">
            <a:avLst>
              <a:gd name="adj" fmla="val 200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290512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Volume Analysis, By Pack Size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314325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3228975"/>
            <a:ext cx="11639550" cy="33242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202343" y="1713738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3238500"/>
            <a:ext cx="34695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'Liquid, Gel &amp; Cream Products' is the largest pack size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694959" y="3228276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3870068" y="3238500"/>
            <a:ext cx="10805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volume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899801" y="322827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5074910" y="3238500"/>
            <a:ext cx="3534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3466337"/>
            <a:ext cx="328102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'Wipes &amp; Other Count-Based Products'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06406" y="3456114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3681515" y="3466337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3694175"/>
            <a:ext cx="379020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'Wipes &amp; Other Count-Based Products'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015584" y="3683952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4190694" y="3694175"/>
            <a:ext cx="322369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'Liquid, Gel &amp; Cream Products'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63539" y="3683952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7538648" y="3694175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3922013"/>
            <a:ext cx="15646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volume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90033" y="3911790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965143" y="3922013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16579" y="3911790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291688" y="3922013"/>
            <a:ext cx="14705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across 3 categories.</a:t>
            </a:r>
          </a:p>
        </p:txBody>
      </p:sp>
    </p:spTree>
  </p:cSld>
  <p:clrMapOvr>
    <a:masterClrMapping/>
  </p:clrMapOvr>
</p:sld>
</file>

<file path=ppt/slides/slide10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Value Analysis, By Pack Size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by Pack Size,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Value, By Pack Size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4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896354"/>
                <a:gridCol w="540067"/>
                <a:gridCol w="540067"/>
                <a:gridCol w="540067"/>
                <a:gridCol w="540067"/>
                <a:gridCol w="540067"/>
                <a:gridCol w="521042"/>
                <a:gridCol w="515607"/>
                <a:gridCol w="515607"/>
                <a:gridCol w="515607"/>
                <a:gridCol w="515607"/>
                <a:gridCol w="515607"/>
                <a:gridCol w="515607"/>
                <a:gridCol w="515607"/>
                <a:gridCol w="515607"/>
                <a:gridCol w="515607"/>
                <a:gridCol w="515607"/>
                <a:gridCol w="613403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Pack Size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Liquid, Gel &amp; Cream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Solid, Powder &amp; Weight-Labeled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Wipes &amp; Other Count-Based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4860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819400"/>
            <a:ext cx="11906250" cy="3810000"/>
          </a:xfrm>
          <a:prstGeom prst="roundRect">
            <a:avLst>
              <a:gd name="adj" fmla="val 200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290512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Value Analysis, By Pack Size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314325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3228975"/>
            <a:ext cx="11639550" cy="33242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57488" y="1713738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3238500"/>
            <a:ext cx="34695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'Liquid, Gel &amp; Cream Products' is the largest pack size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694959" y="3228276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3870068" y="3238500"/>
            <a:ext cx="9567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776001" y="322827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4951110" y="3238500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3466337"/>
            <a:ext cx="352805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'Solid, Powder &amp; Weight-Labeled Products'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753436" y="3456114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3928545" y="3466337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3694175"/>
            <a:ext cx="379020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'Wipes &amp; Other Count-Based Products'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015584" y="3683952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4190694" y="3694175"/>
            <a:ext cx="322369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'Liquid, Gel &amp; Cream Products'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63539" y="3683952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7538648" y="3694175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3922013"/>
            <a:ext cx="14408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66233" y="3911790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841342" y="3922013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92779" y="3911790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167888" y="3922013"/>
            <a:ext cx="17440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3 categories.</a:t>
            </a:r>
          </a:p>
        </p:txBody>
      </p:sp>
    </p:spTree>
  </p:cSld>
  <p:clrMapOvr>
    <a:masterClrMapping/>
  </p:clrMapOvr>
</p:sld>
</file>

<file path=ppt/slides/slide10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Value &amp; Share Shift, By Pack Size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composition by Pack Size in 2021, 2026 and 2036, highlighting share shifts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7400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7210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Composition, By Pack Size ·  2021 / 2026 / 2036 (US$ Mn)  ·  right axis = BPS share shift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09700"/>
          <a:ext cx="4614672" cy="516255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852797" y="1419225"/>
            <a:ext cx="2595753" cy="17792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(2021→2036)</a:t>
            </a:r>
          </a:p>
        </p:txBody>
      </p:sp>
      <p:sp>
        <p:nvSpPr>
          <p:cNvPr id="15" name="FMI Lock Anchor"/>
          <p:cNvSpPr txBox="1"/>
          <p:nvPr/>
        </p:nvSpPr>
        <p:spPr>
          <a:xfrm>
            <a:off x="2678811" y="3932301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/>
        </p:txBody>
      </p:sp>
      <p:sp>
        <p:nvSpPr>
          <p:cNvPr id="16" name="FMI Legend Chip"/>
          <p:cNvSpPr/>
          <p:nvPr/>
        </p:nvSpPr>
        <p:spPr>
          <a:xfrm>
            <a:off x="4928997" y="1813509"/>
            <a:ext cx="85725" cy="8572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Isosceles Triangle 16"/>
          <p:cNvSpPr/>
          <p:nvPr/>
        </p:nvSpPr>
        <p:spPr>
          <a:xfrm>
            <a:off x="5090922" y="1808746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BPS Name 1"/>
          <p:cNvSpPr txBox="1"/>
          <p:nvPr/>
        </p:nvSpPr>
        <p:spPr>
          <a:xfrm>
            <a:off x="5233797" y="1732546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Solid, Powder &amp; Weight-Labeled Products</a:t>
            </a:r>
          </a:p>
        </p:txBody>
      </p:sp>
      <p:sp>
        <p:nvSpPr>
          <p:cNvPr id="19" name="BPS Value 1"/>
          <p:cNvSpPr txBox="1"/>
          <p:nvPr/>
        </p:nvSpPr>
        <p:spPr>
          <a:xfrm>
            <a:off x="6896100" y="1794459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0" name="FMI Legend Chip"/>
          <p:cNvSpPr/>
          <p:nvPr/>
        </p:nvSpPr>
        <p:spPr>
          <a:xfrm>
            <a:off x="4928997" y="2663931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Isosceles Triangle 20"/>
          <p:cNvSpPr/>
          <p:nvPr/>
        </p:nvSpPr>
        <p:spPr>
          <a:xfrm>
            <a:off x="5090922" y="2659169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BPS Name 2"/>
          <p:cNvSpPr txBox="1"/>
          <p:nvPr/>
        </p:nvSpPr>
        <p:spPr>
          <a:xfrm>
            <a:off x="5233797" y="2582969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Wipes &amp; Other Count-Based Products</a:t>
            </a:r>
          </a:p>
        </p:txBody>
      </p:sp>
      <p:sp>
        <p:nvSpPr>
          <p:cNvPr id="23" name="BPS Value 2"/>
          <p:cNvSpPr txBox="1"/>
          <p:nvPr/>
        </p:nvSpPr>
        <p:spPr>
          <a:xfrm>
            <a:off x="6896100" y="2644881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4" name="FMI Legend Chip"/>
          <p:cNvSpPr/>
          <p:nvPr/>
        </p:nvSpPr>
        <p:spPr>
          <a:xfrm>
            <a:off x="4928997" y="4725573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Isosceles Triangle 24"/>
          <p:cNvSpPr/>
          <p:nvPr/>
        </p:nvSpPr>
        <p:spPr>
          <a:xfrm rot="10800000">
            <a:off x="5090922" y="4720811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BPS Name 3"/>
          <p:cNvSpPr txBox="1"/>
          <p:nvPr/>
        </p:nvSpPr>
        <p:spPr>
          <a:xfrm>
            <a:off x="5233797" y="4644611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Liquid, Gel &amp; Cream Products</a:t>
            </a:r>
          </a:p>
        </p:txBody>
      </p:sp>
      <p:sp>
        <p:nvSpPr>
          <p:cNvPr id="27" name="BPS Value 3"/>
          <p:cNvSpPr txBox="1"/>
          <p:nvPr/>
        </p:nvSpPr>
        <p:spPr>
          <a:xfrm>
            <a:off x="6896100" y="4706523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8" name="Rounded Rectangle 27"/>
          <p:cNvSpPr/>
          <p:nvPr/>
        </p:nvSpPr>
        <p:spPr>
          <a:xfrm>
            <a:off x="7696200" y="981075"/>
            <a:ext cx="4343400" cy="5648325"/>
          </a:xfrm>
          <a:prstGeom prst="roundRect">
            <a:avLst>
              <a:gd name="adj" fmla="val 17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7829550" y="1066800"/>
            <a:ext cx="4076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Read-out, By Pack Size</a:t>
            </a:r>
          </a:p>
        </p:txBody>
      </p:sp>
      <p:sp>
        <p:nvSpPr>
          <p:cNvPr id="30" name="Rectangle 29"/>
          <p:cNvSpPr/>
          <p:nvPr/>
        </p:nvSpPr>
        <p:spPr>
          <a:xfrm>
            <a:off x="7829550" y="1304925"/>
            <a:ext cx="40767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7829550" y="1390650"/>
            <a:ext cx="4076700" cy="5162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2E7D32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E44D3A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57843" y="3751325"/>
            <a:ext cx="275034" cy="400050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7829550" y="1400175"/>
            <a:ext cx="382728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'Wipes &amp; Other Count-Based Products' gains the most share +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605992" y="1389951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7829550" y="1575435"/>
            <a:ext cx="312699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between 2026 and 2036 (</a:t>
            </a:r>
            <a:r>
              <a:rPr sz="1150" b="0">
                <a:solidFill>
                  <a:srgbClr val="2E7D32"/>
                </a:solidFill>
                <a:latin typeface="Calibri"/>
              </a:rPr>
              <a:t>green ▲</a:t>
            </a:r>
            <a:r>
              <a:rPr sz="1150" b="0">
                <a:solidFill>
                  <a:srgbClr val="2E2E2E"/>
                </a:solidFill>
                <a:latin typeface="Calibri"/>
              </a:rPr>
              <a:t> on the scale).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7829550" y="1803273"/>
            <a:ext cx="29812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'Liquid, Gel &amp; Cream Products' cedes the most -</a:t>
            </a:r>
          </a:p>
        </p:txBody>
      </p:sp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759929" y="1793049"/>
            <a:ext cx="134549" cy="195707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10935038" y="1803273"/>
            <a:ext cx="82984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 the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7829550" y="1978533"/>
            <a:ext cx="136469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same window (</a:t>
            </a:r>
            <a:r>
              <a:rPr sz="1150" b="0">
                <a:solidFill>
                  <a:srgbClr val="E44D3A"/>
                </a:solidFill>
                <a:latin typeface="Calibri"/>
              </a:rPr>
              <a:t>red ▼</a:t>
            </a:r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7829550" y="2206371"/>
            <a:ext cx="401726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'Solid, Powder &amp; Weight-Labeled Products' is the fastest-growing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7829550" y="2381631"/>
            <a:ext cx="75738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pack size at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536090" y="2371407"/>
            <a:ext cx="134549" cy="195707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8711199" y="2381631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7829550" y="2609469"/>
            <a:ext cx="15489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climbs from</a:t>
            </a:r>
          </a:p>
        </p:txBody>
      </p:sp>
      <p:pic>
        <p:nvPicPr>
          <p:cNvPr id="46" name="Picture 4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27669" y="2599245"/>
            <a:ext cx="134549" cy="195707"/>
          </a:xfrm>
          <a:prstGeom prst="rect">
            <a:avLst/>
          </a:prstGeom>
        </p:spPr>
      </p:pic>
      <p:sp>
        <p:nvSpPr>
          <p:cNvPr id="47" name="TextBox 46"/>
          <p:cNvSpPr txBox="1"/>
          <p:nvPr/>
        </p:nvSpPr>
        <p:spPr>
          <a:xfrm>
            <a:off x="9502779" y="2609469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48" name="Picture 47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54215" y="2599245"/>
            <a:ext cx="134549" cy="195707"/>
          </a:xfrm>
          <a:prstGeom prst="rect">
            <a:avLst/>
          </a:prstGeom>
        </p:spPr>
      </p:pic>
      <p:sp>
        <p:nvSpPr>
          <p:cNvPr id="49" name="TextBox 48"/>
          <p:cNvSpPr txBox="1"/>
          <p:nvPr/>
        </p:nvSpPr>
        <p:spPr>
          <a:xfrm>
            <a:off x="9829324" y="2609469"/>
            <a:ext cx="1689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2021–2036.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7829550" y="2837307"/>
            <a:ext cx="39325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Bars show the value mix at each snapshot; the scale shows how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7829550" y="3012566"/>
            <a:ext cx="11772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each share moves.</a:t>
            </a:r>
          </a:p>
        </p:txBody>
      </p:sp>
      <p:sp>
        <p:nvSpPr>
          <p:cNvPr id="52" name="lockshield_13"/>
          <p:cNvSpPr/>
          <p:nvPr/>
        </p:nvSpPr>
        <p:spPr>
          <a:xfrm>
            <a:off x="238125" y="1409700"/>
            <a:ext cx="4614672" cy="516255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1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Europe Market Volume, By Pack Size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Pack Size,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457325"/>
          </a:xfrm>
          <a:prstGeom prst="roundRect">
            <a:avLst>
              <a:gd name="adj" fmla="val 522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 YoY Growth, By Pack Size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4" cy="9906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801199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Pack Size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Liquid, Gel &amp; Cream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Solid, Powder &amp; Weight-Labeled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Wipes &amp; Other Count-Based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2383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571750"/>
            <a:ext cx="11906250" cy="4057650"/>
          </a:xfrm>
          <a:prstGeom prst="roundRect">
            <a:avLst>
              <a:gd name="adj" fmla="val 187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62890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 YoY Heatmap, By Pack Size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000375"/>
            <a:ext cx="1590675" cy="119062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Liquid, Gel &amp; Cream Products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000375"/>
            <a:ext cx="643890" cy="1190625"/>
          </a:xfrm>
          <a:prstGeom prst="rect">
            <a:avLst/>
          </a:prstGeom>
          <a:solidFill>
            <a:srgbClr val="E7F3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3000375"/>
            <a:ext cx="643890" cy="1190625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3000375"/>
            <a:ext cx="643890" cy="1190625"/>
          </a:xfrm>
          <a:prstGeom prst="rect">
            <a:avLst/>
          </a:prstGeom>
          <a:solidFill>
            <a:srgbClr val="FD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3000375"/>
            <a:ext cx="643890" cy="1190625"/>
          </a:xfrm>
          <a:prstGeom prst="rect">
            <a:avLst/>
          </a:prstGeom>
          <a:solidFill>
            <a:srgbClr val="F0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3000375"/>
            <a:ext cx="643890" cy="1190625"/>
          </a:xfrm>
          <a:prstGeom prst="rect">
            <a:avLst/>
          </a:prstGeom>
          <a:solidFill>
            <a:srgbClr val="559B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3000375"/>
            <a:ext cx="643890" cy="1190625"/>
          </a:xfrm>
          <a:prstGeom prst="rect">
            <a:avLst/>
          </a:prstGeom>
          <a:solidFill>
            <a:srgbClr val="70AA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3000375"/>
            <a:ext cx="643890" cy="1190625"/>
          </a:xfrm>
          <a:prstGeom prst="rect">
            <a:avLst/>
          </a:prstGeom>
          <a:solidFill>
            <a:srgbClr val="3086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3000375"/>
            <a:ext cx="643890" cy="1190625"/>
          </a:xfrm>
          <a:prstGeom prst="rect">
            <a:avLst/>
          </a:prstGeom>
          <a:solidFill>
            <a:srgbClr val="24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3000375"/>
            <a:ext cx="643890" cy="1190625"/>
          </a:xfrm>
          <a:prstGeom prst="rect">
            <a:avLst/>
          </a:prstGeom>
          <a:solidFill>
            <a:srgbClr val="6FAA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3000375"/>
            <a:ext cx="643890" cy="1190625"/>
          </a:xfrm>
          <a:prstGeom prst="rect">
            <a:avLst/>
          </a:prstGeom>
          <a:solidFill>
            <a:srgbClr val="559B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3000375"/>
            <a:ext cx="643890" cy="1190625"/>
          </a:xfrm>
          <a:prstGeom prst="rect">
            <a:avLst/>
          </a:prstGeom>
          <a:solidFill>
            <a:srgbClr val="4794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3000375"/>
            <a:ext cx="643890" cy="1190625"/>
          </a:xfrm>
          <a:prstGeom prst="rect">
            <a:avLst/>
          </a:prstGeom>
          <a:solidFill>
            <a:srgbClr val="2C84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3000375"/>
            <a:ext cx="643890" cy="1190625"/>
          </a:xfrm>
          <a:prstGeom prst="rect">
            <a:avLst/>
          </a:prstGeom>
          <a:solidFill>
            <a:srgbClr val="3388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3000375"/>
            <a:ext cx="643890" cy="1190625"/>
          </a:xfrm>
          <a:prstGeom prst="rect">
            <a:avLst/>
          </a:prstGeom>
          <a:solidFill>
            <a:srgbClr val="3489C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3000375"/>
            <a:ext cx="643890" cy="1190625"/>
          </a:xfrm>
          <a:prstGeom prst="rect">
            <a:avLst/>
          </a:prstGeom>
          <a:solidFill>
            <a:srgbClr val="3288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191000"/>
            <a:ext cx="1590675" cy="119062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Solid, Powder &amp; Weight-Labeled Products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191000"/>
            <a:ext cx="643890" cy="1190625"/>
          </a:xfrm>
          <a:prstGeom prst="rect">
            <a:avLst/>
          </a:prstGeom>
          <a:solidFill>
            <a:srgbClr val="B8D2E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191000"/>
            <a:ext cx="643890" cy="1190625"/>
          </a:xfrm>
          <a:prstGeom prst="rect">
            <a:avLst/>
          </a:prstGeom>
          <a:solidFill>
            <a:srgbClr val="E2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191000"/>
            <a:ext cx="643890" cy="1190625"/>
          </a:xfrm>
          <a:prstGeom prst="rect">
            <a:avLst/>
          </a:prstGeom>
          <a:solidFill>
            <a:srgbClr val="D9E8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191000"/>
            <a:ext cx="643890" cy="1190625"/>
          </a:xfrm>
          <a:prstGeom prst="rect">
            <a:avLst/>
          </a:prstGeom>
          <a:solidFill>
            <a:srgbClr val="CBDD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191000"/>
            <a:ext cx="643890" cy="1190625"/>
          </a:xfrm>
          <a:prstGeom prst="rect">
            <a:avLst/>
          </a:prstGeom>
          <a:solidFill>
            <a:srgbClr val="1978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191000"/>
            <a:ext cx="643890" cy="1190625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191000"/>
            <a:ext cx="643890" cy="1190625"/>
          </a:xfrm>
          <a:prstGeom prst="rect">
            <a:avLst/>
          </a:prstGeom>
          <a:solidFill>
            <a:srgbClr val="0C3F6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191000"/>
            <a:ext cx="643890" cy="1190625"/>
          </a:xfrm>
          <a:prstGeom prst="rect">
            <a:avLst/>
          </a:prstGeom>
          <a:solidFill>
            <a:srgbClr val="0B304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191000"/>
            <a:ext cx="643890" cy="1190625"/>
          </a:xfrm>
          <a:prstGeom prst="rect">
            <a:avLst/>
          </a:prstGeom>
          <a:solidFill>
            <a:srgbClr val="2781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191000"/>
            <a:ext cx="643890" cy="1190625"/>
          </a:xfrm>
          <a:prstGeom prst="rect">
            <a:avLst/>
          </a:prstGeom>
          <a:solidFill>
            <a:srgbClr val="16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191000"/>
            <a:ext cx="643890" cy="1190625"/>
          </a:xfrm>
          <a:prstGeom prst="rect">
            <a:avLst/>
          </a:prstGeom>
          <a:solidFill>
            <a:srgbClr val="0E6CA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191000"/>
            <a:ext cx="643890" cy="1190625"/>
          </a:xfrm>
          <a:prstGeom prst="rect">
            <a:avLst/>
          </a:prstGeom>
          <a:solidFill>
            <a:srgbClr val="0C3F6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191000"/>
            <a:ext cx="643890" cy="1190625"/>
          </a:xfrm>
          <a:prstGeom prst="rect">
            <a:avLst/>
          </a:prstGeom>
          <a:solidFill>
            <a:srgbClr val="0D588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191000"/>
            <a:ext cx="643890" cy="1190625"/>
          </a:xfrm>
          <a:prstGeom prst="rect">
            <a:avLst/>
          </a:prstGeom>
          <a:solidFill>
            <a:srgbClr val="0C4E7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191000"/>
            <a:ext cx="643890" cy="1190625"/>
          </a:xfrm>
          <a:prstGeom prst="rect">
            <a:avLst/>
          </a:prstGeom>
          <a:solidFill>
            <a:srgbClr val="0C456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5381625"/>
            <a:ext cx="1590675" cy="119062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Wipes &amp; Other Count-Based Products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5381625"/>
            <a:ext cx="643890" cy="1190625"/>
          </a:xfrm>
          <a:prstGeom prst="rect">
            <a:avLst/>
          </a:prstGeom>
          <a:solidFill>
            <a:srgbClr val="C4D9E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5381625"/>
            <a:ext cx="643890" cy="1190625"/>
          </a:xfrm>
          <a:prstGeom prst="rect">
            <a:avLst/>
          </a:prstGeom>
          <a:solidFill>
            <a:srgbClr val="E6F2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5381625"/>
            <a:ext cx="643890" cy="1190625"/>
          </a:xfrm>
          <a:prstGeom prst="rect">
            <a:avLst/>
          </a:prstGeom>
          <a:solidFill>
            <a:srgbClr val="DF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5381625"/>
            <a:ext cx="643890" cy="1190625"/>
          </a:xfrm>
          <a:prstGeom prst="rect">
            <a:avLst/>
          </a:prstGeom>
          <a:solidFill>
            <a:srgbClr val="D0E1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5381625"/>
            <a:ext cx="643890" cy="1190625"/>
          </a:xfrm>
          <a:prstGeom prst="rect">
            <a:avLst/>
          </a:prstGeom>
          <a:solidFill>
            <a:srgbClr val="15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5381625"/>
            <a:ext cx="643890" cy="1190625"/>
          </a:xfrm>
          <a:prstGeom prst="rect">
            <a:avLst/>
          </a:prstGeom>
          <a:solidFill>
            <a:srgbClr val="1D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5381625"/>
            <a:ext cx="643890" cy="1190625"/>
          </a:xfrm>
          <a:prstGeom prst="rect">
            <a:avLst/>
          </a:prstGeom>
          <a:solidFill>
            <a:srgbClr val="0B355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5381625"/>
            <a:ext cx="643890" cy="1190625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5381625"/>
            <a:ext cx="643890" cy="1190625"/>
          </a:xfrm>
          <a:prstGeom prst="rect">
            <a:avLst/>
          </a:prstGeom>
          <a:solidFill>
            <a:srgbClr val="227E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5381625"/>
            <a:ext cx="643890" cy="1190625"/>
          </a:xfrm>
          <a:prstGeom prst="rect">
            <a:avLst/>
          </a:prstGeom>
          <a:solidFill>
            <a:srgbClr val="1375B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5381625"/>
            <a:ext cx="643890" cy="1190625"/>
          </a:xfrm>
          <a:prstGeom prst="rect">
            <a:avLst/>
          </a:prstGeom>
          <a:solidFill>
            <a:srgbClr val="0D5C8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5381625"/>
            <a:ext cx="643890" cy="1190625"/>
          </a:xfrm>
          <a:prstGeom prst="rect">
            <a:avLst/>
          </a:prstGeom>
          <a:solidFill>
            <a:srgbClr val="0B345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5381625"/>
            <a:ext cx="643890" cy="1190625"/>
          </a:xfrm>
          <a:prstGeom prst="rect">
            <a:avLst/>
          </a:prstGeom>
          <a:solidFill>
            <a:srgbClr val="0C426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5381625"/>
            <a:ext cx="643890" cy="1190625"/>
          </a:xfrm>
          <a:prstGeom prst="rect">
            <a:avLst/>
          </a:prstGeom>
          <a:solidFill>
            <a:srgbClr val="0C497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5381625"/>
            <a:ext cx="643890" cy="1190625"/>
          </a:xfrm>
          <a:prstGeom prst="rect">
            <a:avLst/>
          </a:prstGeom>
          <a:solidFill>
            <a:srgbClr val="0C3C5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Rectangle 79"/>
          <p:cNvSpPr/>
          <p:nvPr/>
        </p:nvSpPr>
        <p:spPr>
          <a:xfrm>
            <a:off x="11572875" y="3038475"/>
            <a:ext cx="104775" cy="95012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Rectangle 80"/>
          <p:cNvSpPr/>
          <p:nvPr/>
        </p:nvSpPr>
        <p:spPr>
          <a:xfrm>
            <a:off x="11572875" y="3125867"/>
            <a:ext cx="104775" cy="95012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11572875" y="3213259"/>
            <a:ext cx="104775" cy="95012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11572875" y="3300651"/>
            <a:ext cx="104775" cy="95012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11572875" y="3388042"/>
            <a:ext cx="104775" cy="95012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11572875" y="3475434"/>
            <a:ext cx="104775" cy="95012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11572875" y="3562826"/>
            <a:ext cx="104775" cy="95012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11572875" y="3650218"/>
            <a:ext cx="104775" cy="95012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11572875" y="3737610"/>
            <a:ext cx="104775" cy="95012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11572875" y="3825002"/>
            <a:ext cx="104775" cy="95012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11572875" y="3912394"/>
            <a:ext cx="104775" cy="95012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11572875" y="3999786"/>
            <a:ext cx="104775" cy="95012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11572875" y="4087178"/>
            <a:ext cx="104775" cy="95012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11572875" y="4174569"/>
            <a:ext cx="104775" cy="95012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1572875" y="4261961"/>
            <a:ext cx="104775" cy="95012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1572875" y="4349353"/>
            <a:ext cx="104775" cy="95012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Rectangle 95"/>
          <p:cNvSpPr/>
          <p:nvPr/>
        </p:nvSpPr>
        <p:spPr>
          <a:xfrm>
            <a:off x="11572875" y="4436745"/>
            <a:ext cx="104775" cy="95012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Rectangle 96"/>
          <p:cNvSpPr/>
          <p:nvPr/>
        </p:nvSpPr>
        <p:spPr>
          <a:xfrm>
            <a:off x="11572875" y="4524137"/>
            <a:ext cx="104775" cy="95012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11572875" y="4611529"/>
            <a:ext cx="104775" cy="95012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11572875" y="4698921"/>
            <a:ext cx="104775" cy="95012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11572875" y="4786312"/>
            <a:ext cx="104775" cy="95012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11572875" y="4873704"/>
            <a:ext cx="104775" cy="95012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11572875" y="4961096"/>
            <a:ext cx="104775" cy="95012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11572875" y="5048488"/>
            <a:ext cx="104775" cy="95012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11572875" y="5135880"/>
            <a:ext cx="104775" cy="95012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11572875" y="5223272"/>
            <a:ext cx="104775" cy="95012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11572875" y="5310664"/>
            <a:ext cx="104775" cy="95012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11572875" y="5398056"/>
            <a:ext cx="104775" cy="95012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11572875" y="5485448"/>
            <a:ext cx="104775" cy="95012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11572875" y="5572839"/>
            <a:ext cx="104775" cy="95012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1572875" y="5660231"/>
            <a:ext cx="104775" cy="95012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1572875" y="5747623"/>
            <a:ext cx="104775" cy="95012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Rectangle 111"/>
          <p:cNvSpPr/>
          <p:nvPr/>
        </p:nvSpPr>
        <p:spPr>
          <a:xfrm>
            <a:off x="11572875" y="5835015"/>
            <a:ext cx="104775" cy="95012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Rectangle 112"/>
          <p:cNvSpPr/>
          <p:nvPr/>
        </p:nvSpPr>
        <p:spPr>
          <a:xfrm>
            <a:off x="11572875" y="5922407"/>
            <a:ext cx="104775" cy="95012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11572875" y="6009799"/>
            <a:ext cx="104775" cy="95012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11572875" y="6097191"/>
            <a:ext cx="104775" cy="95012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11572875" y="6184582"/>
            <a:ext cx="104775" cy="95012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11572875" y="6271974"/>
            <a:ext cx="104775" cy="95012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11572875" y="6359366"/>
            <a:ext cx="104775" cy="95012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11572875" y="6446758"/>
            <a:ext cx="104775" cy="95012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11572875" y="3038475"/>
            <a:ext cx="104775" cy="3495675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TextBox 120"/>
          <p:cNvSpPr txBox="1"/>
          <p:nvPr/>
        </p:nvSpPr>
        <p:spPr>
          <a:xfrm>
            <a:off x="11687175" y="297180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11687175" y="4719638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124" name="TextBox 12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25" name="Picture 12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09906" y="1589913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1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Europe Market Value, By Pack Size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Pack Size,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457325"/>
          </a:xfrm>
          <a:prstGeom prst="roundRect">
            <a:avLst>
              <a:gd name="adj" fmla="val 522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YoY Growth, By Pack Size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4" cy="9906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801199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Pack Size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Liquid, Gel &amp; Cream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Solid, Powder &amp; Weight-Labeled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Wipes &amp; Other Count-Based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2383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571750"/>
            <a:ext cx="11906250" cy="4057650"/>
          </a:xfrm>
          <a:prstGeom prst="roundRect">
            <a:avLst>
              <a:gd name="adj" fmla="val 187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62890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YoY Heatmap, By Pack Size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000375"/>
            <a:ext cx="1590675" cy="119062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Liquid, Gel &amp; Cream Products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000375"/>
            <a:ext cx="643890" cy="1190625"/>
          </a:xfrm>
          <a:prstGeom prst="rect">
            <a:avLst/>
          </a:prstGeom>
          <a:solidFill>
            <a:srgbClr val="E8F5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3000375"/>
            <a:ext cx="643890" cy="1190625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3000375"/>
            <a:ext cx="643890" cy="1190625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3000375"/>
            <a:ext cx="643890" cy="1190625"/>
          </a:xfrm>
          <a:prstGeom prst="rect">
            <a:avLst/>
          </a:prstGeom>
          <a:solidFill>
            <a:srgbClr val="F3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3000375"/>
            <a:ext cx="643890" cy="1190625"/>
          </a:xfrm>
          <a:prstGeom prst="rect">
            <a:avLst/>
          </a:prstGeom>
          <a:solidFill>
            <a:srgbClr val="5099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3000375"/>
            <a:ext cx="643890" cy="1190625"/>
          </a:xfrm>
          <a:prstGeom prst="rect">
            <a:avLst/>
          </a:prstGeom>
          <a:solidFill>
            <a:srgbClr val="76AD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3000375"/>
            <a:ext cx="643890" cy="1190625"/>
          </a:xfrm>
          <a:prstGeom prst="rect">
            <a:avLst/>
          </a:prstGeom>
          <a:solidFill>
            <a:srgbClr val="3288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3000375"/>
            <a:ext cx="643890" cy="1190625"/>
          </a:xfrm>
          <a:prstGeom prst="rect">
            <a:avLst/>
          </a:prstGeom>
          <a:solidFill>
            <a:srgbClr val="2580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3000375"/>
            <a:ext cx="643890" cy="1190625"/>
          </a:xfrm>
          <a:prstGeom prst="rect">
            <a:avLst/>
          </a:prstGeom>
          <a:solidFill>
            <a:srgbClr val="75AD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3000375"/>
            <a:ext cx="643890" cy="1190625"/>
          </a:xfrm>
          <a:prstGeom prst="rect">
            <a:avLst/>
          </a:prstGeom>
          <a:solidFill>
            <a:srgbClr val="559C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3000375"/>
            <a:ext cx="643890" cy="1190625"/>
          </a:xfrm>
          <a:prstGeom prst="rect">
            <a:avLst/>
          </a:prstGeom>
          <a:solidFill>
            <a:srgbClr val="4C97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3000375"/>
            <a:ext cx="643890" cy="1190625"/>
          </a:xfrm>
          <a:prstGeom prst="rect">
            <a:avLst/>
          </a:prstGeom>
          <a:solidFill>
            <a:srgbClr val="3489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3000375"/>
            <a:ext cx="643890" cy="1190625"/>
          </a:xfrm>
          <a:prstGeom prst="rect">
            <a:avLst/>
          </a:prstGeom>
          <a:solidFill>
            <a:srgbClr val="368AC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3000375"/>
            <a:ext cx="643890" cy="1190625"/>
          </a:xfrm>
          <a:prstGeom prst="rect">
            <a:avLst/>
          </a:prstGeom>
          <a:solidFill>
            <a:srgbClr val="38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3000375"/>
            <a:ext cx="643890" cy="1190625"/>
          </a:xfrm>
          <a:prstGeom prst="rect">
            <a:avLst/>
          </a:prstGeom>
          <a:solidFill>
            <a:srgbClr val="39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191000"/>
            <a:ext cx="1590675" cy="119062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Solid, Powder &amp; Weight-Labeled Products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191000"/>
            <a:ext cx="643890" cy="1190625"/>
          </a:xfrm>
          <a:prstGeom prst="rect">
            <a:avLst/>
          </a:prstGeom>
          <a:solidFill>
            <a:srgbClr val="B7D2E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191000"/>
            <a:ext cx="643890" cy="1190625"/>
          </a:xfrm>
          <a:prstGeom prst="rect">
            <a:avLst/>
          </a:prstGeom>
          <a:solidFill>
            <a:srgbClr val="E0EE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191000"/>
            <a:ext cx="643890" cy="1190625"/>
          </a:xfrm>
          <a:prstGeom prst="rect">
            <a:avLst/>
          </a:prstGeom>
          <a:solidFill>
            <a:srgbClr val="DB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191000"/>
            <a:ext cx="643890" cy="1190625"/>
          </a:xfrm>
          <a:prstGeom prst="rect">
            <a:avLst/>
          </a:prstGeom>
          <a:solidFill>
            <a:srgbClr val="CEDF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191000"/>
            <a:ext cx="643890" cy="1190625"/>
          </a:xfrm>
          <a:prstGeom prst="rect">
            <a:avLst/>
          </a:prstGeom>
          <a:solidFill>
            <a:srgbClr val="14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191000"/>
            <a:ext cx="643890" cy="1190625"/>
          </a:xfrm>
          <a:prstGeom prst="rect">
            <a:avLst/>
          </a:prstGeom>
          <a:solidFill>
            <a:srgbClr val="1D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191000"/>
            <a:ext cx="643890" cy="1190625"/>
          </a:xfrm>
          <a:prstGeom prst="rect">
            <a:avLst/>
          </a:prstGeom>
          <a:solidFill>
            <a:srgbClr val="0C426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191000"/>
            <a:ext cx="643890" cy="1190625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191000"/>
            <a:ext cx="643890" cy="1190625"/>
          </a:xfrm>
          <a:prstGeom prst="rect">
            <a:avLst/>
          </a:prstGeom>
          <a:solidFill>
            <a:srgbClr val="2B83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191000"/>
            <a:ext cx="643890" cy="1190625"/>
          </a:xfrm>
          <a:prstGeom prst="rect">
            <a:avLst/>
          </a:prstGeom>
          <a:solidFill>
            <a:srgbClr val="15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191000"/>
            <a:ext cx="643890" cy="1190625"/>
          </a:xfrm>
          <a:prstGeom prst="rect">
            <a:avLst/>
          </a:prstGeom>
          <a:solidFill>
            <a:srgbClr val="0E6FA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191000"/>
            <a:ext cx="643890" cy="1190625"/>
          </a:xfrm>
          <a:prstGeom prst="rect">
            <a:avLst/>
          </a:prstGeom>
          <a:solidFill>
            <a:srgbClr val="0C487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191000"/>
            <a:ext cx="643890" cy="1190625"/>
          </a:xfrm>
          <a:prstGeom prst="rect">
            <a:avLst/>
          </a:prstGeom>
          <a:solidFill>
            <a:srgbClr val="0D5B8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191000"/>
            <a:ext cx="643890" cy="1190625"/>
          </a:xfrm>
          <a:prstGeom prst="rect">
            <a:avLst/>
          </a:prstGeom>
          <a:solidFill>
            <a:srgbClr val="0D517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191000"/>
            <a:ext cx="643890" cy="1190625"/>
          </a:xfrm>
          <a:prstGeom prst="rect">
            <a:avLst/>
          </a:prstGeom>
          <a:solidFill>
            <a:srgbClr val="0D507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5381625"/>
            <a:ext cx="1590675" cy="119062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Wipes &amp; Other Count-Based Products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5381625"/>
            <a:ext cx="643890" cy="1190625"/>
          </a:xfrm>
          <a:prstGeom prst="rect">
            <a:avLst/>
          </a:prstGeom>
          <a:solidFill>
            <a:srgbClr val="CCDE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5381625"/>
            <a:ext cx="643890" cy="1190625"/>
          </a:xfrm>
          <a:prstGeom prst="rect">
            <a:avLst/>
          </a:prstGeom>
          <a:solidFill>
            <a:srgbClr val="E9F5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5381625"/>
            <a:ext cx="643890" cy="1190625"/>
          </a:xfrm>
          <a:prstGeom prst="rect">
            <a:avLst/>
          </a:prstGeom>
          <a:solidFill>
            <a:srgbClr val="E6F3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5381625"/>
            <a:ext cx="643890" cy="1190625"/>
          </a:xfrm>
          <a:prstGeom prst="rect">
            <a:avLst/>
          </a:prstGeom>
          <a:solidFill>
            <a:srgbClr val="D6E6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5381625"/>
            <a:ext cx="643890" cy="1190625"/>
          </a:xfrm>
          <a:prstGeom prst="rect">
            <a:avLst/>
          </a:prstGeom>
          <a:solidFill>
            <a:srgbClr val="1878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5381625"/>
            <a:ext cx="643890" cy="1190625"/>
          </a:xfrm>
          <a:prstGeom prst="rect">
            <a:avLst/>
          </a:prstGeom>
          <a:solidFill>
            <a:srgbClr val="28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5381625"/>
            <a:ext cx="643890" cy="1190625"/>
          </a:xfrm>
          <a:prstGeom prst="rect">
            <a:avLst/>
          </a:prstGeom>
          <a:solidFill>
            <a:srgbClr val="0C446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5381625"/>
            <a:ext cx="643890" cy="1190625"/>
          </a:xfrm>
          <a:prstGeom prst="rect">
            <a:avLst/>
          </a:prstGeom>
          <a:solidFill>
            <a:srgbClr val="0C3B5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5381625"/>
            <a:ext cx="643890" cy="1190625"/>
          </a:xfrm>
          <a:prstGeom prst="rect">
            <a:avLst/>
          </a:prstGeom>
          <a:solidFill>
            <a:srgbClr val="2C84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5381625"/>
            <a:ext cx="643890" cy="1190625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5381625"/>
            <a:ext cx="643890" cy="1190625"/>
          </a:xfrm>
          <a:prstGeom prst="rect">
            <a:avLst/>
          </a:prstGeom>
          <a:solidFill>
            <a:srgbClr val="0E6CA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5381625"/>
            <a:ext cx="643890" cy="1190625"/>
          </a:xfrm>
          <a:prstGeom prst="rect">
            <a:avLst/>
          </a:prstGeom>
          <a:solidFill>
            <a:srgbClr val="0C487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5381625"/>
            <a:ext cx="643890" cy="1190625"/>
          </a:xfrm>
          <a:prstGeom prst="rect">
            <a:avLst/>
          </a:prstGeom>
          <a:solidFill>
            <a:srgbClr val="0D538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5381625"/>
            <a:ext cx="643890" cy="1190625"/>
          </a:xfrm>
          <a:prstGeom prst="rect">
            <a:avLst/>
          </a:prstGeom>
          <a:solidFill>
            <a:srgbClr val="0D5B8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5381625"/>
            <a:ext cx="643890" cy="1190625"/>
          </a:xfrm>
          <a:prstGeom prst="rect">
            <a:avLst/>
          </a:prstGeom>
          <a:solidFill>
            <a:srgbClr val="0D527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Rectangle 79"/>
          <p:cNvSpPr/>
          <p:nvPr/>
        </p:nvSpPr>
        <p:spPr>
          <a:xfrm>
            <a:off x="11572875" y="3038475"/>
            <a:ext cx="104775" cy="95012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Rectangle 80"/>
          <p:cNvSpPr/>
          <p:nvPr/>
        </p:nvSpPr>
        <p:spPr>
          <a:xfrm>
            <a:off x="11572875" y="3125867"/>
            <a:ext cx="104775" cy="95012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11572875" y="3213259"/>
            <a:ext cx="104775" cy="95012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11572875" y="3300651"/>
            <a:ext cx="104775" cy="95012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11572875" y="3388042"/>
            <a:ext cx="104775" cy="95012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11572875" y="3475434"/>
            <a:ext cx="104775" cy="95012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11572875" y="3562826"/>
            <a:ext cx="104775" cy="95012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11572875" y="3650218"/>
            <a:ext cx="104775" cy="95012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11572875" y="3737610"/>
            <a:ext cx="104775" cy="95012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11572875" y="3825002"/>
            <a:ext cx="104775" cy="95012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11572875" y="3912394"/>
            <a:ext cx="104775" cy="95012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11572875" y="3999786"/>
            <a:ext cx="104775" cy="95012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11572875" y="4087178"/>
            <a:ext cx="104775" cy="95012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11572875" y="4174569"/>
            <a:ext cx="104775" cy="95012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1572875" y="4261961"/>
            <a:ext cx="104775" cy="95012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1572875" y="4349353"/>
            <a:ext cx="104775" cy="95012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Rectangle 95"/>
          <p:cNvSpPr/>
          <p:nvPr/>
        </p:nvSpPr>
        <p:spPr>
          <a:xfrm>
            <a:off x="11572875" y="4436745"/>
            <a:ext cx="104775" cy="95012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Rectangle 96"/>
          <p:cNvSpPr/>
          <p:nvPr/>
        </p:nvSpPr>
        <p:spPr>
          <a:xfrm>
            <a:off x="11572875" y="4524137"/>
            <a:ext cx="104775" cy="95012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11572875" y="4611529"/>
            <a:ext cx="104775" cy="95012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11572875" y="4698921"/>
            <a:ext cx="104775" cy="95012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11572875" y="4786312"/>
            <a:ext cx="104775" cy="95012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11572875" y="4873704"/>
            <a:ext cx="104775" cy="95012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11572875" y="4961096"/>
            <a:ext cx="104775" cy="95012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11572875" y="5048488"/>
            <a:ext cx="104775" cy="95012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11572875" y="5135880"/>
            <a:ext cx="104775" cy="95012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11572875" y="5223272"/>
            <a:ext cx="104775" cy="95012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11572875" y="5310664"/>
            <a:ext cx="104775" cy="95012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11572875" y="5398056"/>
            <a:ext cx="104775" cy="95012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11572875" y="5485448"/>
            <a:ext cx="104775" cy="95012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11572875" y="5572839"/>
            <a:ext cx="104775" cy="95012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1572875" y="5660231"/>
            <a:ext cx="104775" cy="95012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1572875" y="5747623"/>
            <a:ext cx="104775" cy="95012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Rectangle 111"/>
          <p:cNvSpPr/>
          <p:nvPr/>
        </p:nvSpPr>
        <p:spPr>
          <a:xfrm>
            <a:off x="11572875" y="5835015"/>
            <a:ext cx="104775" cy="95012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Rectangle 112"/>
          <p:cNvSpPr/>
          <p:nvPr/>
        </p:nvSpPr>
        <p:spPr>
          <a:xfrm>
            <a:off x="11572875" y="5922407"/>
            <a:ext cx="104775" cy="95012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11572875" y="6009799"/>
            <a:ext cx="104775" cy="95012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11572875" y="6097191"/>
            <a:ext cx="104775" cy="95012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11572875" y="6184582"/>
            <a:ext cx="104775" cy="95012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11572875" y="6271974"/>
            <a:ext cx="104775" cy="95012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11572875" y="6359366"/>
            <a:ext cx="104775" cy="95012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11572875" y="6446758"/>
            <a:ext cx="104775" cy="95012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11572875" y="3038475"/>
            <a:ext cx="104775" cy="3495675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TextBox 120"/>
          <p:cNvSpPr txBox="1"/>
          <p:nvPr/>
        </p:nvSpPr>
        <p:spPr>
          <a:xfrm>
            <a:off x="11687175" y="297180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11687175" y="4719638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124" name="TextBox 12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25" name="Picture 12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09906" y="1589913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1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7.7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Price Tier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Price Tier Segment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Structure &amp; Attractiveness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Volume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Value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1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By Price Tier Segment Outlook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 analysis of market size, growth and share across 4 sub-segments of Price Tier,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Price Tier segment categorizes the market by price tier. Each sub-category is evaluated on market size, growth outlook and adoption trends across the forecast period.</a:t>
            </a:r>
          </a:p>
        </p:txBody>
      </p:sp>
      <p:sp>
        <p:nvSpPr>
          <p:cNvPr id="12" name="Rectangle 11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Sub-Segment</a:t>
            </a:r>
          </a:p>
        </p:txBody>
      </p:sp>
      <p:sp>
        <p:nvSpPr>
          <p:cNvPr id="14" name="Rectangle 13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6" name="Rectangle 15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8" name="Rectangle 17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866900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Rectangle 20"/>
          <p:cNvSpPr/>
          <p:nvPr/>
        </p:nvSpPr>
        <p:spPr>
          <a:xfrm>
            <a:off x="1866900" y="1992961"/>
            <a:ext cx="2414588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905000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Mid-Range: US$3 to below US$6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5" name="Rectangle 24"/>
          <p:cNvSpPr/>
          <p:nvPr/>
        </p:nvSpPr>
        <p:spPr>
          <a:xfrm>
            <a:off x="1866900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6" name="Oval 25"/>
          <p:cNvSpPr/>
          <p:nvPr/>
        </p:nvSpPr>
        <p:spPr>
          <a:xfrm>
            <a:off x="2912269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4395788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Rectangle 27"/>
          <p:cNvSpPr/>
          <p:nvPr/>
        </p:nvSpPr>
        <p:spPr>
          <a:xfrm>
            <a:off x="4395788" y="1992961"/>
            <a:ext cx="2414588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4433888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Premium: US$6 to below US$12</a:t>
            </a:r>
          </a:p>
        </p:txBody>
      </p:sp>
      <p:sp>
        <p:nvSpPr>
          <p:cNvPr id="30" name="Rectangle 29"/>
          <p:cNvSpPr/>
          <p:nvPr/>
        </p:nvSpPr>
        <p:spPr>
          <a:xfrm>
            <a:off x="4395788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4395788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2" name="Rectangle 31"/>
          <p:cNvSpPr/>
          <p:nvPr/>
        </p:nvSpPr>
        <p:spPr>
          <a:xfrm>
            <a:off x="4395788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5441156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6924675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6924675" y="1992961"/>
            <a:ext cx="2414588" cy="21904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6962775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Economy / Mass-Market: Below US$3</a:t>
            </a:r>
          </a:p>
        </p:txBody>
      </p:sp>
      <p:sp>
        <p:nvSpPr>
          <p:cNvPr id="37" name="Rectangle 36"/>
          <p:cNvSpPr/>
          <p:nvPr/>
        </p:nvSpPr>
        <p:spPr>
          <a:xfrm>
            <a:off x="6924675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8" name="Rectangle 37"/>
          <p:cNvSpPr/>
          <p:nvPr/>
        </p:nvSpPr>
        <p:spPr>
          <a:xfrm>
            <a:off x="6924675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9" name="Rectangle 38"/>
          <p:cNvSpPr/>
          <p:nvPr/>
        </p:nvSpPr>
        <p:spPr>
          <a:xfrm>
            <a:off x="6924675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40" name="Oval 39"/>
          <p:cNvSpPr/>
          <p:nvPr/>
        </p:nvSpPr>
        <p:spPr>
          <a:xfrm>
            <a:off x="7970044" y="1445350"/>
            <a:ext cx="323850" cy="310313"/>
          </a:xfrm>
          <a:prstGeom prst="ellipse">
            <a:avLst/>
          </a:prstGeom>
          <a:solidFill>
            <a:srgbClr val="0081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41" name="Rounded Rectangle 40"/>
          <p:cNvSpPr/>
          <p:nvPr/>
        </p:nvSpPr>
        <p:spPr>
          <a:xfrm>
            <a:off x="9453562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9453562" y="1992961"/>
            <a:ext cx="2414588" cy="219044"/>
          </a:xfrm>
          <a:prstGeom prst="rect">
            <a:avLst/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9491662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Super-Premium / Luxury: US$12 and…</a:t>
            </a:r>
          </a:p>
        </p:txBody>
      </p:sp>
      <p:sp>
        <p:nvSpPr>
          <p:cNvPr id="44" name="Rectangle 43"/>
          <p:cNvSpPr/>
          <p:nvPr/>
        </p:nvSpPr>
        <p:spPr>
          <a:xfrm>
            <a:off x="9453562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5" name="Rectangle 44"/>
          <p:cNvSpPr/>
          <p:nvPr/>
        </p:nvSpPr>
        <p:spPr>
          <a:xfrm>
            <a:off x="9453562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6" name="Rectangle 45"/>
          <p:cNvSpPr/>
          <p:nvPr/>
        </p:nvSpPr>
        <p:spPr>
          <a:xfrm>
            <a:off x="9453562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7" name="Oval 46"/>
          <p:cNvSpPr/>
          <p:nvPr/>
        </p:nvSpPr>
        <p:spPr>
          <a:xfrm>
            <a:off x="10498931" y="1445350"/>
            <a:ext cx="323850" cy="310313"/>
          </a:xfrm>
          <a:prstGeom prst="ellipse">
            <a:avLst/>
          </a:prstGeom>
          <a:solidFill>
            <a:srgbClr val="6F3CC2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4</a:t>
            </a:r>
          </a:p>
        </p:txBody>
      </p:sp>
      <p:sp>
        <p:nvSpPr>
          <p:cNvPr id="48" name="Rounded Rectangle 47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TextBox 48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50" name="Rectangle 49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TextBox 50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2" name="Rounded Rectangle 51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TextBox 52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54" name="Rectangle 53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TextBox 54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1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08189"/>
                </a:solidFill>
                <a:latin typeface="Calibri"/>
              </a:rPr>
              <a:t/>
            </a:r>
            <a:r>
              <a:rPr sz="1100" b="1">
                <a:solidFill>
                  <a:srgbClr val="0081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6F3CC2"/>
                </a:solidFill>
                <a:latin typeface="Calibri"/>
              </a:rPr>
              <a:t/>
            </a:r>
            <a:r>
              <a:rPr sz="1100" b="1">
                <a:solidFill>
                  <a:srgbClr val="6F3CC2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6" name="Rounded Rectangle 55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TextBox 56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Segment Overview</a:t>
            </a:r>
          </a:p>
        </p:txBody>
      </p:sp>
      <p:sp>
        <p:nvSpPr>
          <p:cNvPr id="58" name="Rectangle 57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TextBox 58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Price Tier split shows how demand is distributed across price tier types and where growth concentrates.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preferences and product innovation are reshaping the mix through 2036.</a:t>
            </a:r>
          </a:p>
        </p:txBody>
      </p:sp>
      <p:sp>
        <p:nvSpPr>
          <p:cNvPr id="60" name="Rectangle 59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TextBox 60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64" name="Picture 63" descr="1_215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76330" y="2286582"/>
            <a:ext cx="1195728" cy="361950"/>
          </a:xfrm>
          <a:prstGeom prst="rect">
            <a:avLst/>
          </a:prstGeom>
        </p:spPr>
      </p:pic>
      <p:pic>
        <p:nvPicPr>
          <p:cNvPr id="65" name="Picture 64" descr="2_131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476330" y="2779432"/>
            <a:ext cx="1195728" cy="361950"/>
          </a:xfrm>
          <a:prstGeom prst="rect">
            <a:avLst/>
          </a:prstGeom>
        </p:spPr>
      </p:pic>
      <p:pic>
        <p:nvPicPr>
          <p:cNvPr id="66" name="Picture 65" descr="5_8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582976" y="3272281"/>
            <a:ext cx="982436" cy="361950"/>
          </a:xfrm>
          <a:prstGeom prst="rect">
            <a:avLst/>
          </a:prstGeom>
        </p:spPr>
      </p:pic>
      <p:pic>
        <p:nvPicPr>
          <p:cNvPr id="67" name="Picture 66" descr="834_8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005218" y="2286582"/>
            <a:ext cx="1195728" cy="361950"/>
          </a:xfrm>
          <a:prstGeom prst="rect">
            <a:avLst/>
          </a:prstGeom>
        </p:spPr>
      </p:pic>
      <p:pic>
        <p:nvPicPr>
          <p:cNvPr id="68" name="Picture 67" descr="1_533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5005218" y="2779432"/>
            <a:ext cx="1195728" cy="361950"/>
          </a:xfrm>
          <a:prstGeom prst="rect">
            <a:avLst/>
          </a:prstGeom>
        </p:spPr>
      </p:pic>
      <p:pic>
        <p:nvPicPr>
          <p:cNvPr id="69" name="Picture 68" descr="6_3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5111864" y="3272281"/>
            <a:ext cx="982436" cy="361950"/>
          </a:xfrm>
          <a:prstGeom prst="rect">
            <a:avLst/>
          </a:prstGeom>
        </p:spPr>
      </p:pic>
      <p:pic>
        <p:nvPicPr>
          <p:cNvPr id="70" name="Picture 69" descr="766_0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7534105" y="2286582"/>
            <a:ext cx="1195728" cy="361950"/>
          </a:xfrm>
          <a:prstGeom prst="rect">
            <a:avLst/>
          </a:prstGeom>
        </p:spPr>
      </p:pic>
      <p:pic>
        <p:nvPicPr>
          <p:cNvPr id="71" name="Picture 70" descr="1_439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7534105" y="2779432"/>
            <a:ext cx="1195728" cy="361950"/>
          </a:xfrm>
          <a:prstGeom prst="rect">
            <a:avLst/>
          </a:prstGeom>
        </p:spPr>
      </p:pic>
      <p:pic>
        <p:nvPicPr>
          <p:cNvPr id="72" name="Picture 71" descr="6_5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7640751" y="3272281"/>
            <a:ext cx="982436" cy="361950"/>
          </a:xfrm>
          <a:prstGeom prst="rect">
            <a:avLst/>
          </a:prstGeom>
        </p:spPr>
      </p:pic>
      <p:pic>
        <p:nvPicPr>
          <p:cNvPr id="73" name="Picture 72" descr="336_2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0062992" y="2286582"/>
            <a:ext cx="1195728" cy="361950"/>
          </a:xfrm>
          <a:prstGeom prst="rect">
            <a:avLst/>
          </a:prstGeom>
        </p:spPr>
      </p:pic>
      <p:pic>
        <p:nvPicPr>
          <p:cNvPr id="74" name="Picture 73" descr="592_5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10062992" y="2779432"/>
            <a:ext cx="1195728" cy="361950"/>
          </a:xfrm>
          <a:prstGeom prst="rect">
            <a:avLst/>
          </a:prstGeom>
        </p:spPr>
      </p:pic>
      <p:pic>
        <p:nvPicPr>
          <p:cNvPr id="75" name="Picture 74" descr="5_8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169638" y="3272281"/>
            <a:ext cx="982436" cy="361950"/>
          </a:xfrm>
          <a:prstGeom prst="rect">
            <a:avLst/>
          </a:prstGeom>
        </p:spPr>
      </p:pic>
      <p:pic>
        <p:nvPicPr>
          <p:cNvPr id="76" name="Picture 75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2980848" y="2827057"/>
            <a:ext cx="183356" cy="266700"/>
          </a:xfrm>
          <a:prstGeom prst="rect">
            <a:avLst/>
          </a:prstGeom>
        </p:spPr>
      </p:pic>
      <p:pic>
        <p:nvPicPr>
          <p:cNvPr id="77" name="Picture 76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5509737" y="2827057"/>
            <a:ext cx="183356" cy="266700"/>
          </a:xfrm>
          <a:prstGeom prst="rect">
            <a:avLst/>
          </a:prstGeom>
        </p:spPr>
      </p:pic>
      <p:pic>
        <p:nvPicPr>
          <p:cNvPr id="78" name="Picture 77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8038624" y="2827057"/>
            <a:ext cx="183356" cy="266700"/>
          </a:xfrm>
          <a:prstGeom prst="rect">
            <a:avLst/>
          </a:prstGeom>
        </p:spPr>
      </p:pic>
      <p:pic>
        <p:nvPicPr>
          <p:cNvPr id="79" name="Picture 78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10567511" y="2827057"/>
            <a:ext cx="183356" cy="266700"/>
          </a:xfrm>
          <a:prstGeom prst="rect">
            <a:avLst/>
          </a:prstGeom>
        </p:spPr>
      </p:pic>
      <p:sp>
        <p:nvSpPr>
          <p:cNvPr id="80" name="TextBox 79"/>
          <p:cNvSpPr txBox="1"/>
          <p:nvPr/>
        </p:nvSpPr>
        <p:spPr>
          <a:xfrm>
            <a:off x="485775" y="4229437"/>
            <a:ext cx="262354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'Mid-Range: US$3 to below US$6' holds the</a:t>
            </a:r>
          </a:p>
        </p:txBody>
      </p:sp>
      <p:sp>
        <p:nvSpPr>
          <p:cNvPr id="81" name="TextBox 80"/>
          <p:cNvSpPr txBox="1"/>
          <p:nvPr/>
        </p:nvSpPr>
        <p:spPr>
          <a:xfrm>
            <a:off x="485775" y="4397077"/>
            <a:ext cx="12584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largest share in 2026</a:t>
            </a:r>
          </a:p>
        </p:txBody>
      </p:sp>
      <p:pic>
        <p:nvPicPr>
          <p:cNvPr id="82" name="Picture 81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1692292" y="4387298"/>
            <a:ext cx="128699" cy="187198"/>
          </a:xfrm>
          <a:prstGeom prst="rect">
            <a:avLst/>
          </a:prstGeom>
        </p:spPr>
      </p:pic>
      <p:sp>
        <p:nvSpPr>
          <p:cNvPr id="83" name="TextBox 82"/>
          <p:cNvSpPr txBox="1"/>
          <p:nvPr/>
        </p:nvSpPr>
        <p:spPr>
          <a:xfrm>
            <a:off x="1859788" y="4397077"/>
            <a:ext cx="108738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segment value.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485775" y="4615009"/>
            <a:ext cx="270072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'Economy / Mass-Market: Below US$3' is the</a:t>
            </a:r>
          </a:p>
        </p:txBody>
      </p:sp>
      <p:sp>
        <p:nvSpPr>
          <p:cNvPr id="85" name="TextBox 84"/>
          <p:cNvSpPr txBox="1"/>
          <p:nvPr/>
        </p:nvSpPr>
        <p:spPr>
          <a:xfrm>
            <a:off x="485775" y="4782649"/>
            <a:ext cx="18732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fastest-growing sub-segment at</a:t>
            </a:r>
          </a:p>
        </p:txBody>
      </p:sp>
      <p:pic>
        <p:nvPicPr>
          <p:cNvPr id="86" name="Picture 85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2307026" y="4772870"/>
            <a:ext cx="128699" cy="187198"/>
          </a:xfrm>
          <a:prstGeom prst="rect">
            <a:avLst/>
          </a:prstGeom>
        </p:spPr>
      </p:pic>
      <p:sp>
        <p:nvSpPr>
          <p:cNvPr id="87" name="TextBox 86"/>
          <p:cNvSpPr txBox="1"/>
          <p:nvPr/>
        </p:nvSpPr>
        <p:spPr>
          <a:xfrm>
            <a:off x="2474522" y="4782649"/>
            <a:ext cx="88245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through</a:t>
            </a:r>
          </a:p>
        </p:txBody>
      </p:sp>
      <p:sp>
        <p:nvSpPr>
          <p:cNvPr id="88" name="TextBox 87"/>
          <p:cNvSpPr txBox="1"/>
          <p:nvPr/>
        </p:nvSpPr>
        <p:spPr>
          <a:xfrm>
            <a:off x="485775" y="4950289"/>
            <a:ext cx="39516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2036.</a:t>
            </a:r>
          </a:p>
        </p:txBody>
      </p:sp>
      <p:sp>
        <p:nvSpPr>
          <p:cNvPr id="89" name="TextBox 88"/>
          <p:cNvSpPr txBox="1"/>
          <p:nvPr/>
        </p:nvSpPr>
        <p:spPr>
          <a:xfrm>
            <a:off x="485775" y="5168221"/>
            <a:ext cx="18066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Segment value expands from</a:t>
            </a:r>
          </a:p>
        </p:txBody>
      </p:sp>
      <p:pic>
        <p:nvPicPr>
          <p:cNvPr id="90" name="Picture 89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2240451" y="5158441"/>
            <a:ext cx="128699" cy="187198"/>
          </a:xfrm>
          <a:prstGeom prst="rect">
            <a:avLst/>
          </a:prstGeom>
        </p:spPr>
      </p:pic>
      <p:sp>
        <p:nvSpPr>
          <p:cNvPr id="91" name="TextBox 90"/>
          <p:cNvSpPr txBox="1"/>
          <p:nvPr/>
        </p:nvSpPr>
        <p:spPr>
          <a:xfrm>
            <a:off x="2407947" y="5168221"/>
            <a:ext cx="1968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92" name="Picture 91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2552799" y="5158441"/>
            <a:ext cx="128699" cy="187198"/>
          </a:xfrm>
          <a:prstGeom prst="rect">
            <a:avLst/>
          </a:prstGeom>
        </p:spPr>
      </p:pic>
      <p:sp>
        <p:nvSpPr>
          <p:cNvPr id="93" name="TextBox 92"/>
          <p:cNvSpPr txBox="1"/>
          <p:nvPr/>
        </p:nvSpPr>
        <p:spPr>
          <a:xfrm>
            <a:off x="2720294" y="5168221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485775" y="5335861"/>
            <a:ext cx="11378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2026–2036.</a:t>
            </a:r>
          </a:p>
        </p:txBody>
      </p:sp>
      <p:sp>
        <p:nvSpPr>
          <p:cNvPr id="95" name="TextBox 94"/>
          <p:cNvSpPr txBox="1"/>
          <p:nvPr/>
        </p:nvSpPr>
        <p:spPr>
          <a:xfrm>
            <a:off x="485775" y="5553793"/>
            <a:ext cx="29146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4 sub-segments make up the price tier landscape.</a:t>
            </a:r>
          </a:p>
        </p:txBody>
      </p:sp>
      <p:sp>
        <p:nvSpPr>
          <p:cNvPr id="96" name="TextBox 95"/>
          <p:cNvSpPr txBox="1"/>
          <p:nvPr/>
        </p:nvSpPr>
        <p:spPr>
          <a:xfrm>
            <a:off x="3838575" y="4229437"/>
            <a:ext cx="207374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Mid-Range: US$3 to below US$6:</a:t>
            </a:r>
          </a:p>
        </p:txBody>
      </p:sp>
      <p:pic>
        <p:nvPicPr>
          <p:cNvPr id="97" name="Picture 96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5860372" y="4219658"/>
            <a:ext cx="128699" cy="187198"/>
          </a:xfrm>
          <a:prstGeom prst="rect">
            <a:avLst/>
          </a:prstGeom>
        </p:spPr>
      </p:pic>
      <p:sp>
        <p:nvSpPr>
          <p:cNvPr id="98" name="TextBox 97"/>
          <p:cNvSpPr txBox="1"/>
          <p:nvPr/>
        </p:nvSpPr>
        <p:spPr>
          <a:xfrm>
            <a:off x="6027868" y="422943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99" name="Picture 98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6887318" y="4219658"/>
            <a:ext cx="128699" cy="187198"/>
          </a:xfrm>
          <a:prstGeom prst="rect">
            <a:avLst/>
          </a:prstGeom>
        </p:spPr>
      </p:pic>
      <p:sp>
        <p:nvSpPr>
          <p:cNvPr id="100" name="TextBox 99"/>
          <p:cNvSpPr txBox="1"/>
          <p:nvPr/>
        </p:nvSpPr>
        <p:spPr>
          <a:xfrm>
            <a:off x="7054814" y="4229437"/>
            <a:ext cx="72365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leads</a:t>
            </a:r>
          </a:p>
        </p:txBody>
      </p:sp>
      <p:sp>
        <p:nvSpPr>
          <p:cNvPr id="101" name="TextBox 100"/>
          <p:cNvSpPr txBox="1"/>
          <p:nvPr/>
        </p:nvSpPr>
        <p:spPr>
          <a:xfrm>
            <a:off x="3838575" y="4397077"/>
            <a:ext cx="824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the segment.</a:t>
            </a:r>
          </a:p>
        </p:txBody>
      </p:sp>
      <p:sp>
        <p:nvSpPr>
          <p:cNvPr id="102" name="TextBox 101"/>
          <p:cNvSpPr txBox="1"/>
          <p:nvPr/>
        </p:nvSpPr>
        <p:spPr>
          <a:xfrm>
            <a:off x="3838575" y="4615009"/>
            <a:ext cx="20448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Premium: US$6 to below US$12:</a:t>
            </a:r>
          </a:p>
        </p:txBody>
      </p:sp>
      <p:pic>
        <p:nvPicPr>
          <p:cNvPr id="103" name="Picture 102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5831450" y="4605230"/>
            <a:ext cx="128699" cy="187198"/>
          </a:xfrm>
          <a:prstGeom prst="rect">
            <a:avLst/>
          </a:prstGeom>
        </p:spPr>
      </p:pic>
      <p:sp>
        <p:nvSpPr>
          <p:cNvPr id="104" name="TextBox 103"/>
          <p:cNvSpPr txBox="1"/>
          <p:nvPr/>
        </p:nvSpPr>
        <p:spPr>
          <a:xfrm>
            <a:off x="5998946" y="461500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05" name="Picture 104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6858396" y="4605230"/>
            <a:ext cx="128699" cy="187198"/>
          </a:xfrm>
          <a:prstGeom prst="rect">
            <a:avLst/>
          </a:prstGeom>
        </p:spPr>
      </p:pic>
      <p:sp>
        <p:nvSpPr>
          <p:cNvPr id="106" name="TextBox 105"/>
          <p:cNvSpPr txBox="1"/>
          <p:nvPr/>
        </p:nvSpPr>
        <p:spPr>
          <a:xfrm>
            <a:off x="7025892" y="4615009"/>
            <a:ext cx="78723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3838575" y="4782649"/>
            <a:ext cx="51767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 niche.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3838575" y="5000581"/>
            <a:ext cx="237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Economy / Mass-Market: Below US$3:</a:t>
            </a:r>
          </a:p>
        </p:txBody>
      </p:sp>
      <p:pic>
        <p:nvPicPr>
          <p:cNvPr id="109" name="Picture 108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6158024" y="4990801"/>
            <a:ext cx="128699" cy="187198"/>
          </a:xfrm>
          <a:prstGeom prst="rect">
            <a:avLst/>
          </a:prstGeom>
        </p:spPr>
      </p:pic>
      <p:sp>
        <p:nvSpPr>
          <p:cNvPr id="110" name="TextBox 109"/>
          <p:cNvSpPr txBox="1"/>
          <p:nvPr/>
        </p:nvSpPr>
        <p:spPr>
          <a:xfrm>
            <a:off x="6325519" y="5000581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11" name="Picture 110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7184970" y="4990801"/>
            <a:ext cx="128699" cy="187198"/>
          </a:xfrm>
          <a:prstGeom prst="rect">
            <a:avLst/>
          </a:prstGeom>
        </p:spPr>
      </p:pic>
      <p:sp>
        <p:nvSpPr>
          <p:cNvPr id="112" name="TextBox 111"/>
          <p:cNvSpPr txBox="1"/>
          <p:nvPr/>
        </p:nvSpPr>
        <p:spPr>
          <a:xfrm>
            <a:off x="7352465" y="5000581"/>
            <a:ext cx="39541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</a:t>
            </a:r>
          </a:p>
        </p:txBody>
      </p:sp>
      <p:sp>
        <p:nvSpPr>
          <p:cNvPr id="113" name="TextBox 112"/>
          <p:cNvSpPr txBox="1"/>
          <p:nvPr/>
        </p:nvSpPr>
        <p:spPr>
          <a:xfrm>
            <a:off x="3838575" y="5168221"/>
            <a:ext cx="86774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grows fastest.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3838575" y="5386153"/>
            <a:ext cx="267592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Super-Premium / Luxury: US$12 and above:</a:t>
            </a:r>
          </a:p>
        </p:txBody>
      </p:sp>
      <p:pic>
        <p:nvPicPr>
          <p:cNvPr id="115" name="Picture 114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6462556" y="5376373"/>
            <a:ext cx="128699" cy="187198"/>
          </a:xfrm>
          <a:prstGeom prst="rect">
            <a:avLst/>
          </a:prstGeom>
        </p:spPr>
      </p:pic>
      <p:sp>
        <p:nvSpPr>
          <p:cNvPr id="116" name="TextBox 115"/>
          <p:cNvSpPr txBox="1"/>
          <p:nvPr/>
        </p:nvSpPr>
        <p:spPr>
          <a:xfrm>
            <a:off x="6630052" y="5386153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17" name="Picture 116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7489502" y="5376373"/>
            <a:ext cx="128699" cy="187198"/>
          </a:xfrm>
          <a:prstGeom prst="rect">
            <a:avLst/>
          </a:prstGeom>
        </p:spPr>
      </p:pic>
      <p:sp>
        <p:nvSpPr>
          <p:cNvPr id="118" name="TextBox 117"/>
          <p:cNvSpPr txBox="1"/>
          <p:nvPr/>
        </p:nvSpPr>
        <p:spPr>
          <a:xfrm>
            <a:off x="3838575" y="5553793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19" name="TextBox 118"/>
          <p:cNvSpPr txBox="1"/>
          <p:nvPr/>
        </p:nvSpPr>
        <p:spPr>
          <a:xfrm>
            <a:off x="8524875" y="5842641"/>
            <a:ext cx="296639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The Price Tier segment is projected to grow at a</a:t>
            </a:r>
          </a:p>
        </p:txBody>
      </p:sp>
      <p:sp>
        <p:nvSpPr>
          <p:cNvPr id="120" name="TextBox 119"/>
          <p:cNvSpPr txBox="1"/>
          <p:nvPr/>
        </p:nvSpPr>
        <p:spPr>
          <a:xfrm>
            <a:off x="8524875" y="6017901"/>
            <a:ext cx="5747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CAGR of</a:t>
            </a:r>
          </a:p>
        </p:txBody>
      </p:sp>
      <p:pic>
        <p:nvPicPr>
          <p:cNvPr id="121" name="Picture 120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9048826" y="6007677"/>
            <a:ext cx="134549" cy="195707"/>
          </a:xfrm>
          <a:prstGeom prst="rect">
            <a:avLst/>
          </a:prstGeom>
        </p:spPr>
      </p:pic>
      <p:sp>
        <p:nvSpPr>
          <p:cNvPr id="122" name="TextBox 121"/>
          <p:cNvSpPr txBox="1"/>
          <p:nvPr/>
        </p:nvSpPr>
        <p:spPr>
          <a:xfrm>
            <a:off x="9223935" y="6017901"/>
            <a:ext cx="12326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11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Structure &amp; Attractiveness, By Price Tier (Value)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Price Tier mix within each country and the attractiveness of each sub-segment on growth and size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052895"/>
            <a:ext cx="6667500" cy="5503490"/>
          </a:xfrm>
          <a:prstGeom prst="roundRect">
            <a:avLst>
              <a:gd name="adj" fmla="val 138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110045"/>
            <a:ext cx="647700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Price Tier mix within each country (share of 2036 value) · row label = country size (US$ Mn), largest first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10095"/>
          <a:ext cx="6477000" cy="498914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886575" y="1052895"/>
            <a:ext cx="5162550" cy="3650740"/>
          </a:xfrm>
          <a:prstGeom prst="roundRect">
            <a:avLst>
              <a:gd name="adj" fmla="val 208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981825" y="1110045"/>
            <a:ext cx="49720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Attractiveness, By Price Tier (bubble = 2036 size)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981825" y="1338645"/>
          <a:ext cx="4972050" cy="330784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6886575" y="4776650"/>
            <a:ext cx="5162550" cy="1779736"/>
          </a:xfrm>
          <a:prstGeom prst="roundRect">
            <a:avLst>
              <a:gd name="adj" fmla="val 428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613425" y="3638119"/>
            <a:ext cx="386128" cy="56164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7000875" y="5415058"/>
            <a:ext cx="49339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Between 2026 and 2036, 'Economy / Mass-Market: Below US$3' gains the most share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7000875" y="5582698"/>
            <a:ext cx="142463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in the Europe market (+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373559" y="5572919"/>
            <a:ext cx="128699" cy="187198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8541054" y="5582698"/>
            <a:ext cx="296542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BPS) while 'Mid-Range: US$3 to below US$6' cedes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454531" y="5572919"/>
            <a:ext cx="128699" cy="187198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7000875" y="5750338"/>
            <a:ext cx="46562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 Bubbles right of the CAGR-Index line grow faster than the segment average.</a:t>
            </a:r>
          </a:p>
        </p:txBody>
      </p:sp>
      <p:sp>
        <p:nvSpPr>
          <p:cNvPr id="26" name="lockshield_13"/>
          <p:cNvSpPr/>
          <p:nvPr/>
        </p:nvSpPr>
        <p:spPr>
          <a:xfrm>
            <a:off x="238125" y="1510095"/>
            <a:ext cx="6477000" cy="498914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lockshield_16"/>
          <p:cNvSpPr/>
          <p:nvPr/>
        </p:nvSpPr>
        <p:spPr>
          <a:xfrm>
            <a:off x="6981825" y="1338645"/>
            <a:ext cx="4972050" cy="330784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1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Absolute $ Opportunity Analysis, By Price Tier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Price Tier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Economy / Mass-Market: Below US$3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38275"/>
          <a:ext cx="5686425" cy="223837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Mid-Range: US$3 to below US$6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267450" y="1438275"/>
          <a:ext cx="5686425" cy="223837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38125" y="39243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Premium: US$6 to below US$12</a:t>
            </a:r>
          </a:p>
        </p:txBody>
      </p:sp>
      <p:graphicFrame>
        <p:nvGraphicFramePr>
          <p:cNvPr id="19" name="Chart 18"/>
          <p:cNvGraphicFramePr>
            <a:graphicFrameLocks noGrp="1"/>
          </p:cNvGraphicFramePr>
          <p:nvPr/>
        </p:nvGraphicFramePr>
        <p:xfrm>
          <a:off x="238125" y="4324350"/>
          <a:ext cx="5686425" cy="2238375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0" name="Rounded Rectangle 19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6267450" y="39243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Super-Premium / Luxury: US$12 and above</a:t>
            </a:r>
          </a:p>
        </p:txBody>
      </p:sp>
      <p:graphicFrame>
        <p:nvGraphicFramePr>
          <p:cNvPr id="22" name="Chart 21"/>
          <p:cNvGraphicFramePr>
            <a:graphicFrameLocks noGrp="1"/>
          </p:cNvGraphicFramePr>
          <p:nvPr/>
        </p:nvGraphicFramePr>
        <p:xfrm>
          <a:off x="6267450" y="4324350"/>
          <a:ext cx="5686425" cy="2238375"/>
        </p:xfrm>
        <a:graphic>
          <a:graphicData uri="http://schemas.openxmlformats.org/drawingml/2006/chart">
            <c:chart xmlns:c="http://schemas.openxmlformats.org/drawingml/2006/chart" r:id="rId6"/>
          </a:graphicData>
        </a:graphic>
      </p:graphicFrame>
      <p:sp>
        <p:nvSpPr>
          <p:cNvPr id="23" name="TextBox 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100230" y="2330679"/>
            <a:ext cx="252890" cy="367840"/>
          </a:xfrm>
          <a:prstGeom prst="rect">
            <a:avLst/>
          </a:prstGeom>
        </p:spPr>
      </p:pic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9555" y="2330679"/>
            <a:ext cx="252890" cy="367840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100230" y="5216754"/>
            <a:ext cx="252890" cy="367840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9555" y="5216754"/>
            <a:ext cx="252890" cy="367840"/>
          </a:xfrm>
          <a:prstGeom prst="rect">
            <a:avLst/>
          </a:prstGeom>
        </p:spPr>
      </p:pic>
      <p:sp>
        <p:nvSpPr>
          <p:cNvPr id="28" name="lockshield_13"/>
          <p:cNvSpPr/>
          <p:nvPr/>
        </p:nvSpPr>
        <p:spPr>
          <a:xfrm>
            <a:off x="238125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lockshield_16"/>
          <p:cNvSpPr/>
          <p:nvPr/>
        </p:nvSpPr>
        <p:spPr>
          <a:xfrm>
            <a:off x="6267450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lockshield_19"/>
          <p:cNvSpPr/>
          <p:nvPr/>
        </p:nvSpPr>
        <p:spPr>
          <a:xfrm>
            <a:off x="238125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lockshield_22"/>
          <p:cNvSpPr/>
          <p:nvPr/>
        </p:nvSpPr>
        <p:spPr>
          <a:xfrm>
            <a:off x="6267450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1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Volume Analysis, By Price Tier (MT)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by Price Tier,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952625"/>
          </a:xfrm>
          <a:prstGeom prst="roundRect">
            <a:avLst>
              <a:gd name="adj" fmla="val 390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Volume, By Price Tier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9" cy="14858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659166"/>
                <a:gridCol w="544949"/>
                <a:gridCol w="544949"/>
                <a:gridCol w="544949"/>
                <a:gridCol w="544949"/>
                <a:gridCol w="544949"/>
                <a:gridCol w="544949"/>
                <a:gridCol w="544949"/>
                <a:gridCol w="544949"/>
                <a:gridCol w="544949"/>
                <a:gridCol w="544949"/>
                <a:gridCol w="544949"/>
                <a:gridCol w="544949"/>
                <a:gridCol w="544949"/>
                <a:gridCol w="544949"/>
                <a:gridCol w="544949"/>
                <a:gridCol w="544949"/>
                <a:gridCol w="508849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Price Tier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Economy / Mass-Market: Below US$3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Mid-Range: US$3 to below US$6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Premium: US$6 to below US$12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Super-Premium / Luxury: US$12 and above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7336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067050"/>
            <a:ext cx="11906250" cy="3562350"/>
          </a:xfrm>
          <a:prstGeom prst="roundRect">
            <a:avLst>
              <a:gd name="adj" fmla="val 213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315277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Volume Analysis, By Price Tier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339090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3476625"/>
            <a:ext cx="11639550" cy="307657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238892" y="1837563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3486150"/>
            <a:ext cx="36649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'Mid-Range: US$3 to below US$6' is the largest price tier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890358" y="3475926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4065467" y="3486150"/>
            <a:ext cx="10805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volume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095200" y="347592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5270309" y="3486150"/>
            <a:ext cx="3534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3713987"/>
            <a:ext cx="32884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'Economy / Mass-Market: Below US$3'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13791" y="3703764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3688901" y="3713987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3941825"/>
            <a:ext cx="379759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'Economy / Mass-Market: Below US$3'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022970" y="3931602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4198079" y="3941825"/>
            <a:ext cx="341252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'Mid-Range: US$3 to below US$6'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559763" y="3931602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7734872" y="3941825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4169663"/>
            <a:ext cx="15646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volume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90033" y="4159440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965143" y="4169663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16579" y="4159440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291688" y="4169663"/>
            <a:ext cx="14705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across 4 categories.</a:t>
            </a:r>
          </a:p>
        </p:txBody>
      </p:sp>
    </p:spTree>
  </p:cSld>
  <p:clrMapOvr>
    <a:masterClrMapping/>
  </p:clrMapOvr>
</p:sld>
</file>

<file path=ppt/slides/slide11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Value Analysis, By Price Tier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by Price Tier,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952625"/>
          </a:xfrm>
          <a:prstGeom prst="roundRect">
            <a:avLst>
              <a:gd name="adj" fmla="val 390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Value, By Price Tier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3" cy="14858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965703"/>
                <a:gridCol w="535901"/>
                <a:gridCol w="535901"/>
                <a:gridCol w="535901"/>
                <a:gridCol w="535901"/>
                <a:gridCol w="535901"/>
                <a:gridCol w="517023"/>
                <a:gridCol w="511630"/>
                <a:gridCol w="511630"/>
                <a:gridCol w="511630"/>
                <a:gridCol w="511630"/>
                <a:gridCol w="511630"/>
                <a:gridCol w="511630"/>
                <a:gridCol w="511630"/>
                <a:gridCol w="511630"/>
                <a:gridCol w="511630"/>
                <a:gridCol w="511630"/>
                <a:gridCol w="60867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Price Tier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Economy / Mass-Market: Below US$3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Mid-Range: US$3 to below US$6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Premium: US$6 to below US$12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Super-Premium / Luxury: US$12 and above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7336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067050"/>
            <a:ext cx="11906250" cy="3562350"/>
          </a:xfrm>
          <a:prstGeom prst="roundRect">
            <a:avLst>
              <a:gd name="adj" fmla="val 213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315277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Value Analysis, By Price Tier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339090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3476625"/>
            <a:ext cx="11639550" cy="307657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92163" y="1837563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3486150"/>
            <a:ext cx="36649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'Mid-Range: US$3 to below US$6' is the largest price tier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890358" y="3475926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4065467" y="3486150"/>
            <a:ext cx="9567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971400" y="347592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5146509" y="3486150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3713987"/>
            <a:ext cx="32884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'Economy / Mass-Market: Below US$3'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13791" y="3703764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3688901" y="3713987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3941825"/>
            <a:ext cx="379759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'Economy / Mass-Market: Below US$3'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022970" y="3931602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4198079" y="3941825"/>
            <a:ext cx="341252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'Mid-Range: US$3 to below US$6'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559763" y="3931602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7734872" y="3941825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4169663"/>
            <a:ext cx="14408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66233" y="4159440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841342" y="4169663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92779" y="4159440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167888" y="4169663"/>
            <a:ext cx="17440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4 categories.</a:t>
            </a:r>
          </a:p>
        </p:txBody>
      </p:sp>
    </p:spTree>
  </p:cSld>
  <p:clrMapOvr>
    <a:masterClrMapping/>
  </p:clrMapOvr>
</p:sld>
</file>

<file path=ppt/slides/slide11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Value &amp; Share Shift, By Price Tier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composition by Price Tier in 2021, 2026 and 2036, highlighting share shifts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7400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7210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Composition, By Price Tier ·  2021 / 2026 / 2036 (US$ Mn)  ·  right axis = BPS share shift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09700"/>
          <a:ext cx="4614672" cy="516255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852797" y="1419225"/>
            <a:ext cx="2595753" cy="17792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(2021→2036)</a:t>
            </a:r>
          </a:p>
        </p:txBody>
      </p:sp>
      <p:sp>
        <p:nvSpPr>
          <p:cNvPr id="15" name="FMI Lock Anchor"/>
          <p:cNvSpPr txBox="1"/>
          <p:nvPr/>
        </p:nvSpPr>
        <p:spPr>
          <a:xfrm>
            <a:off x="2678811" y="3932301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/>
        </p:txBody>
      </p:sp>
      <p:sp>
        <p:nvSpPr>
          <p:cNvPr id="16" name="FMI Legend Chip"/>
          <p:cNvSpPr/>
          <p:nvPr/>
        </p:nvSpPr>
        <p:spPr>
          <a:xfrm>
            <a:off x="4928997" y="1753059"/>
            <a:ext cx="85725" cy="8572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Isosceles Triangle 16"/>
          <p:cNvSpPr/>
          <p:nvPr/>
        </p:nvSpPr>
        <p:spPr>
          <a:xfrm rot="10800000">
            <a:off x="5090922" y="1748297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BPS Name 1"/>
          <p:cNvSpPr txBox="1"/>
          <p:nvPr/>
        </p:nvSpPr>
        <p:spPr>
          <a:xfrm>
            <a:off x="5233797" y="1672097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Super-Premium / Luxury: US$12 and above</a:t>
            </a:r>
          </a:p>
        </p:txBody>
      </p:sp>
      <p:sp>
        <p:nvSpPr>
          <p:cNvPr id="19" name="BPS Value 1"/>
          <p:cNvSpPr txBox="1"/>
          <p:nvPr/>
        </p:nvSpPr>
        <p:spPr>
          <a:xfrm>
            <a:off x="6896100" y="1734009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0" name="FMI Legend Chip"/>
          <p:cNvSpPr/>
          <p:nvPr/>
        </p:nvSpPr>
        <p:spPr>
          <a:xfrm>
            <a:off x="4928997" y="2597659"/>
            <a:ext cx="85725" cy="8572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Isosceles Triangle 20"/>
          <p:cNvSpPr/>
          <p:nvPr/>
        </p:nvSpPr>
        <p:spPr>
          <a:xfrm>
            <a:off x="5090922" y="2592896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BPS Name 2"/>
          <p:cNvSpPr txBox="1"/>
          <p:nvPr/>
        </p:nvSpPr>
        <p:spPr>
          <a:xfrm>
            <a:off x="5233797" y="2516696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Economy / Mass-Market: Below US$3</a:t>
            </a:r>
          </a:p>
        </p:txBody>
      </p:sp>
      <p:sp>
        <p:nvSpPr>
          <p:cNvPr id="23" name="BPS Value 2"/>
          <p:cNvSpPr txBox="1"/>
          <p:nvPr/>
        </p:nvSpPr>
        <p:spPr>
          <a:xfrm>
            <a:off x="6896100" y="2578609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4" name="FMI Legend Chip"/>
          <p:cNvSpPr/>
          <p:nvPr/>
        </p:nvSpPr>
        <p:spPr>
          <a:xfrm>
            <a:off x="4928997" y="3833490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Isosceles Triangle 24"/>
          <p:cNvSpPr/>
          <p:nvPr/>
        </p:nvSpPr>
        <p:spPr>
          <a:xfrm>
            <a:off x="5090922" y="3828727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BPS Name 3"/>
          <p:cNvSpPr txBox="1"/>
          <p:nvPr/>
        </p:nvSpPr>
        <p:spPr>
          <a:xfrm>
            <a:off x="5233797" y="3752527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Premium: US$6 to below US$12</a:t>
            </a:r>
          </a:p>
        </p:txBody>
      </p:sp>
      <p:sp>
        <p:nvSpPr>
          <p:cNvPr id="27" name="BPS Value 3"/>
          <p:cNvSpPr txBox="1"/>
          <p:nvPr/>
        </p:nvSpPr>
        <p:spPr>
          <a:xfrm>
            <a:off x="6896100" y="3814440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8" name="FMI Legend Chip"/>
          <p:cNvSpPr/>
          <p:nvPr/>
        </p:nvSpPr>
        <p:spPr>
          <a:xfrm>
            <a:off x="4928997" y="5357377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Isosceles Triangle 28"/>
          <p:cNvSpPr/>
          <p:nvPr/>
        </p:nvSpPr>
        <p:spPr>
          <a:xfrm rot="10800000">
            <a:off x="5090922" y="5352614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BPS Name 4"/>
          <p:cNvSpPr txBox="1"/>
          <p:nvPr/>
        </p:nvSpPr>
        <p:spPr>
          <a:xfrm>
            <a:off x="5233797" y="5276414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Mid-Range: US$3 to below US$6</a:t>
            </a:r>
          </a:p>
        </p:txBody>
      </p:sp>
      <p:sp>
        <p:nvSpPr>
          <p:cNvPr id="31" name="BPS Value 4"/>
          <p:cNvSpPr txBox="1"/>
          <p:nvPr/>
        </p:nvSpPr>
        <p:spPr>
          <a:xfrm>
            <a:off x="6896100" y="5338327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32" name="Rounded Rectangle 31"/>
          <p:cNvSpPr/>
          <p:nvPr/>
        </p:nvSpPr>
        <p:spPr>
          <a:xfrm>
            <a:off x="7696200" y="981075"/>
            <a:ext cx="4343400" cy="5648325"/>
          </a:xfrm>
          <a:prstGeom prst="roundRect">
            <a:avLst>
              <a:gd name="adj" fmla="val 17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TextBox 32"/>
          <p:cNvSpPr txBox="1"/>
          <p:nvPr/>
        </p:nvSpPr>
        <p:spPr>
          <a:xfrm>
            <a:off x="7829550" y="1066800"/>
            <a:ext cx="4076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Read-out, By Price Tier</a:t>
            </a:r>
          </a:p>
        </p:txBody>
      </p:sp>
      <p:sp>
        <p:nvSpPr>
          <p:cNvPr id="34" name="Rectangle 33"/>
          <p:cNvSpPr/>
          <p:nvPr/>
        </p:nvSpPr>
        <p:spPr>
          <a:xfrm>
            <a:off x="7829550" y="1304925"/>
            <a:ext cx="40767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TextBox 34"/>
          <p:cNvSpPr txBox="1"/>
          <p:nvPr/>
        </p:nvSpPr>
        <p:spPr>
          <a:xfrm>
            <a:off x="7829550" y="1390650"/>
            <a:ext cx="4076700" cy="5162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2E7D32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E44D3A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57843" y="3751325"/>
            <a:ext cx="275034" cy="400050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7829550" y="1400175"/>
            <a:ext cx="383467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'Economy / Mass-Market: Below US$3' gains the most share +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613378" y="1389951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7829550" y="1575435"/>
            <a:ext cx="312699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between 2026 and 2036 (</a:t>
            </a:r>
            <a:r>
              <a:rPr sz="1150" b="0">
                <a:solidFill>
                  <a:srgbClr val="2E7D32"/>
                </a:solidFill>
                <a:latin typeface="Calibri"/>
              </a:rPr>
              <a:t>green ▲</a:t>
            </a:r>
            <a:r>
              <a:rPr sz="1150" b="0">
                <a:solidFill>
                  <a:srgbClr val="2E2E2E"/>
                </a:solidFill>
                <a:latin typeface="Calibri"/>
              </a:rPr>
              <a:t> on the scale).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7829550" y="1803273"/>
            <a:ext cx="317006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'Mid-Range: US$3 to below US$6' cedes the most -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948767" y="1793049"/>
            <a:ext cx="134549" cy="195707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11123877" y="1803273"/>
            <a:ext cx="59821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7829550" y="1978533"/>
            <a:ext cx="159631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the same window (</a:t>
            </a:r>
            <a:r>
              <a:rPr sz="1150" b="0">
                <a:solidFill>
                  <a:srgbClr val="E44D3A"/>
                </a:solidFill>
                <a:latin typeface="Calibri"/>
              </a:rPr>
              <a:t>red ▼</a:t>
            </a:r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7829550" y="2206371"/>
            <a:ext cx="405765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'Economy / Mass-Market: Below US$3' is the fastest-growing price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7829550" y="2381631"/>
            <a:ext cx="43476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tier at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213468" y="2371407"/>
            <a:ext cx="134549" cy="195707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8388577" y="2381631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7829550" y="2609469"/>
            <a:ext cx="15489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climbs from</a:t>
            </a:r>
          </a:p>
        </p:txBody>
      </p:sp>
      <p:pic>
        <p:nvPicPr>
          <p:cNvPr id="50" name="Picture 49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27669" y="2599245"/>
            <a:ext cx="134549" cy="195707"/>
          </a:xfrm>
          <a:prstGeom prst="rect">
            <a:avLst/>
          </a:prstGeom>
        </p:spPr>
      </p:pic>
      <p:sp>
        <p:nvSpPr>
          <p:cNvPr id="51" name="TextBox 50"/>
          <p:cNvSpPr txBox="1"/>
          <p:nvPr/>
        </p:nvSpPr>
        <p:spPr>
          <a:xfrm>
            <a:off x="9502779" y="2609469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52" name="Picture 5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54215" y="2599245"/>
            <a:ext cx="134549" cy="195707"/>
          </a:xfrm>
          <a:prstGeom prst="rect">
            <a:avLst/>
          </a:prstGeom>
        </p:spPr>
      </p:pic>
      <p:sp>
        <p:nvSpPr>
          <p:cNvPr id="53" name="TextBox 52"/>
          <p:cNvSpPr txBox="1"/>
          <p:nvPr/>
        </p:nvSpPr>
        <p:spPr>
          <a:xfrm>
            <a:off x="9829324" y="2609469"/>
            <a:ext cx="1689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2021–2036.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7829550" y="2837307"/>
            <a:ext cx="39325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Bars show the value mix at each snapshot; the scale shows how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7829550" y="3012566"/>
            <a:ext cx="11772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each share moves.</a:t>
            </a:r>
          </a:p>
        </p:txBody>
      </p:sp>
      <p:sp>
        <p:nvSpPr>
          <p:cNvPr id="56" name="lockshield_13"/>
          <p:cNvSpPr/>
          <p:nvPr/>
        </p:nvSpPr>
        <p:spPr>
          <a:xfrm>
            <a:off x="238125" y="1409700"/>
            <a:ext cx="4614672" cy="516255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1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Europe Market Volume, By Price Tier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Price Tier,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 YoY Growth, By Price Tier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7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868997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Price Tier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Economy / Mass-Market: Below US$3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Mid-Range: US$3 to below US$6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Premium: US$6 to below US$12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Super-Premium / Luxury: US$12 and above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4860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819400"/>
            <a:ext cx="11906250" cy="3810000"/>
          </a:xfrm>
          <a:prstGeom prst="roundRect">
            <a:avLst>
              <a:gd name="adj" fmla="val 200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87655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 YoY Heatmap, By Price Tier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248025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Economy / Mass-Market: Below US$3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248025"/>
            <a:ext cx="643890" cy="831056"/>
          </a:xfrm>
          <a:prstGeom prst="rect">
            <a:avLst/>
          </a:prstGeom>
          <a:solidFill>
            <a:srgbClr val="7FB2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3248025"/>
            <a:ext cx="643890" cy="831056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3248025"/>
            <a:ext cx="643890" cy="831056"/>
          </a:xfrm>
          <a:prstGeom prst="rect">
            <a:avLst/>
          </a:prstGeom>
          <a:solidFill>
            <a:srgbClr val="A6C8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3248025"/>
            <a:ext cx="643890" cy="831056"/>
          </a:xfrm>
          <a:prstGeom prst="rect">
            <a:avLst/>
          </a:prstGeom>
          <a:solidFill>
            <a:srgbClr val="90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3248025"/>
            <a:ext cx="643890" cy="831056"/>
          </a:xfrm>
          <a:prstGeom prst="rect">
            <a:avLst/>
          </a:prstGeom>
          <a:solidFill>
            <a:srgbClr val="0D5D8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3248025"/>
            <a:ext cx="643890" cy="831056"/>
          </a:xfrm>
          <a:prstGeom prst="rect">
            <a:avLst/>
          </a:prstGeom>
          <a:solidFill>
            <a:srgbClr val="0E6DA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3248025"/>
            <a:ext cx="643890" cy="831056"/>
          </a:xfrm>
          <a:prstGeom prst="rect">
            <a:avLst/>
          </a:prstGeom>
          <a:solidFill>
            <a:srgbClr val="0C3B5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3248025"/>
            <a:ext cx="643890" cy="831056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3248025"/>
            <a:ext cx="643890" cy="831056"/>
          </a:xfrm>
          <a:prstGeom prst="rect">
            <a:avLst/>
          </a:prstGeom>
          <a:solidFill>
            <a:srgbClr val="10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3248025"/>
            <a:ext cx="643890" cy="831056"/>
          </a:xfrm>
          <a:prstGeom prst="rect">
            <a:avLst/>
          </a:prstGeom>
          <a:solidFill>
            <a:srgbClr val="0D5D8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3248025"/>
            <a:ext cx="643890" cy="831056"/>
          </a:xfrm>
          <a:prstGeom prst="rect">
            <a:avLst/>
          </a:prstGeom>
          <a:solidFill>
            <a:srgbClr val="0D558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3248025"/>
            <a:ext cx="643890" cy="831056"/>
          </a:xfrm>
          <a:prstGeom prst="rect">
            <a:avLst/>
          </a:prstGeom>
          <a:solidFill>
            <a:srgbClr val="0C3A5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3248025"/>
            <a:ext cx="643890" cy="831056"/>
          </a:xfrm>
          <a:prstGeom prst="rect">
            <a:avLst/>
          </a:prstGeom>
          <a:solidFill>
            <a:srgbClr val="0C456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3248025"/>
            <a:ext cx="643890" cy="831056"/>
          </a:xfrm>
          <a:prstGeom prst="rect">
            <a:avLst/>
          </a:prstGeom>
          <a:solidFill>
            <a:srgbClr val="0C456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3248025"/>
            <a:ext cx="643890" cy="831056"/>
          </a:xfrm>
          <a:prstGeom prst="rect">
            <a:avLst/>
          </a:prstGeom>
          <a:solidFill>
            <a:srgbClr val="0C466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079081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Mid-Range: US$3 to below US$6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079081"/>
            <a:ext cx="643890" cy="831056"/>
          </a:xfrm>
          <a:prstGeom prst="rect">
            <a:avLst/>
          </a:prstGeom>
          <a:solidFill>
            <a:srgbClr val="E4F1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079081"/>
            <a:ext cx="643890" cy="831056"/>
          </a:xfrm>
          <a:prstGeom prst="rect">
            <a:avLst/>
          </a:prstGeom>
          <a:solidFill>
            <a:srgbClr val="F8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079081"/>
            <a:ext cx="643890" cy="831056"/>
          </a:xfrm>
          <a:prstGeom prst="rect">
            <a:avLst/>
          </a:prstGeom>
          <a:solidFill>
            <a:srgbClr val="F5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079081"/>
            <a:ext cx="643890" cy="831056"/>
          </a:xfrm>
          <a:prstGeom prst="rect">
            <a:avLst/>
          </a:prstGeom>
          <a:solidFill>
            <a:srgbClr val="EC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079081"/>
            <a:ext cx="643890" cy="831056"/>
          </a:xfrm>
          <a:prstGeom prst="rect">
            <a:avLst/>
          </a:prstGeom>
          <a:solidFill>
            <a:srgbClr val="95BE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079081"/>
            <a:ext cx="643890" cy="831056"/>
          </a:xfrm>
          <a:prstGeom prst="rect">
            <a:avLst/>
          </a:prstGeom>
          <a:solidFill>
            <a:srgbClr val="9AC1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079081"/>
            <a:ext cx="643890" cy="831056"/>
          </a:xfrm>
          <a:prstGeom prst="rect">
            <a:avLst/>
          </a:prstGeom>
          <a:solidFill>
            <a:srgbClr val="6E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079081"/>
            <a:ext cx="643890" cy="831056"/>
          </a:xfrm>
          <a:prstGeom prst="rect">
            <a:avLst/>
          </a:prstGeom>
          <a:solidFill>
            <a:srgbClr val="64A3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079081"/>
            <a:ext cx="643890" cy="831056"/>
          </a:xfrm>
          <a:prstGeom prst="rect">
            <a:avLst/>
          </a:prstGeom>
          <a:solidFill>
            <a:srgbClr val="9DC3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079081"/>
            <a:ext cx="643890" cy="831056"/>
          </a:xfrm>
          <a:prstGeom prst="rect">
            <a:avLst/>
          </a:prstGeom>
          <a:solidFill>
            <a:srgbClr val="93BE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079081"/>
            <a:ext cx="643890" cy="831056"/>
          </a:xfrm>
          <a:prstGeom prst="rect">
            <a:avLst/>
          </a:prstGeom>
          <a:solidFill>
            <a:srgbClr val="87B7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079081"/>
            <a:ext cx="643890" cy="831056"/>
          </a:xfrm>
          <a:prstGeom prst="rect">
            <a:avLst/>
          </a:prstGeom>
          <a:solidFill>
            <a:srgbClr val="68A6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079081"/>
            <a:ext cx="643890" cy="831056"/>
          </a:xfrm>
          <a:prstGeom prst="rect">
            <a:avLst/>
          </a:prstGeom>
          <a:solidFill>
            <a:srgbClr val="79AF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079081"/>
            <a:ext cx="643890" cy="831056"/>
          </a:xfrm>
          <a:prstGeom prst="rect">
            <a:avLst/>
          </a:prstGeom>
          <a:solidFill>
            <a:srgbClr val="78AF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079081"/>
            <a:ext cx="643890" cy="831056"/>
          </a:xfrm>
          <a:prstGeom prst="rect">
            <a:avLst/>
          </a:prstGeom>
          <a:solidFill>
            <a:srgbClr val="74AC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4910138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Premium: US$6 to below US$12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4910138"/>
            <a:ext cx="643890" cy="831056"/>
          </a:xfrm>
          <a:prstGeom prst="rect">
            <a:avLst/>
          </a:prstGeom>
          <a:solidFill>
            <a:srgbClr val="A8C9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4910138"/>
            <a:ext cx="643890" cy="831056"/>
          </a:xfrm>
          <a:prstGeom prst="rect">
            <a:avLst/>
          </a:prstGeom>
          <a:solidFill>
            <a:srgbClr val="CCDE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4910138"/>
            <a:ext cx="643890" cy="831056"/>
          </a:xfrm>
          <a:prstGeom prst="rect">
            <a:avLst/>
          </a:prstGeom>
          <a:solidFill>
            <a:srgbClr val="C8DB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4910138"/>
            <a:ext cx="643890" cy="831056"/>
          </a:xfrm>
          <a:prstGeom prst="rect">
            <a:avLst/>
          </a:prstGeom>
          <a:solidFill>
            <a:srgbClr val="B6D1E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4910138"/>
            <a:ext cx="643890" cy="831056"/>
          </a:xfrm>
          <a:prstGeom prst="rect">
            <a:avLst/>
          </a:prstGeom>
          <a:solidFill>
            <a:srgbClr val="207D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4910138"/>
            <a:ext cx="643890" cy="831056"/>
          </a:xfrm>
          <a:prstGeom prst="rect">
            <a:avLst/>
          </a:prstGeom>
          <a:solidFill>
            <a:srgbClr val="2E85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4910138"/>
            <a:ext cx="643890" cy="831056"/>
          </a:xfrm>
          <a:prstGeom prst="rect">
            <a:avLst/>
          </a:prstGeom>
          <a:solidFill>
            <a:srgbClr val="0E6AA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4910138"/>
            <a:ext cx="643890" cy="831056"/>
          </a:xfrm>
          <a:prstGeom prst="rect">
            <a:avLst/>
          </a:prstGeom>
          <a:solidFill>
            <a:srgbClr val="0D5F9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4910138"/>
            <a:ext cx="643890" cy="831056"/>
          </a:xfrm>
          <a:prstGeom prst="rect">
            <a:avLst/>
          </a:prstGeom>
          <a:solidFill>
            <a:srgbClr val="3087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4910138"/>
            <a:ext cx="643890" cy="831056"/>
          </a:xfrm>
          <a:prstGeom prst="rect">
            <a:avLst/>
          </a:prstGeom>
          <a:solidFill>
            <a:srgbClr val="24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4910138"/>
            <a:ext cx="643890" cy="831056"/>
          </a:xfrm>
          <a:prstGeom prst="rect">
            <a:avLst/>
          </a:prstGeom>
          <a:solidFill>
            <a:srgbClr val="1C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4910138"/>
            <a:ext cx="643890" cy="831056"/>
          </a:xfrm>
          <a:prstGeom prst="rect">
            <a:avLst/>
          </a:prstGeom>
          <a:solidFill>
            <a:srgbClr val="0E6FA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4910138"/>
            <a:ext cx="643890" cy="831056"/>
          </a:xfrm>
          <a:prstGeom prst="rect">
            <a:avLst/>
          </a:prstGeom>
          <a:solidFill>
            <a:srgbClr val="0E71A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4910138"/>
            <a:ext cx="643890" cy="831056"/>
          </a:xfrm>
          <a:prstGeom prst="rect">
            <a:avLst/>
          </a:prstGeom>
          <a:solidFill>
            <a:srgbClr val="1274B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4910138"/>
            <a:ext cx="643890" cy="831056"/>
          </a:xfrm>
          <a:prstGeom prst="rect">
            <a:avLst/>
          </a:prstGeom>
          <a:solidFill>
            <a:srgbClr val="0E70A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238125" y="5741194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Super-Premium / Luxury: US$12 and above</a:t>
            </a:r>
          </a:p>
        </p:txBody>
      </p:sp>
      <p:sp>
        <p:nvSpPr>
          <p:cNvPr id="81" name="Rectangle 80"/>
          <p:cNvSpPr/>
          <p:nvPr/>
        </p:nvSpPr>
        <p:spPr>
          <a:xfrm>
            <a:off x="1857375" y="5741194"/>
            <a:ext cx="643890" cy="831056"/>
          </a:xfrm>
          <a:prstGeom prst="rect">
            <a:avLst/>
          </a:prstGeom>
          <a:solidFill>
            <a:srgbClr val="EDF7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2501265" y="5741194"/>
            <a:ext cx="643890" cy="831056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3145155" y="5741194"/>
            <a:ext cx="643890" cy="831056"/>
          </a:xfrm>
          <a:prstGeom prst="rect">
            <a:avLst/>
          </a:prstGeom>
          <a:solidFill>
            <a:srgbClr val="FCFE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3789045" y="5741194"/>
            <a:ext cx="643890" cy="831056"/>
          </a:xfrm>
          <a:prstGeom prst="rect">
            <a:avLst/>
          </a:prstGeom>
          <a:solidFill>
            <a:srgbClr val="F2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4432935" y="5741194"/>
            <a:ext cx="643890" cy="831056"/>
          </a:xfrm>
          <a:prstGeom prst="rect">
            <a:avLst/>
          </a:prstGeom>
          <a:solidFill>
            <a:srgbClr val="99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5076825" y="5741194"/>
            <a:ext cx="643890" cy="831056"/>
          </a:xfrm>
          <a:prstGeom prst="rect">
            <a:avLst/>
          </a:prstGeom>
          <a:solidFill>
            <a:srgbClr val="A7C8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5720715" y="5741194"/>
            <a:ext cx="643890" cy="831056"/>
          </a:xfrm>
          <a:prstGeom prst="rect">
            <a:avLst/>
          </a:prstGeom>
          <a:solidFill>
            <a:srgbClr val="76AD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6364605" y="5741194"/>
            <a:ext cx="643890" cy="831056"/>
          </a:xfrm>
          <a:prstGeom prst="rect">
            <a:avLst/>
          </a:prstGeom>
          <a:solidFill>
            <a:srgbClr val="6D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7008495" y="5741194"/>
            <a:ext cx="643890" cy="831056"/>
          </a:xfrm>
          <a:prstGeom prst="rect">
            <a:avLst/>
          </a:prstGeom>
          <a:solidFill>
            <a:srgbClr val="9FC4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7652385" y="5741194"/>
            <a:ext cx="643890" cy="831056"/>
          </a:xfrm>
          <a:prstGeom prst="rect">
            <a:avLst/>
          </a:prstGeom>
          <a:solidFill>
            <a:srgbClr val="92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8296275" y="5741194"/>
            <a:ext cx="643890" cy="831056"/>
          </a:xfrm>
          <a:prstGeom prst="rect">
            <a:avLst/>
          </a:prstGeom>
          <a:solidFill>
            <a:srgbClr val="84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8940165" y="5741194"/>
            <a:ext cx="643890" cy="831056"/>
          </a:xfrm>
          <a:prstGeom prst="rect">
            <a:avLst/>
          </a:prstGeom>
          <a:solidFill>
            <a:srgbClr val="6FAA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9584055" y="5741194"/>
            <a:ext cx="643890" cy="831056"/>
          </a:xfrm>
          <a:prstGeom prst="rect">
            <a:avLst/>
          </a:prstGeom>
          <a:solidFill>
            <a:srgbClr val="6A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0227945" y="5741194"/>
            <a:ext cx="643890" cy="831056"/>
          </a:xfrm>
          <a:prstGeom prst="rect">
            <a:avLst/>
          </a:prstGeom>
          <a:solidFill>
            <a:srgbClr val="6DA8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0871835" y="5741194"/>
            <a:ext cx="643890" cy="831056"/>
          </a:xfrm>
          <a:prstGeom prst="rect">
            <a:avLst/>
          </a:prstGeom>
          <a:solidFill>
            <a:srgbClr val="67A5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Rectangle 95"/>
          <p:cNvSpPr/>
          <p:nvPr/>
        </p:nvSpPr>
        <p:spPr>
          <a:xfrm>
            <a:off x="11572875" y="3286125"/>
            <a:ext cx="104775" cy="88821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Rectangle 96"/>
          <p:cNvSpPr/>
          <p:nvPr/>
        </p:nvSpPr>
        <p:spPr>
          <a:xfrm>
            <a:off x="11572875" y="3367326"/>
            <a:ext cx="104775" cy="88821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11572875" y="3448526"/>
            <a:ext cx="104775" cy="88821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11572875" y="3529727"/>
            <a:ext cx="104775" cy="88821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11572875" y="3610928"/>
            <a:ext cx="104775" cy="88821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11572875" y="3692128"/>
            <a:ext cx="104775" cy="88821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11572875" y="3773329"/>
            <a:ext cx="104775" cy="88821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11572875" y="3854529"/>
            <a:ext cx="104775" cy="88821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11572875" y="3935730"/>
            <a:ext cx="104775" cy="88821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11572875" y="4016931"/>
            <a:ext cx="104775" cy="88821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11572875" y="4098131"/>
            <a:ext cx="104775" cy="88821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11572875" y="4179332"/>
            <a:ext cx="104775" cy="88821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11572875" y="4260532"/>
            <a:ext cx="104775" cy="88821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11572875" y="4341733"/>
            <a:ext cx="104775" cy="88821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1572875" y="4422934"/>
            <a:ext cx="104775" cy="88821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1572875" y="4504134"/>
            <a:ext cx="104775" cy="88821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Rectangle 111"/>
          <p:cNvSpPr/>
          <p:nvPr/>
        </p:nvSpPr>
        <p:spPr>
          <a:xfrm>
            <a:off x="11572875" y="4585335"/>
            <a:ext cx="104775" cy="88821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Rectangle 112"/>
          <p:cNvSpPr/>
          <p:nvPr/>
        </p:nvSpPr>
        <p:spPr>
          <a:xfrm>
            <a:off x="11572875" y="4666536"/>
            <a:ext cx="104775" cy="88821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11572875" y="4747736"/>
            <a:ext cx="104775" cy="88821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11572875" y="4828937"/>
            <a:ext cx="104775" cy="88821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11572875" y="4910138"/>
            <a:ext cx="104775" cy="88821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11572875" y="4991338"/>
            <a:ext cx="104775" cy="88821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11572875" y="5072539"/>
            <a:ext cx="104775" cy="88821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11572875" y="5153739"/>
            <a:ext cx="104775" cy="88821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11572875" y="5234940"/>
            <a:ext cx="104775" cy="88821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11572875" y="5316141"/>
            <a:ext cx="104775" cy="88821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11572875" y="5397341"/>
            <a:ext cx="104775" cy="88821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Rectangle 122"/>
          <p:cNvSpPr/>
          <p:nvPr/>
        </p:nvSpPr>
        <p:spPr>
          <a:xfrm>
            <a:off x="11572875" y="5478542"/>
            <a:ext cx="104775" cy="88821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Rectangle 123"/>
          <p:cNvSpPr/>
          <p:nvPr/>
        </p:nvSpPr>
        <p:spPr>
          <a:xfrm>
            <a:off x="11572875" y="5559742"/>
            <a:ext cx="104775" cy="88821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11572875" y="5640943"/>
            <a:ext cx="104775" cy="88821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11572875" y="5722144"/>
            <a:ext cx="104775" cy="88821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11572875" y="5803344"/>
            <a:ext cx="104775" cy="88821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Rectangle 127"/>
          <p:cNvSpPr/>
          <p:nvPr/>
        </p:nvSpPr>
        <p:spPr>
          <a:xfrm>
            <a:off x="11572875" y="5884545"/>
            <a:ext cx="104775" cy="88821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Rectangle 128"/>
          <p:cNvSpPr/>
          <p:nvPr/>
        </p:nvSpPr>
        <p:spPr>
          <a:xfrm>
            <a:off x="11572875" y="5965746"/>
            <a:ext cx="104775" cy="88821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11572875" y="6046946"/>
            <a:ext cx="104775" cy="88821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11572875" y="6128147"/>
            <a:ext cx="104775" cy="88821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11572875" y="6209348"/>
            <a:ext cx="104775" cy="88821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11572875" y="6290548"/>
            <a:ext cx="104775" cy="88821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11572875" y="6371749"/>
            <a:ext cx="104775" cy="88821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11572875" y="6452949"/>
            <a:ext cx="104775" cy="88821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11572875" y="3286125"/>
            <a:ext cx="104775" cy="3248025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TextBox 136"/>
          <p:cNvSpPr txBox="1"/>
          <p:nvPr/>
        </p:nvSpPr>
        <p:spPr>
          <a:xfrm>
            <a:off x="11687175" y="321945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11687175" y="4843462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139" name="TextBox 138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4%</a:t>
            </a:r>
          </a:p>
        </p:txBody>
      </p:sp>
      <p:sp>
        <p:nvSpPr>
          <p:cNvPr id="140" name="TextBox 13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41" name="Picture 14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43811" y="1713738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2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Europe Market Value, By Price Tier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Price Tier,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YoY Growth, By Price Tier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7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868997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Price Tier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Economy / Mass-Market: Below US$3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Mid-Range: US$3 to below US$6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Premium: US$6 to below US$12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Super-Premium / Luxury: US$12 and above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4860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819400"/>
            <a:ext cx="11906250" cy="3810000"/>
          </a:xfrm>
          <a:prstGeom prst="roundRect">
            <a:avLst>
              <a:gd name="adj" fmla="val 200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87655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YoY Heatmap, By Price Tier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248025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Economy / Mass-Market: Below US$3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248025"/>
            <a:ext cx="643890" cy="831056"/>
          </a:xfrm>
          <a:prstGeom prst="rect">
            <a:avLst/>
          </a:prstGeom>
          <a:solidFill>
            <a:srgbClr val="88B7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3248025"/>
            <a:ext cx="643890" cy="831056"/>
          </a:xfrm>
          <a:prstGeom prst="rect">
            <a:avLst/>
          </a:prstGeom>
          <a:solidFill>
            <a:srgbClr val="ABCB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3248025"/>
            <a:ext cx="643890" cy="831056"/>
          </a:xfrm>
          <a:prstGeom prst="rect">
            <a:avLst/>
          </a:prstGeom>
          <a:solidFill>
            <a:srgbClr val="AFCDE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3248025"/>
            <a:ext cx="643890" cy="831056"/>
          </a:xfrm>
          <a:prstGeom prst="rect">
            <a:avLst/>
          </a:prstGeom>
          <a:solidFill>
            <a:srgbClr val="98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3248025"/>
            <a:ext cx="643890" cy="831056"/>
          </a:xfrm>
          <a:prstGeom prst="rect">
            <a:avLst/>
          </a:prstGeom>
          <a:solidFill>
            <a:srgbClr val="0D588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3248025"/>
            <a:ext cx="643890" cy="831056"/>
          </a:xfrm>
          <a:prstGeom prst="rect">
            <a:avLst/>
          </a:prstGeom>
          <a:solidFill>
            <a:srgbClr val="10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3248025"/>
            <a:ext cx="643890" cy="831056"/>
          </a:xfrm>
          <a:prstGeom prst="rect">
            <a:avLst/>
          </a:prstGeom>
          <a:solidFill>
            <a:srgbClr val="0C426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3248025"/>
            <a:ext cx="643890" cy="831056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3248025"/>
            <a:ext cx="643890" cy="831056"/>
          </a:xfrm>
          <a:prstGeom prst="rect">
            <a:avLst/>
          </a:prstGeom>
          <a:solidFill>
            <a:srgbClr val="16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3248025"/>
            <a:ext cx="643890" cy="831056"/>
          </a:xfrm>
          <a:prstGeom prst="rect">
            <a:avLst/>
          </a:prstGeom>
          <a:solidFill>
            <a:srgbClr val="0D5C8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3248025"/>
            <a:ext cx="643890" cy="831056"/>
          </a:xfrm>
          <a:prstGeom prst="rect">
            <a:avLst/>
          </a:prstGeom>
          <a:solidFill>
            <a:srgbClr val="0D5D9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3248025"/>
            <a:ext cx="643890" cy="831056"/>
          </a:xfrm>
          <a:prstGeom prst="rect">
            <a:avLst/>
          </a:prstGeom>
          <a:solidFill>
            <a:srgbClr val="0C466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3248025"/>
            <a:ext cx="643890" cy="831056"/>
          </a:xfrm>
          <a:prstGeom prst="rect">
            <a:avLst/>
          </a:prstGeom>
          <a:solidFill>
            <a:srgbClr val="0C4D7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3248025"/>
            <a:ext cx="643890" cy="831056"/>
          </a:xfrm>
          <a:prstGeom prst="rect">
            <a:avLst/>
          </a:prstGeom>
          <a:solidFill>
            <a:srgbClr val="0C4B7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3248025"/>
            <a:ext cx="643890" cy="831056"/>
          </a:xfrm>
          <a:prstGeom prst="rect">
            <a:avLst/>
          </a:prstGeom>
          <a:solidFill>
            <a:srgbClr val="0C4F7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079081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Mid-Range: US$3 to below US$6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079081"/>
            <a:ext cx="643890" cy="831056"/>
          </a:xfrm>
          <a:prstGeom prst="rect">
            <a:avLst/>
          </a:prstGeom>
          <a:solidFill>
            <a:srgbClr val="EDF7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079081"/>
            <a:ext cx="643890" cy="831056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079081"/>
            <a:ext cx="643890" cy="831056"/>
          </a:xfrm>
          <a:prstGeom prst="rect">
            <a:avLst/>
          </a:prstGeom>
          <a:solidFill>
            <a:srgbClr val="FD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079081"/>
            <a:ext cx="643890" cy="831056"/>
          </a:xfrm>
          <a:prstGeom prst="rect">
            <a:avLst/>
          </a:prstGeom>
          <a:solidFill>
            <a:srgbClr val="F5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079081"/>
            <a:ext cx="643890" cy="831056"/>
          </a:xfrm>
          <a:prstGeom prst="rect">
            <a:avLst/>
          </a:prstGeom>
          <a:solidFill>
            <a:srgbClr val="9EC4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079081"/>
            <a:ext cx="643890" cy="831056"/>
          </a:xfrm>
          <a:prstGeom prst="rect">
            <a:avLst/>
          </a:prstGeom>
          <a:solidFill>
            <a:srgbClr val="AA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079081"/>
            <a:ext cx="643890" cy="831056"/>
          </a:xfrm>
          <a:prstGeom prst="rect">
            <a:avLst/>
          </a:prstGeom>
          <a:solidFill>
            <a:srgbClr val="80B3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079081"/>
            <a:ext cx="643890" cy="831056"/>
          </a:xfrm>
          <a:prstGeom prst="rect">
            <a:avLst/>
          </a:prstGeom>
          <a:solidFill>
            <a:srgbClr val="78AE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079081"/>
            <a:ext cx="643890" cy="831056"/>
          </a:xfrm>
          <a:prstGeom prst="rect">
            <a:avLst/>
          </a:prstGeom>
          <a:solidFill>
            <a:srgbClr val="ABCB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079081"/>
            <a:ext cx="643890" cy="831056"/>
          </a:xfrm>
          <a:prstGeom prst="rect">
            <a:avLst/>
          </a:prstGeom>
          <a:solidFill>
            <a:srgbClr val="A0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079081"/>
            <a:ext cx="643890" cy="831056"/>
          </a:xfrm>
          <a:prstGeom prst="rect">
            <a:avLst/>
          </a:prstGeom>
          <a:solidFill>
            <a:srgbClr val="97BF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079081"/>
            <a:ext cx="643890" cy="831056"/>
          </a:xfrm>
          <a:prstGeom prst="rect">
            <a:avLst/>
          </a:prstGeom>
          <a:solidFill>
            <a:srgbClr val="80B3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079081"/>
            <a:ext cx="643890" cy="831056"/>
          </a:xfrm>
          <a:prstGeom prst="rect">
            <a:avLst/>
          </a:prstGeom>
          <a:solidFill>
            <a:srgbClr val="8BB9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079081"/>
            <a:ext cx="643890" cy="831056"/>
          </a:xfrm>
          <a:prstGeom prst="rect">
            <a:avLst/>
          </a:prstGeom>
          <a:solidFill>
            <a:srgbClr val="8DBA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079081"/>
            <a:ext cx="643890" cy="831056"/>
          </a:xfrm>
          <a:prstGeom prst="rect">
            <a:avLst/>
          </a:prstGeom>
          <a:solidFill>
            <a:srgbClr val="8CBA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4910138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Premium: US$6 to below US$12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4910138"/>
            <a:ext cx="643890" cy="831056"/>
          </a:xfrm>
          <a:prstGeom prst="rect">
            <a:avLst/>
          </a:prstGeom>
          <a:solidFill>
            <a:srgbClr val="B5D1E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4910138"/>
            <a:ext cx="643890" cy="831056"/>
          </a:xfrm>
          <a:prstGeom prst="rect">
            <a:avLst/>
          </a:prstGeom>
          <a:solidFill>
            <a:srgbClr val="D4E4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4910138"/>
            <a:ext cx="643890" cy="831056"/>
          </a:xfrm>
          <a:prstGeom prst="rect">
            <a:avLst/>
          </a:prstGeom>
          <a:solidFill>
            <a:srgbClr val="D3E3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4910138"/>
            <a:ext cx="643890" cy="831056"/>
          </a:xfrm>
          <a:prstGeom prst="rect">
            <a:avLst/>
          </a:prstGeom>
          <a:solidFill>
            <a:srgbClr val="C6DAE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4910138"/>
            <a:ext cx="643890" cy="831056"/>
          </a:xfrm>
          <a:prstGeom prst="rect">
            <a:avLst/>
          </a:prstGeom>
          <a:solidFill>
            <a:srgbClr val="2983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4910138"/>
            <a:ext cx="643890" cy="831056"/>
          </a:xfrm>
          <a:prstGeom prst="rect">
            <a:avLst/>
          </a:prstGeom>
          <a:solidFill>
            <a:srgbClr val="3A8D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4910138"/>
            <a:ext cx="643890" cy="831056"/>
          </a:xfrm>
          <a:prstGeom prst="rect">
            <a:avLst/>
          </a:prstGeom>
          <a:solidFill>
            <a:srgbClr val="16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4910138"/>
            <a:ext cx="643890" cy="831056"/>
          </a:xfrm>
          <a:prstGeom prst="rect">
            <a:avLst/>
          </a:prstGeom>
          <a:solidFill>
            <a:srgbClr val="0E70A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4910138"/>
            <a:ext cx="643890" cy="831056"/>
          </a:xfrm>
          <a:prstGeom prst="rect">
            <a:avLst/>
          </a:prstGeom>
          <a:solidFill>
            <a:srgbClr val="3F90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4910138"/>
            <a:ext cx="643890" cy="831056"/>
          </a:xfrm>
          <a:prstGeom prst="rect">
            <a:avLst/>
          </a:prstGeom>
          <a:solidFill>
            <a:srgbClr val="2F86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4910138"/>
            <a:ext cx="643890" cy="831056"/>
          </a:xfrm>
          <a:prstGeom prst="rect">
            <a:avLst/>
          </a:prstGeom>
          <a:solidFill>
            <a:srgbClr val="2A83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4910138"/>
            <a:ext cx="643890" cy="831056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4910138"/>
            <a:ext cx="643890" cy="831056"/>
          </a:xfrm>
          <a:prstGeom prst="rect">
            <a:avLst/>
          </a:prstGeom>
          <a:solidFill>
            <a:srgbClr val="1C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4910138"/>
            <a:ext cx="643890" cy="831056"/>
          </a:xfrm>
          <a:prstGeom prst="rect">
            <a:avLst/>
          </a:prstGeom>
          <a:solidFill>
            <a:srgbClr val="1F7C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4910138"/>
            <a:ext cx="643890" cy="831056"/>
          </a:xfrm>
          <a:prstGeom prst="rect">
            <a:avLst/>
          </a:prstGeom>
          <a:solidFill>
            <a:srgbClr val="1D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238125" y="5741194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Super-Premium / Luxury: US$12 and above</a:t>
            </a:r>
          </a:p>
        </p:txBody>
      </p:sp>
      <p:sp>
        <p:nvSpPr>
          <p:cNvPr id="81" name="Rectangle 80"/>
          <p:cNvSpPr/>
          <p:nvPr/>
        </p:nvSpPr>
        <p:spPr>
          <a:xfrm>
            <a:off x="1857375" y="5741194"/>
            <a:ext cx="643890" cy="831056"/>
          </a:xfrm>
          <a:prstGeom prst="rect">
            <a:avLst/>
          </a:prstGeom>
          <a:solidFill>
            <a:srgbClr val="F0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2501265" y="5741194"/>
            <a:ext cx="643890" cy="831056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3145155" y="5741194"/>
            <a:ext cx="643890" cy="831056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3789045" y="5741194"/>
            <a:ext cx="643890" cy="831056"/>
          </a:xfrm>
          <a:prstGeom prst="rect">
            <a:avLst/>
          </a:prstGeom>
          <a:solidFill>
            <a:srgbClr val="F7FC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4432935" y="5741194"/>
            <a:ext cx="643890" cy="831056"/>
          </a:xfrm>
          <a:prstGeom prst="rect">
            <a:avLst/>
          </a:prstGeom>
          <a:solidFill>
            <a:srgbClr val="98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5076825" y="5741194"/>
            <a:ext cx="643890" cy="831056"/>
          </a:xfrm>
          <a:prstGeom prst="rect">
            <a:avLst/>
          </a:prstGeom>
          <a:solidFill>
            <a:srgbClr val="AECC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5720715" y="5741194"/>
            <a:ext cx="643890" cy="831056"/>
          </a:xfrm>
          <a:prstGeom prst="rect">
            <a:avLst/>
          </a:prstGeom>
          <a:solidFill>
            <a:srgbClr val="79AF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6364605" y="5741194"/>
            <a:ext cx="643890" cy="831056"/>
          </a:xfrm>
          <a:prstGeom prst="rect">
            <a:avLst/>
          </a:prstGeom>
          <a:solidFill>
            <a:srgbClr val="71AB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7008495" y="5741194"/>
            <a:ext cx="643890" cy="831056"/>
          </a:xfrm>
          <a:prstGeom prst="rect">
            <a:avLst/>
          </a:prstGeom>
          <a:solidFill>
            <a:srgbClr val="A5C7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7652385" y="5741194"/>
            <a:ext cx="643890" cy="831056"/>
          </a:xfrm>
          <a:prstGeom prst="rect">
            <a:avLst/>
          </a:prstGeom>
          <a:solidFill>
            <a:srgbClr val="96BF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8296275" y="5741194"/>
            <a:ext cx="643890" cy="831056"/>
          </a:xfrm>
          <a:prstGeom prst="rect">
            <a:avLst/>
          </a:prstGeom>
          <a:solidFill>
            <a:srgbClr val="89B8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8940165" y="5741194"/>
            <a:ext cx="643890" cy="831056"/>
          </a:xfrm>
          <a:prstGeom prst="rect">
            <a:avLst/>
          </a:prstGeom>
          <a:solidFill>
            <a:srgbClr val="7AB0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9584055" y="5741194"/>
            <a:ext cx="643890" cy="831056"/>
          </a:xfrm>
          <a:prstGeom prst="rect">
            <a:avLst/>
          </a:prstGeom>
          <a:solidFill>
            <a:srgbClr val="6E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0227945" y="5741194"/>
            <a:ext cx="643890" cy="831056"/>
          </a:xfrm>
          <a:prstGeom prst="rect">
            <a:avLst/>
          </a:prstGeom>
          <a:solidFill>
            <a:srgbClr val="74AC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0871835" y="5741194"/>
            <a:ext cx="643890" cy="831056"/>
          </a:xfrm>
          <a:prstGeom prst="rect">
            <a:avLst/>
          </a:prstGeom>
          <a:solidFill>
            <a:srgbClr val="74AC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Rectangle 95"/>
          <p:cNvSpPr/>
          <p:nvPr/>
        </p:nvSpPr>
        <p:spPr>
          <a:xfrm>
            <a:off x="11572875" y="3286125"/>
            <a:ext cx="104775" cy="88821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Rectangle 96"/>
          <p:cNvSpPr/>
          <p:nvPr/>
        </p:nvSpPr>
        <p:spPr>
          <a:xfrm>
            <a:off x="11572875" y="3367326"/>
            <a:ext cx="104775" cy="88821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11572875" y="3448526"/>
            <a:ext cx="104775" cy="88821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11572875" y="3529727"/>
            <a:ext cx="104775" cy="88821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11572875" y="3610928"/>
            <a:ext cx="104775" cy="88821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11572875" y="3692128"/>
            <a:ext cx="104775" cy="88821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11572875" y="3773329"/>
            <a:ext cx="104775" cy="88821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11572875" y="3854529"/>
            <a:ext cx="104775" cy="88821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11572875" y="3935730"/>
            <a:ext cx="104775" cy="88821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11572875" y="4016931"/>
            <a:ext cx="104775" cy="88821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11572875" y="4098131"/>
            <a:ext cx="104775" cy="88821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11572875" y="4179332"/>
            <a:ext cx="104775" cy="88821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11572875" y="4260532"/>
            <a:ext cx="104775" cy="88821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11572875" y="4341733"/>
            <a:ext cx="104775" cy="88821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1572875" y="4422934"/>
            <a:ext cx="104775" cy="88821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1572875" y="4504134"/>
            <a:ext cx="104775" cy="88821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Rectangle 111"/>
          <p:cNvSpPr/>
          <p:nvPr/>
        </p:nvSpPr>
        <p:spPr>
          <a:xfrm>
            <a:off x="11572875" y="4585335"/>
            <a:ext cx="104775" cy="88821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Rectangle 112"/>
          <p:cNvSpPr/>
          <p:nvPr/>
        </p:nvSpPr>
        <p:spPr>
          <a:xfrm>
            <a:off x="11572875" y="4666536"/>
            <a:ext cx="104775" cy="88821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11572875" y="4747736"/>
            <a:ext cx="104775" cy="88821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11572875" y="4828937"/>
            <a:ext cx="104775" cy="88821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11572875" y="4910138"/>
            <a:ext cx="104775" cy="88821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11572875" y="4991338"/>
            <a:ext cx="104775" cy="88821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11572875" y="5072539"/>
            <a:ext cx="104775" cy="88821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11572875" y="5153739"/>
            <a:ext cx="104775" cy="88821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11572875" y="5234940"/>
            <a:ext cx="104775" cy="88821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11572875" y="5316141"/>
            <a:ext cx="104775" cy="88821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11572875" y="5397341"/>
            <a:ext cx="104775" cy="88821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Rectangle 122"/>
          <p:cNvSpPr/>
          <p:nvPr/>
        </p:nvSpPr>
        <p:spPr>
          <a:xfrm>
            <a:off x="11572875" y="5478542"/>
            <a:ext cx="104775" cy="88821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Rectangle 123"/>
          <p:cNvSpPr/>
          <p:nvPr/>
        </p:nvSpPr>
        <p:spPr>
          <a:xfrm>
            <a:off x="11572875" y="5559742"/>
            <a:ext cx="104775" cy="88821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11572875" y="5640943"/>
            <a:ext cx="104775" cy="88821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11572875" y="5722144"/>
            <a:ext cx="104775" cy="88821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11572875" y="5803344"/>
            <a:ext cx="104775" cy="88821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Rectangle 127"/>
          <p:cNvSpPr/>
          <p:nvPr/>
        </p:nvSpPr>
        <p:spPr>
          <a:xfrm>
            <a:off x="11572875" y="5884545"/>
            <a:ext cx="104775" cy="88821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Rectangle 128"/>
          <p:cNvSpPr/>
          <p:nvPr/>
        </p:nvSpPr>
        <p:spPr>
          <a:xfrm>
            <a:off x="11572875" y="5965746"/>
            <a:ext cx="104775" cy="88821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11572875" y="6046946"/>
            <a:ext cx="104775" cy="88821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11572875" y="6128147"/>
            <a:ext cx="104775" cy="88821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11572875" y="6209348"/>
            <a:ext cx="104775" cy="88821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11572875" y="6290548"/>
            <a:ext cx="104775" cy="88821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11572875" y="6371749"/>
            <a:ext cx="104775" cy="88821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11572875" y="6452949"/>
            <a:ext cx="104775" cy="88821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11572875" y="3286125"/>
            <a:ext cx="104775" cy="3248025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TextBox 136"/>
          <p:cNvSpPr txBox="1"/>
          <p:nvPr/>
        </p:nvSpPr>
        <p:spPr>
          <a:xfrm>
            <a:off x="11687175" y="321945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7%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11687175" y="4843462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139" name="TextBox 138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140" name="TextBox 13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41" name="Picture 14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43811" y="1713738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2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7.8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Sales Channels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Sales Channels Segment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Structure &amp; Attractiveness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Volume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Value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2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By Sales Channels Segment Outlook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 analysis of market size, growth and share across 5 sub-segments of Sales Channels,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Sales Channels segment categorizes the market by sales channels. Each sub-category is evaluated on market size, growth outlook and adoption trends across the forecast period.</a:t>
            </a:r>
          </a:p>
        </p:txBody>
      </p:sp>
      <p:sp>
        <p:nvSpPr>
          <p:cNvPr id="12" name="Rectangle 11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Sub-Segment</a:t>
            </a:r>
          </a:p>
        </p:txBody>
      </p:sp>
      <p:sp>
        <p:nvSpPr>
          <p:cNvPr id="14" name="Rectangle 13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6" name="Rectangle 15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8" name="Rectangle 17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866900" y="1773916"/>
            <a:ext cx="1908810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Rectangle 20"/>
          <p:cNvSpPr/>
          <p:nvPr/>
        </p:nvSpPr>
        <p:spPr>
          <a:xfrm>
            <a:off x="1866900" y="1992961"/>
            <a:ext cx="1908810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905000" y="1773916"/>
            <a:ext cx="183261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Pet Specialty Retail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230259"/>
            <a:ext cx="190881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2723109"/>
            <a:ext cx="190881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5" name="Rectangle 24"/>
          <p:cNvSpPr/>
          <p:nvPr/>
        </p:nvSpPr>
        <p:spPr>
          <a:xfrm>
            <a:off x="1866900" y="3215959"/>
            <a:ext cx="190881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6" name="Oval 25"/>
          <p:cNvSpPr/>
          <p:nvPr/>
        </p:nvSpPr>
        <p:spPr>
          <a:xfrm>
            <a:off x="2659380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3890010" y="1773916"/>
            <a:ext cx="1908810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Rectangle 27"/>
          <p:cNvSpPr/>
          <p:nvPr/>
        </p:nvSpPr>
        <p:spPr>
          <a:xfrm>
            <a:off x="3890010" y="1992961"/>
            <a:ext cx="1908810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3928110" y="1773916"/>
            <a:ext cx="183261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E-commerce</a:t>
            </a:r>
          </a:p>
        </p:txBody>
      </p:sp>
      <p:sp>
        <p:nvSpPr>
          <p:cNvPr id="30" name="Rectangle 29"/>
          <p:cNvSpPr/>
          <p:nvPr/>
        </p:nvSpPr>
        <p:spPr>
          <a:xfrm>
            <a:off x="3890010" y="2230259"/>
            <a:ext cx="190881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3890010" y="2723109"/>
            <a:ext cx="190881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2" name="Rectangle 31"/>
          <p:cNvSpPr/>
          <p:nvPr/>
        </p:nvSpPr>
        <p:spPr>
          <a:xfrm>
            <a:off x="3890010" y="3215959"/>
            <a:ext cx="190881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4682490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5913120" y="1773916"/>
            <a:ext cx="1908810" cy="438089"/>
          </a:xfrm>
          <a:prstGeom prst="roundRect">
            <a:avLst>
              <a:gd name="adj" fmla="val 18000"/>
            </a:avLst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5913120" y="1992961"/>
            <a:ext cx="1908810" cy="21904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5951220" y="1773916"/>
            <a:ext cx="183261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General Retail</a:t>
            </a:r>
          </a:p>
        </p:txBody>
      </p:sp>
      <p:sp>
        <p:nvSpPr>
          <p:cNvPr id="37" name="Rectangle 36"/>
          <p:cNvSpPr/>
          <p:nvPr/>
        </p:nvSpPr>
        <p:spPr>
          <a:xfrm>
            <a:off x="5913120" y="2230259"/>
            <a:ext cx="190881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8" name="Rectangle 37"/>
          <p:cNvSpPr/>
          <p:nvPr/>
        </p:nvSpPr>
        <p:spPr>
          <a:xfrm>
            <a:off x="5913120" y="2723109"/>
            <a:ext cx="190881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9" name="Rectangle 38"/>
          <p:cNvSpPr/>
          <p:nvPr/>
        </p:nvSpPr>
        <p:spPr>
          <a:xfrm>
            <a:off x="5913120" y="3215959"/>
            <a:ext cx="190881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40" name="Oval 39"/>
          <p:cNvSpPr/>
          <p:nvPr/>
        </p:nvSpPr>
        <p:spPr>
          <a:xfrm>
            <a:off x="6705600" y="1445350"/>
            <a:ext cx="323850" cy="310313"/>
          </a:xfrm>
          <a:prstGeom prst="ellipse">
            <a:avLst/>
          </a:prstGeom>
          <a:solidFill>
            <a:srgbClr val="0081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41" name="Rounded Rectangle 40"/>
          <p:cNvSpPr/>
          <p:nvPr/>
        </p:nvSpPr>
        <p:spPr>
          <a:xfrm>
            <a:off x="7936230" y="1773916"/>
            <a:ext cx="1908810" cy="438089"/>
          </a:xfrm>
          <a:prstGeom prst="roundRect">
            <a:avLst>
              <a:gd name="adj" fmla="val 18000"/>
            </a:avLst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936230" y="1992961"/>
            <a:ext cx="1908810" cy="219044"/>
          </a:xfrm>
          <a:prstGeom prst="rect">
            <a:avLst/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7974330" y="1773916"/>
            <a:ext cx="183261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Veterinary &amp; Animal Health</a:t>
            </a:r>
          </a:p>
        </p:txBody>
      </p:sp>
      <p:sp>
        <p:nvSpPr>
          <p:cNvPr id="44" name="Rectangle 43"/>
          <p:cNvSpPr/>
          <p:nvPr/>
        </p:nvSpPr>
        <p:spPr>
          <a:xfrm>
            <a:off x="7936230" y="2230259"/>
            <a:ext cx="190881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5" name="Rectangle 44"/>
          <p:cNvSpPr/>
          <p:nvPr/>
        </p:nvSpPr>
        <p:spPr>
          <a:xfrm>
            <a:off x="7936230" y="2723109"/>
            <a:ext cx="190881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6" name="Rectangle 45"/>
          <p:cNvSpPr/>
          <p:nvPr/>
        </p:nvSpPr>
        <p:spPr>
          <a:xfrm>
            <a:off x="7936230" y="3215959"/>
            <a:ext cx="190881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7" name="Oval 46"/>
          <p:cNvSpPr/>
          <p:nvPr/>
        </p:nvSpPr>
        <p:spPr>
          <a:xfrm>
            <a:off x="8728710" y="1445350"/>
            <a:ext cx="323850" cy="310313"/>
          </a:xfrm>
          <a:prstGeom prst="ellipse">
            <a:avLst/>
          </a:prstGeom>
          <a:solidFill>
            <a:srgbClr val="6F3CC2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4</a:t>
            </a:r>
          </a:p>
        </p:txBody>
      </p:sp>
      <p:sp>
        <p:nvSpPr>
          <p:cNvPr id="48" name="Rounded Rectangle 47"/>
          <p:cNvSpPr/>
          <p:nvPr/>
        </p:nvSpPr>
        <p:spPr>
          <a:xfrm>
            <a:off x="9959340" y="1773916"/>
            <a:ext cx="1908810" cy="438089"/>
          </a:xfrm>
          <a:prstGeom prst="roundRect">
            <a:avLst>
              <a:gd name="adj" fmla="val 18000"/>
            </a:avLst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Rectangle 48"/>
          <p:cNvSpPr/>
          <p:nvPr/>
        </p:nvSpPr>
        <p:spPr>
          <a:xfrm>
            <a:off x="9959340" y="1992961"/>
            <a:ext cx="1908810" cy="219044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9997440" y="1773916"/>
            <a:ext cx="183261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Professional &amp; B2B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959340" y="2230259"/>
            <a:ext cx="190881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52" name="Rectangle 51"/>
          <p:cNvSpPr/>
          <p:nvPr/>
        </p:nvSpPr>
        <p:spPr>
          <a:xfrm>
            <a:off x="9959340" y="2723109"/>
            <a:ext cx="190881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53" name="Rectangle 52"/>
          <p:cNvSpPr/>
          <p:nvPr/>
        </p:nvSpPr>
        <p:spPr>
          <a:xfrm>
            <a:off x="9959340" y="3215959"/>
            <a:ext cx="190881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54" name="Oval 53"/>
          <p:cNvSpPr/>
          <p:nvPr/>
        </p:nvSpPr>
        <p:spPr>
          <a:xfrm>
            <a:off x="10751820" y="1445350"/>
            <a:ext cx="323850" cy="310313"/>
          </a:xfrm>
          <a:prstGeom prst="ellipse">
            <a:avLst/>
          </a:prstGeom>
          <a:solidFill>
            <a:srgbClr val="A86F00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5</a:t>
            </a:r>
          </a:p>
        </p:txBody>
      </p:sp>
      <p:sp>
        <p:nvSpPr>
          <p:cNvPr id="55" name="Rounded Rectangle 54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57" name="Rectangle 56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9" name="Rounded Rectangle 58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61" name="Rectangle 60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1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08189"/>
                </a:solidFill>
                <a:latin typeface="Calibri"/>
              </a:rPr>
              <a:t/>
            </a:r>
            <a:r>
              <a:rPr sz="1100" b="1">
                <a:solidFill>
                  <a:srgbClr val="0081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6F3CC2"/>
                </a:solidFill>
                <a:latin typeface="Calibri"/>
              </a:rPr>
              <a:t/>
            </a:r>
            <a:r>
              <a:rPr sz="1100" b="1">
                <a:solidFill>
                  <a:srgbClr val="6F3CC2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A86F00"/>
                </a:solidFill>
                <a:latin typeface="Calibri"/>
              </a:rPr>
              <a:t/>
            </a:r>
            <a:r>
              <a:rPr sz="1100" b="1">
                <a:solidFill>
                  <a:srgbClr val="A86F00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63" name="Rounded Rectangle 62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Segment Overview</a:t>
            </a:r>
          </a:p>
        </p:txBody>
      </p:sp>
      <p:sp>
        <p:nvSpPr>
          <p:cNvPr id="65" name="Rectangle 64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Sales Channels split shows how demand is distributed across sales channels types and where growth concentrates.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preferences and product innovation are reshaping the mix through 2036.</a:t>
            </a:r>
          </a:p>
        </p:txBody>
      </p:sp>
      <p:sp>
        <p:nvSpPr>
          <p:cNvPr id="67" name="Rectangle 66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71" name="Picture 70" descr="965_3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223441" y="2286582"/>
            <a:ext cx="1195728" cy="361950"/>
          </a:xfrm>
          <a:prstGeom prst="rect">
            <a:avLst/>
          </a:prstGeom>
        </p:spPr>
      </p:pic>
      <p:pic>
        <p:nvPicPr>
          <p:cNvPr id="72" name="Picture 71" descr="1_738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223441" y="2779432"/>
            <a:ext cx="1195728" cy="361950"/>
          </a:xfrm>
          <a:prstGeom prst="rect">
            <a:avLst/>
          </a:prstGeom>
        </p:spPr>
      </p:pic>
      <p:pic>
        <p:nvPicPr>
          <p:cNvPr id="73" name="Picture 72" descr="6_1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330087" y="3272281"/>
            <a:ext cx="982436" cy="361950"/>
          </a:xfrm>
          <a:prstGeom prst="rect">
            <a:avLst/>
          </a:prstGeom>
        </p:spPr>
      </p:pic>
      <p:pic>
        <p:nvPicPr>
          <p:cNvPr id="74" name="Picture 73" descr="957_6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246551" y="2286582"/>
            <a:ext cx="1195728" cy="361950"/>
          </a:xfrm>
          <a:prstGeom prst="rect">
            <a:avLst/>
          </a:prstGeom>
        </p:spPr>
      </p:pic>
      <p:pic>
        <p:nvPicPr>
          <p:cNvPr id="75" name="Picture 74" descr="1_784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4246551" y="2779432"/>
            <a:ext cx="1195728" cy="361950"/>
          </a:xfrm>
          <a:prstGeom prst="rect">
            <a:avLst/>
          </a:prstGeom>
        </p:spPr>
      </p:pic>
      <p:pic>
        <p:nvPicPr>
          <p:cNvPr id="76" name="Picture 75" descr="6_4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4353197" y="3272281"/>
            <a:ext cx="982436" cy="361950"/>
          </a:xfrm>
          <a:prstGeom prst="rect">
            <a:avLst/>
          </a:prstGeom>
        </p:spPr>
      </p:pic>
      <p:pic>
        <p:nvPicPr>
          <p:cNvPr id="77" name="Picture 76" descr="535_6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6269661" y="2286582"/>
            <a:ext cx="1195728" cy="361950"/>
          </a:xfrm>
          <a:prstGeom prst="rect">
            <a:avLst/>
          </a:prstGeom>
        </p:spPr>
      </p:pic>
      <p:pic>
        <p:nvPicPr>
          <p:cNvPr id="78" name="Picture 77" descr="935_0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6269661" y="2779432"/>
            <a:ext cx="1195728" cy="361950"/>
          </a:xfrm>
          <a:prstGeom prst="rect">
            <a:avLst/>
          </a:prstGeom>
        </p:spPr>
      </p:pic>
      <p:pic>
        <p:nvPicPr>
          <p:cNvPr id="79" name="Picture 78" descr="5_7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6376307" y="3272281"/>
            <a:ext cx="982436" cy="361950"/>
          </a:xfrm>
          <a:prstGeom prst="rect">
            <a:avLst/>
          </a:prstGeom>
        </p:spPr>
      </p:pic>
      <p:pic>
        <p:nvPicPr>
          <p:cNvPr id="80" name="Picture 79" descr="394_5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8292771" y="2286582"/>
            <a:ext cx="1195728" cy="361950"/>
          </a:xfrm>
          <a:prstGeom prst="rect">
            <a:avLst/>
          </a:prstGeom>
        </p:spPr>
      </p:pic>
      <p:pic>
        <p:nvPicPr>
          <p:cNvPr id="81" name="Picture 80" descr="695_2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8292771" y="2779432"/>
            <a:ext cx="1195728" cy="361950"/>
          </a:xfrm>
          <a:prstGeom prst="rect">
            <a:avLst/>
          </a:prstGeom>
        </p:spPr>
      </p:pic>
      <p:pic>
        <p:nvPicPr>
          <p:cNvPr id="82" name="Picture 81" descr="5_8_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8399417" y="3272281"/>
            <a:ext cx="982436" cy="361950"/>
          </a:xfrm>
          <a:prstGeom prst="rect">
            <a:avLst/>
          </a:prstGeom>
        </p:spPr>
      </p:pic>
      <p:pic>
        <p:nvPicPr>
          <p:cNvPr id="83" name="Picture 82" descr="299_2_605E5C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10315881" y="2286582"/>
            <a:ext cx="1195728" cy="361950"/>
          </a:xfrm>
          <a:prstGeom prst="rect">
            <a:avLst/>
          </a:prstGeom>
        </p:spPr>
      </p:pic>
      <p:pic>
        <p:nvPicPr>
          <p:cNvPr id="84" name="Picture 83" descr="542_8_605E5C.png"/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10315881" y="2779432"/>
            <a:ext cx="1195728" cy="361950"/>
          </a:xfrm>
          <a:prstGeom prst="rect">
            <a:avLst/>
          </a:prstGeom>
        </p:spPr>
      </p:pic>
      <p:pic>
        <p:nvPicPr>
          <p:cNvPr id="85" name="Picture 84" descr="6_1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422527" y="3272281"/>
            <a:ext cx="982436" cy="361950"/>
          </a:xfrm>
          <a:prstGeom prst="rect">
            <a:avLst/>
          </a:prstGeom>
        </p:spPr>
      </p:pic>
      <p:pic>
        <p:nvPicPr>
          <p:cNvPr id="86" name="Picture 85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2727960" y="2827057"/>
            <a:ext cx="183356" cy="266700"/>
          </a:xfrm>
          <a:prstGeom prst="rect">
            <a:avLst/>
          </a:prstGeom>
        </p:spPr>
      </p:pic>
      <p:pic>
        <p:nvPicPr>
          <p:cNvPr id="87" name="Picture 86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4751070" y="2827057"/>
            <a:ext cx="183356" cy="266700"/>
          </a:xfrm>
          <a:prstGeom prst="rect">
            <a:avLst/>
          </a:prstGeom>
        </p:spPr>
      </p:pic>
      <p:pic>
        <p:nvPicPr>
          <p:cNvPr id="88" name="Picture 87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6774180" y="2827057"/>
            <a:ext cx="183356" cy="266700"/>
          </a:xfrm>
          <a:prstGeom prst="rect">
            <a:avLst/>
          </a:prstGeom>
        </p:spPr>
      </p:pic>
      <p:pic>
        <p:nvPicPr>
          <p:cNvPr id="89" name="Picture 88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8797290" y="2827057"/>
            <a:ext cx="183356" cy="266700"/>
          </a:xfrm>
          <a:prstGeom prst="rect">
            <a:avLst/>
          </a:prstGeom>
        </p:spPr>
      </p:pic>
      <p:pic>
        <p:nvPicPr>
          <p:cNvPr id="90" name="Picture 89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10820400" y="2827057"/>
            <a:ext cx="183356" cy="266700"/>
          </a:xfrm>
          <a:prstGeom prst="rect">
            <a:avLst/>
          </a:prstGeom>
        </p:spPr>
      </p:pic>
      <p:sp>
        <p:nvSpPr>
          <p:cNvPr id="91" name="TextBox 90"/>
          <p:cNvSpPr txBox="1"/>
          <p:nvPr/>
        </p:nvSpPr>
        <p:spPr>
          <a:xfrm>
            <a:off x="485775" y="4229437"/>
            <a:ext cx="276133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'Pet Specialty Retail' holds the largest share in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485775" y="4397077"/>
            <a:ext cx="3599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2026</a:t>
            </a:r>
          </a:p>
        </p:txBody>
      </p:sp>
      <p:pic>
        <p:nvPicPr>
          <p:cNvPr id="93" name="Picture 92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793792" y="4387298"/>
            <a:ext cx="128699" cy="187198"/>
          </a:xfrm>
          <a:prstGeom prst="rect">
            <a:avLst/>
          </a:prstGeom>
        </p:spPr>
      </p:pic>
      <p:sp>
        <p:nvSpPr>
          <p:cNvPr id="94" name="TextBox 93"/>
          <p:cNvSpPr txBox="1"/>
          <p:nvPr/>
        </p:nvSpPr>
        <p:spPr>
          <a:xfrm>
            <a:off x="961288" y="4397077"/>
            <a:ext cx="108738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segment value.</a:t>
            </a:r>
          </a:p>
        </p:txBody>
      </p:sp>
      <p:sp>
        <p:nvSpPr>
          <p:cNvPr id="95" name="TextBox 94"/>
          <p:cNvSpPr txBox="1"/>
          <p:nvPr/>
        </p:nvSpPr>
        <p:spPr>
          <a:xfrm>
            <a:off x="485775" y="4615009"/>
            <a:ext cx="29146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'E-commerce' is the fastest-growing sub-segment</a:t>
            </a:r>
          </a:p>
        </p:txBody>
      </p:sp>
      <p:sp>
        <p:nvSpPr>
          <p:cNvPr id="96" name="TextBox 95"/>
          <p:cNvSpPr txBox="1"/>
          <p:nvPr/>
        </p:nvSpPr>
        <p:spPr>
          <a:xfrm>
            <a:off x="485775" y="4782649"/>
            <a:ext cx="18997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at</a:t>
            </a:r>
          </a:p>
        </p:txBody>
      </p:sp>
      <p:pic>
        <p:nvPicPr>
          <p:cNvPr id="97" name="Picture 96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623805" y="4772870"/>
            <a:ext cx="128699" cy="187198"/>
          </a:xfrm>
          <a:prstGeom prst="rect">
            <a:avLst/>
          </a:prstGeom>
        </p:spPr>
      </p:pic>
      <p:sp>
        <p:nvSpPr>
          <p:cNvPr id="98" name="TextBox 97"/>
          <p:cNvSpPr txBox="1"/>
          <p:nvPr/>
        </p:nvSpPr>
        <p:spPr>
          <a:xfrm>
            <a:off x="791301" y="4782649"/>
            <a:ext cx="123307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through 2036.</a:t>
            </a:r>
          </a:p>
        </p:txBody>
      </p:sp>
      <p:sp>
        <p:nvSpPr>
          <p:cNvPr id="99" name="TextBox 98"/>
          <p:cNvSpPr txBox="1"/>
          <p:nvPr/>
        </p:nvSpPr>
        <p:spPr>
          <a:xfrm>
            <a:off x="485775" y="5000581"/>
            <a:ext cx="18066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Segment value expands from</a:t>
            </a:r>
          </a:p>
        </p:txBody>
      </p:sp>
      <p:pic>
        <p:nvPicPr>
          <p:cNvPr id="100" name="Picture 99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2240451" y="4990801"/>
            <a:ext cx="128699" cy="187198"/>
          </a:xfrm>
          <a:prstGeom prst="rect">
            <a:avLst/>
          </a:prstGeom>
        </p:spPr>
      </p:pic>
      <p:sp>
        <p:nvSpPr>
          <p:cNvPr id="101" name="TextBox 100"/>
          <p:cNvSpPr txBox="1"/>
          <p:nvPr/>
        </p:nvSpPr>
        <p:spPr>
          <a:xfrm>
            <a:off x="2407947" y="5000581"/>
            <a:ext cx="1968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102" name="Picture 101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2552799" y="4990801"/>
            <a:ext cx="128699" cy="187198"/>
          </a:xfrm>
          <a:prstGeom prst="rect">
            <a:avLst/>
          </a:prstGeom>
        </p:spPr>
      </p:pic>
      <p:sp>
        <p:nvSpPr>
          <p:cNvPr id="103" name="TextBox 102"/>
          <p:cNvSpPr txBox="1"/>
          <p:nvPr/>
        </p:nvSpPr>
        <p:spPr>
          <a:xfrm>
            <a:off x="2720294" y="5000581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104" name="TextBox 103"/>
          <p:cNvSpPr txBox="1"/>
          <p:nvPr/>
        </p:nvSpPr>
        <p:spPr>
          <a:xfrm>
            <a:off x="485775" y="5168221"/>
            <a:ext cx="11378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2026–2036.</a:t>
            </a:r>
          </a:p>
        </p:txBody>
      </p:sp>
      <p:sp>
        <p:nvSpPr>
          <p:cNvPr id="105" name="TextBox 104"/>
          <p:cNvSpPr txBox="1"/>
          <p:nvPr/>
        </p:nvSpPr>
        <p:spPr>
          <a:xfrm>
            <a:off x="485775" y="5386153"/>
            <a:ext cx="26369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5 sub-segments make up the sales channels</a:t>
            </a:r>
          </a:p>
        </p:txBody>
      </p:sp>
      <p:sp>
        <p:nvSpPr>
          <p:cNvPr id="106" name="TextBox 105"/>
          <p:cNvSpPr txBox="1"/>
          <p:nvPr/>
        </p:nvSpPr>
        <p:spPr>
          <a:xfrm>
            <a:off x="485775" y="5553793"/>
            <a:ext cx="68083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landscape.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3838575" y="4229437"/>
            <a:ext cx="131303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Pet Specialty Retail:</a:t>
            </a:r>
          </a:p>
        </p:txBody>
      </p:sp>
      <p:pic>
        <p:nvPicPr>
          <p:cNvPr id="108" name="Picture 107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5099662" y="4219658"/>
            <a:ext cx="128699" cy="187198"/>
          </a:xfrm>
          <a:prstGeom prst="rect">
            <a:avLst/>
          </a:prstGeom>
        </p:spPr>
      </p:pic>
      <p:sp>
        <p:nvSpPr>
          <p:cNvPr id="109" name="TextBox 108"/>
          <p:cNvSpPr txBox="1"/>
          <p:nvPr/>
        </p:nvSpPr>
        <p:spPr>
          <a:xfrm>
            <a:off x="5267158" y="422943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10" name="Picture 109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6126608" y="4219658"/>
            <a:ext cx="128699" cy="187198"/>
          </a:xfrm>
          <a:prstGeom prst="rect">
            <a:avLst/>
          </a:prstGeom>
        </p:spPr>
      </p:pic>
      <p:sp>
        <p:nvSpPr>
          <p:cNvPr id="111" name="TextBox 110"/>
          <p:cNvSpPr txBox="1"/>
          <p:nvPr/>
        </p:nvSpPr>
        <p:spPr>
          <a:xfrm>
            <a:off x="6294104" y="4229437"/>
            <a:ext cx="15034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leads the segment.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3838575" y="4447369"/>
            <a:ext cx="94383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E-commerce:</a:t>
            </a:r>
          </a:p>
        </p:txBody>
      </p:sp>
      <p:pic>
        <p:nvPicPr>
          <p:cNvPr id="113" name="Picture 112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4730464" y="4437590"/>
            <a:ext cx="128699" cy="187198"/>
          </a:xfrm>
          <a:prstGeom prst="rect">
            <a:avLst/>
          </a:prstGeom>
        </p:spPr>
      </p:pic>
      <p:sp>
        <p:nvSpPr>
          <p:cNvPr id="114" name="TextBox 113"/>
          <p:cNvSpPr txBox="1"/>
          <p:nvPr/>
        </p:nvSpPr>
        <p:spPr>
          <a:xfrm>
            <a:off x="4897960" y="444736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15" name="Picture 114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5757410" y="4437590"/>
            <a:ext cx="128699" cy="187198"/>
          </a:xfrm>
          <a:prstGeom prst="rect">
            <a:avLst/>
          </a:prstGeom>
        </p:spPr>
      </p:pic>
      <p:sp>
        <p:nvSpPr>
          <p:cNvPr id="116" name="TextBox 115"/>
          <p:cNvSpPr txBox="1"/>
          <p:nvPr/>
        </p:nvSpPr>
        <p:spPr>
          <a:xfrm>
            <a:off x="5924906" y="4447369"/>
            <a:ext cx="121861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grows fastest.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3838575" y="4665301"/>
            <a:ext cx="103336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General Retail:</a:t>
            </a:r>
          </a:p>
        </p:txBody>
      </p:sp>
      <p:pic>
        <p:nvPicPr>
          <p:cNvPr id="118" name="Picture 117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4819989" y="4655522"/>
            <a:ext cx="128699" cy="187198"/>
          </a:xfrm>
          <a:prstGeom prst="rect">
            <a:avLst/>
          </a:prstGeom>
        </p:spPr>
      </p:pic>
      <p:sp>
        <p:nvSpPr>
          <p:cNvPr id="119" name="TextBox 118"/>
          <p:cNvSpPr txBox="1"/>
          <p:nvPr/>
        </p:nvSpPr>
        <p:spPr>
          <a:xfrm>
            <a:off x="4987485" y="4665301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20" name="Picture 119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5846935" y="4655522"/>
            <a:ext cx="128699" cy="187198"/>
          </a:xfrm>
          <a:prstGeom prst="rect">
            <a:avLst/>
          </a:prstGeom>
        </p:spPr>
      </p:pic>
      <p:sp>
        <p:nvSpPr>
          <p:cNvPr id="121" name="TextBox 120"/>
          <p:cNvSpPr txBox="1"/>
          <p:nvPr/>
        </p:nvSpPr>
        <p:spPr>
          <a:xfrm>
            <a:off x="6014431" y="4665301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3838575" y="4883233"/>
            <a:ext cx="179161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Veterinary &amp; Animal Health:</a:t>
            </a:r>
          </a:p>
        </p:txBody>
      </p:sp>
      <p:pic>
        <p:nvPicPr>
          <p:cNvPr id="123" name="Picture 122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5578244" y="4873454"/>
            <a:ext cx="128699" cy="187198"/>
          </a:xfrm>
          <a:prstGeom prst="rect">
            <a:avLst/>
          </a:prstGeom>
        </p:spPr>
      </p:pic>
      <p:sp>
        <p:nvSpPr>
          <p:cNvPr id="124" name="TextBox 123"/>
          <p:cNvSpPr txBox="1"/>
          <p:nvPr/>
        </p:nvSpPr>
        <p:spPr>
          <a:xfrm>
            <a:off x="5745740" y="4883233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25" name="Picture 124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6605190" y="4873454"/>
            <a:ext cx="128699" cy="187198"/>
          </a:xfrm>
          <a:prstGeom prst="rect">
            <a:avLst/>
          </a:prstGeom>
        </p:spPr>
      </p:pic>
      <p:sp>
        <p:nvSpPr>
          <p:cNvPr id="126" name="TextBox 125"/>
          <p:cNvSpPr txBox="1"/>
          <p:nvPr/>
        </p:nvSpPr>
        <p:spPr>
          <a:xfrm>
            <a:off x="6772686" y="4883233"/>
            <a:ext cx="88573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</a:t>
            </a:r>
          </a:p>
        </p:txBody>
      </p:sp>
      <p:sp>
        <p:nvSpPr>
          <p:cNvPr id="127" name="TextBox 126"/>
          <p:cNvSpPr txBox="1"/>
          <p:nvPr/>
        </p:nvSpPr>
        <p:spPr>
          <a:xfrm>
            <a:off x="3838575" y="5050873"/>
            <a:ext cx="41917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niche.</a:t>
            </a:r>
          </a:p>
        </p:txBody>
      </p:sp>
      <p:sp>
        <p:nvSpPr>
          <p:cNvPr id="128" name="TextBox 127"/>
          <p:cNvSpPr txBox="1"/>
          <p:nvPr/>
        </p:nvSpPr>
        <p:spPr>
          <a:xfrm>
            <a:off x="3838575" y="5268805"/>
            <a:ext cx="13056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Professional &amp; B2B:</a:t>
            </a:r>
          </a:p>
        </p:txBody>
      </p:sp>
      <p:pic>
        <p:nvPicPr>
          <p:cNvPr id="129" name="Picture 128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5092295" y="5259026"/>
            <a:ext cx="128699" cy="187198"/>
          </a:xfrm>
          <a:prstGeom prst="rect">
            <a:avLst/>
          </a:prstGeom>
        </p:spPr>
      </p:pic>
      <p:sp>
        <p:nvSpPr>
          <p:cNvPr id="130" name="TextBox 129"/>
          <p:cNvSpPr txBox="1"/>
          <p:nvPr/>
        </p:nvSpPr>
        <p:spPr>
          <a:xfrm>
            <a:off x="5259791" y="5268805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31" name="Picture 130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6119241" y="5259026"/>
            <a:ext cx="128699" cy="187198"/>
          </a:xfrm>
          <a:prstGeom prst="rect">
            <a:avLst/>
          </a:prstGeom>
        </p:spPr>
      </p:pic>
      <p:sp>
        <p:nvSpPr>
          <p:cNvPr id="132" name="TextBox 131"/>
          <p:cNvSpPr txBox="1"/>
          <p:nvPr/>
        </p:nvSpPr>
        <p:spPr>
          <a:xfrm>
            <a:off x="6286737" y="5268805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33" name="TextBox 132"/>
          <p:cNvSpPr txBox="1"/>
          <p:nvPr/>
        </p:nvSpPr>
        <p:spPr>
          <a:xfrm>
            <a:off x="8524875" y="5842641"/>
            <a:ext cx="31623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The Sales Channels segment is projected to grow at</a:t>
            </a:r>
          </a:p>
        </p:txBody>
      </p:sp>
      <p:sp>
        <p:nvSpPr>
          <p:cNvPr id="134" name="TextBox 133"/>
          <p:cNvSpPr txBox="1"/>
          <p:nvPr/>
        </p:nvSpPr>
        <p:spPr>
          <a:xfrm>
            <a:off x="8524875" y="6017901"/>
            <a:ext cx="68005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a CAGR of</a:t>
            </a:r>
          </a:p>
        </p:txBody>
      </p:sp>
      <p:pic>
        <p:nvPicPr>
          <p:cNvPr id="135" name="Picture 134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9154084" y="6007677"/>
            <a:ext cx="134549" cy="195707"/>
          </a:xfrm>
          <a:prstGeom prst="rect">
            <a:avLst/>
          </a:prstGeom>
        </p:spPr>
      </p:pic>
      <p:sp>
        <p:nvSpPr>
          <p:cNvPr id="136" name="TextBox 135"/>
          <p:cNvSpPr txBox="1"/>
          <p:nvPr/>
        </p:nvSpPr>
        <p:spPr>
          <a:xfrm>
            <a:off x="9329193" y="6017901"/>
            <a:ext cx="12326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12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Structure &amp; Attractiveness, By Sales Channels (Value)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Sales Channels mix within each country and the attractiveness of each sub-segment on growth and size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052895"/>
            <a:ext cx="6667500" cy="5503490"/>
          </a:xfrm>
          <a:prstGeom prst="roundRect">
            <a:avLst>
              <a:gd name="adj" fmla="val 138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110045"/>
            <a:ext cx="647700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Sales Channels mix within each country (share of 2036 value) · row label = country size (US$ Mn), largest first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10095"/>
          <a:ext cx="6477000" cy="498914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886575" y="1052895"/>
            <a:ext cx="5162550" cy="3650740"/>
          </a:xfrm>
          <a:prstGeom prst="roundRect">
            <a:avLst>
              <a:gd name="adj" fmla="val 208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981825" y="1110045"/>
            <a:ext cx="49720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Attractiveness, By Sales Channels (bubble = 2036 size)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981825" y="1338645"/>
          <a:ext cx="4972050" cy="330784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6886575" y="4776650"/>
            <a:ext cx="5162550" cy="1779736"/>
          </a:xfrm>
          <a:prstGeom prst="roundRect">
            <a:avLst>
              <a:gd name="adj" fmla="val 428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613425" y="3638119"/>
            <a:ext cx="386128" cy="56164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7000875" y="5415058"/>
            <a:ext cx="474575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Between 2026 and 2036, 'E-commerce' gains the most share in the Europe market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7000875" y="5582698"/>
            <a:ext cx="1880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(+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136995" y="5572919"/>
            <a:ext cx="128699" cy="187198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7304491" y="5582698"/>
            <a:ext cx="192504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BPS) while 'General Retail' cedes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177585" y="5572919"/>
            <a:ext cx="128699" cy="187198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9345081" y="5582698"/>
            <a:ext cx="242134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 Bubbles right of the CAGR-Index line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000875" y="5750338"/>
            <a:ext cx="227947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grow faster than the segment average.</a:t>
            </a:r>
          </a:p>
        </p:txBody>
      </p:sp>
      <p:sp>
        <p:nvSpPr>
          <p:cNvPr id="27" name="lockshield_13"/>
          <p:cNvSpPr/>
          <p:nvPr/>
        </p:nvSpPr>
        <p:spPr>
          <a:xfrm>
            <a:off x="238125" y="1510095"/>
            <a:ext cx="6477000" cy="498914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lockshield_16"/>
          <p:cNvSpPr/>
          <p:nvPr/>
        </p:nvSpPr>
        <p:spPr>
          <a:xfrm>
            <a:off x="6981825" y="1338645"/>
            <a:ext cx="4972050" cy="330784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2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Absolute $ Opportunity Analysis, By Sales Channels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Sales Channels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E-commerce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Pet Specialty Retail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267450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38125" y="39243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Veterinary &amp; Animal Health</a:t>
            </a:r>
          </a:p>
        </p:txBody>
      </p:sp>
      <p:graphicFrame>
        <p:nvGraphicFramePr>
          <p:cNvPr id="19" name="Chart 18"/>
          <p:cNvGraphicFramePr>
            <a:graphicFrameLocks noGrp="1"/>
          </p:cNvGraphicFramePr>
          <p:nvPr/>
        </p:nvGraphicFramePr>
        <p:xfrm>
          <a:off x="238125" y="4324350"/>
          <a:ext cx="5686425" cy="2238375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0" name="Rounded Rectangle 19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6267450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General Retail</a:t>
            </a:r>
          </a:p>
        </p:txBody>
      </p:sp>
      <p:graphicFrame>
        <p:nvGraphicFramePr>
          <p:cNvPr id="22" name="Chart 21"/>
          <p:cNvGraphicFramePr>
            <a:graphicFrameLocks noGrp="1"/>
          </p:cNvGraphicFramePr>
          <p:nvPr/>
        </p:nvGraphicFramePr>
        <p:xfrm>
          <a:off x="6267450" y="4152900"/>
          <a:ext cx="5686425" cy="2409825"/>
        </p:xfrm>
        <a:graphic>
          <a:graphicData uri="http://schemas.openxmlformats.org/drawingml/2006/chart">
            <c:chart xmlns:c="http://schemas.openxmlformats.org/drawingml/2006/chart" r:id="rId6"/>
          </a:graphicData>
        </a:graphic>
      </p:graphicFrame>
      <p:sp>
        <p:nvSpPr>
          <p:cNvPr id="23" name="TextBox 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4151" y="2237234"/>
            <a:ext cx="263506" cy="383281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100230" y="5216754"/>
            <a:ext cx="252890" cy="367840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4151" y="5123309"/>
            <a:ext cx="263506" cy="383281"/>
          </a:xfrm>
          <a:prstGeom prst="rect">
            <a:avLst/>
          </a:prstGeom>
        </p:spPr>
      </p:pic>
      <p:sp>
        <p:nvSpPr>
          <p:cNvPr id="28" name="lockshield_13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lockshield_16"/>
          <p:cNvSpPr/>
          <p:nvPr/>
        </p:nvSpPr>
        <p:spPr>
          <a:xfrm>
            <a:off x="6267450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lockshield_19"/>
          <p:cNvSpPr/>
          <p:nvPr/>
        </p:nvSpPr>
        <p:spPr>
          <a:xfrm>
            <a:off x="238125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lockshield_22"/>
          <p:cNvSpPr/>
          <p:nvPr/>
        </p:nvSpPr>
        <p:spPr>
          <a:xfrm>
            <a:off x="6267450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2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Absolute $ Opportunity Analysis, By Sales Channels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Sales Channels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5876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Professional &amp; B2B</a:t>
            </a:r>
          </a:p>
        </p:txBody>
      </p:sp>
      <p:graphicFrame>
        <p:nvGraphicFramePr>
          <p:cNvPr id="12" name="Chart 11"/>
          <p:cNvGraphicFramePr>
            <a:graphicFrameLocks noGrp="1"/>
          </p:cNvGraphicFramePr>
          <p:nvPr/>
        </p:nvGraphicFramePr>
        <p:xfrm>
          <a:off x="238125" y="1266825"/>
          <a:ext cx="5686425" cy="53054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3" name="Rounded Rectangle 12"/>
          <p:cNvSpPr/>
          <p:nvPr/>
        </p:nvSpPr>
        <p:spPr>
          <a:xfrm>
            <a:off x="6172200" y="981075"/>
            <a:ext cx="5876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6305550" y="1066800"/>
            <a:ext cx="56102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Summary of Europe Absolute $ Opportunity Analysis, By Sales Channels</a:t>
            </a:r>
          </a:p>
        </p:txBody>
      </p:sp>
      <p:sp>
        <p:nvSpPr>
          <p:cNvPr id="15" name="Rectangle 14"/>
          <p:cNvSpPr/>
          <p:nvPr/>
        </p:nvSpPr>
        <p:spPr>
          <a:xfrm>
            <a:off x="6305550" y="1304925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6305550" y="1390650"/>
            <a:ext cx="5610225" cy="5162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8" name="Picture 17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024059" y="3583939"/>
            <a:ext cx="402511" cy="585471"/>
          </a:xfrm>
          <a:prstGeom prst="rect">
            <a:avLst/>
          </a:prstGeom>
        </p:spPr>
      </p:pic>
      <p:sp>
        <p:nvSpPr>
          <p:cNvPr id="19" name="TextBox 18"/>
          <p:cNvSpPr txBox="1"/>
          <p:nvPr/>
        </p:nvSpPr>
        <p:spPr>
          <a:xfrm>
            <a:off x="6305550" y="1400175"/>
            <a:ext cx="309675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Across its 5 sub-segments, by sales channels adds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51457" y="1389951"/>
            <a:ext cx="134549" cy="195707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9526566" y="1400175"/>
            <a:ext cx="185447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to the Europe market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6305550" y="1575435"/>
            <a:ext cx="15541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between 2026 and 2036.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6305550" y="1803273"/>
            <a:ext cx="12856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'E-commerce' adds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540349" y="1793049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7715458" y="1803273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287929" y="1793049"/>
            <a:ext cx="134549" cy="195707"/>
          </a:xfrm>
          <a:prstGeom prst="rect">
            <a:avLst/>
          </a:prstGeom>
        </p:spPr>
      </p:pic>
      <p:sp>
        <p:nvSpPr>
          <p:cNvPr id="27" name="TextBox 26"/>
          <p:cNvSpPr txBox="1"/>
          <p:nvPr/>
        </p:nvSpPr>
        <p:spPr>
          <a:xfrm>
            <a:off x="8463038" y="1803273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6305550" y="2031111"/>
            <a:ext cx="16716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'Pet Specialty Retail' adds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926329" y="2020887"/>
            <a:ext cx="134549" cy="195707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8101438" y="2031111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673909" y="2020887"/>
            <a:ext cx="134549" cy="195707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8849018" y="2031111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6305550" y="2258949"/>
            <a:ext cx="137923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'General Retail' adds</a:t>
            </a:r>
          </a:p>
        </p:txBody>
      </p:sp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633943" y="2248725"/>
            <a:ext cx="134549" cy="195707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7809053" y="2258949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381523" y="2248725"/>
            <a:ext cx="134549" cy="195707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8556633" y="2258949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6305550" y="2486787"/>
            <a:ext cx="225012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'Professional &amp; B2B' adds the least: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504823" y="2476563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8679933" y="2486787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252404" y="2476563"/>
            <a:ext cx="134549" cy="195707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9427513" y="2486787"/>
            <a:ext cx="1572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43" name="lockshield_12"/>
          <p:cNvSpPr/>
          <p:nvPr/>
        </p:nvSpPr>
        <p:spPr>
          <a:xfrm>
            <a:off x="238125" y="1266825"/>
            <a:ext cx="5686425" cy="53054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2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Volume Analysis, By Sales Channels (MT)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by Sales Channels,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190750"/>
          </a:xfrm>
          <a:prstGeom prst="roundRect">
            <a:avLst>
              <a:gd name="adj" fmla="val 34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Volume, By Sales Channels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4" cy="172402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794889"/>
                <a:gridCol w="593665"/>
                <a:gridCol w="593665"/>
                <a:gridCol w="593665"/>
                <a:gridCol w="593665"/>
                <a:gridCol w="593665"/>
                <a:gridCol w="593665"/>
                <a:gridCol w="593665"/>
                <a:gridCol w="593665"/>
                <a:gridCol w="593665"/>
                <a:gridCol w="593665"/>
                <a:gridCol w="593665"/>
                <a:gridCol w="593665"/>
                <a:gridCol w="593665"/>
                <a:gridCol w="593665"/>
                <a:gridCol w="593665"/>
                <a:gridCol w="593665"/>
                <a:gridCol w="593665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Sales Channels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E-commerce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Pet Specialty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Veterinary &amp; Animal Health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General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Professional &amp; B2B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9718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305175"/>
            <a:ext cx="11906250" cy="3324225"/>
          </a:xfrm>
          <a:prstGeom prst="roundRect">
            <a:avLst>
              <a:gd name="adj" fmla="val 229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339090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Volume Analysis, By Sales Channels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36290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3714750"/>
            <a:ext cx="11639550" cy="28384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06751" y="1956627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3724275"/>
            <a:ext cx="279692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'E-commerce' is the largest sales channels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022299" y="3714051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3197408" y="3724275"/>
            <a:ext cx="10805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volume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27141" y="371405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4402250" y="3724275"/>
            <a:ext cx="3534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3952112"/>
            <a:ext cx="179596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'E-commerce'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021343" y="3941889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196452" y="3952112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4179950"/>
            <a:ext cx="230514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'E-commerce'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530521" y="4169727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2705631" y="4179950"/>
            <a:ext cx="232485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'General Retail'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979641" y="4169727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5154750" y="4179950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4407788"/>
            <a:ext cx="15646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volume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90033" y="4397565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965143" y="4407788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16579" y="4397565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291688" y="4407788"/>
            <a:ext cx="14705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across 5 categories.</a:t>
            </a:r>
          </a:p>
        </p:txBody>
      </p:sp>
    </p:spTree>
  </p:cSld>
  <p:clrMapOvr>
    <a:masterClrMapping/>
  </p:clrMapOvr>
</p:sld>
</file>

<file path=ppt/slides/slide12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Value Analysis, By Sales Channels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by Sales Channels,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190750"/>
          </a:xfrm>
          <a:prstGeom prst="roundRect">
            <a:avLst>
              <a:gd name="adj" fmla="val 34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Value, By Sales Channels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5" cy="172402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75368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Sales Channels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E-commerce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Pet Specialty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Veterinary &amp; Animal Health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General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Professional &amp; B2B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9718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305175"/>
            <a:ext cx="11906250" cy="3324225"/>
          </a:xfrm>
          <a:prstGeom prst="roundRect">
            <a:avLst>
              <a:gd name="adj" fmla="val 229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339090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Value Analysis, By Sales Channels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36290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3714750"/>
            <a:ext cx="11639550" cy="28384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46991" y="1956627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3724275"/>
            <a:ext cx="279692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'E-commerce' is the largest sales channels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022299" y="3714051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3197408" y="3724275"/>
            <a:ext cx="9567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03341" y="371405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4278450" y="3724275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3952112"/>
            <a:ext cx="179596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'E-commerce'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021343" y="3941889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196452" y="3952112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4179950"/>
            <a:ext cx="230514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'E-commerce'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530521" y="4169727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2705631" y="4179950"/>
            <a:ext cx="232485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'General Retail'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979641" y="4169727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5154750" y="4179950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4407788"/>
            <a:ext cx="14408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66233" y="4397565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841342" y="4407788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92779" y="4397565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167888" y="4407788"/>
            <a:ext cx="17440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5 categories.</a:t>
            </a:r>
          </a:p>
        </p:txBody>
      </p:sp>
    </p:spTree>
  </p:cSld>
  <p:clrMapOvr>
    <a:masterClrMapping/>
  </p:clrMapOvr>
</p:sld>
</file>

<file path=ppt/slides/slide12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Value &amp; Share Shift, By Sales Channels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composition by Sales Channels in 2021, 2026 and 2036, highlighting share shifts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7400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7210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Composition, By Sales Channels ·  2021 / 2026 / 2036 (US$ Mn)  ·  right axis = BPS share shift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1150"/>
          <a:ext cx="4614672" cy="49911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852797" y="1590675"/>
            <a:ext cx="2595753" cy="17106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(2021→2036)</a:t>
            </a:r>
          </a:p>
        </p:txBody>
      </p:sp>
      <p:sp>
        <p:nvSpPr>
          <p:cNvPr id="15" name="FMI Lock Anchor"/>
          <p:cNvSpPr txBox="1"/>
          <p:nvPr/>
        </p:nvSpPr>
        <p:spPr>
          <a:xfrm>
            <a:off x="2678811" y="4014597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/>
        </p:txBody>
      </p:sp>
      <p:sp>
        <p:nvSpPr>
          <p:cNvPr id="16" name="FMI Legend Chip"/>
          <p:cNvSpPr/>
          <p:nvPr/>
        </p:nvSpPr>
        <p:spPr>
          <a:xfrm>
            <a:off x="4928997" y="1889127"/>
            <a:ext cx="85725" cy="85725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Isosceles Triangle 16"/>
          <p:cNvSpPr/>
          <p:nvPr/>
        </p:nvSpPr>
        <p:spPr>
          <a:xfrm>
            <a:off x="5090922" y="1884365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BPS Name 1"/>
          <p:cNvSpPr txBox="1"/>
          <p:nvPr/>
        </p:nvSpPr>
        <p:spPr>
          <a:xfrm>
            <a:off x="5233797" y="1808165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Professional &amp; B2B</a:t>
            </a:r>
          </a:p>
        </p:txBody>
      </p:sp>
      <p:sp>
        <p:nvSpPr>
          <p:cNvPr id="19" name="BPS Value 1"/>
          <p:cNvSpPr txBox="1"/>
          <p:nvPr/>
        </p:nvSpPr>
        <p:spPr>
          <a:xfrm>
            <a:off x="6896100" y="1870077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0" name="FMI Legend Chip"/>
          <p:cNvSpPr/>
          <p:nvPr/>
        </p:nvSpPr>
        <p:spPr>
          <a:xfrm>
            <a:off x="4928997" y="2386025"/>
            <a:ext cx="85725" cy="8572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Isosceles Triangle 20"/>
          <p:cNvSpPr/>
          <p:nvPr/>
        </p:nvSpPr>
        <p:spPr>
          <a:xfrm rot="10800000">
            <a:off x="5090922" y="2381263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BPS Name 2"/>
          <p:cNvSpPr txBox="1"/>
          <p:nvPr/>
        </p:nvSpPr>
        <p:spPr>
          <a:xfrm>
            <a:off x="5233797" y="2305063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Veterinary &amp; Animal Health</a:t>
            </a:r>
          </a:p>
        </p:txBody>
      </p:sp>
      <p:sp>
        <p:nvSpPr>
          <p:cNvPr id="23" name="BPS Value 2"/>
          <p:cNvSpPr txBox="1"/>
          <p:nvPr/>
        </p:nvSpPr>
        <p:spPr>
          <a:xfrm>
            <a:off x="6896100" y="2366975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4" name="FMI Legend Chip"/>
          <p:cNvSpPr/>
          <p:nvPr/>
        </p:nvSpPr>
        <p:spPr>
          <a:xfrm>
            <a:off x="4928997" y="3040350"/>
            <a:ext cx="85725" cy="8572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Isosceles Triangle 24"/>
          <p:cNvSpPr/>
          <p:nvPr/>
        </p:nvSpPr>
        <p:spPr>
          <a:xfrm rot="10800000">
            <a:off x="5090922" y="3035587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BPS Name 3"/>
          <p:cNvSpPr txBox="1"/>
          <p:nvPr/>
        </p:nvSpPr>
        <p:spPr>
          <a:xfrm>
            <a:off x="5233797" y="2959387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General Retail</a:t>
            </a:r>
          </a:p>
        </p:txBody>
      </p:sp>
      <p:sp>
        <p:nvSpPr>
          <p:cNvPr id="27" name="BPS Value 3"/>
          <p:cNvSpPr txBox="1"/>
          <p:nvPr/>
        </p:nvSpPr>
        <p:spPr>
          <a:xfrm>
            <a:off x="6896100" y="3021300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8" name="FMI Legend Chip"/>
          <p:cNvSpPr/>
          <p:nvPr/>
        </p:nvSpPr>
        <p:spPr>
          <a:xfrm>
            <a:off x="4928997" y="4113426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Isosceles Triangle 28"/>
          <p:cNvSpPr/>
          <p:nvPr/>
        </p:nvSpPr>
        <p:spPr>
          <a:xfrm rot="10800000">
            <a:off x="5090922" y="4108664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BPS Name 4"/>
          <p:cNvSpPr txBox="1"/>
          <p:nvPr/>
        </p:nvSpPr>
        <p:spPr>
          <a:xfrm>
            <a:off x="5233797" y="4032464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Pet Specialty Retail</a:t>
            </a:r>
          </a:p>
        </p:txBody>
      </p:sp>
      <p:sp>
        <p:nvSpPr>
          <p:cNvPr id="31" name="BPS Value 4"/>
          <p:cNvSpPr txBox="1"/>
          <p:nvPr/>
        </p:nvSpPr>
        <p:spPr>
          <a:xfrm>
            <a:off x="6896100" y="4094376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32" name="FMI Legend Chip"/>
          <p:cNvSpPr/>
          <p:nvPr/>
        </p:nvSpPr>
        <p:spPr>
          <a:xfrm>
            <a:off x="4928997" y="5527422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Isosceles Triangle 32"/>
          <p:cNvSpPr/>
          <p:nvPr/>
        </p:nvSpPr>
        <p:spPr>
          <a:xfrm>
            <a:off x="5090922" y="5522659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BPS Name 5"/>
          <p:cNvSpPr txBox="1"/>
          <p:nvPr/>
        </p:nvSpPr>
        <p:spPr>
          <a:xfrm>
            <a:off x="5233797" y="5446459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E-commerce</a:t>
            </a:r>
          </a:p>
        </p:txBody>
      </p:sp>
      <p:sp>
        <p:nvSpPr>
          <p:cNvPr id="35" name="BPS Value 5"/>
          <p:cNvSpPr txBox="1"/>
          <p:nvPr/>
        </p:nvSpPr>
        <p:spPr>
          <a:xfrm>
            <a:off x="6896100" y="5508372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36" name="Rounded Rectangle 35"/>
          <p:cNvSpPr/>
          <p:nvPr/>
        </p:nvSpPr>
        <p:spPr>
          <a:xfrm>
            <a:off x="7696200" y="981075"/>
            <a:ext cx="4343400" cy="5648325"/>
          </a:xfrm>
          <a:prstGeom prst="roundRect">
            <a:avLst>
              <a:gd name="adj" fmla="val 17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TextBox 36"/>
          <p:cNvSpPr txBox="1"/>
          <p:nvPr/>
        </p:nvSpPr>
        <p:spPr>
          <a:xfrm>
            <a:off x="7829550" y="1066800"/>
            <a:ext cx="4076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Read-out, By Sales Channels</a:t>
            </a:r>
          </a:p>
        </p:txBody>
      </p:sp>
      <p:sp>
        <p:nvSpPr>
          <p:cNvPr id="38" name="Rectangle 37"/>
          <p:cNvSpPr/>
          <p:nvPr/>
        </p:nvSpPr>
        <p:spPr>
          <a:xfrm>
            <a:off x="7829550" y="1304925"/>
            <a:ext cx="40767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TextBox 38"/>
          <p:cNvSpPr txBox="1"/>
          <p:nvPr/>
        </p:nvSpPr>
        <p:spPr>
          <a:xfrm>
            <a:off x="7829550" y="1390650"/>
            <a:ext cx="4076700" cy="5162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2E7D32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E44D3A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57843" y="3833622"/>
            <a:ext cx="275034" cy="400050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7829550" y="1400175"/>
            <a:ext cx="23422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'E-commerce' gains the most share +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120929" y="1389951"/>
            <a:ext cx="134549" cy="195707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10296039" y="1400175"/>
            <a:ext cx="144285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between 2026 and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7829550" y="1575435"/>
            <a:ext cx="172724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2036 (</a:t>
            </a:r>
            <a:r>
              <a:rPr sz="1150" b="0">
                <a:solidFill>
                  <a:srgbClr val="2E7D32"/>
                </a:solidFill>
                <a:latin typeface="Calibri"/>
              </a:rPr>
              <a:t>green ▲</a:t>
            </a:r>
            <a:r>
              <a:rPr sz="1150" b="0">
                <a:solidFill>
                  <a:srgbClr val="2E2E2E"/>
                </a:solidFill>
                <a:latin typeface="Calibri"/>
              </a:rPr>
              <a:t> on the scale).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7829550" y="1803273"/>
            <a:ext cx="208239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'General Retail' cedes the most -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861094" y="1793049"/>
            <a:ext cx="134549" cy="195707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10036203" y="1803273"/>
            <a:ext cx="16853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 the same window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7829550" y="1978533"/>
            <a:ext cx="5092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(</a:t>
            </a:r>
            <a:r>
              <a:rPr sz="1150" b="0">
                <a:solidFill>
                  <a:srgbClr val="E44D3A"/>
                </a:solidFill>
                <a:latin typeface="Calibri"/>
              </a:rPr>
              <a:t>red ▼</a:t>
            </a:r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7829550" y="2206371"/>
            <a:ext cx="331922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'E-commerce' is the fastest-growing sales channels at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097924" y="2196147"/>
            <a:ext cx="134549" cy="195707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11273033" y="2206371"/>
            <a:ext cx="40992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7829550" y="2381631"/>
            <a:ext cx="86749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(2026–2036).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7829550" y="2609469"/>
            <a:ext cx="15489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climbs from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27669" y="2599245"/>
            <a:ext cx="134549" cy="195707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9502779" y="2609469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57" name="Picture 5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54215" y="2599245"/>
            <a:ext cx="134549" cy="195707"/>
          </a:xfrm>
          <a:prstGeom prst="rect">
            <a:avLst/>
          </a:prstGeom>
        </p:spPr>
      </p:pic>
      <p:sp>
        <p:nvSpPr>
          <p:cNvPr id="58" name="TextBox 57"/>
          <p:cNvSpPr txBox="1"/>
          <p:nvPr/>
        </p:nvSpPr>
        <p:spPr>
          <a:xfrm>
            <a:off x="9829324" y="2609469"/>
            <a:ext cx="1689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2021–2036.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7829550" y="2837307"/>
            <a:ext cx="39325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Bars show the value mix at each snapshot; the scale shows how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7829550" y="3012566"/>
            <a:ext cx="11772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each share moves.</a:t>
            </a:r>
          </a:p>
        </p:txBody>
      </p:sp>
      <p:sp>
        <p:nvSpPr>
          <p:cNvPr id="61" name="lockshield_13"/>
          <p:cNvSpPr/>
          <p:nvPr/>
        </p:nvSpPr>
        <p:spPr>
          <a:xfrm>
            <a:off x="238125" y="1581150"/>
            <a:ext cx="4614672" cy="49911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2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Europe Market Volume, By Sales Channels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Sales Channels,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952625"/>
          </a:xfrm>
          <a:prstGeom prst="roundRect">
            <a:avLst>
              <a:gd name="adj" fmla="val 390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 YoY Growth, By Sales Channels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7" cy="14858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046117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Sales Channels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E-commerce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Pet Specialty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Veterinary &amp; Animal Health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General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Professional &amp; B2B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7336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067050"/>
            <a:ext cx="11906250" cy="3562350"/>
          </a:xfrm>
          <a:prstGeom prst="roundRect">
            <a:avLst>
              <a:gd name="adj" fmla="val 213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12420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 YoY Heatmap, By Sales Channels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495675"/>
            <a:ext cx="1590675" cy="61531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E-commerce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495675"/>
            <a:ext cx="643890" cy="615315"/>
          </a:xfrm>
          <a:prstGeom prst="rect">
            <a:avLst/>
          </a:prstGeom>
          <a:solidFill>
            <a:srgbClr val="83B4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3495675"/>
            <a:ext cx="643890" cy="615315"/>
          </a:xfrm>
          <a:prstGeom prst="rect">
            <a:avLst/>
          </a:prstGeom>
          <a:solidFill>
            <a:srgbClr val="B2CFE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3495675"/>
            <a:ext cx="643890" cy="615315"/>
          </a:xfrm>
          <a:prstGeom prst="rect">
            <a:avLst/>
          </a:prstGeom>
          <a:solidFill>
            <a:srgbClr val="ADCC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3495675"/>
            <a:ext cx="643890" cy="615315"/>
          </a:xfrm>
          <a:prstGeom prst="rect">
            <a:avLst/>
          </a:prstGeom>
          <a:solidFill>
            <a:srgbClr val="92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3495675"/>
            <a:ext cx="643890" cy="615315"/>
          </a:xfrm>
          <a:prstGeom prst="rect">
            <a:avLst/>
          </a:prstGeom>
          <a:solidFill>
            <a:srgbClr val="0D629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3495675"/>
            <a:ext cx="643890" cy="615315"/>
          </a:xfrm>
          <a:prstGeom prst="rect">
            <a:avLst/>
          </a:prstGeom>
          <a:solidFill>
            <a:srgbClr val="0E70A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3495675"/>
            <a:ext cx="643890" cy="615315"/>
          </a:xfrm>
          <a:prstGeom prst="rect">
            <a:avLst/>
          </a:prstGeom>
          <a:solidFill>
            <a:srgbClr val="0C3D5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3495675"/>
            <a:ext cx="643890" cy="615315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3495675"/>
            <a:ext cx="643890" cy="615315"/>
          </a:xfrm>
          <a:prstGeom prst="rect">
            <a:avLst/>
          </a:prstGeom>
          <a:solidFill>
            <a:srgbClr val="1174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3495675"/>
            <a:ext cx="643890" cy="615315"/>
          </a:xfrm>
          <a:prstGeom prst="rect">
            <a:avLst/>
          </a:prstGeom>
          <a:solidFill>
            <a:srgbClr val="0D649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3495675"/>
            <a:ext cx="643890" cy="615315"/>
          </a:xfrm>
          <a:prstGeom prst="rect">
            <a:avLst/>
          </a:prstGeom>
          <a:solidFill>
            <a:srgbClr val="0D5A8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3495675"/>
            <a:ext cx="643890" cy="615315"/>
          </a:xfrm>
          <a:prstGeom prst="rect">
            <a:avLst/>
          </a:prstGeom>
          <a:solidFill>
            <a:srgbClr val="0B335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3495675"/>
            <a:ext cx="643890" cy="615315"/>
          </a:xfrm>
          <a:prstGeom prst="rect">
            <a:avLst/>
          </a:prstGeom>
          <a:solidFill>
            <a:srgbClr val="0C4E7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3495675"/>
            <a:ext cx="643890" cy="615315"/>
          </a:xfrm>
          <a:prstGeom prst="rect">
            <a:avLst/>
          </a:prstGeom>
          <a:solidFill>
            <a:srgbClr val="0C487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3495675"/>
            <a:ext cx="643890" cy="615315"/>
          </a:xfrm>
          <a:prstGeom prst="rect">
            <a:avLst/>
          </a:prstGeom>
          <a:solidFill>
            <a:srgbClr val="0C3F6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110990"/>
            <a:ext cx="1590675" cy="61531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Pet Specialty Retail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110990"/>
            <a:ext cx="643890" cy="615315"/>
          </a:xfrm>
          <a:prstGeom prst="rect">
            <a:avLst/>
          </a:prstGeom>
          <a:solidFill>
            <a:srgbClr val="C8DB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110990"/>
            <a:ext cx="643890" cy="615315"/>
          </a:xfrm>
          <a:prstGeom prst="rect">
            <a:avLst/>
          </a:prstGeom>
          <a:solidFill>
            <a:srgbClr val="DCEB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110990"/>
            <a:ext cx="643890" cy="615315"/>
          </a:xfrm>
          <a:prstGeom prst="rect">
            <a:avLst/>
          </a:prstGeom>
          <a:solidFill>
            <a:srgbClr val="D9E8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110990"/>
            <a:ext cx="643890" cy="615315"/>
          </a:xfrm>
          <a:prstGeom prst="rect">
            <a:avLst/>
          </a:prstGeom>
          <a:solidFill>
            <a:srgbClr val="D2E2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110990"/>
            <a:ext cx="643890" cy="615315"/>
          </a:xfrm>
          <a:prstGeom prst="rect">
            <a:avLst/>
          </a:prstGeom>
          <a:solidFill>
            <a:srgbClr val="4A95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110990"/>
            <a:ext cx="643890" cy="615315"/>
          </a:xfrm>
          <a:prstGeom prst="rect">
            <a:avLst/>
          </a:prstGeom>
          <a:solidFill>
            <a:srgbClr val="5A9E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110990"/>
            <a:ext cx="643890" cy="615315"/>
          </a:xfrm>
          <a:prstGeom prst="rect">
            <a:avLst/>
          </a:prstGeom>
          <a:solidFill>
            <a:srgbClr val="2C84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110990"/>
            <a:ext cx="643890" cy="615315"/>
          </a:xfrm>
          <a:prstGeom prst="rect">
            <a:avLst/>
          </a:prstGeom>
          <a:solidFill>
            <a:srgbClr val="2680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110990"/>
            <a:ext cx="643890" cy="615315"/>
          </a:xfrm>
          <a:prstGeom prst="rect">
            <a:avLst/>
          </a:prstGeom>
          <a:solidFill>
            <a:srgbClr val="5DA0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110990"/>
            <a:ext cx="643890" cy="615315"/>
          </a:xfrm>
          <a:prstGeom prst="rect">
            <a:avLst/>
          </a:prstGeom>
          <a:solidFill>
            <a:srgbClr val="4D97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110990"/>
            <a:ext cx="643890" cy="615315"/>
          </a:xfrm>
          <a:prstGeom prst="rect">
            <a:avLst/>
          </a:prstGeom>
          <a:solidFill>
            <a:srgbClr val="3E8F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110990"/>
            <a:ext cx="643890" cy="615315"/>
          </a:xfrm>
          <a:prstGeom prst="rect">
            <a:avLst/>
          </a:prstGeom>
          <a:solidFill>
            <a:srgbClr val="3187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110990"/>
            <a:ext cx="643890" cy="615315"/>
          </a:xfrm>
          <a:prstGeom prst="rect">
            <a:avLst/>
          </a:prstGeom>
          <a:solidFill>
            <a:srgbClr val="3087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110990"/>
            <a:ext cx="643890" cy="615315"/>
          </a:xfrm>
          <a:prstGeom prst="rect">
            <a:avLst/>
          </a:prstGeom>
          <a:solidFill>
            <a:srgbClr val="358AC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110990"/>
            <a:ext cx="643890" cy="615315"/>
          </a:xfrm>
          <a:prstGeom prst="rect">
            <a:avLst/>
          </a:prstGeom>
          <a:solidFill>
            <a:srgbClr val="358AC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4726305"/>
            <a:ext cx="1590675" cy="61531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Veterinary &amp; Animal Health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4726305"/>
            <a:ext cx="643890" cy="615315"/>
          </a:xfrm>
          <a:prstGeom prst="rect">
            <a:avLst/>
          </a:prstGeom>
          <a:solidFill>
            <a:srgbClr val="E5F2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4726305"/>
            <a:ext cx="643890" cy="615315"/>
          </a:xfrm>
          <a:prstGeom prst="rect">
            <a:avLst/>
          </a:prstGeom>
          <a:solidFill>
            <a:srgbClr val="F4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4726305"/>
            <a:ext cx="643890" cy="615315"/>
          </a:xfrm>
          <a:prstGeom prst="rect">
            <a:avLst/>
          </a:prstGeom>
          <a:solidFill>
            <a:srgbClr val="F4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4726305"/>
            <a:ext cx="643890" cy="615315"/>
          </a:xfrm>
          <a:prstGeom prst="rect">
            <a:avLst/>
          </a:prstGeom>
          <a:solidFill>
            <a:srgbClr val="EA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4726305"/>
            <a:ext cx="643890" cy="615315"/>
          </a:xfrm>
          <a:prstGeom prst="rect">
            <a:avLst/>
          </a:prstGeom>
          <a:solidFill>
            <a:srgbClr val="87B7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4726305"/>
            <a:ext cx="643890" cy="615315"/>
          </a:xfrm>
          <a:prstGeom prst="rect">
            <a:avLst/>
          </a:prstGeom>
          <a:solidFill>
            <a:srgbClr val="95BE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4726305"/>
            <a:ext cx="643890" cy="615315"/>
          </a:xfrm>
          <a:prstGeom prst="rect">
            <a:avLst/>
          </a:prstGeom>
          <a:solidFill>
            <a:srgbClr val="64A4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4726305"/>
            <a:ext cx="643890" cy="615315"/>
          </a:xfrm>
          <a:prstGeom prst="rect">
            <a:avLst/>
          </a:prstGeom>
          <a:solidFill>
            <a:srgbClr val="579D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4726305"/>
            <a:ext cx="643890" cy="615315"/>
          </a:xfrm>
          <a:prstGeom prst="rect">
            <a:avLst/>
          </a:prstGeom>
          <a:solidFill>
            <a:srgbClr val="96BF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4726305"/>
            <a:ext cx="643890" cy="615315"/>
          </a:xfrm>
          <a:prstGeom prst="rect">
            <a:avLst/>
          </a:prstGeom>
          <a:solidFill>
            <a:srgbClr val="7DB1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4726305"/>
            <a:ext cx="643890" cy="615315"/>
          </a:xfrm>
          <a:prstGeom prst="rect">
            <a:avLst/>
          </a:prstGeom>
          <a:solidFill>
            <a:srgbClr val="77AE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4726305"/>
            <a:ext cx="643890" cy="615315"/>
          </a:xfrm>
          <a:prstGeom prst="rect">
            <a:avLst/>
          </a:prstGeom>
          <a:solidFill>
            <a:srgbClr val="5EA0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4726305"/>
            <a:ext cx="643890" cy="615315"/>
          </a:xfrm>
          <a:prstGeom prst="rect">
            <a:avLst/>
          </a:prstGeom>
          <a:solidFill>
            <a:srgbClr val="63A3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4726305"/>
            <a:ext cx="643890" cy="615315"/>
          </a:xfrm>
          <a:prstGeom prst="rect">
            <a:avLst/>
          </a:prstGeom>
          <a:solidFill>
            <a:srgbClr val="61A2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4726305"/>
            <a:ext cx="643890" cy="615315"/>
          </a:xfrm>
          <a:prstGeom prst="rect">
            <a:avLst/>
          </a:prstGeom>
          <a:solidFill>
            <a:srgbClr val="5DA0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238125" y="5341620"/>
            <a:ext cx="1590675" cy="61531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General Retail</a:t>
            </a:r>
          </a:p>
        </p:txBody>
      </p:sp>
      <p:sp>
        <p:nvSpPr>
          <p:cNvPr id="81" name="Rectangle 80"/>
          <p:cNvSpPr/>
          <p:nvPr/>
        </p:nvSpPr>
        <p:spPr>
          <a:xfrm>
            <a:off x="1857375" y="5341620"/>
            <a:ext cx="643890" cy="615315"/>
          </a:xfrm>
          <a:prstGeom prst="rect">
            <a:avLst/>
          </a:prstGeom>
          <a:solidFill>
            <a:srgbClr val="EC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2501265" y="5341620"/>
            <a:ext cx="643890" cy="615315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3145155" y="5341620"/>
            <a:ext cx="643890" cy="615315"/>
          </a:xfrm>
          <a:prstGeom prst="rect">
            <a:avLst/>
          </a:prstGeom>
          <a:solidFill>
            <a:srgbClr val="FD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3789045" y="5341620"/>
            <a:ext cx="643890" cy="615315"/>
          </a:xfrm>
          <a:prstGeom prst="rect">
            <a:avLst/>
          </a:prstGeom>
          <a:solidFill>
            <a:srgbClr val="F4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4432935" y="5341620"/>
            <a:ext cx="643890" cy="615315"/>
          </a:xfrm>
          <a:prstGeom prst="rect">
            <a:avLst/>
          </a:prstGeom>
          <a:solidFill>
            <a:srgbClr val="9DC3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5076825" y="5341620"/>
            <a:ext cx="643890" cy="615315"/>
          </a:xfrm>
          <a:prstGeom prst="rect">
            <a:avLst/>
          </a:prstGeom>
          <a:solidFill>
            <a:srgbClr val="ACCC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5720715" y="5341620"/>
            <a:ext cx="643890" cy="615315"/>
          </a:xfrm>
          <a:prstGeom prst="rect">
            <a:avLst/>
          </a:prstGeom>
          <a:solidFill>
            <a:srgbClr val="80B3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6364605" y="5341620"/>
            <a:ext cx="643890" cy="615315"/>
          </a:xfrm>
          <a:prstGeom prst="rect">
            <a:avLst/>
          </a:prstGeom>
          <a:solidFill>
            <a:srgbClr val="7BB0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7008495" y="5341620"/>
            <a:ext cx="643890" cy="615315"/>
          </a:xfrm>
          <a:prstGeom prst="rect">
            <a:avLst/>
          </a:prstGeom>
          <a:solidFill>
            <a:srgbClr val="AA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7652385" y="5341620"/>
            <a:ext cx="643890" cy="615315"/>
          </a:xfrm>
          <a:prstGeom prst="rect">
            <a:avLst/>
          </a:prstGeom>
          <a:solidFill>
            <a:srgbClr val="9EC4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8296275" y="5341620"/>
            <a:ext cx="643890" cy="615315"/>
          </a:xfrm>
          <a:prstGeom prst="rect">
            <a:avLst/>
          </a:prstGeom>
          <a:solidFill>
            <a:srgbClr val="94BE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8940165" y="5341620"/>
            <a:ext cx="643890" cy="615315"/>
          </a:xfrm>
          <a:prstGeom prst="rect">
            <a:avLst/>
          </a:prstGeom>
          <a:solidFill>
            <a:srgbClr val="82B4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9584055" y="5341620"/>
            <a:ext cx="643890" cy="615315"/>
          </a:xfrm>
          <a:prstGeom prst="rect">
            <a:avLst/>
          </a:prstGeom>
          <a:solidFill>
            <a:srgbClr val="7FB2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0227945" y="5341620"/>
            <a:ext cx="643890" cy="615315"/>
          </a:xfrm>
          <a:prstGeom prst="rect">
            <a:avLst/>
          </a:prstGeom>
          <a:solidFill>
            <a:srgbClr val="87B6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0871835" y="5341620"/>
            <a:ext cx="643890" cy="615315"/>
          </a:xfrm>
          <a:prstGeom prst="rect">
            <a:avLst/>
          </a:prstGeom>
          <a:solidFill>
            <a:srgbClr val="87B7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238125" y="5956935"/>
            <a:ext cx="1590675" cy="61531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Professional &amp; B2B</a:t>
            </a:r>
          </a:p>
        </p:txBody>
      </p:sp>
      <p:sp>
        <p:nvSpPr>
          <p:cNvPr id="97" name="Rectangle 96"/>
          <p:cNvSpPr/>
          <p:nvPr/>
        </p:nvSpPr>
        <p:spPr>
          <a:xfrm>
            <a:off x="1857375" y="5956935"/>
            <a:ext cx="643890" cy="615315"/>
          </a:xfrm>
          <a:prstGeom prst="rect">
            <a:avLst/>
          </a:prstGeom>
          <a:solidFill>
            <a:srgbClr val="C3D9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2501265" y="5956935"/>
            <a:ext cx="643890" cy="615315"/>
          </a:xfrm>
          <a:prstGeom prst="rect">
            <a:avLst/>
          </a:prstGeom>
          <a:solidFill>
            <a:srgbClr val="DEEC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3145155" y="5956935"/>
            <a:ext cx="643890" cy="615315"/>
          </a:xfrm>
          <a:prstGeom prst="rect">
            <a:avLst/>
          </a:prstGeom>
          <a:solidFill>
            <a:srgbClr val="D7E7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3789045" y="5956935"/>
            <a:ext cx="643890" cy="615315"/>
          </a:xfrm>
          <a:prstGeom prst="rect">
            <a:avLst/>
          </a:prstGeom>
          <a:solidFill>
            <a:srgbClr val="CDDE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4432935" y="5956935"/>
            <a:ext cx="643890" cy="615315"/>
          </a:xfrm>
          <a:prstGeom prst="rect">
            <a:avLst/>
          </a:prstGeom>
          <a:solidFill>
            <a:srgbClr val="4995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5076825" y="5956935"/>
            <a:ext cx="643890" cy="615315"/>
          </a:xfrm>
          <a:prstGeom prst="rect">
            <a:avLst/>
          </a:prstGeom>
          <a:solidFill>
            <a:srgbClr val="4894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5720715" y="5956935"/>
            <a:ext cx="643890" cy="615315"/>
          </a:xfrm>
          <a:prstGeom prst="rect">
            <a:avLst/>
          </a:prstGeom>
          <a:solidFill>
            <a:srgbClr val="2580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6364605" y="5956935"/>
            <a:ext cx="643890" cy="615315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7008495" y="5956935"/>
            <a:ext cx="643890" cy="615315"/>
          </a:xfrm>
          <a:prstGeom prst="rect">
            <a:avLst/>
          </a:prstGeom>
          <a:solidFill>
            <a:srgbClr val="4D97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7652385" y="5956935"/>
            <a:ext cx="643890" cy="615315"/>
          </a:xfrm>
          <a:prstGeom prst="rect">
            <a:avLst/>
          </a:prstGeom>
          <a:solidFill>
            <a:srgbClr val="3C8EC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8296275" y="5956935"/>
            <a:ext cx="643890" cy="615315"/>
          </a:xfrm>
          <a:prstGeom prst="rect">
            <a:avLst/>
          </a:prstGeom>
          <a:solidFill>
            <a:srgbClr val="3388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8940165" y="5956935"/>
            <a:ext cx="643890" cy="615315"/>
          </a:xfrm>
          <a:prstGeom prst="rect">
            <a:avLst/>
          </a:prstGeom>
          <a:solidFill>
            <a:srgbClr val="1A79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9584055" y="5956935"/>
            <a:ext cx="643890" cy="615315"/>
          </a:xfrm>
          <a:prstGeom prst="rect">
            <a:avLst/>
          </a:prstGeom>
          <a:solidFill>
            <a:srgbClr val="2781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0227945" y="5956935"/>
            <a:ext cx="643890" cy="615315"/>
          </a:xfrm>
          <a:prstGeom prst="rect">
            <a:avLst/>
          </a:prstGeom>
          <a:solidFill>
            <a:srgbClr val="24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0871835" y="5956935"/>
            <a:ext cx="643890" cy="615315"/>
          </a:xfrm>
          <a:prstGeom prst="rect">
            <a:avLst/>
          </a:prstGeom>
          <a:solidFill>
            <a:srgbClr val="1F7C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Rectangle 111"/>
          <p:cNvSpPr/>
          <p:nvPr/>
        </p:nvSpPr>
        <p:spPr>
          <a:xfrm>
            <a:off x="11572875" y="3533775"/>
            <a:ext cx="104775" cy="82629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Rectangle 112"/>
          <p:cNvSpPr/>
          <p:nvPr/>
        </p:nvSpPr>
        <p:spPr>
          <a:xfrm>
            <a:off x="11572875" y="3608784"/>
            <a:ext cx="104775" cy="82629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11572875" y="3683794"/>
            <a:ext cx="104775" cy="82629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11572875" y="3758803"/>
            <a:ext cx="104775" cy="82629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11572875" y="3833812"/>
            <a:ext cx="104775" cy="82629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11572875" y="3908822"/>
            <a:ext cx="104775" cy="82629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11572875" y="3983831"/>
            <a:ext cx="104775" cy="82629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11572875" y="4058841"/>
            <a:ext cx="104775" cy="82629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11572875" y="4133850"/>
            <a:ext cx="104775" cy="82629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11572875" y="4208859"/>
            <a:ext cx="104775" cy="82629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11572875" y="4283869"/>
            <a:ext cx="104775" cy="82629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Rectangle 122"/>
          <p:cNvSpPr/>
          <p:nvPr/>
        </p:nvSpPr>
        <p:spPr>
          <a:xfrm>
            <a:off x="11572875" y="4358878"/>
            <a:ext cx="104775" cy="82629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Rectangle 123"/>
          <p:cNvSpPr/>
          <p:nvPr/>
        </p:nvSpPr>
        <p:spPr>
          <a:xfrm>
            <a:off x="11572875" y="4433888"/>
            <a:ext cx="104775" cy="82629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11572875" y="4508897"/>
            <a:ext cx="104775" cy="82629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11572875" y="4583906"/>
            <a:ext cx="104775" cy="82629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11572875" y="4658916"/>
            <a:ext cx="104775" cy="82629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Rectangle 127"/>
          <p:cNvSpPr/>
          <p:nvPr/>
        </p:nvSpPr>
        <p:spPr>
          <a:xfrm>
            <a:off x="11572875" y="4733925"/>
            <a:ext cx="104775" cy="82629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Rectangle 128"/>
          <p:cNvSpPr/>
          <p:nvPr/>
        </p:nvSpPr>
        <p:spPr>
          <a:xfrm>
            <a:off x="11572875" y="4808934"/>
            <a:ext cx="104775" cy="82629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11572875" y="4883944"/>
            <a:ext cx="104775" cy="82629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11572875" y="4958953"/>
            <a:ext cx="104775" cy="82629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11572875" y="5033962"/>
            <a:ext cx="104775" cy="82629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11572875" y="5108972"/>
            <a:ext cx="104775" cy="82629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11572875" y="5183981"/>
            <a:ext cx="104775" cy="82629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11572875" y="5258991"/>
            <a:ext cx="104775" cy="82629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11572875" y="5334000"/>
            <a:ext cx="104775" cy="82629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Rectangle 136"/>
          <p:cNvSpPr/>
          <p:nvPr/>
        </p:nvSpPr>
        <p:spPr>
          <a:xfrm>
            <a:off x="11572875" y="5409009"/>
            <a:ext cx="104775" cy="82629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Rectangle 137"/>
          <p:cNvSpPr/>
          <p:nvPr/>
        </p:nvSpPr>
        <p:spPr>
          <a:xfrm>
            <a:off x="11572875" y="5484019"/>
            <a:ext cx="104775" cy="82629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Rectangle 138"/>
          <p:cNvSpPr/>
          <p:nvPr/>
        </p:nvSpPr>
        <p:spPr>
          <a:xfrm>
            <a:off x="11572875" y="5559028"/>
            <a:ext cx="104775" cy="82629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Rectangle 139"/>
          <p:cNvSpPr/>
          <p:nvPr/>
        </p:nvSpPr>
        <p:spPr>
          <a:xfrm>
            <a:off x="11572875" y="5634038"/>
            <a:ext cx="104775" cy="82629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Rectangle 140"/>
          <p:cNvSpPr/>
          <p:nvPr/>
        </p:nvSpPr>
        <p:spPr>
          <a:xfrm>
            <a:off x="11572875" y="5709047"/>
            <a:ext cx="104775" cy="82629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Rectangle 141"/>
          <p:cNvSpPr/>
          <p:nvPr/>
        </p:nvSpPr>
        <p:spPr>
          <a:xfrm>
            <a:off x="11572875" y="5784056"/>
            <a:ext cx="104775" cy="82629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Rectangle 142"/>
          <p:cNvSpPr/>
          <p:nvPr/>
        </p:nvSpPr>
        <p:spPr>
          <a:xfrm>
            <a:off x="11572875" y="5859066"/>
            <a:ext cx="104775" cy="82629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Rectangle 143"/>
          <p:cNvSpPr/>
          <p:nvPr/>
        </p:nvSpPr>
        <p:spPr>
          <a:xfrm>
            <a:off x="11572875" y="5934075"/>
            <a:ext cx="104775" cy="82629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5" name="Rectangle 144"/>
          <p:cNvSpPr/>
          <p:nvPr/>
        </p:nvSpPr>
        <p:spPr>
          <a:xfrm>
            <a:off x="11572875" y="6009084"/>
            <a:ext cx="104775" cy="82629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Rectangle 145"/>
          <p:cNvSpPr/>
          <p:nvPr/>
        </p:nvSpPr>
        <p:spPr>
          <a:xfrm>
            <a:off x="11572875" y="6084094"/>
            <a:ext cx="104775" cy="82629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Rectangle 146"/>
          <p:cNvSpPr/>
          <p:nvPr/>
        </p:nvSpPr>
        <p:spPr>
          <a:xfrm>
            <a:off x="11572875" y="6159103"/>
            <a:ext cx="104775" cy="82629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Rectangle 147"/>
          <p:cNvSpPr/>
          <p:nvPr/>
        </p:nvSpPr>
        <p:spPr>
          <a:xfrm>
            <a:off x="11572875" y="6234112"/>
            <a:ext cx="104775" cy="82629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Rectangle 148"/>
          <p:cNvSpPr/>
          <p:nvPr/>
        </p:nvSpPr>
        <p:spPr>
          <a:xfrm>
            <a:off x="11572875" y="6309122"/>
            <a:ext cx="104775" cy="82629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Rectangle 149"/>
          <p:cNvSpPr/>
          <p:nvPr/>
        </p:nvSpPr>
        <p:spPr>
          <a:xfrm>
            <a:off x="11572875" y="6384131"/>
            <a:ext cx="104775" cy="82629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Rectangle 150"/>
          <p:cNvSpPr/>
          <p:nvPr/>
        </p:nvSpPr>
        <p:spPr>
          <a:xfrm>
            <a:off x="11572875" y="6459141"/>
            <a:ext cx="104775" cy="82629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Rectangle 151"/>
          <p:cNvSpPr/>
          <p:nvPr/>
        </p:nvSpPr>
        <p:spPr>
          <a:xfrm>
            <a:off x="11572875" y="3533775"/>
            <a:ext cx="104775" cy="3000375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TextBox 152"/>
          <p:cNvSpPr txBox="1"/>
          <p:nvPr/>
        </p:nvSpPr>
        <p:spPr>
          <a:xfrm>
            <a:off x="11687175" y="346710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11687175" y="4967288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155" name="TextBox 154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4%</a:t>
            </a:r>
          </a:p>
        </p:txBody>
      </p:sp>
      <p:sp>
        <p:nvSpPr>
          <p:cNvPr id="156" name="TextBox 155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7" name="Picture 15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32366" y="1837563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3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Europe Market Value, By Sales Channels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Sales Channels,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952625"/>
          </a:xfrm>
          <a:prstGeom prst="roundRect">
            <a:avLst>
              <a:gd name="adj" fmla="val 390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YoY Growth, By Sales Channels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7" cy="14858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046117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Sales Channels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E-commerce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Pet Specialty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Veterinary &amp; Animal Health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General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Professional &amp; B2B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7336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067050"/>
            <a:ext cx="11906250" cy="3562350"/>
          </a:xfrm>
          <a:prstGeom prst="roundRect">
            <a:avLst>
              <a:gd name="adj" fmla="val 213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12420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YoY Heatmap, By Sales Channels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495675"/>
            <a:ext cx="1590675" cy="61531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E-commerce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495675"/>
            <a:ext cx="643890" cy="615315"/>
          </a:xfrm>
          <a:prstGeom prst="rect">
            <a:avLst/>
          </a:prstGeom>
          <a:solidFill>
            <a:srgbClr val="8AB8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3495675"/>
            <a:ext cx="643890" cy="615315"/>
          </a:xfrm>
          <a:prstGeom prst="rect">
            <a:avLst/>
          </a:prstGeom>
          <a:solidFill>
            <a:srgbClr val="B8D2E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3495675"/>
            <a:ext cx="643890" cy="615315"/>
          </a:xfrm>
          <a:prstGeom prst="rect">
            <a:avLst/>
          </a:prstGeom>
          <a:solidFill>
            <a:srgbClr val="B5D1E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3495675"/>
            <a:ext cx="643890" cy="615315"/>
          </a:xfrm>
          <a:prstGeom prst="rect">
            <a:avLst/>
          </a:prstGeom>
          <a:solidFill>
            <a:srgbClr val="9BC2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3495675"/>
            <a:ext cx="643890" cy="615315"/>
          </a:xfrm>
          <a:prstGeom prst="rect">
            <a:avLst/>
          </a:prstGeom>
          <a:solidFill>
            <a:srgbClr val="0D5D8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3495675"/>
            <a:ext cx="643890" cy="615315"/>
          </a:xfrm>
          <a:prstGeom prst="rect">
            <a:avLst/>
          </a:prstGeom>
          <a:solidFill>
            <a:srgbClr val="0F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3495675"/>
            <a:ext cx="643890" cy="615315"/>
          </a:xfrm>
          <a:prstGeom prst="rect">
            <a:avLst/>
          </a:prstGeom>
          <a:solidFill>
            <a:srgbClr val="0C3E6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3495675"/>
            <a:ext cx="643890" cy="615315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3495675"/>
            <a:ext cx="643890" cy="615315"/>
          </a:xfrm>
          <a:prstGeom prst="rect">
            <a:avLst/>
          </a:prstGeom>
          <a:solidFill>
            <a:srgbClr val="14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3495675"/>
            <a:ext cx="643890" cy="615315"/>
          </a:xfrm>
          <a:prstGeom prst="rect">
            <a:avLst/>
          </a:prstGeom>
          <a:solidFill>
            <a:srgbClr val="0D659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3495675"/>
            <a:ext cx="643890" cy="615315"/>
          </a:xfrm>
          <a:prstGeom prst="rect">
            <a:avLst/>
          </a:prstGeom>
          <a:solidFill>
            <a:srgbClr val="0D5D8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3495675"/>
            <a:ext cx="643890" cy="615315"/>
          </a:xfrm>
          <a:prstGeom prst="rect">
            <a:avLst/>
          </a:prstGeom>
          <a:solidFill>
            <a:srgbClr val="0B395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3495675"/>
            <a:ext cx="643890" cy="615315"/>
          </a:xfrm>
          <a:prstGeom prst="rect">
            <a:avLst/>
          </a:prstGeom>
          <a:solidFill>
            <a:srgbClr val="0D517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3495675"/>
            <a:ext cx="643890" cy="615315"/>
          </a:xfrm>
          <a:prstGeom prst="rect">
            <a:avLst/>
          </a:prstGeom>
          <a:solidFill>
            <a:srgbClr val="0C4C7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3495675"/>
            <a:ext cx="643890" cy="615315"/>
          </a:xfrm>
          <a:prstGeom prst="rect">
            <a:avLst/>
          </a:prstGeom>
          <a:solidFill>
            <a:srgbClr val="0C456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110990"/>
            <a:ext cx="1590675" cy="61531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Pet Specialty Retail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110990"/>
            <a:ext cx="643890" cy="615315"/>
          </a:xfrm>
          <a:prstGeom prst="rect">
            <a:avLst/>
          </a:prstGeom>
          <a:solidFill>
            <a:srgbClr val="CBDD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110990"/>
            <a:ext cx="643890" cy="615315"/>
          </a:xfrm>
          <a:prstGeom prst="rect">
            <a:avLst/>
          </a:prstGeom>
          <a:solidFill>
            <a:srgbClr val="DDEB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110990"/>
            <a:ext cx="643890" cy="615315"/>
          </a:xfrm>
          <a:prstGeom prst="rect">
            <a:avLst/>
          </a:prstGeom>
          <a:solidFill>
            <a:srgbClr val="DCEB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110990"/>
            <a:ext cx="643890" cy="615315"/>
          </a:xfrm>
          <a:prstGeom prst="rect">
            <a:avLst/>
          </a:prstGeom>
          <a:solidFill>
            <a:srgbClr val="D6E6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110990"/>
            <a:ext cx="643890" cy="615315"/>
          </a:xfrm>
          <a:prstGeom prst="rect">
            <a:avLst/>
          </a:prstGeom>
          <a:solidFill>
            <a:srgbClr val="41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110990"/>
            <a:ext cx="643890" cy="615315"/>
          </a:xfrm>
          <a:prstGeom prst="rect">
            <a:avLst/>
          </a:prstGeom>
          <a:solidFill>
            <a:srgbClr val="5C9F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110990"/>
            <a:ext cx="643890" cy="615315"/>
          </a:xfrm>
          <a:prstGeom prst="rect">
            <a:avLst/>
          </a:prstGeom>
          <a:solidFill>
            <a:srgbClr val="2A83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110990"/>
            <a:ext cx="643890" cy="615315"/>
          </a:xfrm>
          <a:prstGeom prst="rect">
            <a:avLst/>
          </a:prstGeom>
          <a:solidFill>
            <a:srgbClr val="23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110990"/>
            <a:ext cx="643890" cy="615315"/>
          </a:xfrm>
          <a:prstGeom prst="rect">
            <a:avLst/>
          </a:prstGeom>
          <a:solidFill>
            <a:srgbClr val="5EA0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110990"/>
            <a:ext cx="643890" cy="615315"/>
          </a:xfrm>
          <a:prstGeom prst="rect">
            <a:avLst/>
          </a:prstGeom>
          <a:solidFill>
            <a:srgbClr val="4995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110990"/>
            <a:ext cx="643890" cy="615315"/>
          </a:xfrm>
          <a:prstGeom prst="rect">
            <a:avLst/>
          </a:prstGeom>
          <a:solidFill>
            <a:srgbClr val="3E8F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110990"/>
            <a:ext cx="643890" cy="615315"/>
          </a:xfrm>
          <a:prstGeom prst="rect">
            <a:avLst/>
          </a:prstGeom>
          <a:solidFill>
            <a:srgbClr val="3489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110990"/>
            <a:ext cx="643890" cy="615315"/>
          </a:xfrm>
          <a:prstGeom prst="rect">
            <a:avLst/>
          </a:prstGeom>
          <a:solidFill>
            <a:srgbClr val="2F86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110990"/>
            <a:ext cx="643890" cy="615315"/>
          </a:xfrm>
          <a:prstGeom prst="rect">
            <a:avLst/>
          </a:prstGeom>
          <a:solidFill>
            <a:srgbClr val="358AC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110990"/>
            <a:ext cx="643890" cy="615315"/>
          </a:xfrm>
          <a:prstGeom prst="rect">
            <a:avLst/>
          </a:prstGeom>
          <a:solidFill>
            <a:srgbClr val="38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4726305"/>
            <a:ext cx="1590675" cy="61531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Veterinary &amp; Animal Health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4726305"/>
            <a:ext cx="643890" cy="615315"/>
          </a:xfrm>
          <a:prstGeom prst="rect">
            <a:avLst/>
          </a:prstGeom>
          <a:solidFill>
            <a:srgbClr val="E9F5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4726305"/>
            <a:ext cx="643890" cy="615315"/>
          </a:xfrm>
          <a:prstGeom prst="rect">
            <a:avLst/>
          </a:prstGeom>
          <a:solidFill>
            <a:srgbClr val="F7FC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4726305"/>
            <a:ext cx="643890" cy="615315"/>
          </a:xfrm>
          <a:prstGeom prst="rect">
            <a:avLst/>
          </a:prstGeom>
          <a:solidFill>
            <a:srgbClr val="F9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4726305"/>
            <a:ext cx="643890" cy="615315"/>
          </a:xfrm>
          <a:prstGeom prst="rect">
            <a:avLst/>
          </a:prstGeom>
          <a:solidFill>
            <a:srgbClr val="EF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4726305"/>
            <a:ext cx="643890" cy="615315"/>
          </a:xfrm>
          <a:prstGeom prst="rect">
            <a:avLst/>
          </a:prstGeom>
          <a:solidFill>
            <a:srgbClr val="84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4726305"/>
            <a:ext cx="643890" cy="615315"/>
          </a:xfrm>
          <a:prstGeom prst="rect">
            <a:avLst/>
          </a:prstGeom>
          <a:solidFill>
            <a:srgbClr val="9AC1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4726305"/>
            <a:ext cx="643890" cy="615315"/>
          </a:xfrm>
          <a:prstGeom prst="rect">
            <a:avLst/>
          </a:prstGeom>
          <a:solidFill>
            <a:srgbClr val="68A6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4726305"/>
            <a:ext cx="643890" cy="615315"/>
          </a:xfrm>
          <a:prstGeom prst="rect">
            <a:avLst/>
          </a:prstGeom>
          <a:solidFill>
            <a:srgbClr val="599E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4726305"/>
            <a:ext cx="643890" cy="615315"/>
          </a:xfrm>
          <a:prstGeom prst="rect">
            <a:avLst/>
          </a:prstGeom>
          <a:solidFill>
            <a:srgbClr val="9AC1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4726305"/>
            <a:ext cx="643890" cy="615315"/>
          </a:xfrm>
          <a:prstGeom prst="rect">
            <a:avLst/>
          </a:prstGeom>
          <a:solidFill>
            <a:srgbClr val="7FB3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4726305"/>
            <a:ext cx="643890" cy="615315"/>
          </a:xfrm>
          <a:prstGeom prst="rect">
            <a:avLst/>
          </a:prstGeom>
          <a:solidFill>
            <a:srgbClr val="7BB0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4726305"/>
            <a:ext cx="643890" cy="615315"/>
          </a:xfrm>
          <a:prstGeom prst="rect">
            <a:avLst/>
          </a:prstGeom>
          <a:solidFill>
            <a:srgbClr val="66A5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4726305"/>
            <a:ext cx="643890" cy="615315"/>
          </a:xfrm>
          <a:prstGeom prst="rect">
            <a:avLst/>
          </a:prstGeom>
          <a:solidFill>
            <a:srgbClr val="66A5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4726305"/>
            <a:ext cx="643890" cy="615315"/>
          </a:xfrm>
          <a:prstGeom prst="rect">
            <a:avLst/>
          </a:prstGeom>
          <a:solidFill>
            <a:srgbClr val="67A5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4726305"/>
            <a:ext cx="643890" cy="615315"/>
          </a:xfrm>
          <a:prstGeom prst="rect">
            <a:avLst/>
          </a:prstGeom>
          <a:solidFill>
            <a:srgbClr val="64A4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238125" y="5341620"/>
            <a:ext cx="1590675" cy="61531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General Retail</a:t>
            </a:r>
          </a:p>
        </p:txBody>
      </p:sp>
      <p:sp>
        <p:nvSpPr>
          <p:cNvPr id="81" name="Rectangle 80"/>
          <p:cNvSpPr/>
          <p:nvPr/>
        </p:nvSpPr>
        <p:spPr>
          <a:xfrm>
            <a:off x="1857375" y="5341620"/>
            <a:ext cx="643890" cy="615315"/>
          </a:xfrm>
          <a:prstGeom prst="rect">
            <a:avLst/>
          </a:prstGeom>
          <a:solidFill>
            <a:srgbClr val="EDF7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2501265" y="5341620"/>
            <a:ext cx="643890" cy="615315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3145155" y="5341620"/>
            <a:ext cx="643890" cy="615315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3789045" y="5341620"/>
            <a:ext cx="643890" cy="615315"/>
          </a:xfrm>
          <a:prstGeom prst="rect">
            <a:avLst/>
          </a:prstGeom>
          <a:solidFill>
            <a:srgbClr val="F6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4432935" y="5341620"/>
            <a:ext cx="643890" cy="615315"/>
          </a:xfrm>
          <a:prstGeom prst="rect">
            <a:avLst/>
          </a:prstGeom>
          <a:solidFill>
            <a:srgbClr val="96BF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5076825" y="5341620"/>
            <a:ext cx="643890" cy="615315"/>
          </a:xfrm>
          <a:prstGeom prst="rect">
            <a:avLst/>
          </a:prstGeom>
          <a:solidFill>
            <a:srgbClr val="AA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5720715" y="5341620"/>
            <a:ext cx="643890" cy="615315"/>
          </a:xfrm>
          <a:prstGeom prst="rect">
            <a:avLst/>
          </a:prstGeom>
          <a:solidFill>
            <a:srgbClr val="7CB0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6364605" y="5341620"/>
            <a:ext cx="643890" cy="615315"/>
          </a:xfrm>
          <a:prstGeom prst="rect">
            <a:avLst/>
          </a:prstGeom>
          <a:solidFill>
            <a:srgbClr val="73AC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7008495" y="5341620"/>
            <a:ext cx="643890" cy="615315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7652385" y="5341620"/>
            <a:ext cx="643890" cy="615315"/>
          </a:xfrm>
          <a:prstGeom prst="rect">
            <a:avLst/>
          </a:prstGeom>
          <a:solidFill>
            <a:srgbClr val="99C1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8296275" y="5341620"/>
            <a:ext cx="643890" cy="615315"/>
          </a:xfrm>
          <a:prstGeom prst="rect">
            <a:avLst/>
          </a:prstGeom>
          <a:solidFill>
            <a:srgbClr val="91BC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8940165" y="5341620"/>
            <a:ext cx="643890" cy="615315"/>
          </a:xfrm>
          <a:prstGeom prst="rect">
            <a:avLst/>
          </a:prstGeom>
          <a:solidFill>
            <a:srgbClr val="81B4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9584055" y="5341620"/>
            <a:ext cx="643890" cy="615315"/>
          </a:xfrm>
          <a:prstGeom prst="rect">
            <a:avLst/>
          </a:prstGeom>
          <a:solidFill>
            <a:srgbClr val="7CB1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0227945" y="5341620"/>
            <a:ext cx="643890" cy="615315"/>
          </a:xfrm>
          <a:prstGeom prst="rect">
            <a:avLst/>
          </a:prstGeom>
          <a:solidFill>
            <a:srgbClr val="82B4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0871835" y="5341620"/>
            <a:ext cx="643890" cy="615315"/>
          </a:xfrm>
          <a:prstGeom prst="rect">
            <a:avLst/>
          </a:prstGeom>
          <a:solidFill>
            <a:srgbClr val="87B6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238125" y="5956935"/>
            <a:ext cx="1590675" cy="61531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Professional &amp; B2B</a:t>
            </a:r>
          </a:p>
        </p:txBody>
      </p:sp>
      <p:sp>
        <p:nvSpPr>
          <p:cNvPr id="97" name="Rectangle 96"/>
          <p:cNvSpPr/>
          <p:nvPr/>
        </p:nvSpPr>
        <p:spPr>
          <a:xfrm>
            <a:off x="1857375" y="5956935"/>
            <a:ext cx="643890" cy="615315"/>
          </a:xfrm>
          <a:prstGeom prst="rect">
            <a:avLst/>
          </a:prstGeom>
          <a:solidFill>
            <a:srgbClr val="C8DB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2501265" y="5956935"/>
            <a:ext cx="643890" cy="615315"/>
          </a:xfrm>
          <a:prstGeom prst="rect">
            <a:avLst/>
          </a:prstGeom>
          <a:solidFill>
            <a:srgbClr val="E0EE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3145155" y="5956935"/>
            <a:ext cx="643890" cy="615315"/>
          </a:xfrm>
          <a:prstGeom prst="rect">
            <a:avLst/>
          </a:prstGeom>
          <a:solidFill>
            <a:srgbClr val="DB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3789045" y="5956935"/>
            <a:ext cx="643890" cy="615315"/>
          </a:xfrm>
          <a:prstGeom prst="rect">
            <a:avLst/>
          </a:prstGeom>
          <a:solidFill>
            <a:srgbClr val="D0E1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4432935" y="5956935"/>
            <a:ext cx="643890" cy="615315"/>
          </a:xfrm>
          <a:prstGeom prst="rect">
            <a:avLst/>
          </a:prstGeom>
          <a:solidFill>
            <a:srgbClr val="42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5076825" y="5956935"/>
            <a:ext cx="643890" cy="615315"/>
          </a:xfrm>
          <a:prstGeom prst="rect">
            <a:avLst/>
          </a:prstGeom>
          <a:solidFill>
            <a:srgbClr val="4A96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5720715" y="5956935"/>
            <a:ext cx="643890" cy="615315"/>
          </a:xfrm>
          <a:prstGeom prst="rect">
            <a:avLst/>
          </a:prstGeom>
          <a:solidFill>
            <a:srgbClr val="24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6364605" y="5956935"/>
            <a:ext cx="643890" cy="615315"/>
          </a:xfrm>
          <a:prstGeom prst="rect">
            <a:avLst/>
          </a:prstGeom>
          <a:solidFill>
            <a:srgbClr val="1979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7008495" y="5956935"/>
            <a:ext cx="643890" cy="615315"/>
          </a:xfrm>
          <a:prstGeom prst="rect">
            <a:avLst/>
          </a:prstGeom>
          <a:solidFill>
            <a:srgbClr val="4E98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7652385" y="5956935"/>
            <a:ext cx="643890" cy="615315"/>
          </a:xfrm>
          <a:prstGeom prst="rect">
            <a:avLst/>
          </a:prstGeom>
          <a:solidFill>
            <a:srgbClr val="39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8296275" y="5956935"/>
            <a:ext cx="643890" cy="615315"/>
          </a:xfrm>
          <a:prstGeom prst="rect">
            <a:avLst/>
          </a:prstGeom>
          <a:solidFill>
            <a:srgbClr val="3187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8940165" y="5956935"/>
            <a:ext cx="643890" cy="615315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9584055" y="5956935"/>
            <a:ext cx="643890" cy="615315"/>
          </a:xfrm>
          <a:prstGeom prst="rect">
            <a:avLst/>
          </a:prstGeom>
          <a:solidFill>
            <a:srgbClr val="2680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0227945" y="5956935"/>
            <a:ext cx="643890" cy="615315"/>
          </a:xfrm>
          <a:prstGeom prst="rect">
            <a:avLst/>
          </a:prstGeom>
          <a:solidFill>
            <a:srgbClr val="227E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0871835" y="5956935"/>
            <a:ext cx="643890" cy="615315"/>
          </a:xfrm>
          <a:prstGeom prst="rect">
            <a:avLst/>
          </a:prstGeom>
          <a:solidFill>
            <a:srgbClr val="217D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Rectangle 111"/>
          <p:cNvSpPr/>
          <p:nvPr/>
        </p:nvSpPr>
        <p:spPr>
          <a:xfrm>
            <a:off x="11572875" y="3533775"/>
            <a:ext cx="104775" cy="82629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Rectangle 112"/>
          <p:cNvSpPr/>
          <p:nvPr/>
        </p:nvSpPr>
        <p:spPr>
          <a:xfrm>
            <a:off x="11572875" y="3608784"/>
            <a:ext cx="104775" cy="82629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11572875" y="3683794"/>
            <a:ext cx="104775" cy="82629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11572875" y="3758803"/>
            <a:ext cx="104775" cy="82629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11572875" y="3833812"/>
            <a:ext cx="104775" cy="82629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11572875" y="3908822"/>
            <a:ext cx="104775" cy="82629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11572875" y="3983831"/>
            <a:ext cx="104775" cy="82629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11572875" y="4058841"/>
            <a:ext cx="104775" cy="82629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11572875" y="4133850"/>
            <a:ext cx="104775" cy="82629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11572875" y="4208859"/>
            <a:ext cx="104775" cy="82629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11572875" y="4283869"/>
            <a:ext cx="104775" cy="82629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Rectangle 122"/>
          <p:cNvSpPr/>
          <p:nvPr/>
        </p:nvSpPr>
        <p:spPr>
          <a:xfrm>
            <a:off x="11572875" y="4358878"/>
            <a:ext cx="104775" cy="82629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Rectangle 123"/>
          <p:cNvSpPr/>
          <p:nvPr/>
        </p:nvSpPr>
        <p:spPr>
          <a:xfrm>
            <a:off x="11572875" y="4433888"/>
            <a:ext cx="104775" cy="82629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11572875" y="4508897"/>
            <a:ext cx="104775" cy="82629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11572875" y="4583906"/>
            <a:ext cx="104775" cy="82629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11572875" y="4658916"/>
            <a:ext cx="104775" cy="82629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Rectangle 127"/>
          <p:cNvSpPr/>
          <p:nvPr/>
        </p:nvSpPr>
        <p:spPr>
          <a:xfrm>
            <a:off x="11572875" y="4733925"/>
            <a:ext cx="104775" cy="82629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Rectangle 128"/>
          <p:cNvSpPr/>
          <p:nvPr/>
        </p:nvSpPr>
        <p:spPr>
          <a:xfrm>
            <a:off x="11572875" y="4808934"/>
            <a:ext cx="104775" cy="82629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11572875" y="4883944"/>
            <a:ext cx="104775" cy="82629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11572875" y="4958953"/>
            <a:ext cx="104775" cy="82629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11572875" y="5033962"/>
            <a:ext cx="104775" cy="82629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11572875" y="5108972"/>
            <a:ext cx="104775" cy="82629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11572875" y="5183981"/>
            <a:ext cx="104775" cy="82629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11572875" y="5258991"/>
            <a:ext cx="104775" cy="82629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11572875" y="5334000"/>
            <a:ext cx="104775" cy="82629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Rectangle 136"/>
          <p:cNvSpPr/>
          <p:nvPr/>
        </p:nvSpPr>
        <p:spPr>
          <a:xfrm>
            <a:off x="11572875" y="5409009"/>
            <a:ext cx="104775" cy="82629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Rectangle 137"/>
          <p:cNvSpPr/>
          <p:nvPr/>
        </p:nvSpPr>
        <p:spPr>
          <a:xfrm>
            <a:off x="11572875" y="5484019"/>
            <a:ext cx="104775" cy="82629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Rectangle 138"/>
          <p:cNvSpPr/>
          <p:nvPr/>
        </p:nvSpPr>
        <p:spPr>
          <a:xfrm>
            <a:off x="11572875" y="5559028"/>
            <a:ext cx="104775" cy="82629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Rectangle 139"/>
          <p:cNvSpPr/>
          <p:nvPr/>
        </p:nvSpPr>
        <p:spPr>
          <a:xfrm>
            <a:off x="11572875" y="5634038"/>
            <a:ext cx="104775" cy="82629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Rectangle 140"/>
          <p:cNvSpPr/>
          <p:nvPr/>
        </p:nvSpPr>
        <p:spPr>
          <a:xfrm>
            <a:off x="11572875" y="5709047"/>
            <a:ext cx="104775" cy="82629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Rectangle 141"/>
          <p:cNvSpPr/>
          <p:nvPr/>
        </p:nvSpPr>
        <p:spPr>
          <a:xfrm>
            <a:off x="11572875" y="5784056"/>
            <a:ext cx="104775" cy="82629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Rectangle 142"/>
          <p:cNvSpPr/>
          <p:nvPr/>
        </p:nvSpPr>
        <p:spPr>
          <a:xfrm>
            <a:off x="11572875" y="5859066"/>
            <a:ext cx="104775" cy="82629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Rectangle 143"/>
          <p:cNvSpPr/>
          <p:nvPr/>
        </p:nvSpPr>
        <p:spPr>
          <a:xfrm>
            <a:off x="11572875" y="5934075"/>
            <a:ext cx="104775" cy="82629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5" name="Rectangle 144"/>
          <p:cNvSpPr/>
          <p:nvPr/>
        </p:nvSpPr>
        <p:spPr>
          <a:xfrm>
            <a:off x="11572875" y="6009084"/>
            <a:ext cx="104775" cy="82629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Rectangle 145"/>
          <p:cNvSpPr/>
          <p:nvPr/>
        </p:nvSpPr>
        <p:spPr>
          <a:xfrm>
            <a:off x="11572875" y="6084094"/>
            <a:ext cx="104775" cy="82629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Rectangle 146"/>
          <p:cNvSpPr/>
          <p:nvPr/>
        </p:nvSpPr>
        <p:spPr>
          <a:xfrm>
            <a:off x="11572875" y="6159103"/>
            <a:ext cx="104775" cy="82629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Rectangle 147"/>
          <p:cNvSpPr/>
          <p:nvPr/>
        </p:nvSpPr>
        <p:spPr>
          <a:xfrm>
            <a:off x="11572875" y="6234112"/>
            <a:ext cx="104775" cy="82629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Rectangle 148"/>
          <p:cNvSpPr/>
          <p:nvPr/>
        </p:nvSpPr>
        <p:spPr>
          <a:xfrm>
            <a:off x="11572875" y="6309122"/>
            <a:ext cx="104775" cy="82629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Rectangle 149"/>
          <p:cNvSpPr/>
          <p:nvPr/>
        </p:nvSpPr>
        <p:spPr>
          <a:xfrm>
            <a:off x="11572875" y="6384131"/>
            <a:ext cx="104775" cy="82629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Rectangle 150"/>
          <p:cNvSpPr/>
          <p:nvPr/>
        </p:nvSpPr>
        <p:spPr>
          <a:xfrm>
            <a:off x="11572875" y="6459141"/>
            <a:ext cx="104775" cy="82629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Rectangle 151"/>
          <p:cNvSpPr/>
          <p:nvPr/>
        </p:nvSpPr>
        <p:spPr>
          <a:xfrm>
            <a:off x="11572875" y="3533775"/>
            <a:ext cx="104775" cy="3000375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TextBox 152"/>
          <p:cNvSpPr txBox="1"/>
          <p:nvPr/>
        </p:nvSpPr>
        <p:spPr>
          <a:xfrm>
            <a:off x="11687175" y="346710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7%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11687175" y="4967288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155" name="TextBox 154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156" name="TextBox 155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7" name="Picture 15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32366" y="1837563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3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8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94957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29247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Cross-sectional Assessment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978275"/>
            <a:ext cx="8458200" cy="8826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Product Type × Primary Product Function / Benefit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Product Type × Ingredient Type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3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8.1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Product Type × Primary Product Function / Benefit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Snapshot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Share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Opportunity &amp; Attractiveness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3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Snapshot: Product Type × Primary Product Function / Benefit, 2026E vs 2036F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Europe market value (US$ Mn) for each product type sub-segment across primary product function / benefit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Market Value, Product Type × Primary Product Function / Benefit, 2026E and 2036F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5" cy="260984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974459"/>
                <a:gridCol w="557046"/>
                <a:gridCol w="557046"/>
                <a:gridCol w="557046"/>
                <a:gridCol w="557046"/>
                <a:gridCol w="557046"/>
                <a:gridCol w="557046"/>
                <a:gridCol w="557046"/>
                <a:gridCol w="557046"/>
                <a:gridCol w="557046"/>
                <a:gridCol w="557046"/>
                <a:gridCol w="557046"/>
                <a:gridCol w="557046"/>
                <a:gridCol w="557046"/>
                <a:gridCol w="557046"/>
                <a:gridCol w="557046"/>
                <a:gridCol w="557046"/>
              </a:tblGrid>
              <a:tr h="631697">
                <a:tc rowSpan="2"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Cleansing &amp;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General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Moisturizing &amp;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Skin Barrier 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Skin Soothing &amp;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Comfort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Coat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Conditioning &amp;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Softening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Dental &amp; Oral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Body &amp; Coat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Odor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Management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Ear &amp; Eye-Area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269">
                <a:tc vMerge="1"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8576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4191000"/>
            <a:ext cx="11906250" cy="2438400"/>
          </a:xfrm>
          <a:prstGeom prst="roundRect">
            <a:avLst>
              <a:gd name="adj" fmla="val 31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427672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Findings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451485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4600575"/>
            <a:ext cx="11639550" cy="19526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96536" y="2715958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4610100"/>
            <a:ext cx="628845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 Products' accounts for the largest share of the Europe market by product type (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13838" y="4599876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6688947" y="4610100"/>
            <a:ext cx="5825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Mn,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220627" y="459987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7395736" y="4610100"/>
            <a:ext cx="391600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 2026E), with 'Cleansing &amp; General Hygiene' its leading primary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4785360"/>
            <a:ext cx="257787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product function / benefit sub-segment at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03255" y="4775136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978364" y="4785360"/>
            <a:ext cx="58281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5013197"/>
            <a:ext cx="638259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 Products × Cleansing &amp; General Hygiene' is the single largest cross-sectional cell (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607972" y="5002974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6783081" y="5013197"/>
            <a:ext cx="472926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Mn, 2026E), while 'Shampoos &amp; Cleansing Products × Coat Conditioning &amp;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76225" y="5188457"/>
            <a:ext cx="305594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Softening' records the fastest growth at a CAGR of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281323" y="5178234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3456432" y="5188457"/>
            <a:ext cx="121700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over 2026E–2036F.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276225" y="5416295"/>
            <a:ext cx="720298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Combined, the top three product type × primary product function / benefit cells generate an absolute $ opportunity of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428362" y="5406072"/>
            <a:ext cx="134549" cy="195707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7603471" y="5416295"/>
            <a:ext cx="115538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by 2036F.</a:t>
            </a:r>
          </a:p>
        </p:txBody>
      </p:sp>
    </p:spTree>
  </p:cSld>
  <p:clrMapOvr>
    <a:masterClrMapping/>
  </p:clrMapOvr>
</p:sld>
</file>

<file path=ppt/slides/slide13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Share Analysis: Product Type × Primary Product Function / Benefit, 2026E (1/4)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% share of Europe market value, each row split across all primary product function / benefit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828925"/>
          </a:xfrm>
          <a:prstGeom prst="roundRect">
            <a:avLst>
              <a:gd name="adj" fmla="val 269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Share, Product Type × Primary Product Function / Benefit, 2026E (% of each row)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8" cy="236220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510861"/>
                <a:gridCol w="1271490"/>
                <a:gridCol w="1450585"/>
                <a:gridCol w="1122194"/>
                <a:gridCol w="1407725"/>
                <a:gridCol w="1026819"/>
                <a:gridCol w="1484437"/>
                <a:gridCol w="1069281"/>
                <a:gridCol w="543806"/>
              </a:tblGrid>
              <a:tr h="6316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Cleansing &amp; General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Moisturizing &amp; Skin Barrier 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Skin Soothing &amp; Comfort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Coat Conditioning &amp; Softening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Dental &amp; Oral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Body &amp; Coat Odor Management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Ear &amp; Eye-Area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21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1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1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1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1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1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1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6099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943350"/>
            <a:ext cx="7286625" cy="2686050"/>
          </a:xfrm>
          <a:prstGeom prst="roundRect">
            <a:avLst>
              <a:gd name="adj" fmla="val 28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4000500"/>
            <a:ext cx="70961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Primary Product Function / Benefit Mix by Product Type, 2026E (% share)</a:t>
            </a:r>
          </a:p>
        </p:txBody>
      </p:sp>
      <p:graphicFrame>
        <p:nvGraphicFramePr>
          <p:cNvPr id="17" name="Chart 16"/>
          <p:cNvGraphicFramePr>
            <a:graphicFrameLocks noGrp="1"/>
          </p:cNvGraphicFramePr>
          <p:nvPr/>
        </p:nvGraphicFramePr>
        <p:xfrm>
          <a:off x="238125" y="4229100"/>
          <a:ext cx="7096125" cy="234315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8" name="Rounded Rectangle 17"/>
          <p:cNvSpPr/>
          <p:nvPr/>
        </p:nvSpPr>
        <p:spPr>
          <a:xfrm>
            <a:off x="7581900" y="3943350"/>
            <a:ext cx="4457700" cy="2686050"/>
          </a:xfrm>
          <a:prstGeom prst="roundRect">
            <a:avLst>
              <a:gd name="adj" fmla="val 28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7715250" y="4029075"/>
            <a:ext cx="4191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Share Insights</a:t>
            </a:r>
          </a:p>
        </p:txBody>
      </p:sp>
      <p:sp>
        <p:nvSpPr>
          <p:cNvPr id="20" name="Rectangle 19"/>
          <p:cNvSpPr/>
          <p:nvPr/>
        </p:nvSpPr>
        <p:spPr>
          <a:xfrm>
            <a:off x="7715250" y="4267200"/>
            <a:ext cx="41910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715250" y="4352925"/>
            <a:ext cx="4191000" cy="220027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164739" y="2468500"/>
            <a:ext cx="366712" cy="533400"/>
          </a:xfrm>
          <a:prstGeom prst="rect">
            <a:avLst/>
          </a:prstGeom>
        </p:spPr>
      </p:pic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775138" y="4700397"/>
            <a:ext cx="311705" cy="453389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7715250" y="4362450"/>
            <a:ext cx="385010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'Cleansing &amp; General Hygiene' holds the highest share of 'Coat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715250" y="4537710"/>
            <a:ext cx="23351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Conditioning &amp; Grooming Products' at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999529" y="4527486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10174638" y="4537710"/>
            <a:ext cx="56940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(2026E).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7715250" y="4765547"/>
            <a:ext cx="412395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'Coat Conditioning &amp; Grooming Products' is the most concentrated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7715250" y="4940807"/>
            <a:ext cx="197884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product type sub-segment, with</a:t>
            </a:r>
          </a:p>
        </p:txBody>
      </p:sp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43247" y="4930584"/>
            <a:ext cx="134549" cy="195707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9818356" y="4940807"/>
            <a:ext cx="16901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its value via 'Cleansing &amp;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7715250" y="5116067"/>
            <a:ext cx="112907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General Hygiene'.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7715250" y="5343905"/>
            <a:ext cx="24669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'Coat Conditioning &amp; Softening' gains +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131316" y="5333682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0306426" y="5343905"/>
            <a:ext cx="11998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of share of the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7715250" y="5519165"/>
            <a:ext cx="192129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Europe cross-section by 2036F.</a:t>
            </a:r>
          </a:p>
        </p:txBody>
      </p:sp>
      <p:sp>
        <p:nvSpPr>
          <p:cNvPr id="38" name="lockshield_17"/>
          <p:cNvSpPr/>
          <p:nvPr/>
        </p:nvSpPr>
        <p:spPr>
          <a:xfrm>
            <a:off x="238125" y="4229100"/>
            <a:ext cx="7096125" cy="234315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3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Share Analysis: Product Type × Primary Product Function / Benefit, 2026E (2/4)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% share of Europe market value, each row split across all primary product function / benefit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Share by Primary Product Function / Benefit Sub-segment, Product Type × Primary Product Function / Benefit, 2026E (% of each row) – part 1 of 3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199" cy="26098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510861"/>
                <a:gridCol w="1093963"/>
                <a:gridCol w="1302190"/>
                <a:gridCol w="861357"/>
                <a:gridCol w="989998"/>
                <a:gridCol w="1154757"/>
                <a:gridCol w="967896"/>
                <a:gridCol w="1540798"/>
                <a:gridCol w="1465379"/>
              </a:tblGrid>
              <a:tr h="246126">
                <a:tc rowSpan="2"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Cleansing &amp; General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3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Moisturizing &amp; Skin Barrier 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3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Skin Soothing &amp; Comfort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632841">
                <a:tc vMerge="1"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Dirt &amp; Sebum Removal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Routine Body &amp; Coat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Skin Hydration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Skin Barrier Support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Paw &amp; Nose Protection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Sensitive Skin 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Dryness-Related Discomfort Relief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Coat Conditioning &amp; Grooming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38576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64739" y="2715958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3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Share Analysis: Product Type × Primary Product Function / Benefit, 2026E (3/4)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% share of Europe market value, each row split across all primary product function / benefit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Share by Primary Product Function / Benefit Sub-segment, Product Type × Primary Product Function / Benefit, 2026E (% of each row) – part 2 of 3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199" cy="26098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510861"/>
                <a:gridCol w="752284"/>
                <a:gridCol w="1311447"/>
                <a:gridCol w="1321416"/>
                <a:gridCol w="939992"/>
                <a:gridCol w="805608"/>
                <a:gridCol w="778898"/>
                <a:gridCol w="1017227"/>
                <a:gridCol w="1154759"/>
                <a:gridCol w="1294707"/>
              </a:tblGrid>
              <a:tr h="246126">
                <a:tc rowSpan="2"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4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Coat Conditioning &amp; Softening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3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Dental &amp; Oral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Body &amp; Coat Odor Management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632841">
                <a:tc vMerge="1"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Detangling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Loose-Hair Removal Support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Coat Shine Enhancement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Coat Styling &amp; Hold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Plaque Control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Tartar Control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Breath Freshening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Odor Neutralization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Fragrance Enhancement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38576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64740" y="2715958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3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Share Analysis: Product Type × Primary Product Function / Benefit, 2026E (4/4)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% share of Europe market value, each row split across all primary product function / benefit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2686050"/>
          </a:xfrm>
          <a:prstGeom prst="roundRect">
            <a:avLst>
              <a:gd name="adj" fmla="val 28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Share by Primary Product Function / Benefit Sub-segment, Product Type × Primary Product Function / Benefit, 2026E (% of each row) – part 3 of 3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199" cy="22193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711475"/>
                <a:gridCol w="2391908"/>
                <a:gridCol w="2391908"/>
                <a:gridCol w="2391908"/>
              </a:tblGrid>
              <a:tr h="246126">
                <a:tc rowSpan="2"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3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Ear &amp; Eye-Area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650">
                <a:tc vMerge="1"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Ear Cleansing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Eye-Area Cleansing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Tear-Stain Removal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34671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2_3_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699602" y="1721636"/>
            <a:ext cx="720450" cy="265429"/>
          </a:xfrm>
          <a:prstGeom prst="rect">
            <a:avLst/>
          </a:prstGeom>
        </p:spPr>
      </p:pic>
      <p:pic>
        <p:nvPicPr>
          <p:cNvPr id="16" name="Picture 15" descr="2_5_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091510" y="1721636"/>
            <a:ext cx="720450" cy="265429"/>
          </a:xfrm>
          <a:prstGeom prst="rect">
            <a:avLst/>
          </a:prstGeom>
        </p:spPr>
      </p:pic>
      <p:pic>
        <p:nvPicPr>
          <p:cNvPr id="17" name="Picture 16" descr="2_5_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483418" y="1721636"/>
            <a:ext cx="720450" cy="265429"/>
          </a:xfrm>
          <a:prstGeom prst="rect">
            <a:avLst/>
          </a:prstGeom>
        </p:spPr>
      </p:pic>
      <p:pic>
        <p:nvPicPr>
          <p:cNvPr id="18" name="Picture 17" descr="2_4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699602" y="1968286"/>
            <a:ext cx="720450" cy="265429"/>
          </a:xfrm>
          <a:prstGeom prst="rect">
            <a:avLst/>
          </a:prstGeom>
        </p:spPr>
      </p:pic>
      <p:pic>
        <p:nvPicPr>
          <p:cNvPr id="19" name="Picture 18" descr="2_3_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091510" y="1968286"/>
            <a:ext cx="720450" cy="265429"/>
          </a:xfrm>
          <a:prstGeom prst="rect">
            <a:avLst/>
          </a:prstGeom>
        </p:spPr>
      </p:pic>
      <p:pic>
        <p:nvPicPr>
          <p:cNvPr id="20" name="Picture 19" descr="2_4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483418" y="1968286"/>
            <a:ext cx="720450" cy="265429"/>
          </a:xfrm>
          <a:prstGeom prst="rect">
            <a:avLst/>
          </a:prstGeom>
        </p:spPr>
      </p:pic>
      <p:pic>
        <p:nvPicPr>
          <p:cNvPr id="21" name="Picture 20" descr="2_5_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5699602" y="2214936"/>
            <a:ext cx="720450" cy="265429"/>
          </a:xfrm>
          <a:prstGeom prst="rect">
            <a:avLst/>
          </a:prstGeom>
        </p:spPr>
      </p:pic>
      <p:pic>
        <p:nvPicPr>
          <p:cNvPr id="22" name="Picture 21" descr="2_3_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091510" y="2214936"/>
            <a:ext cx="720450" cy="265429"/>
          </a:xfrm>
          <a:prstGeom prst="rect">
            <a:avLst/>
          </a:prstGeom>
        </p:spPr>
      </p:pic>
      <p:pic>
        <p:nvPicPr>
          <p:cNvPr id="23" name="Picture 22" descr="2_3_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483418" y="2214936"/>
            <a:ext cx="720450" cy="265429"/>
          </a:xfrm>
          <a:prstGeom prst="rect">
            <a:avLst/>
          </a:prstGeom>
        </p:spPr>
      </p:pic>
      <p:pic>
        <p:nvPicPr>
          <p:cNvPr id="24" name="Picture 23" descr="2_4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699602" y="2461586"/>
            <a:ext cx="720450" cy="265429"/>
          </a:xfrm>
          <a:prstGeom prst="rect">
            <a:avLst/>
          </a:prstGeom>
        </p:spPr>
      </p:pic>
      <p:pic>
        <p:nvPicPr>
          <p:cNvPr id="25" name="Picture 24" descr="2_4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091510" y="2461586"/>
            <a:ext cx="720450" cy="265429"/>
          </a:xfrm>
          <a:prstGeom prst="rect">
            <a:avLst/>
          </a:prstGeom>
        </p:spPr>
      </p:pic>
      <p:pic>
        <p:nvPicPr>
          <p:cNvPr id="26" name="Picture 25" descr="2_5_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483418" y="2461586"/>
            <a:ext cx="720450" cy="265429"/>
          </a:xfrm>
          <a:prstGeom prst="rect">
            <a:avLst/>
          </a:prstGeom>
        </p:spPr>
      </p:pic>
      <p:pic>
        <p:nvPicPr>
          <p:cNvPr id="27" name="Picture 26" descr="2_4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699602" y="2708236"/>
            <a:ext cx="720450" cy="265429"/>
          </a:xfrm>
          <a:prstGeom prst="rect">
            <a:avLst/>
          </a:prstGeom>
        </p:spPr>
      </p:pic>
      <p:pic>
        <p:nvPicPr>
          <p:cNvPr id="28" name="Picture 27" descr="2_2_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091510" y="2708236"/>
            <a:ext cx="720450" cy="265429"/>
          </a:xfrm>
          <a:prstGeom prst="rect">
            <a:avLst/>
          </a:prstGeom>
        </p:spPr>
      </p:pic>
      <p:pic>
        <p:nvPicPr>
          <p:cNvPr id="29" name="Picture 28" descr="2_5_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483418" y="2708236"/>
            <a:ext cx="720450" cy="265429"/>
          </a:xfrm>
          <a:prstGeom prst="rect">
            <a:avLst/>
          </a:prstGeom>
        </p:spPr>
      </p:pic>
      <p:pic>
        <p:nvPicPr>
          <p:cNvPr id="30" name="Picture 29" descr="2_3_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699602" y="2954886"/>
            <a:ext cx="720450" cy="265429"/>
          </a:xfrm>
          <a:prstGeom prst="rect">
            <a:avLst/>
          </a:prstGeom>
        </p:spPr>
      </p:pic>
      <p:pic>
        <p:nvPicPr>
          <p:cNvPr id="31" name="Picture 30" descr="2_6_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091510" y="2954886"/>
            <a:ext cx="720450" cy="265429"/>
          </a:xfrm>
          <a:prstGeom prst="rect">
            <a:avLst/>
          </a:prstGeom>
        </p:spPr>
      </p:pic>
      <p:pic>
        <p:nvPicPr>
          <p:cNvPr id="32" name="Picture 31" descr="2_6_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0483418" y="2954886"/>
            <a:ext cx="720450" cy="265429"/>
          </a:xfrm>
          <a:prstGeom prst="rect">
            <a:avLst/>
          </a:prstGeom>
        </p:spPr>
      </p:pic>
      <p:pic>
        <p:nvPicPr>
          <p:cNvPr id="33" name="Picture 32" descr="2_4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699602" y="3201536"/>
            <a:ext cx="720450" cy="265429"/>
          </a:xfrm>
          <a:prstGeom prst="rect">
            <a:avLst/>
          </a:prstGeom>
        </p:spPr>
      </p:pic>
      <p:pic>
        <p:nvPicPr>
          <p:cNvPr id="34" name="Picture 33" descr="2_4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091510" y="3201536"/>
            <a:ext cx="720450" cy="265429"/>
          </a:xfrm>
          <a:prstGeom prst="rect">
            <a:avLst/>
          </a:prstGeom>
        </p:spPr>
      </p:pic>
      <p:pic>
        <p:nvPicPr>
          <p:cNvPr id="35" name="Picture 34" descr="2_5_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483418" y="3201536"/>
            <a:ext cx="720450" cy="265429"/>
          </a:xfrm>
          <a:prstGeom prst="rect">
            <a:avLst/>
          </a:prstGeom>
        </p:spPr>
      </p:pic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8265047" y="2327601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3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Absolute $ Opportunity &amp; Attractiveness: Product Type × Primary Product Function / Benefit, 2026E–2036F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Incremental value 2026E→2036F (US$ Mn) and value CAGR by cell; attractiveness index scored 1–5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Incremental $ Opportunity (US$ Mn) and Value CAGR, Product Type × Primary Product Function / Benefit, 2026E–2036F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2" cy="260984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529330"/>
                <a:gridCol w="584867"/>
                <a:gridCol w="584867"/>
                <a:gridCol w="584867"/>
                <a:gridCol w="584867"/>
                <a:gridCol w="584867"/>
                <a:gridCol w="584867"/>
                <a:gridCol w="584867"/>
                <a:gridCol w="584867"/>
                <a:gridCol w="584867"/>
                <a:gridCol w="584867"/>
                <a:gridCol w="584867"/>
                <a:gridCol w="584867"/>
                <a:gridCol w="584867"/>
                <a:gridCol w="584867"/>
                <a:gridCol w="584867"/>
                <a:gridCol w="584867"/>
              </a:tblGrid>
              <a:tr h="631697">
                <a:tc rowSpan="2"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Cleansing &amp;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General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Moisturizing &amp;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Skin Barrier 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Skin Soothing &amp;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Comfort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Coat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Conditioning &amp;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Softening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Dental &amp; Oral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Body &amp; Coat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Odor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Management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Ear &amp; Eye-Area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269">
                <a:tc vMerge="1"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8576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4191000"/>
            <a:ext cx="5600700" cy="2438400"/>
          </a:xfrm>
          <a:prstGeom prst="roundRect">
            <a:avLst>
              <a:gd name="adj" fmla="val 31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4276725"/>
            <a:ext cx="5334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Top 5 Opportunity Cells (US$ Mn · CAGR · Index)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4514850"/>
            <a:ext cx="53340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4600575"/>
            <a:ext cx="5334000" cy="19526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5895975" y="4191000"/>
            <a:ext cx="1943100" cy="2438400"/>
          </a:xfrm>
          <a:prstGeom prst="roundRect">
            <a:avLst>
              <a:gd name="adj" fmla="val 392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029325" y="4276725"/>
            <a:ext cx="16764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Largest Pool</a:t>
            </a:r>
          </a:p>
        </p:txBody>
      </p:sp>
      <p:sp>
        <p:nvSpPr>
          <p:cNvPr id="21" name="Rectangle 20"/>
          <p:cNvSpPr/>
          <p:nvPr/>
        </p:nvSpPr>
        <p:spPr>
          <a:xfrm>
            <a:off x="6029325" y="4514850"/>
            <a:ext cx="16764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6029325" y="4600575"/>
            <a:ext cx="1676400" cy="19526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7991475" y="4191000"/>
            <a:ext cx="1943100" cy="2438400"/>
          </a:xfrm>
          <a:prstGeom prst="roundRect">
            <a:avLst>
              <a:gd name="adj" fmla="val 392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8124825" y="4276725"/>
            <a:ext cx="16764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Fastest Growth</a:t>
            </a:r>
          </a:p>
        </p:txBody>
      </p:sp>
      <p:sp>
        <p:nvSpPr>
          <p:cNvPr id="25" name="Rectangle 24"/>
          <p:cNvSpPr/>
          <p:nvPr/>
        </p:nvSpPr>
        <p:spPr>
          <a:xfrm>
            <a:off x="8124825" y="4514850"/>
            <a:ext cx="16764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8124825" y="4600575"/>
            <a:ext cx="1676400" cy="19526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10086975" y="4191000"/>
            <a:ext cx="1943100" cy="2438400"/>
          </a:xfrm>
          <a:prstGeom prst="roundRect">
            <a:avLst>
              <a:gd name="adj" fmla="val 392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10220325" y="4276725"/>
            <a:ext cx="16764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Where to Play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220325" y="4514850"/>
            <a:ext cx="16764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0220325" y="4600575"/>
            <a:ext cx="1676400" cy="19526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00" b="0">
                <a:solidFill>
                  <a:srgbClr val="2E2E2E"/>
                </a:solidFill>
                <a:latin typeface="Calibri"/>
              </a:rPr>
              <a:t>'Shampoos &amp; Cleansing Products × Cleansing &amp; General Hygiene' ranks highest (5/5); 'Fragrance &amp; Deodorizing Products × Dental &amp; Oral Hygiene' lowest (1/5), a deprioritised cell.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73976" y="2715958"/>
            <a:ext cx="366712" cy="533400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276225" y="4610100"/>
            <a:ext cx="399734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1. Shampoos &amp; Cleansing Products × Cleansing &amp; General Hygiene –</a:t>
            </a:r>
          </a:p>
        </p:txBody>
      </p:sp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21626" y="4600321"/>
            <a:ext cx="128699" cy="187198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4389122" y="4610100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48571" y="4600321"/>
            <a:ext cx="128699" cy="187198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4616067" y="4610100"/>
            <a:ext cx="33895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 5/5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276225" y="4828032"/>
            <a:ext cx="407374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2. Shampoos &amp; Cleansing Products × Coat Conditioning &amp; Softening –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98024" y="4818253"/>
            <a:ext cx="128699" cy="187198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4465520" y="4828032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24970" y="4818253"/>
            <a:ext cx="128699" cy="187198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4692465" y="4828032"/>
            <a:ext cx="33895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 5/5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276225" y="5045964"/>
            <a:ext cx="444919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3. Coat Conditioning &amp; Grooming Products × Cleansing &amp; General Hygiene –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73468" y="5036184"/>
            <a:ext cx="128699" cy="187198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4840964" y="5045964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46" name="Picture 4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900413" y="5036184"/>
            <a:ext cx="128699" cy="187198"/>
          </a:xfrm>
          <a:prstGeom prst="rect">
            <a:avLst/>
          </a:prstGeom>
        </p:spPr>
      </p:pic>
      <p:sp>
        <p:nvSpPr>
          <p:cNvPr id="47" name="TextBox 46"/>
          <p:cNvSpPr txBox="1"/>
          <p:nvPr/>
        </p:nvSpPr>
        <p:spPr>
          <a:xfrm>
            <a:off x="5067909" y="5045964"/>
            <a:ext cx="33895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 3/5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276225" y="5263896"/>
            <a:ext cx="416924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4. Shampoos &amp; Cleansing Products × Moisturizing &amp; Skin Barrier Care –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393522" y="5254116"/>
            <a:ext cx="128699" cy="187198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4561018" y="5263896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20468" y="5254116"/>
            <a:ext cx="128699" cy="187198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4787963" y="5263896"/>
            <a:ext cx="33895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 5/5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276225" y="5481828"/>
            <a:ext cx="375369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5. Shampoos &amp; Cleansing Products × Skin Soothing &amp; Comfort –</a:t>
            </a:r>
          </a:p>
        </p:txBody>
      </p:sp>
      <p:pic>
        <p:nvPicPr>
          <p:cNvPr id="54" name="Picture 5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977969" y="5472048"/>
            <a:ext cx="128699" cy="187198"/>
          </a:xfrm>
          <a:prstGeom prst="rect">
            <a:avLst/>
          </a:prstGeom>
        </p:spPr>
      </p:pic>
      <p:sp>
        <p:nvSpPr>
          <p:cNvPr id="55" name="TextBox 54"/>
          <p:cNvSpPr txBox="1"/>
          <p:nvPr/>
        </p:nvSpPr>
        <p:spPr>
          <a:xfrm>
            <a:off x="4145465" y="5481828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04915" y="5472048"/>
            <a:ext cx="128699" cy="187198"/>
          </a:xfrm>
          <a:prstGeom prst="rect">
            <a:avLst/>
          </a:prstGeom>
        </p:spPr>
      </p:pic>
      <p:sp>
        <p:nvSpPr>
          <p:cNvPr id="57" name="TextBox 56"/>
          <p:cNvSpPr txBox="1"/>
          <p:nvPr/>
        </p:nvSpPr>
        <p:spPr>
          <a:xfrm>
            <a:off x="4372411" y="5481828"/>
            <a:ext cx="33895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 5/5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6029325" y="4610100"/>
            <a:ext cx="15441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6029325" y="4785360"/>
            <a:ext cx="143999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Products × Cleansing &amp;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6029325" y="4960620"/>
            <a:ext cx="140576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General Hygiene' adds</a:t>
            </a:r>
          </a:p>
        </p:txBody>
      </p:sp>
      <p:pic>
        <p:nvPicPr>
          <p:cNvPr id="61" name="Picture 6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84247" y="4950396"/>
            <a:ext cx="134549" cy="195707"/>
          </a:xfrm>
          <a:prstGeom prst="rect">
            <a:avLst/>
          </a:prstGeom>
        </p:spPr>
      </p:pic>
      <p:sp>
        <p:nvSpPr>
          <p:cNvPr id="62" name="TextBox 61"/>
          <p:cNvSpPr txBox="1"/>
          <p:nvPr/>
        </p:nvSpPr>
        <p:spPr>
          <a:xfrm>
            <a:off x="6029325" y="5135879"/>
            <a:ext cx="122463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by 2036F –</a:t>
            </a:r>
          </a:p>
        </p:txBody>
      </p:sp>
      <p:pic>
        <p:nvPicPr>
          <p:cNvPr id="63" name="Picture 6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203111" y="5125656"/>
            <a:ext cx="134549" cy="195707"/>
          </a:xfrm>
          <a:prstGeom prst="rect">
            <a:avLst/>
          </a:prstGeom>
        </p:spPr>
      </p:pic>
      <p:sp>
        <p:nvSpPr>
          <p:cNvPr id="64" name="TextBox 63"/>
          <p:cNvSpPr txBox="1"/>
          <p:nvPr/>
        </p:nvSpPr>
        <p:spPr>
          <a:xfrm>
            <a:off x="7378220" y="5135879"/>
            <a:ext cx="19771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6029325" y="5311139"/>
            <a:ext cx="136640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the total opportunity.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8124825" y="4610100"/>
            <a:ext cx="15441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8124825" y="4785360"/>
            <a:ext cx="101411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Products × Coat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8124825" y="4960620"/>
            <a:ext cx="159802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Conditioning &amp; Softening'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8124825" y="5135879"/>
            <a:ext cx="68949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grows at a</a:t>
            </a:r>
          </a:p>
        </p:txBody>
      </p:sp>
      <p:pic>
        <p:nvPicPr>
          <p:cNvPr id="70" name="Picture 6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763474" y="5125656"/>
            <a:ext cx="134549" cy="195707"/>
          </a:xfrm>
          <a:prstGeom prst="rect">
            <a:avLst/>
          </a:prstGeom>
        </p:spPr>
      </p:pic>
      <p:sp>
        <p:nvSpPr>
          <p:cNvPr id="71" name="TextBox 70"/>
          <p:cNvSpPr txBox="1"/>
          <p:nvPr/>
        </p:nvSpPr>
        <p:spPr>
          <a:xfrm>
            <a:off x="8938584" y="5135879"/>
            <a:ext cx="44644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CAGR,</a:t>
            </a:r>
          </a:p>
        </p:txBody>
      </p:sp>
      <p:pic>
        <p:nvPicPr>
          <p:cNvPr id="72" name="Picture 7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334179" y="5125656"/>
            <a:ext cx="134549" cy="195707"/>
          </a:xfrm>
          <a:prstGeom prst="rect">
            <a:avLst/>
          </a:prstGeom>
        </p:spPr>
      </p:pic>
      <p:sp>
        <p:nvSpPr>
          <p:cNvPr id="73" name="TextBox 72"/>
          <p:cNvSpPr txBox="1"/>
          <p:nvPr/>
        </p:nvSpPr>
        <p:spPr>
          <a:xfrm>
            <a:off x="8124825" y="5311139"/>
            <a:ext cx="9254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above the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8124825" y="5486399"/>
            <a:ext cx="89002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cross-section.</a:t>
            </a:r>
          </a:p>
        </p:txBody>
      </p:sp>
    </p:spTree>
  </p:cSld>
  <p:clrMapOvr>
    <a:masterClrMapping/>
  </p:clrMapOvr>
</p:sld>
</file>

<file path=ppt/slides/slide13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8.2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Product Type × Ingredient Type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Snapshot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Share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Opportunity &amp; Attractiveness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4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Snapshot: Product Type × Ingredient Type, 2026E vs 2036F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Europe market value (US$ Mn) for each product type sub-segment across ingredient type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876550"/>
          </a:xfrm>
          <a:prstGeom prst="roundRect">
            <a:avLst>
              <a:gd name="adj" fmla="val 26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Market Value, Product Type × Ingredient Type, 2026E and 2036F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3" cy="240982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758283"/>
                <a:gridCol w="891115"/>
                <a:gridCol w="891115"/>
                <a:gridCol w="891115"/>
                <a:gridCol w="891115"/>
                <a:gridCol w="891115"/>
                <a:gridCol w="891115"/>
                <a:gridCol w="891115"/>
                <a:gridCol w="891115"/>
              </a:tblGrid>
              <a:tr h="438912">
                <a:tc rowSpan="2"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Regular / Established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Niche / Specialized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Emerging Ingredients /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Innovation Candidates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64">
                <a:tc vMerge="1"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6576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990975"/>
            <a:ext cx="11906250" cy="2638425"/>
          </a:xfrm>
          <a:prstGeom prst="roundRect">
            <a:avLst>
              <a:gd name="adj" fmla="val 288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407670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Findings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43148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4400550"/>
            <a:ext cx="11639550" cy="21526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288453" y="2519100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4410075"/>
            <a:ext cx="628845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 Products' accounts for the largest share of the Europe market by product type (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13838" y="4399851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6688947" y="4410075"/>
            <a:ext cx="5825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Mn,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220627" y="439985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7395736" y="4410075"/>
            <a:ext cx="43005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 2026E), with 'Regular / Established Ingredients' its leading ingredient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4585335"/>
            <a:ext cx="129508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type sub-segment at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520468" y="4575111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1695578" y="4585335"/>
            <a:ext cx="58281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4813172"/>
            <a:ext cx="662049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 Products × Regular / Established Ingredients' is the single largest cross-sectional cell (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45874" y="4802949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7020983" y="4813172"/>
            <a:ext cx="47968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Mn, 2026E), while 'Shampoos &amp; Cleansing Products × Emerging Ingredients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76225" y="4988432"/>
            <a:ext cx="391227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/ Innovation Candidates' records the fastest growth at a CAGR of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37655" y="4978209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4312764" y="4988432"/>
            <a:ext cx="121700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over 2026E–2036F.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276225" y="5216270"/>
            <a:ext cx="60668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Combined, the top three product type × ingredient type cells generate an absolute $ opportunity of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292196" y="5206047"/>
            <a:ext cx="134549" cy="195707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6467305" y="5216270"/>
            <a:ext cx="115538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by 2036F.</a:t>
            </a:r>
          </a:p>
        </p:txBody>
      </p:sp>
    </p:spTree>
  </p:cSld>
  <p:clrMapOvr>
    <a:masterClrMapping/>
  </p:clrMapOvr>
</p:sld>
</file>

<file path=ppt/slides/slide14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Share Analysis: Product Type × Ingredient Type, 2026E (1/4)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% share of Europe market value, each row split across all ingredient type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438400"/>
          </a:xfrm>
          <a:prstGeom prst="roundRect">
            <a:avLst>
              <a:gd name="adj" fmla="val 31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Share, Product Type × Ingredient Type, 2026E (% of each row)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0" cy="19716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994677"/>
                <a:gridCol w="2494452"/>
                <a:gridCol w="2330635"/>
                <a:gridCol w="3418844"/>
                <a:gridCol w="64859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Regular / Established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Niche / Specialized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Emerging Ingredients / Innovation Candidates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2194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552825"/>
            <a:ext cx="7286625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609975"/>
            <a:ext cx="70961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Ingredient Type Mix by Product Type, 2026E (% share)</a:t>
            </a:r>
          </a:p>
        </p:txBody>
      </p:sp>
      <p:graphicFrame>
        <p:nvGraphicFramePr>
          <p:cNvPr id="17" name="Chart 16"/>
          <p:cNvGraphicFramePr>
            <a:graphicFrameLocks noGrp="1"/>
          </p:cNvGraphicFramePr>
          <p:nvPr/>
        </p:nvGraphicFramePr>
        <p:xfrm>
          <a:off x="238125" y="3838575"/>
          <a:ext cx="7096125" cy="273367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8" name="Rounded Rectangle 17"/>
          <p:cNvSpPr/>
          <p:nvPr/>
        </p:nvSpPr>
        <p:spPr>
          <a:xfrm>
            <a:off x="7581900" y="3552825"/>
            <a:ext cx="4457700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7715250" y="3638550"/>
            <a:ext cx="4191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Share Insights</a:t>
            </a:r>
          </a:p>
        </p:txBody>
      </p:sp>
      <p:sp>
        <p:nvSpPr>
          <p:cNvPr id="20" name="Rectangle 19"/>
          <p:cNvSpPr/>
          <p:nvPr/>
        </p:nvSpPr>
        <p:spPr>
          <a:xfrm>
            <a:off x="7715250" y="3876675"/>
            <a:ext cx="41910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715250" y="3962400"/>
            <a:ext cx="4191000" cy="25908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3" name="Picture 22" descr="57_5_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955869" y="1474914"/>
            <a:ext cx="876864" cy="265429"/>
          </a:xfrm>
          <a:prstGeom prst="rect">
            <a:avLst/>
          </a:prstGeom>
        </p:spPr>
      </p:pic>
      <p:pic>
        <p:nvPicPr>
          <p:cNvPr id="24" name="Picture 23" descr="29_0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368413" y="1474914"/>
            <a:ext cx="876864" cy="265429"/>
          </a:xfrm>
          <a:prstGeom prst="rect">
            <a:avLst/>
          </a:prstGeom>
        </p:spPr>
      </p:pic>
      <p:pic>
        <p:nvPicPr>
          <p:cNvPr id="25" name="Picture 24" descr="13_5_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243152" y="1474914"/>
            <a:ext cx="876864" cy="265429"/>
          </a:xfrm>
          <a:prstGeom prst="rect">
            <a:avLst/>
          </a:prstGeom>
        </p:spPr>
      </p:pic>
      <p:pic>
        <p:nvPicPr>
          <p:cNvPr id="26" name="Picture 25" descr="100_0_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1198663" y="1474914"/>
            <a:ext cx="1033277" cy="265429"/>
          </a:xfrm>
          <a:prstGeom prst="rect">
            <a:avLst/>
          </a:prstGeom>
        </p:spPr>
      </p:pic>
      <p:pic>
        <p:nvPicPr>
          <p:cNvPr id="27" name="Picture 26" descr="57_5_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955869" y="1721421"/>
            <a:ext cx="876864" cy="265429"/>
          </a:xfrm>
          <a:prstGeom prst="rect">
            <a:avLst/>
          </a:prstGeom>
        </p:spPr>
      </p:pic>
      <p:pic>
        <p:nvPicPr>
          <p:cNvPr id="28" name="Picture 27" descr="29_1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368413" y="1721421"/>
            <a:ext cx="876864" cy="265429"/>
          </a:xfrm>
          <a:prstGeom prst="rect">
            <a:avLst/>
          </a:prstGeom>
        </p:spPr>
      </p:pic>
      <p:pic>
        <p:nvPicPr>
          <p:cNvPr id="29" name="Picture 28" descr="13_4_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9243152" y="1721421"/>
            <a:ext cx="876864" cy="265429"/>
          </a:xfrm>
          <a:prstGeom prst="rect">
            <a:avLst/>
          </a:prstGeom>
        </p:spPr>
      </p:pic>
      <p:pic>
        <p:nvPicPr>
          <p:cNvPr id="30" name="Picture 29" descr="100_0_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1198663" y="1721421"/>
            <a:ext cx="1033277" cy="265429"/>
          </a:xfrm>
          <a:prstGeom prst="rect">
            <a:avLst/>
          </a:prstGeom>
        </p:spPr>
      </p:pic>
      <p:pic>
        <p:nvPicPr>
          <p:cNvPr id="31" name="Picture 30" descr="57_4_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3955869" y="1967928"/>
            <a:ext cx="876864" cy="265429"/>
          </a:xfrm>
          <a:prstGeom prst="rect">
            <a:avLst/>
          </a:prstGeom>
        </p:spPr>
      </p:pic>
      <p:pic>
        <p:nvPicPr>
          <p:cNvPr id="32" name="Picture 31" descr="29_1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368413" y="1967928"/>
            <a:ext cx="876864" cy="265429"/>
          </a:xfrm>
          <a:prstGeom prst="rect">
            <a:avLst/>
          </a:prstGeom>
        </p:spPr>
      </p:pic>
      <p:pic>
        <p:nvPicPr>
          <p:cNvPr id="33" name="Picture 32" descr="13_4_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9243152" y="1967928"/>
            <a:ext cx="876864" cy="265429"/>
          </a:xfrm>
          <a:prstGeom prst="rect">
            <a:avLst/>
          </a:prstGeom>
        </p:spPr>
      </p:pic>
      <p:pic>
        <p:nvPicPr>
          <p:cNvPr id="34" name="Picture 33" descr="100_0_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1198663" y="1967928"/>
            <a:ext cx="1033277" cy="265429"/>
          </a:xfrm>
          <a:prstGeom prst="rect">
            <a:avLst/>
          </a:prstGeom>
        </p:spPr>
      </p:pic>
      <p:pic>
        <p:nvPicPr>
          <p:cNvPr id="35" name="Picture 34" descr="58_0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3955869" y="2214435"/>
            <a:ext cx="876864" cy="265429"/>
          </a:xfrm>
          <a:prstGeom prst="rect">
            <a:avLst/>
          </a:prstGeom>
        </p:spPr>
      </p:pic>
      <p:pic>
        <p:nvPicPr>
          <p:cNvPr id="36" name="Picture 35" descr="28_7_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6368413" y="2214435"/>
            <a:ext cx="876864" cy="265429"/>
          </a:xfrm>
          <a:prstGeom prst="rect">
            <a:avLst/>
          </a:prstGeom>
        </p:spPr>
      </p:pic>
      <p:pic>
        <p:nvPicPr>
          <p:cNvPr id="37" name="Picture 36" descr="13_3_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9243152" y="2214435"/>
            <a:ext cx="876864" cy="265429"/>
          </a:xfrm>
          <a:prstGeom prst="rect">
            <a:avLst/>
          </a:prstGeom>
        </p:spPr>
      </p:pic>
      <p:pic>
        <p:nvPicPr>
          <p:cNvPr id="38" name="Picture 37" descr="100_0_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1198663" y="2214435"/>
            <a:ext cx="1033277" cy="265429"/>
          </a:xfrm>
          <a:prstGeom prst="rect">
            <a:avLst/>
          </a:prstGeom>
        </p:spPr>
      </p:pic>
      <p:pic>
        <p:nvPicPr>
          <p:cNvPr id="39" name="Picture 38" descr="57_4_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3955869" y="2460942"/>
            <a:ext cx="876864" cy="265429"/>
          </a:xfrm>
          <a:prstGeom prst="rect">
            <a:avLst/>
          </a:prstGeom>
        </p:spPr>
      </p:pic>
      <p:pic>
        <p:nvPicPr>
          <p:cNvPr id="40" name="Picture 39" descr="29_2_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6368413" y="2460942"/>
            <a:ext cx="876864" cy="265429"/>
          </a:xfrm>
          <a:prstGeom prst="rect">
            <a:avLst/>
          </a:prstGeom>
        </p:spPr>
      </p:pic>
      <p:pic>
        <p:nvPicPr>
          <p:cNvPr id="41" name="Picture 40" descr="13_4_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9243152" y="2460942"/>
            <a:ext cx="876864" cy="265429"/>
          </a:xfrm>
          <a:prstGeom prst="rect">
            <a:avLst/>
          </a:prstGeom>
        </p:spPr>
      </p:pic>
      <p:pic>
        <p:nvPicPr>
          <p:cNvPr id="42" name="Picture 41" descr="100_0_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1198663" y="2460942"/>
            <a:ext cx="1033277" cy="265429"/>
          </a:xfrm>
          <a:prstGeom prst="rect">
            <a:avLst/>
          </a:prstGeom>
        </p:spPr>
      </p:pic>
      <p:pic>
        <p:nvPicPr>
          <p:cNvPr id="43" name="Picture 42" descr="56_9__605E5C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3955869" y="2707449"/>
            <a:ext cx="876864" cy="265429"/>
          </a:xfrm>
          <a:prstGeom prst="rect">
            <a:avLst/>
          </a:prstGeom>
        </p:spPr>
      </p:pic>
      <p:pic>
        <p:nvPicPr>
          <p:cNvPr id="44" name="Picture 43" descr="29_9__605E5C.png"/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6368413" y="2707449"/>
            <a:ext cx="876864" cy="265429"/>
          </a:xfrm>
          <a:prstGeom prst="rect">
            <a:avLst/>
          </a:prstGeom>
        </p:spPr>
      </p:pic>
      <p:pic>
        <p:nvPicPr>
          <p:cNvPr id="45" name="Picture 44" descr="13_2__605E5C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9243152" y="2707449"/>
            <a:ext cx="876864" cy="265429"/>
          </a:xfrm>
          <a:prstGeom prst="rect">
            <a:avLst/>
          </a:prstGeom>
        </p:spPr>
      </p:pic>
      <p:pic>
        <p:nvPicPr>
          <p:cNvPr id="46" name="Picture 45" descr="100_0_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1198663" y="2707449"/>
            <a:ext cx="1033277" cy="265429"/>
          </a:xfrm>
          <a:prstGeom prst="rect">
            <a:avLst/>
          </a:prstGeom>
        </p:spPr>
      </p:pic>
      <p:pic>
        <p:nvPicPr>
          <p:cNvPr id="47" name="Picture 46" descr="57_5_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955869" y="2953956"/>
            <a:ext cx="876864" cy="265429"/>
          </a:xfrm>
          <a:prstGeom prst="rect">
            <a:avLst/>
          </a:prstGeom>
        </p:spPr>
      </p:pic>
      <p:pic>
        <p:nvPicPr>
          <p:cNvPr id="48" name="Picture 47" descr="29_1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368413" y="2953956"/>
            <a:ext cx="876864" cy="265429"/>
          </a:xfrm>
          <a:prstGeom prst="rect">
            <a:avLst/>
          </a:prstGeom>
        </p:spPr>
      </p:pic>
      <p:pic>
        <p:nvPicPr>
          <p:cNvPr id="49" name="Picture 48" descr="13_4_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9243152" y="2953956"/>
            <a:ext cx="876864" cy="265429"/>
          </a:xfrm>
          <a:prstGeom prst="rect">
            <a:avLst/>
          </a:prstGeom>
        </p:spPr>
      </p:pic>
      <p:pic>
        <p:nvPicPr>
          <p:cNvPr id="50" name="Picture 49" descr="100_0_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1198663" y="2953956"/>
            <a:ext cx="1033277" cy="265429"/>
          </a:xfrm>
          <a:prstGeom prst="rect">
            <a:avLst/>
          </a:prstGeom>
        </p:spPr>
      </p:pic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7406648" y="2080450"/>
            <a:ext cx="366712" cy="533400"/>
          </a:xfrm>
          <a:prstGeom prst="rect">
            <a:avLst/>
          </a:prstGeom>
        </p:spPr>
      </p:pic>
      <p:pic>
        <p:nvPicPr>
          <p:cNvPr id="52" name="Picture 51" descr="lock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3775138" y="4442650"/>
            <a:ext cx="311705" cy="453389"/>
          </a:xfrm>
          <a:prstGeom prst="rect">
            <a:avLst/>
          </a:prstGeom>
        </p:spPr>
      </p:pic>
      <p:sp>
        <p:nvSpPr>
          <p:cNvPr id="53" name="TextBox 52"/>
          <p:cNvSpPr txBox="1"/>
          <p:nvPr/>
        </p:nvSpPr>
        <p:spPr>
          <a:xfrm>
            <a:off x="7715250" y="3971925"/>
            <a:ext cx="413903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'Regular / Established Ingredients' holds the highest share of 'Ear &amp;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7715250" y="4147185"/>
            <a:ext cx="154377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Eye Hygiene Products' at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9208181" y="4136961"/>
            <a:ext cx="134549" cy="195707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9383291" y="4147185"/>
            <a:ext cx="56940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(2026E).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7715250" y="4375022"/>
            <a:ext cx="417195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'Ear &amp; Eye Hygiene Products' is the most concentrated product type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7715250" y="4550282"/>
            <a:ext cx="117870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sub-segment, with</a:t>
            </a:r>
          </a:p>
        </p:txBody>
      </p:sp>
      <p:pic>
        <p:nvPicPr>
          <p:cNvPr id="59" name="Picture 58" descr="lock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8843110" y="4540059"/>
            <a:ext cx="134549" cy="195707"/>
          </a:xfrm>
          <a:prstGeom prst="rect">
            <a:avLst/>
          </a:prstGeom>
        </p:spPr>
      </p:pic>
      <p:sp>
        <p:nvSpPr>
          <p:cNvPr id="60" name="TextBox 59"/>
          <p:cNvSpPr txBox="1"/>
          <p:nvPr/>
        </p:nvSpPr>
        <p:spPr>
          <a:xfrm>
            <a:off x="9018219" y="4550282"/>
            <a:ext cx="223985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its value via 'Regular / Established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7715250" y="4725542"/>
            <a:ext cx="81728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Ingredients'.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7715250" y="4953380"/>
            <a:ext cx="262494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'Regular / Established Ingredients' gains +</a:t>
            </a:r>
          </a:p>
        </p:txBody>
      </p:sp>
      <p:pic>
        <p:nvPicPr>
          <p:cNvPr id="63" name="Picture 62" descr="lock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10289347" y="4943157"/>
            <a:ext cx="134549" cy="195707"/>
          </a:xfrm>
          <a:prstGeom prst="rect">
            <a:avLst/>
          </a:prstGeom>
        </p:spPr>
      </p:pic>
      <p:sp>
        <p:nvSpPr>
          <p:cNvPr id="64" name="TextBox 63"/>
          <p:cNvSpPr txBox="1"/>
          <p:nvPr/>
        </p:nvSpPr>
        <p:spPr>
          <a:xfrm>
            <a:off x="10464456" y="4953380"/>
            <a:ext cx="11998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of share of the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7715250" y="5128640"/>
            <a:ext cx="192129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Europe cross-section by 2036F.</a:t>
            </a:r>
          </a:p>
        </p:txBody>
      </p:sp>
      <p:sp>
        <p:nvSpPr>
          <p:cNvPr id="66" name="lockshield_17"/>
          <p:cNvSpPr/>
          <p:nvPr/>
        </p:nvSpPr>
        <p:spPr>
          <a:xfrm>
            <a:off x="238125" y="3838575"/>
            <a:ext cx="7096125" cy="27336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4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Share Analysis: Product Type × Ingredient Type, 2026E (2/4)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% share of Europe market value, each row split across all ingredient type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2876550"/>
          </a:xfrm>
          <a:prstGeom prst="roundRect">
            <a:avLst>
              <a:gd name="adj" fmla="val 26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Share by Ingredient Type Sub-segment, Product Type × Ingredient Type, 2026E (% of each row) – part 1 of 3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200" cy="240982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510861"/>
                <a:gridCol w="1533752"/>
                <a:gridCol w="1047865"/>
                <a:gridCol w="600218"/>
                <a:gridCol w="663325"/>
                <a:gridCol w="1116229"/>
                <a:gridCol w="783644"/>
                <a:gridCol w="722852"/>
                <a:gridCol w="668258"/>
                <a:gridCol w="968384"/>
                <a:gridCol w="1271812"/>
              </a:tblGrid>
              <a:tr h="246126">
                <a:tc rowSpan="2"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10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Regular / Established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439150">
                <a:tc vMerge="1"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Cocamidopropyl Betaine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Alkyl Glucosides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Glycerin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Aloe Vera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Colloidal Oatmeal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Coconut Oil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Panthenol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Vitamin 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Hydrated Silica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Sodium Bicarbonate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36576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64740" y="2519100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4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Share Analysis: Product Type × Ingredient Type, 2026E (3/4)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% share of Europe market value, each row split across all ingredient type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Share by Ingredient Type Sub-segment, Product Type × Ingredient Type, 2026E (% of each row) – part 2 of 3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200" cy="26098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510861"/>
                <a:gridCol w="740021"/>
                <a:gridCol w="1670237"/>
                <a:gridCol w="1072805"/>
                <a:gridCol w="1176599"/>
                <a:gridCol w="651724"/>
                <a:gridCol w="1064779"/>
                <a:gridCol w="601949"/>
                <a:gridCol w="536303"/>
                <a:gridCol w="947760"/>
                <a:gridCol w="914162"/>
              </a:tblGrid>
              <a:tr h="246126">
                <a:tc rowSpan="2"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10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Niche / Specialized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632841">
                <a:tc vMerge="1"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Ceramides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Hyaluronic Acid / Sodium Hyaluronate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Chitosan Derivatives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Phytosphingosine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Allantoin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Hydrolyzed Proteins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Jojoba Oil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Zinc Salts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Oral-Care Enzymes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Cyclodextrins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38576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64740" y="2715958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4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Share Analysis: Product Type × Ingredient Type, 2026E (4/4)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% share of Europe market value, each row split across all ingredient type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2876550"/>
          </a:xfrm>
          <a:prstGeom prst="roundRect">
            <a:avLst>
              <a:gd name="adj" fmla="val 26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Share by Ingredient Type Sub-segment, Product Type × Ingredient Type, 2026E (% of each row) – part 3 of 3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199" cy="240982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510861"/>
                <a:gridCol w="700778"/>
                <a:gridCol w="762095"/>
                <a:gridCol w="1364927"/>
                <a:gridCol w="1437905"/>
                <a:gridCol w="1034344"/>
                <a:gridCol w="762095"/>
                <a:gridCol w="477545"/>
                <a:gridCol w="705983"/>
                <a:gridCol w="1153724"/>
                <a:gridCol w="976942"/>
              </a:tblGrid>
              <a:tr h="246126">
                <a:tc rowSpan="2"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10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Emerging Ingredients / Innovation Candidates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439150">
                <a:tc vMerge="1"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Prebiotics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Postbiotics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Live Probiotic Preparations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Sophorolipid Biosurfactants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Hydroxyapatite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Lactoferrin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Ectoin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Beta-Glucan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Plant-Derived Squalane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Bioactive Peptides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36576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64739" y="2519100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4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Absolute $ Opportunity &amp; Attractiveness: Product Type × Ingredient Type, 2026E–2036F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Incremental value 2026E→2036F (US$ Mn) and value CAGR by cell; attractiveness index scored 1–5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876550"/>
          </a:xfrm>
          <a:prstGeom prst="roundRect">
            <a:avLst>
              <a:gd name="adj" fmla="val 26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Incremental $ Opportunity (US$ Mn) and Value CAGR, Product Type × Ingredient Type, 2026E–2036F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9" cy="240982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171135"/>
                <a:gridCol w="964508"/>
                <a:gridCol w="964508"/>
                <a:gridCol w="964508"/>
                <a:gridCol w="964508"/>
                <a:gridCol w="964508"/>
                <a:gridCol w="964508"/>
                <a:gridCol w="964508"/>
                <a:gridCol w="964508"/>
              </a:tblGrid>
              <a:tr h="438912">
                <a:tc rowSpan="2"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Regular / Established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Niche / Specialized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Emerging Ingredients /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Innovation Candidates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64">
                <a:tc vMerge="1"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6576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990975"/>
            <a:ext cx="5600700" cy="2638425"/>
          </a:xfrm>
          <a:prstGeom prst="roundRect">
            <a:avLst>
              <a:gd name="adj" fmla="val 288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4076700"/>
            <a:ext cx="5334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Top 5 Opportunity Cells (US$ Mn · CAGR · Index)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4314825"/>
            <a:ext cx="53340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4400550"/>
            <a:ext cx="5334000" cy="21526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5895975" y="3990975"/>
            <a:ext cx="1943100" cy="2638425"/>
          </a:xfrm>
          <a:prstGeom prst="roundRect">
            <a:avLst>
              <a:gd name="adj" fmla="val 392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029325" y="4076700"/>
            <a:ext cx="16764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Largest Pool</a:t>
            </a:r>
          </a:p>
        </p:txBody>
      </p:sp>
      <p:sp>
        <p:nvSpPr>
          <p:cNvPr id="21" name="Rectangle 20"/>
          <p:cNvSpPr/>
          <p:nvPr/>
        </p:nvSpPr>
        <p:spPr>
          <a:xfrm>
            <a:off x="6029325" y="4314825"/>
            <a:ext cx="16764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6029325" y="4400550"/>
            <a:ext cx="1676400" cy="21526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7991475" y="3990975"/>
            <a:ext cx="1943100" cy="2638425"/>
          </a:xfrm>
          <a:prstGeom prst="roundRect">
            <a:avLst>
              <a:gd name="adj" fmla="val 392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8124825" y="4076700"/>
            <a:ext cx="16764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Fastest Growth</a:t>
            </a:r>
          </a:p>
        </p:txBody>
      </p:sp>
      <p:sp>
        <p:nvSpPr>
          <p:cNvPr id="25" name="Rectangle 24"/>
          <p:cNvSpPr/>
          <p:nvPr/>
        </p:nvSpPr>
        <p:spPr>
          <a:xfrm>
            <a:off x="8124825" y="4314825"/>
            <a:ext cx="16764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8124825" y="4400550"/>
            <a:ext cx="1676400" cy="21526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10086975" y="3990975"/>
            <a:ext cx="1943100" cy="2638425"/>
          </a:xfrm>
          <a:prstGeom prst="roundRect">
            <a:avLst>
              <a:gd name="adj" fmla="val 392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10220325" y="4076700"/>
            <a:ext cx="16764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Where to Play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220325" y="4314825"/>
            <a:ext cx="16764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0220325" y="4400550"/>
            <a:ext cx="1676400" cy="21526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00" b="0">
                <a:solidFill>
                  <a:srgbClr val="2E2E2E"/>
                </a:solidFill>
                <a:latin typeface="Calibri"/>
              </a:rPr>
              <a:t>'Shampoos &amp; Cleansing Products × Regular / Established Ingredients' ranks highest (5/5); 'Coat Conditioning &amp; Grooming Products × Emerging Ingredients / Innovation Candidates' lowest (1/5), a deprioritised cell.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994877" y="2519100"/>
            <a:ext cx="366712" cy="533400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276225" y="4410075"/>
            <a:ext cx="422490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1. Shampoos &amp; Cleansing Products × Regular / Established Ingredients –</a:t>
            </a:r>
          </a:p>
        </p:txBody>
      </p:sp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49184" y="4400296"/>
            <a:ext cx="128699" cy="187198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4616680" y="4410075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76129" y="4400296"/>
            <a:ext cx="128699" cy="187198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4843625" y="4410075"/>
            <a:ext cx="33895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 5/5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276225" y="4628007"/>
            <a:ext cx="40996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2. Shampoos &amp; Cleansing Products × Niche / Specialized Ingredients –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323945" y="4618228"/>
            <a:ext cx="128699" cy="187198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4491441" y="4628007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50891" y="4618228"/>
            <a:ext cx="128699" cy="187198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4718386" y="4628007"/>
            <a:ext cx="33895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 5/5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276225" y="4845939"/>
            <a:ext cx="46767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3. Coat Conditioning &amp; Grooming Products × Regular / Established Ingredients –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901026" y="4836160"/>
            <a:ext cx="128699" cy="187198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5068522" y="4845939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46" name="Picture 4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127972" y="4836160"/>
            <a:ext cx="128699" cy="187198"/>
          </a:xfrm>
          <a:prstGeom prst="rect">
            <a:avLst/>
          </a:prstGeom>
        </p:spPr>
      </p:pic>
      <p:sp>
        <p:nvSpPr>
          <p:cNvPr id="47" name="TextBox 46"/>
          <p:cNvSpPr txBox="1"/>
          <p:nvPr/>
        </p:nvSpPr>
        <p:spPr>
          <a:xfrm>
            <a:off x="5295467" y="4845939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276225" y="5013579"/>
            <a:ext cx="27210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3/5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276225" y="5231511"/>
            <a:ext cx="420962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4. Skin, Paw &amp; Nose Care Products × Regular / Established Ingredients –</a:t>
            </a:r>
          </a:p>
        </p:txBody>
      </p:sp>
      <p:pic>
        <p:nvPicPr>
          <p:cNvPr id="50" name="Picture 4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33904" y="5221731"/>
            <a:ext cx="128699" cy="187198"/>
          </a:xfrm>
          <a:prstGeom prst="rect">
            <a:avLst/>
          </a:prstGeom>
        </p:spPr>
      </p:pic>
      <p:sp>
        <p:nvSpPr>
          <p:cNvPr id="51" name="TextBox 50"/>
          <p:cNvSpPr txBox="1"/>
          <p:nvPr/>
        </p:nvSpPr>
        <p:spPr>
          <a:xfrm>
            <a:off x="4601400" y="5231511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52" name="Picture 5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60850" y="5221731"/>
            <a:ext cx="128699" cy="187198"/>
          </a:xfrm>
          <a:prstGeom prst="rect">
            <a:avLst/>
          </a:prstGeom>
        </p:spPr>
      </p:pic>
      <p:sp>
        <p:nvSpPr>
          <p:cNvPr id="53" name="TextBox 52"/>
          <p:cNvSpPr txBox="1"/>
          <p:nvPr/>
        </p:nvSpPr>
        <p:spPr>
          <a:xfrm>
            <a:off x="4828346" y="5231511"/>
            <a:ext cx="33895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 4/5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276225" y="5449443"/>
            <a:ext cx="399789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5. Dental &amp; Oral Care Products × Regular / Established Ingredients –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22172" y="5439663"/>
            <a:ext cx="128699" cy="187198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4389667" y="5449443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57" name="Picture 5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49117" y="5439663"/>
            <a:ext cx="128699" cy="187198"/>
          </a:xfrm>
          <a:prstGeom prst="rect">
            <a:avLst/>
          </a:prstGeom>
        </p:spPr>
      </p:pic>
      <p:sp>
        <p:nvSpPr>
          <p:cNvPr id="58" name="TextBox 57"/>
          <p:cNvSpPr txBox="1"/>
          <p:nvPr/>
        </p:nvSpPr>
        <p:spPr>
          <a:xfrm>
            <a:off x="4616613" y="5449443"/>
            <a:ext cx="33895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 4/5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6029325" y="4410075"/>
            <a:ext cx="15441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6029325" y="4585335"/>
            <a:ext cx="128196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Products × Regular /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6029325" y="4760595"/>
            <a:ext cx="148820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Established Ingredients'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6029325" y="4935854"/>
            <a:ext cx="35660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adds</a:t>
            </a:r>
          </a:p>
        </p:txBody>
      </p:sp>
      <p:pic>
        <p:nvPicPr>
          <p:cNvPr id="63" name="Picture 6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335083" y="4925631"/>
            <a:ext cx="134549" cy="195707"/>
          </a:xfrm>
          <a:prstGeom prst="rect">
            <a:avLst/>
          </a:prstGeom>
        </p:spPr>
      </p:pic>
      <p:sp>
        <p:nvSpPr>
          <p:cNvPr id="64" name="TextBox 63"/>
          <p:cNvSpPr txBox="1"/>
          <p:nvPr/>
        </p:nvSpPr>
        <p:spPr>
          <a:xfrm>
            <a:off x="6510192" y="4935854"/>
            <a:ext cx="111880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by 2036F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6029325" y="5111114"/>
            <a:ext cx="14893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–</a:t>
            </a:r>
          </a:p>
        </p:txBody>
      </p:sp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127418" y="5100891"/>
            <a:ext cx="134549" cy="195707"/>
          </a:xfrm>
          <a:prstGeom prst="rect">
            <a:avLst/>
          </a:prstGeom>
        </p:spPr>
      </p:pic>
      <p:sp>
        <p:nvSpPr>
          <p:cNvPr id="67" name="TextBox 66"/>
          <p:cNvSpPr txBox="1"/>
          <p:nvPr/>
        </p:nvSpPr>
        <p:spPr>
          <a:xfrm>
            <a:off x="6302527" y="5111114"/>
            <a:ext cx="74112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total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6029325" y="5286374"/>
            <a:ext cx="82299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opportunity.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8124825" y="4410075"/>
            <a:ext cx="15441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8124825" y="4585335"/>
            <a:ext cx="129993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Products × Emerging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8124825" y="4760595"/>
            <a:ext cx="151045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Ingredients / Innovation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8124825" y="4935854"/>
            <a:ext cx="141518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Candidates' grows at a</a:t>
            </a:r>
          </a:p>
        </p:txBody>
      </p:sp>
      <p:pic>
        <p:nvPicPr>
          <p:cNvPr id="73" name="Picture 7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489160" y="4925631"/>
            <a:ext cx="134549" cy="195707"/>
          </a:xfrm>
          <a:prstGeom prst="rect">
            <a:avLst/>
          </a:prstGeom>
        </p:spPr>
      </p:pic>
      <p:sp>
        <p:nvSpPr>
          <p:cNvPr id="74" name="TextBox 73"/>
          <p:cNvSpPr txBox="1"/>
          <p:nvPr/>
        </p:nvSpPr>
        <p:spPr>
          <a:xfrm>
            <a:off x="8124825" y="5111114"/>
            <a:ext cx="44644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CAGR,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520420" y="5100891"/>
            <a:ext cx="134549" cy="195707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8695529" y="5111114"/>
            <a:ext cx="9254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above the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8124825" y="5286374"/>
            <a:ext cx="89002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cross-section.</a:t>
            </a:r>
          </a:p>
        </p:txBody>
      </p:sp>
    </p:spTree>
  </p:cSld>
  <p:clrMapOvr>
    <a:masterClrMapping/>
  </p:clrMapOvr>
</p:sld>
</file>

<file path=ppt/slides/slide14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A2A63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FMI Section Breaker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0A2A63"/>
              </a:gs>
              <a:gs pos="100000">
                <a:srgbClr val="0F3F8F"/>
              </a:gs>
            </a:gsLst>
            <a:lin scaled="0" ang="195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399064" y="525547"/>
            <a:ext cx="1340395" cy="823424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4" name="Picture 3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5" name="TextBox 4"/>
          <p:cNvSpPr txBox="1"/>
          <p:nvPr/>
        </p:nvSpPr>
        <p:spPr>
          <a:xfrm>
            <a:off x="914400" y="2094865"/>
            <a:ext cx="7239000" cy="24765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400" b="0">
                <a:solidFill>
                  <a:srgbClr val="8FC8F2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6" name="FMI Breaker Title"/>
          <p:cNvSpPr txBox="1"/>
          <p:nvPr/>
        </p:nvSpPr>
        <p:spPr>
          <a:xfrm>
            <a:off x="914400" y="2399665"/>
            <a:ext cx="72390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 cap="all" spc="400">
                <a:solidFill>
                  <a:srgbClr val="FFFFFF"/>
                </a:solidFill>
                <a:latin typeface="Calibri"/>
              </a:rPr>
              <a:t>Country Market Outlook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914400" y="3104515"/>
            <a:ext cx="7124700" cy="308737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</a:t>
            </a:r>
            <a:r>
              <a:rPr sz="2000" b="0">
                <a:solidFill>
                  <a:srgbClr val="FFD447"/>
                </a:solidFill>
                <a:latin typeface="Calibri"/>
              </a:rPr>
              <a:t>Overview (Volume &amp; Value)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</a:t>
            </a:r>
            <a:r>
              <a:rPr sz="2000" b="0">
                <a:solidFill>
                  <a:srgbClr val="FFD447"/>
                </a:solidFill>
                <a:latin typeface="Calibri"/>
              </a:rPr>
              <a:t>Segment Overview (Volume &amp; Value)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Product Type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Ingredient Type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Product Format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Primary Product Function / Benefit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Pet Type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Pack Size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Price Tier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Sales Channels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4000500" y="6734175"/>
            <a:ext cx="8020050" cy="123825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r"/>
            <a:r>
              <a:rPr sz="700" b="0">
                <a:solidFill>
                  <a:srgbClr val="C9DCEE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4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9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Overview (Volume &amp; Value)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Volume Overview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Value Overview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Key Segments (Value)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4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Volume Overview (MT)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Overview of the Germany market in volume: size, growth, YoY momentum and gap to the Europe benchmark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2857500" cy="704850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2025 MARKET SIZE (MT)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estimate year</a:t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3152775" y="981075"/>
            <a:ext cx="2857500" cy="704850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2036 MARKET SIZE (MT)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forecast horizon</a:t>
            </a:r>
          </a:p>
        </p:txBody>
      </p:sp>
      <p:sp>
        <p:nvSpPr>
          <p:cNvPr id="13" name="Rounded Rectangle 12"/>
          <p:cNvSpPr/>
          <p:nvPr/>
        </p:nvSpPr>
        <p:spPr>
          <a:xfrm>
            <a:off x="6162675" y="981075"/>
            <a:ext cx="2857500" cy="704850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H-CAGR (2021–2025)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9172575" y="981075"/>
            <a:ext cx="2857500" cy="704850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F-CAGR (2026–2036)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1819275"/>
            <a:ext cx="4638675" cy="1781175"/>
          </a:xfrm>
          <a:prstGeom prst="roundRect">
            <a:avLst>
              <a:gd name="adj" fmla="val 42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1876425"/>
            <a:ext cx="444817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Volume &amp; YoY Growth</a:t>
            </a:r>
          </a:p>
        </p:txBody>
      </p:sp>
      <p:graphicFrame>
        <p:nvGraphicFramePr>
          <p:cNvPr id="17" name="Chart 16"/>
          <p:cNvGraphicFramePr>
            <a:graphicFrameLocks noGrp="1"/>
          </p:cNvGraphicFramePr>
          <p:nvPr/>
        </p:nvGraphicFramePr>
        <p:xfrm>
          <a:off x="238125" y="2105025"/>
          <a:ext cx="4448175" cy="143827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8" name="Rounded Rectangle 17"/>
          <p:cNvSpPr/>
          <p:nvPr/>
        </p:nvSpPr>
        <p:spPr>
          <a:xfrm>
            <a:off x="4933950" y="1819275"/>
            <a:ext cx="3476625" cy="1781175"/>
          </a:xfrm>
          <a:prstGeom prst="roundRect">
            <a:avLst>
              <a:gd name="adj" fmla="val 42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5029200" y="1876425"/>
            <a:ext cx="32861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CAGR Comparison</a:t>
            </a:r>
          </a:p>
        </p:txBody>
      </p:sp>
      <p:graphicFrame>
        <p:nvGraphicFramePr>
          <p:cNvPr id="20" name="Chart 19"/>
          <p:cNvGraphicFramePr>
            <a:graphicFrameLocks noGrp="1"/>
          </p:cNvGraphicFramePr>
          <p:nvPr/>
        </p:nvGraphicFramePr>
        <p:xfrm>
          <a:off x="5029200" y="2105025"/>
          <a:ext cx="3286125" cy="143827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1" name="Rounded Rectangle 20"/>
          <p:cNvSpPr/>
          <p:nvPr/>
        </p:nvSpPr>
        <p:spPr>
          <a:xfrm>
            <a:off x="8562975" y="1819275"/>
            <a:ext cx="3476625" cy="1781175"/>
          </a:xfrm>
          <a:prstGeom prst="roundRect">
            <a:avLst>
              <a:gd name="adj" fmla="val 42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8658225" y="1876425"/>
            <a:ext cx="32861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Growth Deviation from Regional Benchmark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8658225" y="2363914"/>
            <a:ext cx="3286125" cy="862965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2400" b="1">
                <a:solidFill>
                  <a:srgbClr val="E44D3A"/>
                </a:solidFill>
                <a:latin typeface="Calibri"/>
              </a:rPr>
              <a:t> </a:t>
            </a:r>
          </a:p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vs Europe benchmark</a:t>
            </a:r>
          </a:p>
          <a:p>
            <a:pPr algn="ctr"/>
            <a:r>
              <a:rPr sz="1100" b="1">
                <a:solidFill>
                  <a:srgbClr val="E44D3A"/>
                </a:solidFill>
                <a:latin typeface="Calibri"/>
              </a:rPr>
              <a:t>▼ below benchmark</a:t>
            </a:r>
          </a:p>
        </p:txBody>
      </p:sp>
      <p:sp>
        <p:nvSpPr>
          <p:cNvPr id="24" name="Rounded Rectangle 23"/>
          <p:cNvSpPr/>
          <p:nvPr/>
        </p:nvSpPr>
        <p:spPr>
          <a:xfrm>
            <a:off x="142875" y="3733800"/>
            <a:ext cx="4695825" cy="1781175"/>
          </a:xfrm>
          <a:prstGeom prst="roundRect">
            <a:avLst>
              <a:gd name="adj" fmla="val 42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238125" y="3790950"/>
            <a:ext cx="45053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Forecast Build-up 2026–2036 (MT)</a:t>
            </a:r>
          </a:p>
        </p:txBody>
      </p:sp>
      <p:graphicFrame>
        <p:nvGraphicFramePr>
          <p:cNvPr id="26" name="Chart 25"/>
          <p:cNvGraphicFramePr>
            <a:graphicFrameLocks noGrp="1"/>
          </p:cNvGraphicFramePr>
          <p:nvPr/>
        </p:nvGraphicFramePr>
        <p:xfrm>
          <a:off x="238125" y="4019550"/>
          <a:ext cx="4505325" cy="1438275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7" name="Rounded Rectangle 26"/>
          <p:cNvSpPr/>
          <p:nvPr/>
        </p:nvSpPr>
        <p:spPr>
          <a:xfrm>
            <a:off x="4991100" y="3733800"/>
            <a:ext cx="7048500" cy="1781175"/>
          </a:xfrm>
          <a:prstGeom prst="roundRect">
            <a:avLst>
              <a:gd name="adj" fmla="val 42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5086350" y="3790950"/>
            <a:ext cx="6858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Market Share, 2026</a:t>
            </a:r>
          </a:p>
        </p:txBody>
      </p:sp>
      <p:graphicFrame>
        <p:nvGraphicFramePr>
          <p:cNvPr id="29" name="Chart 28"/>
          <p:cNvGraphicFramePr>
            <a:graphicFrameLocks noGrp="1"/>
          </p:cNvGraphicFramePr>
          <p:nvPr/>
        </p:nvGraphicFramePr>
        <p:xfrm>
          <a:off x="5086350" y="4019550"/>
          <a:ext cx="6858000" cy="1438275"/>
        </p:xfrm>
        <a:graphic>
          <a:graphicData uri="http://schemas.openxmlformats.org/drawingml/2006/chart">
            <c:chart xmlns:c="http://schemas.openxmlformats.org/drawingml/2006/chart" r:id="rId6"/>
          </a:graphicData>
        </a:graphic>
      </p:graphicFrame>
      <p:sp>
        <p:nvSpPr>
          <p:cNvPr id="30" name="Rounded Rectangle 29"/>
          <p:cNvSpPr/>
          <p:nvPr/>
        </p:nvSpPr>
        <p:spPr>
          <a:xfrm>
            <a:off x="142875" y="5648325"/>
            <a:ext cx="3943350" cy="971550"/>
          </a:xfrm>
          <a:prstGeom prst="roundRect">
            <a:avLst>
              <a:gd name="adj" fmla="val 784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1" name="Rounded Rectangle 30"/>
          <p:cNvSpPr/>
          <p:nvPr/>
        </p:nvSpPr>
        <p:spPr>
          <a:xfrm>
            <a:off x="4238625" y="5648325"/>
            <a:ext cx="3819525" cy="971550"/>
          </a:xfrm>
          <a:prstGeom prst="roundRect">
            <a:avLst>
              <a:gd name="adj" fmla="val 784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2" name="Rounded Rectangle 31"/>
          <p:cNvSpPr/>
          <p:nvPr/>
        </p:nvSpPr>
        <p:spPr>
          <a:xfrm>
            <a:off x="8210550" y="5648325"/>
            <a:ext cx="3819525" cy="971550"/>
          </a:xfrm>
          <a:prstGeom prst="roundRect">
            <a:avLst>
              <a:gd name="adj" fmla="val 784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493044" y="1219200"/>
            <a:ext cx="157162" cy="228600"/>
          </a:xfrm>
          <a:prstGeom prst="rect">
            <a:avLst/>
          </a:prstGeom>
        </p:spPr>
      </p:pic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4502944" y="1219200"/>
            <a:ext cx="157162" cy="228600"/>
          </a:xfrm>
          <a:prstGeom prst="rect">
            <a:avLst/>
          </a:prstGeom>
        </p:spPr>
      </p:pic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7512844" y="1303020"/>
            <a:ext cx="157162" cy="228600"/>
          </a:xfrm>
          <a:prstGeom prst="rect">
            <a:avLst/>
          </a:prstGeom>
        </p:spPr>
      </p:pic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0522744" y="1303020"/>
            <a:ext cx="157162" cy="228600"/>
          </a:xfrm>
          <a:prstGeom prst="rect">
            <a:avLst/>
          </a:prstGeom>
        </p:spPr>
      </p:pic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16505" y="2509837"/>
            <a:ext cx="183356" cy="266700"/>
          </a:xfrm>
          <a:prstGeom prst="rect">
            <a:avLst/>
          </a:prstGeom>
        </p:spPr>
      </p:pic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0175557" y="2444876"/>
            <a:ext cx="251459" cy="365759"/>
          </a:xfrm>
          <a:prstGeom prst="rect">
            <a:avLst/>
          </a:prstGeom>
        </p:spPr>
      </p:pic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45080" y="4562475"/>
            <a:ext cx="183356" cy="266700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257175" y="5966460"/>
            <a:ext cx="306638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Germany's pet cosmetic products market expands at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271606" y="5956680"/>
            <a:ext cx="128699" cy="187198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3439102" y="5966460"/>
            <a:ext cx="39541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257175" y="6134100"/>
            <a:ext cx="279161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through 2036, trailing the Europe benchmark of</a:t>
            </a:r>
          </a:p>
        </p:txBody>
      </p:sp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996845" y="6124320"/>
            <a:ext cx="128699" cy="187198"/>
          </a:xfrm>
          <a:prstGeom prst="rect">
            <a:avLst/>
          </a:prstGeom>
        </p:spPr>
      </p:pic>
      <p:sp>
        <p:nvSpPr>
          <p:cNvPr id="46" name="TextBox 45"/>
          <p:cNvSpPr txBox="1"/>
          <p:nvPr/>
        </p:nvSpPr>
        <p:spPr>
          <a:xfrm>
            <a:off x="3164341" y="6134100"/>
            <a:ext cx="2128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by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325291" y="6124320"/>
            <a:ext cx="128699" cy="187198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3492787" y="6134100"/>
            <a:ext cx="32394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4352925" y="5966460"/>
            <a:ext cx="93677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Germany holds</a:t>
            </a:r>
          </a:p>
        </p:txBody>
      </p:sp>
      <p:pic>
        <p:nvPicPr>
          <p:cNvPr id="50" name="Picture 49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5237750" y="5956680"/>
            <a:ext cx="128699" cy="187198"/>
          </a:xfrm>
          <a:prstGeom prst="rect">
            <a:avLst/>
          </a:prstGeom>
        </p:spPr>
      </p:pic>
      <p:sp>
        <p:nvSpPr>
          <p:cNvPr id="51" name="TextBox 50"/>
          <p:cNvSpPr txBox="1"/>
          <p:nvPr/>
        </p:nvSpPr>
        <p:spPr>
          <a:xfrm>
            <a:off x="5405246" y="5966460"/>
            <a:ext cx="214796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the Europe pet cosmetic products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4352925" y="6134100"/>
            <a:ext cx="262436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market in 2026; by 2036 that share moves to</a:t>
            </a:r>
          </a:p>
        </p:txBody>
      </p:sp>
      <p:pic>
        <p:nvPicPr>
          <p:cNvPr id="53" name="Picture 52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6925337" y="6124320"/>
            <a:ext cx="128699" cy="187198"/>
          </a:xfrm>
          <a:prstGeom prst="rect">
            <a:avLst/>
          </a:prstGeom>
        </p:spPr>
      </p:pic>
      <p:sp>
        <p:nvSpPr>
          <p:cNvPr id="54" name="TextBox 53"/>
          <p:cNvSpPr txBox="1"/>
          <p:nvPr/>
        </p:nvSpPr>
        <p:spPr>
          <a:xfrm>
            <a:off x="7092833" y="6134100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8324850" y="5882640"/>
            <a:ext cx="158697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The forecast build-up adds</a:t>
            </a:r>
          </a:p>
        </p:txBody>
      </p:sp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859880" y="5872860"/>
            <a:ext cx="128699" cy="187198"/>
          </a:xfrm>
          <a:prstGeom prst="rect">
            <a:avLst/>
          </a:prstGeom>
        </p:spPr>
      </p:pic>
      <p:sp>
        <p:nvSpPr>
          <p:cNvPr id="57" name="TextBox 56"/>
          <p:cNvSpPr txBox="1"/>
          <p:nvPr/>
        </p:nvSpPr>
        <p:spPr>
          <a:xfrm>
            <a:off x="10027376" y="5882640"/>
            <a:ext cx="167401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MT between 2026 and 2036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8324850" y="6050280"/>
            <a:ext cx="17850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the Germany market grows to</a:t>
            </a:r>
          </a:p>
        </p:txBody>
      </p:sp>
      <p:pic>
        <p:nvPicPr>
          <p:cNvPr id="59" name="Picture 58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0057970" y="6040501"/>
            <a:ext cx="128699" cy="187198"/>
          </a:xfrm>
          <a:prstGeom prst="rect">
            <a:avLst/>
          </a:prstGeom>
        </p:spPr>
      </p:pic>
      <p:sp>
        <p:nvSpPr>
          <p:cNvPr id="60" name="TextBox 59"/>
          <p:cNvSpPr txBox="1"/>
          <p:nvPr/>
        </p:nvSpPr>
        <p:spPr>
          <a:xfrm>
            <a:off x="10225466" y="6050280"/>
            <a:ext cx="137797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× its 2026 size over the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8324850" y="6217920"/>
            <a:ext cx="52340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decade.</a:t>
            </a:r>
          </a:p>
        </p:txBody>
      </p:sp>
      <p:sp>
        <p:nvSpPr>
          <p:cNvPr id="62" name="lockshield_17"/>
          <p:cNvSpPr/>
          <p:nvPr/>
        </p:nvSpPr>
        <p:spPr>
          <a:xfrm>
            <a:off x="238125" y="2105025"/>
            <a:ext cx="4448175" cy="14382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lockshield_20"/>
          <p:cNvSpPr/>
          <p:nvPr/>
        </p:nvSpPr>
        <p:spPr>
          <a:xfrm>
            <a:off x="5029200" y="2105025"/>
            <a:ext cx="3286125" cy="14382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lockshield_26"/>
          <p:cNvSpPr/>
          <p:nvPr/>
        </p:nvSpPr>
        <p:spPr>
          <a:xfrm>
            <a:off x="238125" y="4019550"/>
            <a:ext cx="4505325" cy="14382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lockshield_29"/>
          <p:cNvSpPr/>
          <p:nvPr/>
        </p:nvSpPr>
        <p:spPr>
          <a:xfrm>
            <a:off x="5086350" y="4019550"/>
            <a:ext cx="6858000" cy="14382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4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Value Overview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Overview of the Germany market in value: size, growth, YoY momentum and gap to the Europe benchmark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2857500" cy="704850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2025 MARKET SIZE (US$ MN)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estimate year</a:t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3152775" y="981075"/>
            <a:ext cx="2857500" cy="704850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2036 MARKET SIZE (US$ MN)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forecast horizon</a:t>
            </a:r>
          </a:p>
        </p:txBody>
      </p:sp>
      <p:sp>
        <p:nvSpPr>
          <p:cNvPr id="13" name="Rounded Rectangle 12"/>
          <p:cNvSpPr/>
          <p:nvPr/>
        </p:nvSpPr>
        <p:spPr>
          <a:xfrm>
            <a:off x="6162675" y="981075"/>
            <a:ext cx="2857500" cy="704850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H-CAGR (2021–2025)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9172575" y="981075"/>
            <a:ext cx="2857500" cy="704850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F-CAGR (2026–2036)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1819275"/>
            <a:ext cx="4638675" cy="1781175"/>
          </a:xfrm>
          <a:prstGeom prst="roundRect">
            <a:avLst>
              <a:gd name="adj" fmla="val 42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1876425"/>
            <a:ext cx="444817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 &amp; YoY Growth</a:t>
            </a:r>
          </a:p>
        </p:txBody>
      </p:sp>
      <p:graphicFrame>
        <p:nvGraphicFramePr>
          <p:cNvPr id="17" name="Chart 16"/>
          <p:cNvGraphicFramePr>
            <a:graphicFrameLocks noGrp="1"/>
          </p:cNvGraphicFramePr>
          <p:nvPr/>
        </p:nvGraphicFramePr>
        <p:xfrm>
          <a:off x="238125" y="2105025"/>
          <a:ext cx="4448175" cy="143827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8" name="Rounded Rectangle 17"/>
          <p:cNvSpPr/>
          <p:nvPr/>
        </p:nvSpPr>
        <p:spPr>
          <a:xfrm>
            <a:off x="4933950" y="1819275"/>
            <a:ext cx="3476625" cy="1781175"/>
          </a:xfrm>
          <a:prstGeom prst="roundRect">
            <a:avLst>
              <a:gd name="adj" fmla="val 42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5029200" y="1876425"/>
            <a:ext cx="32861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CAGR Comparison</a:t>
            </a:r>
          </a:p>
        </p:txBody>
      </p:sp>
      <p:graphicFrame>
        <p:nvGraphicFramePr>
          <p:cNvPr id="20" name="Chart 19"/>
          <p:cNvGraphicFramePr>
            <a:graphicFrameLocks noGrp="1"/>
          </p:cNvGraphicFramePr>
          <p:nvPr/>
        </p:nvGraphicFramePr>
        <p:xfrm>
          <a:off x="5029200" y="2105025"/>
          <a:ext cx="3286125" cy="143827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1" name="Rounded Rectangle 20"/>
          <p:cNvSpPr/>
          <p:nvPr/>
        </p:nvSpPr>
        <p:spPr>
          <a:xfrm>
            <a:off x="8562975" y="1819275"/>
            <a:ext cx="3476625" cy="1781175"/>
          </a:xfrm>
          <a:prstGeom prst="roundRect">
            <a:avLst>
              <a:gd name="adj" fmla="val 42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8658225" y="1876425"/>
            <a:ext cx="32861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Growth Deviation from Regional Benchmark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8658225" y="2363914"/>
            <a:ext cx="3286125" cy="862965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2400" b="1">
                <a:solidFill>
                  <a:srgbClr val="E44D3A"/>
                </a:solidFill>
                <a:latin typeface="Calibri"/>
              </a:rPr>
              <a:t> </a:t>
            </a:r>
          </a:p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vs Europe benchmark</a:t>
            </a:r>
          </a:p>
          <a:p>
            <a:pPr algn="ctr"/>
            <a:r>
              <a:rPr sz="1100" b="1">
                <a:solidFill>
                  <a:srgbClr val="E44D3A"/>
                </a:solidFill>
                <a:latin typeface="Calibri"/>
              </a:rPr>
              <a:t>▼ below benchmark</a:t>
            </a:r>
          </a:p>
        </p:txBody>
      </p:sp>
      <p:sp>
        <p:nvSpPr>
          <p:cNvPr id="24" name="Rounded Rectangle 23"/>
          <p:cNvSpPr/>
          <p:nvPr/>
        </p:nvSpPr>
        <p:spPr>
          <a:xfrm>
            <a:off x="142875" y="3733800"/>
            <a:ext cx="4695825" cy="1781175"/>
          </a:xfrm>
          <a:prstGeom prst="roundRect">
            <a:avLst>
              <a:gd name="adj" fmla="val 42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238125" y="3790950"/>
            <a:ext cx="45053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Forecast Build-up 2026–2036 (US$ Mn)</a:t>
            </a:r>
          </a:p>
        </p:txBody>
      </p:sp>
      <p:graphicFrame>
        <p:nvGraphicFramePr>
          <p:cNvPr id="26" name="Chart 25"/>
          <p:cNvGraphicFramePr>
            <a:graphicFrameLocks noGrp="1"/>
          </p:cNvGraphicFramePr>
          <p:nvPr/>
        </p:nvGraphicFramePr>
        <p:xfrm>
          <a:off x="238125" y="4019550"/>
          <a:ext cx="4505325" cy="1438275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7" name="Rounded Rectangle 26"/>
          <p:cNvSpPr/>
          <p:nvPr/>
        </p:nvSpPr>
        <p:spPr>
          <a:xfrm>
            <a:off x="4991100" y="3733800"/>
            <a:ext cx="7048500" cy="1781175"/>
          </a:xfrm>
          <a:prstGeom prst="roundRect">
            <a:avLst>
              <a:gd name="adj" fmla="val 42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5086350" y="3790950"/>
            <a:ext cx="6858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Market Share, 2026</a:t>
            </a:r>
          </a:p>
        </p:txBody>
      </p:sp>
      <p:graphicFrame>
        <p:nvGraphicFramePr>
          <p:cNvPr id="29" name="Chart 28"/>
          <p:cNvGraphicFramePr>
            <a:graphicFrameLocks noGrp="1"/>
          </p:cNvGraphicFramePr>
          <p:nvPr/>
        </p:nvGraphicFramePr>
        <p:xfrm>
          <a:off x="5086350" y="4019550"/>
          <a:ext cx="6858000" cy="1438275"/>
        </p:xfrm>
        <a:graphic>
          <a:graphicData uri="http://schemas.openxmlformats.org/drawingml/2006/chart">
            <c:chart xmlns:c="http://schemas.openxmlformats.org/drawingml/2006/chart" r:id="rId6"/>
          </a:graphicData>
        </a:graphic>
      </p:graphicFrame>
      <p:sp>
        <p:nvSpPr>
          <p:cNvPr id="30" name="Rounded Rectangle 29"/>
          <p:cNvSpPr/>
          <p:nvPr/>
        </p:nvSpPr>
        <p:spPr>
          <a:xfrm>
            <a:off x="142875" y="5648325"/>
            <a:ext cx="3943350" cy="971550"/>
          </a:xfrm>
          <a:prstGeom prst="roundRect">
            <a:avLst>
              <a:gd name="adj" fmla="val 784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1" name="Rounded Rectangle 30"/>
          <p:cNvSpPr/>
          <p:nvPr/>
        </p:nvSpPr>
        <p:spPr>
          <a:xfrm>
            <a:off x="4238625" y="5648325"/>
            <a:ext cx="3819525" cy="971550"/>
          </a:xfrm>
          <a:prstGeom prst="roundRect">
            <a:avLst>
              <a:gd name="adj" fmla="val 784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2" name="Rounded Rectangle 31"/>
          <p:cNvSpPr/>
          <p:nvPr/>
        </p:nvSpPr>
        <p:spPr>
          <a:xfrm>
            <a:off x="8210550" y="5648325"/>
            <a:ext cx="3819525" cy="971550"/>
          </a:xfrm>
          <a:prstGeom prst="roundRect">
            <a:avLst>
              <a:gd name="adj" fmla="val 784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493044" y="1219200"/>
            <a:ext cx="157162" cy="228600"/>
          </a:xfrm>
          <a:prstGeom prst="rect">
            <a:avLst/>
          </a:prstGeom>
        </p:spPr>
      </p:pic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4502944" y="1219200"/>
            <a:ext cx="157162" cy="228600"/>
          </a:xfrm>
          <a:prstGeom prst="rect">
            <a:avLst/>
          </a:prstGeom>
        </p:spPr>
      </p:pic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7512844" y="1303020"/>
            <a:ext cx="157162" cy="228600"/>
          </a:xfrm>
          <a:prstGeom prst="rect">
            <a:avLst/>
          </a:prstGeom>
        </p:spPr>
      </p:pic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0522744" y="1303020"/>
            <a:ext cx="157162" cy="228600"/>
          </a:xfrm>
          <a:prstGeom prst="rect">
            <a:avLst/>
          </a:prstGeom>
        </p:spPr>
      </p:pic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16505" y="2509837"/>
            <a:ext cx="183356" cy="266700"/>
          </a:xfrm>
          <a:prstGeom prst="rect">
            <a:avLst/>
          </a:prstGeom>
        </p:spPr>
      </p:pic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0175557" y="2444876"/>
            <a:ext cx="251459" cy="365759"/>
          </a:xfrm>
          <a:prstGeom prst="rect">
            <a:avLst/>
          </a:prstGeom>
        </p:spPr>
      </p:pic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45080" y="4562475"/>
            <a:ext cx="183356" cy="266700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257175" y="5966460"/>
            <a:ext cx="306638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Germany's pet cosmetic products market expands at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271606" y="5956680"/>
            <a:ext cx="128699" cy="187198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3439102" y="5966460"/>
            <a:ext cx="39541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257175" y="6134100"/>
            <a:ext cx="279161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through 2036, trailing the Europe benchmark of</a:t>
            </a:r>
          </a:p>
        </p:txBody>
      </p:sp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996845" y="6124320"/>
            <a:ext cx="128699" cy="187198"/>
          </a:xfrm>
          <a:prstGeom prst="rect">
            <a:avLst/>
          </a:prstGeom>
        </p:spPr>
      </p:pic>
      <p:sp>
        <p:nvSpPr>
          <p:cNvPr id="46" name="TextBox 45"/>
          <p:cNvSpPr txBox="1"/>
          <p:nvPr/>
        </p:nvSpPr>
        <p:spPr>
          <a:xfrm>
            <a:off x="3164341" y="6134100"/>
            <a:ext cx="2128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by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325291" y="6124320"/>
            <a:ext cx="128699" cy="187198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3492787" y="6134100"/>
            <a:ext cx="32394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4352925" y="5966460"/>
            <a:ext cx="93677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Germany holds</a:t>
            </a:r>
          </a:p>
        </p:txBody>
      </p:sp>
      <p:pic>
        <p:nvPicPr>
          <p:cNvPr id="50" name="Picture 49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5237750" y="5956680"/>
            <a:ext cx="128699" cy="187198"/>
          </a:xfrm>
          <a:prstGeom prst="rect">
            <a:avLst/>
          </a:prstGeom>
        </p:spPr>
      </p:pic>
      <p:sp>
        <p:nvSpPr>
          <p:cNvPr id="51" name="TextBox 50"/>
          <p:cNvSpPr txBox="1"/>
          <p:nvPr/>
        </p:nvSpPr>
        <p:spPr>
          <a:xfrm>
            <a:off x="5405246" y="5966460"/>
            <a:ext cx="214796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the Europe pet cosmetic products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4352925" y="6134100"/>
            <a:ext cx="262436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market in 2026; by 2036 that share moves to</a:t>
            </a:r>
          </a:p>
        </p:txBody>
      </p:sp>
      <p:pic>
        <p:nvPicPr>
          <p:cNvPr id="53" name="Picture 52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6925337" y="6124320"/>
            <a:ext cx="128699" cy="187198"/>
          </a:xfrm>
          <a:prstGeom prst="rect">
            <a:avLst/>
          </a:prstGeom>
        </p:spPr>
      </p:pic>
      <p:sp>
        <p:nvSpPr>
          <p:cNvPr id="54" name="TextBox 53"/>
          <p:cNvSpPr txBox="1"/>
          <p:nvPr/>
        </p:nvSpPr>
        <p:spPr>
          <a:xfrm>
            <a:off x="7092833" y="6134100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8324850" y="5882640"/>
            <a:ext cx="158697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The forecast build-up adds</a:t>
            </a:r>
          </a:p>
        </p:txBody>
      </p:sp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859880" y="5872860"/>
            <a:ext cx="128699" cy="187198"/>
          </a:xfrm>
          <a:prstGeom prst="rect">
            <a:avLst/>
          </a:prstGeom>
        </p:spPr>
      </p:pic>
      <p:sp>
        <p:nvSpPr>
          <p:cNvPr id="57" name="TextBox 56"/>
          <p:cNvSpPr txBox="1"/>
          <p:nvPr/>
        </p:nvSpPr>
        <p:spPr>
          <a:xfrm>
            <a:off x="10027376" y="5882640"/>
            <a:ext cx="162026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 between 2026 and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8324850" y="6050280"/>
            <a:ext cx="210048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2036 the Germany market grows to</a:t>
            </a:r>
          </a:p>
        </p:txBody>
      </p:sp>
      <p:pic>
        <p:nvPicPr>
          <p:cNvPr id="59" name="Picture 58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0373387" y="6040501"/>
            <a:ext cx="128699" cy="187198"/>
          </a:xfrm>
          <a:prstGeom prst="rect">
            <a:avLst/>
          </a:prstGeom>
        </p:spPr>
      </p:pic>
      <p:sp>
        <p:nvSpPr>
          <p:cNvPr id="60" name="TextBox 59"/>
          <p:cNvSpPr txBox="1"/>
          <p:nvPr/>
        </p:nvSpPr>
        <p:spPr>
          <a:xfrm>
            <a:off x="10540883" y="6050280"/>
            <a:ext cx="115641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× its 2026 size over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8324850" y="6217920"/>
            <a:ext cx="74495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the decade.</a:t>
            </a:r>
          </a:p>
        </p:txBody>
      </p:sp>
      <p:sp>
        <p:nvSpPr>
          <p:cNvPr id="62" name="lockshield_17"/>
          <p:cNvSpPr/>
          <p:nvPr/>
        </p:nvSpPr>
        <p:spPr>
          <a:xfrm>
            <a:off x="238125" y="2105025"/>
            <a:ext cx="4448175" cy="14382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lockshield_20"/>
          <p:cNvSpPr/>
          <p:nvPr/>
        </p:nvSpPr>
        <p:spPr>
          <a:xfrm>
            <a:off x="5029200" y="2105025"/>
            <a:ext cx="3286125" cy="14382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lockshield_26"/>
          <p:cNvSpPr/>
          <p:nvPr/>
        </p:nvSpPr>
        <p:spPr>
          <a:xfrm>
            <a:off x="238125" y="4019550"/>
            <a:ext cx="4505325" cy="14382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lockshield_29"/>
          <p:cNvSpPr/>
          <p:nvPr/>
        </p:nvSpPr>
        <p:spPr>
          <a:xfrm>
            <a:off x="5086350" y="4019550"/>
            <a:ext cx="6858000" cy="14382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5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Key Segments Overview, By Value (2026)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Overview of Germany's key segments by value, highlighting the leading sub-segment of every segmentation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2857500" cy="1790700"/>
          </a:xfrm>
          <a:prstGeom prst="roundRect">
            <a:avLst>
              <a:gd name="adj" fmla="val 42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2667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Product Type  (US$ Mn)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2667000" cy="14478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3152775" y="981075"/>
            <a:ext cx="2857500" cy="1790700"/>
          </a:xfrm>
          <a:prstGeom prst="roundRect">
            <a:avLst>
              <a:gd name="adj" fmla="val 42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3248025" y="1038225"/>
            <a:ext cx="2667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Ingredient Type  (US$ Mn)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3248025" y="1266825"/>
          <a:ext cx="2667000" cy="144780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6162675" y="981075"/>
            <a:ext cx="2857500" cy="1790700"/>
          </a:xfrm>
          <a:prstGeom prst="roundRect">
            <a:avLst>
              <a:gd name="adj" fmla="val 42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6257925" y="1038225"/>
            <a:ext cx="2667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Product Format  (US$ Mn)</a:t>
            </a:r>
          </a:p>
        </p:txBody>
      </p:sp>
      <p:graphicFrame>
        <p:nvGraphicFramePr>
          <p:cNvPr id="19" name="Chart 18"/>
          <p:cNvGraphicFramePr>
            <a:graphicFrameLocks noGrp="1"/>
          </p:cNvGraphicFramePr>
          <p:nvPr/>
        </p:nvGraphicFramePr>
        <p:xfrm>
          <a:off x="6257925" y="1266825"/>
          <a:ext cx="2667000" cy="1447800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0" name="Rounded Rectangle 19"/>
          <p:cNvSpPr/>
          <p:nvPr/>
        </p:nvSpPr>
        <p:spPr>
          <a:xfrm>
            <a:off x="9172575" y="981075"/>
            <a:ext cx="2857500" cy="1790700"/>
          </a:xfrm>
          <a:prstGeom prst="roundRect">
            <a:avLst>
              <a:gd name="adj" fmla="val 42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9267825" y="1038225"/>
            <a:ext cx="266700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Primary Product Function / Benefit  (US$ Mn)</a:t>
            </a:r>
          </a:p>
        </p:txBody>
      </p:sp>
      <p:graphicFrame>
        <p:nvGraphicFramePr>
          <p:cNvPr id="22" name="Chart 21"/>
          <p:cNvGraphicFramePr>
            <a:graphicFrameLocks noGrp="1"/>
          </p:cNvGraphicFramePr>
          <p:nvPr/>
        </p:nvGraphicFramePr>
        <p:xfrm>
          <a:off x="9267825" y="1438275"/>
          <a:ext cx="2667000" cy="1276350"/>
        </p:xfrm>
        <a:graphic>
          <a:graphicData uri="http://schemas.openxmlformats.org/drawingml/2006/chart">
            <c:chart xmlns:c="http://schemas.openxmlformats.org/drawingml/2006/chart" r:id="rId6"/>
          </a:graphicData>
        </a:graphic>
      </p:graphicFrame>
      <p:sp>
        <p:nvSpPr>
          <p:cNvPr id="23" name="Rounded Rectangle 22"/>
          <p:cNvSpPr/>
          <p:nvPr/>
        </p:nvSpPr>
        <p:spPr>
          <a:xfrm>
            <a:off x="142875" y="2905125"/>
            <a:ext cx="2857500" cy="1790700"/>
          </a:xfrm>
          <a:prstGeom prst="roundRect">
            <a:avLst>
              <a:gd name="adj" fmla="val 42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238125" y="2962275"/>
            <a:ext cx="2667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Pet Type  (US$ Mn)</a:t>
            </a:r>
          </a:p>
        </p:txBody>
      </p:sp>
      <p:graphicFrame>
        <p:nvGraphicFramePr>
          <p:cNvPr id="25" name="Chart 24"/>
          <p:cNvGraphicFramePr>
            <a:graphicFrameLocks noGrp="1"/>
          </p:cNvGraphicFramePr>
          <p:nvPr/>
        </p:nvGraphicFramePr>
        <p:xfrm>
          <a:off x="238125" y="3190875"/>
          <a:ext cx="2667000" cy="1447800"/>
        </p:xfrm>
        <a:graphic>
          <a:graphicData uri="http://schemas.openxmlformats.org/drawingml/2006/chart">
            <c:chart xmlns:c="http://schemas.openxmlformats.org/drawingml/2006/chart" r:id="rId7"/>
          </a:graphicData>
        </a:graphic>
      </p:graphicFrame>
      <p:sp>
        <p:nvSpPr>
          <p:cNvPr id="26" name="Rounded Rectangle 25"/>
          <p:cNvSpPr/>
          <p:nvPr/>
        </p:nvSpPr>
        <p:spPr>
          <a:xfrm>
            <a:off x="3152775" y="2905125"/>
            <a:ext cx="2857500" cy="1790700"/>
          </a:xfrm>
          <a:prstGeom prst="roundRect">
            <a:avLst>
              <a:gd name="adj" fmla="val 42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TextBox 26"/>
          <p:cNvSpPr txBox="1"/>
          <p:nvPr/>
        </p:nvSpPr>
        <p:spPr>
          <a:xfrm>
            <a:off x="3248025" y="2962275"/>
            <a:ext cx="2667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Pack Size  (US$ Mn)</a:t>
            </a:r>
          </a:p>
        </p:txBody>
      </p:sp>
      <p:graphicFrame>
        <p:nvGraphicFramePr>
          <p:cNvPr id="28" name="Chart 27"/>
          <p:cNvGraphicFramePr>
            <a:graphicFrameLocks noGrp="1"/>
          </p:cNvGraphicFramePr>
          <p:nvPr/>
        </p:nvGraphicFramePr>
        <p:xfrm>
          <a:off x="3248025" y="3190875"/>
          <a:ext cx="2667000" cy="1447800"/>
        </p:xfrm>
        <a:graphic>
          <a:graphicData uri="http://schemas.openxmlformats.org/drawingml/2006/chart">
            <c:chart xmlns:c="http://schemas.openxmlformats.org/drawingml/2006/chart" r:id="rId8"/>
          </a:graphicData>
        </a:graphic>
      </p:graphicFrame>
      <p:sp>
        <p:nvSpPr>
          <p:cNvPr id="29" name="Rounded Rectangle 28"/>
          <p:cNvSpPr/>
          <p:nvPr/>
        </p:nvSpPr>
        <p:spPr>
          <a:xfrm>
            <a:off x="6162675" y="2905125"/>
            <a:ext cx="2857500" cy="1790700"/>
          </a:xfrm>
          <a:prstGeom prst="roundRect">
            <a:avLst>
              <a:gd name="adj" fmla="val 42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6257925" y="2962275"/>
            <a:ext cx="2667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Price Tier  (US$ Mn)</a:t>
            </a:r>
          </a:p>
        </p:txBody>
      </p:sp>
      <p:graphicFrame>
        <p:nvGraphicFramePr>
          <p:cNvPr id="31" name="Chart 30"/>
          <p:cNvGraphicFramePr>
            <a:graphicFrameLocks noGrp="1"/>
          </p:cNvGraphicFramePr>
          <p:nvPr/>
        </p:nvGraphicFramePr>
        <p:xfrm>
          <a:off x="6257925" y="3190875"/>
          <a:ext cx="2667000" cy="1447800"/>
        </p:xfrm>
        <a:graphic>
          <a:graphicData uri="http://schemas.openxmlformats.org/drawingml/2006/chart">
            <c:chart xmlns:c="http://schemas.openxmlformats.org/drawingml/2006/chart" r:id="rId9"/>
          </a:graphicData>
        </a:graphic>
      </p:graphicFrame>
      <p:sp>
        <p:nvSpPr>
          <p:cNvPr id="32" name="Rounded Rectangle 31"/>
          <p:cNvSpPr/>
          <p:nvPr/>
        </p:nvSpPr>
        <p:spPr>
          <a:xfrm>
            <a:off x="9172575" y="2905125"/>
            <a:ext cx="2857500" cy="1790700"/>
          </a:xfrm>
          <a:prstGeom prst="roundRect">
            <a:avLst>
              <a:gd name="adj" fmla="val 42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TextBox 32"/>
          <p:cNvSpPr txBox="1"/>
          <p:nvPr/>
        </p:nvSpPr>
        <p:spPr>
          <a:xfrm>
            <a:off x="9267825" y="2962275"/>
            <a:ext cx="2667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Sales Channels  (US$ Mn)</a:t>
            </a:r>
          </a:p>
        </p:txBody>
      </p:sp>
      <p:graphicFrame>
        <p:nvGraphicFramePr>
          <p:cNvPr id="34" name="Chart 33"/>
          <p:cNvGraphicFramePr>
            <a:graphicFrameLocks noGrp="1"/>
          </p:cNvGraphicFramePr>
          <p:nvPr/>
        </p:nvGraphicFramePr>
        <p:xfrm>
          <a:off x="9267825" y="3190875"/>
          <a:ext cx="2667000" cy="1447800"/>
        </p:xfrm>
        <a:graphic>
          <a:graphicData uri="http://schemas.openxmlformats.org/drawingml/2006/chart">
            <c:chart xmlns:c="http://schemas.openxmlformats.org/drawingml/2006/chart" r:id="rId10"/>
          </a:graphicData>
        </a:graphic>
      </p:graphicFrame>
      <p:sp>
        <p:nvSpPr>
          <p:cNvPr id="35" name="Rounded Rectangle 34"/>
          <p:cNvSpPr/>
          <p:nvPr/>
        </p:nvSpPr>
        <p:spPr>
          <a:xfrm>
            <a:off x="142875" y="4829175"/>
            <a:ext cx="2933700" cy="1790700"/>
          </a:xfrm>
          <a:prstGeom prst="roundRect">
            <a:avLst>
              <a:gd name="adj" fmla="val 42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238125" y="4886325"/>
            <a:ext cx="274320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Product Type × Primary Product Function / Benefit  (US$ Mn)</a:t>
            </a:r>
          </a:p>
        </p:txBody>
      </p:sp>
      <p:graphicFrame>
        <p:nvGraphicFramePr>
          <p:cNvPr id="37" name="Chart 36"/>
          <p:cNvGraphicFramePr>
            <a:graphicFrameLocks noGrp="1"/>
          </p:cNvGraphicFramePr>
          <p:nvPr/>
        </p:nvGraphicFramePr>
        <p:xfrm>
          <a:off x="238125" y="5286375"/>
          <a:ext cx="2743200" cy="1276350"/>
        </p:xfrm>
        <a:graphic>
          <a:graphicData uri="http://schemas.openxmlformats.org/drawingml/2006/chart">
            <c:chart xmlns:c="http://schemas.openxmlformats.org/drawingml/2006/chart" r:id="rId11"/>
          </a:graphicData>
        </a:graphic>
      </p:graphicFrame>
      <p:sp>
        <p:nvSpPr>
          <p:cNvPr id="38" name="Rounded Rectangle 37"/>
          <p:cNvSpPr/>
          <p:nvPr/>
        </p:nvSpPr>
        <p:spPr>
          <a:xfrm>
            <a:off x="3228975" y="4829175"/>
            <a:ext cx="2933700" cy="1790700"/>
          </a:xfrm>
          <a:prstGeom prst="roundRect">
            <a:avLst>
              <a:gd name="adj" fmla="val 42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TextBox 38"/>
          <p:cNvSpPr txBox="1"/>
          <p:nvPr/>
        </p:nvSpPr>
        <p:spPr>
          <a:xfrm>
            <a:off x="3324225" y="4886325"/>
            <a:ext cx="274320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Product Type × Ingredient Type  (US$ Mn)</a:t>
            </a:r>
          </a:p>
        </p:txBody>
      </p:sp>
      <p:graphicFrame>
        <p:nvGraphicFramePr>
          <p:cNvPr id="40" name="Chart 39"/>
          <p:cNvGraphicFramePr>
            <a:graphicFrameLocks noGrp="1"/>
          </p:cNvGraphicFramePr>
          <p:nvPr/>
        </p:nvGraphicFramePr>
        <p:xfrm>
          <a:off x="3324225" y="5286375"/>
          <a:ext cx="2743200" cy="1276350"/>
        </p:xfrm>
        <a:graphic>
          <a:graphicData uri="http://schemas.openxmlformats.org/drawingml/2006/chart">
            <c:chart xmlns:c="http://schemas.openxmlformats.org/drawingml/2006/chart" r:id="rId12"/>
          </a:graphicData>
        </a:graphic>
      </p:graphicFrame>
      <p:sp>
        <p:nvSpPr>
          <p:cNvPr id="41" name="TextBox 4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42" name="lockshield_13"/>
          <p:cNvSpPr/>
          <p:nvPr/>
        </p:nvSpPr>
        <p:spPr>
          <a:xfrm>
            <a:off x="238125" y="1266825"/>
            <a:ext cx="2667000" cy="14478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lockshield_16"/>
          <p:cNvSpPr/>
          <p:nvPr/>
        </p:nvSpPr>
        <p:spPr>
          <a:xfrm>
            <a:off x="3248025" y="1266825"/>
            <a:ext cx="2667000" cy="14478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lockshield_19"/>
          <p:cNvSpPr/>
          <p:nvPr/>
        </p:nvSpPr>
        <p:spPr>
          <a:xfrm>
            <a:off x="6257925" y="1266825"/>
            <a:ext cx="2667000" cy="14478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lockshield_22"/>
          <p:cNvSpPr/>
          <p:nvPr/>
        </p:nvSpPr>
        <p:spPr>
          <a:xfrm>
            <a:off x="9267825" y="1438275"/>
            <a:ext cx="2667000" cy="127635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lockshield_25"/>
          <p:cNvSpPr/>
          <p:nvPr/>
        </p:nvSpPr>
        <p:spPr>
          <a:xfrm>
            <a:off x="238125" y="3190875"/>
            <a:ext cx="2667000" cy="14478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lockshield_28"/>
          <p:cNvSpPr/>
          <p:nvPr/>
        </p:nvSpPr>
        <p:spPr>
          <a:xfrm>
            <a:off x="3248025" y="3190875"/>
            <a:ext cx="2667000" cy="14478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lockshield_31"/>
          <p:cNvSpPr/>
          <p:nvPr/>
        </p:nvSpPr>
        <p:spPr>
          <a:xfrm>
            <a:off x="6257925" y="3190875"/>
            <a:ext cx="2667000" cy="14478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lockshield_34"/>
          <p:cNvSpPr/>
          <p:nvPr/>
        </p:nvSpPr>
        <p:spPr>
          <a:xfrm>
            <a:off x="9267825" y="3190875"/>
            <a:ext cx="2667000" cy="14478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lockshield_37"/>
          <p:cNvSpPr/>
          <p:nvPr/>
        </p:nvSpPr>
        <p:spPr>
          <a:xfrm>
            <a:off x="238125" y="5286375"/>
            <a:ext cx="2743200" cy="127635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lockshield_40"/>
          <p:cNvSpPr/>
          <p:nvPr/>
        </p:nvSpPr>
        <p:spPr>
          <a:xfrm>
            <a:off x="3324225" y="5286375"/>
            <a:ext cx="2743200" cy="127635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5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Key Segments Overview, By Value (2026)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Overview of Germany's key segments by value, highlighting the leading sub-segment of every segmentation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76225" y="106680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12" name="Rectangle 11"/>
          <p:cNvSpPr/>
          <p:nvPr/>
        </p:nvSpPr>
        <p:spPr>
          <a:xfrm>
            <a:off x="276225" y="13049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76225" y="1390650"/>
            <a:ext cx="11639550" cy="5162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276225" y="1076325"/>
            <a:ext cx="1468037" cy="161696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935" b="1">
                <a:solidFill>
                  <a:srgbClr val="0B2E4A"/>
                </a:solidFill>
                <a:latin typeface="Calibri"/>
              </a:rPr>
              <a:t>Key Takeaways · 2026 Total:</a:t>
            </a:r>
          </a:p>
        </p:txBody>
      </p:sp>
      <p:pic>
        <p:nvPicPr>
          <p:cNvPr id="16" name="Picture 1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88698" y="1068003"/>
            <a:ext cx="109510" cy="159288"/>
          </a:xfrm>
          <a:prstGeom prst="rect">
            <a:avLst/>
          </a:prstGeom>
        </p:spPr>
      </p:pic>
      <p:sp>
        <p:nvSpPr>
          <p:cNvPr id="17" name="TextBox 16"/>
          <p:cNvSpPr txBox="1"/>
          <p:nvPr/>
        </p:nvSpPr>
        <p:spPr>
          <a:xfrm>
            <a:off x="1831222" y="1076325"/>
            <a:ext cx="465087" cy="161696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935" b="1">
                <a:solidFill>
                  <a:srgbClr val="0B2E4A"/>
                </a:solidFill>
                <a:latin typeface="Calibri"/>
              </a:rPr>
              <a:t>US$ Mn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76225" y="1400175"/>
            <a:ext cx="366638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By Product Type, 'Shampoos &amp; Cleansing Products' leads at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891762" y="1389951"/>
            <a:ext cx="134549" cy="195707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4066871" y="1400175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39342" y="1389951"/>
            <a:ext cx="134549" cy="195707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4814451" y="1400175"/>
            <a:ext cx="35945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share), ahead of 'Coat Conditioning &amp; Grooming Products' (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358127" y="1389951"/>
            <a:ext cx="134549" cy="195707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8533236" y="1400175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76225" y="1628013"/>
            <a:ext cx="385864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By Ingredient Type, 'Regular / Established Ingredients' leads at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084023" y="1617789"/>
            <a:ext cx="134549" cy="195707"/>
          </a:xfrm>
          <a:prstGeom prst="rect">
            <a:avLst/>
          </a:prstGeom>
        </p:spPr>
      </p:pic>
      <p:sp>
        <p:nvSpPr>
          <p:cNvPr id="27" name="TextBox 26"/>
          <p:cNvSpPr txBox="1"/>
          <p:nvPr/>
        </p:nvSpPr>
        <p:spPr>
          <a:xfrm>
            <a:off x="4259132" y="1628013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831603" y="1617789"/>
            <a:ext cx="134549" cy="195707"/>
          </a:xfrm>
          <a:prstGeom prst="rect">
            <a:avLst/>
          </a:prstGeom>
        </p:spPr>
      </p:pic>
      <p:sp>
        <p:nvSpPr>
          <p:cNvPr id="29" name="TextBox 28"/>
          <p:cNvSpPr txBox="1"/>
          <p:nvPr/>
        </p:nvSpPr>
        <p:spPr>
          <a:xfrm>
            <a:off x="5006712" y="1628013"/>
            <a:ext cx="30365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share), ahead of 'Niche / Specialized Ingredients' (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992431" y="1617789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8167541" y="1628013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76225" y="1855851"/>
            <a:ext cx="22597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By Product Format, 'Liquid' leads at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85144" y="1845627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2660253" y="1855851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232724" y="1845627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3407833" y="1855851"/>
            <a:ext cx="154383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share), ahead of 'Spray' (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900818" y="1845627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5075928" y="1855851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276225" y="2083689"/>
            <a:ext cx="475462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By Primary Product Function / Benefit, 'Cleansing &amp; General Hygiene' leads at</a:t>
            </a:r>
          </a:p>
        </p:txBody>
      </p:sp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980005" y="2073465"/>
            <a:ext cx="134549" cy="195707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5155115" y="2083689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727586" y="2073465"/>
            <a:ext cx="134549" cy="195707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5902695" y="2083689"/>
            <a:ext cx="30094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share), ahead of 'Coat Conditioning &amp; Softening' (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861315" y="2073465"/>
            <a:ext cx="134549" cy="195707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9036424" y="2083689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276225" y="2311527"/>
            <a:ext cx="177914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By Pet Type, 'Dogs' leads at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004522" y="2301303"/>
            <a:ext cx="134549" cy="195707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2179631" y="2311527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752102" y="2301303"/>
            <a:ext cx="134549" cy="195707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2927211" y="2311527"/>
            <a:ext cx="14668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share), ahead of 'Cats' (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343178" y="2301303"/>
            <a:ext cx="134549" cy="195707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4518287" y="2311527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276225" y="2539365"/>
            <a:ext cx="324620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By Pack Size, 'Liquid, Gel &amp; Cream Products' leads at</a:t>
            </a:r>
          </a:p>
        </p:txBody>
      </p:sp>
      <p:pic>
        <p:nvPicPr>
          <p:cNvPr id="54" name="Picture 5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471583" y="2529141"/>
            <a:ext cx="134549" cy="195707"/>
          </a:xfrm>
          <a:prstGeom prst="rect">
            <a:avLst/>
          </a:prstGeom>
        </p:spPr>
      </p:pic>
      <p:sp>
        <p:nvSpPr>
          <p:cNvPr id="55" name="TextBox 54"/>
          <p:cNvSpPr txBox="1"/>
          <p:nvPr/>
        </p:nvSpPr>
        <p:spPr>
          <a:xfrm>
            <a:off x="3646692" y="2539365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19163" y="2529141"/>
            <a:ext cx="134549" cy="195707"/>
          </a:xfrm>
          <a:prstGeom prst="rect">
            <a:avLst/>
          </a:prstGeom>
        </p:spPr>
      </p:pic>
      <p:sp>
        <p:nvSpPr>
          <p:cNvPr id="57" name="TextBox 56"/>
          <p:cNvSpPr txBox="1"/>
          <p:nvPr/>
        </p:nvSpPr>
        <p:spPr>
          <a:xfrm>
            <a:off x="4394272" y="2539365"/>
            <a:ext cx="344476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share), ahead of 'Wipes &amp; Other Count-Based Products' (</a:t>
            </a:r>
          </a:p>
        </p:txBody>
      </p:sp>
      <p:pic>
        <p:nvPicPr>
          <p:cNvPr id="58" name="Picture 5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788190" y="2529141"/>
            <a:ext cx="134549" cy="195707"/>
          </a:xfrm>
          <a:prstGeom prst="rect">
            <a:avLst/>
          </a:prstGeom>
        </p:spPr>
      </p:pic>
      <p:sp>
        <p:nvSpPr>
          <p:cNvPr id="59" name="TextBox 58"/>
          <p:cNvSpPr txBox="1"/>
          <p:nvPr/>
        </p:nvSpPr>
        <p:spPr>
          <a:xfrm>
            <a:off x="7963299" y="2539365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276225" y="2767203"/>
            <a:ext cx="345386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By Price Tier, 'Mid-Range: US$3 to below US$6' leads at</a:t>
            </a:r>
          </a:p>
        </p:txBody>
      </p:sp>
      <p:pic>
        <p:nvPicPr>
          <p:cNvPr id="61" name="Picture 6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679248" y="2756979"/>
            <a:ext cx="134549" cy="195707"/>
          </a:xfrm>
          <a:prstGeom prst="rect">
            <a:avLst/>
          </a:prstGeom>
        </p:spPr>
      </p:pic>
      <p:sp>
        <p:nvSpPr>
          <p:cNvPr id="62" name="TextBox 61"/>
          <p:cNvSpPr txBox="1"/>
          <p:nvPr/>
        </p:nvSpPr>
        <p:spPr>
          <a:xfrm>
            <a:off x="3854357" y="2767203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63" name="Picture 6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26828" y="2756979"/>
            <a:ext cx="134549" cy="195707"/>
          </a:xfrm>
          <a:prstGeom prst="rect">
            <a:avLst/>
          </a:prstGeom>
        </p:spPr>
      </p:pic>
      <p:sp>
        <p:nvSpPr>
          <p:cNvPr id="64" name="TextBox 63"/>
          <p:cNvSpPr txBox="1"/>
          <p:nvPr/>
        </p:nvSpPr>
        <p:spPr>
          <a:xfrm>
            <a:off x="4601937" y="2767203"/>
            <a:ext cx="311073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share), ahead of 'Premium: US$6 to below US$12' (</a:t>
            </a:r>
          </a:p>
        </p:txBody>
      </p:sp>
      <p:pic>
        <p:nvPicPr>
          <p:cNvPr id="65" name="Picture 6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661822" y="2756979"/>
            <a:ext cx="134549" cy="195707"/>
          </a:xfrm>
          <a:prstGeom prst="rect">
            <a:avLst/>
          </a:prstGeom>
        </p:spPr>
      </p:pic>
      <p:sp>
        <p:nvSpPr>
          <p:cNvPr id="66" name="TextBox 65"/>
          <p:cNvSpPr txBox="1"/>
          <p:nvPr/>
        </p:nvSpPr>
        <p:spPr>
          <a:xfrm>
            <a:off x="7836931" y="2767203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276225" y="2995040"/>
            <a:ext cx="259065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By Sales Channels, 'E-commerce' leads at</a:t>
            </a:r>
          </a:p>
        </p:txBody>
      </p:sp>
      <p:pic>
        <p:nvPicPr>
          <p:cNvPr id="68" name="Picture 6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16038" y="2984817"/>
            <a:ext cx="134549" cy="195707"/>
          </a:xfrm>
          <a:prstGeom prst="rect">
            <a:avLst/>
          </a:prstGeom>
        </p:spPr>
      </p:pic>
      <p:sp>
        <p:nvSpPr>
          <p:cNvPr id="69" name="TextBox 68"/>
          <p:cNvSpPr txBox="1"/>
          <p:nvPr/>
        </p:nvSpPr>
        <p:spPr>
          <a:xfrm>
            <a:off x="2991147" y="2995040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70" name="Picture 6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63618" y="2984817"/>
            <a:ext cx="134549" cy="195707"/>
          </a:xfrm>
          <a:prstGeom prst="rect">
            <a:avLst/>
          </a:prstGeom>
        </p:spPr>
      </p:pic>
      <p:sp>
        <p:nvSpPr>
          <p:cNvPr id="71" name="TextBox 70"/>
          <p:cNvSpPr txBox="1"/>
          <p:nvPr/>
        </p:nvSpPr>
        <p:spPr>
          <a:xfrm>
            <a:off x="3738728" y="2995040"/>
            <a:ext cx="23456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share), ahead of 'Pet Specialty Retail' (</a:t>
            </a:r>
          </a:p>
        </p:txBody>
      </p:sp>
      <p:pic>
        <p:nvPicPr>
          <p:cNvPr id="72" name="Picture 7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33562" y="2984817"/>
            <a:ext cx="134549" cy="195707"/>
          </a:xfrm>
          <a:prstGeom prst="rect">
            <a:avLst/>
          </a:prstGeom>
        </p:spPr>
      </p:pic>
      <p:sp>
        <p:nvSpPr>
          <p:cNvPr id="73" name="TextBox 72"/>
          <p:cNvSpPr txBox="1"/>
          <p:nvPr/>
        </p:nvSpPr>
        <p:spPr>
          <a:xfrm>
            <a:off x="6208671" y="2995040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276225" y="3222878"/>
            <a:ext cx="587424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By Product Type × Primary Product Function / Benefit, 'Shampoos &amp; Cleansing Products' leads at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99627" y="3212655"/>
            <a:ext cx="134549" cy="195707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6274736" y="3222878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77" name="Picture 7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47207" y="3212655"/>
            <a:ext cx="134549" cy="195707"/>
          </a:xfrm>
          <a:prstGeom prst="rect">
            <a:avLst/>
          </a:prstGeom>
        </p:spPr>
      </p:pic>
      <p:sp>
        <p:nvSpPr>
          <p:cNvPr id="78" name="TextBox 77"/>
          <p:cNvSpPr txBox="1"/>
          <p:nvPr/>
        </p:nvSpPr>
        <p:spPr>
          <a:xfrm>
            <a:off x="7022317" y="3222878"/>
            <a:ext cx="35945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share), ahead of 'Coat Conditioning &amp; Grooming Products' (</a:t>
            </a:r>
          </a:p>
        </p:txBody>
      </p:sp>
      <p:pic>
        <p:nvPicPr>
          <p:cNvPr id="79" name="Picture 7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565992" y="3212655"/>
            <a:ext cx="134549" cy="195707"/>
          </a:xfrm>
          <a:prstGeom prst="rect">
            <a:avLst/>
          </a:prstGeom>
        </p:spPr>
      </p:pic>
      <p:sp>
        <p:nvSpPr>
          <p:cNvPr id="80" name="TextBox 79"/>
          <p:cNvSpPr txBox="1"/>
          <p:nvPr/>
        </p:nvSpPr>
        <p:spPr>
          <a:xfrm>
            <a:off x="10741101" y="3222878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81" name="TextBox 80"/>
          <p:cNvSpPr txBox="1"/>
          <p:nvPr/>
        </p:nvSpPr>
        <p:spPr>
          <a:xfrm>
            <a:off x="276225" y="3450716"/>
            <a:ext cx="474036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By Product Type × Ingredient Type, 'Shampoos &amp; Cleansing Products' leads at</a:t>
            </a:r>
          </a:p>
        </p:txBody>
      </p:sp>
      <p:pic>
        <p:nvPicPr>
          <p:cNvPr id="82" name="Picture 8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965743" y="3440493"/>
            <a:ext cx="134549" cy="195707"/>
          </a:xfrm>
          <a:prstGeom prst="rect">
            <a:avLst/>
          </a:prstGeom>
        </p:spPr>
      </p:pic>
      <p:sp>
        <p:nvSpPr>
          <p:cNvPr id="83" name="TextBox 82"/>
          <p:cNvSpPr txBox="1"/>
          <p:nvPr/>
        </p:nvSpPr>
        <p:spPr>
          <a:xfrm>
            <a:off x="5140852" y="3450716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84" name="Picture 8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713323" y="3440493"/>
            <a:ext cx="134549" cy="195707"/>
          </a:xfrm>
          <a:prstGeom prst="rect">
            <a:avLst/>
          </a:prstGeom>
        </p:spPr>
      </p:pic>
      <p:sp>
        <p:nvSpPr>
          <p:cNvPr id="85" name="TextBox 84"/>
          <p:cNvSpPr txBox="1"/>
          <p:nvPr/>
        </p:nvSpPr>
        <p:spPr>
          <a:xfrm>
            <a:off x="5888432" y="3450716"/>
            <a:ext cx="35945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share), ahead of 'Coat Conditioning &amp; Grooming Products' (</a:t>
            </a:r>
          </a:p>
        </p:txBody>
      </p:sp>
      <p:pic>
        <p:nvPicPr>
          <p:cNvPr id="86" name="Picture 8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432108" y="3440493"/>
            <a:ext cx="134549" cy="195707"/>
          </a:xfrm>
          <a:prstGeom prst="rect">
            <a:avLst/>
          </a:prstGeom>
        </p:spPr>
      </p:pic>
      <p:sp>
        <p:nvSpPr>
          <p:cNvPr id="87" name="TextBox 86"/>
          <p:cNvSpPr txBox="1"/>
          <p:nvPr/>
        </p:nvSpPr>
        <p:spPr>
          <a:xfrm>
            <a:off x="9607217" y="3450716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88" name="TextBox 87"/>
          <p:cNvSpPr txBox="1"/>
          <p:nvPr/>
        </p:nvSpPr>
        <p:spPr>
          <a:xfrm>
            <a:off x="276225" y="3678554"/>
            <a:ext cx="697791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Use the Country slicer in the top band to switch country the selection stays synced across every page of the report.</a:t>
            </a:r>
          </a:p>
        </p:txBody>
      </p:sp>
    </p:spTree>
  </p:cSld>
  <p:clrMapOvr>
    <a:masterClrMapping/>
  </p:clrMapOvr>
</p:sld>
</file>

<file path=ppt/slides/slide15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10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176847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11137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Segment Overview (Volume &amp; Value)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2797175"/>
            <a:ext cx="8458200" cy="32448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Product Type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Ingredient Type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Product Format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Primary Product Function / Benefit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Pet Type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Pack Size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Price Tier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Sales Channels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5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10.1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Product Type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Segmental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Table (Volume &amp; Value)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YoY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5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Segmental Analysis Product Type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Germany segmental analysis by Product Type: growth contribution, share variance and absolute $ opportunity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Growth Contribution 2026 → 2036, By Product Type (US$ Mn)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Value Shares &amp; Variance, By Product Type</a:t>
            </a:r>
          </a:p>
        </p:txBody>
      </p:sp>
      <p:graphicFrame>
        <p:nvGraphicFramePr>
          <p:cNvPr id="16" name="Table 15"/>
          <p:cNvGraphicFramePr>
            <a:graphicFrameLocks noGrp="1"/>
          </p:cNvGraphicFramePr>
          <p:nvPr/>
        </p:nvGraphicFramePr>
        <p:xfrm>
          <a:off x="6181725" y="1238250"/>
          <a:ext cx="5857874" cy="22860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630670"/>
                <a:gridCol w="811308"/>
                <a:gridCol w="811308"/>
                <a:gridCol w="1024595"/>
                <a:gridCol w="579993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33997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33997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33997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33997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33997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33997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7" name="TextBox 16"/>
          <p:cNvSpPr txBox="1"/>
          <p:nvPr/>
        </p:nvSpPr>
        <p:spPr>
          <a:xfrm>
            <a:off x="6248400" y="3533775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38125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Absolute $ Opportunity, By Product Type (US$ Mn)</a:t>
            </a:r>
          </a:p>
        </p:txBody>
      </p:sp>
      <p:graphicFrame>
        <p:nvGraphicFramePr>
          <p:cNvPr id="20" name="Chart 19"/>
          <p:cNvGraphicFramePr>
            <a:graphicFrameLocks noGrp="1"/>
          </p:cNvGraphicFramePr>
          <p:nvPr/>
        </p:nvGraphicFramePr>
        <p:xfrm>
          <a:off x="238125" y="4152900"/>
          <a:ext cx="5686425" cy="240982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1" name="Rounded Rectangle 20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6267450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Volume Shares &amp; Variance, By Product Type</a:t>
            </a:r>
          </a:p>
        </p:txBody>
      </p:sp>
      <p:graphicFrame>
        <p:nvGraphicFramePr>
          <p:cNvPr id="23" name="Table 22"/>
          <p:cNvGraphicFramePr>
            <a:graphicFrameLocks noGrp="1"/>
          </p:cNvGraphicFramePr>
          <p:nvPr/>
        </p:nvGraphicFramePr>
        <p:xfrm>
          <a:off x="6181725" y="4124325"/>
          <a:ext cx="5857874" cy="22860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630670"/>
                <a:gridCol w="811308"/>
                <a:gridCol w="811308"/>
                <a:gridCol w="1024595"/>
                <a:gridCol w="579993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33997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33997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33997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33997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33997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33997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24" name="TextBox 23"/>
          <p:cNvSpPr txBox="1"/>
          <p:nvPr/>
        </p:nvSpPr>
        <p:spPr>
          <a:xfrm>
            <a:off x="6248400" y="6419850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7" name="Picture 26" descr="44_1_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779615" y="1521650"/>
            <a:ext cx="876864" cy="265429"/>
          </a:xfrm>
          <a:prstGeom prst="rect">
            <a:avLst/>
          </a:prstGeom>
        </p:spPr>
      </p:pic>
      <p:pic>
        <p:nvPicPr>
          <p:cNvPr id="28" name="Picture 27" descr="47_9_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590923" y="1521650"/>
            <a:ext cx="876864" cy="265429"/>
          </a:xfrm>
          <a:prstGeom prst="rect">
            <a:avLst/>
          </a:prstGeom>
        </p:spPr>
      </p:pic>
      <p:pic>
        <p:nvPicPr>
          <p:cNvPr id="29" name="Picture 28" descr="_376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10587082" y="1521650"/>
            <a:ext cx="720450" cy="265429"/>
          </a:xfrm>
          <a:prstGeom prst="rect">
            <a:avLst/>
          </a:prstGeom>
        </p:spPr>
      </p:pic>
      <p:pic>
        <p:nvPicPr>
          <p:cNvPr id="30" name="Picture 29" descr="6_8_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11389376" y="1521650"/>
            <a:ext cx="720450" cy="265429"/>
          </a:xfrm>
          <a:prstGeom prst="rect">
            <a:avLst/>
          </a:prstGeom>
        </p:spPr>
      </p:pic>
      <p:pic>
        <p:nvPicPr>
          <p:cNvPr id="31" name="Picture 30" descr="15_3_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8779615" y="1861629"/>
            <a:ext cx="876864" cy="265429"/>
          </a:xfrm>
          <a:prstGeom prst="rect">
            <a:avLst/>
          </a:prstGeom>
        </p:spPr>
      </p:pic>
      <p:pic>
        <p:nvPicPr>
          <p:cNvPr id="32" name="Picture 31" descr="13_1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9590923" y="1861629"/>
            <a:ext cx="876864" cy="265429"/>
          </a:xfrm>
          <a:prstGeom prst="rect">
            <a:avLst/>
          </a:prstGeom>
        </p:spPr>
      </p:pic>
      <p:pic>
        <p:nvPicPr>
          <p:cNvPr id="33" name="Picture 32" descr="_214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0587082" y="1861629"/>
            <a:ext cx="720450" cy="265429"/>
          </a:xfrm>
          <a:prstGeom prst="rect">
            <a:avLst/>
          </a:prstGeom>
        </p:spPr>
      </p:pic>
      <p:pic>
        <p:nvPicPr>
          <p:cNvPr id="34" name="Picture 33" descr="4_3_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11389376" y="1861629"/>
            <a:ext cx="720450" cy="265429"/>
          </a:xfrm>
          <a:prstGeom prst="rect">
            <a:avLst/>
          </a:prstGeom>
        </p:spPr>
      </p:pic>
      <p:pic>
        <p:nvPicPr>
          <p:cNvPr id="35" name="Picture 34" descr="11_4_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8779615" y="2201608"/>
            <a:ext cx="876864" cy="265429"/>
          </a:xfrm>
          <a:prstGeom prst="rect">
            <a:avLst/>
          </a:prstGeom>
        </p:spPr>
      </p:pic>
      <p:pic>
        <p:nvPicPr>
          <p:cNvPr id="36" name="Picture 35" descr="9_4__605E5C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9669130" y="2201608"/>
            <a:ext cx="720450" cy="265429"/>
          </a:xfrm>
          <a:prstGeom prst="rect">
            <a:avLst/>
          </a:prstGeom>
        </p:spPr>
      </p:pic>
      <p:pic>
        <p:nvPicPr>
          <p:cNvPr id="37" name="Picture 36" descr="_196_605E5C.png"/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10587082" y="2201608"/>
            <a:ext cx="720450" cy="265429"/>
          </a:xfrm>
          <a:prstGeom prst="rect">
            <a:avLst/>
          </a:prstGeom>
        </p:spPr>
      </p:pic>
      <p:pic>
        <p:nvPicPr>
          <p:cNvPr id="38" name="Picture 37" descr="3_9__605E5C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11389376" y="2201608"/>
            <a:ext cx="720450" cy="265429"/>
          </a:xfrm>
          <a:prstGeom prst="rect">
            <a:avLst/>
          </a:prstGeom>
        </p:spPr>
      </p:pic>
      <p:pic>
        <p:nvPicPr>
          <p:cNvPr id="39" name="Picture 38" descr="7_8__605E5C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8857822" y="2541587"/>
            <a:ext cx="720450" cy="265429"/>
          </a:xfrm>
          <a:prstGeom prst="rect">
            <a:avLst/>
          </a:prstGeom>
        </p:spPr>
      </p:pic>
      <p:pic>
        <p:nvPicPr>
          <p:cNvPr id="40" name="Picture 39" descr="7_4__605E5C.png"/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9669130" y="2541587"/>
            <a:ext cx="720450" cy="265429"/>
          </a:xfrm>
          <a:prstGeom prst="rect">
            <a:avLst/>
          </a:prstGeom>
        </p:spPr>
      </p:pic>
      <p:pic>
        <p:nvPicPr>
          <p:cNvPr id="41" name="Picture 40" descr="_35_605E5C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10665289" y="2541587"/>
            <a:ext cx="564037" cy="265429"/>
          </a:xfrm>
          <a:prstGeom prst="rect">
            <a:avLst/>
          </a:prstGeom>
        </p:spPr>
      </p:pic>
      <p:pic>
        <p:nvPicPr>
          <p:cNvPr id="42" name="Picture 41" descr="5_4__605E5C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11389376" y="2541587"/>
            <a:ext cx="720450" cy="265429"/>
          </a:xfrm>
          <a:prstGeom prst="rect">
            <a:avLst/>
          </a:prstGeom>
        </p:spPr>
      </p:pic>
      <p:pic>
        <p:nvPicPr>
          <p:cNvPr id="43" name="Picture 42" descr="13_2__605E5C.png"/>
          <p:cNvPicPr>
            <a:picLocks noChangeAspect="1"/>
          </p:cNvPicPr>
          <p:nvPr/>
        </p:nvPicPr>
        <p:blipFill>
          <a:blip r:embed="rId23"/>
          <a:stretch>
            <a:fillRect/>
          </a:stretch>
        </p:blipFill>
        <p:spPr>
          <a:xfrm>
            <a:off x="8779615" y="2881566"/>
            <a:ext cx="876864" cy="265429"/>
          </a:xfrm>
          <a:prstGeom prst="rect">
            <a:avLst/>
          </a:prstGeom>
        </p:spPr>
      </p:pic>
      <p:pic>
        <p:nvPicPr>
          <p:cNvPr id="44" name="Picture 43" descr="13_4__605E5C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9590923" y="2881566"/>
            <a:ext cx="876864" cy="265429"/>
          </a:xfrm>
          <a:prstGeom prst="rect">
            <a:avLst/>
          </a:prstGeom>
        </p:spPr>
      </p:pic>
      <p:pic>
        <p:nvPicPr>
          <p:cNvPr id="45" name="Picture 44" descr="_17_605E5C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10665289" y="2881566"/>
            <a:ext cx="564037" cy="265429"/>
          </a:xfrm>
          <a:prstGeom prst="rect">
            <a:avLst/>
          </a:prstGeom>
        </p:spPr>
      </p:pic>
      <p:pic>
        <p:nvPicPr>
          <p:cNvPr id="46" name="Picture 45" descr="6_0__605E5C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11389376" y="2881566"/>
            <a:ext cx="720450" cy="265429"/>
          </a:xfrm>
          <a:prstGeom prst="rect">
            <a:avLst/>
          </a:prstGeom>
        </p:spPr>
      </p:pic>
      <p:pic>
        <p:nvPicPr>
          <p:cNvPr id="47" name="Picture 46" descr="8_3__605E5C.png"/>
          <p:cNvPicPr>
            <a:picLocks noChangeAspect="1"/>
          </p:cNvPicPr>
          <p:nvPr/>
        </p:nvPicPr>
        <p:blipFill>
          <a:blip r:embed="rId27"/>
          <a:stretch>
            <a:fillRect/>
          </a:stretch>
        </p:blipFill>
        <p:spPr>
          <a:xfrm>
            <a:off x="8857822" y="3221545"/>
            <a:ext cx="720450" cy="265429"/>
          </a:xfrm>
          <a:prstGeom prst="rect">
            <a:avLst/>
          </a:prstGeom>
        </p:spPr>
      </p:pic>
      <p:pic>
        <p:nvPicPr>
          <p:cNvPr id="48" name="Picture 47" descr="8_8__605E5C.png"/>
          <p:cNvPicPr>
            <a:picLocks noChangeAspect="1"/>
          </p:cNvPicPr>
          <p:nvPr/>
        </p:nvPicPr>
        <p:blipFill>
          <a:blip r:embed="rId28"/>
          <a:stretch>
            <a:fillRect/>
          </a:stretch>
        </p:blipFill>
        <p:spPr>
          <a:xfrm>
            <a:off x="9669130" y="3221545"/>
            <a:ext cx="720450" cy="265429"/>
          </a:xfrm>
          <a:prstGeom prst="rect">
            <a:avLst/>
          </a:prstGeom>
        </p:spPr>
      </p:pic>
      <p:pic>
        <p:nvPicPr>
          <p:cNvPr id="49" name="Picture 48" descr="_53_605E5C.png"/>
          <p:cNvPicPr>
            <a:picLocks noChangeAspect="1"/>
          </p:cNvPicPr>
          <p:nvPr/>
        </p:nvPicPr>
        <p:blipFill>
          <a:blip r:embed="rId29"/>
          <a:stretch>
            <a:fillRect/>
          </a:stretch>
        </p:blipFill>
        <p:spPr>
          <a:xfrm>
            <a:off x="10665289" y="3221545"/>
            <a:ext cx="564037" cy="265429"/>
          </a:xfrm>
          <a:prstGeom prst="rect">
            <a:avLst/>
          </a:prstGeom>
        </p:spPr>
      </p:pic>
      <p:pic>
        <p:nvPicPr>
          <p:cNvPr id="50" name="Picture 49" descr="6_6__605E5C.png"/>
          <p:cNvPicPr>
            <a:picLocks noChangeAspect="1"/>
          </p:cNvPicPr>
          <p:nvPr/>
        </p:nvPicPr>
        <p:blipFill>
          <a:blip r:embed="rId30"/>
          <a:stretch>
            <a:fillRect/>
          </a:stretch>
        </p:blipFill>
        <p:spPr>
          <a:xfrm>
            <a:off x="11389376" y="3221545"/>
            <a:ext cx="720450" cy="265429"/>
          </a:xfrm>
          <a:prstGeom prst="rect">
            <a:avLst/>
          </a:prstGeom>
        </p:spPr>
      </p:pic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240108" y="2238757"/>
            <a:ext cx="365138" cy="531110"/>
          </a:xfrm>
          <a:prstGeom prst="rect">
            <a:avLst/>
          </a:prstGeom>
        </p:spPr>
      </p:pic>
      <p:pic>
        <p:nvPicPr>
          <p:cNvPr id="52" name="Picture 51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5123309"/>
            <a:ext cx="263506" cy="383281"/>
          </a:xfrm>
          <a:prstGeom prst="rect">
            <a:avLst/>
          </a:prstGeom>
        </p:spPr>
      </p:pic>
      <p:pic>
        <p:nvPicPr>
          <p:cNvPr id="53" name="Picture 52" descr="44_2__605E5C.png"/>
          <p:cNvPicPr>
            <a:picLocks noChangeAspect="1"/>
          </p:cNvPicPr>
          <p:nvPr/>
        </p:nvPicPr>
        <p:blipFill>
          <a:blip r:embed="rId31"/>
          <a:stretch>
            <a:fillRect/>
          </a:stretch>
        </p:blipFill>
        <p:spPr>
          <a:xfrm>
            <a:off x="8779615" y="4407725"/>
            <a:ext cx="876864" cy="265429"/>
          </a:xfrm>
          <a:prstGeom prst="rect">
            <a:avLst/>
          </a:prstGeom>
        </p:spPr>
      </p:pic>
      <p:pic>
        <p:nvPicPr>
          <p:cNvPr id="54" name="Picture 53" descr="47_9_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590923" y="4407725"/>
            <a:ext cx="876864" cy="265429"/>
          </a:xfrm>
          <a:prstGeom prst="rect">
            <a:avLst/>
          </a:prstGeom>
        </p:spPr>
      </p:pic>
      <p:pic>
        <p:nvPicPr>
          <p:cNvPr id="55" name="Picture 54" descr="_370_605E5C.png"/>
          <p:cNvPicPr>
            <a:picLocks noChangeAspect="1"/>
          </p:cNvPicPr>
          <p:nvPr/>
        </p:nvPicPr>
        <p:blipFill>
          <a:blip r:embed="rId32"/>
          <a:stretch>
            <a:fillRect/>
          </a:stretch>
        </p:blipFill>
        <p:spPr>
          <a:xfrm>
            <a:off x="10587082" y="4407725"/>
            <a:ext cx="720450" cy="265429"/>
          </a:xfrm>
          <a:prstGeom prst="rect">
            <a:avLst/>
          </a:prstGeom>
        </p:spPr>
      </p:pic>
      <p:pic>
        <p:nvPicPr>
          <p:cNvPr id="56" name="Picture 55" descr="6_1__605E5C.png"/>
          <p:cNvPicPr>
            <a:picLocks noChangeAspect="1"/>
          </p:cNvPicPr>
          <p:nvPr/>
        </p:nvPicPr>
        <p:blipFill>
          <a:blip r:embed="rId33"/>
          <a:stretch>
            <a:fillRect/>
          </a:stretch>
        </p:blipFill>
        <p:spPr>
          <a:xfrm>
            <a:off x="11389376" y="4407725"/>
            <a:ext cx="720450" cy="265429"/>
          </a:xfrm>
          <a:prstGeom prst="rect">
            <a:avLst/>
          </a:prstGeom>
        </p:spPr>
      </p:pic>
      <p:pic>
        <p:nvPicPr>
          <p:cNvPr id="57" name="Picture 56" descr="15_4__605E5C.png"/>
          <p:cNvPicPr>
            <a:picLocks noChangeAspect="1"/>
          </p:cNvPicPr>
          <p:nvPr/>
        </p:nvPicPr>
        <p:blipFill>
          <a:blip r:embed="rId34"/>
          <a:stretch>
            <a:fillRect/>
          </a:stretch>
        </p:blipFill>
        <p:spPr>
          <a:xfrm>
            <a:off x="8779615" y="4747704"/>
            <a:ext cx="876864" cy="265429"/>
          </a:xfrm>
          <a:prstGeom prst="rect">
            <a:avLst/>
          </a:prstGeom>
        </p:spPr>
      </p:pic>
      <p:pic>
        <p:nvPicPr>
          <p:cNvPr id="58" name="Picture 57" descr="13_2__605E5C.png"/>
          <p:cNvPicPr>
            <a:picLocks noChangeAspect="1"/>
          </p:cNvPicPr>
          <p:nvPr/>
        </p:nvPicPr>
        <p:blipFill>
          <a:blip r:embed="rId23"/>
          <a:stretch>
            <a:fillRect/>
          </a:stretch>
        </p:blipFill>
        <p:spPr>
          <a:xfrm>
            <a:off x="9590923" y="4747704"/>
            <a:ext cx="876864" cy="265429"/>
          </a:xfrm>
          <a:prstGeom prst="rect">
            <a:avLst/>
          </a:prstGeom>
        </p:spPr>
      </p:pic>
      <p:pic>
        <p:nvPicPr>
          <p:cNvPr id="59" name="Picture 58" descr="_214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0587082" y="4747704"/>
            <a:ext cx="720450" cy="265429"/>
          </a:xfrm>
          <a:prstGeom prst="rect">
            <a:avLst/>
          </a:prstGeom>
        </p:spPr>
      </p:pic>
      <p:pic>
        <p:nvPicPr>
          <p:cNvPr id="60" name="Picture 59" descr="3_7__605E5C.png"/>
          <p:cNvPicPr>
            <a:picLocks noChangeAspect="1"/>
          </p:cNvPicPr>
          <p:nvPr/>
        </p:nvPicPr>
        <p:blipFill>
          <a:blip r:embed="rId35"/>
          <a:stretch>
            <a:fillRect/>
          </a:stretch>
        </p:blipFill>
        <p:spPr>
          <a:xfrm>
            <a:off x="11389376" y="4747704"/>
            <a:ext cx="720450" cy="265429"/>
          </a:xfrm>
          <a:prstGeom prst="rect">
            <a:avLst/>
          </a:prstGeom>
        </p:spPr>
      </p:pic>
      <p:pic>
        <p:nvPicPr>
          <p:cNvPr id="61" name="Picture 60" descr="11_1__605E5C.png"/>
          <p:cNvPicPr>
            <a:picLocks noChangeAspect="1"/>
          </p:cNvPicPr>
          <p:nvPr/>
        </p:nvPicPr>
        <p:blipFill>
          <a:blip r:embed="rId36"/>
          <a:stretch>
            <a:fillRect/>
          </a:stretch>
        </p:blipFill>
        <p:spPr>
          <a:xfrm>
            <a:off x="8779615" y="5087683"/>
            <a:ext cx="876864" cy="265429"/>
          </a:xfrm>
          <a:prstGeom prst="rect">
            <a:avLst/>
          </a:prstGeom>
        </p:spPr>
      </p:pic>
      <p:pic>
        <p:nvPicPr>
          <p:cNvPr id="62" name="Picture 61" descr="9_2__605E5C.png"/>
          <p:cNvPicPr>
            <a:picLocks noChangeAspect="1"/>
          </p:cNvPicPr>
          <p:nvPr/>
        </p:nvPicPr>
        <p:blipFill>
          <a:blip r:embed="rId37"/>
          <a:stretch>
            <a:fillRect/>
          </a:stretch>
        </p:blipFill>
        <p:spPr>
          <a:xfrm>
            <a:off x="9669130" y="5087683"/>
            <a:ext cx="720450" cy="265429"/>
          </a:xfrm>
          <a:prstGeom prst="rect">
            <a:avLst/>
          </a:prstGeom>
        </p:spPr>
      </p:pic>
      <p:pic>
        <p:nvPicPr>
          <p:cNvPr id="63" name="Picture 62" descr="_189_605E5C.png"/>
          <p:cNvPicPr>
            <a:picLocks noChangeAspect="1"/>
          </p:cNvPicPr>
          <p:nvPr/>
        </p:nvPicPr>
        <p:blipFill>
          <a:blip r:embed="rId38"/>
          <a:stretch>
            <a:fillRect/>
          </a:stretch>
        </p:blipFill>
        <p:spPr>
          <a:xfrm>
            <a:off x="10587082" y="5087683"/>
            <a:ext cx="720450" cy="265429"/>
          </a:xfrm>
          <a:prstGeom prst="rect">
            <a:avLst/>
          </a:prstGeom>
        </p:spPr>
      </p:pic>
      <p:pic>
        <p:nvPicPr>
          <p:cNvPr id="64" name="Picture 63" descr="3_3__605E5C.png"/>
          <p:cNvPicPr>
            <a:picLocks noChangeAspect="1"/>
          </p:cNvPicPr>
          <p:nvPr/>
        </p:nvPicPr>
        <p:blipFill>
          <a:blip r:embed="rId39"/>
          <a:stretch>
            <a:fillRect/>
          </a:stretch>
        </p:blipFill>
        <p:spPr>
          <a:xfrm>
            <a:off x="11389376" y="5087683"/>
            <a:ext cx="720450" cy="265429"/>
          </a:xfrm>
          <a:prstGeom prst="rect">
            <a:avLst/>
          </a:prstGeom>
        </p:spPr>
      </p:pic>
      <p:pic>
        <p:nvPicPr>
          <p:cNvPr id="65" name="Picture 64" descr="7_7__605E5C.png"/>
          <p:cNvPicPr>
            <a:picLocks noChangeAspect="1"/>
          </p:cNvPicPr>
          <p:nvPr/>
        </p:nvPicPr>
        <p:blipFill>
          <a:blip r:embed="rId40"/>
          <a:stretch>
            <a:fillRect/>
          </a:stretch>
        </p:blipFill>
        <p:spPr>
          <a:xfrm>
            <a:off x="8857822" y="5427662"/>
            <a:ext cx="720450" cy="265429"/>
          </a:xfrm>
          <a:prstGeom prst="rect">
            <a:avLst/>
          </a:prstGeom>
        </p:spPr>
      </p:pic>
      <p:pic>
        <p:nvPicPr>
          <p:cNvPr id="66" name="Picture 65" descr="7_4__605E5C.png"/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9669130" y="5427662"/>
            <a:ext cx="720450" cy="265429"/>
          </a:xfrm>
          <a:prstGeom prst="rect">
            <a:avLst/>
          </a:prstGeom>
        </p:spPr>
      </p:pic>
      <p:pic>
        <p:nvPicPr>
          <p:cNvPr id="67" name="Picture 66" descr="_35_605E5C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10665289" y="5427662"/>
            <a:ext cx="564037" cy="265429"/>
          </a:xfrm>
          <a:prstGeom prst="rect">
            <a:avLst/>
          </a:prstGeom>
        </p:spPr>
      </p:pic>
      <p:pic>
        <p:nvPicPr>
          <p:cNvPr id="68" name="Picture 67" descr="4_8__605E5C.png"/>
          <p:cNvPicPr>
            <a:picLocks noChangeAspect="1"/>
          </p:cNvPicPr>
          <p:nvPr/>
        </p:nvPicPr>
        <p:blipFill>
          <a:blip r:embed="rId41"/>
          <a:stretch>
            <a:fillRect/>
          </a:stretch>
        </p:blipFill>
        <p:spPr>
          <a:xfrm>
            <a:off x="11389376" y="5427662"/>
            <a:ext cx="720450" cy="265429"/>
          </a:xfrm>
          <a:prstGeom prst="rect">
            <a:avLst/>
          </a:prstGeom>
        </p:spPr>
      </p:pic>
      <p:pic>
        <p:nvPicPr>
          <p:cNvPr id="69" name="Picture 68" descr="13_2__605E5C.png"/>
          <p:cNvPicPr>
            <a:picLocks noChangeAspect="1"/>
          </p:cNvPicPr>
          <p:nvPr/>
        </p:nvPicPr>
        <p:blipFill>
          <a:blip r:embed="rId23"/>
          <a:stretch>
            <a:fillRect/>
          </a:stretch>
        </p:blipFill>
        <p:spPr>
          <a:xfrm>
            <a:off x="8779615" y="5767641"/>
            <a:ext cx="876864" cy="265429"/>
          </a:xfrm>
          <a:prstGeom prst="rect">
            <a:avLst/>
          </a:prstGeom>
        </p:spPr>
      </p:pic>
      <p:pic>
        <p:nvPicPr>
          <p:cNvPr id="70" name="Picture 69" descr="13_3__605E5C.png"/>
          <p:cNvPicPr>
            <a:picLocks noChangeAspect="1"/>
          </p:cNvPicPr>
          <p:nvPr/>
        </p:nvPicPr>
        <p:blipFill>
          <a:blip r:embed="rId42"/>
          <a:stretch>
            <a:fillRect/>
          </a:stretch>
        </p:blipFill>
        <p:spPr>
          <a:xfrm>
            <a:off x="9590923" y="5767641"/>
            <a:ext cx="876864" cy="265429"/>
          </a:xfrm>
          <a:prstGeom prst="rect">
            <a:avLst/>
          </a:prstGeom>
        </p:spPr>
      </p:pic>
      <p:pic>
        <p:nvPicPr>
          <p:cNvPr id="71" name="Picture 70" descr="_15_605E5C.png"/>
          <p:cNvPicPr>
            <a:picLocks noChangeAspect="1"/>
          </p:cNvPicPr>
          <p:nvPr/>
        </p:nvPicPr>
        <p:blipFill>
          <a:blip r:embed="rId43"/>
          <a:stretch>
            <a:fillRect/>
          </a:stretch>
        </p:blipFill>
        <p:spPr>
          <a:xfrm>
            <a:off x="10665289" y="5767641"/>
            <a:ext cx="564037" cy="265429"/>
          </a:xfrm>
          <a:prstGeom prst="rect">
            <a:avLst/>
          </a:prstGeom>
        </p:spPr>
      </p:pic>
      <p:pic>
        <p:nvPicPr>
          <p:cNvPr id="72" name="Picture 71" descr="5_4__605E5C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11389376" y="5767641"/>
            <a:ext cx="720450" cy="265429"/>
          </a:xfrm>
          <a:prstGeom prst="rect">
            <a:avLst/>
          </a:prstGeom>
        </p:spPr>
      </p:pic>
      <p:pic>
        <p:nvPicPr>
          <p:cNvPr id="73" name="Picture 72" descr="8_5__605E5C.png"/>
          <p:cNvPicPr>
            <a:picLocks noChangeAspect="1"/>
          </p:cNvPicPr>
          <p:nvPr/>
        </p:nvPicPr>
        <p:blipFill>
          <a:blip r:embed="rId44"/>
          <a:stretch>
            <a:fillRect/>
          </a:stretch>
        </p:blipFill>
        <p:spPr>
          <a:xfrm>
            <a:off x="8857822" y="6107620"/>
            <a:ext cx="720450" cy="265429"/>
          </a:xfrm>
          <a:prstGeom prst="rect">
            <a:avLst/>
          </a:prstGeom>
        </p:spPr>
      </p:pic>
      <p:pic>
        <p:nvPicPr>
          <p:cNvPr id="74" name="Picture 73" descr="9_0__605E5C.png"/>
          <p:cNvPicPr>
            <a:picLocks noChangeAspect="1"/>
          </p:cNvPicPr>
          <p:nvPr/>
        </p:nvPicPr>
        <p:blipFill>
          <a:blip r:embed="rId45"/>
          <a:stretch>
            <a:fillRect/>
          </a:stretch>
        </p:blipFill>
        <p:spPr>
          <a:xfrm>
            <a:off x="9669130" y="6107620"/>
            <a:ext cx="720450" cy="265429"/>
          </a:xfrm>
          <a:prstGeom prst="rect">
            <a:avLst/>
          </a:prstGeom>
        </p:spPr>
      </p:pic>
      <p:pic>
        <p:nvPicPr>
          <p:cNvPr id="75" name="Picture 74" descr="_54_605E5C.png"/>
          <p:cNvPicPr>
            <a:picLocks noChangeAspect="1"/>
          </p:cNvPicPr>
          <p:nvPr/>
        </p:nvPicPr>
        <p:blipFill>
          <a:blip r:embed="rId46"/>
          <a:stretch>
            <a:fillRect/>
          </a:stretch>
        </p:blipFill>
        <p:spPr>
          <a:xfrm>
            <a:off x="10665289" y="6107620"/>
            <a:ext cx="564037" cy="265429"/>
          </a:xfrm>
          <a:prstGeom prst="rect">
            <a:avLst/>
          </a:prstGeom>
        </p:spPr>
      </p:pic>
      <p:pic>
        <p:nvPicPr>
          <p:cNvPr id="76" name="Picture 75" descr="5_9__605E5C.png"/>
          <p:cNvPicPr>
            <a:picLocks noChangeAspect="1"/>
          </p:cNvPicPr>
          <p:nvPr/>
        </p:nvPicPr>
        <p:blipFill>
          <a:blip r:embed="rId47"/>
          <a:stretch>
            <a:fillRect/>
          </a:stretch>
        </p:blipFill>
        <p:spPr>
          <a:xfrm>
            <a:off x="11389376" y="6107620"/>
            <a:ext cx="720450" cy="265429"/>
          </a:xfrm>
          <a:prstGeom prst="rect">
            <a:avLst/>
          </a:prstGeom>
        </p:spPr>
      </p:pic>
      <p:pic>
        <p:nvPicPr>
          <p:cNvPr id="77" name="Picture 7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240108" y="5124832"/>
            <a:ext cx="365138" cy="531110"/>
          </a:xfrm>
          <a:prstGeom prst="rect">
            <a:avLst/>
          </a:prstGeom>
        </p:spPr>
      </p:pic>
      <p:sp>
        <p:nvSpPr>
          <p:cNvPr id="78" name="lockshield_13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lockshield_20"/>
          <p:cNvSpPr/>
          <p:nvPr/>
        </p:nvSpPr>
        <p:spPr>
          <a:xfrm>
            <a:off x="238125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5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Tables Product Type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and value of the Germany market by Product Type,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438400"/>
          </a:xfrm>
          <a:prstGeom prst="roundRect">
            <a:avLst>
              <a:gd name="adj" fmla="val 31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Volume, By Product Type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5" cy="19716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661135"/>
                <a:gridCol w="539960"/>
                <a:gridCol w="539960"/>
                <a:gridCol w="539960"/>
                <a:gridCol w="539960"/>
                <a:gridCol w="539960"/>
                <a:gridCol w="539960"/>
                <a:gridCol w="539960"/>
                <a:gridCol w="539960"/>
                <a:gridCol w="539960"/>
                <a:gridCol w="539960"/>
                <a:gridCol w="539960"/>
                <a:gridCol w="539960"/>
                <a:gridCol w="539960"/>
                <a:gridCol w="539960"/>
                <a:gridCol w="539960"/>
                <a:gridCol w="539960"/>
                <a:gridCol w="586710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2194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552825"/>
            <a:ext cx="11906250" cy="2438400"/>
          </a:xfrm>
          <a:prstGeom prst="roundRect">
            <a:avLst>
              <a:gd name="adj" fmla="val 31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60997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Value, By Product Type (US$ Mn)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3810000"/>
          <a:ext cx="11887202" cy="19716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809183"/>
                <a:gridCol w="545303"/>
                <a:gridCol w="545303"/>
                <a:gridCol w="545303"/>
                <a:gridCol w="545303"/>
                <a:gridCol w="545303"/>
                <a:gridCol w="526094"/>
                <a:gridCol w="520606"/>
                <a:gridCol w="520606"/>
                <a:gridCol w="520606"/>
                <a:gridCol w="520606"/>
                <a:gridCol w="520606"/>
                <a:gridCol w="520606"/>
                <a:gridCol w="520606"/>
                <a:gridCol w="520606"/>
                <a:gridCol w="520606"/>
                <a:gridCol w="520606"/>
                <a:gridCol w="619350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57912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239880" y="2080450"/>
            <a:ext cx="366712" cy="533400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13902" y="4652200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5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YoY Analysis Product Type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Germany year-on-year volume and value growth by Product Type,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190750"/>
          </a:xfrm>
          <a:prstGeom prst="roundRect">
            <a:avLst>
              <a:gd name="adj" fmla="val 34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Volume YoY, By Product Type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7" cy="172402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716027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9718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305175"/>
            <a:ext cx="11906250" cy="2190750"/>
          </a:xfrm>
          <a:prstGeom prst="roundRect">
            <a:avLst>
              <a:gd name="adj" fmla="val 34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3623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 YoY, By Product Type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3562350"/>
          <a:ext cx="11887207" cy="172402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716027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52959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267326" y="1956627"/>
            <a:ext cx="366712" cy="533400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267326" y="4280727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5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10.2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Ingredient Type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Segmental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Table (Volume &amp; Value)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YoY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5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Segmental Analysis Ingredient Type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Germany segmental analysis by Ingredient Type: growth contribution, share variance and absolute $ opportunity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Growth Contribution 2026 → 2036, By Ingredient Type (US$ Mn)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Value Shares &amp; Variance, By Ingredient Type</a:t>
            </a:r>
          </a:p>
        </p:txBody>
      </p:sp>
      <p:graphicFrame>
        <p:nvGraphicFramePr>
          <p:cNvPr id="16" name="Table 15"/>
          <p:cNvGraphicFramePr>
            <a:graphicFrameLocks noGrp="1"/>
          </p:cNvGraphicFramePr>
          <p:nvPr/>
        </p:nvGraphicFramePr>
        <p:xfrm>
          <a:off x="6181725" y="1238250"/>
          <a:ext cx="5857875" cy="22860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866501"/>
                <a:gridCol w="748798"/>
                <a:gridCol w="748798"/>
                <a:gridCol w="949328"/>
                <a:gridCol w="544450"/>
              </a:tblGrid>
              <a:tr h="43891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Ingredient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61569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Regular / Established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61569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Niche / Specialized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61569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Emerging Ingredients / Innovation Candidates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7" name="TextBox 16"/>
          <p:cNvSpPr txBox="1"/>
          <p:nvPr/>
        </p:nvSpPr>
        <p:spPr>
          <a:xfrm>
            <a:off x="6248400" y="3533775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38125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Absolute $ Opportunity, By Ingredient Type (US$ Mn)</a:t>
            </a:r>
          </a:p>
        </p:txBody>
      </p:sp>
      <p:graphicFrame>
        <p:nvGraphicFramePr>
          <p:cNvPr id="20" name="Chart 19"/>
          <p:cNvGraphicFramePr>
            <a:graphicFrameLocks noGrp="1"/>
          </p:cNvGraphicFramePr>
          <p:nvPr/>
        </p:nvGraphicFramePr>
        <p:xfrm>
          <a:off x="238125" y="4152900"/>
          <a:ext cx="5686425" cy="240982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1" name="Rounded Rectangle 20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6267450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Volume Shares &amp; Variance, By Ingredient Type</a:t>
            </a:r>
          </a:p>
        </p:txBody>
      </p:sp>
      <p:graphicFrame>
        <p:nvGraphicFramePr>
          <p:cNvPr id="23" name="Table 22"/>
          <p:cNvGraphicFramePr>
            <a:graphicFrameLocks noGrp="1"/>
          </p:cNvGraphicFramePr>
          <p:nvPr/>
        </p:nvGraphicFramePr>
        <p:xfrm>
          <a:off x="6181725" y="4124325"/>
          <a:ext cx="5857875" cy="22860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866501"/>
                <a:gridCol w="748798"/>
                <a:gridCol w="748798"/>
                <a:gridCol w="949328"/>
                <a:gridCol w="544450"/>
              </a:tblGrid>
              <a:tr h="43891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Ingredient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61569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Regular / Established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61569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Niche / Specialized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61569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Emerging Ingredients / Innovation Candidates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24" name="TextBox 23"/>
          <p:cNvSpPr txBox="1"/>
          <p:nvPr/>
        </p:nvSpPr>
        <p:spPr>
          <a:xfrm>
            <a:off x="6248400" y="6419850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7" name="Picture 26" descr="54_9_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984191" y="1852294"/>
            <a:ext cx="876864" cy="265429"/>
          </a:xfrm>
          <a:prstGeom prst="rect">
            <a:avLst/>
          </a:prstGeom>
        </p:spPr>
      </p:pic>
      <p:pic>
        <p:nvPicPr>
          <p:cNvPr id="28" name="Picture 27" descr="56_4_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732989" y="1852294"/>
            <a:ext cx="876864" cy="265429"/>
          </a:xfrm>
          <a:prstGeom prst="rect">
            <a:avLst/>
          </a:prstGeom>
        </p:spPr>
      </p:pic>
      <p:pic>
        <p:nvPicPr>
          <p:cNvPr id="29" name="Picture 28" descr="_143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10660259" y="1852294"/>
            <a:ext cx="720450" cy="265429"/>
          </a:xfrm>
          <a:prstGeom prst="rect">
            <a:avLst/>
          </a:prstGeom>
        </p:spPr>
      </p:pic>
      <p:pic>
        <p:nvPicPr>
          <p:cNvPr id="30" name="Picture 29" descr="6_2_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11407148" y="1852294"/>
            <a:ext cx="720450" cy="265429"/>
          </a:xfrm>
          <a:prstGeom prst="rect">
            <a:avLst/>
          </a:prstGeom>
        </p:spPr>
      </p:pic>
      <p:pic>
        <p:nvPicPr>
          <p:cNvPr id="31" name="Picture 30" descr="32_4_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8984191" y="2467991"/>
            <a:ext cx="876864" cy="265429"/>
          </a:xfrm>
          <a:prstGeom prst="rect">
            <a:avLst/>
          </a:prstGeom>
        </p:spPr>
      </p:pic>
      <p:pic>
        <p:nvPicPr>
          <p:cNvPr id="32" name="Picture 31" descr="31_4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9732989" y="2467991"/>
            <a:ext cx="876864" cy="265429"/>
          </a:xfrm>
          <a:prstGeom prst="rect">
            <a:avLst/>
          </a:prstGeom>
        </p:spPr>
      </p:pic>
      <p:pic>
        <p:nvPicPr>
          <p:cNvPr id="33" name="Picture 32" descr="_103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0660259" y="2467991"/>
            <a:ext cx="720450" cy="265429"/>
          </a:xfrm>
          <a:prstGeom prst="rect">
            <a:avLst/>
          </a:prstGeom>
        </p:spPr>
      </p:pic>
      <p:pic>
        <p:nvPicPr>
          <p:cNvPr id="34" name="Picture 33" descr="5_6_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11407148" y="2467991"/>
            <a:ext cx="720450" cy="265429"/>
          </a:xfrm>
          <a:prstGeom prst="rect">
            <a:avLst/>
          </a:prstGeom>
        </p:spPr>
      </p:pic>
      <p:pic>
        <p:nvPicPr>
          <p:cNvPr id="35" name="Picture 34" descr="12_7_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8984191" y="3083687"/>
            <a:ext cx="876864" cy="265429"/>
          </a:xfrm>
          <a:prstGeom prst="rect">
            <a:avLst/>
          </a:prstGeom>
        </p:spPr>
      </p:pic>
      <p:pic>
        <p:nvPicPr>
          <p:cNvPr id="36" name="Picture 35" descr="12_3__605E5C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9732989" y="3083687"/>
            <a:ext cx="876864" cy="265429"/>
          </a:xfrm>
          <a:prstGeom prst="rect">
            <a:avLst/>
          </a:prstGeom>
        </p:spPr>
      </p:pic>
      <p:pic>
        <p:nvPicPr>
          <p:cNvPr id="37" name="Picture 36" descr="_40_605E5C.png"/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10738466" y="3083687"/>
            <a:ext cx="564037" cy="265429"/>
          </a:xfrm>
          <a:prstGeom prst="rect">
            <a:avLst/>
          </a:prstGeom>
        </p:spPr>
      </p:pic>
      <p:pic>
        <p:nvPicPr>
          <p:cNvPr id="38" name="Picture 37" descr="5_6_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11407148" y="3083687"/>
            <a:ext cx="720450" cy="265429"/>
          </a:xfrm>
          <a:prstGeom prst="rect">
            <a:avLst/>
          </a:prstGeom>
        </p:spPr>
      </p:pic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373611" y="2357418"/>
            <a:ext cx="334520" cy="486574"/>
          </a:xfrm>
          <a:prstGeom prst="rect">
            <a:avLst/>
          </a:prstGeom>
        </p:spPr>
      </p:pic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5123309"/>
            <a:ext cx="263506" cy="383281"/>
          </a:xfrm>
          <a:prstGeom prst="rect">
            <a:avLst/>
          </a:prstGeom>
        </p:spPr>
      </p:pic>
      <p:pic>
        <p:nvPicPr>
          <p:cNvPr id="41" name="Picture 40" descr="55_9__605E5C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8984191" y="4738370"/>
            <a:ext cx="876864" cy="265429"/>
          </a:xfrm>
          <a:prstGeom prst="rect">
            <a:avLst/>
          </a:prstGeom>
        </p:spPr>
      </p:pic>
      <p:pic>
        <p:nvPicPr>
          <p:cNvPr id="42" name="Picture 41" descr="57_3__605E5C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9732989" y="4738370"/>
            <a:ext cx="876864" cy="265429"/>
          </a:xfrm>
          <a:prstGeom prst="rect">
            <a:avLst/>
          </a:prstGeom>
        </p:spPr>
      </p:pic>
      <p:pic>
        <p:nvPicPr>
          <p:cNvPr id="43" name="Picture 42" descr="_139_605E5C.png"/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10660259" y="4738370"/>
            <a:ext cx="720450" cy="265429"/>
          </a:xfrm>
          <a:prstGeom prst="rect">
            <a:avLst/>
          </a:prstGeom>
        </p:spPr>
      </p:pic>
      <p:pic>
        <p:nvPicPr>
          <p:cNvPr id="44" name="Picture 43" descr="5_5__605E5C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11407148" y="4738370"/>
            <a:ext cx="720450" cy="265429"/>
          </a:xfrm>
          <a:prstGeom prst="rect">
            <a:avLst/>
          </a:prstGeom>
        </p:spPr>
      </p:pic>
      <p:pic>
        <p:nvPicPr>
          <p:cNvPr id="45" name="Picture 44" descr="31_3__605E5C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8984191" y="5354066"/>
            <a:ext cx="876864" cy="265429"/>
          </a:xfrm>
          <a:prstGeom prst="rect">
            <a:avLst/>
          </a:prstGeom>
        </p:spPr>
      </p:pic>
      <p:pic>
        <p:nvPicPr>
          <p:cNvPr id="46" name="Picture 45" descr="30_3__605E5C.png"/>
          <p:cNvPicPr>
            <a:picLocks noChangeAspect="1"/>
          </p:cNvPicPr>
          <p:nvPr/>
        </p:nvPicPr>
        <p:blipFill>
          <a:blip r:embed="rId23"/>
          <a:stretch>
            <a:fillRect/>
          </a:stretch>
        </p:blipFill>
        <p:spPr>
          <a:xfrm>
            <a:off x="9732989" y="5354066"/>
            <a:ext cx="876864" cy="265429"/>
          </a:xfrm>
          <a:prstGeom prst="rect">
            <a:avLst/>
          </a:prstGeom>
        </p:spPr>
      </p:pic>
      <p:pic>
        <p:nvPicPr>
          <p:cNvPr id="47" name="Picture 46" descr="_99_605E5C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10738466" y="5354066"/>
            <a:ext cx="564037" cy="265429"/>
          </a:xfrm>
          <a:prstGeom prst="rect">
            <a:avLst/>
          </a:prstGeom>
        </p:spPr>
      </p:pic>
      <p:pic>
        <p:nvPicPr>
          <p:cNvPr id="48" name="Picture 47" descr="4_9__605E5C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11407148" y="5354066"/>
            <a:ext cx="720450" cy="265429"/>
          </a:xfrm>
          <a:prstGeom prst="rect">
            <a:avLst/>
          </a:prstGeom>
        </p:spPr>
      </p:pic>
      <p:pic>
        <p:nvPicPr>
          <p:cNvPr id="49" name="Picture 48" descr="12_9__605E5C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8984191" y="5969762"/>
            <a:ext cx="876864" cy="265429"/>
          </a:xfrm>
          <a:prstGeom prst="rect">
            <a:avLst/>
          </a:prstGeom>
        </p:spPr>
      </p:pic>
      <p:pic>
        <p:nvPicPr>
          <p:cNvPr id="50" name="Picture 49" descr="12_5__605E5C.png"/>
          <p:cNvPicPr>
            <a:picLocks noChangeAspect="1"/>
          </p:cNvPicPr>
          <p:nvPr/>
        </p:nvPicPr>
        <p:blipFill>
          <a:blip r:embed="rId27"/>
          <a:stretch>
            <a:fillRect/>
          </a:stretch>
        </p:blipFill>
        <p:spPr>
          <a:xfrm>
            <a:off x="9732989" y="5969762"/>
            <a:ext cx="876864" cy="265429"/>
          </a:xfrm>
          <a:prstGeom prst="rect">
            <a:avLst/>
          </a:prstGeom>
        </p:spPr>
      </p:pic>
      <p:pic>
        <p:nvPicPr>
          <p:cNvPr id="51" name="Picture 50" descr="_40_605E5C.png"/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10738466" y="5969762"/>
            <a:ext cx="564037" cy="265429"/>
          </a:xfrm>
          <a:prstGeom prst="rect">
            <a:avLst/>
          </a:prstGeom>
        </p:spPr>
      </p:pic>
      <p:pic>
        <p:nvPicPr>
          <p:cNvPr id="52" name="Picture 51" descr="4_9__605E5C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11407148" y="5969762"/>
            <a:ext cx="720450" cy="265429"/>
          </a:xfrm>
          <a:prstGeom prst="rect">
            <a:avLst/>
          </a:prstGeom>
        </p:spPr>
      </p:pic>
      <p:pic>
        <p:nvPicPr>
          <p:cNvPr id="53" name="Picture 5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373611" y="5243493"/>
            <a:ext cx="334520" cy="486574"/>
          </a:xfrm>
          <a:prstGeom prst="rect">
            <a:avLst/>
          </a:prstGeom>
        </p:spPr>
      </p:pic>
      <p:sp>
        <p:nvSpPr>
          <p:cNvPr id="54" name="lockshield_13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lockshield_20"/>
          <p:cNvSpPr/>
          <p:nvPr/>
        </p:nvSpPr>
        <p:spPr>
          <a:xfrm>
            <a:off x="238125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5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Tables Ingredient Type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and value of the Germany market by Ingredient Type,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Volume, By Ingredient Type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6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944688"/>
                <a:gridCol w="523365"/>
                <a:gridCol w="523365"/>
                <a:gridCol w="523365"/>
                <a:gridCol w="523365"/>
                <a:gridCol w="523365"/>
                <a:gridCol w="523365"/>
                <a:gridCol w="523365"/>
                <a:gridCol w="523365"/>
                <a:gridCol w="523365"/>
                <a:gridCol w="523365"/>
                <a:gridCol w="523365"/>
                <a:gridCol w="523365"/>
                <a:gridCol w="523365"/>
                <a:gridCol w="523365"/>
                <a:gridCol w="523365"/>
                <a:gridCol w="523365"/>
                <a:gridCol w="568678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Ingredient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Regular / Established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Niche / Specialized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Emerging Ingredients / Innovation Candidates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4860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819400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87655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Value, By Ingredient Type (US$ Mn)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3076575"/>
          <a:ext cx="11887196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103205"/>
                <a:gridCol w="527641"/>
                <a:gridCol w="527641"/>
                <a:gridCol w="527641"/>
                <a:gridCol w="527641"/>
                <a:gridCol w="527641"/>
                <a:gridCol w="509055"/>
                <a:gridCol w="503744"/>
                <a:gridCol w="503744"/>
                <a:gridCol w="503744"/>
                <a:gridCol w="503744"/>
                <a:gridCol w="503744"/>
                <a:gridCol w="503744"/>
                <a:gridCol w="503744"/>
                <a:gridCol w="503744"/>
                <a:gridCol w="503744"/>
                <a:gridCol w="503744"/>
                <a:gridCol w="599291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Ingredient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Regular / Established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Niche / Specialized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Emerging Ingredients / Innovation Candidates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43243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81657" y="1713738"/>
            <a:ext cx="366712" cy="533400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460910" y="3552062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6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YoY Analysis Ingredient Type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Germany year-on-year volume and value growth by Ingredient Type,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457325"/>
          </a:xfrm>
          <a:prstGeom prst="roundRect">
            <a:avLst>
              <a:gd name="adj" fmla="val 522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Volume YoY, By Ingredient Type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0" cy="9906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00352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Ingredient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Regular / Established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Niche / Specialized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Emerging Ingredients / Innovation Candidates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2383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571750"/>
            <a:ext cx="11906250" cy="1457325"/>
          </a:xfrm>
          <a:prstGeom prst="roundRect">
            <a:avLst>
              <a:gd name="adj" fmla="val 522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62890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 YoY, By Ingredient Type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2828925"/>
          <a:ext cx="11887200" cy="9906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00352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Ingredient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Regular / Established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Niche / Specialized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Emerging Ingredients / Innovation Candidates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38290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411442" y="1590441"/>
            <a:ext cx="365985" cy="532342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411442" y="3181116"/>
            <a:ext cx="365985" cy="532342"/>
          </a:xfrm>
          <a:prstGeom prst="rect">
            <a:avLst/>
          </a:prstGeom>
        </p:spPr>
      </p:pic>
    </p:spTree>
  </p:cSld>
  <p:clrMapOvr>
    <a:masterClrMapping/>
  </p:clrMapOvr>
</p:sld>
</file>

<file path=ppt/slides/slide16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10.3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Product Format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Segmental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Table (Volume &amp; Value)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YoY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6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Segmental Analysis Product Format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Germany segmental analysis by Product Format: growth contribution, share variance and absolute $ opportunity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Growth Contribution 2026 → 2036, By Product Format (US$ Mn)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Value Shares &amp; Variance, By Product Format</a:t>
            </a:r>
          </a:p>
        </p:txBody>
      </p:sp>
      <p:graphicFrame>
        <p:nvGraphicFramePr>
          <p:cNvPr id="16" name="Table 15"/>
          <p:cNvGraphicFramePr>
            <a:graphicFrameLocks noGrp="1"/>
          </p:cNvGraphicFramePr>
          <p:nvPr/>
        </p:nvGraphicFramePr>
        <p:xfrm>
          <a:off x="6181725" y="1238250"/>
          <a:ext cx="5857876" cy="228599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234160"/>
                <a:gridCol w="1155929"/>
                <a:gridCol w="1155929"/>
                <a:gridCol w="1155929"/>
                <a:gridCol w="1155929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Format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5498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Liquid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5498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Spray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5498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Cream &amp; Balm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5498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5498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Foam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5498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Wipe &amp; Pad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5498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Powder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5498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Solid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7" name="TextBox 16"/>
          <p:cNvSpPr txBox="1"/>
          <p:nvPr/>
        </p:nvSpPr>
        <p:spPr>
          <a:xfrm>
            <a:off x="6248400" y="3533775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38125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Absolute $ Opportunity, By Product Format (US$ Mn)</a:t>
            </a:r>
          </a:p>
        </p:txBody>
      </p:sp>
      <p:graphicFrame>
        <p:nvGraphicFramePr>
          <p:cNvPr id="20" name="Chart 19"/>
          <p:cNvGraphicFramePr>
            <a:graphicFrameLocks noGrp="1"/>
          </p:cNvGraphicFramePr>
          <p:nvPr/>
        </p:nvGraphicFramePr>
        <p:xfrm>
          <a:off x="238125" y="4152900"/>
          <a:ext cx="5686425" cy="240982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1" name="Rounded Rectangle 20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6267450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Volume Shares &amp; Variance, By Product Format</a:t>
            </a:r>
          </a:p>
        </p:txBody>
      </p:sp>
      <p:graphicFrame>
        <p:nvGraphicFramePr>
          <p:cNvPr id="23" name="Table 22"/>
          <p:cNvGraphicFramePr>
            <a:graphicFrameLocks noGrp="1"/>
          </p:cNvGraphicFramePr>
          <p:nvPr/>
        </p:nvGraphicFramePr>
        <p:xfrm>
          <a:off x="6181725" y="4124325"/>
          <a:ext cx="5857876" cy="228599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234160"/>
                <a:gridCol w="1155929"/>
                <a:gridCol w="1155929"/>
                <a:gridCol w="1155929"/>
                <a:gridCol w="1155929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Format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5498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Liquid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5498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Spray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5498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Cream &amp; Balm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5498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5498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Foam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5498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Wipe &amp; Pad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5498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Powder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5498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Solid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24" name="TextBox 23"/>
          <p:cNvSpPr txBox="1"/>
          <p:nvPr/>
        </p:nvSpPr>
        <p:spPr>
          <a:xfrm>
            <a:off x="6248400" y="6419850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7" name="Picture 26" descr="33_0_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7555416" y="1479153"/>
            <a:ext cx="876864" cy="265429"/>
          </a:xfrm>
          <a:prstGeom prst="rect">
            <a:avLst/>
          </a:prstGeom>
        </p:spPr>
      </p:pic>
      <p:pic>
        <p:nvPicPr>
          <p:cNvPr id="28" name="Picture 27" descr="32_0_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711345" y="1479153"/>
            <a:ext cx="876864" cy="265429"/>
          </a:xfrm>
          <a:prstGeom prst="rect">
            <a:avLst/>
          </a:prstGeom>
        </p:spPr>
      </p:pic>
      <p:pic>
        <p:nvPicPr>
          <p:cNvPr id="29" name="Picture 28" descr="_103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9945481" y="1479153"/>
            <a:ext cx="720450" cy="265429"/>
          </a:xfrm>
          <a:prstGeom prst="rect">
            <a:avLst/>
          </a:prstGeom>
        </p:spPr>
      </p:pic>
      <p:pic>
        <p:nvPicPr>
          <p:cNvPr id="30" name="Picture 29" descr="5_6_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11101410" y="1479153"/>
            <a:ext cx="720450" cy="265429"/>
          </a:xfrm>
          <a:prstGeom prst="rect">
            <a:avLst/>
          </a:prstGeom>
        </p:spPr>
      </p:pic>
      <p:pic>
        <p:nvPicPr>
          <p:cNvPr id="31" name="Picture 30" descr="21_4_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7555416" y="1734137"/>
            <a:ext cx="876864" cy="265429"/>
          </a:xfrm>
          <a:prstGeom prst="rect">
            <a:avLst/>
          </a:prstGeom>
        </p:spPr>
      </p:pic>
      <p:pic>
        <p:nvPicPr>
          <p:cNvPr id="32" name="Picture 31" descr="20_2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8711345" y="1734137"/>
            <a:ext cx="876864" cy="265429"/>
          </a:xfrm>
          <a:prstGeom prst="rect">
            <a:avLst/>
          </a:prstGeom>
        </p:spPr>
      </p:pic>
      <p:pic>
        <p:nvPicPr>
          <p:cNvPr id="33" name="Picture 32" descr="_120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9945481" y="1734137"/>
            <a:ext cx="720450" cy="265429"/>
          </a:xfrm>
          <a:prstGeom prst="rect">
            <a:avLst/>
          </a:prstGeom>
        </p:spPr>
      </p:pic>
      <p:pic>
        <p:nvPicPr>
          <p:cNvPr id="34" name="Picture 33" descr="5_3_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11101410" y="1734137"/>
            <a:ext cx="720450" cy="265429"/>
          </a:xfrm>
          <a:prstGeom prst="rect">
            <a:avLst/>
          </a:prstGeom>
        </p:spPr>
      </p:pic>
      <p:pic>
        <p:nvPicPr>
          <p:cNvPr id="35" name="Picture 34" descr="11_5_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7555416" y="1989121"/>
            <a:ext cx="876864" cy="265429"/>
          </a:xfrm>
          <a:prstGeom prst="rect">
            <a:avLst/>
          </a:prstGeom>
        </p:spPr>
      </p:pic>
      <p:pic>
        <p:nvPicPr>
          <p:cNvPr id="36" name="Picture 35" descr="13_1__605E5C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8711345" y="1989121"/>
            <a:ext cx="876864" cy="265429"/>
          </a:xfrm>
          <a:prstGeom prst="rect">
            <a:avLst/>
          </a:prstGeom>
        </p:spPr>
      </p:pic>
      <p:pic>
        <p:nvPicPr>
          <p:cNvPr id="37" name="Picture 36" descr="_167_605E5C.png"/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9945481" y="1989121"/>
            <a:ext cx="720450" cy="265429"/>
          </a:xfrm>
          <a:prstGeom prst="rect">
            <a:avLst/>
          </a:prstGeom>
        </p:spPr>
      </p:pic>
      <p:pic>
        <p:nvPicPr>
          <p:cNvPr id="38" name="Picture 37" descr="7_4__605E5C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11101410" y="1989121"/>
            <a:ext cx="720450" cy="265429"/>
          </a:xfrm>
          <a:prstGeom prst="rect">
            <a:avLst/>
          </a:prstGeom>
        </p:spPr>
      </p:pic>
      <p:pic>
        <p:nvPicPr>
          <p:cNvPr id="39" name="Picture 38" descr="6_1__605E5C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7633623" y="2244105"/>
            <a:ext cx="720450" cy="265429"/>
          </a:xfrm>
          <a:prstGeom prst="rect">
            <a:avLst/>
          </a:prstGeom>
        </p:spPr>
      </p:pic>
      <p:pic>
        <p:nvPicPr>
          <p:cNvPr id="40" name="Picture 39" descr="6_7__605E5C.png"/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8789552" y="2244105"/>
            <a:ext cx="720450" cy="265429"/>
          </a:xfrm>
          <a:prstGeom prst="rect">
            <a:avLst/>
          </a:prstGeom>
        </p:spPr>
      </p:pic>
      <p:pic>
        <p:nvPicPr>
          <p:cNvPr id="41" name="Picture 40" descr="_66_605E5C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10023688" y="2244105"/>
            <a:ext cx="564037" cy="265429"/>
          </a:xfrm>
          <a:prstGeom prst="rect">
            <a:avLst/>
          </a:prstGeom>
        </p:spPr>
      </p:pic>
      <p:pic>
        <p:nvPicPr>
          <p:cNvPr id="42" name="Picture 41" descr="7_0__605E5C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11101410" y="2244105"/>
            <a:ext cx="720450" cy="265429"/>
          </a:xfrm>
          <a:prstGeom prst="rect">
            <a:avLst/>
          </a:prstGeom>
        </p:spPr>
      </p:pic>
      <p:pic>
        <p:nvPicPr>
          <p:cNvPr id="43" name="Picture 42" descr="8_4__605E5C.png"/>
          <p:cNvPicPr>
            <a:picLocks noChangeAspect="1"/>
          </p:cNvPicPr>
          <p:nvPr/>
        </p:nvPicPr>
        <p:blipFill>
          <a:blip r:embed="rId23"/>
          <a:stretch>
            <a:fillRect/>
          </a:stretch>
        </p:blipFill>
        <p:spPr>
          <a:xfrm>
            <a:off x="7633623" y="2499088"/>
            <a:ext cx="720450" cy="265429"/>
          </a:xfrm>
          <a:prstGeom prst="rect">
            <a:avLst/>
          </a:prstGeom>
        </p:spPr>
      </p:pic>
      <p:pic>
        <p:nvPicPr>
          <p:cNvPr id="44" name="Picture 43" descr="9_1__605E5C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8789552" y="2499088"/>
            <a:ext cx="720450" cy="265429"/>
          </a:xfrm>
          <a:prstGeom prst="rect">
            <a:avLst/>
          </a:prstGeom>
        </p:spPr>
      </p:pic>
      <p:pic>
        <p:nvPicPr>
          <p:cNvPr id="45" name="Picture 44" descr="_73_605E5C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10023688" y="2499088"/>
            <a:ext cx="564037" cy="265429"/>
          </a:xfrm>
          <a:prstGeom prst="rect">
            <a:avLst/>
          </a:prstGeom>
        </p:spPr>
      </p:pic>
      <p:pic>
        <p:nvPicPr>
          <p:cNvPr id="46" name="Picture 45" descr="6_8__605E5C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11101410" y="2499088"/>
            <a:ext cx="720450" cy="265429"/>
          </a:xfrm>
          <a:prstGeom prst="rect">
            <a:avLst/>
          </a:prstGeom>
        </p:spPr>
      </p:pic>
      <p:pic>
        <p:nvPicPr>
          <p:cNvPr id="47" name="Picture 46" descr="12_6__605E5C.png"/>
          <p:cNvPicPr>
            <a:picLocks noChangeAspect="1"/>
          </p:cNvPicPr>
          <p:nvPr/>
        </p:nvPicPr>
        <p:blipFill>
          <a:blip r:embed="rId27"/>
          <a:stretch>
            <a:fillRect/>
          </a:stretch>
        </p:blipFill>
        <p:spPr>
          <a:xfrm>
            <a:off x="7555416" y="2754073"/>
            <a:ext cx="876864" cy="265429"/>
          </a:xfrm>
          <a:prstGeom prst="rect">
            <a:avLst/>
          </a:prstGeom>
        </p:spPr>
      </p:pic>
      <p:pic>
        <p:nvPicPr>
          <p:cNvPr id="48" name="Picture 47" descr="12_0__605E5C.png"/>
          <p:cNvPicPr>
            <a:picLocks noChangeAspect="1"/>
          </p:cNvPicPr>
          <p:nvPr/>
        </p:nvPicPr>
        <p:blipFill>
          <a:blip r:embed="rId28"/>
          <a:stretch>
            <a:fillRect/>
          </a:stretch>
        </p:blipFill>
        <p:spPr>
          <a:xfrm>
            <a:off x="8711345" y="2754073"/>
            <a:ext cx="876864" cy="265429"/>
          </a:xfrm>
          <a:prstGeom prst="rect">
            <a:avLst/>
          </a:prstGeom>
        </p:spPr>
      </p:pic>
      <p:pic>
        <p:nvPicPr>
          <p:cNvPr id="49" name="Picture 48" descr="_56_605E5C.png"/>
          <p:cNvPicPr>
            <a:picLocks noChangeAspect="1"/>
          </p:cNvPicPr>
          <p:nvPr/>
        </p:nvPicPr>
        <p:blipFill>
          <a:blip r:embed="rId29"/>
          <a:stretch>
            <a:fillRect/>
          </a:stretch>
        </p:blipFill>
        <p:spPr>
          <a:xfrm>
            <a:off x="10023688" y="2754073"/>
            <a:ext cx="564037" cy="265429"/>
          </a:xfrm>
          <a:prstGeom prst="rect">
            <a:avLst/>
          </a:prstGeom>
        </p:spPr>
      </p:pic>
      <p:pic>
        <p:nvPicPr>
          <p:cNvPr id="50" name="Picture 49" descr="5_4__605E5C.png"/>
          <p:cNvPicPr>
            <a:picLocks noChangeAspect="1"/>
          </p:cNvPicPr>
          <p:nvPr/>
        </p:nvPicPr>
        <p:blipFill>
          <a:blip r:embed="rId30"/>
          <a:stretch>
            <a:fillRect/>
          </a:stretch>
        </p:blipFill>
        <p:spPr>
          <a:xfrm>
            <a:off x="11101410" y="2754073"/>
            <a:ext cx="720450" cy="265429"/>
          </a:xfrm>
          <a:prstGeom prst="rect">
            <a:avLst/>
          </a:prstGeom>
        </p:spPr>
      </p:pic>
      <p:pic>
        <p:nvPicPr>
          <p:cNvPr id="51" name="Picture 50" descr="3_9__605E5C.png"/>
          <p:cNvPicPr>
            <a:picLocks noChangeAspect="1"/>
          </p:cNvPicPr>
          <p:nvPr/>
        </p:nvPicPr>
        <p:blipFill>
          <a:blip r:embed="rId31"/>
          <a:stretch>
            <a:fillRect/>
          </a:stretch>
        </p:blipFill>
        <p:spPr>
          <a:xfrm>
            <a:off x="7633623" y="3009057"/>
            <a:ext cx="720450" cy="265429"/>
          </a:xfrm>
          <a:prstGeom prst="rect">
            <a:avLst/>
          </a:prstGeom>
        </p:spPr>
      </p:pic>
      <p:pic>
        <p:nvPicPr>
          <p:cNvPr id="52" name="Picture 51" descr="3_6__605E5C.png"/>
          <p:cNvPicPr>
            <a:picLocks noChangeAspect="1"/>
          </p:cNvPicPr>
          <p:nvPr/>
        </p:nvPicPr>
        <p:blipFill>
          <a:blip r:embed="rId32"/>
          <a:stretch>
            <a:fillRect/>
          </a:stretch>
        </p:blipFill>
        <p:spPr>
          <a:xfrm>
            <a:off x="8789552" y="3009057"/>
            <a:ext cx="720450" cy="265429"/>
          </a:xfrm>
          <a:prstGeom prst="rect">
            <a:avLst/>
          </a:prstGeom>
        </p:spPr>
      </p:pic>
      <p:pic>
        <p:nvPicPr>
          <p:cNvPr id="53" name="Picture 52" descr="_27_605E5C.png"/>
          <p:cNvPicPr>
            <a:picLocks noChangeAspect="1"/>
          </p:cNvPicPr>
          <p:nvPr/>
        </p:nvPicPr>
        <p:blipFill>
          <a:blip r:embed="rId33"/>
          <a:stretch>
            <a:fillRect/>
          </a:stretch>
        </p:blipFill>
        <p:spPr>
          <a:xfrm>
            <a:off x="10023688" y="3009057"/>
            <a:ext cx="564037" cy="265429"/>
          </a:xfrm>
          <a:prstGeom prst="rect">
            <a:avLst/>
          </a:prstGeom>
        </p:spPr>
      </p:pic>
      <p:pic>
        <p:nvPicPr>
          <p:cNvPr id="54" name="Picture 53" descr="5_2__605E5C.png"/>
          <p:cNvPicPr>
            <a:picLocks noChangeAspect="1"/>
          </p:cNvPicPr>
          <p:nvPr/>
        </p:nvPicPr>
        <p:blipFill>
          <a:blip r:embed="rId34"/>
          <a:stretch>
            <a:fillRect/>
          </a:stretch>
        </p:blipFill>
        <p:spPr>
          <a:xfrm>
            <a:off x="11101410" y="3009057"/>
            <a:ext cx="720450" cy="265429"/>
          </a:xfrm>
          <a:prstGeom prst="rect">
            <a:avLst/>
          </a:prstGeom>
        </p:spPr>
      </p:pic>
      <p:pic>
        <p:nvPicPr>
          <p:cNvPr id="55" name="Picture 54" descr="3_2__605E5C.png"/>
          <p:cNvPicPr>
            <a:picLocks noChangeAspect="1"/>
          </p:cNvPicPr>
          <p:nvPr/>
        </p:nvPicPr>
        <p:blipFill>
          <a:blip r:embed="rId35"/>
          <a:stretch>
            <a:fillRect/>
          </a:stretch>
        </p:blipFill>
        <p:spPr>
          <a:xfrm>
            <a:off x="7633623" y="3264041"/>
            <a:ext cx="720450" cy="265429"/>
          </a:xfrm>
          <a:prstGeom prst="rect">
            <a:avLst/>
          </a:prstGeom>
        </p:spPr>
      </p:pic>
      <p:pic>
        <p:nvPicPr>
          <p:cNvPr id="56" name="Picture 55" descr="3_2__605E5C.png"/>
          <p:cNvPicPr>
            <a:picLocks noChangeAspect="1"/>
          </p:cNvPicPr>
          <p:nvPr/>
        </p:nvPicPr>
        <p:blipFill>
          <a:blip r:embed="rId35"/>
          <a:stretch>
            <a:fillRect/>
          </a:stretch>
        </p:blipFill>
        <p:spPr>
          <a:xfrm>
            <a:off x="8789552" y="3264041"/>
            <a:ext cx="720450" cy="265429"/>
          </a:xfrm>
          <a:prstGeom prst="rect">
            <a:avLst/>
          </a:prstGeom>
        </p:spPr>
      </p:pic>
      <p:pic>
        <p:nvPicPr>
          <p:cNvPr id="57" name="Picture 56" descr="_2_605E5C.png"/>
          <p:cNvPicPr>
            <a:picLocks noChangeAspect="1"/>
          </p:cNvPicPr>
          <p:nvPr/>
        </p:nvPicPr>
        <p:blipFill>
          <a:blip r:embed="rId36"/>
          <a:stretch>
            <a:fillRect/>
          </a:stretch>
        </p:blipFill>
        <p:spPr>
          <a:xfrm>
            <a:off x="10101895" y="3264041"/>
            <a:ext cx="407623" cy="265429"/>
          </a:xfrm>
          <a:prstGeom prst="rect">
            <a:avLst/>
          </a:prstGeom>
        </p:spPr>
      </p:pic>
      <p:pic>
        <p:nvPicPr>
          <p:cNvPr id="58" name="Picture 57" descr="5_9__605E5C.png"/>
          <p:cNvPicPr>
            <a:picLocks noChangeAspect="1"/>
          </p:cNvPicPr>
          <p:nvPr/>
        </p:nvPicPr>
        <p:blipFill>
          <a:blip r:embed="rId37"/>
          <a:stretch>
            <a:fillRect/>
          </a:stretch>
        </p:blipFill>
        <p:spPr>
          <a:xfrm>
            <a:off x="11101410" y="3264041"/>
            <a:ext cx="720450" cy="265429"/>
          </a:xfrm>
          <a:prstGeom prst="rect">
            <a:avLst/>
          </a:prstGeom>
        </p:spPr>
      </p:pic>
      <p:pic>
        <p:nvPicPr>
          <p:cNvPr id="59" name="Picture 5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541053" y="2237612"/>
            <a:ext cx="366712" cy="533400"/>
          </a:xfrm>
          <a:prstGeom prst="rect">
            <a:avLst/>
          </a:prstGeom>
        </p:spPr>
      </p:pic>
      <p:pic>
        <p:nvPicPr>
          <p:cNvPr id="60" name="Picture 59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5123309"/>
            <a:ext cx="263506" cy="383281"/>
          </a:xfrm>
          <a:prstGeom prst="rect">
            <a:avLst/>
          </a:prstGeom>
        </p:spPr>
      </p:pic>
      <p:pic>
        <p:nvPicPr>
          <p:cNvPr id="61" name="Picture 60" descr="33_5__605E5C.png"/>
          <p:cNvPicPr>
            <a:picLocks noChangeAspect="1"/>
          </p:cNvPicPr>
          <p:nvPr/>
        </p:nvPicPr>
        <p:blipFill>
          <a:blip r:embed="rId38"/>
          <a:stretch>
            <a:fillRect/>
          </a:stretch>
        </p:blipFill>
        <p:spPr>
          <a:xfrm>
            <a:off x="7555416" y="4365228"/>
            <a:ext cx="876864" cy="265429"/>
          </a:xfrm>
          <a:prstGeom prst="rect">
            <a:avLst/>
          </a:prstGeom>
        </p:spPr>
      </p:pic>
      <p:pic>
        <p:nvPicPr>
          <p:cNvPr id="62" name="Picture 61" descr="32_5__605E5C.png"/>
          <p:cNvPicPr>
            <a:picLocks noChangeAspect="1"/>
          </p:cNvPicPr>
          <p:nvPr/>
        </p:nvPicPr>
        <p:blipFill>
          <a:blip r:embed="rId39"/>
          <a:stretch>
            <a:fillRect/>
          </a:stretch>
        </p:blipFill>
        <p:spPr>
          <a:xfrm>
            <a:off x="8711345" y="4365228"/>
            <a:ext cx="876864" cy="265429"/>
          </a:xfrm>
          <a:prstGeom prst="rect">
            <a:avLst/>
          </a:prstGeom>
        </p:spPr>
      </p:pic>
      <p:pic>
        <p:nvPicPr>
          <p:cNvPr id="63" name="Picture 62" descr="_103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9945481" y="4365228"/>
            <a:ext cx="720450" cy="265429"/>
          </a:xfrm>
          <a:prstGeom prst="rect">
            <a:avLst/>
          </a:prstGeom>
        </p:spPr>
      </p:pic>
      <p:pic>
        <p:nvPicPr>
          <p:cNvPr id="64" name="Picture 63" descr="5_0__605E5C.png"/>
          <p:cNvPicPr>
            <a:picLocks noChangeAspect="1"/>
          </p:cNvPicPr>
          <p:nvPr/>
        </p:nvPicPr>
        <p:blipFill>
          <a:blip r:embed="rId40"/>
          <a:stretch>
            <a:fillRect/>
          </a:stretch>
        </p:blipFill>
        <p:spPr>
          <a:xfrm>
            <a:off x="11101410" y="4365228"/>
            <a:ext cx="720450" cy="265429"/>
          </a:xfrm>
          <a:prstGeom prst="rect">
            <a:avLst/>
          </a:prstGeom>
        </p:spPr>
      </p:pic>
      <p:pic>
        <p:nvPicPr>
          <p:cNvPr id="65" name="Picture 64" descr="21_8__605E5C.png"/>
          <p:cNvPicPr>
            <a:picLocks noChangeAspect="1"/>
          </p:cNvPicPr>
          <p:nvPr/>
        </p:nvPicPr>
        <p:blipFill>
          <a:blip r:embed="rId41"/>
          <a:stretch>
            <a:fillRect/>
          </a:stretch>
        </p:blipFill>
        <p:spPr>
          <a:xfrm>
            <a:off x="7555416" y="4620212"/>
            <a:ext cx="876864" cy="265429"/>
          </a:xfrm>
          <a:prstGeom prst="rect">
            <a:avLst/>
          </a:prstGeom>
        </p:spPr>
      </p:pic>
      <p:pic>
        <p:nvPicPr>
          <p:cNvPr id="66" name="Picture 65" descr="20_6__605E5C.png"/>
          <p:cNvPicPr>
            <a:picLocks noChangeAspect="1"/>
          </p:cNvPicPr>
          <p:nvPr/>
        </p:nvPicPr>
        <p:blipFill>
          <a:blip r:embed="rId42"/>
          <a:stretch>
            <a:fillRect/>
          </a:stretch>
        </p:blipFill>
        <p:spPr>
          <a:xfrm>
            <a:off x="8711345" y="4620212"/>
            <a:ext cx="876864" cy="265429"/>
          </a:xfrm>
          <a:prstGeom prst="rect">
            <a:avLst/>
          </a:prstGeom>
        </p:spPr>
      </p:pic>
      <p:pic>
        <p:nvPicPr>
          <p:cNvPr id="67" name="Picture 66" descr="_121_605E5C.png"/>
          <p:cNvPicPr>
            <a:picLocks noChangeAspect="1"/>
          </p:cNvPicPr>
          <p:nvPr/>
        </p:nvPicPr>
        <p:blipFill>
          <a:blip r:embed="rId43"/>
          <a:stretch>
            <a:fillRect/>
          </a:stretch>
        </p:blipFill>
        <p:spPr>
          <a:xfrm>
            <a:off x="9945481" y="4620212"/>
            <a:ext cx="720450" cy="265429"/>
          </a:xfrm>
          <a:prstGeom prst="rect">
            <a:avLst/>
          </a:prstGeom>
        </p:spPr>
      </p:pic>
      <p:pic>
        <p:nvPicPr>
          <p:cNvPr id="68" name="Picture 67" descr="4_7__605E5C.png"/>
          <p:cNvPicPr>
            <a:picLocks noChangeAspect="1"/>
          </p:cNvPicPr>
          <p:nvPr/>
        </p:nvPicPr>
        <p:blipFill>
          <a:blip r:embed="rId44"/>
          <a:stretch>
            <a:fillRect/>
          </a:stretch>
        </p:blipFill>
        <p:spPr>
          <a:xfrm>
            <a:off x="11101410" y="4620212"/>
            <a:ext cx="720450" cy="265429"/>
          </a:xfrm>
          <a:prstGeom prst="rect">
            <a:avLst/>
          </a:prstGeom>
        </p:spPr>
      </p:pic>
      <p:pic>
        <p:nvPicPr>
          <p:cNvPr id="69" name="Picture 68" descr="11_1__605E5C.png"/>
          <p:cNvPicPr>
            <a:picLocks noChangeAspect="1"/>
          </p:cNvPicPr>
          <p:nvPr/>
        </p:nvPicPr>
        <p:blipFill>
          <a:blip r:embed="rId45"/>
          <a:stretch>
            <a:fillRect/>
          </a:stretch>
        </p:blipFill>
        <p:spPr>
          <a:xfrm>
            <a:off x="7555416" y="4875195"/>
            <a:ext cx="876864" cy="265429"/>
          </a:xfrm>
          <a:prstGeom prst="rect">
            <a:avLst/>
          </a:prstGeom>
        </p:spPr>
      </p:pic>
      <p:pic>
        <p:nvPicPr>
          <p:cNvPr id="70" name="Picture 69" descr="12_7__605E5C.png"/>
          <p:cNvPicPr>
            <a:picLocks noChangeAspect="1"/>
          </p:cNvPicPr>
          <p:nvPr/>
        </p:nvPicPr>
        <p:blipFill>
          <a:blip r:embed="rId46"/>
          <a:stretch>
            <a:fillRect/>
          </a:stretch>
        </p:blipFill>
        <p:spPr>
          <a:xfrm>
            <a:off x="8711345" y="4875195"/>
            <a:ext cx="876864" cy="265429"/>
          </a:xfrm>
          <a:prstGeom prst="rect">
            <a:avLst/>
          </a:prstGeom>
        </p:spPr>
      </p:pic>
      <p:pic>
        <p:nvPicPr>
          <p:cNvPr id="71" name="Picture 70" descr="_163_605E5C.png"/>
          <p:cNvPicPr>
            <a:picLocks noChangeAspect="1"/>
          </p:cNvPicPr>
          <p:nvPr/>
        </p:nvPicPr>
        <p:blipFill>
          <a:blip r:embed="rId47"/>
          <a:stretch>
            <a:fillRect/>
          </a:stretch>
        </p:blipFill>
        <p:spPr>
          <a:xfrm>
            <a:off x="9945481" y="4875195"/>
            <a:ext cx="720450" cy="265429"/>
          </a:xfrm>
          <a:prstGeom prst="rect">
            <a:avLst/>
          </a:prstGeom>
        </p:spPr>
      </p:pic>
      <p:pic>
        <p:nvPicPr>
          <p:cNvPr id="72" name="Picture 71" descr="6_7__605E5C.png"/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11101410" y="4875195"/>
            <a:ext cx="720450" cy="265429"/>
          </a:xfrm>
          <a:prstGeom prst="rect">
            <a:avLst/>
          </a:prstGeom>
        </p:spPr>
      </p:pic>
      <p:pic>
        <p:nvPicPr>
          <p:cNvPr id="73" name="Picture 72" descr="5_9__605E5C.png"/>
          <p:cNvPicPr>
            <a:picLocks noChangeAspect="1"/>
          </p:cNvPicPr>
          <p:nvPr/>
        </p:nvPicPr>
        <p:blipFill>
          <a:blip r:embed="rId37"/>
          <a:stretch>
            <a:fillRect/>
          </a:stretch>
        </p:blipFill>
        <p:spPr>
          <a:xfrm>
            <a:off x="7633623" y="5130180"/>
            <a:ext cx="720450" cy="265429"/>
          </a:xfrm>
          <a:prstGeom prst="rect">
            <a:avLst/>
          </a:prstGeom>
        </p:spPr>
      </p:pic>
      <p:pic>
        <p:nvPicPr>
          <p:cNvPr id="74" name="Picture 73" descr="6_5__605E5C.png"/>
          <p:cNvPicPr>
            <a:picLocks noChangeAspect="1"/>
          </p:cNvPicPr>
          <p:nvPr/>
        </p:nvPicPr>
        <p:blipFill>
          <a:blip r:embed="rId48"/>
          <a:stretch>
            <a:fillRect/>
          </a:stretch>
        </p:blipFill>
        <p:spPr>
          <a:xfrm>
            <a:off x="8789552" y="5130180"/>
            <a:ext cx="720450" cy="265429"/>
          </a:xfrm>
          <a:prstGeom prst="rect">
            <a:avLst/>
          </a:prstGeom>
        </p:spPr>
      </p:pic>
      <p:pic>
        <p:nvPicPr>
          <p:cNvPr id="75" name="Picture 74" descr="_64_605E5C.png"/>
          <p:cNvPicPr>
            <a:picLocks noChangeAspect="1"/>
          </p:cNvPicPr>
          <p:nvPr/>
        </p:nvPicPr>
        <p:blipFill>
          <a:blip r:embed="rId49"/>
          <a:stretch>
            <a:fillRect/>
          </a:stretch>
        </p:blipFill>
        <p:spPr>
          <a:xfrm>
            <a:off x="10023688" y="5130180"/>
            <a:ext cx="564037" cy="265429"/>
          </a:xfrm>
          <a:prstGeom prst="rect">
            <a:avLst/>
          </a:prstGeom>
        </p:spPr>
      </p:pic>
      <p:pic>
        <p:nvPicPr>
          <p:cNvPr id="76" name="Picture 75" descr="6_4__605E5C.png"/>
          <p:cNvPicPr>
            <a:picLocks noChangeAspect="1"/>
          </p:cNvPicPr>
          <p:nvPr/>
        </p:nvPicPr>
        <p:blipFill>
          <a:blip r:embed="rId50"/>
          <a:stretch>
            <a:fillRect/>
          </a:stretch>
        </p:blipFill>
        <p:spPr>
          <a:xfrm>
            <a:off x="11101410" y="5130180"/>
            <a:ext cx="720450" cy="265429"/>
          </a:xfrm>
          <a:prstGeom prst="rect">
            <a:avLst/>
          </a:prstGeom>
        </p:spPr>
      </p:pic>
      <p:pic>
        <p:nvPicPr>
          <p:cNvPr id="77" name="Picture 76" descr="8_9__605E5C.png"/>
          <p:cNvPicPr>
            <a:picLocks noChangeAspect="1"/>
          </p:cNvPicPr>
          <p:nvPr/>
        </p:nvPicPr>
        <p:blipFill>
          <a:blip r:embed="rId51"/>
          <a:stretch>
            <a:fillRect/>
          </a:stretch>
        </p:blipFill>
        <p:spPr>
          <a:xfrm>
            <a:off x="7633623" y="5385164"/>
            <a:ext cx="720450" cy="265429"/>
          </a:xfrm>
          <a:prstGeom prst="rect">
            <a:avLst/>
          </a:prstGeom>
        </p:spPr>
      </p:pic>
      <p:pic>
        <p:nvPicPr>
          <p:cNvPr id="78" name="Picture 77" descr="9_7__605E5C.png"/>
          <p:cNvPicPr>
            <a:picLocks noChangeAspect="1"/>
          </p:cNvPicPr>
          <p:nvPr/>
        </p:nvPicPr>
        <p:blipFill>
          <a:blip r:embed="rId52"/>
          <a:stretch>
            <a:fillRect/>
          </a:stretch>
        </p:blipFill>
        <p:spPr>
          <a:xfrm>
            <a:off x="8789552" y="5385164"/>
            <a:ext cx="720450" cy="265429"/>
          </a:xfrm>
          <a:prstGeom prst="rect">
            <a:avLst/>
          </a:prstGeom>
        </p:spPr>
      </p:pic>
      <p:pic>
        <p:nvPicPr>
          <p:cNvPr id="79" name="Picture 78" descr="_78_605E5C.png"/>
          <p:cNvPicPr>
            <a:picLocks noChangeAspect="1"/>
          </p:cNvPicPr>
          <p:nvPr/>
        </p:nvPicPr>
        <p:blipFill>
          <a:blip r:embed="rId53"/>
          <a:stretch>
            <a:fillRect/>
          </a:stretch>
        </p:blipFill>
        <p:spPr>
          <a:xfrm>
            <a:off x="10023688" y="5385164"/>
            <a:ext cx="564037" cy="265429"/>
          </a:xfrm>
          <a:prstGeom prst="rect">
            <a:avLst/>
          </a:prstGeom>
        </p:spPr>
      </p:pic>
      <p:pic>
        <p:nvPicPr>
          <p:cNvPr id="80" name="Picture 79" descr="6_2__605E5C.png"/>
          <p:cNvPicPr>
            <a:picLocks noChangeAspect="1"/>
          </p:cNvPicPr>
          <p:nvPr/>
        </p:nvPicPr>
        <p:blipFill>
          <a:blip r:embed="rId54"/>
          <a:stretch>
            <a:fillRect/>
          </a:stretch>
        </p:blipFill>
        <p:spPr>
          <a:xfrm>
            <a:off x="11101410" y="5385164"/>
            <a:ext cx="720450" cy="265429"/>
          </a:xfrm>
          <a:prstGeom prst="rect">
            <a:avLst/>
          </a:prstGeom>
        </p:spPr>
      </p:pic>
      <p:pic>
        <p:nvPicPr>
          <p:cNvPr id="81" name="Picture 80" descr="11_5_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7555416" y="5640148"/>
            <a:ext cx="876864" cy="265429"/>
          </a:xfrm>
          <a:prstGeom prst="rect">
            <a:avLst/>
          </a:prstGeom>
        </p:spPr>
      </p:pic>
      <p:pic>
        <p:nvPicPr>
          <p:cNvPr id="82" name="Picture 81" descr="11_0__605E5C.png"/>
          <p:cNvPicPr>
            <a:picLocks noChangeAspect="1"/>
          </p:cNvPicPr>
          <p:nvPr/>
        </p:nvPicPr>
        <p:blipFill>
          <a:blip r:embed="rId55"/>
          <a:stretch>
            <a:fillRect/>
          </a:stretch>
        </p:blipFill>
        <p:spPr>
          <a:xfrm>
            <a:off x="8711345" y="5640148"/>
            <a:ext cx="876864" cy="265429"/>
          </a:xfrm>
          <a:prstGeom prst="rect">
            <a:avLst/>
          </a:prstGeom>
        </p:spPr>
      </p:pic>
      <p:pic>
        <p:nvPicPr>
          <p:cNvPr id="83" name="Picture 82" descr="_51_605E5C.png"/>
          <p:cNvPicPr>
            <a:picLocks noChangeAspect="1"/>
          </p:cNvPicPr>
          <p:nvPr/>
        </p:nvPicPr>
        <p:blipFill>
          <a:blip r:embed="rId56"/>
          <a:stretch>
            <a:fillRect/>
          </a:stretch>
        </p:blipFill>
        <p:spPr>
          <a:xfrm>
            <a:off x="10023688" y="5640148"/>
            <a:ext cx="564037" cy="265429"/>
          </a:xfrm>
          <a:prstGeom prst="rect">
            <a:avLst/>
          </a:prstGeom>
        </p:spPr>
      </p:pic>
      <p:pic>
        <p:nvPicPr>
          <p:cNvPr id="84" name="Picture 83" descr="4_8__605E5C.png"/>
          <p:cNvPicPr>
            <a:picLocks noChangeAspect="1"/>
          </p:cNvPicPr>
          <p:nvPr/>
        </p:nvPicPr>
        <p:blipFill>
          <a:blip r:embed="rId57"/>
          <a:stretch>
            <a:fillRect/>
          </a:stretch>
        </p:blipFill>
        <p:spPr>
          <a:xfrm>
            <a:off x="11101410" y="5640148"/>
            <a:ext cx="720450" cy="265429"/>
          </a:xfrm>
          <a:prstGeom prst="rect">
            <a:avLst/>
          </a:prstGeom>
        </p:spPr>
      </p:pic>
      <p:pic>
        <p:nvPicPr>
          <p:cNvPr id="85" name="Picture 84" descr="4_2__605E5C.png"/>
          <p:cNvPicPr>
            <a:picLocks noChangeAspect="1"/>
          </p:cNvPicPr>
          <p:nvPr/>
        </p:nvPicPr>
        <p:blipFill>
          <a:blip r:embed="rId58"/>
          <a:stretch>
            <a:fillRect/>
          </a:stretch>
        </p:blipFill>
        <p:spPr>
          <a:xfrm>
            <a:off x="7633623" y="5895132"/>
            <a:ext cx="720450" cy="265429"/>
          </a:xfrm>
          <a:prstGeom prst="rect">
            <a:avLst/>
          </a:prstGeom>
        </p:spPr>
      </p:pic>
      <p:pic>
        <p:nvPicPr>
          <p:cNvPr id="86" name="Picture 85" descr="3_9__605E5C.png"/>
          <p:cNvPicPr>
            <a:picLocks noChangeAspect="1"/>
          </p:cNvPicPr>
          <p:nvPr/>
        </p:nvPicPr>
        <p:blipFill>
          <a:blip r:embed="rId31"/>
          <a:stretch>
            <a:fillRect/>
          </a:stretch>
        </p:blipFill>
        <p:spPr>
          <a:xfrm>
            <a:off x="8789552" y="5895132"/>
            <a:ext cx="720450" cy="265429"/>
          </a:xfrm>
          <a:prstGeom prst="rect">
            <a:avLst/>
          </a:prstGeom>
        </p:spPr>
      </p:pic>
      <p:pic>
        <p:nvPicPr>
          <p:cNvPr id="87" name="Picture 86" descr="_29_605E5C.png"/>
          <p:cNvPicPr>
            <a:picLocks noChangeAspect="1"/>
          </p:cNvPicPr>
          <p:nvPr/>
        </p:nvPicPr>
        <p:blipFill>
          <a:blip r:embed="rId59"/>
          <a:stretch>
            <a:fillRect/>
          </a:stretch>
        </p:blipFill>
        <p:spPr>
          <a:xfrm>
            <a:off x="10023688" y="5895132"/>
            <a:ext cx="564037" cy="265429"/>
          </a:xfrm>
          <a:prstGeom prst="rect">
            <a:avLst/>
          </a:prstGeom>
        </p:spPr>
      </p:pic>
      <p:pic>
        <p:nvPicPr>
          <p:cNvPr id="88" name="Picture 87" descr="4_5__605E5C.png"/>
          <p:cNvPicPr>
            <a:picLocks noChangeAspect="1"/>
          </p:cNvPicPr>
          <p:nvPr/>
        </p:nvPicPr>
        <p:blipFill>
          <a:blip r:embed="rId60"/>
          <a:stretch>
            <a:fillRect/>
          </a:stretch>
        </p:blipFill>
        <p:spPr>
          <a:xfrm>
            <a:off x="11101410" y="5895132"/>
            <a:ext cx="720450" cy="265429"/>
          </a:xfrm>
          <a:prstGeom prst="rect">
            <a:avLst/>
          </a:prstGeom>
        </p:spPr>
      </p:pic>
      <p:pic>
        <p:nvPicPr>
          <p:cNvPr id="89" name="Picture 88" descr="3_1__605E5C.png"/>
          <p:cNvPicPr>
            <a:picLocks noChangeAspect="1"/>
          </p:cNvPicPr>
          <p:nvPr/>
        </p:nvPicPr>
        <p:blipFill>
          <a:blip r:embed="rId61"/>
          <a:stretch>
            <a:fillRect/>
          </a:stretch>
        </p:blipFill>
        <p:spPr>
          <a:xfrm>
            <a:off x="7633623" y="6150116"/>
            <a:ext cx="720450" cy="265429"/>
          </a:xfrm>
          <a:prstGeom prst="rect">
            <a:avLst/>
          </a:prstGeom>
        </p:spPr>
      </p:pic>
      <p:pic>
        <p:nvPicPr>
          <p:cNvPr id="90" name="Picture 89" descr="3_1__605E5C.png"/>
          <p:cNvPicPr>
            <a:picLocks noChangeAspect="1"/>
          </p:cNvPicPr>
          <p:nvPr/>
        </p:nvPicPr>
        <p:blipFill>
          <a:blip r:embed="rId61"/>
          <a:stretch>
            <a:fillRect/>
          </a:stretch>
        </p:blipFill>
        <p:spPr>
          <a:xfrm>
            <a:off x="8789552" y="6150116"/>
            <a:ext cx="720450" cy="265429"/>
          </a:xfrm>
          <a:prstGeom prst="rect">
            <a:avLst/>
          </a:prstGeom>
        </p:spPr>
      </p:pic>
      <p:pic>
        <p:nvPicPr>
          <p:cNvPr id="91" name="Picture 90" descr="_2_605E5C.png"/>
          <p:cNvPicPr>
            <a:picLocks noChangeAspect="1"/>
          </p:cNvPicPr>
          <p:nvPr/>
        </p:nvPicPr>
        <p:blipFill>
          <a:blip r:embed="rId36"/>
          <a:stretch>
            <a:fillRect/>
          </a:stretch>
        </p:blipFill>
        <p:spPr>
          <a:xfrm>
            <a:off x="10101895" y="6150116"/>
            <a:ext cx="407623" cy="265429"/>
          </a:xfrm>
          <a:prstGeom prst="rect">
            <a:avLst/>
          </a:prstGeom>
        </p:spPr>
      </p:pic>
      <p:pic>
        <p:nvPicPr>
          <p:cNvPr id="92" name="Picture 91" descr="5_2__605E5C.png"/>
          <p:cNvPicPr>
            <a:picLocks noChangeAspect="1"/>
          </p:cNvPicPr>
          <p:nvPr/>
        </p:nvPicPr>
        <p:blipFill>
          <a:blip r:embed="rId34"/>
          <a:stretch>
            <a:fillRect/>
          </a:stretch>
        </p:blipFill>
        <p:spPr>
          <a:xfrm>
            <a:off x="11101410" y="6150116"/>
            <a:ext cx="720450" cy="265429"/>
          </a:xfrm>
          <a:prstGeom prst="rect">
            <a:avLst/>
          </a:prstGeom>
        </p:spPr>
      </p:pic>
      <p:pic>
        <p:nvPicPr>
          <p:cNvPr id="93" name="Picture 9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541053" y="5123687"/>
            <a:ext cx="366712" cy="533400"/>
          </a:xfrm>
          <a:prstGeom prst="rect">
            <a:avLst/>
          </a:prstGeom>
        </p:spPr>
      </p:pic>
      <p:sp>
        <p:nvSpPr>
          <p:cNvPr id="94" name="lockshield_13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lockshield_20"/>
          <p:cNvSpPr/>
          <p:nvPr/>
        </p:nvSpPr>
        <p:spPr>
          <a:xfrm>
            <a:off x="238125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6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Tables Product Format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and value of the Germany market by Product Format,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933700"/>
          </a:xfrm>
          <a:prstGeom prst="roundRect">
            <a:avLst>
              <a:gd name="adj" fmla="val 259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Volume, By Product Format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7" cy="24669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187152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Format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Liquid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Spray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Cream &amp; Balm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Foam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Wipe &amp; Pad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Powder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Solid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7147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6" name="Picture 1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02889" y="2328100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6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Tables Product Format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and value of the Germany market by Product Format,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2933700"/>
          </a:xfrm>
          <a:prstGeom prst="roundRect">
            <a:avLst>
              <a:gd name="adj" fmla="val 259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Value, By Product Format (US$ Mn)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207" cy="24669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187152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Format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Liquid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Spray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Cream &amp; Balm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Foam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Wipe &amp; Pad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Powder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Solid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37147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02889" y="2328100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6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YoY Analysis Product Format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Germany year-on-year volume and value growth by Product Format,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686050"/>
          </a:xfrm>
          <a:prstGeom prst="roundRect">
            <a:avLst>
              <a:gd name="adj" fmla="val 28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Volume YoY, By Product Format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3" cy="22193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303398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Format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Liquid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Spray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Cream &amp; Balm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Foam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Wipe &amp; Pad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Powder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Solid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4671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800475"/>
            <a:ext cx="11906250" cy="2686050"/>
          </a:xfrm>
          <a:prstGeom prst="roundRect">
            <a:avLst>
              <a:gd name="adj" fmla="val 28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8576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 YoY, By Product Format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4057650"/>
          <a:ext cx="11887203" cy="22193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303398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Format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Liquid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Spray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Cream &amp; Balm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Foam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Wipe &amp; Pad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Powder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Solid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62865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61010" y="2204276"/>
            <a:ext cx="366712" cy="533400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61010" y="5023676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6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10.4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Primary Product Function / Benefit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Segmental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Table (Volume &amp; Value)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YoY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6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Segmental Analysis Primary Product Function / Benefit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Germany segmental analysis by Primary Product Function / Benefit: growth contribution, share variance and absolute $…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Growth Contribution 2026 → 2036, By Primary Product Function / Benefit (US$ Mn)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38275"/>
          <a:ext cx="5686425" cy="223837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Value Shares &amp; Variance, By Primary Product Function / Benefit</a:t>
            </a:r>
          </a:p>
        </p:txBody>
      </p:sp>
      <p:graphicFrame>
        <p:nvGraphicFramePr>
          <p:cNvPr id="16" name="Table 15"/>
          <p:cNvGraphicFramePr>
            <a:graphicFrameLocks noGrp="1"/>
          </p:cNvGraphicFramePr>
          <p:nvPr/>
        </p:nvGraphicFramePr>
        <p:xfrm>
          <a:off x="6181725" y="1238250"/>
          <a:ext cx="5857875" cy="2286003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440268"/>
                <a:gridCol w="859175"/>
                <a:gridCol w="859175"/>
                <a:gridCol w="1085045"/>
                <a:gridCol w="61421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Primary Product Function / Benefit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91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Cleansing &amp; General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91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Moisturizing &amp; Skin Barrier 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91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 Soothing &amp; Comfort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91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Softening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91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91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Body &amp; Coat Odor Management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91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Eye-Area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7" name="TextBox 16"/>
          <p:cNvSpPr txBox="1"/>
          <p:nvPr/>
        </p:nvSpPr>
        <p:spPr>
          <a:xfrm>
            <a:off x="6248400" y="3533775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38125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Absolute $ Opportunity, By Primary Product Function / Benefit (US$ Mn)</a:t>
            </a:r>
          </a:p>
        </p:txBody>
      </p:sp>
      <p:graphicFrame>
        <p:nvGraphicFramePr>
          <p:cNvPr id="20" name="Chart 19"/>
          <p:cNvGraphicFramePr>
            <a:graphicFrameLocks noGrp="1"/>
          </p:cNvGraphicFramePr>
          <p:nvPr/>
        </p:nvGraphicFramePr>
        <p:xfrm>
          <a:off x="238125" y="4152900"/>
          <a:ext cx="5686425" cy="240982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1" name="Rounded Rectangle 20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6267450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Volume Shares &amp; Variance, By Primary Product Function / Benefit</a:t>
            </a:r>
          </a:p>
        </p:txBody>
      </p:sp>
      <p:graphicFrame>
        <p:nvGraphicFramePr>
          <p:cNvPr id="23" name="Table 22"/>
          <p:cNvGraphicFramePr>
            <a:graphicFrameLocks noGrp="1"/>
          </p:cNvGraphicFramePr>
          <p:nvPr/>
        </p:nvGraphicFramePr>
        <p:xfrm>
          <a:off x="6181725" y="4124325"/>
          <a:ext cx="5857875" cy="2286003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440268"/>
                <a:gridCol w="859175"/>
                <a:gridCol w="859175"/>
                <a:gridCol w="1085045"/>
                <a:gridCol w="61421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Primary Product Function / Benefit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91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Cleansing &amp; General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91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Moisturizing &amp; Skin Barrier 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91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 Soothing &amp; Comfort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91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Softening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91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91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Body &amp; Coat Odor Management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91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Eye-Area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24" name="TextBox 23"/>
          <p:cNvSpPr txBox="1"/>
          <p:nvPr/>
        </p:nvSpPr>
        <p:spPr>
          <a:xfrm>
            <a:off x="6248400" y="6419850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100230" y="2330679"/>
            <a:ext cx="252890" cy="367840"/>
          </a:xfrm>
          <a:prstGeom prst="rect">
            <a:avLst/>
          </a:prstGeom>
        </p:spPr>
      </p:pic>
      <p:pic>
        <p:nvPicPr>
          <p:cNvPr id="27" name="Picture 26" descr="21_8_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613147" y="1497366"/>
            <a:ext cx="876864" cy="265429"/>
          </a:xfrm>
          <a:prstGeom prst="rect">
            <a:avLst/>
          </a:prstGeom>
        </p:spPr>
      </p:pic>
      <p:pic>
        <p:nvPicPr>
          <p:cNvPr id="28" name="Picture 27" descr="20_4_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472322" y="1497366"/>
            <a:ext cx="876864" cy="265429"/>
          </a:xfrm>
          <a:prstGeom prst="rect">
            <a:avLst/>
          </a:prstGeom>
        </p:spPr>
      </p:pic>
      <p:pic>
        <p:nvPicPr>
          <p:cNvPr id="29" name="Picture 28" descr="_138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10522639" y="1497366"/>
            <a:ext cx="720450" cy="265429"/>
          </a:xfrm>
          <a:prstGeom prst="rect">
            <a:avLst/>
          </a:prstGeom>
        </p:spPr>
      </p:pic>
      <p:pic>
        <p:nvPicPr>
          <p:cNvPr id="30" name="Picture 29" descr="5_2_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11372267" y="1497366"/>
            <a:ext cx="720450" cy="265429"/>
          </a:xfrm>
          <a:prstGeom prst="rect">
            <a:avLst/>
          </a:prstGeom>
        </p:spPr>
      </p:pic>
      <p:pic>
        <p:nvPicPr>
          <p:cNvPr id="31" name="Picture 30" descr="16_6_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8613147" y="1788777"/>
            <a:ext cx="876864" cy="265429"/>
          </a:xfrm>
          <a:prstGeom prst="rect">
            <a:avLst/>
          </a:prstGeom>
        </p:spPr>
      </p:pic>
      <p:pic>
        <p:nvPicPr>
          <p:cNvPr id="32" name="Picture 31" descr="17_5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9472322" y="1788777"/>
            <a:ext cx="876864" cy="265429"/>
          </a:xfrm>
          <a:prstGeom prst="rect">
            <a:avLst/>
          </a:prstGeom>
        </p:spPr>
      </p:pic>
      <p:pic>
        <p:nvPicPr>
          <p:cNvPr id="33" name="Picture 32" descr="_86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0600846" y="1788777"/>
            <a:ext cx="564037" cy="265429"/>
          </a:xfrm>
          <a:prstGeom prst="rect">
            <a:avLst/>
          </a:prstGeom>
        </p:spPr>
      </p:pic>
      <p:pic>
        <p:nvPicPr>
          <p:cNvPr id="34" name="Picture 33" descr="6_4_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11372267" y="1788777"/>
            <a:ext cx="720450" cy="265429"/>
          </a:xfrm>
          <a:prstGeom prst="rect">
            <a:avLst/>
          </a:prstGeom>
        </p:spPr>
      </p:pic>
      <p:pic>
        <p:nvPicPr>
          <p:cNvPr id="35" name="Picture 34" descr="14_3_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8613147" y="2080188"/>
            <a:ext cx="876864" cy="265429"/>
          </a:xfrm>
          <a:prstGeom prst="rect">
            <a:avLst/>
          </a:prstGeom>
        </p:spPr>
      </p:pic>
      <p:pic>
        <p:nvPicPr>
          <p:cNvPr id="36" name="Picture 35" descr="14_2__605E5C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9472322" y="2080188"/>
            <a:ext cx="876864" cy="265429"/>
          </a:xfrm>
          <a:prstGeom prst="rect">
            <a:avLst/>
          </a:prstGeom>
        </p:spPr>
      </p:pic>
      <p:pic>
        <p:nvPicPr>
          <p:cNvPr id="37" name="Picture 36" descr="_10_605E5C.png"/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10600846" y="2080188"/>
            <a:ext cx="564037" cy="265429"/>
          </a:xfrm>
          <a:prstGeom prst="rect">
            <a:avLst/>
          </a:prstGeom>
        </p:spPr>
      </p:pic>
      <p:pic>
        <p:nvPicPr>
          <p:cNvPr id="38" name="Picture 37" descr="5_8__605E5C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11372267" y="2080188"/>
            <a:ext cx="720450" cy="265429"/>
          </a:xfrm>
          <a:prstGeom prst="rect">
            <a:avLst/>
          </a:prstGeom>
        </p:spPr>
      </p:pic>
      <p:pic>
        <p:nvPicPr>
          <p:cNvPr id="39" name="Picture 38" descr="20_7__605E5C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8613147" y="2371599"/>
            <a:ext cx="876864" cy="265429"/>
          </a:xfrm>
          <a:prstGeom prst="rect">
            <a:avLst/>
          </a:prstGeom>
        </p:spPr>
      </p:pic>
      <p:pic>
        <p:nvPicPr>
          <p:cNvPr id="40" name="Picture 39" descr="22_7__605E5C.png"/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9472322" y="2371599"/>
            <a:ext cx="876864" cy="265429"/>
          </a:xfrm>
          <a:prstGeom prst="rect">
            <a:avLst/>
          </a:prstGeom>
        </p:spPr>
      </p:pic>
      <p:pic>
        <p:nvPicPr>
          <p:cNvPr id="41" name="Picture 40" descr="_200_605E5C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10522639" y="2371599"/>
            <a:ext cx="720450" cy="265429"/>
          </a:xfrm>
          <a:prstGeom prst="rect">
            <a:avLst/>
          </a:prstGeom>
        </p:spPr>
      </p:pic>
      <p:pic>
        <p:nvPicPr>
          <p:cNvPr id="42" name="Picture 41" descr="6_9__605E5C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11372267" y="2371599"/>
            <a:ext cx="720450" cy="265429"/>
          </a:xfrm>
          <a:prstGeom prst="rect">
            <a:avLst/>
          </a:prstGeom>
        </p:spPr>
      </p:pic>
      <p:pic>
        <p:nvPicPr>
          <p:cNvPr id="43" name="Picture 42" descr="10_1__605E5C.png"/>
          <p:cNvPicPr>
            <a:picLocks noChangeAspect="1"/>
          </p:cNvPicPr>
          <p:nvPr/>
        </p:nvPicPr>
        <p:blipFill>
          <a:blip r:embed="rId23"/>
          <a:stretch>
            <a:fillRect/>
          </a:stretch>
        </p:blipFill>
        <p:spPr>
          <a:xfrm>
            <a:off x="8613147" y="2663010"/>
            <a:ext cx="876864" cy="265429"/>
          </a:xfrm>
          <a:prstGeom prst="rect">
            <a:avLst/>
          </a:prstGeom>
        </p:spPr>
      </p:pic>
      <p:pic>
        <p:nvPicPr>
          <p:cNvPr id="44" name="Picture 43" descr="8_7__605E5C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9550529" y="2663010"/>
            <a:ext cx="720450" cy="265429"/>
          </a:xfrm>
          <a:prstGeom prst="rect">
            <a:avLst/>
          </a:prstGeom>
        </p:spPr>
      </p:pic>
      <p:pic>
        <p:nvPicPr>
          <p:cNvPr id="45" name="Picture 44" descr="_134_605E5C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10522639" y="2663010"/>
            <a:ext cx="720450" cy="265429"/>
          </a:xfrm>
          <a:prstGeom prst="rect">
            <a:avLst/>
          </a:prstGeom>
        </p:spPr>
      </p:pic>
      <p:pic>
        <p:nvPicPr>
          <p:cNvPr id="46" name="Picture 45" descr="4_4__605E5C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11372267" y="2663010"/>
            <a:ext cx="720450" cy="265429"/>
          </a:xfrm>
          <a:prstGeom prst="rect">
            <a:avLst/>
          </a:prstGeom>
        </p:spPr>
      </p:pic>
      <p:pic>
        <p:nvPicPr>
          <p:cNvPr id="47" name="Picture 46" descr="8_9__605E5C.png"/>
          <p:cNvPicPr>
            <a:picLocks noChangeAspect="1"/>
          </p:cNvPicPr>
          <p:nvPr/>
        </p:nvPicPr>
        <p:blipFill>
          <a:blip r:embed="rId27"/>
          <a:stretch>
            <a:fillRect/>
          </a:stretch>
        </p:blipFill>
        <p:spPr>
          <a:xfrm>
            <a:off x="8691354" y="2954421"/>
            <a:ext cx="720450" cy="265429"/>
          </a:xfrm>
          <a:prstGeom prst="rect">
            <a:avLst/>
          </a:prstGeom>
        </p:spPr>
      </p:pic>
      <p:pic>
        <p:nvPicPr>
          <p:cNvPr id="48" name="Picture 47" descr="9_4__605E5C.png"/>
          <p:cNvPicPr>
            <a:picLocks noChangeAspect="1"/>
          </p:cNvPicPr>
          <p:nvPr/>
        </p:nvPicPr>
        <p:blipFill>
          <a:blip r:embed="rId28"/>
          <a:stretch>
            <a:fillRect/>
          </a:stretch>
        </p:blipFill>
        <p:spPr>
          <a:xfrm>
            <a:off x="9550529" y="2954421"/>
            <a:ext cx="720450" cy="265429"/>
          </a:xfrm>
          <a:prstGeom prst="rect">
            <a:avLst/>
          </a:prstGeom>
        </p:spPr>
      </p:pic>
      <p:pic>
        <p:nvPicPr>
          <p:cNvPr id="49" name="Picture 48" descr="_57_605E5C.png"/>
          <p:cNvPicPr>
            <a:picLocks noChangeAspect="1"/>
          </p:cNvPicPr>
          <p:nvPr/>
        </p:nvPicPr>
        <p:blipFill>
          <a:blip r:embed="rId29"/>
          <a:stretch>
            <a:fillRect/>
          </a:stretch>
        </p:blipFill>
        <p:spPr>
          <a:xfrm>
            <a:off x="10600846" y="2954421"/>
            <a:ext cx="564037" cy="265429"/>
          </a:xfrm>
          <a:prstGeom prst="rect">
            <a:avLst/>
          </a:prstGeom>
        </p:spPr>
      </p:pic>
      <p:pic>
        <p:nvPicPr>
          <p:cNvPr id="50" name="Picture 49" descr="6_6__605E5C.png"/>
          <p:cNvPicPr>
            <a:picLocks noChangeAspect="1"/>
          </p:cNvPicPr>
          <p:nvPr/>
        </p:nvPicPr>
        <p:blipFill>
          <a:blip r:embed="rId30"/>
          <a:stretch>
            <a:fillRect/>
          </a:stretch>
        </p:blipFill>
        <p:spPr>
          <a:xfrm>
            <a:off x="11372267" y="2954421"/>
            <a:ext cx="720450" cy="265429"/>
          </a:xfrm>
          <a:prstGeom prst="rect">
            <a:avLst/>
          </a:prstGeom>
        </p:spPr>
      </p:pic>
      <p:pic>
        <p:nvPicPr>
          <p:cNvPr id="51" name="Picture 50" descr="7_6__605E5C.png"/>
          <p:cNvPicPr>
            <a:picLocks noChangeAspect="1"/>
          </p:cNvPicPr>
          <p:nvPr/>
        </p:nvPicPr>
        <p:blipFill>
          <a:blip r:embed="rId31"/>
          <a:stretch>
            <a:fillRect/>
          </a:stretch>
        </p:blipFill>
        <p:spPr>
          <a:xfrm>
            <a:off x="8691354" y="3245832"/>
            <a:ext cx="720450" cy="265429"/>
          </a:xfrm>
          <a:prstGeom prst="rect">
            <a:avLst/>
          </a:prstGeom>
        </p:spPr>
      </p:pic>
      <p:pic>
        <p:nvPicPr>
          <p:cNvPr id="52" name="Picture 51" descr="7_0__605E5C.png"/>
          <p:cNvPicPr>
            <a:picLocks noChangeAspect="1"/>
          </p:cNvPicPr>
          <p:nvPr/>
        </p:nvPicPr>
        <p:blipFill>
          <a:blip r:embed="rId32"/>
          <a:stretch>
            <a:fillRect/>
          </a:stretch>
        </p:blipFill>
        <p:spPr>
          <a:xfrm>
            <a:off x="9550529" y="3245832"/>
            <a:ext cx="720450" cy="265429"/>
          </a:xfrm>
          <a:prstGeom prst="rect">
            <a:avLst/>
          </a:prstGeom>
        </p:spPr>
      </p:pic>
      <p:pic>
        <p:nvPicPr>
          <p:cNvPr id="53" name="Picture 52" descr="_61_605E5C.png"/>
          <p:cNvPicPr>
            <a:picLocks noChangeAspect="1"/>
          </p:cNvPicPr>
          <p:nvPr/>
        </p:nvPicPr>
        <p:blipFill>
          <a:blip r:embed="rId33"/>
          <a:stretch>
            <a:fillRect/>
          </a:stretch>
        </p:blipFill>
        <p:spPr>
          <a:xfrm>
            <a:off x="10600846" y="3245832"/>
            <a:ext cx="564037" cy="265429"/>
          </a:xfrm>
          <a:prstGeom prst="rect">
            <a:avLst/>
          </a:prstGeom>
        </p:spPr>
      </p:pic>
      <p:pic>
        <p:nvPicPr>
          <p:cNvPr id="54" name="Picture 53" descr="5_0__605E5C.png"/>
          <p:cNvPicPr>
            <a:picLocks noChangeAspect="1"/>
          </p:cNvPicPr>
          <p:nvPr/>
        </p:nvPicPr>
        <p:blipFill>
          <a:blip r:embed="rId34"/>
          <a:stretch>
            <a:fillRect/>
          </a:stretch>
        </p:blipFill>
        <p:spPr>
          <a:xfrm>
            <a:off x="11372267" y="3245832"/>
            <a:ext cx="720450" cy="265429"/>
          </a:xfrm>
          <a:prstGeom prst="rect">
            <a:avLst/>
          </a:prstGeom>
        </p:spPr>
      </p:pic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144106" y="2237614"/>
            <a:ext cx="366712" cy="533400"/>
          </a:xfrm>
          <a:prstGeom prst="rect">
            <a:avLst/>
          </a:prstGeom>
        </p:spPr>
      </p:pic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5123309"/>
            <a:ext cx="263506" cy="383281"/>
          </a:xfrm>
          <a:prstGeom prst="rect">
            <a:avLst/>
          </a:prstGeom>
        </p:spPr>
      </p:pic>
      <p:pic>
        <p:nvPicPr>
          <p:cNvPr id="57" name="Picture 56" descr="22_8__605E5C.png"/>
          <p:cNvPicPr>
            <a:picLocks noChangeAspect="1"/>
          </p:cNvPicPr>
          <p:nvPr/>
        </p:nvPicPr>
        <p:blipFill>
          <a:blip r:embed="rId35"/>
          <a:stretch>
            <a:fillRect/>
          </a:stretch>
        </p:blipFill>
        <p:spPr>
          <a:xfrm>
            <a:off x="8613147" y="4383441"/>
            <a:ext cx="876864" cy="265429"/>
          </a:xfrm>
          <a:prstGeom prst="rect">
            <a:avLst/>
          </a:prstGeom>
        </p:spPr>
      </p:pic>
      <p:pic>
        <p:nvPicPr>
          <p:cNvPr id="58" name="Picture 57" descr="21_4__605E5C.png"/>
          <p:cNvPicPr>
            <a:picLocks noChangeAspect="1"/>
          </p:cNvPicPr>
          <p:nvPr/>
        </p:nvPicPr>
        <p:blipFill>
          <a:blip r:embed="rId36"/>
          <a:stretch>
            <a:fillRect/>
          </a:stretch>
        </p:blipFill>
        <p:spPr>
          <a:xfrm>
            <a:off x="9472322" y="4383441"/>
            <a:ext cx="876864" cy="265429"/>
          </a:xfrm>
          <a:prstGeom prst="rect">
            <a:avLst/>
          </a:prstGeom>
        </p:spPr>
      </p:pic>
      <p:pic>
        <p:nvPicPr>
          <p:cNvPr id="59" name="Picture 58" descr="_142_605E5C.png"/>
          <p:cNvPicPr>
            <a:picLocks noChangeAspect="1"/>
          </p:cNvPicPr>
          <p:nvPr/>
        </p:nvPicPr>
        <p:blipFill>
          <a:blip r:embed="rId37"/>
          <a:stretch>
            <a:fillRect/>
          </a:stretch>
        </p:blipFill>
        <p:spPr>
          <a:xfrm>
            <a:off x="10522639" y="4383441"/>
            <a:ext cx="720450" cy="265429"/>
          </a:xfrm>
          <a:prstGeom prst="rect">
            <a:avLst/>
          </a:prstGeom>
        </p:spPr>
      </p:pic>
      <p:pic>
        <p:nvPicPr>
          <p:cNvPr id="60" name="Picture 59" descr="4_6__605E5C.png"/>
          <p:cNvPicPr>
            <a:picLocks noChangeAspect="1"/>
          </p:cNvPicPr>
          <p:nvPr/>
        </p:nvPicPr>
        <p:blipFill>
          <a:blip r:embed="rId38"/>
          <a:stretch>
            <a:fillRect/>
          </a:stretch>
        </p:blipFill>
        <p:spPr>
          <a:xfrm>
            <a:off x="11372267" y="4383441"/>
            <a:ext cx="720450" cy="265429"/>
          </a:xfrm>
          <a:prstGeom prst="rect">
            <a:avLst/>
          </a:prstGeom>
        </p:spPr>
      </p:pic>
      <p:pic>
        <p:nvPicPr>
          <p:cNvPr id="61" name="Picture 60" descr="16_8__605E5C.png"/>
          <p:cNvPicPr>
            <a:picLocks noChangeAspect="1"/>
          </p:cNvPicPr>
          <p:nvPr/>
        </p:nvPicPr>
        <p:blipFill>
          <a:blip r:embed="rId39"/>
          <a:stretch>
            <a:fillRect/>
          </a:stretch>
        </p:blipFill>
        <p:spPr>
          <a:xfrm>
            <a:off x="8613147" y="4674852"/>
            <a:ext cx="876864" cy="265429"/>
          </a:xfrm>
          <a:prstGeom prst="rect">
            <a:avLst/>
          </a:prstGeom>
        </p:spPr>
      </p:pic>
      <p:pic>
        <p:nvPicPr>
          <p:cNvPr id="62" name="Picture 61" descr="17_7__605E5C.png"/>
          <p:cNvPicPr>
            <a:picLocks noChangeAspect="1"/>
          </p:cNvPicPr>
          <p:nvPr/>
        </p:nvPicPr>
        <p:blipFill>
          <a:blip r:embed="rId40"/>
          <a:stretch>
            <a:fillRect/>
          </a:stretch>
        </p:blipFill>
        <p:spPr>
          <a:xfrm>
            <a:off x="9472322" y="4674852"/>
            <a:ext cx="876864" cy="265429"/>
          </a:xfrm>
          <a:prstGeom prst="rect">
            <a:avLst/>
          </a:prstGeom>
        </p:spPr>
      </p:pic>
      <p:pic>
        <p:nvPicPr>
          <p:cNvPr id="63" name="Picture 62" descr="_91_605E5C.png"/>
          <p:cNvPicPr>
            <a:picLocks noChangeAspect="1"/>
          </p:cNvPicPr>
          <p:nvPr/>
        </p:nvPicPr>
        <p:blipFill>
          <a:blip r:embed="rId41"/>
          <a:stretch>
            <a:fillRect/>
          </a:stretch>
        </p:blipFill>
        <p:spPr>
          <a:xfrm>
            <a:off x="10600846" y="4674852"/>
            <a:ext cx="564037" cy="265429"/>
          </a:xfrm>
          <a:prstGeom prst="rect">
            <a:avLst/>
          </a:prstGeom>
        </p:spPr>
      </p:pic>
      <p:pic>
        <p:nvPicPr>
          <p:cNvPr id="64" name="Picture 63" descr="5_8__605E5C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11372267" y="4674852"/>
            <a:ext cx="720450" cy="265429"/>
          </a:xfrm>
          <a:prstGeom prst="rect">
            <a:avLst/>
          </a:prstGeom>
        </p:spPr>
      </p:pic>
      <p:pic>
        <p:nvPicPr>
          <p:cNvPr id="65" name="Picture 64" descr="14_1__605E5C.png"/>
          <p:cNvPicPr>
            <a:picLocks noChangeAspect="1"/>
          </p:cNvPicPr>
          <p:nvPr/>
        </p:nvPicPr>
        <p:blipFill>
          <a:blip r:embed="rId42"/>
          <a:stretch>
            <a:fillRect/>
          </a:stretch>
        </p:blipFill>
        <p:spPr>
          <a:xfrm>
            <a:off x="8613147" y="4966263"/>
            <a:ext cx="876864" cy="265429"/>
          </a:xfrm>
          <a:prstGeom prst="rect">
            <a:avLst/>
          </a:prstGeom>
        </p:spPr>
      </p:pic>
      <p:pic>
        <p:nvPicPr>
          <p:cNvPr id="66" name="Picture 65" descr="14_0__605E5C.png"/>
          <p:cNvPicPr>
            <a:picLocks noChangeAspect="1"/>
          </p:cNvPicPr>
          <p:nvPr/>
        </p:nvPicPr>
        <p:blipFill>
          <a:blip r:embed="rId43"/>
          <a:stretch>
            <a:fillRect/>
          </a:stretch>
        </p:blipFill>
        <p:spPr>
          <a:xfrm>
            <a:off x="9472322" y="4966263"/>
            <a:ext cx="876864" cy="265429"/>
          </a:xfrm>
          <a:prstGeom prst="rect">
            <a:avLst/>
          </a:prstGeom>
        </p:spPr>
      </p:pic>
      <p:pic>
        <p:nvPicPr>
          <p:cNvPr id="67" name="Picture 66" descr="_10_605E5C.png"/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10600846" y="4966263"/>
            <a:ext cx="564037" cy="265429"/>
          </a:xfrm>
          <a:prstGeom prst="rect">
            <a:avLst/>
          </a:prstGeom>
        </p:spPr>
      </p:pic>
      <p:pic>
        <p:nvPicPr>
          <p:cNvPr id="68" name="Picture 67" descr="5_2_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11372267" y="4966263"/>
            <a:ext cx="720450" cy="265429"/>
          </a:xfrm>
          <a:prstGeom prst="rect">
            <a:avLst/>
          </a:prstGeom>
        </p:spPr>
      </p:pic>
      <p:pic>
        <p:nvPicPr>
          <p:cNvPr id="69" name="Picture 68" descr="20_1__605E5C.png"/>
          <p:cNvPicPr>
            <a:picLocks noChangeAspect="1"/>
          </p:cNvPicPr>
          <p:nvPr/>
        </p:nvPicPr>
        <p:blipFill>
          <a:blip r:embed="rId44"/>
          <a:stretch>
            <a:fillRect/>
          </a:stretch>
        </p:blipFill>
        <p:spPr>
          <a:xfrm>
            <a:off x="8613147" y="5257674"/>
            <a:ext cx="876864" cy="265429"/>
          </a:xfrm>
          <a:prstGeom prst="rect">
            <a:avLst/>
          </a:prstGeom>
        </p:spPr>
      </p:pic>
      <p:pic>
        <p:nvPicPr>
          <p:cNvPr id="70" name="Picture 69" descr="22_0__605E5C.png"/>
          <p:cNvPicPr>
            <a:picLocks noChangeAspect="1"/>
          </p:cNvPicPr>
          <p:nvPr/>
        </p:nvPicPr>
        <p:blipFill>
          <a:blip r:embed="rId45"/>
          <a:stretch>
            <a:fillRect/>
          </a:stretch>
        </p:blipFill>
        <p:spPr>
          <a:xfrm>
            <a:off x="9472322" y="5257674"/>
            <a:ext cx="876864" cy="265429"/>
          </a:xfrm>
          <a:prstGeom prst="rect">
            <a:avLst/>
          </a:prstGeom>
        </p:spPr>
      </p:pic>
      <p:pic>
        <p:nvPicPr>
          <p:cNvPr id="71" name="Picture 70" descr="_197_605E5C.png"/>
          <p:cNvPicPr>
            <a:picLocks noChangeAspect="1"/>
          </p:cNvPicPr>
          <p:nvPr/>
        </p:nvPicPr>
        <p:blipFill>
          <a:blip r:embed="rId46"/>
          <a:stretch>
            <a:fillRect/>
          </a:stretch>
        </p:blipFill>
        <p:spPr>
          <a:xfrm>
            <a:off x="10522639" y="5257674"/>
            <a:ext cx="720450" cy="265429"/>
          </a:xfrm>
          <a:prstGeom prst="rect">
            <a:avLst/>
          </a:prstGeom>
        </p:spPr>
      </p:pic>
      <p:pic>
        <p:nvPicPr>
          <p:cNvPr id="72" name="Picture 71" descr="6_3__605E5C.png"/>
          <p:cNvPicPr>
            <a:picLocks noChangeAspect="1"/>
          </p:cNvPicPr>
          <p:nvPr/>
        </p:nvPicPr>
        <p:blipFill>
          <a:blip r:embed="rId47"/>
          <a:stretch>
            <a:fillRect/>
          </a:stretch>
        </p:blipFill>
        <p:spPr>
          <a:xfrm>
            <a:off x="11372267" y="5257674"/>
            <a:ext cx="720450" cy="265429"/>
          </a:xfrm>
          <a:prstGeom prst="rect">
            <a:avLst/>
          </a:prstGeom>
        </p:spPr>
      </p:pic>
      <p:pic>
        <p:nvPicPr>
          <p:cNvPr id="73" name="Picture 72" descr="9_8__605E5C.png"/>
          <p:cNvPicPr>
            <a:picLocks noChangeAspect="1"/>
          </p:cNvPicPr>
          <p:nvPr/>
        </p:nvPicPr>
        <p:blipFill>
          <a:blip r:embed="rId48"/>
          <a:stretch>
            <a:fillRect/>
          </a:stretch>
        </p:blipFill>
        <p:spPr>
          <a:xfrm>
            <a:off x="8691354" y="5549085"/>
            <a:ext cx="720450" cy="265429"/>
          </a:xfrm>
          <a:prstGeom prst="rect">
            <a:avLst/>
          </a:prstGeom>
        </p:spPr>
      </p:pic>
      <p:pic>
        <p:nvPicPr>
          <p:cNvPr id="74" name="Picture 73" descr="8_5__605E5C.png"/>
          <p:cNvPicPr>
            <a:picLocks noChangeAspect="1"/>
          </p:cNvPicPr>
          <p:nvPr/>
        </p:nvPicPr>
        <p:blipFill>
          <a:blip r:embed="rId49"/>
          <a:stretch>
            <a:fillRect/>
          </a:stretch>
        </p:blipFill>
        <p:spPr>
          <a:xfrm>
            <a:off x="9550529" y="5549085"/>
            <a:ext cx="720450" cy="265429"/>
          </a:xfrm>
          <a:prstGeom prst="rect">
            <a:avLst/>
          </a:prstGeom>
        </p:spPr>
      </p:pic>
      <p:pic>
        <p:nvPicPr>
          <p:cNvPr id="75" name="Picture 74" descr="_132_605E5C.png"/>
          <p:cNvPicPr>
            <a:picLocks noChangeAspect="1"/>
          </p:cNvPicPr>
          <p:nvPr/>
        </p:nvPicPr>
        <p:blipFill>
          <a:blip r:embed="rId50"/>
          <a:stretch>
            <a:fillRect/>
          </a:stretch>
        </p:blipFill>
        <p:spPr>
          <a:xfrm>
            <a:off x="10522639" y="5549085"/>
            <a:ext cx="720450" cy="265429"/>
          </a:xfrm>
          <a:prstGeom prst="rect">
            <a:avLst/>
          </a:prstGeom>
        </p:spPr>
      </p:pic>
      <p:pic>
        <p:nvPicPr>
          <p:cNvPr id="76" name="Picture 75" descr="3_8__605E5C.png"/>
          <p:cNvPicPr>
            <a:picLocks noChangeAspect="1"/>
          </p:cNvPicPr>
          <p:nvPr/>
        </p:nvPicPr>
        <p:blipFill>
          <a:blip r:embed="rId51"/>
          <a:stretch>
            <a:fillRect/>
          </a:stretch>
        </p:blipFill>
        <p:spPr>
          <a:xfrm>
            <a:off x="11372267" y="5549085"/>
            <a:ext cx="720450" cy="265429"/>
          </a:xfrm>
          <a:prstGeom prst="rect">
            <a:avLst/>
          </a:prstGeom>
        </p:spPr>
      </p:pic>
      <p:pic>
        <p:nvPicPr>
          <p:cNvPr id="77" name="Picture 76" descr="9_1__605E5C.png"/>
          <p:cNvPicPr>
            <a:picLocks noChangeAspect="1"/>
          </p:cNvPicPr>
          <p:nvPr/>
        </p:nvPicPr>
        <p:blipFill>
          <a:blip r:embed="rId52"/>
          <a:stretch>
            <a:fillRect/>
          </a:stretch>
        </p:blipFill>
        <p:spPr>
          <a:xfrm>
            <a:off x="8691354" y="5840496"/>
            <a:ext cx="720450" cy="265429"/>
          </a:xfrm>
          <a:prstGeom prst="rect">
            <a:avLst/>
          </a:prstGeom>
        </p:spPr>
      </p:pic>
      <p:pic>
        <p:nvPicPr>
          <p:cNvPr id="78" name="Picture 77" descr="9_7__605E5C.png"/>
          <p:cNvPicPr>
            <a:picLocks noChangeAspect="1"/>
          </p:cNvPicPr>
          <p:nvPr/>
        </p:nvPicPr>
        <p:blipFill>
          <a:blip r:embed="rId53"/>
          <a:stretch>
            <a:fillRect/>
          </a:stretch>
        </p:blipFill>
        <p:spPr>
          <a:xfrm>
            <a:off x="9550529" y="5840496"/>
            <a:ext cx="720450" cy="265429"/>
          </a:xfrm>
          <a:prstGeom prst="rect">
            <a:avLst/>
          </a:prstGeom>
        </p:spPr>
      </p:pic>
      <p:pic>
        <p:nvPicPr>
          <p:cNvPr id="79" name="Picture 78" descr="_59_605E5C.png"/>
          <p:cNvPicPr>
            <a:picLocks noChangeAspect="1"/>
          </p:cNvPicPr>
          <p:nvPr/>
        </p:nvPicPr>
        <p:blipFill>
          <a:blip r:embed="rId54"/>
          <a:stretch>
            <a:fillRect/>
          </a:stretch>
        </p:blipFill>
        <p:spPr>
          <a:xfrm>
            <a:off x="10600846" y="5840496"/>
            <a:ext cx="564037" cy="265429"/>
          </a:xfrm>
          <a:prstGeom prst="rect">
            <a:avLst/>
          </a:prstGeom>
        </p:spPr>
      </p:pic>
      <p:pic>
        <p:nvPicPr>
          <p:cNvPr id="80" name="Picture 79" descr="5_9__605E5C.png"/>
          <p:cNvPicPr>
            <a:picLocks noChangeAspect="1"/>
          </p:cNvPicPr>
          <p:nvPr/>
        </p:nvPicPr>
        <p:blipFill>
          <a:blip r:embed="rId55"/>
          <a:stretch>
            <a:fillRect/>
          </a:stretch>
        </p:blipFill>
        <p:spPr>
          <a:xfrm>
            <a:off x="11372267" y="5840496"/>
            <a:ext cx="720450" cy="265429"/>
          </a:xfrm>
          <a:prstGeom prst="rect">
            <a:avLst/>
          </a:prstGeom>
        </p:spPr>
      </p:pic>
      <p:pic>
        <p:nvPicPr>
          <p:cNvPr id="81" name="Picture 80" descr="7_3__605E5C.png"/>
          <p:cNvPicPr>
            <a:picLocks noChangeAspect="1"/>
          </p:cNvPicPr>
          <p:nvPr/>
        </p:nvPicPr>
        <p:blipFill>
          <a:blip r:embed="rId56"/>
          <a:stretch>
            <a:fillRect/>
          </a:stretch>
        </p:blipFill>
        <p:spPr>
          <a:xfrm>
            <a:off x="8691354" y="6131907"/>
            <a:ext cx="720450" cy="265429"/>
          </a:xfrm>
          <a:prstGeom prst="rect">
            <a:avLst/>
          </a:prstGeom>
        </p:spPr>
      </p:pic>
      <p:pic>
        <p:nvPicPr>
          <p:cNvPr id="82" name="Picture 81" descr="6_7__605E5C.png"/>
          <p:cNvPicPr>
            <a:picLocks noChangeAspect="1"/>
          </p:cNvPicPr>
          <p:nvPr/>
        </p:nvPicPr>
        <p:blipFill>
          <a:blip r:embed="rId57"/>
          <a:stretch>
            <a:fillRect/>
          </a:stretch>
        </p:blipFill>
        <p:spPr>
          <a:xfrm>
            <a:off x="9550529" y="6131907"/>
            <a:ext cx="720450" cy="265429"/>
          </a:xfrm>
          <a:prstGeom prst="rect">
            <a:avLst/>
          </a:prstGeom>
        </p:spPr>
      </p:pic>
      <p:pic>
        <p:nvPicPr>
          <p:cNvPr id="83" name="Picture 82" descr="_62_605E5C.png"/>
          <p:cNvPicPr>
            <a:picLocks noChangeAspect="1"/>
          </p:cNvPicPr>
          <p:nvPr/>
        </p:nvPicPr>
        <p:blipFill>
          <a:blip r:embed="rId58"/>
          <a:stretch>
            <a:fillRect/>
          </a:stretch>
        </p:blipFill>
        <p:spPr>
          <a:xfrm>
            <a:off x="10600846" y="6131907"/>
            <a:ext cx="564037" cy="265429"/>
          </a:xfrm>
          <a:prstGeom prst="rect">
            <a:avLst/>
          </a:prstGeom>
        </p:spPr>
      </p:pic>
      <p:pic>
        <p:nvPicPr>
          <p:cNvPr id="84" name="Picture 83" descr="4_4__605E5C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11372267" y="6131907"/>
            <a:ext cx="720450" cy="265429"/>
          </a:xfrm>
          <a:prstGeom prst="rect">
            <a:avLst/>
          </a:prstGeom>
        </p:spPr>
      </p:pic>
      <p:pic>
        <p:nvPicPr>
          <p:cNvPr id="85" name="Picture 84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144106" y="5123689"/>
            <a:ext cx="366712" cy="533400"/>
          </a:xfrm>
          <a:prstGeom prst="rect">
            <a:avLst/>
          </a:prstGeom>
        </p:spPr>
      </p:pic>
      <p:sp>
        <p:nvSpPr>
          <p:cNvPr id="86" name="lockshield_13"/>
          <p:cNvSpPr/>
          <p:nvPr/>
        </p:nvSpPr>
        <p:spPr>
          <a:xfrm>
            <a:off x="238125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lockshield_20"/>
          <p:cNvSpPr/>
          <p:nvPr/>
        </p:nvSpPr>
        <p:spPr>
          <a:xfrm>
            <a:off x="238125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6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Tables Primary Product Function / Benefit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and value of the Germany market by Primary Product Function / Benefit,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686050"/>
          </a:xfrm>
          <a:prstGeom prst="roundRect">
            <a:avLst>
              <a:gd name="adj" fmla="val 28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Volume, By Primary Product Function / Benefit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5" cy="22193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251843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Primary Product Function / Benefit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Cleansing &amp; General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Moisturizing &amp; Skin Barrier 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 Soothing &amp; Comfort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Softening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Body &amp; Coat Odor Management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Eye-Area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4671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800475"/>
            <a:ext cx="11906250" cy="2686050"/>
          </a:xfrm>
          <a:prstGeom prst="roundRect">
            <a:avLst>
              <a:gd name="adj" fmla="val 28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8576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Value, By Primary Product Function / Benefit (US$ Mn)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4057650"/>
          <a:ext cx="11887205" cy="22193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251843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Primary Product Function / Benefit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Cleansing &amp; General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Moisturizing &amp; Skin Barrier 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 Soothing &amp; Comfort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Softening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Body &amp; Coat Odor Management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Eye-Area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62865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35233" y="2204276"/>
            <a:ext cx="366712" cy="533400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35233" y="5023676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6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YoY Analysis Primary Product Function / Benefit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Germany year-on-year volume and value growth by Primary Product Function / Benefit,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438400"/>
          </a:xfrm>
          <a:prstGeom prst="roundRect">
            <a:avLst>
              <a:gd name="adj" fmla="val 31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Volume YoY, By Primary Product Function / Benefit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6" cy="19716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448486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Primary Product Function / Benefit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Cleansing &amp; General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Moisturizing &amp; Skin Barrier 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 Soothing &amp; Comfort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Softening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Body &amp; Coat Odor Management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Eye-Area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2194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552825"/>
            <a:ext cx="11906250" cy="2438400"/>
          </a:xfrm>
          <a:prstGeom prst="roundRect">
            <a:avLst>
              <a:gd name="adj" fmla="val 31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60997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 YoY, By Primary Product Function / Benefit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3810000"/>
          <a:ext cx="11887206" cy="19716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448486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Primary Product Function / Benefit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Cleansing &amp; General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Moisturizing &amp; Skin Barrier 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 Soothing &amp; Comfort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Softening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Body &amp; Coat Odor Management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Eye-Area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57912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33556" y="2080450"/>
            <a:ext cx="366712" cy="533400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33556" y="4652200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7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10.5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Pet Type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Segmental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Table (Volume &amp; Value)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YoY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7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Segmental Analysis Pet Type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Germany segmental analysis by Pet Type: growth contribution, share variance and absolute $ opportunity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Growth Contribution 2026 → 2036, By Pet Type (US$ Mn)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Value Shares &amp; Variance, By Pet Type</a:t>
            </a:r>
          </a:p>
        </p:txBody>
      </p:sp>
      <p:graphicFrame>
        <p:nvGraphicFramePr>
          <p:cNvPr id="16" name="Table 15"/>
          <p:cNvGraphicFramePr>
            <a:graphicFrameLocks noGrp="1"/>
          </p:cNvGraphicFramePr>
          <p:nvPr/>
        </p:nvGraphicFramePr>
        <p:xfrm>
          <a:off x="6181725" y="1238250"/>
          <a:ext cx="5857877" cy="22860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809453"/>
                <a:gridCol w="1262106"/>
                <a:gridCol w="1262106"/>
                <a:gridCol w="1262106"/>
                <a:gridCol w="1262106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Pet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101993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Dogs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101993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Cats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7" name="TextBox 16"/>
          <p:cNvSpPr txBox="1"/>
          <p:nvPr/>
        </p:nvSpPr>
        <p:spPr>
          <a:xfrm>
            <a:off x="6248400" y="3533775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38125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Absolute $ Opportunity, By Pet Type (US$ Mn)</a:t>
            </a:r>
          </a:p>
        </p:txBody>
      </p:sp>
      <p:graphicFrame>
        <p:nvGraphicFramePr>
          <p:cNvPr id="20" name="Chart 19"/>
          <p:cNvGraphicFramePr>
            <a:graphicFrameLocks noGrp="1"/>
          </p:cNvGraphicFramePr>
          <p:nvPr/>
        </p:nvGraphicFramePr>
        <p:xfrm>
          <a:off x="238125" y="4152900"/>
          <a:ext cx="5686425" cy="240982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1" name="Rounded Rectangle 20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6267450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Volume Shares &amp; Variance, By Pet Type</a:t>
            </a:r>
          </a:p>
        </p:txBody>
      </p:sp>
      <p:graphicFrame>
        <p:nvGraphicFramePr>
          <p:cNvPr id="23" name="Table 22"/>
          <p:cNvGraphicFramePr>
            <a:graphicFrameLocks noGrp="1"/>
          </p:cNvGraphicFramePr>
          <p:nvPr/>
        </p:nvGraphicFramePr>
        <p:xfrm>
          <a:off x="6181725" y="4124325"/>
          <a:ext cx="5857877" cy="22860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809453"/>
                <a:gridCol w="1262106"/>
                <a:gridCol w="1262106"/>
                <a:gridCol w="1262106"/>
                <a:gridCol w="1262106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Pet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101993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Dogs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101993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Cats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24" name="TextBox 23"/>
          <p:cNvSpPr txBox="1"/>
          <p:nvPr/>
        </p:nvSpPr>
        <p:spPr>
          <a:xfrm>
            <a:off x="6248400" y="6419850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7" name="Picture 26" descr="67_7_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7183797" y="1861629"/>
            <a:ext cx="876864" cy="265429"/>
          </a:xfrm>
          <a:prstGeom prst="rect">
            <a:avLst/>
          </a:prstGeom>
        </p:spPr>
      </p:pic>
      <p:pic>
        <p:nvPicPr>
          <p:cNvPr id="28" name="Picture 27" descr="67_5_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445903" y="1861629"/>
            <a:ext cx="876864" cy="265429"/>
          </a:xfrm>
          <a:prstGeom prst="rect">
            <a:avLst/>
          </a:prstGeom>
        </p:spPr>
      </p:pic>
      <p:pic>
        <p:nvPicPr>
          <p:cNvPr id="29" name="Picture 28" descr="_19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9864423" y="1861629"/>
            <a:ext cx="564037" cy="265429"/>
          </a:xfrm>
          <a:prstGeom prst="rect">
            <a:avLst/>
          </a:prstGeom>
        </p:spPr>
      </p:pic>
      <p:pic>
        <p:nvPicPr>
          <p:cNvPr id="30" name="Picture 29" descr="5_9_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11048322" y="1861629"/>
            <a:ext cx="720450" cy="265429"/>
          </a:xfrm>
          <a:prstGeom prst="rect">
            <a:avLst/>
          </a:prstGeom>
        </p:spPr>
      </p:pic>
      <p:pic>
        <p:nvPicPr>
          <p:cNvPr id="31" name="Picture 30" descr="32_3_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7183797" y="2881566"/>
            <a:ext cx="876864" cy="265429"/>
          </a:xfrm>
          <a:prstGeom prst="rect">
            <a:avLst/>
          </a:prstGeom>
        </p:spPr>
      </p:pic>
      <p:pic>
        <p:nvPicPr>
          <p:cNvPr id="32" name="Picture 31" descr="32_5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8445903" y="2881566"/>
            <a:ext cx="876864" cy="265429"/>
          </a:xfrm>
          <a:prstGeom prst="rect">
            <a:avLst/>
          </a:prstGeom>
        </p:spPr>
      </p:pic>
      <p:pic>
        <p:nvPicPr>
          <p:cNvPr id="33" name="Picture 32" descr="_19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9864423" y="2881566"/>
            <a:ext cx="564037" cy="265429"/>
          </a:xfrm>
          <a:prstGeom prst="rect">
            <a:avLst/>
          </a:prstGeom>
        </p:spPr>
      </p:pic>
      <p:pic>
        <p:nvPicPr>
          <p:cNvPr id="34" name="Picture 33" descr="6_0_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1048322" y="2881566"/>
            <a:ext cx="720450" cy="265429"/>
          </a:xfrm>
          <a:prstGeom prst="rect">
            <a:avLst/>
          </a:prstGeom>
        </p:spPr>
      </p:pic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328700" y="2237613"/>
            <a:ext cx="366712" cy="533400"/>
          </a:xfrm>
          <a:prstGeom prst="rect">
            <a:avLst/>
          </a:prstGeom>
        </p:spPr>
      </p:pic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5123309"/>
            <a:ext cx="263506" cy="383281"/>
          </a:xfrm>
          <a:prstGeom prst="rect">
            <a:avLst/>
          </a:prstGeom>
        </p:spPr>
      </p:pic>
      <p:pic>
        <p:nvPicPr>
          <p:cNvPr id="37" name="Picture 36" descr="69_2_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7183797" y="4747704"/>
            <a:ext cx="876864" cy="265429"/>
          </a:xfrm>
          <a:prstGeom prst="rect">
            <a:avLst/>
          </a:prstGeom>
        </p:spPr>
      </p:pic>
      <p:pic>
        <p:nvPicPr>
          <p:cNvPr id="38" name="Picture 37" descr="69_0_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8445903" y="4747704"/>
            <a:ext cx="876864" cy="265429"/>
          </a:xfrm>
          <a:prstGeom prst="rect">
            <a:avLst/>
          </a:prstGeom>
        </p:spPr>
      </p:pic>
      <p:pic>
        <p:nvPicPr>
          <p:cNvPr id="39" name="Picture 38" descr="_21_605E5C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9864423" y="4747704"/>
            <a:ext cx="564037" cy="265429"/>
          </a:xfrm>
          <a:prstGeom prst="rect">
            <a:avLst/>
          </a:prstGeom>
        </p:spPr>
      </p:pic>
      <p:pic>
        <p:nvPicPr>
          <p:cNvPr id="40" name="Picture 39" descr="5_3__605E5C.png"/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11048322" y="4747704"/>
            <a:ext cx="720450" cy="265429"/>
          </a:xfrm>
          <a:prstGeom prst="rect">
            <a:avLst/>
          </a:prstGeom>
        </p:spPr>
      </p:pic>
      <p:pic>
        <p:nvPicPr>
          <p:cNvPr id="41" name="Picture 40" descr="30_8__605E5C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7183797" y="5767641"/>
            <a:ext cx="876864" cy="265429"/>
          </a:xfrm>
          <a:prstGeom prst="rect">
            <a:avLst/>
          </a:prstGeom>
        </p:spPr>
      </p:pic>
      <p:pic>
        <p:nvPicPr>
          <p:cNvPr id="42" name="Picture 41" descr="31_0__605E5C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8445903" y="5767641"/>
            <a:ext cx="876864" cy="265429"/>
          </a:xfrm>
          <a:prstGeom prst="rect">
            <a:avLst/>
          </a:prstGeom>
        </p:spPr>
      </p:pic>
      <p:pic>
        <p:nvPicPr>
          <p:cNvPr id="43" name="Picture 42" descr="_21_605E5C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9864423" y="5767641"/>
            <a:ext cx="564037" cy="265429"/>
          </a:xfrm>
          <a:prstGeom prst="rect">
            <a:avLst/>
          </a:prstGeom>
        </p:spPr>
      </p:pic>
      <p:pic>
        <p:nvPicPr>
          <p:cNvPr id="44" name="Picture 43" descr="5_4__605E5C.png"/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11048322" y="5767641"/>
            <a:ext cx="720450" cy="265429"/>
          </a:xfrm>
          <a:prstGeom prst="rect">
            <a:avLst/>
          </a:prstGeom>
        </p:spPr>
      </p:pic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328700" y="5123688"/>
            <a:ext cx="366712" cy="533400"/>
          </a:xfrm>
          <a:prstGeom prst="rect">
            <a:avLst/>
          </a:prstGeom>
        </p:spPr>
      </p:pic>
      <p:sp>
        <p:nvSpPr>
          <p:cNvPr id="46" name="lockshield_13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lockshield_20"/>
          <p:cNvSpPr/>
          <p:nvPr/>
        </p:nvSpPr>
        <p:spPr>
          <a:xfrm>
            <a:off x="238125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7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Tables Pet Type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and value of the Germany market by Pet Type,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457325"/>
          </a:xfrm>
          <a:prstGeom prst="roundRect">
            <a:avLst>
              <a:gd name="adj" fmla="val 522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Volume, By Pet Type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6" cy="9906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74273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Pet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Dogs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Cats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2383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571750"/>
            <a:ext cx="11906250" cy="1457325"/>
          </a:xfrm>
          <a:prstGeom prst="roundRect">
            <a:avLst>
              <a:gd name="adj" fmla="val 522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62890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Value, By Pet Type (US$ Mn)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2828925"/>
          <a:ext cx="11887206" cy="9906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74273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Pet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Dogs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Cats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38290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280681" y="1589913"/>
            <a:ext cx="366712" cy="533400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280681" y="3180587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7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YoY Analysis Pet Type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Germany year-on-year volume and value growth by Pet Type,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209675"/>
          </a:xfrm>
          <a:prstGeom prst="roundRect">
            <a:avLst>
              <a:gd name="adj" fmla="val 629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Volume YoY, By Pet Type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6" cy="74294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818796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Pet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Dogs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Cats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19907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324100"/>
            <a:ext cx="11906250" cy="1209675"/>
          </a:xfrm>
          <a:prstGeom prst="roundRect">
            <a:avLst>
              <a:gd name="adj" fmla="val 629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38125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 YoY, By Pet Type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2581275"/>
          <a:ext cx="11887206" cy="74294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818796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Pet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Dogs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Cats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33337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__4_9_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23502" y="1475867"/>
            <a:ext cx="1033277" cy="265429"/>
          </a:xfrm>
          <a:prstGeom prst="rect">
            <a:avLst/>
          </a:prstGeom>
        </p:spPr>
      </p:pic>
      <p:pic>
        <p:nvPicPr>
          <p:cNvPr id="21" name="Picture 20" descr="__3_8_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561396" y="1475867"/>
            <a:ext cx="1033277" cy="265429"/>
          </a:xfrm>
          <a:prstGeom prst="rect">
            <a:avLst/>
          </a:prstGeom>
        </p:spPr>
      </p:pic>
      <p:pic>
        <p:nvPicPr>
          <p:cNvPr id="22" name="Picture 21" descr="__4_3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299290" y="1475867"/>
            <a:ext cx="1033277" cy="265429"/>
          </a:xfrm>
          <a:prstGeom prst="rect">
            <a:avLst/>
          </a:prstGeom>
        </p:spPr>
      </p:pic>
      <p:pic>
        <p:nvPicPr>
          <p:cNvPr id="23" name="Picture 22" descr="__4_9_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037184" y="1475867"/>
            <a:ext cx="1033277" cy="265429"/>
          </a:xfrm>
          <a:prstGeom prst="rect">
            <a:avLst/>
          </a:prstGeom>
        </p:spPr>
      </p:pic>
      <p:pic>
        <p:nvPicPr>
          <p:cNvPr id="24" name="Picture 23" descr="__4_8_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775078" y="1475867"/>
            <a:ext cx="1033277" cy="265429"/>
          </a:xfrm>
          <a:prstGeom prst="rect">
            <a:avLst/>
          </a:prstGeom>
        </p:spPr>
      </p:pic>
      <p:pic>
        <p:nvPicPr>
          <p:cNvPr id="25" name="Picture 24" descr="__5_7_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4512972" y="1475867"/>
            <a:ext cx="1033277" cy="265429"/>
          </a:xfrm>
          <a:prstGeom prst="rect">
            <a:avLst/>
          </a:prstGeom>
        </p:spPr>
      </p:pic>
      <p:pic>
        <p:nvPicPr>
          <p:cNvPr id="26" name="Picture 25" descr="__5_3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5250866" y="1475867"/>
            <a:ext cx="1033277" cy="265429"/>
          </a:xfrm>
          <a:prstGeom prst="rect">
            <a:avLst/>
          </a:prstGeom>
        </p:spPr>
      </p:pic>
      <p:pic>
        <p:nvPicPr>
          <p:cNvPr id="27" name="Picture 26" descr="__5_6_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5988760" y="1475867"/>
            <a:ext cx="1033277" cy="265429"/>
          </a:xfrm>
          <a:prstGeom prst="rect">
            <a:avLst/>
          </a:prstGeom>
        </p:spPr>
      </p:pic>
      <p:pic>
        <p:nvPicPr>
          <p:cNvPr id="28" name="Picture 27" descr="__5_0_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6726654" y="1475867"/>
            <a:ext cx="1033277" cy="265429"/>
          </a:xfrm>
          <a:prstGeom prst="rect">
            <a:avLst/>
          </a:prstGeom>
        </p:spPr>
      </p:pic>
      <p:pic>
        <p:nvPicPr>
          <p:cNvPr id="29" name="Picture 28" descr="__5_1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7464548" y="1475867"/>
            <a:ext cx="1033277" cy="265429"/>
          </a:xfrm>
          <a:prstGeom prst="rect">
            <a:avLst/>
          </a:prstGeom>
        </p:spPr>
      </p:pic>
      <p:pic>
        <p:nvPicPr>
          <p:cNvPr id="30" name="Picture 29" descr="__5_0_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8202442" y="1475867"/>
            <a:ext cx="1033277" cy="265429"/>
          </a:xfrm>
          <a:prstGeom prst="rect">
            <a:avLst/>
          </a:prstGeom>
        </p:spPr>
      </p:pic>
      <p:pic>
        <p:nvPicPr>
          <p:cNvPr id="31" name="Picture 30" descr="__5_7_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940336" y="1475867"/>
            <a:ext cx="1033277" cy="265429"/>
          </a:xfrm>
          <a:prstGeom prst="rect">
            <a:avLst/>
          </a:prstGeom>
        </p:spPr>
      </p:pic>
      <p:pic>
        <p:nvPicPr>
          <p:cNvPr id="32" name="Picture 31" descr="__4_7_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9678230" y="1475867"/>
            <a:ext cx="1033277" cy="265429"/>
          </a:xfrm>
          <a:prstGeom prst="rect">
            <a:avLst/>
          </a:prstGeom>
        </p:spPr>
      </p:pic>
      <p:pic>
        <p:nvPicPr>
          <p:cNvPr id="33" name="Picture 32" descr="__5_2_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10416124" y="1475867"/>
            <a:ext cx="1033277" cy="265429"/>
          </a:xfrm>
          <a:prstGeom prst="rect">
            <a:avLst/>
          </a:prstGeom>
        </p:spPr>
      </p:pic>
      <p:pic>
        <p:nvPicPr>
          <p:cNvPr id="34" name="Picture 33" descr="__5_3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11154018" y="1475867"/>
            <a:ext cx="1033277" cy="265429"/>
          </a:xfrm>
          <a:prstGeom prst="rect">
            <a:avLst/>
          </a:prstGeom>
        </p:spPr>
      </p:pic>
      <p:pic>
        <p:nvPicPr>
          <p:cNvPr id="35" name="Picture 34" descr="__5_0_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823502" y="1724279"/>
            <a:ext cx="1033277" cy="265429"/>
          </a:xfrm>
          <a:prstGeom prst="rect">
            <a:avLst/>
          </a:prstGeom>
        </p:spPr>
      </p:pic>
      <p:pic>
        <p:nvPicPr>
          <p:cNvPr id="36" name="Picture 35" descr="__3_9_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1561396" y="1724279"/>
            <a:ext cx="1033277" cy="265429"/>
          </a:xfrm>
          <a:prstGeom prst="rect">
            <a:avLst/>
          </a:prstGeom>
        </p:spPr>
      </p:pic>
      <p:pic>
        <p:nvPicPr>
          <p:cNvPr id="37" name="Picture 36" descr="__4_4__605E5C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299290" y="1724279"/>
            <a:ext cx="1033277" cy="265429"/>
          </a:xfrm>
          <a:prstGeom prst="rect">
            <a:avLst/>
          </a:prstGeom>
        </p:spPr>
      </p:pic>
      <p:pic>
        <p:nvPicPr>
          <p:cNvPr id="38" name="Picture 37" descr="__5_0_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3037184" y="1724279"/>
            <a:ext cx="1033277" cy="265429"/>
          </a:xfrm>
          <a:prstGeom prst="rect">
            <a:avLst/>
          </a:prstGeom>
        </p:spPr>
      </p:pic>
      <p:pic>
        <p:nvPicPr>
          <p:cNvPr id="39" name="Picture 38" descr="__4_9_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775078" y="1724279"/>
            <a:ext cx="1033277" cy="265429"/>
          </a:xfrm>
          <a:prstGeom prst="rect">
            <a:avLst/>
          </a:prstGeom>
        </p:spPr>
      </p:pic>
      <p:pic>
        <p:nvPicPr>
          <p:cNvPr id="40" name="Picture 39" descr="__5_8__605E5C.png"/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4512972" y="1724279"/>
            <a:ext cx="1033277" cy="265429"/>
          </a:xfrm>
          <a:prstGeom prst="rect">
            <a:avLst/>
          </a:prstGeom>
        </p:spPr>
      </p:pic>
      <p:pic>
        <p:nvPicPr>
          <p:cNvPr id="41" name="Picture 40" descr="__5_4__605E5C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5250866" y="1724279"/>
            <a:ext cx="1033277" cy="265429"/>
          </a:xfrm>
          <a:prstGeom prst="rect">
            <a:avLst/>
          </a:prstGeom>
        </p:spPr>
      </p:pic>
      <p:pic>
        <p:nvPicPr>
          <p:cNvPr id="42" name="Picture 41" descr="__5_7_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5988760" y="1724279"/>
            <a:ext cx="1033277" cy="265429"/>
          </a:xfrm>
          <a:prstGeom prst="rect">
            <a:avLst/>
          </a:prstGeom>
        </p:spPr>
      </p:pic>
      <p:pic>
        <p:nvPicPr>
          <p:cNvPr id="43" name="Picture 42" descr="__5_1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6726654" y="1724279"/>
            <a:ext cx="1033277" cy="265429"/>
          </a:xfrm>
          <a:prstGeom prst="rect">
            <a:avLst/>
          </a:prstGeom>
        </p:spPr>
      </p:pic>
      <p:pic>
        <p:nvPicPr>
          <p:cNvPr id="44" name="Picture 43" descr="__5_2_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7464548" y="1724279"/>
            <a:ext cx="1033277" cy="265429"/>
          </a:xfrm>
          <a:prstGeom prst="rect">
            <a:avLst/>
          </a:prstGeom>
        </p:spPr>
      </p:pic>
      <p:pic>
        <p:nvPicPr>
          <p:cNvPr id="45" name="Picture 44" descr="__5_1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8202442" y="1724279"/>
            <a:ext cx="1033277" cy="265429"/>
          </a:xfrm>
          <a:prstGeom prst="rect">
            <a:avLst/>
          </a:prstGeom>
        </p:spPr>
      </p:pic>
      <p:pic>
        <p:nvPicPr>
          <p:cNvPr id="46" name="Picture 45" descr="__5_8__605E5C.png"/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8940336" y="1724279"/>
            <a:ext cx="1033277" cy="265429"/>
          </a:xfrm>
          <a:prstGeom prst="rect">
            <a:avLst/>
          </a:prstGeom>
        </p:spPr>
      </p:pic>
      <p:pic>
        <p:nvPicPr>
          <p:cNvPr id="47" name="Picture 46" descr="__4_8_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678230" y="1724279"/>
            <a:ext cx="1033277" cy="265429"/>
          </a:xfrm>
          <a:prstGeom prst="rect">
            <a:avLst/>
          </a:prstGeom>
        </p:spPr>
      </p:pic>
      <p:pic>
        <p:nvPicPr>
          <p:cNvPr id="48" name="Picture 47" descr="__5_3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10416124" y="1724279"/>
            <a:ext cx="1033277" cy="265429"/>
          </a:xfrm>
          <a:prstGeom prst="rect">
            <a:avLst/>
          </a:prstGeom>
        </p:spPr>
      </p:pic>
      <p:pic>
        <p:nvPicPr>
          <p:cNvPr id="49" name="Picture 48" descr="__5_4__605E5C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11154018" y="1724279"/>
            <a:ext cx="1033277" cy="265429"/>
          </a:xfrm>
          <a:prstGeom prst="rect">
            <a:avLst/>
          </a:prstGeom>
        </p:spPr>
      </p:pic>
      <p:pic>
        <p:nvPicPr>
          <p:cNvPr id="50" name="Picture 49" descr="lock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6335505" y="1476733"/>
            <a:ext cx="333724" cy="485416"/>
          </a:xfrm>
          <a:prstGeom prst="rect">
            <a:avLst/>
          </a:prstGeom>
        </p:spPr>
      </p:pic>
      <p:pic>
        <p:nvPicPr>
          <p:cNvPr id="51" name="Picture 50" descr="__5_5__605E5C.png"/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823502" y="2818892"/>
            <a:ext cx="1033277" cy="265429"/>
          </a:xfrm>
          <a:prstGeom prst="rect">
            <a:avLst/>
          </a:prstGeom>
        </p:spPr>
      </p:pic>
      <p:pic>
        <p:nvPicPr>
          <p:cNvPr id="52" name="Picture 51" descr="__4_5__605E5C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1561396" y="2818892"/>
            <a:ext cx="1033277" cy="265429"/>
          </a:xfrm>
          <a:prstGeom prst="rect">
            <a:avLst/>
          </a:prstGeom>
        </p:spPr>
      </p:pic>
      <p:pic>
        <p:nvPicPr>
          <p:cNvPr id="53" name="Picture 52" descr="__5_0_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2299290" y="2818892"/>
            <a:ext cx="1033277" cy="265429"/>
          </a:xfrm>
          <a:prstGeom prst="rect">
            <a:avLst/>
          </a:prstGeom>
        </p:spPr>
      </p:pic>
      <p:pic>
        <p:nvPicPr>
          <p:cNvPr id="54" name="Picture 53" descr="__5_6_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3037184" y="2818892"/>
            <a:ext cx="1033277" cy="265429"/>
          </a:xfrm>
          <a:prstGeom prst="rect">
            <a:avLst/>
          </a:prstGeom>
        </p:spPr>
      </p:pic>
      <p:pic>
        <p:nvPicPr>
          <p:cNvPr id="55" name="Picture 54" descr="__5_5__605E5C.png"/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3775078" y="2818892"/>
            <a:ext cx="1033277" cy="265429"/>
          </a:xfrm>
          <a:prstGeom prst="rect">
            <a:avLst/>
          </a:prstGeom>
        </p:spPr>
      </p:pic>
      <p:pic>
        <p:nvPicPr>
          <p:cNvPr id="56" name="Picture 55" descr="__6_4__605E5C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4512972" y="2818892"/>
            <a:ext cx="1033277" cy="265429"/>
          </a:xfrm>
          <a:prstGeom prst="rect">
            <a:avLst/>
          </a:prstGeom>
        </p:spPr>
      </p:pic>
      <p:pic>
        <p:nvPicPr>
          <p:cNvPr id="57" name="Picture 56" descr="__5_9__605E5C.png"/>
          <p:cNvPicPr>
            <a:picLocks noChangeAspect="1"/>
          </p:cNvPicPr>
          <p:nvPr/>
        </p:nvPicPr>
        <p:blipFill>
          <a:blip r:embed="rId23"/>
          <a:stretch>
            <a:fillRect/>
          </a:stretch>
        </p:blipFill>
        <p:spPr>
          <a:xfrm>
            <a:off x="5250866" y="2818892"/>
            <a:ext cx="1033277" cy="265429"/>
          </a:xfrm>
          <a:prstGeom prst="rect">
            <a:avLst/>
          </a:prstGeom>
        </p:spPr>
      </p:pic>
      <p:pic>
        <p:nvPicPr>
          <p:cNvPr id="58" name="Picture 57" descr="__6_2__605E5C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5988760" y="2818892"/>
            <a:ext cx="1033277" cy="265429"/>
          </a:xfrm>
          <a:prstGeom prst="rect">
            <a:avLst/>
          </a:prstGeom>
        </p:spPr>
      </p:pic>
      <p:pic>
        <p:nvPicPr>
          <p:cNvPr id="59" name="Picture 58" descr="__5_6_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6726654" y="2818892"/>
            <a:ext cx="1033277" cy="265429"/>
          </a:xfrm>
          <a:prstGeom prst="rect">
            <a:avLst/>
          </a:prstGeom>
        </p:spPr>
      </p:pic>
      <p:pic>
        <p:nvPicPr>
          <p:cNvPr id="60" name="Picture 59" descr="__5_7_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7464548" y="2818892"/>
            <a:ext cx="1033277" cy="265429"/>
          </a:xfrm>
          <a:prstGeom prst="rect">
            <a:avLst/>
          </a:prstGeom>
        </p:spPr>
      </p:pic>
      <p:pic>
        <p:nvPicPr>
          <p:cNvPr id="61" name="Picture 60" descr="__5_6_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8202442" y="2818892"/>
            <a:ext cx="1033277" cy="265429"/>
          </a:xfrm>
          <a:prstGeom prst="rect">
            <a:avLst/>
          </a:prstGeom>
        </p:spPr>
      </p:pic>
      <p:pic>
        <p:nvPicPr>
          <p:cNvPr id="62" name="Picture 61" descr="__6_3__605E5C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8940336" y="2818892"/>
            <a:ext cx="1033277" cy="265429"/>
          </a:xfrm>
          <a:prstGeom prst="rect">
            <a:avLst/>
          </a:prstGeom>
        </p:spPr>
      </p:pic>
      <p:pic>
        <p:nvPicPr>
          <p:cNvPr id="63" name="Picture 62" descr="__5_3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9678230" y="2818892"/>
            <a:ext cx="1033277" cy="265429"/>
          </a:xfrm>
          <a:prstGeom prst="rect">
            <a:avLst/>
          </a:prstGeom>
        </p:spPr>
      </p:pic>
      <p:pic>
        <p:nvPicPr>
          <p:cNvPr id="64" name="Picture 63" descr="__5_8__605E5C.png"/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10416124" y="2818892"/>
            <a:ext cx="1033277" cy="265429"/>
          </a:xfrm>
          <a:prstGeom prst="rect">
            <a:avLst/>
          </a:prstGeom>
        </p:spPr>
      </p:pic>
      <p:pic>
        <p:nvPicPr>
          <p:cNvPr id="65" name="Picture 64" descr="__5_9__605E5C.png"/>
          <p:cNvPicPr>
            <a:picLocks noChangeAspect="1"/>
          </p:cNvPicPr>
          <p:nvPr/>
        </p:nvPicPr>
        <p:blipFill>
          <a:blip r:embed="rId23"/>
          <a:stretch>
            <a:fillRect/>
          </a:stretch>
        </p:blipFill>
        <p:spPr>
          <a:xfrm>
            <a:off x="11154018" y="2818892"/>
            <a:ext cx="1033277" cy="265429"/>
          </a:xfrm>
          <a:prstGeom prst="rect">
            <a:avLst/>
          </a:prstGeom>
        </p:spPr>
      </p:pic>
      <p:pic>
        <p:nvPicPr>
          <p:cNvPr id="66" name="Picture 65" descr="__5_6_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823502" y="3067304"/>
            <a:ext cx="1033277" cy="265429"/>
          </a:xfrm>
          <a:prstGeom prst="rect">
            <a:avLst/>
          </a:prstGeom>
        </p:spPr>
      </p:pic>
      <p:pic>
        <p:nvPicPr>
          <p:cNvPr id="67" name="Picture 66" descr="__4_6__605E5C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1561396" y="3067304"/>
            <a:ext cx="1033277" cy="265429"/>
          </a:xfrm>
          <a:prstGeom prst="rect">
            <a:avLst/>
          </a:prstGeom>
        </p:spPr>
      </p:pic>
      <p:pic>
        <p:nvPicPr>
          <p:cNvPr id="68" name="Picture 67" descr="__5_0_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2299290" y="3067304"/>
            <a:ext cx="1033277" cy="265429"/>
          </a:xfrm>
          <a:prstGeom prst="rect">
            <a:avLst/>
          </a:prstGeom>
        </p:spPr>
      </p:pic>
      <p:pic>
        <p:nvPicPr>
          <p:cNvPr id="69" name="Picture 68" descr="__5_7_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037184" y="3067304"/>
            <a:ext cx="1033277" cy="265429"/>
          </a:xfrm>
          <a:prstGeom prst="rect">
            <a:avLst/>
          </a:prstGeom>
        </p:spPr>
      </p:pic>
      <p:pic>
        <p:nvPicPr>
          <p:cNvPr id="70" name="Picture 69" descr="__5_6_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3775078" y="3067304"/>
            <a:ext cx="1033277" cy="265429"/>
          </a:xfrm>
          <a:prstGeom prst="rect">
            <a:avLst/>
          </a:prstGeom>
        </p:spPr>
      </p:pic>
      <p:pic>
        <p:nvPicPr>
          <p:cNvPr id="71" name="Picture 70" descr="__6_5__605E5C.png"/>
          <p:cNvPicPr>
            <a:picLocks noChangeAspect="1"/>
          </p:cNvPicPr>
          <p:nvPr/>
        </p:nvPicPr>
        <p:blipFill>
          <a:blip r:embed="rId27"/>
          <a:stretch>
            <a:fillRect/>
          </a:stretch>
        </p:blipFill>
        <p:spPr>
          <a:xfrm>
            <a:off x="4512972" y="3067304"/>
            <a:ext cx="1033277" cy="265429"/>
          </a:xfrm>
          <a:prstGeom prst="rect">
            <a:avLst/>
          </a:prstGeom>
        </p:spPr>
      </p:pic>
      <p:pic>
        <p:nvPicPr>
          <p:cNvPr id="72" name="Picture 71" descr="__6_0__605E5C.png"/>
          <p:cNvPicPr>
            <a:picLocks noChangeAspect="1"/>
          </p:cNvPicPr>
          <p:nvPr/>
        </p:nvPicPr>
        <p:blipFill>
          <a:blip r:embed="rId28"/>
          <a:stretch>
            <a:fillRect/>
          </a:stretch>
        </p:blipFill>
        <p:spPr>
          <a:xfrm>
            <a:off x="5250866" y="3067304"/>
            <a:ext cx="1033277" cy="265429"/>
          </a:xfrm>
          <a:prstGeom prst="rect">
            <a:avLst/>
          </a:prstGeom>
        </p:spPr>
      </p:pic>
      <p:pic>
        <p:nvPicPr>
          <p:cNvPr id="73" name="Picture 72" descr="__6_3__605E5C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5988760" y="3067304"/>
            <a:ext cx="1033277" cy="265429"/>
          </a:xfrm>
          <a:prstGeom prst="rect">
            <a:avLst/>
          </a:prstGeom>
        </p:spPr>
      </p:pic>
      <p:pic>
        <p:nvPicPr>
          <p:cNvPr id="74" name="Picture 73" descr="__5_7_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6726654" y="3067304"/>
            <a:ext cx="1033277" cy="265429"/>
          </a:xfrm>
          <a:prstGeom prst="rect">
            <a:avLst/>
          </a:prstGeom>
        </p:spPr>
      </p:pic>
      <p:pic>
        <p:nvPicPr>
          <p:cNvPr id="75" name="Picture 74" descr="__5_8__605E5C.png"/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7464548" y="3067304"/>
            <a:ext cx="1033277" cy="265429"/>
          </a:xfrm>
          <a:prstGeom prst="rect">
            <a:avLst/>
          </a:prstGeom>
        </p:spPr>
      </p:pic>
      <p:pic>
        <p:nvPicPr>
          <p:cNvPr id="76" name="Picture 75" descr="__5_7_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202442" y="3067304"/>
            <a:ext cx="1033277" cy="265429"/>
          </a:xfrm>
          <a:prstGeom prst="rect">
            <a:avLst/>
          </a:prstGeom>
        </p:spPr>
      </p:pic>
      <p:pic>
        <p:nvPicPr>
          <p:cNvPr id="77" name="Picture 76" descr="__6_4__605E5C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8940336" y="3067304"/>
            <a:ext cx="1033277" cy="265429"/>
          </a:xfrm>
          <a:prstGeom prst="rect">
            <a:avLst/>
          </a:prstGeom>
        </p:spPr>
      </p:pic>
      <p:pic>
        <p:nvPicPr>
          <p:cNvPr id="78" name="Picture 77" descr="__5_4__605E5C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9678230" y="3067304"/>
            <a:ext cx="1033277" cy="265429"/>
          </a:xfrm>
          <a:prstGeom prst="rect">
            <a:avLst/>
          </a:prstGeom>
        </p:spPr>
      </p:pic>
      <p:pic>
        <p:nvPicPr>
          <p:cNvPr id="79" name="Picture 78" descr="__5_9__605E5C.png"/>
          <p:cNvPicPr>
            <a:picLocks noChangeAspect="1"/>
          </p:cNvPicPr>
          <p:nvPr/>
        </p:nvPicPr>
        <p:blipFill>
          <a:blip r:embed="rId23"/>
          <a:stretch>
            <a:fillRect/>
          </a:stretch>
        </p:blipFill>
        <p:spPr>
          <a:xfrm>
            <a:off x="10416124" y="3067304"/>
            <a:ext cx="1033277" cy="265429"/>
          </a:xfrm>
          <a:prstGeom prst="rect">
            <a:avLst/>
          </a:prstGeom>
        </p:spPr>
      </p:pic>
      <p:pic>
        <p:nvPicPr>
          <p:cNvPr id="80" name="Picture 79" descr="__6_0__605E5C.png"/>
          <p:cNvPicPr>
            <a:picLocks noChangeAspect="1"/>
          </p:cNvPicPr>
          <p:nvPr/>
        </p:nvPicPr>
        <p:blipFill>
          <a:blip r:embed="rId28"/>
          <a:stretch>
            <a:fillRect/>
          </a:stretch>
        </p:blipFill>
        <p:spPr>
          <a:xfrm>
            <a:off x="11154018" y="3067304"/>
            <a:ext cx="1033277" cy="265429"/>
          </a:xfrm>
          <a:prstGeom prst="rect">
            <a:avLst/>
          </a:prstGeom>
        </p:spPr>
      </p:pic>
      <p:pic>
        <p:nvPicPr>
          <p:cNvPr id="81" name="Picture 80" descr="lock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6335505" y="2819758"/>
            <a:ext cx="333724" cy="485416"/>
          </a:xfrm>
          <a:prstGeom prst="rect">
            <a:avLst/>
          </a:prstGeom>
        </p:spPr>
      </p:pic>
    </p:spTree>
  </p:cSld>
  <p:clrMapOvr>
    <a:masterClrMapping/>
  </p:clrMapOvr>
</p:sld>
</file>

<file path=ppt/slides/slide17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10.6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Pack Size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Segmental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Table (Volume &amp; Value)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YoY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7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Segmental Analysis Pack Size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Germany segmental analysis by Pack Size: growth contribution, share variance and absolute $ opportunity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Growth Contribution 2026 → 2036, By Pack Size (US$ Mn)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Value Shares &amp; Variance, By Pack Size</a:t>
            </a:r>
          </a:p>
        </p:txBody>
      </p:sp>
      <p:graphicFrame>
        <p:nvGraphicFramePr>
          <p:cNvPr id="16" name="Table 15"/>
          <p:cNvGraphicFramePr>
            <a:graphicFrameLocks noGrp="1"/>
          </p:cNvGraphicFramePr>
          <p:nvPr/>
        </p:nvGraphicFramePr>
        <p:xfrm>
          <a:off x="6181725" y="1238250"/>
          <a:ext cx="5857875" cy="22860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689054"/>
                <a:gridCol w="796631"/>
                <a:gridCol w="796631"/>
                <a:gridCol w="1006059"/>
                <a:gridCol w="569500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Pack Size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6799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Liquid, Gel &amp; Cream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6799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Solid, Powder &amp; Weight-Labeled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6799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Wipes &amp; Other Count-Based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7" name="TextBox 16"/>
          <p:cNvSpPr txBox="1"/>
          <p:nvPr/>
        </p:nvSpPr>
        <p:spPr>
          <a:xfrm>
            <a:off x="6248400" y="3533775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38125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Absolute $ Opportunity, By Pack Size (US$ Mn)</a:t>
            </a:r>
          </a:p>
        </p:txBody>
      </p:sp>
      <p:graphicFrame>
        <p:nvGraphicFramePr>
          <p:cNvPr id="20" name="Chart 19"/>
          <p:cNvGraphicFramePr>
            <a:graphicFrameLocks noGrp="1"/>
          </p:cNvGraphicFramePr>
          <p:nvPr/>
        </p:nvGraphicFramePr>
        <p:xfrm>
          <a:off x="238125" y="4152900"/>
          <a:ext cx="5686425" cy="240982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1" name="Rounded Rectangle 20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6267450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Volume Shares &amp; Variance, By Pack Size</a:t>
            </a:r>
          </a:p>
        </p:txBody>
      </p:sp>
      <p:graphicFrame>
        <p:nvGraphicFramePr>
          <p:cNvPr id="23" name="Table 22"/>
          <p:cNvGraphicFramePr>
            <a:graphicFrameLocks noGrp="1"/>
          </p:cNvGraphicFramePr>
          <p:nvPr/>
        </p:nvGraphicFramePr>
        <p:xfrm>
          <a:off x="6181725" y="4124325"/>
          <a:ext cx="5857875" cy="22860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689054"/>
                <a:gridCol w="796631"/>
                <a:gridCol w="796631"/>
                <a:gridCol w="1006059"/>
                <a:gridCol w="569500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Pack Size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6799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Liquid, Gel &amp; Cream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6799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Solid, Powder &amp; Weight-Labeled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6799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Wipes &amp; Other Count-Based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24" name="TextBox 23"/>
          <p:cNvSpPr txBox="1"/>
          <p:nvPr/>
        </p:nvSpPr>
        <p:spPr>
          <a:xfrm>
            <a:off x="6248400" y="6419850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7" name="Picture 26" descr="60_0_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830661" y="1691640"/>
            <a:ext cx="876864" cy="265429"/>
          </a:xfrm>
          <a:prstGeom prst="rect">
            <a:avLst/>
          </a:prstGeom>
        </p:spPr>
      </p:pic>
      <p:pic>
        <p:nvPicPr>
          <p:cNvPr id="28" name="Picture 27" descr="57_7_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627292" y="1691640"/>
            <a:ext cx="876864" cy="265429"/>
          </a:xfrm>
          <a:prstGeom prst="rect">
            <a:avLst/>
          </a:prstGeom>
        </p:spPr>
      </p:pic>
      <p:pic>
        <p:nvPicPr>
          <p:cNvPr id="29" name="Picture 28" descr="_235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10606844" y="1691640"/>
            <a:ext cx="720450" cy="265429"/>
          </a:xfrm>
          <a:prstGeom prst="rect">
            <a:avLst/>
          </a:prstGeom>
        </p:spPr>
      </p:pic>
      <p:pic>
        <p:nvPicPr>
          <p:cNvPr id="30" name="Picture 29" descr="5_5_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11394623" y="1691640"/>
            <a:ext cx="720450" cy="265429"/>
          </a:xfrm>
          <a:prstGeom prst="rect">
            <a:avLst/>
          </a:prstGeom>
        </p:spPr>
      </p:pic>
      <p:pic>
        <p:nvPicPr>
          <p:cNvPr id="31" name="Picture 30" descr="16_1_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8830661" y="2371598"/>
            <a:ext cx="876864" cy="265429"/>
          </a:xfrm>
          <a:prstGeom prst="rect">
            <a:avLst/>
          </a:prstGeom>
        </p:spPr>
      </p:pic>
      <p:pic>
        <p:nvPicPr>
          <p:cNvPr id="32" name="Picture 31" descr="16_1_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9627292" y="2371598"/>
            <a:ext cx="876864" cy="265429"/>
          </a:xfrm>
          <a:prstGeom prst="rect">
            <a:avLst/>
          </a:prstGeom>
        </p:spPr>
      </p:pic>
      <p:pic>
        <p:nvPicPr>
          <p:cNvPr id="33" name="Picture 32" descr="_5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10763258" y="2371598"/>
            <a:ext cx="407623" cy="265429"/>
          </a:xfrm>
          <a:prstGeom prst="rect">
            <a:avLst/>
          </a:prstGeom>
        </p:spPr>
      </p:pic>
      <p:pic>
        <p:nvPicPr>
          <p:cNvPr id="34" name="Picture 33" descr="5_9_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1394623" y="2371598"/>
            <a:ext cx="720450" cy="265429"/>
          </a:xfrm>
          <a:prstGeom prst="rect">
            <a:avLst/>
          </a:prstGeom>
        </p:spPr>
      </p:pic>
      <p:pic>
        <p:nvPicPr>
          <p:cNvPr id="35" name="Picture 34" descr="23_9_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8830661" y="3051556"/>
            <a:ext cx="876864" cy="265429"/>
          </a:xfrm>
          <a:prstGeom prst="rect">
            <a:avLst/>
          </a:prstGeom>
        </p:spPr>
      </p:pic>
      <p:pic>
        <p:nvPicPr>
          <p:cNvPr id="36" name="Picture 35" descr="26_2_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9627292" y="3051556"/>
            <a:ext cx="876864" cy="265429"/>
          </a:xfrm>
          <a:prstGeom prst="rect">
            <a:avLst/>
          </a:prstGeom>
        </p:spPr>
      </p:pic>
      <p:pic>
        <p:nvPicPr>
          <p:cNvPr id="37" name="Picture 36" descr="_229_605E5C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10606844" y="3051556"/>
            <a:ext cx="720450" cy="265429"/>
          </a:xfrm>
          <a:prstGeom prst="rect">
            <a:avLst/>
          </a:prstGeom>
        </p:spPr>
      </p:pic>
      <p:pic>
        <p:nvPicPr>
          <p:cNvPr id="38" name="Picture 37" descr="6_9__605E5C.png"/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11394623" y="3051556"/>
            <a:ext cx="720450" cy="265429"/>
          </a:xfrm>
          <a:prstGeom prst="rect">
            <a:avLst/>
          </a:prstGeom>
        </p:spPr>
      </p:pic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270989" y="2241170"/>
            <a:ext cx="361820" cy="526284"/>
          </a:xfrm>
          <a:prstGeom prst="rect">
            <a:avLst/>
          </a:prstGeom>
        </p:spPr>
      </p:pic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5123309"/>
            <a:ext cx="263506" cy="383281"/>
          </a:xfrm>
          <a:prstGeom prst="rect">
            <a:avLst/>
          </a:prstGeom>
        </p:spPr>
      </p:pic>
      <p:pic>
        <p:nvPicPr>
          <p:cNvPr id="41" name="Picture 40" descr="60_7__605E5C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8830661" y="4577715"/>
            <a:ext cx="876864" cy="265429"/>
          </a:xfrm>
          <a:prstGeom prst="rect">
            <a:avLst/>
          </a:prstGeom>
        </p:spPr>
      </p:pic>
      <p:pic>
        <p:nvPicPr>
          <p:cNvPr id="42" name="Picture 41" descr="58_4__605E5C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9627292" y="4577715"/>
            <a:ext cx="876864" cy="265429"/>
          </a:xfrm>
          <a:prstGeom prst="rect">
            <a:avLst/>
          </a:prstGeom>
        </p:spPr>
      </p:pic>
      <p:pic>
        <p:nvPicPr>
          <p:cNvPr id="43" name="Picture 42" descr="_228_605E5C.png"/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10606844" y="4577715"/>
            <a:ext cx="720450" cy="265429"/>
          </a:xfrm>
          <a:prstGeom prst="rect">
            <a:avLst/>
          </a:prstGeom>
        </p:spPr>
      </p:pic>
      <p:pic>
        <p:nvPicPr>
          <p:cNvPr id="44" name="Picture 43" descr="4_9__605E5C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11394623" y="4577715"/>
            <a:ext cx="720450" cy="265429"/>
          </a:xfrm>
          <a:prstGeom prst="rect">
            <a:avLst/>
          </a:prstGeom>
        </p:spPr>
      </p:pic>
      <p:pic>
        <p:nvPicPr>
          <p:cNvPr id="45" name="Picture 44" descr="16_1_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8830661" y="5257673"/>
            <a:ext cx="876864" cy="265429"/>
          </a:xfrm>
          <a:prstGeom prst="rect">
            <a:avLst/>
          </a:prstGeom>
        </p:spPr>
      </p:pic>
      <p:pic>
        <p:nvPicPr>
          <p:cNvPr id="46" name="Picture 45" descr="16_1_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9627292" y="5257673"/>
            <a:ext cx="876864" cy="265429"/>
          </a:xfrm>
          <a:prstGeom prst="rect">
            <a:avLst/>
          </a:prstGeom>
        </p:spPr>
      </p:pic>
      <p:pic>
        <p:nvPicPr>
          <p:cNvPr id="47" name="Picture 46" descr="_6_605E5C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10763258" y="5257673"/>
            <a:ext cx="407623" cy="265429"/>
          </a:xfrm>
          <a:prstGeom prst="rect">
            <a:avLst/>
          </a:prstGeom>
        </p:spPr>
      </p:pic>
      <p:pic>
        <p:nvPicPr>
          <p:cNvPr id="48" name="Picture 47" descr="5_3__605E5C.png"/>
          <p:cNvPicPr>
            <a:picLocks noChangeAspect="1"/>
          </p:cNvPicPr>
          <p:nvPr/>
        </p:nvPicPr>
        <p:blipFill>
          <a:blip r:embed="rId23"/>
          <a:stretch>
            <a:fillRect/>
          </a:stretch>
        </p:blipFill>
        <p:spPr>
          <a:xfrm>
            <a:off x="11394623" y="5257673"/>
            <a:ext cx="720450" cy="265429"/>
          </a:xfrm>
          <a:prstGeom prst="rect">
            <a:avLst/>
          </a:prstGeom>
        </p:spPr>
      </p:pic>
      <p:pic>
        <p:nvPicPr>
          <p:cNvPr id="49" name="Picture 48" descr="23_3__605E5C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8830661" y="5937631"/>
            <a:ext cx="876864" cy="265429"/>
          </a:xfrm>
          <a:prstGeom prst="rect">
            <a:avLst/>
          </a:prstGeom>
        </p:spPr>
      </p:pic>
      <p:pic>
        <p:nvPicPr>
          <p:cNvPr id="50" name="Picture 49" descr="25_5__605E5C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9627292" y="5937631"/>
            <a:ext cx="876864" cy="265429"/>
          </a:xfrm>
          <a:prstGeom prst="rect">
            <a:avLst/>
          </a:prstGeom>
        </p:spPr>
      </p:pic>
      <p:pic>
        <p:nvPicPr>
          <p:cNvPr id="51" name="Picture 50" descr="_222_605E5C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10606844" y="5937631"/>
            <a:ext cx="720450" cy="265429"/>
          </a:xfrm>
          <a:prstGeom prst="rect">
            <a:avLst/>
          </a:prstGeom>
        </p:spPr>
      </p:pic>
      <p:pic>
        <p:nvPicPr>
          <p:cNvPr id="52" name="Picture 51" descr="6_2__605E5C.png"/>
          <p:cNvPicPr>
            <a:picLocks noChangeAspect="1"/>
          </p:cNvPicPr>
          <p:nvPr/>
        </p:nvPicPr>
        <p:blipFill>
          <a:blip r:embed="rId27"/>
          <a:stretch>
            <a:fillRect/>
          </a:stretch>
        </p:blipFill>
        <p:spPr>
          <a:xfrm>
            <a:off x="11394623" y="5937631"/>
            <a:ext cx="720450" cy="265429"/>
          </a:xfrm>
          <a:prstGeom prst="rect">
            <a:avLst/>
          </a:prstGeom>
        </p:spPr>
      </p:pic>
      <p:pic>
        <p:nvPicPr>
          <p:cNvPr id="53" name="Picture 5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270989" y="5127245"/>
            <a:ext cx="361820" cy="526284"/>
          </a:xfrm>
          <a:prstGeom prst="rect">
            <a:avLst/>
          </a:prstGeom>
        </p:spPr>
      </p:pic>
      <p:sp>
        <p:nvSpPr>
          <p:cNvPr id="54" name="lockshield_13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lockshield_20"/>
          <p:cNvSpPr/>
          <p:nvPr/>
        </p:nvSpPr>
        <p:spPr>
          <a:xfrm>
            <a:off x="238125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7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Tables Pack Size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and value of the Germany market by Pack Size,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Volume, By Pack Size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6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745100"/>
                <a:gridCol w="535046"/>
                <a:gridCol w="535046"/>
                <a:gridCol w="535046"/>
                <a:gridCol w="535046"/>
                <a:gridCol w="535046"/>
                <a:gridCol w="535046"/>
                <a:gridCol w="535046"/>
                <a:gridCol w="535046"/>
                <a:gridCol w="535046"/>
                <a:gridCol w="535046"/>
                <a:gridCol w="535046"/>
                <a:gridCol w="535046"/>
                <a:gridCol w="535046"/>
                <a:gridCol w="535046"/>
                <a:gridCol w="535046"/>
                <a:gridCol w="535046"/>
                <a:gridCol w="581370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Pack Size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Liquid, Gel &amp; Cream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Solid, Powder &amp; Weight-Labeled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Wipes &amp; Other Count-Based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4860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819400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87655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Value, By Pack Size (US$ Mn)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3076575"/>
          <a:ext cx="11887204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896354"/>
                <a:gridCol w="540067"/>
                <a:gridCol w="540067"/>
                <a:gridCol w="540067"/>
                <a:gridCol w="540067"/>
                <a:gridCol w="540067"/>
                <a:gridCol w="521042"/>
                <a:gridCol w="515607"/>
                <a:gridCol w="515607"/>
                <a:gridCol w="515607"/>
                <a:gridCol w="515607"/>
                <a:gridCol w="515607"/>
                <a:gridCol w="515607"/>
                <a:gridCol w="515607"/>
                <a:gridCol w="515607"/>
                <a:gridCol w="515607"/>
                <a:gridCol w="515607"/>
                <a:gridCol w="613403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Pack Size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Liquid, Gel &amp; Cream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Solid, Powder &amp; Weight-Labeled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Wipes &amp; Other Count-Based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43243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281863" y="1713738"/>
            <a:ext cx="366712" cy="533400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57488" y="3552062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7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YoY Analysis Pack Size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Germany year-on-year volume and value growth by Pack Size,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457325"/>
          </a:xfrm>
          <a:prstGeom prst="roundRect">
            <a:avLst>
              <a:gd name="adj" fmla="val 522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Volume YoY, By Pack Size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4" cy="9906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801199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Pack Size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Liquid, Gel &amp; Cream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Solid, Powder &amp; Weight-Labeled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Wipes &amp; Other Count-Based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2383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571750"/>
            <a:ext cx="11906250" cy="1457325"/>
          </a:xfrm>
          <a:prstGeom prst="roundRect">
            <a:avLst>
              <a:gd name="adj" fmla="val 522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62890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 YoY, By Pack Size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2828925"/>
          <a:ext cx="11887194" cy="9906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801199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Pack Size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Liquid, Gel &amp; Cream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Solid, Powder &amp; Weight-Labeled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Wipes &amp; Other Count-Based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38290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09906" y="1589913"/>
            <a:ext cx="366712" cy="533400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09906" y="3180587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7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10.7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Price Tier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Segmental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Table (Volume &amp; Value)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YoY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7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Segmental Analysis Price Tier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Germany segmental analysis by Price Tier: growth contribution, share variance and absolute $ opportunity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Growth Contribution 2026 → 2036, By Price Tier (US$ Mn)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Value Shares &amp; Variance, By Price Tier</a:t>
            </a:r>
          </a:p>
        </p:txBody>
      </p:sp>
      <p:graphicFrame>
        <p:nvGraphicFramePr>
          <p:cNvPr id="16" name="Table 15"/>
          <p:cNvGraphicFramePr>
            <a:graphicFrameLocks noGrp="1"/>
          </p:cNvGraphicFramePr>
          <p:nvPr/>
        </p:nvGraphicFramePr>
        <p:xfrm>
          <a:off x="6181725" y="1238250"/>
          <a:ext cx="5857874" cy="228599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734792"/>
                <a:gridCol w="785132"/>
                <a:gridCol w="785132"/>
                <a:gridCol w="991538"/>
                <a:gridCol w="561280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Price Tier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50996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Economy / Mass-Market: Below US$3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50996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Mid-Range: US$3 to below US$6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50996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Premium: US$6 to below US$12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50996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Super-Premium / Luxury: US$12 and above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7" name="TextBox 16"/>
          <p:cNvSpPr txBox="1"/>
          <p:nvPr/>
        </p:nvSpPr>
        <p:spPr>
          <a:xfrm>
            <a:off x="6248400" y="3533775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38125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Absolute $ Opportunity, By Price Tier (US$ Mn)</a:t>
            </a:r>
          </a:p>
        </p:txBody>
      </p:sp>
      <p:graphicFrame>
        <p:nvGraphicFramePr>
          <p:cNvPr id="20" name="Chart 19"/>
          <p:cNvGraphicFramePr>
            <a:graphicFrameLocks noGrp="1"/>
          </p:cNvGraphicFramePr>
          <p:nvPr/>
        </p:nvGraphicFramePr>
        <p:xfrm>
          <a:off x="238125" y="4152900"/>
          <a:ext cx="5686425" cy="240982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1" name="Rounded Rectangle 20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6267450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Volume Shares &amp; Variance, By Price Tier</a:t>
            </a:r>
          </a:p>
        </p:txBody>
      </p:sp>
      <p:graphicFrame>
        <p:nvGraphicFramePr>
          <p:cNvPr id="23" name="Table 22"/>
          <p:cNvGraphicFramePr>
            <a:graphicFrameLocks noGrp="1"/>
          </p:cNvGraphicFramePr>
          <p:nvPr/>
        </p:nvGraphicFramePr>
        <p:xfrm>
          <a:off x="6181725" y="4124325"/>
          <a:ext cx="5857874" cy="228599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734792"/>
                <a:gridCol w="785132"/>
                <a:gridCol w="785132"/>
                <a:gridCol w="991538"/>
                <a:gridCol w="561280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Price Tier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50996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Economy / Mass-Market: Below US$3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50996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Mid-Range: US$3 to below US$6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50996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Premium: US$6 to below US$12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50996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Super-Premium / Luxury: US$12 and above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24" name="TextBox 23"/>
          <p:cNvSpPr txBox="1"/>
          <p:nvPr/>
        </p:nvSpPr>
        <p:spPr>
          <a:xfrm>
            <a:off x="6248400" y="6419850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7" name="Picture 26" descr="24_3_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870649" y="1606645"/>
            <a:ext cx="876864" cy="265429"/>
          </a:xfrm>
          <a:prstGeom prst="rect">
            <a:avLst/>
          </a:prstGeom>
        </p:spPr>
      </p:pic>
      <p:pic>
        <p:nvPicPr>
          <p:cNvPr id="28" name="Picture 27" descr="24_6_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655781" y="1606645"/>
            <a:ext cx="876864" cy="265429"/>
          </a:xfrm>
          <a:prstGeom prst="rect">
            <a:avLst/>
          </a:prstGeom>
        </p:spPr>
      </p:pic>
      <p:pic>
        <p:nvPicPr>
          <p:cNvPr id="29" name="Picture 28" descr="_34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10700530" y="1606645"/>
            <a:ext cx="564037" cy="265429"/>
          </a:xfrm>
          <a:prstGeom prst="rect">
            <a:avLst/>
          </a:prstGeom>
        </p:spPr>
      </p:pic>
      <p:pic>
        <p:nvPicPr>
          <p:cNvPr id="30" name="Picture 29" descr="6_1_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11398732" y="1606645"/>
            <a:ext cx="720450" cy="265429"/>
          </a:xfrm>
          <a:prstGeom prst="rect">
            <a:avLst/>
          </a:prstGeom>
        </p:spPr>
      </p:pic>
      <p:pic>
        <p:nvPicPr>
          <p:cNvPr id="31" name="Picture 30" descr="40_7_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8870649" y="2116613"/>
            <a:ext cx="876864" cy="265429"/>
          </a:xfrm>
          <a:prstGeom prst="rect">
            <a:avLst/>
          </a:prstGeom>
        </p:spPr>
      </p:pic>
      <p:pic>
        <p:nvPicPr>
          <p:cNvPr id="32" name="Picture 31" descr="42_8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9655781" y="2116613"/>
            <a:ext cx="876864" cy="265429"/>
          </a:xfrm>
          <a:prstGeom prst="rect">
            <a:avLst/>
          </a:prstGeom>
        </p:spPr>
      </p:pic>
      <p:pic>
        <p:nvPicPr>
          <p:cNvPr id="33" name="Picture 32" descr="_202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0622323" y="2116613"/>
            <a:ext cx="720450" cy="265429"/>
          </a:xfrm>
          <a:prstGeom prst="rect">
            <a:avLst/>
          </a:prstGeom>
        </p:spPr>
      </p:pic>
      <p:pic>
        <p:nvPicPr>
          <p:cNvPr id="34" name="Picture 33" descr="6_4_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11398732" y="2116613"/>
            <a:ext cx="720450" cy="265429"/>
          </a:xfrm>
          <a:prstGeom prst="rect">
            <a:avLst/>
          </a:prstGeom>
        </p:spPr>
      </p:pic>
      <p:pic>
        <p:nvPicPr>
          <p:cNvPr id="35" name="Picture 34" descr="26_3_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8870649" y="2626580"/>
            <a:ext cx="876864" cy="265429"/>
          </a:xfrm>
          <a:prstGeom prst="rect">
            <a:avLst/>
          </a:prstGeom>
        </p:spPr>
      </p:pic>
      <p:pic>
        <p:nvPicPr>
          <p:cNvPr id="36" name="Picture 35" descr="25_6__605E5C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9655781" y="2626580"/>
            <a:ext cx="876864" cy="265429"/>
          </a:xfrm>
          <a:prstGeom prst="rect">
            <a:avLst/>
          </a:prstGeom>
        </p:spPr>
      </p:pic>
      <p:pic>
        <p:nvPicPr>
          <p:cNvPr id="37" name="Picture 36" descr="_65_605E5C.png"/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10700530" y="2626580"/>
            <a:ext cx="564037" cy="265429"/>
          </a:xfrm>
          <a:prstGeom prst="rect">
            <a:avLst/>
          </a:prstGeom>
        </p:spPr>
      </p:pic>
      <p:pic>
        <p:nvPicPr>
          <p:cNvPr id="38" name="Picture 37" descr="5_7__605E5C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11398732" y="2626580"/>
            <a:ext cx="720450" cy="265429"/>
          </a:xfrm>
          <a:prstGeom prst="rect">
            <a:avLst/>
          </a:prstGeom>
        </p:spPr>
      </p:pic>
      <p:pic>
        <p:nvPicPr>
          <p:cNvPr id="39" name="Picture 38" descr="8_7__605E5C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8948856" y="3136549"/>
            <a:ext cx="720450" cy="265429"/>
          </a:xfrm>
          <a:prstGeom prst="rect">
            <a:avLst/>
          </a:prstGeom>
        </p:spPr>
      </p:pic>
      <p:pic>
        <p:nvPicPr>
          <p:cNvPr id="40" name="Picture 39" descr="7_0__605E5C.png"/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9733988" y="3136549"/>
            <a:ext cx="720450" cy="265429"/>
          </a:xfrm>
          <a:prstGeom prst="rect">
            <a:avLst/>
          </a:prstGeom>
        </p:spPr>
      </p:pic>
      <p:pic>
        <p:nvPicPr>
          <p:cNvPr id="41" name="Picture 40" descr="_171_605E5C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10622323" y="3136549"/>
            <a:ext cx="720450" cy="265429"/>
          </a:xfrm>
          <a:prstGeom prst="rect">
            <a:avLst/>
          </a:prstGeom>
        </p:spPr>
      </p:pic>
      <p:pic>
        <p:nvPicPr>
          <p:cNvPr id="42" name="Picture 41" descr="3_6__605E5C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11398732" y="3136549"/>
            <a:ext cx="720450" cy="265429"/>
          </a:xfrm>
          <a:prstGeom prst="rect">
            <a:avLst/>
          </a:prstGeom>
        </p:spPr>
      </p:pic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295192" y="2243075"/>
            <a:ext cx="359200" cy="522472"/>
          </a:xfrm>
          <a:prstGeom prst="rect">
            <a:avLst/>
          </a:prstGeom>
        </p:spPr>
      </p:pic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5123309"/>
            <a:ext cx="263506" cy="383281"/>
          </a:xfrm>
          <a:prstGeom prst="rect">
            <a:avLst/>
          </a:prstGeom>
        </p:spPr>
      </p:pic>
      <p:pic>
        <p:nvPicPr>
          <p:cNvPr id="45" name="Picture 44" descr="24_8__605E5C.png"/>
          <p:cNvPicPr>
            <a:picLocks noChangeAspect="1"/>
          </p:cNvPicPr>
          <p:nvPr/>
        </p:nvPicPr>
        <p:blipFill>
          <a:blip r:embed="rId23"/>
          <a:stretch>
            <a:fillRect/>
          </a:stretch>
        </p:blipFill>
        <p:spPr>
          <a:xfrm>
            <a:off x="8870649" y="4492720"/>
            <a:ext cx="876864" cy="265429"/>
          </a:xfrm>
          <a:prstGeom prst="rect">
            <a:avLst/>
          </a:prstGeom>
        </p:spPr>
      </p:pic>
      <p:pic>
        <p:nvPicPr>
          <p:cNvPr id="46" name="Picture 45" descr="25_2__605E5C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9655781" y="4492720"/>
            <a:ext cx="876864" cy="265429"/>
          </a:xfrm>
          <a:prstGeom prst="rect">
            <a:avLst/>
          </a:prstGeom>
        </p:spPr>
      </p:pic>
      <p:pic>
        <p:nvPicPr>
          <p:cNvPr id="47" name="Picture 46" descr="_36_605E5C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10700530" y="4492720"/>
            <a:ext cx="564037" cy="265429"/>
          </a:xfrm>
          <a:prstGeom prst="rect">
            <a:avLst/>
          </a:prstGeom>
        </p:spPr>
      </p:pic>
      <p:pic>
        <p:nvPicPr>
          <p:cNvPr id="48" name="Picture 47" descr="5_4__605E5C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11398732" y="4492720"/>
            <a:ext cx="720450" cy="265429"/>
          </a:xfrm>
          <a:prstGeom prst="rect">
            <a:avLst/>
          </a:prstGeom>
        </p:spPr>
      </p:pic>
      <p:pic>
        <p:nvPicPr>
          <p:cNvPr id="49" name="Picture 48" descr="41_7__605E5C.png"/>
          <p:cNvPicPr>
            <a:picLocks noChangeAspect="1"/>
          </p:cNvPicPr>
          <p:nvPr/>
        </p:nvPicPr>
        <p:blipFill>
          <a:blip r:embed="rId27"/>
          <a:stretch>
            <a:fillRect/>
          </a:stretch>
        </p:blipFill>
        <p:spPr>
          <a:xfrm>
            <a:off x="8870649" y="5002688"/>
            <a:ext cx="876864" cy="265429"/>
          </a:xfrm>
          <a:prstGeom prst="rect">
            <a:avLst/>
          </a:prstGeom>
        </p:spPr>
      </p:pic>
      <p:pic>
        <p:nvPicPr>
          <p:cNvPr id="50" name="Picture 49" descr="43_8__605E5C.png"/>
          <p:cNvPicPr>
            <a:picLocks noChangeAspect="1"/>
          </p:cNvPicPr>
          <p:nvPr/>
        </p:nvPicPr>
        <p:blipFill>
          <a:blip r:embed="rId28"/>
          <a:stretch>
            <a:fillRect/>
          </a:stretch>
        </p:blipFill>
        <p:spPr>
          <a:xfrm>
            <a:off x="9655781" y="5002688"/>
            <a:ext cx="876864" cy="265429"/>
          </a:xfrm>
          <a:prstGeom prst="rect">
            <a:avLst/>
          </a:prstGeom>
        </p:spPr>
      </p:pic>
      <p:pic>
        <p:nvPicPr>
          <p:cNvPr id="51" name="Picture 50" descr="_208_605E5C.png"/>
          <p:cNvPicPr>
            <a:picLocks noChangeAspect="1"/>
          </p:cNvPicPr>
          <p:nvPr/>
        </p:nvPicPr>
        <p:blipFill>
          <a:blip r:embed="rId29"/>
          <a:stretch>
            <a:fillRect/>
          </a:stretch>
        </p:blipFill>
        <p:spPr>
          <a:xfrm>
            <a:off x="10622323" y="5002688"/>
            <a:ext cx="720450" cy="265429"/>
          </a:xfrm>
          <a:prstGeom prst="rect">
            <a:avLst/>
          </a:prstGeom>
        </p:spPr>
      </p:pic>
      <p:pic>
        <p:nvPicPr>
          <p:cNvPr id="52" name="Picture 51" descr="5_8__605E5C.png"/>
          <p:cNvPicPr>
            <a:picLocks noChangeAspect="1"/>
          </p:cNvPicPr>
          <p:nvPr/>
        </p:nvPicPr>
        <p:blipFill>
          <a:blip r:embed="rId30"/>
          <a:stretch>
            <a:fillRect/>
          </a:stretch>
        </p:blipFill>
        <p:spPr>
          <a:xfrm>
            <a:off x="11398732" y="5002688"/>
            <a:ext cx="720450" cy="265429"/>
          </a:xfrm>
          <a:prstGeom prst="rect">
            <a:avLst/>
          </a:prstGeom>
        </p:spPr>
      </p:pic>
      <p:pic>
        <p:nvPicPr>
          <p:cNvPr id="53" name="Picture 52" descr="24_0__605E5C.png"/>
          <p:cNvPicPr>
            <a:picLocks noChangeAspect="1"/>
          </p:cNvPicPr>
          <p:nvPr/>
        </p:nvPicPr>
        <p:blipFill>
          <a:blip r:embed="rId31"/>
          <a:stretch>
            <a:fillRect/>
          </a:stretch>
        </p:blipFill>
        <p:spPr>
          <a:xfrm>
            <a:off x="8870649" y="5512656"/>
            <a:ext cx="876864" cy="265429"/>
          </a:xfrm>
          <a:prstGeom prst="rect">
            <a:avLst/>
          </a:prstGeom>
        </p:spPr>
      </p:pic>
      <p:pic>
        <p:nvPicPr>
          <p:cNvPr id="54" name="Picture 53" descr="23_4__605E5C.png"/>
          <p:cNvPicPr>
            <a:picLocks noChangeAspect="1"/>
          </p:cNvPicPr>
          <p:nvPr/>
        </p:nvPicPr>
        <p:blipFill>
          <a:blip r:embed="rId32"/>
          <a:stretch>
            <a:fillRect/>
          </a:stretch>
        </p:blipFill>
        <p:spPr>
          <a:xfrm>
            <a:off x="9655781" y="5512656"/>
            <a:ext cx="876864" cy="265429"/>
          </a:xfrm>
          <a:prstGeom prst="rect">
            <a:avLst/>
          </a:prstGeom>
        </p:spPr>
      </p:pic>
      <p:pic>
        <p:nvPicPr>
          <p:cNvPr id="55" name="Picture 54" descr="_58_605E5C.png"/>
          <p:cNvPicPr>
            <a:picLocks noChangeAspect="1"/>
          </p:cNvPicPr>
          <p:nvPr/>
        </p:nvPicPr>
        <p:blipFill>
          <a:blip r:embed="rId33"/>
          <a:stretch>
            <a:fillRect/>
          </a:stretch>
        </p:blipFill>
        <p:spPr>
          <a:xfrm>
            <a:off x="10700530" y="5512656"/>
            <a:ext cx="564037" cy="265429"/>
          </a:xfrm>
          <a:prstGeom prst="rect">
            <a:avLst/>
          </a:prstGeom>
        </p:spPr>
      </p:pic>
      <p:pic>
        <p:nvPicPr>
          <p:cNvPr id="56" name="Picture 55" descr="5_0__605E5C.png"/>
          <p:cNvPicPr>
            <a:picLocks noChangeAspect="1"/>
          </p:cNvPicPr>
          <p:nvPr/>
        </p:nvPicPr>
        <p:blipFill>
          <a:blip r:embed="rId34"/>
          <a:stretch>
            <a:fillRect/>
          </a:stretch>
        </p:blipFill>
        <p:spPr>
          <a:xfrm>
            <a:off x="11398732" y="5512656"/>
            <a:ext cx="720450" cy="265429"/>
          </a:xfrm>
          <a:prstGeom prst="rect">
            <a:avLst/>
          </a:prstGeom>
        </p:spPr>
      </p:pic>
      <p:pic>
        <p:nvPicPr>
          <p:cNvPr id="57" name="Picture 56" descr="9_5__605E5C.png"/>
          <p:cNvPicPr>
            <a:picLocks noChangeAspect="1"/>
          </p:cNvPicPr>
          <p:nvPr/>
        </p:nvPicPr>
        <p:blipFill>
          <a:blip r:embed="rId35"/>
          <a:stretch>
            <a:fillRect/>
          </a:stretch>
        </p:blipFill>
        <p:spPr>
          <a:xfrm>
            <a:off x="8948856" y="6022624"/>
            <a:ext cx="720450" cy="265429"/>
          </a:xfrm>
          <a:prstGeom prst="rect">
            <a:avLst/>
          </a:prstGeom>
        </p:spPr>
      </p:pic>
      <p:pic>
        <p:nvPicPr>
          <p:cNvPr id="58" name="Picture 57" descr="7_6__605E5C.png"/>
          <p:cNvPicPr>
            <a:picLocks noChangeAspect="1"/>
          </p:cNvPicPr>
          <p:nvPr/>
        </p:nvPicPr>
        <p:blipFill>
          <a:blip r:embed="rId36"/>
          <a:stretch>
            <a:fillRect/>
          </a:stretch>
        </p:blipFill>
        <p:spPr>
          <a:xfrm>
            <a:off x="9733988" y="6022624"/>
            <a:ext cx="720450" cy="265429"/>
          </a:xfrm>
          <a:prstGeom prst="rect">
            <a:avLst/>
          </a:prstGeom>
        </p:spPr>
      </p:pic>
      <p:pic>
        <p:nvPicPr>
          <p:cNvPr id="59" name="Picture 58" descr="_186_605E5C.png"/>
          <p:cNvPicPr>
            <a:picLocks noChangeAspect="1"/>
          </p:cNvPicPr>
          <p:nvPr/>
        </p:nvPicPr>
        <p:blipFill>
          <a:blip r:embed="rId37"/>
          <a:stretch>
            <a:fillRect/>
          </a:stretch>
        </p:blipFill>
        <p:spPr>
          <a:xfrm>
            <a:off x="10622323" y="6022624"/>
            <a:ext cx="720450" cy="265429"/>
          </a:xfrm>
          <a:prstGeom prst="rect">
            <a:avLst/>
          </a:prstGeom>
        </p:spPr>
      </p:pic>
      <p:pic>
        <p:nvPicPr>
          <p:cNvPr id="60" name="Picture 59" descr="3_0__605E5C.png"/>
          <p:cNvPicPr>
            <a:picLocks noChangeAspect="1"/>
          </p:cNvPicPr>
          <p:nvPr/>
        </p:nvPicPr>
        <p:blipFill>
          <a:blip r:embed="rId38"/>
          <a:stretch>
            <a:fillRect/>
          </a:stretch>
        </p:blipFill>
        <p:spPr>
          <a:xfrm>
            <a:off x="11398732" y="6022624"/>
            <a:ext cx="720450" cy="265429"/>
          </a:xfrm>
          <a:prstGeom prst="rect">
            <a:avLst/>
          </a:prstGeom>
        </p:spPr>
      </p:pic>
      <p:pic>
        <p:nvPicPr>
          <p:cNvPr id="61" name="Picture 6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295192" y="5129150"/>
            <a:ext cx="359200" cy="522472"/>
          </a:xfrm>
          <a:prstGeom prst="rect">
            <a:avLst/>
          </a:prstGeom>
        </p:spPr>
      </p:pic>
      <p:sp>
        <p:nvSpPr>
          <p:cNvPr id="62" name="lockshield_13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lockshield_20"/>
          <p:cNvSpPr/>
          <p:nvPr/>
        </p:nvSpPr>
        <p:spPr>
          <a:xfrm>
            <a:off x="238125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8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Tables Price Tier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and value of the Germany market by Price Tier,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952625"/>
          </a:xfrm>
          <a:prstGeom prst="roundRect">
            <a:avLst>
              <a:gd name="adj" fmla="val 390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Volume, By Price Tier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7" cy="14858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811961"/>
                <a:gridCol w="531133"/>
                <a:gridCol w="531133"/>
                <a:gridCol w="531133"/>
                <a:gridCol w="531133"/>
                <a:gridCol w="531133"/>
                <a:gridCol w="531133"/>
                <a:gridCol w="531133"/>
                <a:gridCol w="531133"/>
                <a:gridCol w="531133"/>
                <a:gridCol w="531133"/>
                <a:gridCol w="531133"/>
                <a:gridCol w="531133"/>
                <a:gridCol w="531133"/>
                <a:gridCol w="531133"/>
                <a:gridCol w="531133"/>
                <a:gridCol w="531133"/>
                <a:gridCol w="577118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Price Tier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Economy / Mass-Market: Below US$3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Mid-Range: US$3 to below US$6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Premium: US$6 to below US$12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Super-Premium / Luxury: US$12 and above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7336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067050"/>
            <a:ext cx="11906250" cy="1952625"/>
          </a:xfrm>
          <a:prstGeom prst="roundRect">
            <a:avLst>
              <a:gd name="adj" fmla="val 390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12420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Value, By Price Tier (US$ Mn)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3324225"/>
          <a:ext cx="11887203" cy="14858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965703"/>
                <a:gridCol w="535901"/>
                <a:gridCol w="535901"/>
                <a:gridCol w="535901"/>
                <a:gridCol w="535901"/>
                <a:gridCol w="535901"/>
                <a:gridCol w="517023"/>
                <a:gridCol w="511630"/>
                <a:gridCol w="511630"/>
                <a:gridCol w="511630"/>
                <a:gridCol w="511630"/>
                <a:gridCol w="511630"/>
                <a:gridCol w="511630"/>
                <a:gridCol w="511630"/>
                <a:gridCol w="511630"/>
                <a:gridCol w="511630"/>
                <a:gridCol w="511630"/>
                <a:gridCol w="60867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Price Tier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Economy / Mass-Market: Below US$3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Mid-Range: US$3 to below US$6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Premium: US$6 to below US$12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Super-Premium / Luxury: US$12 and above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48196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15294" y="1837563"/>
            <a:ext cx="366712" cy="533400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92163" y="3923538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8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YoY Analysis Price Tier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Germany year-on-year volume and value growth by Price Tier,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Volume YoY, By Price Tier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7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868997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Price Tier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Economy / Mass-Market: Below US$3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Mid-Range: US$3 to below US$6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Premium: US$6 to below US$12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Super-Premium / Luxury: US$12 and above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4860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819400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87655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 YoY, By Price Tier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3076575"/>
          <a:ext cx="11887207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868997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Price Tier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Economy / Mass-Market: Below US$3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Mid-Range: US$3 to below US$6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Premium: US$6 to below US$12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Super-Premium / Luxury: US$12 and above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43243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43811" y="1713738"/>
            <a:ext cx="366712" cy="533400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43811" y="3552062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8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10.8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Sales Channels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Segmental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Table (Volume &amp; Value)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YoY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8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Segmental Analysis Sales Channels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Germany segmental analysis by Sales Channels: growth contribution, share variance and absolute $ opportunity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Growth Contribution 2026 → 2036, By Sales Channels (US$ Mn)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Value Shares &amp; Variance, By Sales Channels</a:t>
            </a:r>
          </a:p>
        </p:txBody>
      </p:sp>
      <p:graphicFrame>
        <p:nvGraphicFramePr>
          <p:cNvPr id="16" name="Table 15"/>
          <p:cNvGraphicFramePr>
            <a:graphicFrameLocks noGrp="1"/>
          </p:cNvGraphicFramePr>
          <p:nvPr/>
        </p:nvGraphicFramePr>
        <p:xfrm>
          <a:off x="6181725" y="1238250"/>
          <a:ext cx="5857875" cy="228600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19751"/>
                <a:gridCol w="1009531"/>
                <a:gridCol w="1009531"/>
                <a:gridCol w="1009531"/>
                <a:gridCol w="1009531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Sales Channels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40797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E-commerce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40797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Pet Specialty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40797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Veterinary &amp; Animal Health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40797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General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40797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Professional &amp; B2B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7" name="TextBox 16"/>
          <p:cNvSpPr txBox="1"/>
          <p:nvPr/>
        </p:nvSpPr>
        <p:spPr>
          <a:xfrm>
            <a:off x="6248400" y="3533775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38125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Absolute $ Opportunity, By Sales Channels (US$ Mn)</a:t>
            </a:r>
          </a:p>
        </p:txBody>
      </p:sp>
      <p:graphicFrame>
        <p:nvGraphicFramePr>
          <p:cNvPr id="20" name="Chart 19"/>
          <p:cNvGraphicFramePr>
            <a:graphicFrameLocks noGrp="1"/>
          </p:cNvGraphicFramePr>
          <p:nvPr/>
        </p:nvGraphicFramePr>
        <p:xfrm>
          <a:off x="238125" y="4152900"/>
          <a:ext cx="5686425" cy="240982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1" name="Rounded Rectangle 20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6267450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Volume Shares &amp; Variance, By Sales Channels</a:t>
            </a:r>
          </a:p>
        </p:txBody>
      </p:sp>
      <p:graphicFrame>
        <p:nvGraphicFramePr>
          <p:cNvPr id="23" name="Table 22"/>
          <p:cNvGraphicFramePr>
            <a:graphicFrameLocks noGrp="1"/>
          </p:cNvGraphicFramePr>
          <p:nvPr/>
        </p:nvGraphicFramePr>
        <p:xfrm>
          <a:off x="6181725" y="4124325"/>
          <a:ext cx="5857875" cy="228600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19751"/>
                <a:gridCol w="1009531"/>
                <a:gridCol w="1009531"/>
                <a:gridCol w="1009531"/>
                <a:gridCol w="1009531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Sales Channels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40797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E-commerce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40797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Pet Specialty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40797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Veterinary &amp; Animal Health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40797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General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40797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Professional &amp; B2B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24" name="TextBox 23"/>
          <p:cNvSpPr txBox="1"/>
          <p:nvPr/>
        </p:nvSpPr>
        <p:spPr>
          <a:xfrm>
            <a:off x="6248400" y="6419850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7" name="Picture 26" descr="36_6_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067808" y="1555648"/>
            <a:ext cx="876864" cy="265429"/>
          </a:xfrm>
          <a:prstGeom prst="rect">
            <a:avLst/>
          </a:prstGeom>
        </p:spPr>
      </p:pic>
      <p:pic>
        <p:nvPicPr>
          <p:cNvPr id="28" name="Picture 27" descr="41_9_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077339" y="1555648"/>
            <a:ext cx="876864" cy="265429"/>
          </a:xfrm>
          <a:prstGeom prst="rect">
            <a:avLst/>
          </a:prstGeom>
        </p:spPr>
      </p:pic>
      <p:pic>
        <p:nvPicPr>
          <p:cNvPr id="29" name="Picture 28" descr="_535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10165077" y="1555648"/>
            <a:ext cx="720450" cy="265429"/>
          </a:xfrm>
          <a:prstGeom prst="rect">
            <a:avLst/>
          </a:prstGeom>
        </p:spPr>
      </p:pic>
      <p:pic>
        <p:nvPicPr>
          <p:cNvPr id="30" name="Picture 29" descr="7_4_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11174608" y="1555648"/>
            <a:ext cx="720450" cy="265429"/>
          </a:xfrm>
          <a:prstGeom prst="rect">
            <a:avLst/>
          </a:prstGeom>
        </p:spPr>
      </p:pic>
      <p:pic>
        <p:nvPicPr>
          <p:cNvPr id="31" name="Picture 30" descr="25_0_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8067808" y="1963623"/>
            <a:ext cx="876864" cy="265429"/>
          </a:xfrm>
          <a:prstGeom prst="rect">
            <a:avLst/>
          </a:prstGeom>
        </p:spPr>
      </p:pic>
      <p:pic>
        <p:nvPicPr>
          <p:cNvPr id="32" name="Picture 31" descr="22_4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9077339" y="1963623"/>
            <a:ext cx="876864" cy="265429"/>
          </a:xfrm>
          <a:prstGeom prst="rect">
            <a:avLst/>
          </a:prstGeom>
        </p:spPr>
      </p:pic>
      <p:pic>
        <p:nvPicPr>
          <p:cNvPr id="33" name="Picture 32" descr="_263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0165077" y="1963623"/>
            <a:ext cx="720450" cy="265429"/>
          </a:xfrm>
          <a:prstGeom prst="rect">
            <a:avLst/>
          </a:prstGeom>
        </p:spPr>
      </p:pic>
      <p:pic>
        <p:nvPicPr>
          <p:cNvPr id="34" name="Picture 33" descr="4_7_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11174608" y="1963623"/>
            <a:ext cx="720450" cy="265429"/>
          </a:xfrm>
          <a:prstGeom prst="rect">
            <a:avLst/>
          </a:prstGeom>
        </p:spPr>
      </p:pic>
      <p:pic>
        <p:nvPicPr>
          <p:cNvPr id="35" name="Picture 34" descr="11_3_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8067808" y="2371598"/>
            <a:ext cx="876864" cy="265429"/>
          </a:xfrm>
          <a:prstGeom prst="rect">
            <a:avLst/>
          </a:prstGeom>
        </p:spPr>
      </p:pic>
      <p:pic>
        <p:nvPicPr>
          <p:cNvPr id="36" name="Picture 35" descr="10_7__605E5C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9077339" y="2371598"/>
            <a:ext cx="876864" cy="265429"/>
          </a:xfrm>
          <a:prstGeom prst="rect">
            <a:avLst/>
          </a:prstGeom>
        </p:spPr>
      </p:pic>
      <p:pic>
        <p:nvPicPr>
          <p:cNvPr id="37" name="Picture 36" descr="_61_605E5C.png"/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10243284" y="2371598"/>
            <a:ext cx="564037" cy="265429"/>
          </a:xfrm>
          <a:prstGeom prst="rect">
            <a:avLst/>
          </a:prstGeom>
        </p:spPr>
      </p:pic>
      <p:pic>
        <p:nvPicPr>
          <p:cNvPr id="38" name="Picture 37" descr="5_3__605E5C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11174608" y="2371598"/>
            <a:ext cx="720450" cy="265429"/>
          </a:xfrm>
          <a:prstGeom prst="rect">
            <a:avLst/>
          </a:prstGeom>
        </p:spPr>
      </p:pic>
      <p:pic>
        <p:nvPicPr>
          <p:cNvPr id="39" name="Picture 38" descr="15_4__605E5C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8067808" y="2779573"/>
            <a:ext cx="876864" cy="265429"/>
          </a:xfrm>
          <a:prstGeom prst="rect">
            <a:avLst/>
          </a:prstGeom>
        </p:spPr>
      </p:pic>
      <p:pic>
        <p:nvPicPr>
          <p:cNvPr id="40" name="Picture 39" descr="13_3__605E5C.png"/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9077339" y="2779573"/>
            <a:ext cx="876864" cy="265429"/>
          </a:xfrm>
          <a:prstGeom prst="rect">
            <a:avLst/>
          </a:prstGeom>
        </p:spPr>
      </p:pic>
      <p:pic>
        <p:nvPicPr>
          <p:cNvPr id="41" name="Picture 40" descr="_207_605E5C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10165077" y="2779573"/>
            <a:ext cx="720450" cy="265429"/>
          </a:xfrm>
          <a:prstGeom prst="rect">
            <a:avLst/>
          </a:prstGeom>
        </p:spPr>
      </p:pic>
      <p:pic>
        <p:nvPicPr>
          <p:cNvPr id="42" name="Picture 41" descr="4_4__605E5C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11174608" y="2779573"/>
            <a:ext cx="720450" cy="265429"/>
          </a:xfrm>
          <a:prstGeom prst="rect">
            <a:avLst/>
          </a:prstGeom>
        </p:spPr>
      </p:pic>
      <p:pic>
        <p:nvPicPr>
          <p:cNvPr id="43" name="Picture 42" descr="11_7__605E5C.png"/>
          <p:cNvPicPr>
            <a:picLocks noChangeAspect="1"/>
          </p:cNvPicPr>
          <p:nvPr/>
        </p:nvPicPr>
        <p:blipFill>
          <a:blip r:embed="rId23"/>
          <a:stretch>
            <a:fillRect/>
          </a:stretch>
        </p:blipFill>
        <p:spPr>
          <a:xfrm>
            <a:off x="8067808" y="3187548"/>
            <a:ext cx="876864" cy="265429"/>
          </a:xfrm>
          <a:prstGeom prst="rect">
            <a:avLst/>
          </a:prstGeom>
        </p:spPr>
      </p:pic>
      <p:pic>
        <p:nvPicPr>
          <p:cNvPr id="44" name="Picture 43" descr="11_6__605E5C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9077339" y="3187548"/>
            <a:ext cx="876864" cy="265429"/>
          </a:xfrm>
          <a:prstGeom prst="rect">
            <a:avLst/>
          </a:prstGeom>
        </p:spPr>
      </p:pic>
      <p:pic>
        <p:nvPicPr>
          <p:cNvPr id="45" name="Picture 44" descr="_5_605E5C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10321491" y="3187548"/>
            <a:ext cx="407623" cy="265429"/>
          </a:xfrm>
          <a:prstGeom prst="rect">
            <a:avLst/>
          </a:prstGeom>
        </p:spPr>
      </p:pic>
      <p:pic>
        <p:nvPicPr>
          <p:cNvPr id="46" name="Picture 45" descr="5_9__605E5C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11174608" y="3187548"/>
            <a:ext cx="720450" cy="265429"/>
          </a:xfrm>
          <a:prstGeom prst="rect">
            <a:avLst/>
          </a:prstGeom>
        </p:spPr>
      </p:pic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833848" y="2237613"/>
            <a:ext cx="366712" cy="533400"/>
          </a:xfrm>
          <a:prstGeom prst="rect">
            <a:avLst/>
          </a:prstGeom>
        </p:spPr>
      </p:pic>
      <p:pic>
        <p:nvPicPr>
          <p:cNvPr id="48" name="Picture 4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5123309"/>
            <a:ext cx="263506" cy="383281"/>
          </a:xfrm>
          <a:prstGeom prst="rect">
            <a:avLst/>
          </a:prstGeom>
        </p:spPr>
      </p:pic>
      <p:pic>
        <p:nvPicPr>
          <p:cNvPr id="49" name="Picture 48" descr="35_6__605E5C.png"/>
          <p:cNvPicPr>
            <a:picLocks noChangeAspect="1"/>
          </p:cNvPicPr>
          <p:nvPr/>
        </p:nvPicPr>
        <p:blipFill>
          <a:blip r:embed="rId27"/>
          <a:stretch>
            <a:fillRect/>
          </a:stretch>
        </p:blipFill>
        <p:spPr>
          <a:xfrm>
            <a:off x="8067808" y="4441723"/>
            <a:ext cx="876864" cy="265429"/>
          </a:xfrm>
          <a:prstGeom prst="rect">
            <a:avLst/>
          </a:prstGeom>
        </p:spPr>
      </p:pic>
      <p:pic>
        <p:nvPicPr>
          <p:cNvPr id="50" name="Picture 49" descr="40_9__605E5C.png"/>
          <p:cNvPicPr>
            <a:picLocks noChangeAspect="1"/>
          </p:cNvPicPr>
          <p:nvPr/>
        </p:nvPicPr>
        <p:blipFill>
          <a:blip r:embed="rId28"/>
          <a:stretch>
            <a:fillRect/>
          </a:stretch>
        </p:blipFill>
        <p:spPr>
          <a:xfrm>
            <a:off x="9077339" y="4441723"/>
            <a:ext cx="876864" cy="265429"/>
          </a:xfrm>
          <a:prstGeom prst="rect">
            <a:avLst/>
          </a:prstGeom>
        </p:spPr>
      </p:pic>
      <p:pic>
        <p:nvPicPr>
          <p:cNvPr id="51" name="Picture 50" descr="_538_605E5C.png"/>
          <p:cNvPicPr>
            <a:picLocks noChangeAspect="1"/>
          </p:cNvPicPr>
          <p:nvPr/>
        </p:nvPicPr>
        <p:blipFill>
          <a:blip r:embed="rId29"/>
          <a:stretch>
            <a:fillRect/>
          </a:stretch>
        </p:blipFill>
        <p:spPr>
          <a:xfrm>
            <a:off x="10165077" y="4441723"/>
            <a:ext cx="720450" cy="265429"/>
          </a:xfrm>
          <a:prstGeom prst="rect">
            <a:avLst/>
          </a:prstGeom>
        </p:spPr>
      </p:pic>
      <p:pic>
        <p:nvPicPr>
          <p:cNvPr id="52" name="Picture 51" descr="6_8__605E5C.png"/>
          <p:cNvPicPr>
            <a:picLocks noChangeAspect="1"/>
          </p:cNvPicPr>
          <p:nvPr/>
        </p:nvPicPr>
        <p:blipFill>
          <a:blip r:embed="rId30"/>
          <a:stretch>
            <a:fillRect/>
          </a:stretch>
        </p:blipFill>
        <p:spPr>
          <a:xfrm>
            <a:off x="11174608" y="4441723"/>
            <a:ext cx="720450" cy="265429"/>
          </a:xfrm>
          <a:prstGeom prst="rect">
            <a:avLst/>
          </a:prstGeom>
        </p:spPr>
      </p:pic>
      <p:pic>
        <p:nvPicPr>
          <p:cNvPr id="53" name="Picture 52" descr="26_6__605E5C.png"/>
          <p:cNvPicPr>
            <a:picLocks noChangeAspect="1"/>
          </p:cNvPicPr>
          <p:nvPr/>
        </p:nvPicPr>
        <p:blipFill>
          <a:blip r:embed="rId31"/>
          <a:stretch>
            <a:fillRect/>
          </a:stretch>
        </p:blipFill>
        <p:spPr>
          <a:xfrm>
            <a:off x="8067808" y="4849698"/>
            <a:ext cx="876864" cy="265429"/>
          </a:xfrm>
          <a:prstGeom prst="rect">
            <a:avLst/>
          </a:prstGeom>
        </p:spPr>
      </p:pic>
      <p:pic>
        <p:nvPicPr>
          <p:cNvPr id="54" name="Picture 53" descr="23_9__605E5C.png"/>
          <p:cNvPicPr>
            <a:picLocks noChangeAspect="1"/>
          </p:cNvPicPr>
          <p:nvPr/>
        </p:nvPicPr>
        <p:blipFill>
          <a:blip r:embed="rId32"/>
          <a:stretch>
            <a:fillRect/>
          </a:stretch>
        </p:blipFill>
        <p:spPr>
          <a:xfrm>
            <a:off x="9077339" y="4849698"/>
            <a:ext cx="876864" cy="265429"/>
          </a:xfrm>
          <a:prstGeom prst="rect">
            <a:avLst/>
          </a:prstGeom>
        </p:spPr>
      </p:pic>
      <p:pic>
        <p:nvPicPr>
          <p:cNvPr id="55" name="Picture 54" descr="_271_605E5C.png"/>
          <p:cNvPicPr>
            <a:picLocks noChangeAspect="1"/>
          </p:cNvPicPr>
          <p:nvPr/>
        </p:nvPicPr>
        <p:blipFill>
          <a:blip r:embed="rId33"/>
          <a:stretch>
            <a:fillRect/>
          </a:stretch>
        </p:blipFill>
        <p:spPr>
          <a:xfrm>
            <a:off x="10165077" y="4849698"/>
            <a:ext cx="720450" cy="265429"/>
          </a:xfrm>
          <a:prstGeom prst="rect">
            <a:avLst/>
          </a:prstGeom>
        </p:spPr>
      </p:pic>
      <p:pic>
        <p:nvPicPr>
          <p:cNvPr id="56" name="Picture 55" descr="4_2__605E5C.png"/>
          <p:cNvPicPr>
            <a:picLocks noChangeAspect="1"/>
          </p:cNvPicPr>
          <p:nvPr/>
        </p:nvPicPr>
        <p:blipFill>
          <a:blip r:embed="rId34"/>
          <a:stretch>
            <a:fillRect/>
          </a:stretch>
        </p:blipFill>
        <p:spPr>
          <a:xfrm>
            <a:off x="11174608" y="4849698"/>
            <a:ext cx="720450" cy="265429"/>
          </a:xfrm>
          <a:prstGeom prst="rect">
            <a:avLst/>
          </a:prstGeom>
        </p:spPr>
      </p:pic>
      <p:pic>
        <p:nvPicPr>
          <p:cNvPr id="57" name="Picture 56" descr="11_6__605E5C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8067808" y="5257673"/>
            <a:ext cx="876864" cy="265429"/>
          </a:xfrm>
          <a:prstGeom prst="rect">
            <a:avLst/>
          </a:prstGeom>
        </p:spPr>
      </p:pic>
      <p:pic>
        <p:nvPicPr>
          <p:cNvPr id="58" name="Picture 57" descr="11_0__605E5C.png"/>
          <p:cNvPicPr>
            <a:picLocks noChangeAspect="1"/>
          </p:cNvPicPr>
          <p:nvPr/>
        </p:nvPicPr>
        <p:blipFill>
          <a:blip r:embed="rId35"/>
          <a:stretch>
            <a:fillRect/>
          </a:stretch>
        </p:blipFill>
        <p:spPr>
          <a:xfrm>
            <a:off x="9077339" y="5257673"/>
            <a:ext cx="876864" cy="265429"/>
          </a:xfrm>
          <a:prstGeom prst="rect">
            <a:avLst/>
          </a:prstGeom>
        </p:spPr>
      </p:pic>
      <p:pic>
        <p:nvPicPr>
          <p:cNvPr id="59" name="Picture 58" descr="_60_605E5C.png"/>
          <p:cNvPicPr>
            <a:picLocks noChangeAspect="1"/>
          </p:cNvPicPr>
          <p:nvPr/>
        </p:nvPicPr>
        <p:blipFill>
          <a:blip r:embed="rId36"/>
          <a:stretch>
            <a:fillRect/>
          </a:stretch>
        </p:blipFill>
        <p:spPr>
          <a:xfrm>
            <a:off x="10243284" y="5257673"/>
            <a:ext cx="564037" cy="265429"/>
          </a:xfrm>
          <a:prstGeom prst="rect">
            <a:avLst/>
          </a:prstGeom>
        </p:spPr>
      </p:pic>
      <p:pic>
        <p:nvPicPr>
          <p:cNvPr id="60" name="Picture 59" descr="4_7_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11174608" y="5257673"/>
            <a:ext cx="720450" cy="265429"/>
          </a:xfrm>
          <a:prstGeom prst="rect">
            <a:avLst/>
          </a:prstGeom>
        </p:spPr>
      </p:pic>
      <p:pic>
        <p:nvPicPr>
          <p:cNvPr id="61" name="Picture 60" descr="15_0__605E5C.png"/>
          <p:cNvPicPr>
            <a:picLocks noChangeAspect="1"/>
          </p:cNvPicPr>
          <p:nvPr/>
        </p:nvPicPr>
        <p:blipFill>
          <a:blip r:embed="rId37"/>
          <a:stretch>
            <a:fillRect/>
          </a:stretch>
        </p:blipFill>
        <p:spPr>
          <a:xfrm>
            <a:off x="8067808" y="5665648"/>
            <a:ext cx="876864" cy="265429"/>
          </a:xfrm>
          <a:prstGeom prst="rect">
            <a:avLst/>
          </a:prstGeom>
        </p:spPr>
      </p:pic>
      <p:pic>
        <p:nvPicPr>
          <p:cNvPr id="62" name="Picture 61" descr="12_9__605E5C.png"/>
          <p:cNvPicPr>
            <a:picLocks noChangeAspect="1"/>
          </p:cNvPicPr>
          <p:nvPr/>
        </p:nvPicPr>
        <p:blipFill>
          <a:blip r:embed="rId38"/>
          <a:stretch>
            <a:fillRect/>
          </a:stretch>
        </p:blipFill>
        <p:spPr>
          <a:xfrm>
            <a:off x="9077339" y="5665648"/>
            <a:ext cx="876864" cy="265429"/>
          </a:xfrm>
          <a:prstGeom prst="rect">
            <a:avLst/>
          </a:prstGeom>
        </p:spPr>
      </p:pic>
      <p:pic>
        <p:nvPicPr>
          <p:cNvPr id="63" name="Picture 62" descr="_205_605E5C.png"/>
          <p:cNvPicPr>
            <a:picLocks noChangeAspect="1"/>
          </p:cNvPicPr>
          <p:nvPr/>
        </p:nvPicPr>
        <p:blipFill>
          <a:blip r:embed="rId39"/>
          <a:stretch>
            <a:fillRect/>
          </a:stretch>
        </p:blipFill>
        <p:spPr>
          <a:xfrm>
            <a:off x="10165077" y="5665648"/>
            <a:ext cx="720450" cy="265429"/>
          </a:xfrm>
          <a:prstGeom prst="rect">
            <a:avLst/>
          </a:prstGeom>
        </p:spPr>
      </p:pic>
      <p:pic>
        <p:nvPicPr>
          <p:cNvPr id="64" name="Picture 63" descr="3_7__605E5C.png"/>
          <p:cNvPicPr>
            <a:picLocks noChangeAspect="1"/>
          </p:cNvPicPr>
          <p:nvPr/>
        </p:nvPicPr>
        <p:blipFill>
          <a:blip r:embed="rId40"/>
          <a:stretch>
            <a:fillRect/>
          </a:stretch>
        </p:blipFill>
        <p:spPr>
          <a:xfrm>
            <a:off x="11174608" y="5665648"/>
            <a:ext cx="720450" cy="265429"/>
          </a:xfrm>
          <a:prstGeom prst="rect">
            <a:avLst/>
          </a:prstGeom>
        </p:spPr>
      </p:pic>
      <p:pic>
        <p:nvPicPr>
          <p:cNvPr id="65" name="Picture 64" descr="11_3_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8067808" y="6073623"/>
            <a:ext cx="876864" cy="265429"/>
          </a:xfrm>
          <a:prstGeom prst="rect">
            <a:avLst/>
          </a:prstGeom>
        </p:spPr>
      </p:pic>
      <p:pic>
        <p:nvPicPr>
          <p:cNvPr id="66" name="Picture 65" descr="11_3_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9077339" y="6073623"/>
            <a:ext cx="876864" cy="265429"/>
          </a:xfrm>
          <a:prstGeom prst="rect">
            <a:avLst/>
          </a:prstGeom>
        </p:spPr>
      </p:pic>
      <p:pic>
        <p:nvPicPr>
          <p:cNvPr id="67" name="Picture 66" descr="_1_605E5C.png"/>
          <p:cNvPicPr>
            <a:picLocks noChangeAspect="1"/>
          </p:cNvPicPr>
          <p:nvPr/>
        </p:nvPicPr>
        <p:blipFill>
          <a:blip r:embed="rId41"/>
          <a:stretch>
            <a:fillRect/>
          </a:stretch>
        </p:blipFill>
        <p:spPr>
          <a:xfrm>
            <a:off x="10321491" y="6073623"/>
            <a:ext cx="407623" cy="265429"/>
          </a:xfrm>
          <a:prstGeom prst="rect">
            <a:avLst/>
          </a:prstGeom>
        </p:spPr>
      </p:pic>
      <p:pic>
        <p:nvPicPr>
          <p:cNvPr id="68" name="Picture 67" descr="5_3__605E5C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11174608" y="6073623"/>
            <a:ext cx="720450" cy="265429"/>
          </a:xfrm>
          <a:prstGeom prst="rect">
            <a:avLst/>
          </a:prstGeom>
        </p:spPr>
      </p:pic>
      <p:pic>
        <p:nvPicPr>
          <p:cNvPr id="69" name="Picture 6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833848" y="5123688"/>
            <a:ext cx="366712" cy="533400"/>
          </a:xfrm>
          <a:prstGeom prst="rect">
            <a:avLst/>
          </a:prstGeom>
        </p:spPr>
      </p:pic>
      <p:sp>
        <p:nvSpPr>
          <p:cNvPr id="70" name="lockshield_13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lockshield_20"/>
          <p:cNvSpPr/>
          <p:nvPr/>
        </p:nvSpPr>
        <p:spPr>
          <a:xfrm>
            <a:off x="238125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8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Tables Sales Channels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and value of the Germany market by Sales Channels,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190750"/>
          </a:xfrm>
          <a:prstGeom prst="roundRect">
            <a:avLst>
              <a:gd name="adj" fmla="val 34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Volume, By Sales Channels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5" cy="172402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75368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Sales Channels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E-commerce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Pet Specialty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Veterinary &amp; Animal Health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General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Professional &amp; B2B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9718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305175"/>
            <a:ext cx="11906250" cy="2190750"/>
          </a:xfrm>
          <a:prstGeom prst="roundRect">
            <a:avLst>
              <a:gd name="adj" fmla="val 34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3623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Value, By Sales Channels (US$ Mn)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3562350"/>
          <a:ext cx="11887195" cy="172402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75368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Sales Channels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E-commerce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Pet Specialty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Veterinary &amp; Animal Health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General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Professional &amp; B2B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52959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46991" y="1956627"/>
            <a:ext cx="366712" cy="533400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46991" y="4280727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8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YoY Analysis Sales Channels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Germany year-on-year volume and value growth by Sales Channels,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952625"/>
          </a:xfrm>
          <a:prstGeom prst="roundRect">
            <a:avLst>
              <a:gd name="adj" fmla="val 390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Volume YoY, By Sales Channels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7" cy="14858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046117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Sales Channels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E-commerce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Pet Specialty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Veterinary &amp; Animal Health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General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Professional &amp; B2B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7336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067050"/>
            <a:ext cx="11906250" cy="1952625"/>
          </a:xfrm>
          <a:prstGeom prst="roundRect">
            <a:avLst>
              <a:gd name="adj" fmla="val 390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12420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 YoY, By Sales Channels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3324225"/>
          <a:ext cx="11887197" cy="14858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046117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Sales Channels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E-commerce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Pet Specialty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Veterinary &amp; Animal Health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General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Professional &amp; B2B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48196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32366" y="1837563"/>
            <a:ext cx="366712" cy="533400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32366" y="3923538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8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11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94957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29247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Cross-sectional Assessment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978275"/>
            <a:ext cx="8458200" cy="8826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Product Type × Primary Product Function / Benefit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Product Type × Ingredient Type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8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11.1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Product Type × Primary Product Function / Benefit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Snapshot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Share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Opportunity &amp; Attractiveness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8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Market Snapshot: Product Type × Primary Product Function / Benefit, 2026E vs 2036F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Germany market value (US$ Mn) for each product type sub-segment across primary product function / benefit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Market Value, Product Type × Primary Product Function / Benefit, 2026E and 2036F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5" cy="260984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974459"/>
                <a:gridCol w="557046"/>
                <a:gridCol w="557046"/>
                <a:gridCol w="557046"/>
                <a:gridCol w="557046"/>
                <a:gridCol w="557046"/>
                <a:gridCol w="557046"/>
                <a:gridCol w="557046"/>
                <a:gridCol w="557046"/>
                <a:gridCol w="557046"/>
                <a:gridCol w="557046"/>
                <a:gridCol w="557046"/>
                <a:gridCol w="557046"/>
                <a:gridCol w="557046"/>
                <a:gridCol w="557046"/>
                <a:gridCol w="557046"/>
                <a:gridCol w="557046"/>
              </a:tblGrid>
              <a:tr h="631697">
                <a:tc rowSpan="2"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Cleansing &amp;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General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Moisturizing &amp;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Skin Barrier 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Skin Soothing &amp;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Comfort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Coat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Conditioning &amp;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Softening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Dental &amp; Oral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Body &amp; Coat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Odor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Management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Ear &amp; Eye-Area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269">
                <a:tc vMerge="1"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8576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4191000"/>
            <a:ext cx="11906250" cy="2438400"/>
          </a:xfrm>
          <a:prstGeom prst="roundRect">
            <a:avLst>
              <a:gd name="adj" fmla="val 31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427672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Findings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451485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4600575"/>
            <a:ext cx="11639550" cy="19526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96536" y="2715958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4610100"/>
            <a:ext cx="64082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 Products' accounts for the largest share of the Germany market by product type (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633645" y="4599876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6808754" y="4610100"/>
            <a:ext cx="5825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Mn,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40434" y="459987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7515543" y="4610100"/>
            <a:ext cx="399587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 2026E), with 'Coat Conditioning &amp; Softening' its leading primary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4785360"/>
            <a:ext cx="257787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product function / benefit sub-segment at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03255" y="4775136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978364" y="4785360"/>
            <a:ext cx="58281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5013197"/>
            <a:ext cx="646246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 Products × Coat Conditioning &amp; Softening' is the single largest cross-sectional cell (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687843" y="5002974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6862952" y="5013197"/>
            <a:ext cx="472926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Mn, 2026E), while 'Shampoos &amp; Cleansing Products × Coat Conditioning &amp;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76225" y="5188457"/>
            <a:ext cx="305594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Softening' records the fastest growth at a CAGR of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281323" y="5178234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3456432" y="5188457"/>
            <a:ext cx="121700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over 2026E–2036F.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276225" y="5416295"/>
            <a:ext cx="720298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Combined, the top three product type × primary product function / benefit cells generate an absolute $ opportunity of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428362" y="5406072"/>
            <a:ext cx="134549" cy="195707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7603471" y="5416295"/>
            <a:ext cx="115538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by 2036F.</a:t>
            </a:r>
          </a:p>
        </p:txBody>
      </p:sp>
    </p:spTree>
  </p:cSld>
  <p:clrMapOvr>
    <a:masterClrMapping/>
  </p:clrMapOvr>
</p:sld>
</file>

<file path=ppt/slides/slide18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Market Share Analysis: Product Type × Primary Product Function / Benefit, 2026E (1/4)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% share of Germany market value, each row split across all primary product function / benefit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828925"/>
          </a:xfrm>
          <a:prstGeom prst="roundRect">
            <a:avLst>
              <a:gd name="adj" fmla="val 269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 Share, Product Type × Primary Product Function / Benefit, 2026E (% of each row)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8" cy="236220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510861"/>
                <a:gridCol w="1271490"/>
                <a:gridCol w="1450585"/>
                <a:gridCol w="1122194"/>
                <a:gridCol w="1407725"/>
                <a:gridCol w="1026819"/>
                <a:gridCol w="1484437"/>
                <a:gridCol w="1069281"/>
                <a:gridCol w="543806"/>
              </a:tblGrid>
              <a:tr h="6316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Cleansing &amp; General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Moisturizing &amp; Skin Barrier 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Skin Soothing &amp; Comfort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Coat Conditioning &amp; Softening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Dental &amp; Oral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Body &amp; Coat Odor Management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Ear &amp; Eye-Area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21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1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1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1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1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1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1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6099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943350"/>
            <a:ext cx="7286625" cy="2686050"/>
          </a:xfrm>
          <a:prstGeom prst="roundRect">
            <a:avLst>
              <a:gd name="adj" fmla="val 28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4000500"/>
            <a:ext cx="70961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Primary Product Function / Benefit Mix by Product Type, 2026E (% share)</a:t>
            </a:r>
          </a:p>
        </p:txBody>
      </p:sp>
      <p:graphicFrame>
        <p:nvGraphicFramePr>
          <p:cNvPr id="17" name="Chart 16"/>
          <p:cNvGraphicFramePr>
            <a:graphicFrameLocks noGrp="1"/>
          </p:cNvGraphicFramePr>
          <p:nvPr/>
        </p:nvGraphicFramePr>
        <p:xfrm>
          <a:off x="238125" y="4229100"/>
          <a:ext cx="7096125" cy="234315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8" name="Rounded Rectangle 17"/>
          <p:cNvSpPr/>
          <p:nvPr/>
        </p:nvSpPr>
        <p:spPr>
          <a:xfrm>
            <a:off x="7581900" y="3943350"/>
            <a:ext cx="4457700" cy="2686050"/>
          </a:xfrm>
          <a:prstGeom prst="roundRect">
            <a:avLst>
              <a:gd name="adj" fmla="val 28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7715250" y="4029075"/>
            <a:ext cx="4191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Share Insights</a:t>
            </a:r>
          </a:p>
        </p:txBody>
      </p:sp>
      <p:sp>
        <p:nvSpPr>
          <p:cNvPr id="20" name="Rectangle 19"/>
          <p:cNvSpPr/>
          <p:nvPr/>
        </p:nvSpPr>
        <p:spPr>
          <a:xfrm>
            <a:off x="7715250" y="4267200"/>
            <a:ext cx="41910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715250" y="4352925"/>
            <a:ext cx="4191000" cy="220027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164739" y="2468500"/>
            <a:ext cx="366712" cy="533400"/>
          </a:xfrm>
          <a:prstGeom prst="rect">
            <a:avLst/>
          </a:prstGeom>
        </p:spPr>
      </p:pic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775138" y="4700397"/>
            <a:ext cx="311705" cy="453389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7715250" y="4362450"/>
            <a:ext cx="41008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'Cleansing &amp; General Hygiene' holds the highest share of 'Dental &amp;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715250" y="4537710"/>
            <a:ext cx="137467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Oral Care Products' at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039079" y="4527486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9214188" y="4537710"/>
            <a:ext cx="56940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(2026E).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7715250" y="4765547"/>
            <a:ext cx="417195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'Dental &amp; Oral Care Products' is the most concentrated product type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7715250" y="4940807"/>
            <a:ext cx="117870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sub-segment, with</a:t>
            </a:r>
          </a:p>
        </p:txBody>
      </p:sp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843110" y="4930584"/>
            <a:ext cx="134549" cy="195707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9018219" y="4940807"/>
            <a:ext cx="277612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its value via 'Cleansing &amp; General Hygiene'.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7715250" y="5168645"/>
            <a:ext cx="24669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'Coat Conditioning &amp; Softening' gains +</a:t>
            </a:r>
          </a:p>
        </p:txBody>
      </p:sp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131316" y="5158422"/>
            <a:ext cx="134549" cy="195707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10306426" y="5168645"/>
            <a:ext cx="11998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of share of the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7715250" y="5343905"/>
            <a:ext cx="20411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Germany cross-section by 2036F.</a:t>
            </a:r>
          </a:p>
        </p:txBody>
      </p:sp>
      <p:sp>
        <p:nvSpPr>
          <p:cNvPr id="37" name="lockshield_17"/>
          <p:cNvSpPr/>
          <p:nvPr/>
        </p:nvSpPr>
        <p:spPr>
          <a:xfrm>
            <a:off x="238125" y="4229100"/>
            <a:ext cx="7096125" cy="234315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9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Market Share Analysis: Product Type × Primary Product Function / Benefit, 2026E (2/4)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% share of Germany market value, each row split across all primary product function / benefit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 Share by Primary Product Function / Benefit Sub-segment, Product Type × Primary Product Function / Benefit, 2026E (% of each row) – part 1 of 3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199" cy="26098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510861"/>
                <a:gridCol w="1093963"/>
                <a:gridCol w="1302190"/>
                <a:gridCol w="861357"/>
                <a:gridCol w="989998"/>
                <a:gridCol w="1154757"/>
                <a:gridCol w="967896"/>
                <a:gridCol w="1540798"/>
                <a:gridCol w="1465379"/>
              </a:tblGrid>
              <a:tr h="246126">
                <a:tc rowSpan="2"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Cleansing &amp; General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3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Moisturizing &amp; Skin Barrier 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3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Skin Soothing &amp; Comfort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632841">
                <a:tc vMerge="1"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Dirt &amp; Sebum Removal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Routine Body &amp; Coat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Skin Hydration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Skin Barrier Support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Paw &amp; Nose Protection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Sensitive Skin 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Dryness-Related Discomfort Relief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Coat Conditioning &amp; Grooming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38576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64739" y="2715958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9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Market Share Analysis: Product Type × Primary Product Function / Benefit, 2026E (3/4)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% share of Germany market value, each row split across all primary product function / benefit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 Share by Primary Product Function / Benefit Sub-segment, Product Type × Primary Product Function / Benefit, 2026E (% of each row) – part 2 of 3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199" cy="26098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510861"/>
                <a:gridCol w="752284"/>
                <a:gridCol w="1311447"/>
                <a:gridCol w="1321416"/>
                <a:gridCol w="939992"/>
                <a:gridCol w="805608"/>
                <a:gridCol w="778898"/>
                <a:gridCol w="1017227"/>
                <a:gridCol w="1154759"/>
                <a:gridCol w="1294707"/>
              </a:tblGrid>
              <a:tr h="246126">
                <a:tc rowSpan="2"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4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Coat Conditioning &amp; Softening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3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Dental &amp; Oral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Body &amp; Coat Odor Management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632841">
                <a:tc vMerge="1"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Detangling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Loose-Hair Removal Support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Coat Shine Enhancement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Coat Styling &amp; Hold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Plaque Control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Tartar Control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Breath Freshening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Odor Neutralization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Fragrance Enhancement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38576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64740" y="2715958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9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Market Share Analysis: Product Type × Primary Product Function / Benefit, 2026E (4/4)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% share of Germany market value, each row split across all primary product function / benefit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2686050"/>
          </a:xfrm>
          <a:prstGeom prst="roundRect">
            <a:avLst>
              <a:gd name="adj" fmla="val 28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 Share by Primary Product Function / Benefit Sub-segment, Product Type × Primary Product Function / Benefit, 2026E (% of each row) – part 3 of 3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199" cy="22193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711475"/>
                <a:gridCol w="2391908"/>
                <a:gridCol w="2391908"/>
                <a:gridCol w="2391908"/>
              </a:tblGrid>
              <a:tr h="246126">
                <a:tc rowSpan="2"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3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Ear &amp; Eye-Area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650">
                <a:tc vMerge="1"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Ear Cleansing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Eye-Area Cleansing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Tear-Stain Removal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34671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1_4_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699602" y="1721636"/>
            <a:ext cx="720450" cy="265429"/>
          </a:xfrm>
          <a:prstGeom prst="rect">
            <a:avLst/>
          </a:prstGeom>
        </p:spPr>
      </p:pic>
      <p:pic>
        <p:nvPicPr>
          <p:cNvPr id="16" name="Picture 15" descr="3_2_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091510" y="1721636"/>
            <a:ext cx="720450" cy="265429"/>
          </a:xfrm>
          <a:prstGeom prst="rect">
            <a:avLst/>
          </a:prstGeom>
        </p:spPr>
      </p:pic>
      <p:pic>
        <p:nvPicPr>
          <p:cNvPr id="17" name="Picture 16" descr="3_0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483418" y="1721636"/>
            <a:ext cx="720450" cy="265429"/>
          </a:xfrm>
          <a:prstGeom prst="rect">
            <a:avLst/>
          </a:prstGeom>
        </p:spPr>
      </p:pic>
      <p:pic>
        <p:nvPicPr>
          <p:cNvPr id="18" name="Picture 17" descr="1_9_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699602" y="1968286"/>
            <a:ext cx="720450" cy="265429"/>
          </a:xfrm>
          <a:prstGeom prst="rect">
            <a:avLst/>
          </a:prstGeom>
        </p:spPr>
      </p:pic>
      <p:pic>
        <p:nvPicPr>
          <p:cNvPr id="19" name="Picture 18" descr="3_1_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091510" y="1968286"/>
            <a:ext cx="720450" cy="265429"/>
          </a:xfrm>
          <a:prstGeom prst="rect">
            <a:avLst/>
          </a:prstGeom>
        </p:spPr>
      </p:pic>
      <p:pic>
        <p:nvPicPr>
          <p:cNvPr id="20" name="Picture 19" descr="3_2_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483418" y="1968286"/>
            <a:ext cx="720450" cy="265429"/>
          </a:xfrm>
          <a:prstGeom prst="rect">
            <a:avLst/>
          </a:prstGeom>
        </p:spPr>
      </p:pic>
      <p:pic>
        <p:nvPicPr>
          <p:cNvPr id="21" name="Picture 20" descr="1_8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5699602" y="2214936"/>
            <a:ext cx="720450" cy="265429"/>
          </a:xfrm>
          <a:prstGeom prst="rect">
            <a:avLst/>
          </a:prstGeom>
        </p:spPr>
      </p:pic>
      <p:pic>
        <p:nvPicPr>
          <p:cNvPr id="22" name="Picture 21" descr="2_7_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8091510" y="2214936"/>
            <a:ext cx="720450" cy="265429"/>
          </a:xfrm>
          <a:prstGeom prst="rect">
            <a:avLst/>
          </a:prstGeom>
        </p:spPr>
      </p:pic>
      <p:pic>
        <p:nvPicPr>
          <p:cNvPr id="23" name="Picture 22" descr="2_5_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10483418" y="2214936"/>
            <a:ext cx="720450" cy="265429"/>
          </a:xfrm>
          <a:prstGeom prst="rect">
            <a:avLst/>
          </a:prstGeom>
        </p:spPr>
      </p:pic>
      <p:pic>
        <p:nvPicPr>
          <p:cNvPr id="24" name="Picture 23" descr="1_7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5699602" y="2461586"/>
            <a:ext cx="720450" cy="265429"/>
          </a:xfrm>
          <a:prstGeom prst="rect">
            <a:avLst/>
          </a:prstGeom>
        </p:spPr>
      </p:pic>
      <p:pic>
        <p:nvPicPr>
          <p:cNvPr id="25" name="Picture 24" descr="3_3_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8091510" y="2461586"/>
            <a:ext cx="720450" cy="265429"/>
          </a:xfrm>
          <a:prstGeom prst="rect">
            <a:avLst/>
          </a:prstGeom>
        </p:spPr>
      </p:pic>
      <p:pic>
        <p:nvPicPr>
          <p:cNvPr id="26" name="Picture 25" descr="2_5_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10483418" y="2461586"/>
            <a:ext cx="720450" cy="265429"/>
          </a:xfrm>
          <a:prstGeom prst="rect">
            <a:avLst/>
          </a:prstGeom>
        </p:spPr>
      </p:pic>
      <p:pic>
        <p:nvPicPr>
          <p:cNvPr id="27" name="Picture 26" descr="1_7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5699602" y="2708236"/>
            <a:ext cx="720450" cy="265429"/>
          </a:xfrm>
          <a:prstGeom prst="rect">
            <a:avLst/>
          </a:prstGeom>
        </p:spPr>
      </p:pic>
      <p:pic>
        <p:nvPicPr>
          <p:cNvPr id="28" name="Picture 27" descr="2_2_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8091510" y="2708236"/>
            <a:ext cx="720450" cy="265429"/>
          </a:xfrm>
          <a:prstGeom prst="rect">
            <a:avLst/>
          </a:prstGeom>
        </p:spPr>
      </p:pic>
      <p:pic>
        <p:nvPicPr>
          <p:cNvPr id="29" name="Picture 28" descr="3_0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483418" y="2708236"/>
            <a:ext cx="720450" cy="265429"/>
          </a:xfrm>
          <a:prstGeom prst="rect">
            <a:avLst/>
          </a:prstGeom>
        </p:spPr>
      </p:pic>
      <p:pic>
        <p:nvPicPr>
          <p:cNvPr id="30" name="Picture 29" descr="2_4_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5699602" y="2954886"/>
            <a:ext cx="720450" cy="265429"/>
          </a:xfrm>
          <a:prstGeom prst="rect">
            <a:avLst/>
          </a:prstGeom>
        </p:spPr>
      </p:pic>
      <p:pic>
        <p:nvPicPr>
          <p:cNvPr id="31" name="Picture 30" descr="3_7__605E5C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8091510" y="2954886"/>
            <a:ext cx="720450" cy="265429"/>
          </a:xfrm>
          <a:prstGeom prst="rect">
            <a:avLst/>
          </a:prstGeom>
        </p:spPr>
      </p:pic>
      <p:pic>
        <p:nvPicPr>
          <p:cNvPr id="32" name="Picture 31" descr="3_4__605E5C.png"/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10483418" y="2954886"/>
            <a:ext cx="720450" cy="265429"/>
          </a:xfrm>
          <a:prstGeom prst="rect">
            <a:avLst/>
          </a:prstGeom>
        </p:spPr>
      </p:pic>
      <p:pic>
        <p:nvPicPr>
          <p:cNvPr id="33" name="Picture 32" descr="1_7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5699602" y="3201536"/>
            <a:ext cx="720450" cy="265429"/>
          </a:xfrm>
          <a:prstGeom prst="rect">
            <a:avLst/>
          </a:prstGeom>
        </p:spPr>
      </p:pic>
      <p:pic>
        <p:nvPicPr>
          <p:cNvPr id="34" name="Picture 33" descr="3_0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091510" y="3201536"/>
            <a:ext cx="720450" cy="265429"/>
          </a:xfrm>
          <a:prstGeom prst="rect">
            <a:avLst/>
          </a:prstGeom>
        </p:spPr>
      </p:pic>
      <p:pic>
        <p:nvPicPr>
          <p:cNvPr id="35" name="Picture 34" descr="3_0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483418" y="3201536"/>
            <a:ext cx="720450" cy="265429"/>
          </a:xfrm>
          <a:prstGeom prst="rect">
            <a:avLst/>
          </a:prstGeom>
        </p:spPr>
      </p:pic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8265047" y="2327601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9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Absolute $ Opportunity &amp; Attractiveness: Product Type × Primary Product Function / Benefit, 2026E–2036F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Incremental value 2026E→2036F (US$ Mn) and value CAGR by cell; attractiveness index scored 1–5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Incremental $ Opportunity (US$ Mn) and Value CAGR, Product Type × Primary Product Function / Benefit, 2026E–2036F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2" cy="260984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529330"/>
                <a:gridCol w="584867"/>
                <a:gridCol w="584867"/>
                <a:gridCol w="584867"/>
                <a:gridCol w="584867"/>
                <a:gridCol w="584867"/>
                <a:gridCol w="584867"/>
                <a:gridCol w="584867"/>
                <a:gridCol w="584867"/>
                <a:gridCol w="584867"/>
                <a:gridCol w="584867"/>
                <a:gridCol w="584867"/>
                <a:gridCol w="584867"/>
                <a:gridCol w="584867"/>
                <a:gridCol w="584867"/>
                <a:gridCol w="584867"/>
                <a:gridCol w="584867"/>
              </a:tblGrid>
              <a:tr h="631697">
                <a:tc rowSpan="2"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Cleansing &amp;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General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Moisturizing &amp;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Skin Barrier 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Skin Soothing &amp;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Comfort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Coat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Conditioning &amp;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Softening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Dental &amp; Oral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Body &amp; Coat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Odor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Management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Ear &amp; Eye-Area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269">
                <a:tc vMerge="1"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8576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4191000"/>
            <a:ext cx="5600700" cy="2438400"/>
          </a:xfrm>
          <a:prstGeom prst="roundRect">
            <a:avLst>
              <a:gd name="adj" fmla="val 31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4276725"/>
            <a:ext cx="5334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Top 5 Opportunity Cells (US$ Mn · CAGR · Index)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4514850"/>
            <a:ext cx="53340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4600575"/>
            <a:ext cx="5334000" cy="19526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5895975" y="4191000"/>
            <a:ext cx="1943100" cy="2438400"/>
          </a:xfrm>
          <a:prstGeom prst="roundRect">
            <a:avLst>
              <a:gd name="adj" fmla="val 392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029325" y="4276725"/>
            <a:ext cx="16764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Largest Pool</a:t>
            </a:r>
          </a:p>
        </p:txBody>
      </p:sp>
      <p:sp>
        <p:nvSpPr>
          <p:cNvPr id="21" name="Rectangle 20"/>
          <p:cNvSpPr/>
          <p:nvPr/>
        </p:nvSpPr>
        <p:spPr>
          <a:xfrm>
            <a:off x="6029325" y="4514850"/>
            <a:ext cx="16764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6029325" y="4600575"/>
            <a:ext cx="1676400" cy="19526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7991475" y="4191000"/>
            <a:ext cx="1943100" cy="2438400"/>
          </a:xfrm>
          <a:prstGeom prst="roundRect">
            <a:avLst>
              <a:gd name="adj" fmla="val 392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8124825" y="4276725"/>
            <a:ext cx="16764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Fastest Growth</a:t>
            </a:r>
          </a:p>
        </p:txBody>
      </p:sp>
      <p:sp>
        <p:nvSpPr>
          <p:cNvPr id="25" name="Rectangle 24"/>
          <p:cNvSpPr/>
          <p:nvPr/>
        </p:nvSpPr>
        <p:spPr>
          <a:xfrm>
            <a:off x="8124825" y="4514850"/>
            <a:ext cx="16764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8124825" y="4600575"/>
            <a:ext cx="1676400" cy="19526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10086975" y="4191000"/>
            <a:ext cx="1943100" cy="2438400"/>
          </a:xfrm>
          <a:prstGeom prst="roundRect">
            <a:avLst>
              <a:gd name="adj" fmla="val 392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10220325" y="4276725"/>
            <a:ext cx="16764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Where to Play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220325" y="4514850"/>
            <a:ext cx="16764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0220325" y="4600575"/>
            <a:ext cx="1676400" cy="19526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00" b="0">
                <a:solidFill>
                  <a:srgbClr val="2E2E2E"/>
                </a:solidFill>
                <a:latin typeface="Calibri"/>
              </a:rPr>
              <a:t>'Shampoos &amp; Cleansing Products × Moisturizing &amp; Skin Barrier Care' ranks highest (5/5); 'Coat Conditioning &amp; Grooming Products × Dental &amp; Oral Hygiene' lowest (1/5), a deprioritised cell.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73976" y="2715958"/>
            <a:ext cx="366712" cy="533400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276225" y="4610100"/>
            <a:ext cx="407374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1. Shampoos &amp; Cleansing Products × Coat Conditioning &amp; Softening –</a:t>
            </a:r>
          </a:p>
        </p:txBody>
      </p:sp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98024" y="4600321"/>
            <a:ext cx="128699" cy="187198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4465520" y="4610100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24970" y="4600321"/>
            <a:ext cx="128699" cy="187198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4692465" y="4610100"/>
            <a:ext cx="33895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 5/5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276225" y="4828032"/>
            <a:ext cx="416924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2. Shampoos &amp; Cleansing Products × Moisturizing &amp; Skin Barrier Care –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393522" y="4818253"/>
            <a:ext cx="128699" cy="187198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4561018" y="4828032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20468" y="4818253"/>
            <a:ext cx="128699" cy="187198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4787963" y="4828032"/>
            <a:ext cx="33895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 5/5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276225" y="5045964"/>
            <a:ext cx="399734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3. Shampoos &amp; Cleansing Products × Cleansing &amp; General Hygiene –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21626" y="5036184"/>
            <a:ext cx="128699" cy="187198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4389122" y="5045964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46" name="Picture 4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48571" y="5036184"/>
            <a:ext cx="128699" cy="187198"/>
          </a:xfrm>
          <a:prstGeom prst="rect">
            <a:avLst/>
          </a:prstGeom>
        </p:spPr>
      </p:pic>
      <p:sp>
        <p:nvSpPr>
          <p:cNvPr id="47" name="TextBox 46"/>
          <p:cNvSpPr txBox="1"/>
          <p:nvPr/>
        </p:nvSpPr>
        <p:spPr>
          <a:xfrm>
            <a:off x="4616067" y="5045964"/>
            <a:ext cx="33895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 4/5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276225" y="5263896"/>
            <a:ext cx="375369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4. Shampoos &amp; Cleansing Products × Skin Soothing &amp; Comfort –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977969" y="5254116"/>
            <a:ext cx="128699" cy="187198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4145465" y="5263896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04915" y="5254116"/>
            <a:ext cx="128699" cy="187198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4372411" y="5263896"/>
            <a:ext cx="33895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 5/5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276225" y="5481828"/>
            <a:ext cx="417743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5. Shampoos &amp; Cleansing Products × Body &amp; Coat Odor Management –</a:t>
            </a:r>
          </a:p>
        </p:txBody>
      </p:sp>
      <p:pic>
        <p:nvPicPr>
          <p:cNvPr id="54" name="Picture 5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01708" y="5472048"/>
            <a:ext cx="128699" cy="187198"/>
          </a:xfrm>
          <a:prstGeom prst="rect">
            <a:avLst/>
          </a:prstGeom>
        </p:spPr>
      </p:pic>
      <p:sp>
        <p:nvSpPr>
          <p:cNvPr id="55" name="TextBox 54"/>
          <p:cNvSpPr txBox="1"/>
          <p:nvPr/>
        </p:nvSpPr>
        <p:spPr>
          <a:xfrm>
            <a:off x="4569204" y="5481828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28653" y="5472048"/>
            <a:ext cx="128699" cy="187198"/>
          </a:xfrm>
          <a:prstGeom prst="rect">
            <a:avLst/>
          </a:prstGeom>
        </p:spPr>
      </p:pic>
      <p:sp>
        <p:nvSpPr>
          <p:cNvPr id="57" name="TextBox 56"/>
          <p:cNvSpPr txBox="1"/>
          <p:nvPr/>
        </p:nvSpPr>
        <p:spPr>
          <a:xfrm>
            <a:off x="4796149" y="5481828"/>
            <a:ext cx="33895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 5/5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6029325" y="4610100"/>
            <a:ext cx="15441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6029325" y="4785360"/>
            <a:ext cx="101411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Products × Coat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6029325" y="4960620"/>
            <a:ext cx="159802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Conditioning &amp; Softening'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6029325" y="5135879"/>
            <a:ext cx="35660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adds</a:t>
            </a:r>
          </a:p>
        </p:txBody>
      </p:sp>
      <p:pic>
        <p:nvPicPr>
          <p:cNvPr id="62" name="Picture 6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335083" y="5125656"/>
            <a:ext cx="134549" cy="195707"/>
          </a:xfrm>
          <a:prstGeom prst="rect">
            <a:avLst/>
          </a:prstGeom>
        </p:spPr>
      </p:pic>
      <p:sp>
        <p:nvSpPr>
          <p:cNvPr id="63" name="TextBox 62"/>
          <p:cNvSpPr txBox="1"/>
          <p:nvPr/>
        </p:nvSpPr>
        <p:spPr>
          <a:xfrm>
            <a:off x="6510192" y="5135879"/>
            <a:ext cx="111880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by 2036F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6029325" y="5311139"/>
            <a:ext cx="14893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–</a:t>
            </a:r>
          </a:p>
        </p:txBody>
      </p:sp>
      <p:pic>
        <p:nvPicPr>
          <p:cNvPr id="65" name="Picture 6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127418" y="5300916"/>
            <a:ext cx="134549" cy="195707"/>
          </a:xfrm>
          <a:prstGeom prst="rect">
            <a:avLst/>
          </a:prstGeom>
        </p:spPr>
      </p:pic>
      <p:sp>
        <p:nvSpPr>
          <p:cNvPr id="66" name="TextBox 65"/>
          <p:cNvSpPr txBox="1"/>
          <p:nvPr/>
        </p:nvSpPr>
        <p:spPr>
          <a:xfrm>
            <a:off x="6302527" y="5311139"/>
            <a:ext cx="74112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total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6029325" y="5486399"/>
            <a:ext cx="82299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opportunity.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8124825" y="4610100"/>
            <a:ext cx="15441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8124825" y="4785360"/>
            <a:ext cx="101411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Products × Coat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8124825" y="4960620"/>
            <a:ext cx="159802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Conditioning &amp; Softening'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8124825" y="5135879"/>
            <a:ext cx="68949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grows at a</a:t>
            </a:r>
          </a:p>
        </p:txBody>
      </p:sp>
      <p:pic>
        <p:nvPicPr>
          <p:cNvPr id="72" name="Picture 7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763474" y="5125656"/>
            <a:ext cx="134549" cy="195707"/>
          </a:xfrm>
          <a:prstGeom prst="rect">
            <a:avLst/>
          </a:prstGeom>
        </p:spPr>
      </p:pic>
      <p:sp>
        <p:nvSpPr>
          <p:cNvPr id="73" name="TextBox 72"/>
          <p:cNvSpPr txBox="1"/>
          <p:nvPr/>
        </p:nvSpPr>
        <p:spPr>
          <a:xfrm>
            <a:off x="8938584" y="5135879"/>
            <a:ext cx="44644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CAGR,</a:t>
            </a:r>
          </a:p>
        </p:txBody>
      </p:sp>
      <p:pic>
        <p:nvPicPr>
          <p:cNvPr id="74" name="Picture 7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334179" y="5125656"/>
            <a:ext cx="134549" cy="195707"/>
          </a:xfrm>
          <a:prstGeom prst="rect">
            <a:avLst/>
          </a:prstGeom>
        </p:spPr>
      </p:pic>
      <p:sp>
        <p:nvSpPr>
          <p:cNvPr id="75" name="TextBox 74"/>
          <p:cNvSpPr txBox="1"/>
          <p:nvPr/>
        </p:nvSpPr>
        <p:spPr>
          <a:xfrm>
            <a:off x="8124825" y="5311139"/>
            <a:ext cx="9254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above the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8124825" y="5486399"/>
            <a:ext cx="89002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cross-section.</a:t>
            </a:r>
          </a:p>
        </p:txBody>
      </p:sp>
    </p:spTree>
  </p:cSld>
  <p:clrMapOvr>
    <a:masterClrMapping/>
  </p:clrMapOvr>
</p:sld>
</file>

<file path=ppt/slides/slide19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11.2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Product Type × Ingredient Type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Snapshot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Share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Opportunity &amp; Attractiveness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9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Market Snapshot: Product Type × Ingredient Type, 2026E vs 2036F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Germany market value (US$ Mn) for each product type sub-segment across ingredient type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876550"/>
          </a:xfrm>
          <a:prstGeom prst="roundRect">
            <a:avLst>
              <a:gd name="adj" fmla="val 26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Market Value, Product Type × Ingredient Type, 2026E and 2036F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3" cy="240982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758283"/>
                <a:gridCol w="891115"/>
                <a:gridCol w="891115"/>
                <a:gridCol w="891115"/>
                <a:gridCol w="891115"/>
                <a:gridCol w="891115"/>
                <a:gridCol w="891115"/>
                <a:gridCol w="891115"/>
                <a:gridCol w="891115"/>
              </a:tblGrid>
              <a:tr h="438912">
                <a:tc rowSpan="2"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Regular / Established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Niche / Specialized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Emerging Ingredients /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Innovation Candidates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64">
                <a:tc vMerge="1"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6576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990975"/>
            <a:ext cx="11906250" cy="2638425"/>
          </a:xfrm>
          <a:prstGeom prst="roundRect">
            <a:avLst>
              <a:gd name="adj" fmla="val 288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407670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Findings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43148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4400550"/>
            <a:ext cx="11639550" cy="21526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288453" y="2519100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4410075"/>
            <a:ext cx="64082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 Products' accounts for the largest share of the Germany market by product type (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633645" y="4399851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6808754" y="4410075"/>
            <a:ext cx="5825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Mn,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40434" y="439985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7515543" y="4410075"/>
            <a:ext cx="36555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 2026E), with 'Regular / Established Ingredients' its leading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4585335"/>
            <a:ext cx="194004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ingredient type sub-segment at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65427" y="4575111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340537" y="4585335"/>
            <a:ext cx="58281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4813172"/>
            <a:ext cx="662049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 Products × Regular / Established Ingredients' is the single largest cross-sectional cell (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45874" y="4802949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7020983" y="4813172"/>
            <a:ext cx="478146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Mn, 2026E), while 'Shampoos &amp; Cleansing Products × Regular / Established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76225" y="4988432"/>
            <a:ext cx="316177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Ingredients' records the fastest growth at a CAGR of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387152" y="4978209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3562261" y="4988432"/>
            <a:ext cx="121700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over 2026E–2036F.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276225" y="5216270"/>
            <a:ext cx="60668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Combined, the top three product type × ingredient type cells generate an absolute $ opportunity of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292196" y="5206047"/>
            <a:ext cx="134549" cy="195707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6467305" y="5216270"/>
            <a:ext cx="115538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by 2036F.</a:t>
            </a:r>
          </a:p>
        </p:txBody>
      </p:sp>
    </p:spTree>
  </p:cSld>
  <p:clrMapOvr>
    <a:masterClrMapping/>
  </p:clrMapOvr>
</p:sld>
</file>

<file path=ppt/slides/slide19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Market Share Analysis: Product Type × Ingredient Type, 2026E (1/4)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% share of Germany market value, each row split across all ingredient type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438400"/>
          </a:xfrm>
          <a:prstGeom prst="roundRect">
            <a:avLst>
              <a:gd name="adj" fmla="val 31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 Share, Product Type × Ingredient Type, 2026E (% of each row)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0" cy="19716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994677"/>
                <a:gridCol w="2494452"/>
                <a:gridCol w="2330635"/>
                <a:gridCol w="3418844"/>
                <a:gridCol w="64859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Regular / Established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Niche / Specialized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Emerging Ingredients / Innovation Candidates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2194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552825"/>
            <a:ext cx="7286625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609975"/>
            <a:ext cx="70961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Ingredient Type Mix by Product Type, 2026E (% share)</a:t>
            </a:r>
          </a:p>
        </p:txBody>
      </p:sp>
      <p:graphicFrame>
        <p:nvGraphicFramePr>
          <p:cNvPr id="17" name="Chart 16"/>
          <p:cNvGraphicFramePr>
            <a:graphicFrameLocks noGrp="1"/>
          </p:cNvGraphicFramePr>
          <p:nvPr/>
        </p:nvGraphicFramePr>
        <p:xfrm>
          <a:off x="238125" y="3838575"/>
          <a:ext cx="7096125" cy="273367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8" name="Rounded Rectangle 17"/>
          <p:cNvSpPr/>
          <p:nvPr/>
        </p:nvSpPr>
        <p:spPr>
          <a:xfrm>
            <a:off x="7581900" y="3552825"/>
            <a:ext cx="4457700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7715250" y="3638550"/>
            <a:ext cx="4191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Share Insights</a:t>
            </a:r>
          </a:p>
        </p:txBody>
      </p:sp>
      <p:sp>
        <p:nvSpPr>
          <p:cNvPr id="20" name="Rectangle 19"/>
          <p:cNvSpPr/>
          <p:nvPr/>
        </p:nvSpPr>
        <p:spPr>
          <a:xfrm>
            <a:off x="7715250" y="3876675"/>
            <a:ext cx="41910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715250" y="3962400"/>
            <a:ext cx="4191000" cy="25908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3" name="Picture 22" descr="55_6_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955869" y="1474914"/>
            <a:ext cx="876864" cy="265429"/>
          </a:xfrm>
          <a:prstGeom prst="rect">
            <a:avLst/>
          </a:prstGeom>
        </p:spPr>
      </p:pic>
      <p:pic>
        <p:nvPicPr>
          <p:cNvPr id="24" name="Picture 23" descr="31_9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368413" y="1474914"/>
            <a:ext cx="876864" cy="265429"/>
          </a:xfrm>
          <a:prstGeom prst="rect">
            <a:avLst/>
          </a:prstGeom>
        </p:spPr>
      </p:pic>
      <p:pic>
        <p:nvPicPr>
          <p:cNvPr id="25" name="Picture 24" descr="12_5_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243152" y="1474914"/>
            <a:ext cx="876864" cy="265429"/>
          </a:xfrm>
          <a:prstGeom prst="rect">
            <a:avLst/>
          </a:prstGeom>
        </p:spPr>
      </p:pic>
      <p:pic>
        <p:nvPicPr>
          <p:cNvPr id="26" name="Picture 25" descr="100_0_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1198663" y="1474914"/>
            <a:ext cx="1033277" cy="265429"/>
          </a:xfrm>
          <a:prstGeom prst="rect">
            <a:avLst/>
          </a:prstGeom>
        </p:spPr>
      </p:pic>
      <p:pic>
        <p:nvPicPr>
          <p:cNvPr id="27" name="Picture 26" descr="54_9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3955869" y="1721421"/>
            <a:ext cx="876864" cy="265429"/>
          </a:xfrm>
          <a:prstGeom prst="rect">
            <a:avLst/>
          </a:prstGeom>
        </p:spPr>
      </p:pic>
      <p:pic>
        <p:nvPicPr>
          <p:cNvPr id="28" name="Picture 27" descr="31_6_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6368413" y="1721421"/>
            <a:ext cx="876864" cy="265429"/>
          </a:xfrm>
          <a:prstGeom prst="rect">
            <a:avLst/>
          </a:prstGeom>
        </p:spPr>
      </p:pic>
      <p:pic>
        <p:nvPicPr>
          <p:cNvPr id="29" name="Picture 28" descr="13_5_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9243152" y="1721421"/>
            <a:ext cx="876864" cy="265429"/>
          </a:xfrm>
          <a:prstGeom prst="rect">
            <a:avLst/>
          </a:prstGeom>
        </p:spPr>
      </p:pic>
      <p:pic>
        <p:nvPicPr>
          <p:cNvPr id="30" name="Picture 29" descr="100_0_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1198663" y="1721421"/>
            <a:ext cx="1033277" cy="265429"/>
          </a:xfrm>
          <a:prstGeom prst="rect">
            <a:avLst/>
          </a:prstGeom>
        </p:spPr>
      </p:pic>
      <p:pic>
        <p:nvPicPr>
          <p:cNvPr id="31" name="Picture 30" descr="53_9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3955869" y="1967928"/>
            <a:ext cx="876864" cy="265429"/>
          </a:xfrm>
          <a:prstGeom prst="rect">
            <a:avLst/>
          </a:prstGeom>
        </p:spPr>
      </p:pic>
      <p:pic>
        <p:nvPicPr>
          <p:cNvPr id="32" name="Picture 31" descr="33_7_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6368413" y="1967928"/>
            <a:ext cx="876864" cy="265429"/>
          </a:xfrm>
          <a:prstGeom prst="rect">
            <a:avLst/>
          </a:prstGeom>
        </p:spPr>
      </p:pic>
      <p:pic>
        <p:nvPicPr>
          <p:cNvPr id="33" name="Picture 32" descr="12_4_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9243152" y="1967928"/>
            <a:ext cx="876864" cy="265429"/>
          </a:xfrm>
          <a:prstGeom prst="rect">
            <a:avLst/>
          </a:prstGeom>
        </p:spPr>
      </p:pic>
      <p:pic>
        <p:nvPicPr>
          <p:cNvPr id="34" name="Picture 33" descr="100_0_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1198663" y="1967928"/>
            <a:ext cx="1033277" cy="265429"/>
          </a:xfrm>
          <a:prstGeom prst="rect">
            <a:avLst/>
          </a:prstGeom>
        </p:spPr>
      </p:pic>
      <p:pic>
        <p:nvPicPr>
          <p:cNvPr id="35" name="Picture 34" descr="59_0_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3955869" y="2214435"/>
            <a:ext cx="876864" cy="265429"/>
          </a:xfrm>
          <a:prstGeom prst="rect">
            <a:avLst/>
          </a:prstGeom>
        </p:spPr>
      </p:pic>
      <p:pic>
        <p:nvPicPr>
          <p:cNvPr id="36" name="Picture 35" descr="29_2__605E5C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6368413" y="2214435"/>
            <a:ext cx="876864" cy="265429"/>
          </a:xfrm>
          <a:prstGeom prst="rect">
            <a:avLst/>
          </a:prstGeom>
        </p:spPr>
      </p:pic>
      <p:pic>
        <p:nvPicPr>
          <p:cNvPr id="37" name="Picture 36" descr="11_8__605E5C.png"/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9243152" y="2214435"/>
            <a:ext cx="876864" cy="265429"/>
          </a:xfrm>
          <a:prstGeom prst="rect">
            <a:avLst/>
          </a:prstGeom>
        </p:spPr>
      </p:pic>
      <p:pic>
        <p:nvPicPr>
          <p:cNvPr id="38" name="Picture 37" descr="100_0_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1198663" y="2214435"/>
            <a:ext cx="1033277" cy="265429"/>
          </a:xfrm>
          <a:prstGeom prst="rect">
            <a:avLst/>
          </a:prstGeom>
        </p:spPr>
      </p:pic>
      <p:pic>
        <p:nvPicPr>
          <p:cNvPr id="39" name="Picture 38" descr="54_3__605E5C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3955869" y="2460942"/>
            <a:ext cx="876864" cy="265429"/>
          </a:xfrm>
          <a:prstGeom prst="rect">
            <a:avLst/>
          </a:prstGeom>
        </p:spPr>
      </p:pic>
      <p:pic>
        <p:nvPicPr>
          <p:cNvPr id="40" name="Picture 39" descr="32_8__605E5C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6368413" y="2460942"/>
            <a:ext cx="876864" cy="265429"/>
          </a:xfrm>
          <a:prstGeom prst="rect">
            <a:avLst/>
          </a:prstGeom>
        </p:spPr>
      </p:pic>
      <p:pic>
        <p:nvPicPr>
          <p:cNvPr id="41" name="Picture 40" descr="12_8__605E5C.png"/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9243152" y="2460942"/>
            <a:ext cx="876864" cy="265429"/>
          </a:xfrm>
          <a:prstGeom prst="rect">
            <a:avLst/>
          </a:prstGeom>
        </p:spPr>
      </p:pic>
      <p:pic>
        <p:nvPicPr>
          <p:cNvPr id="42" name="Picture 41" descr="100_0_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1198663" y="2460942"/>
            <a:ext cx="1033277" cy="265429"/>
          </a:xfrm>
          <a:prstGeom prst="rect">
            <a:avLst/>
          </a:prstGeom>
        </p:spPr>
      </p:pic>
      <p:pic>
        <p:nvPicPr>
          <p:cNvPr id="43" name="Picture 42" descr="49_8__605E5C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3955869" y="2707449"/>
            <a:ext cx="876864" cy="265429"/>
          </a:xfrm>
          <a:prstGeom prst="rect">
            <a:avLst/>
          </a:prstGeom>
        </p:spPr>
      </p:pic>
      <p:pic>
        <p:nvPicPr>
          <p:cNvPr id="44" name="Picture 43" descr="37_4__605E5C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6368413" y="2707449"/>
            <a:ext cx="876864" cy="265429"/>
          </a:xfrm>
          <a:prstGeom prst="rect">
            <a:avLst/>
          </a:prstGeom>
        </p:spPr>
      </p:pic>
      <p:pic>
        <p:nvPicPr>
          <p:cNvPr id="45" name="Picture 44" descr="12_8__605E5C.png"/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9243152" y="2707449"/>
            <a:ext cx="876864" cy="265429"/>
          </a:xfrm>
          <a:prstGeom prst="rect">
            <a:avLst/>
          </a:prstGeom>
        </p:spPr>
      </p:pic>
      <p:pic>
        <p:nvPicPr>
          <p:cNvPr id="46" name="Picture 45" descr="100_0_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1198663" y="2707449"/>
            <a:ext cx="1033277" cy="265429"/>
          </a:xfrm>
          <a:prstGeom prst="rect">
            <a:avLst/>
          </a:prstGeom>
        </p:spPr>
      </p:pic>
      <p:pic>
        <p:nvPicPr>
          <p:cNvPr id="47" name="Picture 46" descr="54_9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3955869" y="2953956"/>
            <a:ext cx="876864" cy="265429"/>
          </a:xfrm>
          <a:prstGeom prst="rect">
            <a:avLst/>
          </a:prstGeom>
        </p:spPr>
      </p:pic>
      <p:pic>
        <p:nvPicPr>
          <p:cNvPr id="48" name="Picture 47" descr="32_4__605E5C.png"/>
          <p:cNvPicPr>
            <a:picLocks noChangeAspect="1"/>
          </p:cNvPicPr>
          <p:nvPr/>
        </p:nvPicPr>
        <p:blipFill>
          <a:blip r:embed="rId23"/>
          <a:stretch>
            <a:fillRect/>
          </a:stretch>
        </p:blipFill>
        <p:spPr>
          <a:xfrm>
            <a:off x="6368413" y="2953956"/>
            <a:ext cx="876864" cy="265429"/>
          </a:xfrm>
          <a:prstGeom prst="rect">
            <a:avLst/>
          </a:prstGeom>
        </p:spPr>
      </p:pic>
      <p:pic>
        <p:nvPicPr>
          <p:cNvPr id="49" name="Picture 48" descr="12_7__605E5C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9243152" y="2953956"/>
            <a:ext cx="876864" cy="265429"/>
          </a:xfrm>
          <a:prstGeom prst="rect">
            <a:avLst/>
          </a:prstGeom>
        </p:spPr>
      </p:pic>
      <p:pic>
        <p:nvPicPr>
          <p:cNvPr id="50" name="Picture 49" descr="100_0_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1198663" y="2953956"/>
            <a:ext cx="1033277" cy="265429"/>
          </a:xfrm>
          <a:prstGeom prst="rect">
            <a:avLst/>
          </a:prstGeom>
        </p:spPr>
      </p:pic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7406648" y="2080450"/>
            <a:ext cx="366712" cy="533400"/>
          </a:xfrm>
          <a:prstGeom prst="rect">
            <a:avLst/>
          </a:prstGeom>
        </p:spPr>
      </p:pic>
      <p:pic>
        <p:nvPicPr>
          <p:cNvPr id="52" name="Picture 51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3775138" y="4442650"/>
            <a:ext cx="311705" cy="453389"/>
          </a:xfrm>
          <a:prstGeom prst="rect">
            <a:avLst/>
          </a:prstGeom>
        </p:spPr>
      </p:pic>
      <p:sp>
        <p:nvSpPr>
          <p:cNvPr id="53" name="TextBox 52"/>
          <p:cNvSpPr txBox="1"/>
          <p:nvPr/>
        </p:nvSpPr>
        <p:spPr>
          <a:xfrm>
            <a:off x="7715250" y="3971925"/>
            <a:ext cx="413903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'Regular / Established Ingredients' holds the highest share of 'Ear &amp;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7715250" y="4147185"/>
            <a:ext cx="154377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Eye Hygiene Products' at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9208181" y="4136961"/>
            <a:ext cx="134549" cy="195707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9383291" y="4147185"/>
            <a:ext cx="56940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(2026E).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7715250" y="4375022"/>
            <a:ext cx="417195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'Ear &amp; Eye Hygiene Products' is the most concentrated product type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7715250" y="4550282"/>
            <a:ext cx="117870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sub-segment, with</a:t>
            </a:r>
          </a:p>
        </p:txBody>
      </p:sp>
      <p:pic>
        <p:nvPicPr>
          <p:cNvPr id="59" name="Picture 58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8843110" y="4540059"/>
            <a:ext cx="134549" cy="195707"/>
          </a:xfrm>
          <a:prstGeom prst="rect">
            <a:avLst/>
          </a:prstGeom>
        </p:spPr>
      </p:pic>
      <p:sp>
        <p:nvSpPr>
          <p:cNvPr id="60" name="TextBox 59"/>
          <p:cNvSpPr txBox="1"/>
          <p:nvPr/>
        </p:nvSpPr>
        <p:spPr>
          <a:xfrm>
            <a:off x="9018219" y="4550282"/>
            <a:ext cx="223985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its value via 'Regular / Established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7715250" y="4725542"/>
            <a:ext cx="81728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Ingredients'.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7715250" y="4953380"/>
            <a:ext cx="262494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'Regular / Established Ingredients' gains +</a:t>
            </a:r>
          </a:p>
        </p:txBody>
      </p:sp>
      <p:pic>
        <p:nvPicPr>
          <p:cNvPr id="63" name="Picture 62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10289347" y="4943157"/>
            <a:ext cx="134549" cy="195707"/>
          </a:xfrm>
          <a:prstGeom prst="rect">
            <a:avLst/>
          </a:prstGeom>
        </p:spPr>
      </p:pic>
      <p:sp>
        <p:nvSpPr>
          <p:cNvPr id="64" name="TextBox 63"/>
          <p:cNvSpPr txBox="1"/>
          <p:nvPr/>
        </p:nvSpPr>
        <p:spPr>
          <a:xfrm>
            <a:off x="10464456" y="4953380"/>
            <a:ext cx="11998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of share of the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7715250" y="5128640"/>
            <a:ext cx="20411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Germany cross-section by 2036F.</a:t>
            </a:r>
          </a:p>
        </p:txBody>
      </p:sp>
      <p:sp>
        <p:nvSpPr>
          <p:cNvPr id="66" name="lockshield_17"/>
          <p:cNvSpPr/>
          <p:nvPr/>
        </p:nvSpPr>
        <p:spPr>
          <a:xfrm>
            <a:off x="238125" y="3838575"/>
            <a:ext cx="7096125" cy="27336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9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Market Share Analysis: Product Type × Ingredient Type, 2026E (2/4)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% share of Germany market value, each row split across all ingredient type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2876550"/>
          </a:xfrm>
          <a:prstGeom prst="roundRect">
            <a:avLst>
              <a:gd name="adj" fmla="val 26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 Share by Ingredient Type Sub-segment, Product Type × Ingredient Type, 2026E (% of each row) – part 1 of 3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200" cy="240982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510861"/>
                <a:gridCol w="1533752"/>
                <a:gridCol w="1047865"/>
                <a:gridCol w="600218"/>
                <a:gridCol w="663325"/>
                <a:gridCol w="1116229"/>
                <a:gridCol w="783644"/>
                <a:gridCol w="722852"/>
                <a:gridCol w="668258"/>
                <a:gridCol w="968384"/>
                <a:gridCol w="1271812"/>
              </a:tblGrid>
              <a:tr h="246126">
                <a:tc rowSpan="2"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10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Regular / Established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439150">
                <a:tc vMerge="1"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Cocamidopropyl Betaine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Alkyl Glucosides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Glycerin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Aloe Vera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Colloidal Oatmeal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Coconut Oil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Panthenol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Vitamin 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Hydrated Silica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Sodium Bicarbonate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36576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64740" y="2519100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9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Market Share Analysis: Product Type × Ingredient Type, 2026E (3/4)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% share of Germany market value, each row split across all ingredient type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 Share by Ingredient Type Sub-segment, Product Type × Ingredient Type, 2026E (% of each row) – part 2 of 3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200" cy="26098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510861"/>
                <a:gridCol w="740021"/>
                <a:gridCol w="1670237"/>
                <a:gridCol w="1072805"/>
                <a:gridCol w="1176599"/>
                <a:gridCol w="651724"/>
                <a:gridCol w="1064779"/>
                <a:gridCol w="601949"/>
                <a:gridCol w="536303"/>
                <a:gridCol w="947760"/>
                <a:gridCol w="914162"/>
              </a:tblGrid>
              <a:tr h="246126">
                <a:tc rowSpan="2"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10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Niche / Specialized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632841">
                <a:tc vMerge="1"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Ceramides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Hyaluronic Acid / Sodium Hyaluronate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Chitosan Derivatives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Phytosphingosine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Allantoin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Hydrolyzed Proteins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Jojoba Oil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Zinc Salts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Oral-Care Enzymes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Cyclodextrins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38576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64740" y="2715958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9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Market Share Analysis: Product Type × Ingredient Type, 2026E (4/4)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% share of Germany market value, each row split across all ingredient type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2876550"/>
          </a:xfrm>
          <a:prstGeom prst="roundRect">
            <a:avLst>
              <a:gd name="adj" fmla="val 26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 Share by Ingredient Type Sub-segment, Product Type × Ingredient Type, 2026E (% of each row) – part 3 of 3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199" cy="240982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510861"/>
                <a:gridCol w="700778"/>
                <a:gridCol w="762095"/>
                <a:gridCol w="1364927"/>
                <a:gridCol w="1437905"/>
                <a:gridCol w="1034344"/>
                <a:gridCol w="762095"/>
                <a:gridCol w="477545"/>
                <a:gridCol w="705983"/>
                <a:gridCol w="1153724"/>
                <a:gridCol w="976942"/>
              </a:tblGrid>
              <a:tr h="246126">
                <a:tc rowSpan="2"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10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Emerging Ingredients / Innovation Candidates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439150">
                <a:tc vMerge="1"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Prebiotics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Postbiotics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Live Probiotic Preparations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Sophorolipid Biosurfactants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Hydroxyapatite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Lactoferrin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Ectoin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Beta-Glucan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Plant-Derived Squalane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Bioactive Peptides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36576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64739" y="2519100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20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Absolute $ Opportunity &amp; Attractiveness: Product Type × Ingredient Type, 2026E–2036F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Incremental value 2026E→2036F (US$ Mn) and value CAGR by cell; attractiveness index scored 1–5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876550"/>
          </a:xfrm>
          <a:prstGeom prst="roundRect">
            <a:avLst>
              <a:gd name="adj" fmla="val 26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Incremental $ Opportunity (US$ Mn) and Value CAGR, Product Type × Ingredient Type, 2026E–2036F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9" cy="240982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171135"/>
                <a:gridCol w="964508"/>
                <a:gridCol w="964508"/>
                <a:gridCol w="964508"/>
                <a:gridCol w="964508"/>
                <a:gridCol w="964508"/>
                <a:gridCol w="964508"/>
                <a:gridCol w="964508"/>
                <a:gridCol w="964508"/>
              </a:tblGrid>
              <a:tr h="438912">
                <a:tc rowSpan="2"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Regular / Established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Niche / Specialized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Emerging Ingredients /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Innovation Candidates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64">
                <a:tc vMerge="1"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6576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990975"/>
            <a:ext cx="5600700" cy="2638425"/>
          </a:xfrm>
          <a:prstGeom prst="roundRect">
            <a:avLst>
              <a:gd name="adj" fmla="val 288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4076700"/>
            <a:ext cx="5334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Top 5 Opportunity Cells (US$ Mn · CAGR · Index)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4314825"/>
            <a:ext cx="53340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4400550"/>
            <a:ext cx="5334000" cy="21526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5895975" y="3990975"/>
            <a:ext cx="1943100" cy="2638425"/>
          </a:xfrm>
          <a:prstGeom prst="roundRect">
            <a:avLst>
              <a:gd name="adj" fmla="val 392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029325" y="4076700"/>
            <a:ext cx="16764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Largest Pool</a:t>
            </a:r>
          </a:p>
        </p:txBody>
      </p:sp>
      <p:sp>
        <p:nvSpPr>
          <p:cNvPr id="21" name="Rectangle 20"/>
          <p:cNvSpPr/>
          <p:nvPr/>
        </p:nvSpPr>
        <p:spPr>
          <a:xfrm>
            <a:off x="6029325" y="4314825"/>
            <a:ext cx="16764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6029325" y="4400550"/>
            <a:ext cx="1676400" cy="21526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7991475" y="3990975"/>
            <a:ext cx="1943100" cy="2638425"/>
          </a:xfrm>
          <a:prstGeom prst="roundRect">
            <a:avLst>
              <a:gd name="adj" fmla="val 392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8124825" y="4076700"/>
            <a:ext cx="16764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Fastest Growth</a:t>
            </a:r>
          </a:p>
        </p:txBody>
      </p:sp>
      <p:sp>
        <p:nvSpPr>
          <p:cNvPr id="25" name="Rectangle 24"/>
          <p:cNvSpPr/>
          <p:nvPr/>
        </p:nvSpPr>
        <p:spPr>
          <a:xfrm>
            <a:off x="8124825" y="4314825"/>
            <a:ext cx="16764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8124825" y="4400550"/>
            <a:ext cx="1676400" cy="21526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10086975" y="3990975"/>
            <a:ext cx="1943100" cy="2638425"/>
          </a:xfrm>
          <a:prstGeom prst="roundRect">
            <a:avLst>
              <a:gd name="adj" fmla="val 392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10220325" y="4076700"/>
            <a:ext cx="16764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Where to Play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220325" y="4314825"/>
            <a:ext cx="16764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0220325" y="4400550"/>
            <a:ext cx="1676400" cy="21526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00" b="0">
                <a:solidFill>
                  <a:srgbClr val="2E2E2E"/>
                </a:solidFill>
                <a:latin typeface="Calibri"/>
              </a:rPr>
              <a:t>'Shampoos &amp; Cleansing Products × Regular / Established Ingredients' ranks highest (5/5); 'Coat Conditioning &amp; Grooming Products × Emerging Ingredients / Innovation Candidates' lowest (1/5), a deprioritised cell.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994877" y="2519100"/>
            <a:ext cx="366712" cy="533400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276225" y="4410075"/>
            <a:ext cx="422490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1. Shampoos &amp; Cleansing Products × Regular / Established Ingredients –</a:t>
            </a:r>
          </a:p>
        </p:txBody>
      </p:sp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49184" y="4400296"/>
            <a:ext cx="128699" cy="187198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4616680" y="4410075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76129" y="4400296"/>
            <a:ext cx="128699" cy="187198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4843625" y="4410075"/>
            <a:ext cx="33895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 5/5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276225" y="4628007"/>
            <a:ext cx="40996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2. Shampoos &amp; Cleansing Products × Niche / Specialized Ingredients –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323945" y="4618228"/>
            <a:ext cx="128699" cy="187198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4491441" y="4628007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50891" y="4618228"/>
            <a:ext cx="128699" cy="187198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4718386" y="4628007"/>
            <a:ext cx="33895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 5/5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276225" y="4845939"/>
            <a:ext cx="399789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3. Dental &amp; Oral Care Products × Regular / Established Ingredients –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22172" y="4836160"/>
            <a:ext cx="128699" cy="187198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4389667" y="4845939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46" name="Picture 4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49117" y="4836160"/>
            <a:ext cx="128699" cy="187198"/>
          </a:xfrm>
          <a:prstGeom prst="rect">
            <a:avLst/>
          </a:prstGeom>
        </p:spPr>
      </p:pic>
      <p:sp>
        <p:nvSpPr>
          <p:cNvPr id="47" name="TextBox 46"/>
          <p:cNvSpPr txBox="1"/>
          <p:nvPr/>
        </p:nvSpPr>
        <p:spPr>
          <a:xfrm>
            <a:off x="4616613" y="4845939"/>
            <a:ext cx="33895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 4/5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276225" y="5063871"/>
            <a:ext cx="495751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4. Shampoos &amp; Cleansing Products × Emerging Ingredients / Innovation Candidates –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181791" y="5054091"/>
            <a:ext cx="128699" cy="187198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5349286" y="5063871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62757" y="5221731"/>
            <a:ext cx="128699" cy="187198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430253" y="5231511"/>
            <a:ext cx="33895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 4/5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276225" y="5449443"/>
            <a:ext cx="46767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5. Coat Conditioning &amp; Grooming Products × Regular / Established Ingredients –</a:t>
            </a:r>
          </a:p>
        </p:txBody>
      </p:sp>
      <p:pic>
        <p:nvPicPr>
          <p:cNvPr id="54" name="Picture 5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901026" y="5439663"/>
            <a:ext cx="128699" cy="187198"/>
          </a:xfrm>
          <a:prstGeom prst="rect">
            <a:avLst/>
          </a:prstGeom>
        </p:spPr>
      </p:pic>
      <p:sp>
        <p:nvSpPr>
          <p:cNvPr id="55" name="TextBox 54"/>
          <p:cNvSpPr txBox="1"/>
          <p:nvPr/>
        </p:nvSpPr>
        <p:spPr>
          <a:xfrm>
            <a:off x="5068522" y="5449443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127972" y="5439663"/>
            <a:ext cx="128699" cy="187198"/>
          </a:xfrm>
          <a:prstGeom prst="rect">
            <a:avLst/>
          </a:prstGeom>
        </p:spPr>
      </p:pic>
      <p:sp>
        <p:nvSpPr>
          <p:cNvPr id="57" name="TextBox 56"/>
          <p:cNvSpPr txBox="1"/>
          <p:nvPr/>
        </p:nvSpPr>
        <p:spPr>
          <a:xfrm>
            <a:off x="5295467" y="5449443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276225" y="5617083"/>
            <a:ext cx="27210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3/5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6029325" y="4410075"/>
            <a:ext cx="15441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6029325" y="4585335"/>
            <a:ext cx="128196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Products × Regular /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6029325" y="4760595"/>
            <a:ext cx="148820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Established Ingredients'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6029325" y="4935854"/>
            <a:ext cx="35660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adds</a:t>
            </a:r>
          </a:p>
        </p:txBody>
      </p:sp>
      <p:pic>
        <p:nvPicPr>
          <p:cNvPr id="63" name="Picture 6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335083" y="4925631"/>
            <a:ext cx="134549" cy="195707"/>
          </a:xfrm>
          <a:prstGeom prst="rect">
            <a:avLst/>
          </a:prstGeom>
        </p:spPr>
      </p:pic>
      <p:sp>
        <p:nvSpPr>
          <p:cNvPr id="64" name="TextBox 63"/>
          <p:cNvSpPr txBox="1"/>
          <p:nvPr/>
        </p:nvSpPr>
        <p:spPr>
          <a:xfrm>
            <a:off x="6510192" y="4935854"/>
            <a:ext cx="111880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by 2036F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6029325" y="5111114"/>
            <a:ext cx="14893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–</a:t>
            </a:r>
          </a:p>
        </p:txBody>
      </p:sp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127418" y="5100891"/>
            <a:ext cx="134549" cy="195707"/>
          </a:xfrm>
          <a:prstGeom prst="rect">
            <a:avLst/>
          </a:prstGeom>
        </p:spPr>
      </p:pic>
      <p:sp>
        <p:nvSpPr>
          <p:cNvPr id="67" name="TextBox 66"/>
          <p:cNvSpPr txBox="1"/>
          <p:nvPr/>
        </p:nvSpPr>
        <p:spPr>
          <a:xfrm>
            <a:off x="6302527" y="5111114"/>
            <a:ext cx="74112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total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6029325" y="5286374"/>
            <a:ext cx="82299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opportunity.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8124825" y="4410075"/>
            <a:ext cx="15441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8124825" y="4585335"/>
            <a:ext cx="128196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Products × Regular /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8124825" y="4760595"/>
            <a:ext cx="148820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Established Ingredients'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8124825" y="4935854"/>
            <a:ext cx="68949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grows at a</a:t>
            </a:r>
          </a:p>
        </p:txBody>
      </p:sp>
      <p:pic>
        <p:nvPicPr>
          <p:cNvPr id="73" name="Picture 7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763474" y="4925631"/>
            <a:ext cx="134549" cy="195707"/>
          </a:xfrm>
          <a:prstGeom prst="rect">
            <a:avLst/>
          </a:prstGeom>
        </p:spPr>
      </p:pic>
      <p:sp>
        <p:nvSpPr>
          <p:cNvPr id="74" name="TextBox 73"/>
          <p:cNvSpPr txBox="1"/>
          <p:nvPr/>
        </p:nvSpPr>
        <p:spPr>
          <a:xfrm>
            <a:off x="8938584" y="4935854"/>
            <a:ext cx="44644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CAGR,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334179" y="4925631"/>
            <a:ext cx="134549" cy="195707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8124825" y="5111114"/>
            <a:ext cx="9254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above the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8124825" y="5286374"/>
            <a:ext cx="89002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cross-section.</a:t>
            </a:r>
          </a:p>
        </p:txBody>
      </p:sp>
    </p:spTree>
  </p:cSld>
  <p:clrMapOvr>
    <a:masterClrMapping/>
  </p:clrMapOvr>
</p:sld>
</file>

<file path=ppt/slides/slide20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A2A63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FMI Section Breaker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0A2A63"/>
              </a:gs>
              <a:gs pos="100000">
                <a:srgbClr val="0F3F8F"/>
              </a:gs>
            </a:gsLst>
            <a:lin scaled="0" ang="195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399064" y="525547"/>
            <a:ext cx="1340395" cy="823424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4" name="Picture 3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5" name="TextBox 4"/>
          <p:cNvSpPr txBox="1"/>
          <p:nvPr/>
        </p:nvSpPr>
        <p:spPr>
          <a:xfrm>
            <a:off x="914400" y="3394075"/>
            <a:ext cx="7239000" cy="24765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400" b="0">
                <a:solidFill>
                  <a:srgbClr val="8FC8F2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6" name="FMI Breaker Title"/>
          <p:cNvSpPr txBox="1"/>
          <p:nvPr/>
        </p:nvSpPr>
        <p:spPr>
          <a:xfrm>
            <a:off x="914400" y="3698875"/>
            <a:ext cx="72390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 cap="all" spc="400">
                <a:solidFill>
                  <a:srgbClr val="FFFFFF"/>
                </a:solidFill>
                <a:latin typeface="Calibri"/>
              </a:rPr>
              <a:t>Pricing Assessment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914400" y="4403725"/>
            <a:ext cx="7124700" cy="4889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</a:t>
            </a:r>
            <a:r>
              <a:rPr sz="2000" b="0">
                <a:solidFill>
                  <a:srgbClr val="FFD447"/>
                </a:solidFill>
                <a:latin typeface="Calibri"/>
              </a:rPr>
              <a:t>Market Pricing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4000500" y="6734175"/>
            <a:ext cx="8020050" cy="123825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r"/>
            <a:r>
              <a:rPr sz="700" b="0">
                <a:solidFill>
                  <a:srgbClr val="C9DCEE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0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12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Pricing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Product Pricing &amp; Regional Price Index Trends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Europe Pricing Assessment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Price Positioning &amp; Key Findings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Key Pricing Drivers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Factors Impacting Pricing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0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Product Pricing &amp; Regional Price Index Trends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Price range by sub-segment and indexed regional price movement, highlighting dispersion and structural shifts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55552"/>
          </a:xfrm>
          <a:prstGeom prst="roundRect">
            <a:avLst>
              <a:gd name="adj" fmla="val 2981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Analysis of average USD pricing by product type and indexed regional price movement with base-year inflation adjustments.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17574"/>
            <a:ext cx="7696200" cy="2601152"/>
          </a:xfrm>
          <a:prstGeom prst="roundRect">
            <a:avLst>
              <a:gd name="adj" fmla="val 292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374724"/>
            <a:ext cx="7505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Pricing by Product Type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57150" y="3471051"/>
            <a:ext cx="559594" cy="1333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17728.6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57150" y="2561000"/>
            <a:ext cx="559594" cy="1333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19126.5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57150" y="1650949"/>
            <a:ext cx="559594" cy="1333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20524.3</a:t>
            </a:r>
          </a:p>
        </p:txBody>
      </p:sp>
      <p:cxnSp>
        <p:nvCxnSpPr>
          <p:cNvPr id="16" name="Connector 15"/>
          <p:cNvCxnSpPr/>
          <p:nvPr/>
        </p:nvCxnSpPr>
        <p:spPr>
          <a:xfrm>
            <a:off x="1241425" y="2356833"/>
            <a:ext cx="0" cy="970881"/>
          </a:xfrm>
          <a:prstGeom prst="line">
            <a:avLst/>
          </a:prstGeom>
          <a:ln w="17780">
            <a:solidFill>
              <a:srgbClr val="7C8B9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" name="Rectangle 16"/>
          <p:cNvSpPr/>
          <p:nvPr/>
        </p:nvSpPr>
        <p:spPr>
          <a:xfrm>
            <a:off x="1022350" y="2356833"/>
            <a:ext cx="438150" cy="970881"/>
          </a:xfrm>
          <a:prstGeom prst="rect">
            <a:avLst/>
          </a:prstGeom>
          <a:solidFill>
            <a:srgbClr val="C9D9E8"/>
          </a:solidFill>
          <a:ln w="15875">
            <a:solidFill>
              <a:srgbClr val="7C8B9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657225" y="2204433"/>
            <a:ext cx="11684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657225" y="3566301"/>
            <a:ext cx="1168400" cy="2857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Shampoos &amp; Cleansing…</a:t>
            </a:r>
          </a:p>
        </p:txBody>
      </p:sp>
      <p:cxnSp>
        <p:nvCxnSpPr>
          <p:cNvPr id="20" name="Connector 19"/>
          <p:cNvCxnSpPr/>
          <p:nvPr/>
        </p:nvCxnSpPr>
        <p:spPr>
          <a:xfrm>
            <a:off x="2409825" y="2166718"/>
            <a:ext cx="0" cy="1044072"/>
          </a:xfrm>
          <a:prstGeom prst="line">
            <a:avLst/>
          </a:prstGeom>
          <a:ln w="17780">
            <a:solidFill>
              <a:srgbClr val="7C8B9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" name="Rectangle 20"/>
          <p:cNvSpPr/>
          <p:nvPr/>
        </p:nvSpPr>
        <p:spPr>
          <a:xfrm>
            <a:off x="2190750" y="2166718"/>
            <a:ext cx="438150" cy="1044072"/>
          </a:xfrm>
          <a:prstGeom prst="rect">
            <a:avLst/>
          </a:prstGeom>
          <a:solidFill>
            <a:srgbClr val="C9D9E8"/>
          </a:solidFill>
          <a:ln w="15875">
            <a:solidFill>
              <a:srgbClr val="7C8B9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825625" y="2014318"/>
            <a:ext cx="11684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1825625" y="3566301"/>
            <a:ext cx="1168400" cy="2857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Coat Conditioning &amp; G…</a:t>
            </a:r>
          </a:p>
        </p:txBody>
      </p:sp>
      <p:cxnSp>
        <p:nvCxnSpPr>
          <p:cNvPr id="24" name="Connector 23"/>
          <p:cNvCxnSpPr/>
          <p:nvPr/>
        </p:nvCxnSpPr>
        <p:spPr>
          <a:xfrm>
            <a:off x="3578225" y="2289672"/>
            <a:ext cx="0" cy="1004659"/>
          </a:xfrm>
          <a:prstGeom prst="line">
            <a:avLst/>
          </a:prstGeom>
          <a:ln w="17780">
            <a:solidFill>
              <a:srgbClr val="7C8B9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" name="Rectangle 24"/>
          <p:cNvSpPr/>
          <p:nvPr/>
        </p:nvSpPr>
        <p:spPr>
          <a:xfrm>
            <a:off x="3359150" y="2289672"/>
            <a:ext cx="438150" cy="1004659"/>
          </a:xfrm>
          <a:prstGeom prst="rect">
            <a:avLst/>
          </a:prstGeom>
          <a:solidFill>
            <a:srgbClr val="C9D9E8"/>
          </a:solidFill>
          <a:ln w="15875">
            <a:solidFill>
              <a:srgbClr val="7C8B9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2994025" y="2137272"/>
            <a:ext cx="11684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2994025" y="3566301"/>
            <a:ext cx="1168400" cy="2857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Skin, Paw &amp; Nose Care…</a:t>
            </a:r>
          </a:p>
        </p:txBody>
      </p:sp>
      <p:cxnSp>
        <p:nvCxnSpPr>
          <p:cNvPr id="28" name="Connector 27"/>
          <p:cNvCxnSpPr/>
          <p:nvPr/>
        </p:nvCxnSpPr>
        <p:spPr>
          <a:xfrm>
            <a:off x="4746625" y="1927636"/>
            <a:ext cx="0" cy="1037256"/>
          </a:xfrm>
          <a:prstGeom prst="line">
            <a:avLst/>
          </a:prstGeom>
          <a:ln w="17780">
            <a:solidFill>
              <a:srgbClr val="7C8B9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9" name="Rectangle 28"/>
          <p:cNvSpPr/>
          <p:nvPr/>
        </p:nvSpPr>
        <p:spPr>
          <a:xfrm>
            <a:off x="4527550" y="1927636"/>
            <a:ext cx="438150" cy="1037256"/>
          </a:xfrm>
          <a:prstGeom prst="rect">
            <a:avLst/>
          </a:prstGeom>
          <a:solidFill>
            <a:srgbClr val="C9D9E8"/>
          </a:solidFill>
          <a:ln w="15875">
            <a:solidFill>
              <a:srgbClr val="7C8B9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4162425" y="1775236"/>
            <a:ext cx="11684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4162425" y="3566301"/>
            <a:ext cx="1168400" cy="2857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Ear &amp; Eye Hygiene Pro…</a:t>
            </a:r>
          </a:p>
        </p:txBody>
      </p:sp>
      <p:cxnSp>
        <p:nvCxnSpPr>
          <p:cNvPr id="32" name="Connector 31"/>
          <p:cNvCxnSpPr/>
          <p:nvPr/>
        </p:nvCxnSpPr>
        <p:spPr>
          <a:xfrm>
            <a:off x="5915025" y="2249242"/>
            <a:ext cx="0" cy="1004435"/>
          </a:xfrm>
          <a:prstGeom prst="line">
            <a:avLst/>
          </a:prstGeom>
          <a:ln w="17780">
            <a:solidFill>
              <a:srgbClr val="7C8B9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3" name="Rectangle 32"/>
          <p:cNvSpPr/>
          <p:nvPr/>
        </p:nvSpPr>
        <p:spPr>
          <a:xfrm>
            <a:off x="5695950" y="2249242"/>
            <a:ext cx="438150" cy="1004435"/>
          </a:xfrm>
          <a:prstGeom prst="rect">
            <a:avLst/>
          </a:prstGeom>
          <a:solidFill>
            <a:srgbClr val="C9D9E8"/>
          </a:solidFill>
          <a:ln w="15875">
            <a:solidFill>
              <a:srgbClr val="7C8B9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5330825" y="2096842"/>
            <a:ext cx="11684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5330825" y="3566301"/>
            <a:ext cx="1168400" cy="2857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Dental &amp; Oral Care Pr…</a:t>
            </a:r>
          </a:p>
        </p:txBody>
      </p:sp>
      <p:cxnSp>
        <p:nvCxnSpPr>
          <p:cNvPr id="36" name="Connector 35"/>
          <p:cNvCxnSpPr/>
          <p:nvPr/>
        </p:nvCxnSpPr>
        <p:spPr>
          <a:xfrm>
            <a:off x="7083425" y="2207232"/>
            <a:ext cx="0" cy="1046588"/>
          </a:xfrm>
          <a:prstGeom prst="line">
            <a:avLst/>
          </a:prstGeom>
          <a:ln w="17780">
            <a:solidFill>
              <a:srgbClr val="7C8B9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7" name="Rectangle 36"/>
          <p:cNvSpPr/>
          <p:nvPr/>
        </p:nvSpPr>
        <p:spPr>
          <a:xfrm>
            <a:off x="6864350" y="2207232"/>
            <a:ext cx="438150" cy="1046588"/>
          </a:xfrm>
          <a:prstGeom prst="rect">
            <a:avLst/>
          </a:prstGeom>
          <a:solidFill>
            <a:srgbClr val="C9D9E8"/>
          </a:solidFill>
          <a:ln w="15875">
            <a:solidFill>
              <a:srgbClr val="7C8B9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6499225" y="2054832"/>
            <a:ext cx="11684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6499225" y="3566301"/>
            <a:ext cx="1168400" cy="2857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Fragrance &amp; Deodorizi…</a:t>
            </a:r>
          </a:p>
        </p:txBody>
      </p:sp>
      <p:sp>
        <p:nvSpPr>
          <p:cNvPr id="40" name="Rounded Rectangle 39"/>
          <p:cNvSpPr/>
          <p:nvPr/>
        </p:nvSpPr>
        <p:spPr>
          <a:xfrm>
            <a:off x="142875" y="3991741"/>
            <a:ext cx="7696200" cy="2564645"/>
          </a:xfrm>
          <a:prstGeom prst="roundRect">
            <a:avLst>
              <a:gd name="adj" fmla="val 297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TextBox 40"/>
          <p:cNvSpPr txBox="1"/>
          <p:nvPr/>
        </p:nvSpPr>
        <p:spPr>
          <a:xfrm>
            <a:off x="238125" y="4048891"/>
            <a:ext cx="7505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Price Variation by Region</a:t>
            </a:r>
          </a:p>
        </p:txBody>
      </p:sp>
      <p:cxnSp>
        <p:nvCxnSpPr>
          <p:cNvPr id="42" name="Connector 41"/>
          <p:cNvCxnSpPr/>
          <p:nvPr/>
        </p:nvCxnSpPr>
        <p:spPr>
          <a:xfrm>
            <a:off x="619125" y="4529195"/>
            <a:ext cx="70485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" name="Connector 42"/>
          <p:cNvCxnSpPr/>
          <p:nvPr/>
        </p:nvCxnSpPr>
        <p:spPr>
          <a:xfrm>
            <a:off x="619125" y="4915916"/>
            <a:ext cx="70485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" name="Connector 43"/>
          <p:cNvCxnSpPr/>
          <p:nvPr/>
        </p:nvCxnSpPr>
        <p:spPr>
          <a:xfrm>
            <a:off x="619125" y="5302638"/>
            <a:ext cx="70485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5" name="Connector 44"/>
          <p:cNvCxnSpPr/>
          <p:nvPr/>
        </p:nvCxnSpPr>
        <p:spPr>
          <a:xfrm>
            <a:off x="619125" y="5689359"/>
            <a:ext cx="70485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6" name="Connector 45"/>
          <p:cNvCxnSpPr/>
          <p:nvPr/>
        </p:nvCxnSpPr>
        <p:spPr>
          <a:xfrm>
            <a:off x="619125" y="6076081"/>
            <a:ext cx="70485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7" name="Connector 46"/>
          <p:cNvCxnSpPr/>
          <p:nvPr/>
        </p:nvCxnSpPr>
        <p:spPr>
          <a:xfrm>
            <a:off x="619125" y="4529195"/>
            <a:ext cx="0" cy="1546886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8" name="Connector 47"/>
          <p:cNvCxnSpPr/>
          <p:nvPr/>
        </p:nvCxnSpPr>
        <p:spPr>
          <a:xfrm>
            <a:off x="590550" y="4529195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9" name="Connector 48"/>
          <p:cNvCxnSpPr/>
          <p:nvPr/>
        </p:nvCxnSpPr>
        <p:spPr>
          <a:xfrm>
            <a:off x="590550" y="4915916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0" name="Connector 49"/>
          <p:cNvCxnSpPr/>
          <p:nvPr/>
        </p:nvCxnSpPr>
        <p:spPr>
          <a:xfrm>
            <a:off x="590550" y="5302638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1" name="Connector 50"/>
          <p:cNvCxnSpPr/>
          <p:nvPr/>
        </p:nvCxnSpPr>
        <p:spPr>
          <a:xfrm>
            <a:off x="590550" y="5689359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2" name="Connector 51"/>
          <p:cNvCxnSpPr/>
          <p:nvPr/>
        </p:nvCxnSpPr>
        <p:spPr>
          <a:xfrm>
            <a:off x="590550" y="6076081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3" name="FMI Scale tick"/>
          <p:cNvSpPr txBox="1"/>
          <p:nvPr/>
        </p:nvSpPr>
        <p:spPr>
          <a:xfrm>
            <a:off x="138112" y="4462520"/>
            <a:ext cx="442912" cy="1333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+6.3%</a:t>
            </a:r>
          </a:p>
        </p:txBody>
      </p:sp>
      <p:sp>
        <p:nvSpPr>
          <p:cNvPr id="54" name="FMI Scale tick"/>
          <p:cNvSpPr txBox="1"/>
          <p:nvPr/>
        </p:nvSpPr>
        <p:spPr>
          <a:xfrm>
            <a:off x="138112" y="4849241"/>
            <a:ext cx="442912" cy="1333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+3.1%</a:t>
            </a:r>
          </a:p>
        </p:txBody>
      </p:sp>
      <p:sp>
        <p:nvSpPr>
          <p:cNvPr id="55" name="FMI Scale tick"/>
          <p:cNvSpPr txBox="1"/>
          <p:nvPr/>
        </p:nvSpPr>
        <p:spPr>
          <a:xfrm>
            <a:off x="219075" y="5235963"/>
            <a:ext cx="361950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0%</a:t>
            </a:r>
          </a:p>
        </p:txBody>
      </p:sp>
      <p:sp>
        <p:nvSpPr>
          <p:cNvPr id="56" name="FMI Scale tick"/>
          <p:cNvSpPr txBox="1"/>
          <p:nvPr/>
        </p:nvSpPr>
        <p:spPr>
          <a:xfrm>
            <a:off x="164306" y="5622684"/>
            <a:ext cx="416719" cy="1333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-3.1%</a:t>
            </a:r>
          </a:p>
        </p:txBody>
      </p:sp>
      <p:sp>
        <p:nvSpPr>
          <p:cNvPr id="57" name="FMI Scale tick"/>
          <p:cNvSpPr txBox="1"/>
          <p:nvPr/>
        </p:nvSpPr>
        <p:spPr>
          <a:xfrm>
            <a:off x="164306" y="6009406"/>
            <a:ext cx="416719" cy="1333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-6.3%</a:t>
            </a:r>
          </a:p>
        </p:txBody>
      </p:sp>
      <p:cxnSp>
        <p:nvCxnSpPr>
          <p:cNvPr id="58" name="Connector 57"/>
          <p:cNvCxnSpPr/>
          <p:nvPr/>
        </p:nvCxnSpPr>
        <p:spPr>
          <a:xfrm>
            <a:off x="619125" y="5302638"/>
            <a:ext cx="7048500" cy="0"/>
          </a:xfrm>
          <a:prstGeom prst="line">
            <a:avLst/>
          </a:prstGeom>
          <a:ln w="13970">
            <a:solidFill>
              <a:srgbClr val="6C7A89"/>
            </a:solidFill>
            <a:prstDash val="dash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9" name="Rectangle 58"/>
          <p:cNvSpPr/>
          <p:nvPr/>
        </p:nvSpPr>
        <p:spPr>
          <a:xfrm>
            <a:off x="3914775" y="4627936"/>
            <a:ext cx="457200" cy="674702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FMI Data Label"/>
          <p:cNvSpPr txBox="1"/>
          <p:nvPr/>
        </p:nvSpPr>
        <p:spPr>
          <a:xfrm>
            <a:off x="619125" y="4485061"/>
            <a:ext cx="70485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619125" y="6242060"/>
            <a:ext cx="7048500" cy="2476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Europe</a:t>
            </a:r>
          </a:p>
        </p:txBody>
      </p:sp>
      <p:sp>
        <p:nvSpPr>
          <p:cNvPr id="62" name="Rounded Rectangle 61"/>
          <p:cNvSpPr/>
          <p:nvPr/>
        </p:nvSpPr>
        <p:spPr>
          <a:xfrm>
            <a:off x="7915275" y="1317574"/>
            <a:ext cx="4133850" cy="5238811"/>
          </a:xfrm>
          <a:prstGeom prst="roundRect">
            <a:avLst>
              <a:gd name="adj" fmla="val 184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TextBox 62"/>
          <p:cNvSpPr txBox="1"/>
          <p:nvPr/>
        </p:nvSpPr>
        <p:spPr>
          <a:xfrm>
            <a:off x="8048625" y="1403299"/>
            <a:ext cx="38671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Takeaways</a:t>
            </a:r>
          </a:p>
        </p:txBody>
      </p:sp>
      <p:sp>
        <p:nvSpPr>
          <p:cNvPr id="64" name="Rectangle 63"/>
          <p:cNvSpPr/>
          <p:nvPr/>
        </p:nvSpPr>
        <p:spPr>
          <a:xfrm>
            <a:off x="8048625" y="1641424"/>
            <a:ext cx="38671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TextBox 64"/>
          <p:cNvSpPr txBox="1"/>
          <p:nvPr/>
        </p:nvSpPr>
        <p:spPr>
          <a:xfrm>
            <a:off x="8048625" y="1727149"/>
            <a:ext cx="3867150" cy="4753036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67" name="Picture 6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7075" y="2177509"/>
            <a:ext cx="128699" cy="187198"/>
          </a:xfrm>
          <a:prstGeom prst="rect">
            <a:avLst/>
          </a:prstGeom>
        </p:spPr>
      </p:pic>
      <p:pic>
        <p:nvPicPr>
          <p:cNvPr id="68" name="Picture 6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345475" y="1987394"/>
            <a:ext cx="128699" cy="187198"/>
          </a:xfrm>
          <a:prstGeom prst="rect">
            <a:avLst/>
          </a:prstGeom>
        </p:spPr>
      </p:pic>
      <p:pic>
        <p:nvPicPr>
          <p:cNvPr id="69" name="Picture 6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13875" y="2110348"/>
            <a:ext cx="128699" cy="187198"/>
          </a:xfrm>
          <a:prstGeom prst="rect">
            <a:avLst/>
          </a:prstGeom>
        </p:spPr>
      </p:pic>
      <p:pic>
        <p:nvPicPr>
          <p:cNvPr id="70" name="Picture 6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82275" y="1748312"/>
            <a:ext cx="128699" cy="187198"/>
          </a:xfrm>
          <a:prstGeom prst="rect">
            <a:avLst/>
          </a:prstGeom>
        </p:spPr>
      </p:pic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850675" y="2069918"/>
            <a:ext cx="128699" cy="187198"/>
          </a:xfrm>
          <a:prstGeom prst="rect">
            <a:avLst/>
          </a:prstGeom>
        </p:spPr>
      </p:pic>
      <p:pic>
        <p:nvPicPr>
          <p:cNvPr id="72" name="Picture 7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19075" y="2027908"/>
            <a:ext cx="128699" cy="187198"/>
          </a:xfrm>
          <a:prstGeom prst="rect">
            <a:avLst/>
          </a:prstGeom>
        </p:spPr>
      </p:pic>
      <p:pic>
        <p:nvPicPr>
          <p:cNvPr id="73" name="Picture 7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079025" y="4458137"/>
            <a:ext cx="128699" cy="187198"/>
          </a:xfrm>
          <a:prstGeom prst="rect">
            <a:avLst/>
          </a:prstGeom>
        </p:spPr>
      </p:pic>
      <p:sp>
        <p:nvSpPr>
          <p:cNvPr id="74" name="TextBox 73"/>
          <p:cNvSpPr txBox="1"/>
          <p:nvPr/>
        </p:nvSpPr>
        <p:spPr>
          <a:xfrm>
            <a:off x="8048625" y="1736673"/>
            <a:ext cx="372031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The chart shows Europe average pricing of key product type</a:t>
            </a:r>
          </a:p>
        </p:txBody>
      </p:sp>
      <p:sp>
        <p:nvSpPr>
          <p:cNvPr id="75" name="TextBox 74"/>
          <p:cNvSpPr txBox="1"/>
          <p:nvPr/>
        </p:nvSpPr>
        <p:spPr>
          <a:xfrm>
            <a:off x="8048625" y="1911934"/>
            <a:ext cx="38481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types in USD, harmonised across regions. Each candlestick spans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8048625" y="2087194"/>
            <a:ext cx="38481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the minimum-to-maximum observed price within the base year,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8048625" y="2262454"/>
            <a:ext cx="34062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giving a clear read of price range and market dispersion.</a:t>
            </a:r>
          </a:p>
        </p:txBody>
      </p:sp>
      <p:sp>
        <p:nvSpPr>
          <p:cNvPr id="78" name="TextBox 77"/>
          <p:cNvSpPr txBox="1"/>
          <p:nvPr/>
        </p:nvSpPr>
        <p:spPr>
          <a:xfrm>
            <a:off x="8048625" y="2490292"/>
            <a:ext cx="379305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Wider bodies mark a larger gap between opening and closing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8048625" y="2665551"/>
            <a:ext cx="38364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price levels 'Fragrance &amp; Deodorizing Products' shows the most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8048625" y="2840811"/>
            <a:ext cx="87376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movement (+</a:t>
            </a:r>
          </a:p>
        </p:txBody>
      </p:sp>
      <p:pic>
        <p:nvPicPr>
          <p:cNvPr id="81" name="Picture 8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871548" y="2830588"/>
            <a:ext cx="134549" cy="195707"/>
          </a:xfrm>
          <a:prstGeom prst="rect">
            <a:avLst/>
          </a:prstGeom>
        </p:spPr>
      </p:pic>
      <p:sp>
        <p:nvSpPr>
          <p:cNvPr id="82" name="TextBox 81"/>
          <p:cNvSpPr txBox="1"/>
          <p:nvPr/>
        </p:nvSpPr>
        <p:spPr>
          <a:xfrm>
            <a:off x="9046658" y="2840811"/>
            <a:ext cx="26152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 and 'Shampoos &amp; Cleansing Products' the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8048625" y="3016071"/>
            <a:ext cx="50864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least (+</a:t>
            </a:r>
          </a:p>
        </p:txBody>
      </p:sp>
      <p:pic>
        <p:nvPicPr>
          <p:cNvPr id="84" name="Picture 8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506423" y="3005848"/>
            <a:ext cx="134549" cy="195707"/>
          </a:xfrm>
          <a:prstGeom prst="rect">
            <a:avLst/>
          </a:prstGeom>
        </p:spPr>
      </p:pic>
      <p:sp>
        <p:nvSpPr>
          <p:cNvPr id="85" name="TextBox 84"/>
          <p:cNvSpPr txBox="1"/>
          <p:nvPr/>
        </p:nvSpPr>
        <p:spPr>
          <a:xfrm>
            <a:off x="8681533" y="3016071"/>
            <a:ext cx="283916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 variability stakeholders should monitor when</a:t>
            </a:r>
          </a:p>
        </p:txBody>
      </p:sp>
      <p:sp>
        <p:nvSpPr>
          <p:cNvPr id="86" name="TextBox 85"/>
          <p:cNvSpPr txBox="1"/>
          <p:nvPr/>
        </p:nvSpPr>
        <p:spPr>
          <a:xfrm>
            <a:off x="8048625" y="3191331"/>
            <a:ext cx="203817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planning procurement or pricing.</a:t>
            </a:r>
          </a:p>
        </p:txBody>
      </p:sp>
      <p:sp>
        <p:nvSpPr>
          <p:cNvPr id="87" name="TextBox 86"/>
          <p:cNvSpPr txBox="1"/>
          <p:nvPr/>
        </p:nvSpPr>
        <p:spPr>
          <a:xfrm>
            <a:off x="8048625" y="3419169"/>
            <a:ext cx="380817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The lower chart indexes regional price movement to the base</a:t>
            </a:r>
          </a:p>
        </p:txBody>
      </p:sp>
      <p:sp>
        <p:nvSpPr>
          <p:cNvPr id="88" name="TextBox 87"/>
          <p:cNvSpPr txBox="1"/>
          <p:nvPr/>
        </p:nvSpPr>
        <p:spPr>
          <a:xfrm>
            <a:off x="8048625" y="3594429"/>
            <a:ext cx="340710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year, applied consistently across the horizon to strip out</a:t>
            </a:r>
          </a:p>
        </p:txBody>
      </p:sp>
      <p:sp>
        <p:nvSpPr>
          <p:cNvPr id="89" name="TextBox 88"/>
          <p:cNvSpPr txBox="1"/>
          <p:nvPr/>
        </p:nvSpPr>
        <p:spPr>
          <a:xfrm>
            <a:off x="8048625" y="3769689"/>
            <a:ext cx="36932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year-on-year inflationary volatility and reveal structural price</a:t>
            </a:r>
          </a:p>
        </p:txBody>
      </p:sp>
      <p:sp>
        <p:nvSpPr>
          <p:cNvPr id="90" name="TextBox 89"/>
          <p:cNvSpPr txBox="1"/>
          <p:nvPr/>
        </p:nvSpPr>
        <p:spPr>
          <a:xfrm>
            <a:off x="8048625" y="3944949"/>
            <a:ext cx="43105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shifts.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8048625" y="4172787"/>
            <a:ext cx="211462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Regional indices diverge by up to</a:t>
            </a:r>
          </a:p>
        </p:txBody>
      </p:sp>
      <p:pic>
        <p:nvPicPr>
          <p:cNvPr id="92" name="Picture 9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112403" y="4162564"/>
            <a:ext cx="134549" cy="195707"/>
          </a:xfrm>
          <a:prstGeom prst="rect">
            <a:avLst/>
          </a:prstGeom>
        </p:spPr>
      </p:pic>
      <p:sp>
        <p:nvSpPr>
          <p:cNvPr id="93" name="TextBox 92"/>
          <p:cNvSpPr txBox="1"/>
          <p:nvPr/>
        </p:nvSpPr>
        <p:spPr>
          <a:xfrm>
            <a:off x="10287512" y="4172787"/>
            <a:ext cx="15563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between 2026 and 2036:</a:t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8048625" y="4348047"/>
            <a:ext cx="336688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developed regions start higher and grow steadily, while</a:t>
            </a:r>
          </a:p>
        </p:txBody>
      </p:sp>
      <p:sp>
        <p:nvSpPr>
          <p:cNvPr id="95" name="TextBox 94"/>
          <p:cNvSpPr txBox="1"/>
          <p:nvPr/>
        </p:nvSpPr>
        <p:spPr>
          <a:xfrm>
            <a:off x="8048625" y="4523307"/>
            <a:ext cx="381017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emerging regions start lower and converge, reflecting catch-up</a:t>
            </a:r>
          </a:p>
        </p:txBody>
      </p:sp>
      <p:sp>
        <p:nvSpPr>
          <p:cNvPr id="96" name="TextBox 95"/>
          <p:cNvSpPr txBox="1"/>
          <p:nvPr/>
        </p:nvSpPr>
        <p:spPr>
          <a:xfrm>
            <a:off x="8048625" y="4698567"/>
            <a:ext cx="54002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growth.</a:t>
            </a:r>
          </a:p>
        </p:txBody>
      </p:sp>
    </p:spTree>
  </p:cSld>
  <p:clrMapOvr>
    <a:masterClrMapping/>
  </p:clrMapOvr>
</p:sld>
</file>

<file path=ppt/slides/slide20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Europe Pricing Assessment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Assessment of pricing pattern, price range and average price by product for each country of the Europe market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42875" y="952500"/>
            <a:ext cx="642937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1">
                <a:solidFill>
                  <a:srgbClr val="0B2E4A"/>
                </a:solidFill>
                <a:latin typeface="Calibri"/>
              </a:rPr>
              <a:t>Europe Price Point Assessment (US$/MT)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6715125" y="952500"/>
            <a:ext cx="5334000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Average Pricing by Product Type (US$/MT)</a:t>
            </a:r>
          </a:p>
        </p:txBody>
      </p:sp>
      <p:sp>
        <p:nvSpPr>
          <p:cNvPr id="12" name="Oval 11"/>
          <p:cNvSpPr/>
          <p:nvPr/>
        </p:nvSpPr>
        <p:spPr>
          <a:xfrm>
            <a:off x="147638" y="1194361"/>
            <a:ext cx="104775" cy="100395"/>
          </a:xfrm>
          <a:prstGeom prst="ellipse">
            <a:avLst/>
          </a:prstGeom>
          <a:solidFill>
            <a:srgbClr val="C55A11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85750" y="1153291"/>
            <a:ext cx="1544723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Shampoos &amp; Cleansin…</a:t>
            </a:r>
          </a:p>
        </p:txBody>
      </p:sp>
      <p:sp>
        <p:nvSpPr>
          <p:cNvPr id="14" name="Oval 13"/>
          <p:cNvSpPr/>
          <p:nvPr/>
        </p:nvSpPr>
        <p:spPr>
          <a:xfrm>
            <a:off x="2006686" y="1194361"/>
            <a:ext cx="104775" cy="100395"/>
          </a:xfrm>
          <a:prstGeom prst="ellipse">
            <a:avLst/>
          </a:prstGeom>
          <a:solidFill>
            <a:srgbClr val="0B2E4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2144798" y="1153291"/>
            <a:ext cx="1468399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Coat Conditioning &amp;…</a:t>
            </a:r>
          </a:p>
        </p:txBody>
      </p:sp>
      <p:sp>
        <p:nvSpPr>
          <p:cNvPr id="16" name="Oval 15"/>
          <p:cNvSpPr/>
          <p:nvPr/>
        </p:nvSpPr>
        <p:spPr>
          <a:xfrm>
            <a:off x="3789410" y="1194361"/>
            <a:ext cx="104775" cy="100395"/>
          </a:xfrm>
          <a:prstGeom prst="ellipse">
            <a:avLst/>
          </a:prstGeom>
          <a:solidFill>
            <a:srgbClr val="6F3CC2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3927522" y="1153291"/>
            <a:ext cx="1471242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Skin, Paw &amp; Nose Ca…</a:t>
            </a:r>
          </a:p>
        </p:txBody>
      </p:sp>
      <p:sp>
        <p:nvSpPr>
          <p:cNvPr id="18" name="Rectangle 17"/>
          <p:cNvSpPr/>
          <p:nvPr/>
        </p:nvSpPr>
        <p:spPr>
          <a:xfrm>
            <a:off x="5570214" y="1189798"/>
            <a:ext cx="209550" cy="109522"/>
          </a:xfrm>
          <a:prstGeom prst="rect">
            <a:avLst/>
          </a:prstGeom>
          <a:solidFill>
            <a:srgbClr val="C9DCEE"/>
          </a:solidFill>
          <a:ln w="9525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5817864" y="1153291"/>
            <a:ext cx="1143000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Price Range</a:t>
            </a:r>
          </a:p>
        </p:txBody>
      </p:sp>
      <p:sp>
        <p:nvSpPr>
          <p:cNvPr id="20" name="Rectangle 19"/>
          <p:cNvSpPr/>
          <p:nvPr/>
        </p:nvSpPr>
        <p:spPr>
          <a:xfrm>
            <a:off x="142875" y="1390589"/>
            <a:ext cx="11906250" cy="1204744"/>
          </a:xfrm>
          <a:prstGeom prst="rect">
            <a:avLst/>
          </a:prstGeom>
          <a:solidFill>
            <a:srgbClr val="F5F7F9"/>
          </a:solidFill>
          <a:ln w="9525">
            <a:solidFill>
              <a:srgbClr val="EDF1F4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200025" y="1408842"/>
            <a:ext cx="3143250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Europe Pricing Pattern</a:t>
            </a:r>
          </a:p>
        </p:txBody>
      </p:sp>
      <p:cxnSp>
        <p:nvCxnSpPr>
          <p:cNvPr id="22" name="Connector 21"/>
          <p:cNvCxnSpPr/>
          <p:nvPr/>
        </p:nvCxnSpPr>
        <p:spPr>
          <a:xfrm>
            <a:off x="581025" y="2346705"/>
            <a:ext cx="2181225" cy="0"/>
          </a:xfrm>
          <a:prstGeom prst="line">
            <a:avLst/>
          </a:prstGeom>
          <a:ln w="10160">
            <a:solidFill>
              <a:srgbClr val="C9D2D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3" name="TextBox 22"/>
          <p:cNvSpPr txBox="1"/>
          <p:nvPr/>
        </p:nvSpPr>
        <p:spPr>
          <a:xfrm>
            <a:off x="133350" y="1618760"/>
            <a:ext cx="41910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133350" y="2312400"/>
            <a:ext cx="41910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25" name="Freeform 24"/>
          <p:cNvSpPr/>
          <p:nvPr/>
        </p:nvSpPr>
        <p:spPr>
          <a:xfrm>
            <a:off x="581025" y="1792170"/>
            <a:ext cx="2181225" cy="556738"/>
          </a:xfrm>
          <a:custGeom>
            <a:avLst/>
            <a:gdLst/>
            <a:ahLst/>
            <a:cxnLst/>
            <a:rect l="l" t="t" r="r" b="b"/>
            <a:pathLst>
              <a:path w="229" h="61">
                <a:moveTo>
                  <a:pt x="0" y="61"/>
                </a:moveTo>
                <a:lnTo>
                  <a:pt x="46" y="49"/>
                </a:lnTo>
                <a:lnTo>
                  <a:pt x="92" y="36"/>
                </a:lnTo>
                <a:lnTo>
                  <a:pt x="137" y="24"/>
                </a:lnTo>
                <a:lnTo>
                  <a:pt x="183" y="12"/>
                </a:lnTo>
                <a:lnTo>
                  <a:pt x="229" y="0"/>
                </a:lnTo>
              </a:path>
            </a:pathLst>
          </a:custGeom>
          <a:noFill/>
          <a:ln w="20320">
            <a:solidFill>
              <a:srgbClr val="C55A1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Freeform 25"/>
          <p:cNvSpPr/>
          <p:nvPr/>
        </p:nvSpPr>
        <p:spPr>
          <a:xfrm>
            <a:off x="581025" y="1746536"/>
            <a:ext cx="2181225" cy="602372"/>
          </a:xfrm>
          <a:custGeom>
            <a:avLst/>
            <a:gdLst/>
            <a:ahLst/>
            <a:cxnLst/>
            <a:rect l="l" t="t" r="r" b="b"/>
            <a:pathLst>
              <a:path w="229" h="66">
                <a:moveTo>
                  <a:pt x="0" y="66"/>
                </a:moveTo>
                <a:lnTo>
                  <a:pt x="46" y="53"/>
                </a:lnTo>
                <a:lnTo>
                  <a:pt x="92" y="39"/>
                </a:lnTo>
                <a:lnTo>
                  <a:pt x="137" y="26"/>
                </a:lnTo>
                <a:lnTo>
                  <a:pt x="183" y="14"/>
                </a:lnTo>
                <a:lnTo>
                  <a:pt x="229" y="0"/>
                </a:lnTo>
              </a:path>
            </a:pathLst>
          </a:custGeom>
          <a:noFill/>
          <a:ln w="2032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Freeform 26"/>
          <p:cNvSpPr/>
          <p:nvPr/>
        </p:nvSpPr>
        <p:spPr>
          <a:xfrm>
            <a:off x="581025" y="1764790"/>
            <a:ext cx="2181225" cy="584118"/>
          </a:xfrm>
          <a:custGeom>
            <a:avLst/>
            <a:gdLst/>
            <a:ahLst/>
            <a:cxnLst/>
            <a:rect l="l" t="t" r="r" b="b"/>
            <a:pathLst>
              <a:path w="229" h="64">
                <a:moveTo>
                  <a:pt x="0" y="64"/>
                </a:moveTo>
                <a:lnTo>
                  <a:pt x="46" y="51"/>
                </a:lnTo>
                <a:lnTo>
                  <a:pt x="92" y="38"/>
                </a:lnTo>
                <a:lnTo>
                  <a:pt x="137" y="26"/>
                </a:lnTo>
                <a:lnTo>
                  <a:pt x="183" y="13"/>
                </a:lnTo>
                <a:lnTo>
                  <a:pt x="229" y="0"/>
                </a:lnTo>
              </a:path>
            </a:pathLst>
          </a:custGeom>
          <a:noFill/>
          <a:ln w="20320">
            <a:solidFill>
              <a:srgbClr val="6F3CC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371475" y="2412796"/>
            <a:ext cx="45720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2021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514600" y="2412796"/>
            <a:ext cx="45720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cxnSp>
        <p:nvCxnSpPr>
          <p:cNvPr id="30" name="Connector 29"/>
          <p:cNvCxnSpPr/>
          <p:nvPr/>
        </p:nvCxnSpPr>
        <p:spPr>
          <a:xfrm>
            <a:off x="3314700" y="2151403"/>
            <a:ext cx="3257550" cy="0"/>
          </a:xfrm>
          <a:prstGeom prst="line">
            <a:avLst/>
          </a:prstGeom>
          <a:ln w="12700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1" name="TextBox 30"/>
          <p:cNvSpPr txBox="1"/>
          <p:nvPr/>
        </p:nvSpPr>
        <p:spPr>
          <a:xfrm>
            <a:off x="3143250" y="2069261"/>
            <a:ext cx="1333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2E2E2E"/>
                </a:solidFill>
                <a:latin typeface="Calibri"/>
              </a:rPr>
              <a:t>A</a:t>
            </a:r>
          </a:p>
        </p:txBody>
      </p:sp>
      <p:cxnSp>
        <p:nvCxnSpPr>
          <p:cNvPr id="32" name="Connector 31"/>
          <p:cNvCxnSpPr/>
          <p:nvPr/>
        </p:nvCxnSpPr>
        <p:spPr>
          <a:xfrm>
            <a:off x="3314700" y="2114895"/>
            <a:ext cx="0" cy="73015"/>
          </a:xfrm>
          <a:prstGeom prst="line">
            <a:avLst/>
          </a:prstGeom>
          <a:ln w="10160">
            <a:solidFill>
              <a:srgbClr val="6B6B6B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3" name="TextBox 32"/>
          <p:cNvSpPr txBox="1"/>
          <p:nvPr/>
        </p:nvSpPr>
        <p:spPr>
          <a:xfrm>
            <a:off x="3009900" y="1877597"/>
            <a:ext cx="60960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18,515</a:t>
            </a:r>
          </a:p>
        </p:txBody>
      </p:sp>
      <p:cxnSp>
        <p:nvCxnSpPr>
          <p:cNvPr id="34" name="Connector 33"/>
          <p:cNvCxnSpPr/>
          <p:nvPr/>
        </p:nvCxnSpPr>
        <p:spPr>
          <a:xfrm>
            <a:off x="3966210" y="2114895"/>
            <a:ext cx="0" cy="73015"/>
          </a:xfrm>
          <a:prstGeom prst="line">
            <a:avLst/>
          </a:prstGeom>
          <a:ln w="10160">
            <a:solidFill>
              <a:srgbClr val="6B6B6B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5" name="TextBox 34"/>
          <p:cNvSpPr txBox="1"/>
          <p:nvPr/>
        </p:nvSpPr>
        <p:spPr>
          <a:xfrm>
            <a:off x="3661410" y="1877597"/>
            <a:ext cx="60960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18,572</a:t>
            </a:r>
          </a:p>
        </p:txBody>
      </p:sp>
      <p:cxnSp>
        <p:nvCxnSpPr>
          <p:cNvPr id="36" name="Connector 35"/>
          <p:cNvCxnSpPr/>
          <p:nvPr/>
        </p:nvCxnSpPr>
        <p:spPr>
          <a:xfrm>
            <a:off x="4617720" y="2114895"/>
            <a:ext cx="0" cy="73015"/>
          </a:xfrm>
          <a:prstGeom prst="line">
            <a:avLst/>
          </a:prstGeom>
          <a:ln w="10160">
            <a:solidFill>
              <a:srgbClr val="6B6B6B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7" name="TextBox 36"/>
          <p:cNvSpPr txBox="1"/>
          <p:nvPr/>
        </p:nvSpPr>
        <p:spPr>
          <a:xfrm>
            <a:off x="4312920" y="1877597"/>
            <a:ext cx="60960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18,629</a:t>
            </a:r>
          </a:p>
        </p:txBody>
      </p:sp>
      <p:cxnSp>
        <p:nvCxnSpPr>
          <p:cNvPr id="38" name="Connector 37"/>
          <p:cNvCxnSpPr/>
          <p:nvPr/>
        </p:nvCxnSpPr>
        <p:spPr>
          <a:xfrm>
            <a:off x="5269230" y="2114895"/>
            <a:ext cx="0" cy="73015"/>
          </a:xfrm>
          <a:prstGeom prst="line">
            <a:avLst/>
          </a:prstGeom>
          <a:ln w="10160">
            <a:solidFill>
              <a:srgbClr val="6B6B6B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9" name="TextBox 38"/>
          <p:cNvSpPr txBox="1"/>
          <p:nvPr/>
        </p:nvSpPr>
        <p:spPr>
          <a:xfrm>
            <a:off x="4964430" y="1877597"/>
            <a:ext cx="60960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18,686</a:t>
            </a:r>
          </a:p>
        </p:txBody>
      </p:sp>
      <p:cxnSp>
        <p:nvCxnSpPr>
          <p:cNvPr id="40" name="Connector 39"/>
          <p:cNvCxnSpPr/>
          <p:nvPr/>
        </p:nvCxnSpPr>
        <p:spPr>
          <a:xfrm>
            <a:off x="5920740" y="2114895"/>
            <a:ext cx="0" cy="73015"/>
          </a:xfrm>
          <a:prstGeom prst="line">
            <a:avLst/>
          </a:prstGeom>
          <a:ln w="10160">
            <a:solidFill>
              <a:srgbClr val="6B6B6B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1" name="TextBox 40"/>
          <p:cNvSpPr txBox="1"/>
          <p:nvPr/>
        </p:nvSpPr>
        <p:spPr>
          <a:xfrm>
            <a:off x="5615940" y="1877597"/>
            <a:ext cx="60960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18,743</a:t>
            </a:r>
          </a:p>
        </p:txBody>
      </p:sp>
      <p:cxnSp>
        <p:nvCxnSpPr>
          <p:cNvPr id="42" name="Connector 41"/>
          <p:cNvCxnSpPr/>
          <p:nvPr/>
        </p:nvCxnSpPr>
        <p:spPr>
          <a:xfrm>
            <a:off x="6572250" y="2114895"/>
            <a:ext cx="0" cy="73015"/>
          </a:xfrm>
          <a:prstGeom prst="line">
            <a:avLst/>
          </a:prstGeom>
          <a:ln w="10160">
            <a:solidFill>
              <a:srgbClr val="6B6B6B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3" name="TextBox 42"/>
          <p:cNvSpPr txBox="1"/>
          <p:nvPr/>
        </p:nvSpPr>
        <p:spPr>
          <a:xfrm>
            <a:off x="6267450" y="1877597"/>
            <a:ext cx="60960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18,800</a:t>
            </a:r>
          </a:p>
        </p:txBody>
      </p:sp>
      <p:sp>
        <p:nvSpPr>
          <p:cNvPr id="44" name="Rectangle 43"/>
          <p:cNvSpPr/>
          <p:nvPr/>
        </p:nvSpPr>
        <p:spPr>
          <a:xfrm>
            <a:off x="3670995" y="2078388"/>
            <a:ext cx="2544961" cy="146030"/>
          </a:xfrm>
          <a:prstGeom prst="rect">
            <a:avLst/>
          </a:prstGeom>
          <a:solidFill>
            <a:srgbClr val="C9DCEE"/>
          </a:solidFill>
          <a:ln w="9525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Oval 44"/>
          <p:cNvSpPr/>
          <p:nvPr/>
        </p:nvSpPr>
        <p:spPr>
          <a:xfrm>
            <a:off x="3613845" y="2096642"/>
            <a:ext cx="114300" cy="109522"/>
          </a:xfrm>
          <a:prstGeom prst="ellipse">
            <a:avLst/>
          </a:prstGeom>
          <a:solidFill>
            <a:srgbClr val="C55A11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Oval 45"/>
          <p:cNvSpPr/>
          <p:nvPr/>
        </p:nvSpPr>
        <p:spPr>
          <a:xfrm>
            <a:off x="6158805" y="2096642"/>
            <a:ext cx="114300" cy="109522"/>
          </a:xfrm>
          <a:prstGeom prst="ellipse">
            <a:avLst/>
          </a:prstGeom>
          <a:solidFill>
            <a:srgbClr val="0B2E4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Oval 46"/>
          <p:cNvSpPr/>
          <p:nvPr/>
        </p:nvSpPr>
        <p:spPr>
          <a:xfrm>
            <a:off x="4469268" y="2096642"/>
            <a:ext cx="114300" cy="109522"/>
          </a:xfrm>
          <a:prstGeom prst="ellipse">
            <a:avLst/>
          </a:prstGeom>
          <a:solidFill>
            <a:srgbClr val="6F3CC2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715125" y="1609633"/>
            <a:ext cx="2171700" cy="1934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E-commerce</a:t>
            </a:r>
          </a:p>
        </p:txBody>
      </p:sp>
      <p:sp>
        <p:nvSpPr>
          <p:cNvPr id="49" name="Oval 48"/>
          <p:cNvSpPr/>
          <p:nvPr/>
        </p:nvSpPr>
        <p:spPr>
          <a:xfrm>
            <a:off x="8972550" y="1669870"/>
            <a:ext cx="76200" cy="73015"/>
          </a:xfrm>
          <a:prstGeom prst="ellipse">
            <a:avLst/>
          </a:prstGeom>
          <a:solidFill>
            <a:srgbClr val="C55A11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9086850" y="1609633"/>
            <a:ext cx="895350" cy="1934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15,949.66</a:t>
            </a:r>
          </a:p>
        </p:txBody>
      </p:sp>
      <p:sp>
        <p:nvSpPr>
          <p:cNvPr id="51" name="Oval 50"/>
          <p:cNvSpPr/>
          <p:nvPr/>
        </p:nvSpPr>
        <p:spPr>
          <a:xfrm>
            <a:off x="10001250" y="1669870"/>
            <a:ext cx="76200" cy="73015"/>
          </a:xfrm>
          <a:prstGeom prst="ellipse">
            <a:avLst/>
          </a:prstGeom>
          <a:solidFill>
            <a:srgbClr val="0B2E4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10115550" y="1609633"/>
            <a:ext cx="895350" cy="1934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16,141.11</a:t>
            </a:r>
          </a:p>
        </p:txBody>
      </p:sp>
      <p:sp>
        <p:nvSpPr>
          <p:cNvPr id="53" name="Oval 52"/>
          <p:cNvSpPr/>
          <p:nvPr/>
        </p:nvSpPr>
        <p:spPr>
          <a:xfrm>
            <a:off x="11029950" y="1669870"/>
            <a:ext cx="76200" cy="73015"/>
          </a:xfrm>
          <a:prstGeom prst="ellipse">
            <a:avLst/>
          </a:prstGeom>
          <a:solidFill>
            <a:srgbClr val="6F3CC2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11144250" y="1609633"/>
            <a:ext cx="895350" cy="1934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16,014.01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6715125" y="1803122"/>
            <a:ext cx="2171700" cy="1934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Pet Specialty Retail</a:t>
            </a:r>
          </a:p>
        </p:txBody>
      </p:sp>
      <p:sp>
        <p:nvSpPr>
          <p:cNvPr id="56" name="Oval 55"/>
          <p:cNvSpPr/>
          <p:nvPr/>
        </p:nvSpPr>
        <p:spPr>
          <a:xfrm>
            <a:off x="8972550" y="1863360"/>
            <a:ext cx="76200" cy="73015"/>
          </a:xfrm>
          <a:prstGeom prst="ellipse">
            <a:avLst/>
          </a:prstGeom>
          <a:solidFill>
            <a:srgbClr val="C55A11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TextBox 56"/>
          <p:cNvSpPr txBox="1"/>
          <p:nvPr/>
        </p:nvSpPr>
        <p:spPr>
          <a:xfrm>
            <a:off x="9086850" y="1803122"/>
            <a:ext cx="895350" cy="1934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16,876.96</a:t>
            </a:r>
          </a:p>
        </p:txBody>
      </p:sp>
      <p:sp>
        <p:nvSpPr>
          <p:cNvPr id="58" name="Oval 57"/>
          <p:cNvSpPr/>
          <p:nvPr/>
        </p:nvSpPr>
        <p:spPr>
          <a:xfrm>
            <a:off x="10001250" y="1863360"/>
            <a:ext cx="76200" cy="73015"/>
          </a:xfrm>
          <a:prstGeom prst="ellipse">
            <a:avLst/>
          </a:prstGeom>
          <a:solidFill>
            <a:srgbClr val="0B2E4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TextBox 58"/>
          <p:cNvSpPr txBox="1"/>
          <p:nvPr/>
        </p:nvSpPr>
        <p:spPr>
          <a:xfrm>
            <a:off x="10115550" y="1803122"/>
            <a:ext cx="895350" cy="1934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17,079.55</a:t>
            </a:r>
          </a:p>
        </p:txBody>
      </p:sp>
      <p:sp>
        <p:nvSpPr>
          <p:cNvPr id="60" name="Oval 59"/>
          <p:cNvSpPr/>
          <p:nvPr/>
        </p:nvSpPr>
        <p:spPr>
          <a:xfrm>
            <a:off x="11029950" y="1863360"/>
            <a:ext cx="76200" cy="73015"/>
          </a:xfrm>
          <a:prstGeom prst="ellipse">
            <a:avLst/>
          </a:prstGeom>
          <a:solidFill>
            <a:srgbClr val="6F3CC2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TextBox 60"/>
          <p:cNvSpPr txBox="1"/>
          <p:nvPr/>
        </p:nvSpPr>
        <p:spPr>
          <a:xfrm>
            <a:off x="11144250" y="1803122"/>
            <a:ext cx="895350" cy="1934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16,945.06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6715125" y="1996612"/>
            <a:ext cx="2171700" cy="1934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Veterinary &amp; Animal He</a:t>
            </a:r>
          </a:p>
        </p:txBody>
      </p:sp>
      <p:sp>
        <p:nvSpPr>
          <p:cNvPr id="63" name="Oval 62"/>
          <p:cNvSpPr/>
          <p:nvPr/>
        </p:nvSpPr>
        <p:spPr>
          <a:xfrm>
            <a:off x="8972550" y="2056849"/>
            <a:ext cx="76200" cy="73015"/>
          </a:xfrm>
          <a:prstGeom prst="ellipse">
            <a:avLst/>
          </a:prstGeom>
          <a:solidFill>
            <a:srgbClr val="C55A11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9086850" y="1996612"/>
            <a:ext cx="895350" cy="1934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17,804.27</a:t>
            </a:r>
          </a:p>
        </p:txBody>
      </p:sp>
      <p:sp>
        <p:nvSpPr>
          <p:cNvPr id="65" name="Oval 64"/>
          <p:cNvSpPr/>
          <p:nvPr/>
        </p:nvSpPr>
        <p:spPr>
          <a:xfrm>
            <a:off x="10001250" y="2056849"/>
            <a:ext cx="76200" cy="73015"/>
          </a:xfrm>
          <a:prstGeom prst="ellipse">
            <a:avLst/>
          </a:prstGeom>
          <a:solidFill>
            <a:srgbClr val="0B2E4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10115550" y="1996612"/>
            <a:ext cx="895350" cy="1934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18,017.99</a:t>
            </a:r>
          </a:p>
        </p:txBody>
      </p:sp>
      <p:sp>
        <p:nvSpPr>
          <p:cNvPr id="67" name="Oval 66"/>
          <p:cNvSpPr/>
          <p:nvPr/>
        </p:nvSpPr>
        <p:spPr>
          <a:xfrm>
            <a:off x="11029950" y="2056849"/>
            <a:ext cx="76200" cy="73015"/>
          </a:xfrm>
          <a:prstGeom prst="ellipse">
            <a:avLst/>
          </a:prstGeom>
          <a:solidFill>
            <a:srgbClr val="6F3CC2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11144250" y="1996612"/>
            <a:ext cx="895350" cy="1934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17,876.10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6715125" y="2190101"/>
            <a:ext cx="2171700" cy="1934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General Retail</a:t>
            </a:r>
          </a:p>
        </p:txBody>
      </p:sp>
      <p:sp>
        <p:nvSpPr>
          <p:cNvPr id="70" name="Oval 69"/>
          <p:cNvSpPr/>
          <p:nvPr/>
        </p:nvSpPr>
        <p:spPr>
          <a:xfrm>
            <a:off x="8972550" y="2250338"/>
            <a:ext cx="76200" cy="73015"/>
          </a:xfrm>
          <a:prstGeom prst="ellipse">
            <a:avLst/>
          </a:prstGeom>
          <a:solidFill>
            <a:srgbClr val="C55A11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TextBox 70"/>
          <p:cNvSpPr txBox="1"/>
          <p:nvPr/>
        </p:nvSpPr>
        <p:spPr>
          <a:xfrm>
            <a:off x="9086850" y="2190101"/>
            <a:ext cx="895350" cy="1934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18,731.57</a:t>
            </a:r>
          </a:p>
        </p:txBody>
      </p:sp>
      <p:sp>
        <p:nvSpPr>
          <p:cNvPr id="72" name="Oval 71"/>
          <p:cNvSpPr/>
          <p:nvPr/>
        </p:nvSpPr>
        <p:spPr>
          <a:xfrm>
            <a:off x="10001250" y="2250338"/>
            <a:ext cx="76200" cy="73015"/>
          </a:xfrm>
          <a:prstGeom prst="ellipse">
            <a:avLst/>
          </a:prstGeom>
          <a:solidFill>
            <a:srgbClr val="0B2E4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TextBox 72"/>
          <p:cNvSpPr txBox="1"/>
          <p:nvPr/>
        </p:nvSpPr>
        <p:spPr>
          <a:xfrm>
            <a:off x="10115550" y="2190101"/>
            <a:ext cx="895350" cy="1934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18,956.42</a:t>
            </a:r>
          </a:p>
        </p:txBody>
      </p:sp>
      <p:sp>
        <p:nvSpPr>
          <p:cNvPr id="74" name="Oval 73"/>
          <p:cNvSpPr/>
          <p:nvPr/>
        </p:nvSpPr>
        <p:spPr>
          <a:xfrm>
            <a:off x="11029950" y="2250338"/>
            <a:ext cx="76200" cy="73015"/>
          </a:xfrm>
          <a:prstGeom prst="ellipse">
            <a:avLst/>
          </a:prstGeom>
          <a:solidFill>
            <a:srgbClr val="6F3CC2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TextBox 74"/>
          <p:cNvSpPr txBox="1"/>
          <p:nvPr/>
        </p:nvSpPr>
        <p:spPr>
          <a:xfrm>
            <a:off x="11144250" y="2190101"/>
            <a:ext cx="895350" cy="1934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18,807.15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6715125" y="2383590"/>
            <a:ext cx="2171700" cy="1934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Professional &amp; B2B</a:t>
            </a:r>
          </a:p>
        </p:txBody>
      </p:sp>
      <p:sp>
        <p:nvSpPr>
          <p:cNvPr id="77" name="Oval 76"/>
          <p:cNvSpPr/>
          <p:nvPr/>
        </p:nvSpPr>
        <p:spPr>
          <a:xfrm>
            <a:off x="8972550" y="2443827"/>
            <a:ext cx="76200" cy="73015"/>
          </a:xfrm>
          <a:prstGeom prst="ellipse">
            <a:avLst/>
          </a:prstGeom>
          <a:solidFill>
            <a:srgbClr val="C55A11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9086850" y="2383590"/>
            <a:ext cx="895350" cy="1934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19,658.88</a:t>
            </a:r>
          </a:p>
        </p:txBody>
      </p:sp>
      <p:sp>
        <p:nvSpPr>
          <p:cNvPr id="79" name="Oval 78"/>
          <p:cNvSpPr/>
          <p:nvPr/>
        </p:nvSpPr>
        <p:spPr>
          <a:xfrm>
            <a:off x="10001250" y="2443827"/>
            <a:ext cx="76200" cy="73015"/>
          </a:xfrm>
          <a:prstGeom prst="ellipse">
            <a:avLst/>
          </a:prstGeom>
          <a:solidFill>
            <a:srgbClr val="0B2E4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10115550" y="2383590"/>
            <a:ext cx="895350" cy="1934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19,894.86</a:t>
            </a:r>
          </a:p>
        </p:txBody>
      </p:sp>
      <p:sp>
        <p:nvSpPr>
          <p:cNvPr id="81" name="Oval 80"/>
          <p:cNvSpPr/>
          <p:nvPr/>
        </p:nvSpPr>
        <p:spPr>
          <a:xfrm>
            <a:off x="11029950" y="2443827"/>
            <a:ext cx="76200" cy="73015"/>
          </a:xfrm>
          <a:prstGeom prst="ellipse">
            <a:avLst/>
          </a:prstGeom>
          <a:solidFill>
            <a:srgbClr val="6F3CC2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11144250" y="2383590"/>
            <a:ext cx="895350" cy="1934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19,738.20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3314700" y="6465117"/>
            <a:ext cx="190500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 u="sng">
                <a:solidFill>
                  <a:srgbClr val="0B2E4A"/>
                </a:solidFill>
                <a:latin typeface="Calibri"/>
              </a:rPr>
              <a:t>Price By Product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6715125" y="6465117"/>
            <a:ext cx="209550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 u="sng">
                <a:solidFill>
                  <a:srgbClr val="0B2E4A"/>
                </a:solidFill>
                <a:latin typeface="Calibri"/>
              </a:rPr>
              <a:t>Price By Application</a:t>
            </a:r>
          </a:p>
        </p:txBody>
      </p:sp>
      <p:sp>
        <p:nvSpPr>
          <p:cNvPr id="85" name="TextBox 8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86" name="Picture 8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78550" y="1607302"/>
            <a:ext cx="128699" cy="187198"/>
          </a:xfrm>
          <a:prstGeom prst="rect">
            <a:avLst/>
          </a:prstGeom>
        </p:spPr>
      </p:pic>
      <p:pic>
        <p:nvPicPr>
          <p:cNvPr id="87" name="Picture 8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78550" y="2300942"/>
            <a:ext cx="128699" cy="187198"/>
          </a:xfrm>
          <a:prstGeom prst="rect">
            <a:avLst/>
          </a:prstGeom>
        </p:spPr>
      </p:pic>
    </p:spTree>
  </p:cSld>
  <p:clrMapOvr>
    <a:masterClrMapping/>
  </p:clrMapOvr>
</p:sld>
</file>

<file path=ppt/slides/slide20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Price Positioning &amp; Key Findings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Price positioning of each country on a common axis with FMI's key findings on where premiums and discounts sit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55552"/>
          </a:xfrm>
          <a:prstGeom prst="roundRect">
            <a:avLst>
              <a:gd name="adj" fmla="val 2981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Average selling price and price range by region on a shared price scale (US$/MT).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17574"/>
            <a:ext cx="7696200" cy="5238811"/>
          </a:xfrm>
          <a:prstGeom prst="roundRect">
            <a:avLst>
              <a:gd name="adj" fmla="val 14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374724"/>
            <a:ext cx="7505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Average Price &amp; Range by Region</a:t>
            </a:r>
          </a:p>
        </p:txBody>
      </p:sp>
      <p:cxnSp>
        <p:nvCxnSpPr>
          <p:cNvPr id="13" name="Connector 12"/>
          <p:cNvCxnSpPr/>
          <p:nvPr/>
        </p:nvCxnSpPr>
        <p:spPr>
          <a:xfrm>
            <a:off x="1362075" y="1889074"/>
            <a:ext cx="0" cy="4381561"/>
          </a:xfrm>
          <a:prstGeom prst="line">
            <a:avLst/>
          </a:prstGeom>
          <a:ln w="6350">
            <a:solidFill>
              <a:srgbClr val="E3E8E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" name="TextBox 13"/>
          <p:cNvSpPr txBox="1"/>
          <p:nvPr/>
        </p:nvSpPr>
        <p:spPr>
          <a:xfrm>
            <a:off x="1114425" y="6289685"/>
            <a:ext cx="495300" cy="11430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18,463</a:t>
            </a:r>
          </a:p>
        </p:txBody>
      </p:sp>
      <p:cxnSp>
        <p:nvCxnSpPr>
          <p:cNvPr id="15" name="Connector 14"/>
          <p:cNvCxnSpPr/>
          <p:nvPr/>
        </p:nvCxnSpPr>
        <p:spPr>
          <a:xfrm>
            <a:off x="2611755" y="1889074"/>
            <a:ext cx="0" cy="4381561"/>
          </a:xfrm>
          <a:prstGeom prst="line">
            <a:avLst/>
          </a:prstGeom>
          <a:ln w="6350">
            <a:solidFill>
              <a:srgbClr val="E3E8E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" name="TextBox 15"/>
          <p:cNvSpPr txBox="1"/>
          <p:nvPr/>
        </p:nvSpPr>
        <p:spPr>
          <a:xfrm>
            <a:off x="2364105" y="6289685"/>
            <a:ext cx="495300" cy="11430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18,615</a:t>
            </a:r>
          </a:p>
        </p:txBody>
      </p:sp>
      <p:cxnSp>
        <p:nvCxnSpPr>
          <p:cNvPr id="17" name="Connector 16"/>
          <p:cNvCxnSpPr/>
          <p:nvPr/>
        </p:nvCxnSpPr>
        <p:spPr>
          <a:xfrm>
            <a:off x="3861435" y="1889074"/>
            <a:ext cx="0" cy="4381561"/>
          </a:xfrm>
          <a:prstGeom prst="line">
            <a:avLst/>
          </a:prstGeom>
          <a:ln w="6350">
            <a:solidFill>
              <a:srgbClr val="E3E8E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TextBox 17"/>
          <p:cNvSpPr txBox="1"/>
          <p:nvPr/>
        </p:nvSpPr>
        <p:spPr>
          <a:xfrm>
            <a:off x="3613785" y="6289685"/>
            <a:ext cx="495300" cy="11430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18,768</a:t>
            </a:r>
          </a:p>
        </p:txBody>
      </p:sp>
      <p:cxnSp>
        <p:nvCxnSpPr>
          <p:cNvPr id="19" name="Connector 18"/>
          <p:cNvCxnSpPr/>
          <p:nvPr/>
        </p:nvCxnSpPr>
        <p:spPr>
          <a:xfrm>
            <a:off x="5111115" y="1889074"/>
            <a:ext cx="0" cy="4381561"/>
          </a:xfrm>
          <a:prstGeom prst="line">
            <a:avLst/>
          </a:prstGeom>
          <a:ln w="6350">
            <a:solidFill>
              <a:srgbClr val="E3E8E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" name="TextBox 19"/>
          <p:cNvSpPr txBox="1"/>
          <p:nvPr/>
        </p:nvSpPr>
        <p:spPr>
          <a:xfrm>
            <a:off x="4863465" y="6289685"/>
            <a:ext cx="495300" cy="11430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18,920</a:t>
            </a:r>
          </a:p>
        </p:txBody>
      </p:sp>
      <p:cxnSp>
        <p:nvCxnSpPr>
          <p:cNvPr id="21" name="Connector 20"/>
          <p:cNvCxnSpPr/>
          <p:nvPr/>
        </p:nvCxnSpPr>
        <p:spPr>
          <a:xfrm>
            <a:off x="6360795" y="1889074"/>
            <a:ext cx="0" cy="4381561"/>
          </a:xfrm>
          <a:prstGeom prst="line">
            <a:avLst/>
          </a:prstGeom>
          <a:ln w="6350">
            <a:solidFill>
              <a:srgbClr val="E3E8E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" name="TextBox 21"/>
          <p:cNvSpPr txBox="1"/>
          <p:nvPr/>
        </p:nvSpPr>
        <p:spPr>
          <a:xfrm>
            <a:off x="6113145" y="6289685"/>
            <a:ext cx="495300" cy="11430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19,073</a:t>
            </a:r>
          </a:p>
        </p:txBody>
      </p:sp>
      <p:cxnSp>
        <p:nvCxnSpPr>
          <p:cNvPr id="23" name="Connector 22"/>
          <p:cNvCxnSpPr/>
          <p:nvPr/>
        </p:nvCxnSpPr>
        <p:spPr>
          <a:xfrm>
            <a:off x="7610475" y="1889074"/>
            <a:ext cx="0" cy="4381561"/>
          </a:xfrm>
          <a:prstGeom prst="line">
            <a:avLst/>
          </a:prstGeom>
          <a:ln w="6350">
            <a:solidFill>
              <a:srgbClr val="E3E8E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4" name="TextBox 23"/>
          <p:cNvSpPr txBox="1"/>
          <p:nvPr/>
        </p:nvSpPr>
        <p:spPr>
          <a:xfrm>
            <a:off x="7362825" y="6289685"/>
            <a:ext cx="495300" cy="11430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19,226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38125" y="4013180"/>
            <a:ext cx="106680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26" name="Rectangle 25"/>
          <p:cNvSpPr/>
          <p:nvPr/>
        </p:nvSpPr>
        <p:spPr>
          <a:xfrm>
            <a:off x="2045494" y="2969605"/>
            <a:ext cx="4881562" cy="2258600"/>
          </a:xfrm>
          <a:prstGeom prst="rect">
            <a:avLst/>
          </a:prstGeom>
          <a:solidFill>
            <a:srgbClr val="CFE7F5"/>
          </a:solidFill>
          <a:ln w="12700">
            <a:solidFill>
              <a:srgbClr val="7FBED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Oval 26"/>
          <p:cNvSpPr/>
          <p:nvPr/>
        </p:nvSpPr>
        <p:spPr>
          <a:xfrm>
            <a:off x="3594891" y="4036992"/>
            <a:ext cx="123825" cy="123825"/>
          </a:xfrm>
          <a:prstGeom prst="ellipse">
            <a:avLst/>
          </a:prstGeom>
          <a:solidFill>
            <a:srgbClr val="F2994A"/>
          </a:solidFill>
          <a:ln w="12700">
            <a:solidFill>
              <a:srgbClr val="B9701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Oval 27"/>
          <p:cNvSpPr/>
          <p:nvPr/>
        </p:nvSpPr>
        <p:spPr>
          <a:xfrm>
            <a:off x="1362075" y="1727149"/>
            <a:ext cx="114300" cy="114300"/>
          </a:xfrm>
          <a:prstGeom prst="ellipse">
            <a:avLst/>
          </a:prstGeom>
          <a:solidFill>
            <a:srgbClr val="F2994A"/>
          </a:solidFill>
          <a:ln w="12700">
            <a:solidFill>
              <a:srgbClr val="B9701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1495425" y="1717624"/>
            <a:ext cx="8382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Average Price</a:t>
            </a:r>
          </a:p>
        </p:txBody>
      </p:sp>
      <p:sp>
        <p:nvSpPr>
          <p:cNvPr id="30" name="Rectangle 29"/>
          <p:cNvSpPr/>
          <p:nvPr/>
        </p:nvSpPr>
        <p:spPr>
          <a:xfrm>
            <a:off x="2390775" y="1736674"/>
            <a:ext cx="190500" cy="114300"/>
          </a:xfrm>
          <a:prstGeom prst="rect">
            <a:avLst/>
          </a:prstGeom>
          <a:solidFill>
            <a:srgbClr val="CFE7F5"/>
          </a:solidFill>
          <a:ln w="12700">
            <a:solidFill>
              <a:srgbClr val="7FBED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2619375" y="1717624"/>
            <a:ext cx="8001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Price Range</a:t>
            </a:r>
          </a:p>
        </p:txBody>
      </p:sp>
      <p:sp>
        <p:nvSpPr>
          <p:cNvPr id="32" name="Rounded Rectangle 31"/>
          <p:cNvSpPr/>
          <p:nvPr/>
        </p:nvSpPr>
        <p:spPr>
          <a:xfrm>
            <a:off x="7915275" y="1317574"/>
            <a:ext cx="4133850" cy="3924545"/>
          </a:xfrm>
          <a:prstGeom prst="roundRect">
            <a:avLst>
              <a:gd name="adj" fmla="val 194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TextBox 32"/>
          <p:cNvSpPr txBox="1"/>
          <p:nvPr/>
        </p:nvSpPr>
        <p:spPr>
          <a:xfrm>
            <a:off x="8048625" y="1403299"/>
            <a:ext cx="38671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Findings</a:t>
            </a:r>
          </a:p>
        </p:txBody>
      </p:sp>
      <p:sp>
        <p:nvSpPr>
          <p:cNvPr id="34" name="Rectangle 33"/>
          <p:cNvSpPr/>
          <p:nvPr/>
        </p:nvSpPr>
        <p:spPr>
          <a:xfrm>
            <a:off x="8048625" y="1641424"/>
            <a:ext cx="38671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TextBox 34"/>
          <p:cNvSpPr txBox="1"/>
          <p:nvPr/>
        </p:nvSpPr>
        <p:spPr>
          <a:xfrm>
            <a:off x="8048625" y="1727149"/>
            <a:ext cx="3867150" cy="343877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6" name="Rounded Rectangle 35"/>
          <p:cNvSpPr/>
          <p:nvPr/>
        </p:nvSpPr>
        <p:spPr>
          <a:xfrm>
            <a:off x="7915275" y="5351641"/>
            <a:ext cx="4133850" cy="1204744"/>
          </a:xfrm>
          <a:prstGeom prst="roundRect">
            <a:avLst>
              <a:gd name="adj" fmla="val 632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Note: the above information is indicative in nature and does not constitute any form of analysis.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8048625" y="1736673"/>
            <a:ext cx="375165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Average prices sit within a tight band across regions, ranging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8048625" y="1911934"/>
            <a:ext cx="47127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from ~</a:t>
            </a:r>
          </a:p>
        </p:txBody>
      </p:sp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469055" y="1901710"/>
            <a:ext cx="134549" cy="195707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8644164" y="1911934"/>
            <a:ext cx="149562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US$/MT in 'Europe' to ~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088942" y="1901710"/>
            <a:ext cx="134549" cy="195707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10264051" y="1911934"/>
            <a:ext cx="138266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US$/MT in 'Europe' at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8048625" y="2087194"/>
            <a:ext cx="40966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2026.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8048625" y="2315032"/>
            <a:ext cx="383527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'Europe' commands the premium a signal of stronger demand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8048625" y="2490292"/>
            <a:ext cx="38481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and limited price-competitive supply while 'Europe' remains the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8048625" y="2665551"/>
            <a:ext cx="232057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most accessible, value-led geography.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8048625" y="2893389"/>
            <a:ext cx="381359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The orange dot is each region's average selling price; the blue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8048625" y="3068649"/>
            <a:ext cx="364016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band is its full low-to-high price range, all derived as Value ÷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8048625" y="3243909"/>
            <a:ext cx="57282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Volume.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8048625" y="3471747"/>
            <a:ext cx="37765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Narrow bands point to commoditised, price-led competition;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8048625" y="3647007"/>
            <a:ext cx="381217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wider bands flag premiumisation headroom to trade buyers up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8048625" y="3822267"/>
            <a:ext cx="5582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the mix.</a:t>
            </a:r>
          </a:p>
        </p:txBody>
      </p:sp>
    </p:spTree>
  </p:cSld>
  <p:clrMapOvr>
    <a:masterClrMapping/>
  </p:clrMapOvr>
</p:sld>
</file>

<file path=ppt/slides/slide20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Key Pricing Drivers Influencing Pet Cosmetic Products Market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input costs, market conditions and competitive forces shaping pricing strategies and profitability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007261"/>
            <a:ext cx="11906250" cy="273805"/>
          </a:xfrm>
          <a:prstGeom prst="roundRect">
            <a:avLst>
              <a:gd name="adj" fmla="val 2782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Analysis of input costs, market conditions, and competitive forces shaping pricing strategies and profitability across the value chain</a:t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142875" y="1354081"/>
            <a:ext cx="7029450" cy="5220558"/>
          </a:xfrm>
          <a:prstGeom prst="roundRect">
            <a:avLst>
              <a:gd name="adj" fmla="val 145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38125" y="1411231"/>
            <a:ext cx="68389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Price Impacting Factors</a:t>
            </a:r>
          </a:p>
        </p:txBody>
      </p:sp>
      <p:sp>
        <p:nvSpPr>
          <p:cNvPr id="14" name="Freeform 13"/>
          <p:cNvSpPr/>
          <p:nvPr/>
        </p:nvSpPr>
        <p:spPr>
          <a:xfrm>
            <a:off x="3295650" y="3705225"/>
            <a:ext cx="723900" cy="752475"/>
          </a:xfrm>
          <a:custGeom>
            <a:avLst/>
            <a:gdLst/>
            <a:ahLst/>
            <a:cxnLst/>
            <a:rect l="l" t="t" r="r" b="b"/>
            <a:pathLst>
              <a:path w="76" h="79">
                <a:moveTo>
                  <a:pt x="38" y="0"/>
                </a:moveTo>
                <a:lnTo>
                  <a:pt x="61" y="7"/>
                </a:lnTo>
                <a:lnTo>
                  <a:pt x="76" y="27"/>
                </a:lnTo>
                <a:lnTo>
                  <a:pt x="76" y="51"/>
                </a:lnTo>
                <a:lnTo>
                  <a:pt x="61" y="71"/>
                </a:lnTo>
                <a:lnTo>
                  <a:pt x="38" y="79"/>
                </a:lnTo>
                <a:lnTo>
                  <a:pt x="15" y="71"/>
                </a:lnTo>
                <a:lnTo>
                  <a:pt x="0" y="51"/>
                </a:lnTo>
                <a:lnTo>
                  <a:pt x="0" y="27"/>
                </a:lnTo>
                <a:lnTo>
                  <a:pt x="15" y="7"/>
                </a:lnTo>
                <a:close/>
              </a:path>
            </a:pathLst>
          </a:custGeom>
          <a:noFill/>
          <a:ln w="9525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Freeform 14"/>
          <p:cNvSpPr/>
          <p:nvPr/>
        </p:nvSpPr>
        <p:spPr>
          <a:xfrm>
            <a:off x="2943225" y="3324225"/>
            <a:ext cx="1428750" cy="1504950"/>
          </a:xfrm>
          <a:custGeom>
            <a:avLst/>
            <a:gdLst/>
            <a:ahLst/>
            <a:cxnLst/>
            <a:rect l="l" t="t" r="r" b="b"/>
            <a:pathLst>
              <a:path w="150" h="158">
                <a:moveTo>
                  <a:pt x="75" y="0"/>
                </a:moveTo>
                <a:lnTo>
                  <a:pt x="122" y="15"/>
                </a:lnTo>
                <a:lnTo>
                  <a:pt x="150" y="55"/>
                </a:lnTo>
                <a:lnTo>
                  <a:pt x="150" y="104"/>
                </a:lnTo>
                <a:lnTo>
                  <a:pt x="122" y="143"/>
                </a:lnTo>
                <a:lnTo>
                  <a:pt x="75" y="158"/>
                </a:lnTo>
                <a:lnTo>
                  <a:pt x="28" y="143"/>
                </a:lnTo>
                <a:lnTo>
                  <a:pt x="0" y="104"/>
                </a:lnTo>
                <a:lnTo>
                  <a:pt x="0" y="55"/>
                </a:lnTo>
                <a:lnTo>
                  <a:pt x="28" y="15"/>
                </a:lnTo>
                <a:close/>
              </a:path>
            </a:pathLst>
          </a:custGeom>
          <a:noFill/>
          <a:ln w="9525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2581275" y="2943225"/>
            <a:ext cx="2152650" cy="2266950"/>
          </a:xfrm>
          <a:custGeom>
            <a:avLst/>
            <a:gdLst/>
            <a:ahLst/>
            <a:cxnLst/>
            <a:rect l="l" t="t" r="r" b="b"/>
            <a:pathLst>
              <a:path w="226" h="238">
                <a:moveTo>
                  <a:pt x="113" y="0"/>
                </a:moveTo>
                <a:lnTo>
                  <a:pt x="183" y="23"/>
                </a:lnTo>
                <a:lnTo>
                  <a:pt x="226" y="82"/>
                </a:lnTo>
                <a:lnTo>
                  <a:pt x="226" y="156"/>
                </a:lnTo>
                <a:lnTo>
                  <a:pt x="183" y="215"/>
                </a:lnTo>
                <a:lnTo>
                  <a:pt x="113" y="238"/>
                </a:lnTo>
                <a:lnTo>
                  <a:pt x="43" y="215"/>
                </a:lnTo>
                <a:lnTo>
                  <a:pt x="0" y="156"/>
                </a:lnTo>
                <a:lnTo>
                  <a:pt x="0" y="82"/>
                </a:lnTo>
                <a:lnTo>
                  <a:pt x="43" y="23"/>
                </a:lnTo>
                <a:close/>
              </a:path>
            </a:pathLst>
          </a:custGeom>
          <a:noFill/>
          <a:ln w="9525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Freeform 16"/>
          <p:cNvSpPr/>
          <p:nvPr/>
        </p:nvSpPr>
        <p:spPr>
          <a:xfrm>
            <a:off x="2219325" y="2571750"/>
            <a:ext cx="2876550" cy="3019425"/>
          </a:xfrm>
          <a:custGeom>
            <a:avLst/>
            <a:gdLst/>
            <a:ahLst/>
            <a:cxnLst/>
            <a:rect l="l" t="t" r="r" b="b"/>
            <a:pathLst>
              <a:path w="302" h="317">
                <a:moveTo>
                  <a:pt x="151" y="0"/>
                </a:moveTo>
                <a:lnTo>
                  <a:pt x="244" y="30"/>
                </a:lnTo>
                <a:lnTo>
                  <a:pt x="302" y="109"/>
                </a:lnTo>
                <a:lnTo>
                  <a:pt x="302" y="207"/>
                </a:lnTo>
                <a:lnTo>
                  <a:pt x="244" y="286"/>
                </a:lnTo>
                <a:lnTo>
                  <a:pt x="151" y="317"/>
                </a:lnTo>
                <a:lnTo>
                  <a:pt x="58" y="286"/>
                </a:lnTo>
                <a:lnTo>
                  <a:pt x="0" y="207"/>
                </a:lnTo>
                <a:lnTo>
                  <a:pt x="0" y="109"/>
                </a:lnTo>
                <a:lnTo>
                  <a:pt x="58" y="30"/>
                </a:lnTo>
                <a:close/>
              </a:path>
            </a:pathLst>
          </a:custGeom>
          <a:noFill/>
          <a:ln w="9525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Freeform 17"/>
          <p:cNvSpPr/>
          <p:nvPr/>
        </p:nvSpPr>
        <p:spPr>
          <a:xfrm>
            <a:off x="1866900" y="2190750"/>
            <a:ext cx="3581400" cy="3771900"/>
          </a:xfrm>
          <a:custGeom>
            <a:avLst/>
            <a:gdLst/>
            <a:ahLst/>
            <a:cxnLst/>
            <a:rect l="l" t="t" r="r" b="b"/>
            <a:pathLst>
              <a:path w="376" h="396">
                <a:moveTo>
                  <a:pt x="188" y="0"/>
                </a:moveTo>
                <a:lnTo>
                  <a:pt x="304" y="38"/>
                </a:lnTo>
                <a:lnTo>
                  <a:pt x="376" y="137"/>
                </a:lnTo>
                <a:lnTo>
                  <a:pt x="376" y="259"/>
                </a:lnTo>
                <a:lnTo>
                  <a:pt x="304" y="358"/>
                </a:lnTo>
                <a:lnTo>
                  <a:pt x="188" y="396"/>
                </a:lnTo>
                <a:lnTo>
                  <a:pt x="72" y="358"/>
                </a:lnTo>
                <a:lnTo>
                  <a:pt x="0" y="259"/>
                </a:lnTo>
                <a:lnTo>
                  <a:pt x="0" y="137"/>
                </a:lnTo>
                <a:lnTo>
                  <a:pt x="72" y="38"/>
                </a:lnTo>
                <a:close/>
              </a:path>
            </a:pathLst>
          </a:custGeom>
          <a:noFill/>
          <a:ln w="9525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9" name="Connector 18"/>
          <p:cNvCxnSpPr/>
          <p:nvPr/>
        </p:nvCxnSpPr>
        <p:spPr>
          <a:xfrm flipV="1">
            <a:off x="3657600" y="2192281"/>
            <a:ext cx="0" cy="1886379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" name="Connector 19"/>
          <p:cNvCxnSpPr/>
          <p:nvPr/>
        </p:nvCxnSpPr>
        <p:spPr>
          <a:xfrm flipV="1">
            <a:off x="3657600" y="2552548"/>
            <a:ext cx="1108786" cy="1526112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 flipV="1">
            <a:off x="3657600" y="3495737"/>
            <a:ext cx="1794053" cy="582923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3657600" y="4078660"/>
            <a:ext cx="1794053" cy="582923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3657600" y="4078660"/>
            <a:ext cx="1108786" cy="1526113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3657600" y="4078660"/>
            <a:ext cx="0" cy="1886379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 flipH="1">
            <a:off x="2548814" y="4078660"/>
            <a:ext cx="1108786" cy="1526113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 flipH="1">
            <a:off x="1863547" y="4078660"/>
            <a:ext cx="1794053" cy="582923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7" name="Connector 26"/>
          <p:cNvCxnSpPr/>
          <p:nvPr/>
        </p:nvCxnSpPr>
        <p:spPr>
          <a:xfrm flipH="1" flipV="1">
            <a:off x="1863547" y="3495737"/>
            <a:ext cx="1794053" cy="582923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8" name="Connector 27"/>
          <p:cNvCxnSpPr/>
          <p:nvPr/>
        </p:nvCxnSpPr>
        <p:spPr>
          <a:xfrm flipH="1" flipV="1">
            <a:off x="2548814" y="2552548"/>
            <a:ext cx="1108786" cy="1526112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9" name="Freeform 28"/>
          <p:cNvSpPr/>
          <p:nvPr/>
        </p:nvSpPr>
        <p:spPr>
          <a:xfrm>
            <a:off x="2495550" y="2381250"/>
            <a:ext cx="2505075" cy="3209925"/>
          </a:xfrm>
          <a:custGeom>
            <a:avLst/>
            <a:gdLst/>
            <a:ahLst/>
            <a:cxnLst/>
            <a:rect l="l" t="t" r="r" b="b"/>
            <a:pathLst>
              <a:path w="263" h="337">
                <a:moveTo>
                  <a:pt x="122" y="0"/>
                </a:moveTo>
                <a:lnTo>
                  <a:pt x="203" y="66"/>
                </a:lnTo>
                <a:lnTo>
                  <a:pt x="244" y="138"/>
                </a:lnTo>
                <a:lnTo>
                  <a:pt x="263" y="224"/>
                </a:lnTo>
                <a:lnTo>
                  <a:pt x="221" y="314"/>
                </a:lnTo>
                <a:lnTo>
                  <a:pt x="122" y="337"/>
                </a:lnTo>
                <a:lnTo>
                  <a:pt x="52" y="274"/>
                </a:lnTo>
                <a:lnTo>
                  <a:pt x="18" y="212"/>
                </a:lnTo>
                <a:lnTo>
                  <a:pt x="0" y="138"/>
                </a:lnTo>
                <a:lnTo>
                  <a:pt x="70" y="106"/>
                </a:lnTo>
                <a:close/>
              </a:path>
            </a:pathLst>
          </a:custGeom>
          <a:solidFill>
            <a:srgbClr val="2B5F8E">
              <a:alpha val="62000"/>
            </a:srgbClr>
          </a:solidFill>
          <a:ln w="27940">
            <a:solidFill>
              <a:srgbClr val="2B5F8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Oval 29"/>
          <p:cNvSpPr/>
          <p:nvPr/>
        </p:nvSpPr>
        <p:spPr>
          <a:xfrm>
            <a:off x="3624262" y="2347582"/>
            <a:ext cx="66675" cy="66675"/>
          </a:xfrm>
          <a:prstGeom prst="ellipse">
            <a:avLst/>
          </a:prstGeom>
          <a:solidFill>
            <a:srgbClr val="2B5F8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Oval 30"/>
          <p:cNvSpPr/>
          <p:nvPr/>
        </p:nvSpPr>
        <p:spPr>
          <a:xfrm>
            <a:off x="4400412" y="2977044"/>
            <a:ext cx="66675" cy="66675"/>
          </a:xfrm>
          <a:prstGeom prst="ellipse">
            <a:avLst/>
          </a:prstGeom>
          <a:solidFill>
            <a:srgbClr val="2B5F8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Oval 31"/>
          <p:cNvSpPr/>
          <p:nvPr/>
        </p:nvSpPr>
        <p:spPr>
          <a:xfrm>
            <a:off x="4790397" y="3666423"/>
            <a:ext cx="66675" cy="66675"/>
          </a:xfrm>
          <a:prstGeom prst="ellipse">
            <a:avLst/>
          </a:prstGeom>
          <a:solidFill>
            <a:srgbClr val="2B5F8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Oval 32"/>
          <p:cNvSpPr/>
          <p:nvPr/>
        </p:nvSpPr>
        <p:spPr>
          <a:xfrm>
            <a:off x="4969802" y="4482515"/>
            <a:ext cx="66675" cy="66675"/>
          </a:xfrm>
          <a:prstGeom prst="ellipse">
            <a:avLst/>
          </a:prstGeom>
          <a:solidFill>
            <a:srgbClr val="2B5F8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Oval 33"/>
          <p:cNvSpPr/>
          <p:nvPr/>
        </p:nvSpPr>
        <p:spPr>
          <a:xfrm>
            <a:off x="4566730" y="5342518"/>
            <a:ext cx="66675" cy="66675"/>
          </a:xfrm>
          <a:prstGeom prst="ellipse">
            <a:avLst/>
          </a:prstGeom>
          <a:solidFill>
            <a:srgbClr val="2B5F8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Oval 34"/>
          <p:cNvSpPr/>
          <p:nvPr/>
        </p:nvSpPr>
        <p:spPr>
          <a:xfrm>
            <a:off x="3624262" y="5554426"/>
            <a:ext cx="66675" cy="66675"/>
          </a:xfrm>
          <a:prstGeom prst="ellipse">
            <a:avLst/>
          </a:prstGeom>
          <a:solidFill>
            <a:srgbClr val="2B5F8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Oval 35"/>
          <p:cNvSpPr/>
          <p:nvPr/>
        </p:nvSpPr>
        <p:spPr>
          <a:xfrm>
            <a:off x="2958991" y="4960990"/>
            <a:ext cx="66675" cy="66675"/>
          </a:xfrm>
          <a:prstGeom prst="ellipse">
            <a:avLst/>
          </a:prstGeom>
          <a:solidFill>
            <a:srgbClr val="2B5F8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Oval 36"/>
          <p:cNvSpPr/>
          <p:nvPr/>
        </p:nvSpPr>
        <p:spPr>
          <a:xfrm>
            <a:off x="2637533" y="4365930"/>
            <a:ext cx="66675" cy="66675"/>
          </a:xfrm>
          <a:prstGeom prst="ellipse">
            <a:avLst/>
          </a:prstGeom>
          <a:solidFill>
            <a:srgbClr val="2B5F8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Oval 37"/>
          <p:cNvSpPr/>
          <p:nvPr/>
        </p:nvSpPr>
        <p:spPr>
          <a:xfrm>
            <a:off x="2458128" y="3666423"/>
            <a:ext cx="66675" cy="66675"/>
          </a:xfrm>
          <a:prstGeom prst="ellipse">
            <a:avLst/>
          </a:prstGeom>
          <a:solidFill>
            <a:srgbClr val="2B5F8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Oval 38"/>
          <p:cNvSpPr/>
          <p:nvPr/>
        </p:nvSpPr>
        <p:spPr>
          <a:xfrm>
            <a:off x="3125309" y="3358572"/>
            <a:ext cx="66675" cy="66675"/>
          </a:xfrm>
          <a:prstGeom prst="ellipse">
            <a:avLst/>
          </a:prstGeom>
          <a:solidFill>
            <a:srgbClr val="2B5F8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3686175" y="3634709"/>
            <a:ext cx="2857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3686175" y="3257434"/>
            <a:ext cx="2857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4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3686175" y="2880158"/>
            <a:ext cx="2857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3686175" y="2502882"/>
            <a:ext cx="2857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8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3686175" y="2125606"/>
            <a:ext cx="2857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10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3000375" y="1839856"/>
            <a:ext cx="1314450" cy="2857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4232331" y="2240143"/>
            <a:ext cx="1314450" cy="2857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4993722" y="3288108"/>
            <a:ext cx="1314450" cy="2857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4993722" y="4583463"/>
            <a:ext cx="1314450" cy="2857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4232331" y="5631427"/>
            <a:ext cx="1314450" cy="2857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3000375" y="6031714"/>
            <a:ext cx="1314450" cy="2857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1768419" y="5631427"/>
            <a:ext cx="1314450" cy="2857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1007028" y="4583463"/>
            <a:ext cx="1314450" cy="2857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1007028" y="3288108"/>
            <a:ext cx="1314450" cy="2857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1768419" y="2240143"/>
            <a:ext cx="1314450" cy="2857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5" name="Rounded Rectangle 54"/>
          <p:cNvSpPr/>
          <p:nvPr/>
        </p:nvSpPr>
        <p:spPr>
          <a:xfrm>
            <a:off x="7248525" y="1354081"/>
            <a:ext cx="4800600" cy="3479443"/>
          </a:xfrm>
          <a:prstGeom prst="roundRect">
            <a:avLst>
              <a:gd name="adj" fmla="val 219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7381875" y="1439806"/>
            <a:ext cx="45339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Takeaways</a:t>
            </a:r>
          </a:p>
        </p:txBody>
      </p:sp>
      <p:sp>
        <p:nvSpPr>
          <p:cNvPr id="57" name="Rectangle 56"/>
          <p:cNvSpPr/>
          <p:nvPr/>
        </p:nvSpPr>
        <p:spPr>
          <a:xfrm>
            <a:off x="7381875" y="1677931"/>
            <a:ext cx="45339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7381875" y="1763656"/>
            <a:ext cx="4533900" cy="2993668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00" b="0">
                <a:solidFill>
                  <a:srgbClr val="2E2E2E"/>
                </a:solidFill>
                <a:latin typeface="Calibri"/>
              </a:rPr>
              <a:t>Pricing across the Pet Cosmetic Products Market is shaped by a mix of input costs, operational efficiency and market dynamics with raw-material and input costs carrying the single heaviest weight on selling prices today.</a:t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00" b="0">
                <a:solidFill>
                  <a:srgbClr val="2E2E2E"/>
                </a:solidFill>
                <a:latin typeface="Calibri"/>
              </a:rPr>
              <a:t>Raw-material and input costs and demand and broader market conditions are the dominant cost pressures; as they fluctuate they feed directly into prices and squeeze margins along the value chain.</a:t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00" b="0">
                <a:solidFill>
                  <a:srgbClr val="2E2E2E"/>
                </a:solidFill>
                <a:latin typeface="Calibri"/>
              </a:rPr>
              <a:t>Competitive intensity and supply-chain and logistics conditions are the next most influential forces helping offset cost inflation and setting how aggressively players can price without ceding share.</a:t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00" b="0">
                <a:solidFill>
                  <a:srgbClr val="2E2E2E"/>
                </a:solidFill>
                <a:latin typeface="Calibri"/>
              </a:rPr>
              <a:t>Demand strength, competitive intensity and supply-chain reliability together define the ceiling on pricing power across the Pet Cosmetic Products Market.</a:t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00" b="0">
                <a:solidFill>
                  <a:srgbClr val="2E2E2E"/>
                </a:solidFill>
                <a:latin typeface="Calibri"/>
              </a:rPr>
              <a:t>Regulatory, currency and brand factors add second-order effects while aftermarket and service costs exert the least pressure collectively creating a pricing balance that must be monitored to stay competitive and profitable.</a:t>
            </a:r>
          </a:p>
        </p:txBody>
      </p:sp>
      <p:sp>
        <p:nvSpPr>
          <p:cNvPr id="59" name="Rounded Rectangle 58"/>
          <p:cNvSpPr/>
          <p:nvPr/>
        </p:nvSpPr>
        <p:spPr>
          <a:xfrm>
            <a:off x="7248525" y="4943046"/>
            <a:ext cx="4800600" cy="1686354"/>
          </a:xfrm>
          <a:prstGeom prst="roundRect">
            <a:avLst>
              <a:gd name="adj" fmla="val 451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7381875" y="5028771"/>
            <a:ext cx="45339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Highest-Impact Drivers</a:t>
            </a:r>
          </a:p>
        </p:txBody>
      </p:sp>
      <p:sp>
        <p:nvSpPr>
          <p:cNvPr id="61" name="Rectangle 60"/>
          <p:cNvSpPr/>
          <p:nvPr/>
        </p:nvSpPr>
        <p:spPr>
          <a:xfrm>
            <a:off x="7381875" y="5266896"/>
            <a:ext cx="45339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7381875" y="5352621"/>
            <a:ext cx="4533900" cy="1200579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3288771" y="1898910"/>
            <a:ext cx="65982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Input Cost</a:t>
            </a:r>
          </a:p>
        </p:txBody>
      </p:sp>
      <p:pic>
        <p:nvPicPr>
          <p:cNvPr id="65" name="Picture 6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896652" y="1889132"/>
            <a:ext cx="128699" cy="187198"/>
          </a:xfrm>
          <a:prstGeom prst="rect">
            <a:avLst/>
          </a:prstGeom>
        </p:spPr>
      </p:pic>
      <p:sp>
        <p:nvSpPr>
          <p:cNvPr id="66" name="TextBox 65"/>
          <p:cNvSpPr txBox="1"/>
          <p:nvPr/>
        </p:nvSpPr>
        <p:spPr>
          <a:xfrm>
            <a:off x="4314683" y="2322667"/>
            <a:ext cx="1115044" cy="13975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791" b="0">
                <a:solidFill>
                  <a:srgbClr val="2E2E2E"/>
                </a:solidFill>
                <a:latin typeface="Calibri"/>
              </a:rPr>
              <a:t>Labor &amp; Production Costs</a:t>
            </a:r>
          </a:p>
        </p:txBody>
      </p:sp>
      <p:pic>
        <p:nvPicPr>
          <p:cNvPr id="67" name="Picture 6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370988" y="2315626"/>
            <a:ext cx="92663" cy="134782"/>
          </a:xfrm>
          <a:prstGeom prst="rect">
            <a:avLst/>
          </a:prstGeom>
        </p:spPr>
      </p:pic>
      <p:sp>
        <p:nvSpPr>
          <p:cNvPr id="68" name="TextBox 67"/>
          <p:cNvSpPr txBox="1"/>
          <p:nvPr/>
        </p:nvSpPr>
        <p:spPr>
          <a:xfrm>
            <a:off x="5083343" y="3370632"/>
            <a:ext cx="1100506" cy="13975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791" b="0">
                <a:solidFill>
                  <a:srgbClr val="2E2E2E"/>
                </a:solidFill>
                <a:latin typeface="Calibri"/>
              </a:rPr>
              <a:t>Technology &amp; Innovation</a:t>
            </a:r>
          </a:p>
        </p:txBody>
      </p:sp>
      <p:pic>
        <p:nvPicPr>
          <p:cNvPr id="69" name="Picture 6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125111" y="3363591"/>
            <a:ext cx="92663" cy="134782"/>
          </a:xfrm>
          <a:prstGeom prst="rect">
            <a:avLst/>
          </a:prstGeom>
        </p:spPr>
      </p:pic>
      <p:sp>
        <p:nvSpPr>
          <p:cNvPr id="70" name="TextBox 69"/>
          <p:cNvSpPr txBox="1"/>
          <p:nvPr/>
        </p:nvSpPr>
        <p:spPr>
          <a:xfrm>
            <a:off x="5072546" y="4662634"/>
            <a:ext cx="1115939" cy="146456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835" b="0">
                <a:solidFill>
                  <a:srgbClr val="2E2E2E"/>
                </a:solidFill>
                <a:latin typeface="Calibri"/>
              </a:rPr>
              <a:t>Supply Chain &amp; Logistics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130716" y="4655202"/>
            <a:ext cx="97811" cy="142270"/>
          </a:xfrm>
          <a:prstGeom prst="rect">
            <a:avLst/>
          </a:prstGeom>
        </p:spPr>
      </p:pic>
      <p:sp>
        <p:nvSpPr>
          <p:cNvPr id="72" name="TextBox 71"/>
          <p:cNvSpPr txBox="1"/>
          <p:nvPr/>
        </p:nvSpPr>
        <p:spPr>
          <a:xfrm>
            <a:off x="4279667" y="5653601"/>
            <a:ext cx="1238538" cy="13975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791" b="0">
                <a:solidFill>
                  <a:srgbClr val="2E2E2E"/>
                </a:solidFill>
                <a:latin typeface="Calibri"/>
              </a:rPr>
              <a:t>Demand &amp; Market Conditions</a:t>
            </a:r>
          </a:p>
        </p:txBody>
      </p:sp>
      <p:pic>
        <p:nvPicPr>
          <p:cNvPr id="73" name="Picture 7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837988" y="5767261"/>
            <a:ext cx="92663" cy="134782"/>
          </a:xfrm>
          <a:prstGeom prst="rect">
            <a:avLst/>
          </a:prstGeom>
        </p:spPr>
      </p:pic>
      <p:sp>
        <p:nvSpPr>
          <p:cNvPr id="74" name="TextBox 73"/>
          <p:cNvSpPr txBox="1"/>
          <p:nvPr/>
        </p:nvSpPr>
        <p:spPr>
          <a:xfrm>
            <a:off x="3097033" y="6110885"/>
            <a:ext cx="1080271" cy="146456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835" b="0">
                <a:solidFill>
                  <a:srgbClr val="2E2E2E"/>
                </a:solidFill>
                <a:latin typeface="Calibri"/>
              </a:rPr>
              <a:t>Competitive Landscape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19536" y="6103453"/>
            <a:ext cx="97811" cy="142270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1906713" y="5653601"/>
            <a:ext cx="1114061" cy="13975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791" b="0">
                <a:solidFill>
                  <a:srgbClr val="2E2E2E"/>
                </a:solidFill>
                <a:latin typeface="Calibri"/>
              </a:rPr>
              <a:t>Regulatory &amp; Compliance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2260671" y="5774302"/>
            <a:ext cx="295245" cy="13975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791" b="0">
                <a:solidFill>
                  <a:srgbClr val="2E2E2E"/>
                </a:solidFill>
                <a:latin typeface="Calibri"/>
              </a:rPr>
              <a:t>Costs</a:t>
            </a:r>
          </a:p>
        </p:txBody>
      </p:sp>
      <p:pic>
        <p:nvPicPr>
          <p:cNvPr id="78" name="Picture 7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97177" y="5767261"/>
            <a:ext cx="92663" cy="134782"/>
          </a:xfrm>
          <a:prstGeom prst="rect">
            <a:avLst/>
          </a:prstGeom>
        </p:spPr>
      </p:pic>
      <p:sp>
        <p:nvSpPr>
          <p:cNvPr id="79" name="TextBox 78"/>
          <p:cNvSpPr txBox="1"/>
          <p:nvPr/>
        </p:nvSpPr>
        <p:spPr>
          <a:xfrm>
            <a:off x="1097191" y="4605637"/>
            <a:ext cx="1195711" cy="13975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791" b="0">
                <a:solidFill>
                  <a:srgbClr val="2E2E2E"/>
                </a:solidFill>
                <a:latin typeface="Calibri"/>
              </a:rPr>
              <a:t>Currency &amp; Trade Dynamics</a:t>
            </a:r>
          </a:p>
        </p:txBody>
      </p:sp>
      <p:pic>
        <p:nvPicPr>
          <p:cNvPr id="80" name="Picture 7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12685" y="4719297"/>
            <a:ext cx="92663" cy="134782"/>
          </a:xfrm>
          <a:prstGeom prst="rect">
            <a:avLst/>
          </a:prstGeom>
        </p:spPr>
      </p:pic>
      <p:sp>
        <p:nvSpPr>
          <p:cNvPr id="81" name="TextBox 80"/>
          <p:cNvSpPr txBox="1"/>
          <p:nvPr/>
        </p:nvSpPr>
        <p:spPr>
          <a:xfrm>
            <a:off x="1079852" y="3370632"/>
            <a:ext cx="1134100" cy="13975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791" b="0">
                <a:solidFill>
                  <a:srgbClr val="2E2E2E"/>
                </a:solidFill>
                <a:latin typeface="Calibri"/>
              </a:rPr>
              <a:t>Brand &amp; Value Perception</a:t>
            </a:r>
          </a:p>
        </p:txBody>
      </p:sp>
      <p:pic>
        <p:nvPicPr>
          <p:cNvPr id="82" name="Picture 8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55213" y="3363591"/>
            <a:ext cx="92663" cy="134782"/>
          </a:xfrm>
          <a:prstGeom prst="rect">
            <a:avLst/>
          </a:prstGeom>
        </p:spPr>
      </p:pic>
      <p:sp>
        <p:nvSpPr>
          <p:cNvPr id="83" name="TextBox 82"/>
          <p:cNvSpPr txBox="1"/>
          <p:nvPr/>
        </p:nvSpPr>
        <p:spPr>
          <a:xfrm>
            <a:off x="1850723" y="2262317"/>
            <a:ext cx="1203570" cy="13975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791" b="0">
                <a:solidFill>
                  <a:srgbClr val="2E2E2E"/>
                </a:solidFill>
                <a:latin typeface="Calibri"/>
              </a:rPr>
              <a:t>Aftermarket &amp; Service Costs</a:t>
            </a:r>
          </a:p>
        </p:txBody>
      </p:sp>
      <p:pic>
        <p:nvPicPr>
          <p:cNvPr id="84" name="Picture 8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374076" y="2375977"/>
            <a:ext cx="92663" cy="134782"/>
          </a:xfrm>
          <a:prstGeom prst="rect">
            <a:avLst/>
          </a:prstGeom>
        </p:spPr>
      </p:pic>
      <p:sp>
        <p:nvSpPr>
          <p:cNvPr id="85" name="TextBox 84"/>
          <p:cNvSpPr txBox="1"/>
          <p:nvPr/>
        </p:nvSpPr>
        <p:spPr>
          <a:xfrm>
            <a:off x="7381875" y="5362146"/>
            <a:ext cx="74086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Input Cost</a:t>
            </a:r>
          </a:p>
        </p:txBody>
      </p:sp>
      <p:pic>
        <p:nvPicPr>
          <p:cNvPr id="86" name="Picture 8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070793" y="5352366"/>
            <a:ext cx="128699" cy="187198"/>
          </a:xfrm>
          <a:prstGeom prst="rect">
            <a:avLst/>
          </a:prstGeom>
        </p:spPr>
      </p:pic>
      <p:sp>
        <p:nvSpPr>
          <p:cNvPr id="87" name="TextBox 86"/>
          <p:cNvSpPr txBox="1"/>
          <p:nvPr/>
        </p:nvSpPr>
        <p:spPr>
          <a:xfrm>
            <a:off x="8238288" y="5362146"/>
            <a:ext cx="174414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/ 10 · dominant cost pressure</a:t>
            </a:r>
          </a:p>
        </p:txBody>
      </p:sp>
      <p:sp>
        <p:nvSpPr>
          <p:cNvPr id="88" name="TextBox 87"/>
          <p:cNvSpPr txBox="1"/>
          <p:nvPr/>
        </p:nvSpPr>
        <p:spPr>
          <a:xfrm>
            <a:off x="7381875" y="5580078"/>
            <a:ext cx="185137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Demand &amp; Market Conditions</a:t>
            </a:r>
          </a:p>
        </p:txBody>
      </p:sp>
      <p:pic>
        <p:nvPicPr>
          <p:cNvPr id="89" name="Picture 8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181298" y="5570298"/>
            <a:ext cx="128699" cy="187198"/>
          </a:xfrm>
          <a:prstGeom prst="rect">
            <a:avLst/>
          </a:prstGeom>
        </p:spPr>
      </p:pic>
      <p:sp>
        <p:nvSpPr>
          <p:cNvPr id="90" name="TextBox 89"/>
          <p:cNvSpPr txBox="1"/>
          <p:nvPr/>
        </p:nvSpPr>
        <p:spPr>
          <a:xfrm>
            <a:off x="9348794" y="5580078"/>
            <a:ext cx="15272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/ 10 · major cost pressure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7381875" y="5798010"/>
            <a:ext cx="147838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Competitive Landscape</a:t>
            </a:r>
          </a:p>
        </p:txBody>
      </p:sp>
      <p:pic>
        <p:nvPicPr>
          <p:cNvPr id="92" name="Picture 9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808310" y="5788230"/>
            <a:ext cx="128699" cy="187198"/>
          </a:xfrm>
          <a:prstGeom prst="rect">
            <a:avLst/>
          </a:prstGeom>
        </p:spPr>
      </p:pic>
      <p:sp>
        <p:nvSpPr>
          <p:cNvPr id="93" name="TextBox 92"/>
          <p:cNvSpPr txBox="1"/>
          <p:nvPr/>
        </p:nvSpPr>
        <p:spPr>
          <a:xfrm>
            <a:off x="8975806" y="5798010"/>
            <a:ext cx="133022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/ 10 · key pricing lever</a:t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7381875" y="6015942"/>
            <a:ext cx="152531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Supply Chain &amp; Logistics</a:t>
            </a:r>
          </a:p>
        </p:txBody>
      </p:sp>
      <p:pic>
        <p:nvPicPr>
          <p:cNvPr id="95" name="Picture 9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855241" y="6006162"/>
            <a:ext cx="128699" cy="187198"/>
          </a:xfrm>
          <a:prstGeom prst="rect">
            <a:avLst/>
          </a:prstGeom>
        </p:spPr>
      </p:pic>
      <p:sp>
        <p:nvSpPr>
          <p:cNvPr id="96" name="TextBox 95"/>
          <p:cNvSpPr txBox="1"/>
          <p:nvPr/>
        </p:nvSpPr>
        <p:spPr>
          <a:xfrm>
            <a:off x="9022737" y="6015942"/>
            <a:ext cx="133022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/ 10 · key pricing lever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7381875" y="6233874"/>
            <a:ext cx="160007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Labor &amp; Production Costs</a:t>
            </a:r>
          </a:p>
        </p:txBody>
      </p:sp>
      <p:pic>
        <p:nvPicPr>
          <p:cNvPr id="98" name="Picture 9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930002" y="6224094"/>
            <a:ext cx="128699" cy="187198"/>
          </a:xfrm>
          <a:prstGeom prst="rect">
            <a:avLst/>
          </a:prstGeom>
        </p:spPr>
      </p:pic>
      <p:sp>
        <p:nvSpPr>
          <p:cNvPr id="99" name="TextBox 98"/>
          <p:cNvSpPr txBox="1"/>
          <p:nvPr/>
        </p:nvSpPr>
        <p:spPr>
          <a:xfrm>
            <a:off x="9097498" y="6233874"/>
            <a:ext cx="13875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/ 10 · supporting factor</a:t>
            </a:r>
          </a:p>
        </p:txBody>
      </p:sp>
    </p:spTree>
  </p:cSld>
  <p:clrMapOvr>
    <a:masterClrMapping/>
  </p:clrMapOvr>
</p:sld>
</file>

<file path=ppt/slides/slide20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Factors Impacting Pricing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Factors affecting the pricing decision of the product: category, price impact, direction of pressure and rationale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55552"/>
          </a:xfrm>
          <a:prstGeom prst="roundRect">
            <a:avLst>
              <a:gd name="adj" fmla="val 2981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The cost, demand, efficiency and regulatory forces shaping and impacting achievable selling prices grouped by category, with each factor's direction, impact and score.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14450"/>
            <a:ext cx="11906250" cy="3286125"/>
          </a:xfrm>
          <a:prstGeom prst="roundRect">
            <a:avLst>
              <a:gd name="adj" fmla="val 231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390650"/>
          <a:ext cx="11887199" cy="29813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561515"/>
                <a:gridCol w="2697613"/>
                <a:gridCol w="1098187"/>
                <a:gridCol w="1211368"/>
                <a:gridCol w="1098187"/>
                <a:gridCol w="3220329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Factor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Category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Price Impact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Direction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Score (0–10)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How It Shapes Price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7352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Input Cost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Cost &amp; Input Pressures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High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Raw-material and input costs.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7352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Labor &amp; Production Costs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Cost &amp; Input Pressures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Medium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Labour and production expenses.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7352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Supply Chain &amp; Logistics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Cost &amp; Input Pressures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Medium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Supply-chain and logistics conditions.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7352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Demand &amp; Market Conditions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Demand &amp; Competitive Forces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High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Demand and broader market conditions.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7352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Competitive Landscape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Demand &amp; Competitive Forces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High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E44D3A"/>
                          </a:solidFill>
                          <a:latin typeface="Calibri"/>
                        </a:rPr>
                        <a:t>▼ Downward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Competitive intensity.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7352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Brand &amp; Value Perception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Demand &amp; Competitive Forces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Medium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Brand strength and value perception.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7352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Technology &amp; Innovation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Innovation &amp; Operating Efficiency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Medium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E44D3A"/>
                          </a:solidFill>
                          <a:latin typeface="Calibri"/>
                        </a:rPr>
                        <a:t>▼ Downward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Technology and process innovation.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7352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Aftermarket &amp; Service Costs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Innovation &amp; Operating Efficiency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Low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Aftermarket and service costs.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7352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Regulatory &amp; Compliance Costs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Regulatory, Currency &amp; Macro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Medium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Regulatory and compliance costs.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7352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Currency &amp; Trade Dynamics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Regulatory, Currency &amp; Macro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Low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Currency and trade dynamics.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43815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142875" y="4752975"/>
            <a:ext cx="11906250" cy="1790700"/>
          </a:xfrm>
          <a:prstGeom prst="roundRect">
            <a:avLst>
              <a:gd name="adj" fmla="val 42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276225" y="483870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What the Factors Imply</a:t>
            </a:r>
          </a:p>
        </p:txBody>
      </p:sp>
      <p:sp>
        <p:nvSpPr>
          <p:cNvPr id="16" name="Rectangle 15"/>
          <p:cNvSpPr/>
          <p:nvPr/>
        </p:nvSpPr>
        <p:spPr>
          <a:xfrm>
            <a:off x="276225" y="50768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76225" y="5162550"/>
            <a:ext cx="11639550" cy="13049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9_0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988157" y="1640820"/>
            <a:ext cx="564037" cy="265429"/>
          </a:xfrm>
          <a:prstGeom prst="rect">
            <a:avLst/>
          </a:prstGeom>
        </p:spPr>
      </p:pic>
      <p:pic>
        <p:nvPicPr>
          <p:cNvPr id="20" name="Picture 19" descr="7_0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988157" y="1914341"/>
            <a:ext cx="564037" cy="265429"/>
          </a:xfrm>
          <a:prstGeom prst="rect">
            <a:avLst/>
          </a:prstGeom>
        </p:spPr>
      </p:pic>
      <p:pic>
        <p:nvPicPr>
          <p:cNvPr id="21" name="Picture 20" descr="7_5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988157" y="2187860"/>
            <a:ext cx="564037" cy="265429"/>
          </a:xfrm>
          <a:prstGeom prst="rect">
            <a:avLst/>
          </a:prstGeom>
        </p:spPr>
      </p:pic>
      <p:pic>
        <p:nvPicPr>
          <p:cNvPr id="22" name="Picture 21" descr="8_5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7988157" y="2461381"/>
            <a:ext cx="564037" cy="265429"/>
          </a:xfrm>
          <a:prstGeom prst="rect">
            <a:avLst/>
          </a:prstGeom>
        </p:spPr>
      </p:pic>
      <p:pic>
        <p:nvPicPr>
          <p:cNvPr id="23" name="Picture 22" descr="8_0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7988157" y="2734900"/>
            <a:ext cx="564037" cy="265429"/>
          </a:xfrm>
          <a:prstGeom prst="rect">
            <a:avLst/>
          </a:prstGeom>
        </p:spPr>
      </p:pic>
      <p:pic>
        <p:nvPicPr>
          <p:cNvPr id="24" name="Picture 23" descr="6_5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7988157" y="3008421"/>
            <a:ext cx="564037" cy="265429"/>
          </a:xfrm>
          <a:prstGeom prst="rect">
            <a:avLst/>
          </a:prstGeom>
        </p:spPr>
      </p:pic>
      <p:pic>
        <p:nvPicPr>
          <p:cNvPr id="25" name="Picture 24" descr="6_5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7988157" y="3281940"/>
            <a:ext cx="564037" cy="265429"/>
          </a:xfrm>
          <a:prstGeom prst="rect">
            <a:avLst/>
          </a:prstGeom>
        </p:spPr>
      </p:pic>
      <p:pic>
        <p:nvPicPr>
          <p:cNvPr id="26" name="Picture 25" descr="4_5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7988157" y="3555460"/>
            <a:ext cx="564037" cy="265429"/>
          </a:xfrm>
          <a:prstGeom prst="rect">
            <a:avLst/>
          </a:prstGeom>
        </p:spPr>
      </p:pic>
      <p:pic>
        <p:nvPicPr>
          <p:cNvPr id="27" name="Picture 26" descr="6_0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7988157" y="3828980"/>
            <a:ext cx="564037" cy="265429"/>
          </a:xfrm>
          <a:prstGeom prst="rect">
            <a:avLst/>
          </a:prstGeom>
        </p:spPr>
      </p:pic>
      <p:pic>
        <p:nvPicPr>
          <p:cNvPr id="28" name="Picture 27" descr="5_5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7988157" y="4102500"/>
            <a:ext cx="564037" cy="265429"/>
          </a:xfrm>
          <a:prstGeom prst="rect">
            <a:avLst/>
          </a:prstGeom>
        </p:spPr>
      </p:pic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8102155" y="2764346"/>
            <a:ext cx="330041" cy="480060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276225" y="5172075"/>
            <a:ext cx="54255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Input Cost and Demand &amp; Market Conditions carry the heaviest weight on selling prices (</a:t>
            </a:r>
          </a:p>
        </p:txBody>
      </p:sp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5650945" y="5161851"/>
            <a:ext cx="134549" cy="195707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5826054" y="5172075"/>
            <a:ext cx="29955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and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6074762" y="5161851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6249871" y="5172075"/>
            <a:ext cx="3951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/ 10).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276225" y="5399913"/>
            <a:ext cx="833344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8 of 10 factors exert upward pressure on price; the rest pull prices down chiefly Technology &amp; Innovation and the Competitive Landscape.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276225" y="5627750"/>
            <a:ext cx="805361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Cost-side factors set the price floor; demand, brand and competitive forces determine how much of that cost can be passed through.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276225" y="5855588"/>
            <a:ext cx="704837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Aftermarket &amp; Service Costs exerts the least pressure a second-order effect to monitor rather than actively manage.</a:t>
            </a:r>
          </a:p>
        </p:txBody>
      </p:sp>
    </p:spTree>
  </p:cSld>
  <p:clrMapOvr>
    <a:masterClrMapping/>
  </p:clrMapOvr>
</p:sld>
</file>

<file path=ppt/slides/slide20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Regional Price Assessment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Regional price assessment across the value chain, from manufacturer to retail, and average price by geography,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55552"/>
          </a:xfrm>
          <a:prstGeom prst="roundRect">
            <a:avLst>
              <a:gd name="adj" fmla="val 2981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Regional price assessment across the value chain (US$/MT) and price trajectory to 2036.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17574"/>
            <a:ext cx="5905500" cy="2738055"/>
          </a:xfrm>
          <a:prstGeom prst="roundRect">
            <a:avLst>
              <a:gd name="adj" fmla="val 278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374724"/>
            <a:ext cx="5715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Regional Price by Value-Chain Level (US$/MT)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574749"/>
          <a:ext cx="5886451" cy="227133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875075"/>
                <a:gridCol w="1252844"/>
                <a:gridCol w="1252844"/>
                <a:gridCol w="1252844"/>
                <a:gridCol w="1252844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Geography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Manufacturer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Distribution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Total Margin (%)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02520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Europe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855604"/>
            <a:ext cx="575310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6200775" y="1317574"/>
            <a:ext cx="5848350" cy="2738055"/>
          </a:xfrm>
          <a:prstGeom prst="roundRect">
            <a:avLst>
              <a:gd name="adj" fmla="val 278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6296025" y="1374724"/>
            <a:ext cx="56578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Price by Geography (US$/MT)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6210300" y="1574749"/>
          <a:ext cx="5829301" cy="227133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262773"/>
                <a:gridCol w="1141632"/>
                <a:gridCol w="1141632"/>
                <a:gridCol w="1141632"/>
                <a:gridCol w="114163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Geography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02520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Europe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6276975" y="3855604"/>
            <a:ext cx="56959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142875" y="4201658"/>
            <a:ext cx="11906250" cy="2354727"/>
          </a:xfrm>
          <a:prstGeom prst="roundRect">
            <a:avLst>
              <a:gd name="adj" fmla="val 32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276225" y="4287383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What This Section Covers</a:t>
            </a:r>
          </a:p>
        </p:txBody>
      </p:sp>
      <p:sp>
        <p:nvSpPr>
          <p:cNvPr id="21" name="Rectangle 20"/>
          <p:cNvSpPr/>
          <p:nvPr/>
        </p:nvSpPr>
        <p:spPr>
          <a:xfrm>
            <a:off x="276225" y="4525508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276225" y="4611233"/>
            <a:ext cx="11639550" cy="1868952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Manufacturer-level pricing ex-works / producer price benchmarked for each geography.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Distribution &amp; channel pricing logistics and channel margin layered onto the producer price.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Retail / end-market pricing the average price paid by the end customer across geographies.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Value-chain margin build-up cumulative margin from manufacturer to retail, by geography (prices derived as Value ÷ Volume).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" name="Picture 23" descr="9_716_82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78472" y="2700762"/>
            <a:ext cx="1350844" cy="265429"/>
          </a:xfrm>
          <a:prstGeom prst="rect">
            <a:avLst/>
          </a:prstGeom>
        </p:spPr>
      </p:pic>
      <p:pic>
        <p:nvPicPr>
          <p:cNvPr id="25" name="Picture 24" descr="13_454_06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153109" y="2700762"/>
            <a:ext cx="1507258" cy="265429"/>
          </a:xfrm>
          <a:prstGeom prst="rect">
            <a:avLst/>
          </a:prstGeom>
        </p:spPr>
      </p:pic>
      <p:pic>
        <p:nvPicPr>
          <p:cNvPr id="26" name="Picture 25" descr="18_686_19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405953" y="2700762"/>
            <a:ext cx="1507258" cy="265429"/>
          </a:xfrm>
          <a:prstGeom prst="rect">
            <a:avLst/>
          </a:prstGeom>
        </p:spPr>
      </p:pic>
      <p:pic>
        <p:nvPicPr>
          <p:cNvPr id="27" name="Picture 26" descr="48_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130409" y="2700762"/>
            <a:ext cx="564037" cy="265429"/>
          </a:xfrm>
          <a:prstGeom prst="rect">
            <a:avLst/>
          </a:prstGeom>
        </p:spPr>
      </p:pic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346472" y="2566777"/>
            <a:ext cx="366712" cy="533400"/>
          </a:xfrm>
          <a:prstGeom prst="rect">
            <a:avLst/>
          </a:prstGeom>
        </p:spPr>
      </p:pic>
      <p:pic>
        <p:nvPicPr>
          <p:cNvPr id="29" name="Picture 28" descr="18_686_19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290257" y="2700762"/>
            <a:ext cx="1507258" cy="265429"/>
          </a:xfrm>
          <a:prstGeom prst="rect">
            <a:avLst/>
          </a:prstGeom>
        </p:spPr>
      </p:pic>
      <p:pic>
        <p:nvPicPr>
          <p:cNvPr id="30" name="Picture 29" descr="18_990_70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8431889" y="2700762"/>
            <a:ext cx="1507258" cy="265429"/>
          </a:xfrm>
          <a:prstGeom prst="rect">
            <a:avLst/>
          </a:prstGeom>
        </p:spPr>
      </p:pic>
      <p:pic>
        <p:nvPicPr>
          <p:cNvPr id="31" name="Picture 30" descr="19_301_53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9573521" y="2700762"/>
            <a:ext cx="1507258" cy="265429"/>
          </a:xfrm>
          <a:prstGeom prst="rect">
            <a:avLst/>
          </a:prstGeom>
        </p:spPr>
      </p:pic>
      <p:pic>
        <p:nvPicPr>
          <p:cNvPr id="32" name="Picture 31" descr="19_713_13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10715153" y="2700762"/>
            <a:ext cx="1507258" cy="265429"/>
          </a:xfrm>
          <a:prstGeom prst="rect">
            <a:avLst/>
          </a:prstGeom>
        </p:spPr>
      </p:pic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569647" y="2566777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20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Europe Pricing Benchmarking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Benchmarking of price range by country and sub-segment against the weighted average price of each country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55552"/>
          </a:xfrm>
          <a:prstGeom prst="roundRect">
            <a:avLst>
              <a:gd name="adj" fmla="val 2981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Development-stage price assumptions and manufacturer benchmarking price range by product type type and region (US$/MT).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14450"/>
            <a:ext cx="11906250" cy="2352675"/>
          </a:xfrm>
          <a:prstGeom prst="roundRect">
            <a:avLst>
              <a:gd name="adj" fmla="val 323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37160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Price Benchmarking by Region &amp; Product Type (US$/MT)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571625"/>
          <a:ext cx="11887200" cy="188594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36448"/>
                <a:gridCol w="1748034"/>
                <a:gridCol w="2018782"/>
                <a:gridCol w="1736753"/>
                <a:gridCol w="1588621"/>
                <a:gridCol w="1605609"/>
                <a:gridCol w="1812900"/>
                <a:gridCol w="840053"/>
              </a:tblGrid>
              <a:tr h="43891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Region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Weighted Avg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144703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Europe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4671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819525"/>
            <a:ext cx="11906250" cy="2724150"/>
          </a:xfrm>
          <a:prstGeom prst="roundRect">
            <a:avLst>
              <a:gd name="adj" fmla="val 279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390525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Benchmarking Insights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414337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4229100"/>
            <a:ext cx="11639550" cy="223837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18_360_65_18_731_57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7162" y="2601340"/>
            <a:ext cx="3071393" cy="265429"/>
          </a:xfrm>
          <a:prstGeom prst="rect">
            <a:avLst/>
          </a:prstGeom>
        </p:spPr>
      </p:pic>
      <p:pic>
        <p:nvPicPr>
          <p:cNvPr id="21" name="Picture 20" descr="18_581_05_18_956_42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910570" y="2601340"/>
            <a:ext cx="3071393" cy="265429"/>
          </a:xfrm>
          <a:prstGeom prst="rect">
            <a:avLst/>
          </a:prstGeom>
        </p:spPr>
      </p:pic>
      <p:pic>
        <p:nvPicPr>
          <p:cNvPr id="22" name="Picture 21" descr="18_434_73_18_807_15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788338" y="2601340"/>
            <a:ext cx="3071393" cy="265429"/>
          </a:xfrm>
          <a:prstGeom prst="rect">
            <a:avLst/>
          </a:prstGeom>
        </p:spPr>
      </p:pic>
      <p:pic>
        <p:nvPicPr>
          <p:cNvPr id="23" name="Picture 22" descr="18_950_83_19_333_67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451025" y="2601340"/>
            <a:ext cx="3071393" cy="265429"/>
          </a:xfrm>
          <a:prstGeom prst="rect">
            <a:avLst/>
          </a:prstGeom>
        </p:spPr>
      </p:pic>
      <p:pic>
        <p:nvPicPr>
          <p:cNvPr id="24" name="Picture 23" descr="18_493_90_18_867_51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7048140" y="2601340"/>
            <a:ext cx="3071393" cy="265429"/>
          </a:xfrm>
          <a:prstGeom prst="rect">
            <a:avLst/>
          </a:prstGeom>
        </p:spPr>
      </p:pic>
      <p:pic>
        <p:nvPicPr>
          <p:cNvPr id="25" name="Picture 24" descr="18_511_59_18_885_57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8757394" y="2601340"/>
            <a:ext cx="3071393" cy="265429"/>
          </a:xfrm>
          <a:prstGeom prst="rect">
            <a:avLst/>
          </a:prstGeom>
        </p:spPr>
      </p:pic>
      <p:pic>
        <p:nvPicPr>
          <p:cNvPr id="26" name="Picture 25" descr="18_686_19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10865941" y="2601340"/>
            <a:ext cx="1507258" cy="265429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6177534" y="2467355"/>
            <a:ext cx="366712" cy="533400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76225" y="4238625"/>
            <a:ext cx="419555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On a weighted-average basis 'Europe' is the highest-priced region (~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4420930" y="4228401"/>
            <a:ext cx="134549" cy="195707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4596039" y="4238625"/>
            <a:ext cx="284458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US$/MT) and 'Europe' the most competitive (~</a:t>
            </a:r>
          </a:p>
        </p:txBody>
      </p:sp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7389782" y="4228401"/>
            <a:ext cx="134549" cy="195707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7564892" y="4238625"/>
            <a:ext cx="64499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US$/MT).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276225" y="4466463"/>
            <a:ext cx="592961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Price ranges are benchmarked per product type type at 2026, derived as Value ÷ Volume with a ±</a:t>
            </a:r>
          </a:p>
        </p:txBody>
      </p:sp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6154989" y="4456239"/>
            <a:ext cx="134549" cy="195707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6330098" y="4466463"/>
            <a:ext cx="14551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observed trading band.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276225" y="4694300"/>
            <a:ext cx="214086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Cross-region price dispersion of ~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2366246" y="4684077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541355" y="4694300"/>
            <a:ext cx="362704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× reflects differences in mix, logistics and channel structure.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276225" y="4922138"/>
            <a:ext cx="569170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Benchmarks support price-corridor setting and margin-defence decisions across geographies.</a:t>
            </a:r>
          </a:p>
        </p:txBody>
      </p:sp>
    </p:spTree>
  </p:cSld>
  <p:clrMapOvr>
    <a:masterClrMapping/>
  </p:clrMapOvr>
</p:sld>
</file>

<file path=ppt/slides/slide21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Price Forecast &amp; Dynamics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Price forecast by sub-segment, 2026–2036, with the factors and dynamics shaping the trajectory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55552"/>
          </a:xfrm>
          <a:prstGeom prst="roundRect">
            <a:avLst>
              <a:gd name="adj" fmla="val 2981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Forward price trajectory to 2036 by product type type and the structural factors shaping it (US$/MT).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17574"/>
            <a:ext cx="11906250" cy="1971399"/>
          </a:xfrm>
          <a:prstGeom prst="roundRect">
            <a:avLst>
              <a:gd name="adj" fmla="val 386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374724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Price Forecast to 2036 by Product Type (US$/MT)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574749"/>
          <a:ext cx="11887202" cy="150467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910874"/>
                <a:gridCol w="1329388"/>
                <a:gridCol w="1329388"/>
                <a:gridCol w="1329388"/>
                <a:gridCol w="1329388"/>
                <a:gridCol w="1329388"/>
                <a:gridCol w="1329388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125854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088948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398495"/>
            <a:ext cx="5905500" cy="3181350"/>
          </a:xfrm>
          <a:prstGeom prst="roundRect">
            <a:avLst>
              <a:gd name="adj" fmla="val 239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455645"/>
            <a:ext cx="5715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Factors Impacting Pricing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3655670"/>
          <a:ext cx="5886449" cy="27146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867491"/>
                <a:gridCol w="1509479"/>
                <a:gridCol w="1509479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Pricing Factor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Direction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Impact (H/M/L)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Input Cost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High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Labor &amp; Production Costs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Medium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Technology &amp; Innovation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E44D3A"/>
                          </a:solidFill>
                          <a:latin typeface="Calibri"/>
                        </a:rPr>
                        <a:t>▼ Downward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Medium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Supply Chain &amp; Logistics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Medium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Demand &amp; Market Conditions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High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Competitive Landscape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E44D3A"/>
                          </a:solidFill>
                          <a:latin typeface="Calibri"/>
                        </a:rPr>
                        <a:t>▼ Downward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High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Regulatory &amp; Compliance Costs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Medium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Currency &amp; Trade Dynamics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Low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Brand &amp; Value Perception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Medium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Aftermarket &amp; Service Costs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Low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6379820"/>
            <a:ext cx="575310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6200775" y="3398495"/>
            <a:ext cx="5848350" cy="3157890"/>
          </a:xfrm>
          <a:prstGeom prst="roundRect">
            <a:avLst>
              <a:gd name="adj" fmla="val 241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334125" y="3484220"/>
            <a:ext cx="55816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Pricing Dynamics &amp; Outlook</a:t>
            </a:r>
          </a:p>
        </p:txBody>
      </p:sp>
      <p:sp>
        <p:nvSpPr>
          <p:cNvPr id="21" name="Rectangle 20"/>
          <p:cNvSpPr/>
          <p:nvPr/>
        </p:nvSpPr>
        <p:spPr>
          <a:xfrm>
            <a:off x="6334125" y="3722345"/>
            <a:ext cx="55816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6334125" y="3808070"/>
            <a:ext cx="5581650" cy="267211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" name="Picture 23" descr="18_546_11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974336" y="2317434"/>
            <a:ext cx="1507258" cy="265429"/>
          </a:xfrm>
          <a:prstGeom prst="rect">
            <a:avLst/>
          </a:prstGeom>
        </p:spPr>
      </p:pic>
      <p:pic>
        <p:nvPicPr>
          <p:cNvPr id="25" name="Picture 24" descr="18_740_05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5303724" y="2317434"/>
            <a:ext cx="1507258" cy="265429"/>
          </a:xfrm>
          <a:prstGeom prst="rect">
            <a:avLst/>
          </a:prstGeom>
        </p:spPr>
      </p:pic>
      <p:pic>
        <p:nvPicPr>
          <p:cNvPr id="26" name="Picture 25" descr="18_939_14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633112" y="2317434"/>
            <a:ext cx="1507258" cy="265429"/>
          </a:xfrm>
          <a:prstGeom prst="rect">
            <a:avLst/>
          </a:prstGeom>
        </p:spPr>
      </p:pic>
      <p:pic>
        <p:nvPicPr>
          <p:cNvPr id="27" name="Picture 26" descr="19_141_75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7962500" y="2317434"/>
            <a:ext cx="1507258" cy="265429"/>
          </a:xfrm>
          <a:prstGeom prst="rect">
            <a:avLst/>
          </a:prstGeom>
        </p:spPr>
      </p:pic>
      <p:pic>
        <p:nvPicPr>
          <p:cNvPr id="28" name="Picture 27" descr="19_341_07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291888" y="2317434"/>
            <a:ext cx="1507258" cy="265429"/>
          </a:xfrm>
          <a:prstGeom prst="rect">
            <a:avLst/>
          </a:prstGeom>
        </p:spPr>
      </p:pic>
      <p:pic>
        <p:nvPicPr>
          <p:cNvPr id="29" name="Picture 28" descr="19_542_49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10621276" y="2317434"/>
            <a:ext cx="1507258" cy="265429"/>
          </a:xfrm>
          <a:prstGeom prst="rect">
            <a:avLst/>
          </a:prstGeom>
        </p:spPr>
      </p:pic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7864748" y="2183449"/>
            <a:ext cx="366712" cy="533400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6334125" y="3817595"/>
            <a:ext cx="334060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Average product type price is projected to rise from ~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9623884" y="3807371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9798993" y="3817595"/>
            <a:ext cx="30811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 ~</a:t>
            </a:r>
          </a:p>
        </p:txBody>
      </p:sp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10056259" y="3807371"/>
            <a:ext cx="134549" cy="195707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10231368" y="3817595"/>
            <a:ext cx="12785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US$/MT by 2036 a +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11459067" y="3807371"/>
            <a:ext cx="134549" cy="195707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6334125" y="3992855"/>
            <a:ext cx="44672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CAGR.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6334125" y="4220692"/>
            <a:ext cx="519251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'Fragrance &amp; Deodorizing Produ…' shows the strongest forecast price appreciation (+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11475793" y="4210469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1650902" y="4220692"/>
            <a:ext cx="12041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6334125" y="4395952"/>
            <a:ext cx="109427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over the horizon.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6334125" y="4623790"/>
            <a:ext cx="524243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Upward pressure is led by input cost and demand &amp; market conditions; efficiency and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6334125" y="4799050"/>
            <a:ext cx="256703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competitive intensity work the other way.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6334125" y="5026888"/>
            <a:ext cx="520363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Net outlook: modest, structural price appreciation mix and geography will determine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6334125" y="5202148"/>
            <a:ext cx="101611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realised pricing.</a:t>
            </a:r>
          </a:p>
        </p:txBody>
      </p:sp>
    </p:spTree>
  </p:cSld>
  <p:clrMapOvr>
    <a:masterClrMapping/>
  </p:clrMapOvr>
</p:sld>
</file>

<file path=ppt/slides/slide21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Price Forecast &amp; Dynamics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Price forecast by sub-segment, 2026–2036, with the factors and dynamics shaping the trajectory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1952625"/>
          </a:xfrm>
          <a:prstGeom prst="roundRect">
            <a:avLst>
              <a:gd name="adj" fmla="val 390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Price Forecast to 2036 by Product Type (US$/MT)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201" cy="14858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970375"/>
                <a:gridCol w="1319471"/>
                <a:gridCol w="1319471"/>
                <a:gridCol w="1319471"/>
                <a:gridCol w="1319471"/>
                <a:gridCol w="1319471"/>
                <a:gridCol w="1319471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Grooming…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Produ…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27336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18_768_73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028878" y="1475638"/>
            <a:ext cx="1507258" cy="265429"/>
          </a:xfrm>
          <a:prstGeom prst="rect">
            <a:avLst/>
          </a:prstGeom>
        </p:spPr>
      </p:pic>
      <p:pic>
        <p:nvPicPr>
          <p:cNvPr id="16" name="Picture 15" descr="18_978_54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5348349" y="1475638"/>
            <a:ext cx="1507258" cy="265429"/>
          </a:xfrm>
          <a:prstGeom prst="rect">
            <a:avLst/>
          </a:prstGeom>
        </p:spPr>
      </p:pic>
      <p:pic>
        <p:nvPicPr>
          <p:cNvPr id="17" name="Picture 16" descr="19_192_80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667820" y="1475638"/>
            <a:ext cx="1507258" cy="265429"/>
          </a:xfrm>
          <a:prstGeom prst="rect">
            <a:avLst/>
          </a:prstGeom>
        </p:spPr>
      </p:pic>
      <p:pic>
        <p:nvPicPr>
          <p:cNvPr id="18" name="Picture 17" descr="19_408_17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7987291" y="1475638"/>
            <a:ext cx="1507258" cy="265429"/>
          </a:xfrm>
          <a:prstGeom prst="rect">
            <a:avLst/>
          </a:prstGeom>
        </p:spPr>
      </p:pic>
      <p:pic>
        <p:nvPicPr>
          <p:cNvPr id="19" name="Picture 18" descr="19_620_82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306762" y="1475638"/>
            <a:ext cx="1507258" cy="265429"/>
          </a:xfrm>
          <a:prstGeom prst="rect">
            <a:avLst/>
          </a:prstGeom>
        </p:spPr>
      </p:pic>
      <p:pic>
        <p:nvPicPr>
          <p:cNvPr id="20" name="Picture 19" descr="19_834_52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10626233" y="1475638"/>
            <a:ext cx="1507258" cy="265429"/>
          </a:xfrm>
          <a:prstGeom prst="rect">
            <a:avLst/>
          </a:prstGeom>
        </p:spPr>
      </p:pic>
      <p:pic>
        <p:nvPicPr>
          <p:cNvPr id="21" name="Picture 20" descr="18_620_94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4028878" y="1723593"/>
            <a:ext cx="1507258" cy="265429"/>
          </a:xfrm>
          <a:prstGeom prst="rect">
            <a:avLst/>
          </a:prstGeom>
        </p:spPr>
      </p:pic>
      <p:pic>
        <p:nvPicPr>
          <p:cNvPr id="22" name="Picture 21" descr="18_824_11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5348349" y="1723593"/>
            <a:ext cx="1507258" cy="265429"/>
          </a:xfrm>
          <a:prstGeom prst="rect">
            <a:avLst/>
          </a:prstGeom>
        </p:spPr>
      </p:pic>
      <p:pic>
        <p:nvPicPr>
          <p:cNvPr id="23" name="Picture 22" descr="19_028_61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6667820" y="1723593"/>
            <a:ext cx="1507258" cy="265429"/>
          </a:xfrm>
          <a:prstGeom prst="rect">
            <a:avLst/>
          </a:prstGeom>
        </p:spPr>
      </p:pic>
      <p:pic>
        <p:nvPicPr>
          <p:cNvPr id="24" name="Picture 23" descr="19_236_12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7987291" y="1723593"/>
            <a:ext cx="1507258" cy="265429"/>
          </a:xfrm>
          <a:prstGeom prst="rect">
            <a:avLst/>
          </a:prstGeom>
        </p:spPr>
      </p:pic>
      <p:pic>
        <p:nvPicPr>
          <p:cNvPr id="25" name="Picture 24" descr="19_441_15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9306762" y="1723593"/>
            <a:ext cx="1507258" cy="265429"/>
          </a:xfrm>
          <a:prstGeom prst="rect">
            <a:avLst/>
          </a:prstGeom>
        </p:spPr>
      </p:pic>
      <p:pic>
        <p:nvPicPr>
          <p:cNvPr id="26" name="Picture 25" descr="19_645_65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10626233" y="1723593"/>
            <a:ext cx="1507258" cy="265429"/>
          </a:xfrm>
          <a:prstGeom prst="rect">
            <a:avLst/>
          </a:prstGeom>
        </p:spPr>
      </p:pic>
      <p:pic>
        <p:nvPicPr>
          <p:cNvPr id="27" name="Picture 26" descr="19_142_25_605E5C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4028878" y="1971548"/>
            <a:ext cx="1507258" cy="265429"/>
          </a:xfrm>
          <a:prstGeom prst="rect">
            <a:avLst/>
          </a:prstGeom>
        </p:spPr>
      </p:pic>
      <p:pic>
        <p:nvPicPr>
          <p:cNvPr id="28" name="Picture 27" descr="19_350_51_605E5C.png"/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5348349" y="1971548"/>
            <a:ext cx="1507258" cy="265429"/>
          </a:xfrm>
          <a:prstGeom prst="rect">
            <a:avLst/>
          </a:prstGeom>
        </p:spPr>
      </p:pic>
      <p:pic>
        <p:nvPicPr>
          <p:cNvPr id="29" name="Picture 28" descr="19_561_68_605E5C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6667820" y="1971548"/>
            <a:ext cx="1507258" cy="265429"/>
          </a:xfrm>
          <a:prstGeom prst="rect">
            <a:avLst/>
          </a:prstGeom>
        </p:spPr>
      </p:pic>
      <p:pic>
        <p:nvPicPr>
          <p:cNvPr id="30" name="Picture 29" descr="19_776_56_605E5C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7987291" y="1971548"/>
            <a:ext cx="1507258" cy="265429"/>
          </a:xfrm>
          <a:prstGeom prst="rect">
            <a:avLst/>
          </a:prstGeom>
        </p:spPr>
      </p:pic>
      <p:pic>
        <p:nvPicPr>
          <p:cNvPr id="31" name="Picture 30" descr="19_989_04_605E5C.png"/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9306762" y="1971548"/>
            <a:ext cx="1507258" cy="265429"/>
          </a:xfrm>
          <a:prstGeom prst="rect">
            <a:avLst/>
          </a:prstGeom>
        </p:spPr>
      </p:pic>
      <p:pic>
        <p:nvPicPr>
          <p:cNvPr id="32" name="Picture 31" descr="20_201_75_605E5C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10626233" y="1971548"/>
            <a:ext cx="1507258" cy="265429"/>
          </a:xfrm>
          <a:prstGeom prst="rect">
            <a:avLst/>
          </a:prstGeom>
        </p:spPr>
      </p:pic>
      <p:pic>
        <p:nvPicPr>
          <p:cNvPr id="33" name="Picture 32" descr="18_680_70_605E5C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4028878" y="2219503"/>
            <a:ext cx="1507258" cy="265429"/>
          </a:xfrm>
          <a:prstGeom prst="rect">
            <a:avLst/>
          </a:prstGeom>
        </p:spPr>
      </p:pic>
      <p:pic>
        <p:nvPicPr>
          <p:cNvPr id="34" name="Picture 33" descr="18_884_11_605E5C.png"/>
          <p:cNvPicPr>
            <a:picLocks noChangeAspect="1"/>
          </p:cNvPicPr>
          <p:nvPr/>
        </p:nvPicPr>
        <p:blipFill>
          <a:blip r:embed="rId23"/>
          <a:stretch>
            <a:fillRect/>
          </a:stretch>
        </p:blipFill>
        <p:spPr>
          <a:xfrm>
            <a:off x="5348349" y="2219503"/>
            <a:ext cx="1507258" cy="265429"/>
          </a:xfrm>
          <a:prstGeom prst="rect">
            <a:avLst/>
          </a:prstGeom>
        </p:spPr>
      </p:pic>
      <p:pic>
        <p:nvPicPr>
          <p:cNvPr id="35" name="Picture 34" descr="19_089_73_605E5C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6667820" y="2219503"/>
            <a:ext cx="1507258" cy="265429"/>
          </a:xfrm>
          <a:prstGeom prst="rect">
            <a:avLst/>
          </a:prstGeom>
        </p:spPr>
      </p:pic>
      <p:pic>
        <p:nvPicPr>
          <p:cNvPr id="36" name="Picture 35" descr="19_297_42_605E5C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7987291" y="2219503"/>
            <a:ext cx="1507258" cy="265429"/>
          </a:xfrm>
          <a:prstGeom prst="rect">
            <a:avLst/>
          </a:prstGeom>
        </p:spPr>
      </p:pic>
      <p:pic>
        <p:nvPicPr>
          <p:cNvPr id="37" name="Picture 36" descr="19_502_10_605E5C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9306762" y="2219503"/>
            <a:ext cx="1507258" cy="265429"/>
          </a:xfrm>
          <a:prstGeom prst="rect">
            <a:avLst/>
          </a:prstGeom>
        </p:spPr>
      </p:pic>
      <p:pic>
        <p:nvPicPr>
          <p:cNvPr id="38" name="Picture 37" descr="19_707_76_605E5C.png"/>
          <p:cNvPicPr>
            <a:picLocks noChangeAspect="1"/>
          </p:cNvPicPr>
          <p:nvPr/>
        </p:nvPicPr>
        <p:blipFill>
          <a:blip r:embed="rId27"/>
          <a:stretch>
            <a:fillRect/>
          </a:stretch>
        </p:blipFill>
        <p:spPr>
          <a:xfrm>
            <a:off x="10626233" y="2219503"/>
            <a:ext cx="1507258" cy="265429"/>
          </a:xfrm>
          <a:prstGeom prst="rect">
            <a:avLst/>
          </a:prstGeom>
        </p:spPr>
      </p:pic>
      <p:pic>
        <p:nvPicPr>
          <p:cNvPr id="39" name="Picture 38" descr="18_698_58_605E5C.png"/>
          <p:cNvPicPr>
            <a:picLocks noChangeAspect="1"/>
          </p:cNvPicPr>
          <p:nvPr/>
        </p:nvPicPr>
        <p:blipFill>
          <a:blip r:embed="rId28"/>
          <a:stretch>
            <a:fillRect/>
          </a:stretch>
        </p:blipFill>
        <p:spPr>
          <a:xfrm>
            <a:off x="4028878" y="2467458"/>
            <a:ext cx="1507258" cy="265429"/>
          </a:xfrm>
          <a:prstGeom prst="rect">
            <a:avLst/>
          </a:prstGeom>
        </p:spPr>
      </p:pic>
      <p:pic>
        <p:nvPicPr>
          <p:cNvPr id="40" name="Picture 39" descr="18_908_27_605E5C.png"/>
          <p:cNvPicPr>
            <a:picLocks noChangeAspect="1"/>
          </p:cNvPicPr>
          <p:nvPr/>
        </p:nvPicPr>
        <p:blipFill>
          <a:blip r:embed="rId29"/>
          <a:stretch>
            <a:fillRect/>
          </a:stretch>
        </p:blipFill>
        <p:spPr>
          <a:xfrm>
            <a:off x="5348349" y="2467458"/>
            <a:ext cx="1507258" cy="265429"/>
          </a:xfrm>
          <a:prstGeom prst="rect">
            <a:avLst/>
          </a:prstGeom>
        </p:spPr>
      </p:pic>
      <p:pic>
        <p:nvPicPr>
          <p:cNvPr id="41" name="Picture 40" descr="19_123_24_605E5C.png"/>
          <p:cNvPicPr>
            <a:picLocks noChangeAspect="1"/>
          </p:cNvPicPr>
          <p:nvPr/>
        </p:nvPicPr>
        <p:blipFill>
          <a:blip r:embed="rId30"/>
          <a:stretch>
            <a:fillRect/>
          </a:stretch>
        </p:blipFill>
        <p:spPr>
          <a:xfrm>
            <a:off x="6667820" y="2467458"/>
            <a:ext cx="1507258" cy="265429"/>
          </a:xfrm>
          <a:prstGeom prst="rect">
            <a:avLst/>
          </a:prstGeom>
        </p:spPr>
      </p:pic>
      <p:pic>
        <p:nvPicPr>
          <p:cNvPr id="42" name="Picture 41" descr="19_341_38_605E5C.png"/>
          <p:cNvPicPr>
            <a:picLocks noChangeAspect="1"/>
          </p:cNvPicPr>
          <p:nvPr/>
        </p:nvPicPr>
        <p:blipFill>
          <a:blip r:embed="rId31"/>
          <a:stretch>
            <a:fillRect/>
          </a:stretch>
        </p:blipFill>
        <p:spPr>
          <a:xfrm>
            <a:off x="7987291" y="2467458"/>
            <a:ext cx="1507258" cy="265429"/>
          </a:xfrm>
          <a:prstGeom prst="rect">
            <a:avLst/>
          </a:prstGeom>
        </p:spPr>
      </p:pic>
      <p:pic>
        <p:nvPicPr>
          <p:cNvPr id="43" name="Picture 42" descr="19_555_13_605E5C.png"/>
          <p:cNvPicPr>
            <a:picLocks noChangeAspect="1"/>
          </p:cNvPicPr>
          <p:nvPr/>
        </p:nvPicPr>
        <p:blipFill>
          <a:blip r:embed="rId32"/>
          <a:stretch>
            <a:fillRect/>
          </a:stretch>
        </p:blipFill>
        <p:spPr>
          <a:xfrm>
            <a:off x="9306762" y="2467458"/>
            <a:ext cx="1507258" cy="265429"/>
          </a:xfrm>
          <a:prstGeom prst="rect">
            <a:avLst/>
          </a:prstGeom>
        </p:spPr>
      </p:pic>
      <p:pic>
        <p:nvPicPr>
          <p:cNvPr id="44" name="Picture 43" descr="19_772_29_605E5C.png"/>
          <p:cNvPicPr>
            <a:picLocks noChangeAspect="1"/>
          </p:cNvPicPr>
          <p:nvPr/>
        </p:nvPicPr>
        <p:blipFill>
          <a:blip r:embed="rId33"/>
          <a:stretch>
            <a:fillRect/>
          </a:stretch>
        </p:blipFill>
        <p:spPr>
          <a:xfrm>
            <a:off x="10626233" y="2467458"/>
            <a:ext cx="1507258" cy="265429"/>
          </a:xfrm>
          <a:prstGeom prst="rect">
            <a:avLst/>
          </a:prstGeom>
        </p:spPr>
      </p:pic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34"/>
          <a:stretch>
            <a:fillRect/>
          </a:stretch>
        </p:blipFill>
        <p:spPr>
          <a:xfrm>
            <a:off x="7894497" y="1837563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21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Competitor Pricing Strategies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how leading players position price: tier, price position versus peers and strategy focus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7696200" cy="255552"/>
          </a:xfrm>
          <a:prstGeom prst="roundRect">
            <a:avLst>
              <a:gd name="adj" fmla="val 2981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Competitor pricing strategies how leading players position price and the levers they use to sustain it.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17574"/>
            <a:ext cx="7696200" cy="3924545"/>
          </a:xfrm>
          <a:prstGeom prst="roundRect">
            <a:avLst>
              <a:gd name="adj" fmla="val 194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393774"/>
          <a:ext cx="7677149" cy="361974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936583"/>
                <a:gridCol w="580984"/>
                <a:gridCol w="1221399"/>
                <a:gridCol w="1143379"/>
                <a:gridCol w="2794804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Company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Tier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Price Position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ASP vs Peers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Strategy Focus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56227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Beaphar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Tier 1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Premium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Premium, brand-led pricing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56227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Laboratoire Biogance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Tier 1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Premium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Value-based premium pricing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56227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Laboratoire Francodex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Tier 1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Premium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Innovation-led price leadership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56227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Group55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Tier 1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Parity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Parity pricing with mix upsell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56227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Lakeland Cosmetics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Tier 2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Parity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Penetration &amp; share-led pricing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56227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Laboratorios Bilper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Tier 2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Parity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Competitive / discount-led pricing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5023044"/>
            <a:ext cx="754380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142875" y="5351641"/>
            <a:ext cx="7696200" cy="365074"/>
          </a:xfrm>
          <a:prstGeom prst="roundRect">
            <a:avLst>
              <a:gd name="adj" fmla="val 2087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Note: competitor figures are indicative derived from market modelling and expert validation, not company disclosures.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7915275" y="1317574"/>
            <a:ext cx="4133850" cy="5238811"/>
          </a:xfrm>
          <a:prstGeom prst="roundRect">
            <a:avLst>
              <a:gd name="adj" fmla="val 184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8048625" y="1403299"/>
            <a:ext cx="38671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Competitive Pricing Themes</a:t>
            </a:r>
          </a:p>
        </p:txBody>
      </p:sp>
      <p:sp>
        <p:nvSpPr>
          <p:cNvPr id="17" name="Rectangle 16"/>
          <p:cNvSpPr/>
          <p:nvPr/>
        </p:nvSpPr>
        <p:spPr>
          <a:xfrm>
            <a:off x="8048625" y="1641424"/>
            <a:ext cx="38671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8048625" y="1727149"/>
            <a:ext cx="3867150" cy="4753036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Tier 1 players anchor premium pricing, defending ASP through brand, product development and certification rather than discounting.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Mid-tier players price at or just below parity, using launches and expansion to win share in fast-growing segments.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Emerging players compete on value pricing, trading margin for access and volume in price-sensitive regions.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Across tiers, R&amp;D investment and selective M&amp;A are the primary levers to move up the price ladder over time.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_6_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1036" y="1788320"/>
            <a:ext cx="564037" cy="265429"/>
          </a:xfrm>
          <a:prstGeom prst="rect">
            <a:avLst/>
          </a:prstGeom>
        </p:spPr>
      </p:pic>
      <p:pic>
        <p:nvPicPr>
          <p:cNvPr id="21" name="Picture 20" descr="_5_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4181036" y="2350590"/>
            <a:ext cx="564037" cy="265429"/>
          </a:xfrm>
          <a:prstGeom prst="rect">
            <a:avLst/>
          </a:prstGeom>
        </p:spPr>
      </p:pic>
      <p:pic>
        <p:nvPicPr>
          <p:cNvPr id="22" name="Picture 21" descr="_4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181036" y="2912860"/>
            <a:ext cx="564037" cy="265429"/>
          </a:xfrm>
          <a:prstGeom prst="rect">
            <a:avLst/>
          </a:prstGeom>
        </p:spPr>
      </p:pic>
      <p:pic>
        <p:nvPicPr>
          <p:cNvPr id="23" name="Picture 22" descr="_3_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181036" y="3475130"/>
            <a:ext cx="564037" cy="265429"/>
          </a:xfrm>
          <a:prstGeom prst="rect">
            <a:avLst/>
          </a:prstGeom>
        </p:spPr>
      </p:pic>
      <p:pic>
        <p:nvPicPr>
          <p:cNvPr id="24" name="Picture 23" descr="_2_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4181036" y="4037399"/>
            <a:ext cx="564037" cy="265429"/>
          </a:xfrm>
          <a:prstGeom prst="rect">
            <a:avLst/>
          </a:prstGeom>
        </p:spPr>
      </p:pic>
      <p:pic>
        <p:nvPicPr>
          <p:cNvPr id="25" name="Picture 24" descr="_1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4181036" y="4599670"/>
            <a:ext cx="564037" cy="265429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4295034" y="3086680"/>
            <a:ext cx="330041" cy="480060"/>
          </a:xfrm>
          <a:prstGeom prst="rect">
            <a:avLst/>
          </a:prstGeom>
        </p:spPr>
      </p:pic>
    </p:spTree>
  </p:cSld>
  <p:clrMapOvr>
    <a:masterClrMapping/>
  </p:clrMapOvr>
</p:sld>
</file>

<file path=ppt/slides/slide21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A2A63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FMI Section Breaker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0A2A63"/>
              </a:gs>
              <a:gs pos="100000">
                <a:srgbClr val="0F3F8F"/>
              </a:gs>
            </a:gsLst>
            <a:lin scaled="0" ang="195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399064" y="525547"/>
            <a:ext cx="1340395" cy="823424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4" name="Picture 3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5" name="TextBox 4"/>
          <p:cNvSpPr txBox="1"/>
          <p:nvPr/>
        </p:nvSpPr>
        <p:spPr>
          <a:xfrm>
            <a:off x="914400" y="3394075"/>
            <a:ext cx="7239000" cy="24765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400" b="0">
                <a:solidFill>
                  <a:srgbClr val="8FC8F2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6" name="FMI Breaker Title"/>
          <p:cNvSpPr txBox="1"/>
          <p:nvPr/>
        </p:nvSpPr>
        <p:spPr>
          <a:xfrm>
            <a:off x="914400" y="3698875"/>
            <a:ext cx="72390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 cap="all" spc="400">
                <a:solidFill>
                  <a:srgbClr val="FFFFFF"/>
                </a:solidFill>
                <a:latin typeface="Calibri"/>
              </a:rPr>
              <a:t>Supply Chain Analysis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914400" y="4403725"/>
            <a:ext cx="7124700" cy="4889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</a:t>
            </a:r>
            <a:r>
              <a:rPr sz="2000" b="0">
                <a:solidFill>
                  <a:srgbClr val="FFD447"/>
                </a:solidFill>
                <a:latin typeface="Calibri"/>
              </a:rPr>
              <a:t>Supply Chain Analysis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4000500" y="6734175"/>
            <a:ext cx="8020050" cy="123825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r"/>
            <a:r>
              <a:rPr sz="700" b="0">
                <a:solidFill>
                  <a:srgbClr val="C9DCEE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1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13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Supply Chain Analysis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Value Chain &amp; Stakeholder Mapping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Operating Margin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Buyers Assessment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1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Value Chain &amp; Stakeholder Mapping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Mapping of the value chain stages, the stakeholders at each stage and the value added along the chain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285750" y="970754"/>
            <a:ext cx="10668000" cy="164283"/>
          </a:xfrm>
          <a:prstGeom prst="rect">
            <a:avLst/>
          </a:prstGeom>
          <a:noFill/>
        </p:spPr>
        <p:txBody>
          <a:bodyPr wrap="square" lIns="0" rIns="19050" tIns="0" bIns="0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End-to-end value chain with the key stakeholders at each stage and their indicative contribution to value addition.</a:t>
            </a:r>
          </a:p>
        </p:txBody>
      </p:sp>
      <p:sp>
        <p:nvSpPr>
          <p:cNvPr id="11" name="Right Arrow 10"/>
          <p:cNvSpPr/>
          <p:nvPr/>
        </p:nvSpPr>
        <p:spPr>
          <a:xfrm>
            <a:off x="1885950" y="2020341"/>
            <a:ext cx="1562100" cy="164283"/>
          </a:xfrm>
          <a:prstGeom prst="rightArrow">
            <a:avLst>
              <a:gd name="adj1" fmla="val 50000"/>
              <a:gd name="adj2" fmla="val 55000"/>
            </a:avLst>
          </a:prstGeom>
          <a:solidFill>
            <a:srgbClr val="CBD5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ight Arrow 11"/>
          <p:cNvSpPr/>
          <p:nvPr/>
        </p:nvSpPr>
        <p:spPr>
          <a:xfrm>
            <a:off x="4171950" y="2020341"/>
            <a:ext cx="1562100" cy="164283"/>
          </a:xfrm>
          <a:prstGeom prst="rightArrow">
            <a:avLst>
              <a:gd name="adj1" fmla="val 50000"/>
              <a:gd name="adj2" fmla="val 55000"/>
            </a:avLst>
          </a:prstGeom>
          <a:solidFill>
            <a:srgbClr val="CBD5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Right Arrow 12"/>
          <p:cNvSpPr/>
          <p:nvPr/>
        </p:nvSpPr>
        <p:spPr>
          <a:xfrm>
            <a:off x="6457950" y="2020341"/>
            <a:ext cx="1562100" cy="164283"/>
          </a:xfrm>
          <a:prstGeom prst="rightArrow">
            <a:avLst>
              <a:gd name="adj1" fmla="val 50000"/>
              <a:gd name="adj2" fmla="val 55000"/>
            </a:avLst>
          </a:prstGeom>
          <a:solidFill>
            <a:srgbClr val="CBD5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Right Arrow 13"/>
          <p:cNvSpPr/>
          <p:nvPr/>
        </p:nvSpPr>
        <p:spPr>
          <a:xfrm>
            <a:off x="8743950" y="2020341"/>
            <a:ext cx="1562100" cy="164283"/>
          </a:xfrm>
          <a:prstGeom prst="rightArrow">
            <a:avLst>
              <a:gd name="adj1" fmla="val 50000"/>
              <a:gd name="adj2" fmla="val 55000"/>
            </a:avLst>
          </a:prstGeom>
          <a:solidFill>
            <a:srgbClr val="CBD5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19100" y="1262813"/>
            <a:ext cx="2209800" cy="346820"/>
          </a:xfrm>
          <a:prstGeom prst="rect">
            <a:avLst/>
          </a:prstGeom>
          <a:noFill/>
        </p:spPr>
        <p:txBody>
          <a:bodyPr wrap="square" lIns="28575" rIns="28575" tIns="9525" bIns="9525" anchor="b">
            <a:spAutoFit/>
          </a:bodyPr>
          <a:lstStyle/>
          <a:p>
            <a:pPr algn="ctr">
              <a:lnSpc>
                <a:spcPct val="100000"/>
              </a:lnSpc>
            </a:pPr>
            <a:r>
              <a:rPr sz="1100" b="1">
                <a:solidFill>
                  <a:srgbClr val="0B2E4A"/>
                </a:solidFill>
                <a:latin typeface="Calibri"/>
              </a:rPr>
              <a:t>Raw Material</a:t>
            </a:r>
          </a:p>
          <a:p>
            <a:pPr algn="ctr">
              <a:lnSpc>
                <a:spcPct val="100000"/>
              </a:lnSpc>
            </a:pPr>
            <a:r>
              <a:rPr sz="1100" b="1">
                <a:solidFill>
                  <a:srgbClr val="0B2E4A"/>
                </a:solidFill>
                <a:latin typeface="Calibri"/>
              </a:rPr>
              <a:t>Suppliers</a:t>
            </a:r>
          </a:p>
        </p:txBody>
      </p:sp>
      <p:sp>
        <p:nvSpPr>
          <p:cNvPr id="16" name="Oval 15"/>
          <p:cNvSpPr/>
          <p:nvPr/>
        </p:nvSpPr>
        <p:spPr>
          <a:xfrm>
            <a:off x="1076325" y="1673521"/>
            <a:ext cx="895350" cy="857924"/>
          </a:xfrm>
          <a:prstGeom prst="ellipse">
            <a:avLst/>
          </a:prstGeom>
          <a:solidFill>
            <a:srgbClr val="EEF3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Oval 16"/>
          <p:cNvSpPr/>
          <p:nvPr/>
        </p:nvSpPr>
        <p:spPr>
          <a:xfrm>
            <a:off x="1123950" y="1719155"/>
            <a:ext cx="800100" cy="766655"/>
          </a:xfrm>
          <a:prstGeom prst="ellipse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Rectangle 17"/>
          <p:cNvSpPr/>
          <p:nvPr/>
        </p:nvSpPr>
        <p:spPr>
          <a:xfrm>
            <a:off x="1509712" y="2084229"/>
            <a:ext cx="28575" cy="155156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Oval 18"/>
          <p:cNvSpPr/>
          <p:nvPr/>
        </p:nvSpPr>
        <p:spPr>
          <a:xfrm rot="19500000">
            <a:off x="1381125" y="2020341"/>
            <a:ext cx="142875" cy="82142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Oval 19"/>
          <p:cNvSpPr/>
          <p:nvPr/>
        </p:nvSpPr>
        <p:spPr>
          <a:xfrm rot="2100000">
            <a:off x="1524000" y="2020341"/>
            <a:ext cx="142875" cy="82142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Rounded Rectangle 20"/>
          <p:cNvSpPr/>
          <p:nvPr/>
        </p:nvSpPr>
        <p:spPr>
          <a:xfrm>
            <a:off x="1000125" y="2595333"/>
            <a:ext cx="1047750" cy="219044"/>
          </a:xfrm>
          <a:prstGeom prst="roundRect">
            <a:avLst>
              <a:gd name="adj" fmla="val 50000"/>
            </a:avLst>
          </a:prstGeom>
          <a:solidFill>
            <a:srgbClr val="F0E8F6"/>
          </a:solidFill>
          <a:ln w="9525">
            <a:solidFill>
              <a:srgbClr val="6F3CC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6F3CC2"/>
                </a:solidFill>
                <a:latin typeface="Calibri"/>
              </a:rPr>
              <a:t> </a:t>
            </a:r>
          </a:p>
        </p:txBody>
      </p:sp>
      <p:sp>
        <p:nvSpPr>
          <p:cNvPr id="22" name="Rounded Rectangle 21"/>
          <p:cNvSpPr/>
          <p:nvPr/>
        </p:nvSpPr>
        <p:spPr>
          <a:xfrm>
            <a:off x="457200" y="2905646"/>
            <a:ext cx="2133600" cy="2281712"/>
          </a:xfrm>
          <a:prstGeom prst="roundRect">
            <a:avLst>
              <a:gd name="adj" fmla="val 357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Rectangle 22"/>
          <p:cNvSpPr/>
          <p:nvPr/>
        </p:nvSpPr>
        <p:spPr>
          <a:xfrm>
            <a:off x="457200" y="2905646"/>
            <a:ext cx="2133600" cy="4563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542925" y="3015168"/>
            <a:ext cx="1962150" cy="219044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05000"/>
              </a:lnSpc>
            </a:pPr>
            <a:r>
              <a:rPr sz="1150" b="1">
                <a:solidFill>
                  <a:srgbClr val="0B2E4A"/>
                </a:solidFill>
                <a:latin typeface="Calibri"/>
              </a:rPr>
              <a:t>Raw Material Suppliers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542925" y="3234212"/>
            <a:ext cx="19621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Base Year: 2026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542925" y="3453257"/>
            <a:ext cx="1962150" cy="164283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2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Growers and primary producers supply core inputs; some forward-integrate into small-scale processing.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2705100" y="1262813"/>
            <a:ext cx="2209800" cy="346820"/>
          </a:xfrm>
          <a:prstGeom prst="rect">
            <a:avLst/>
          </a:prstGeom>
          <a:noFill/>
        </p:spPr>
        <p:txBody>
          <a:bodyPr wrap="square" lIns="28575" rIns="28575" tIns="9525" bIns="9525" anchor="b">
            <a:spAutoFit/>
          </a:bodyPr>
          <a:lstStyle/>
          <a:p>
            <a:pPr algn="ctr">
              <a:lnSpc>
                <a:spcPct val="100000"/>
              </a:lnSpc>
            </a:pPr>
            <a:r>
              <a:rPr sz="1100" b="1">
                <a:solidFill>
                  <a:srgbClr val="0B2E4A"/>
                </a:solidFill>
                <a:latin typeface="Calibri"/>
              </a:rPr>
              <a:t>Manufacturers</a:t>
            </a:r>
          </a:p>
        </p:txBody>
      </p:sp>
      <p:sp>
        <p:nvSpPr>
          <p:cNvPr id="28" name="Oval 27"/>
          <p:cNvSpPr/>
          <p:nvPr/>
        </p:nvSpPr>
        <p:spPr>
          <a:xfrm>
            <a:off x="3362325" y="1673521"/>
            <a:ext cx="895350" cy="857924"/>
          </a:xfrm>
          <a:prstGeom prst="ellipse">
            <a:avLst/>
          </a:prstGeom>
          <a:solidFill>
            <a:srgbClr val="EEF3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Oval 28"/>
          <p:cNvSpPr/>
          <p:nvPr/>
        </p:nvSpPr>
        <p:spPr>
          <a:xfrm>
            <a:off x="3409950" y="1719155"/>
            <a:ext cx="800100" cy="766655"/>
          </a:xfrm>
          <a:prstGeom prst="ellipse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Rectangle 29"/>
          <p:cNvSpPr/>
          <p:nvPr/>
        </p:nvSpPr>
        <p:spPr>
          <a:xfrm>
            <a:off x="3638550" y="2084229"/>
            <a:ext cx="342900" cy="164283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Rectangle 30"/>
          <p:cNvSpPr/>
          <p:nvPr/>
        </p:nvSpPr>
        <p:spPr>
          <a:xfrm>
            <a:off x="3667125" y="1983834"/>
            <a:ext cx="66675" cy="109522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Rectangle 31"/>
          <p:cNvSpPr/>
          <p:nvPr/>
        </p:nvSpPr>
        <p:spPr>
          <a:xfrm>
            <a:off x="3771900" y="2020341"/>
            <a:ext cx="66675" cy="7301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Rectangle 32"/>
          <p:cNvSpPr/>
          <p:nvPr/>
        </p:nvSpPr>
        <p:spPr>
          <a:xfrm>
            <a:off x="3876675" y="1992961"/>
            <a:ext cx="66675" cy="10039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ounded Rectangle 33"/>
          <p:cNvSpPr/>
          <p:nvPr/>
        </p:nvSpPr>
        <p:spPr>
          <a:xfrm>
            <a:off x="3286125" y="2595333"/>
            <a:ext cx="1047750" cy="219044"/>
          </a:xfrm>
          <a:prstGeom prst="roundRect">
            <a:avLst>
              <a:gd name="adj" fmla="val 50000"/>
            </a:avLst>
          </a:prstGeom>
          <a:solidFill>
            <a:srgbClr val="F0E8F6"/>
          </a:solidFill>
          <a:ln w="9525">
            <a:solidFill>
              <a:srgbClr val="6F3CC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6F3CC2"/>
                </a:solidFill>
                <a:latin typeface="Calibri"/>
              </a:rPr>
              <a:t> </a:t>
            </a:r>
          </a:p>
        </p:txBody>
      </p:sp>
      <p:sp>
        <p:nvSpPr>
          <p:cNvPr id="35" name="Rounded Rectangle 34"/>
          <p:cNvSpPr/>
          <p:nvPr/>
        </p:nvSpPr>
        <p:spPr>
          <a:xfrm>
            <a:off x="2743200" y="2905646"/>
            <a:ext cx="2133600" cy="2281712"/>
          </a:xfrm>
          <a:prstGeom prst="roundRect">
            <a:avLst>
              <a:gd name="adj" fmla="val 357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2743200" y="2905646"/>
            <a:ext cx="2133600" cy="4563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TextBox 36"/>
          <p:cNvSpPr txBox="1"/>
          <p:nvPr/>
        </p:nvSpPr>
        <p:spPr>
          <a:xfrm>
            <a:off x="2828925" y="3015168"/>
            <a:ext cx="1962150" cy="219044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05000"/>
              </a:lnSpc>
            </a:pPr>
            <a:r>
              <a:rPr sz="1150" b="1">
                <a:solidFill>
                  <a:srgbClr val="0B2E4A"/>
                </a:solidFill>
                <a:latin typeface="Calibri"/>
              </a:rPr>
              <a:t>Manufacturers / Processors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2828925" y="3234212"/>
            <a:ext cx="19621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Base Year: 2026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2828925" y="3453257"/>
            <a:ext cx="1962150" cy="164283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2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Convert inputs into finished and semi-finished product the single largest value-addition stage.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4991100" y="1262813"/>
            <a:ext cx="2209800" cy="346820"/>
          </a:xfrm>
          <a:prstGeom prst="rect">
            <a:avLst/>
          </a:prstGeom>
          <a:noFill/>
        </p:spPr>
        <p:txBody>
          <a:bodyPr wrap="square" lIns="28575" rIns="28575" tIns="9525" bIns="9525" anchor="b">
            <a:spAutoFit/>
          </a:bodyPr>
          <a:lstStyle/>
          <a:p>
            <a:pPr algn="ctr">
              <a:lnSpc>
                <a:spcPct val="100000"/>
              </a:lnSpc>
            </a:pPr>
            <a:r>
              <a:rPr sz="1100" b="1">
                <a:solidFill>
                  <a:srgbClr val="0B2E4A"/>
                </a:solidFill>
                <a:latin typeface="Calibri"/>
              </a:rPr>
              <a:t>Distributors</a:t>
            </a:r>
          </a:p>
        </p:txBody>
      </p:sp>
      <p:sp>
        <p:nvSpPr>
          <p:cNvPr id="41" name="Oval 40"/>
          <p:cNvSpPr/>
          <p:nvPr/>
        </p:nvSpPr>
        <p:spPr>
          <a:xfrm>
            <a:off x="5648325" y="1673521"/>
            <a:ext cx="895350" cy="857924"/>
          </a:xfrm>
          <a:prstGeom prst="ellipse">
            <a:avLst/>
          </a:prstGeom>
          <a:solidFill>
            <a:srgbClr val="EEF3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Oval 41"/>
          <p:cNvSpPr/>
          <p:nvPr/>
        </p:nvSpPr>
        <p:spPr>
          <a:xfrm>
            <a:off x="5695950" y="1719155"/>
            <a:ext cx="800100" cy="766655"/>
          </a:xfrm>
          <a:prstGeom prst="ellipse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5915025" y="2002088"/>
            <a:ext cx="209550" cy="164283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6134100" y="2075102"/>
            <a:ext cx="123825" cy="91268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Oval 44"/>
          <p:cNvSpPr/>
          <p:nvPr/>
        </p:nvSpPr>
        <p:spPr>
          <a:xfrm>
            <a:off x="5972175" y="2148117"/>
            <a:ext cx="85725" cy="82142"/>
          </a:xfrm>
          <a:prstGeom prst="ellipse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Oval 45"/>
          <p:cNvSpPr/>
          <p:nvPr/>
        </p:nvSpPr>
        <p:spPr>
          <a:xfrm>
            <a:off x="6153150" y="2148117"/>
            <a:ext cx="85725" cy="82142"/>
          </a:xfrm>
          <a:prstGeom prst="ellipse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ounded Rectangle 46"/>
          <p:cNvSpPr/>
          <p:nvPr/>
        </p:nvSpPr>
        <p:spPr>
          <a:xfrm>
            <a:off x="5572125" y="2595333"/>
            <a:ext cx="1047750" cy="219044"/>
          </a:xfrm>
          <a:prstGeom prst="roundRect">
            <a:avLst>
              <a:gd name="adj" fmla="val 50000"/>
            </a:avLst>
          </a:prstGeom>
          <a:solidFill>
            <a:srgbClr val="F0E8F6"/>
          </a:solidFill>
          <a:ln w="9525">
            <a:solidFill>
              <a:srgbClr val="6F3CC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6F3CC2"/>
                </a:solidFill>
                <a:latin typeface="Calibri"/>
              </a:rPr>
              <a:t> </a:t>
            </a:r>
          </a:p>
        </p:txBody>
      </p:sp>
      <p:sp>
        <p:nvSpPr>
          <p:cNvPr id="48" name="Rounded Rectangle 47"/>
          <p:cNvSpPr/>
          <p:nvPr/>
        </p:nvSpPr>
        <p:spPr>
          <a:xfrm>
            <a:off x="5029200" y="2905646"/>
            <a:ext cx="2133600" cy="2281712"/>
          </a:xfrm>
          <a:prstGeom prst="roundRect">
            <a:avLst>
              <a:gd name="adj" fmla="val 357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Rectangle 48"/>
          <p:cNvSpPr/>
          <p:nvPr/>
        </p:nvSpPr>
        <p:spPr>
          <a:xfrm>
            <a:off x="5029200" y="2905646"/>
            <a:ext cx="2133600" cy="4563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5114925" y="3015168"/>
            <a:ext cx="1962150" cy="219044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05000"/>
              </a:lnSpc>
            </a:pPr>
            <a:r>
              <a:rPr sz="1150" b="1">
                <a:solidFill>
                  <a:srgbClr val="0B2E4A"/>
                </a:solidFill>
                <a:latin typeface="Calibri"/>
              </a:rPr>
              <a:t>Distributors &amp; Wholesalers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5114925" y="3234212"/>
            <a:ext cx="19621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Base Year: 2026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5114925" y="3453257"/>
            <a:ext cx="1962150" cy="164283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2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Move product to market, hold inventory and provide logistics, reach and credit to downstream channels.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7277100" y="1262813"/>
            <a:ext cx="2209800" cy="346820"/>
          </a:xfrm>
          <a:prstGeom prst="rect">
            <a:avLst/>
          </a:prstGeom>
          <a:noFill/>
        </p:spPr>
        <p:txBody>
          <a:bodyPr wrap="square" lIns="28575" rIns="28575" tIns="9525" bIns="9525" anchor="b">
            <a:spAutoFit/>
          </a:bodyPr>
          <a:lstStyle/>
          <a:p>
            <a:pPr algn="ctr">
              <a:lnSpc>
                <a:spcPct val="100000"/>
              </a:lnSpc>
            </a:pPr>
            <a:r>
              <a:rPr sz="1100" b="1">
                <a:solidFill>
                  <a:srgbClr val="0B2E4A"/>
                </a:solidFill>
                <a:latin typeface="Calibri"/>
              </a:rPr>
              <a:t>Retailers</a:t>
            </a:r>
          </a:p>
        </p:txBody>
      </p:sp>
      <p:sp>
        <p:nvSpPr>
          <p:cNvPr id="54" name="Oval 53"/>
          <p:cNvSpPr/>
          <p:nvPr/>
        </p:nvSpPr>
        <p:spPr>
          <a:xfrm>
            <a:off x="7934325" y="1673521"/>
            <a:ext cx="895350" cy="857924"/>
          </a:xfrm>
          <a:prstGeom prst="ellipse">
            <a:avLst/>
          </a:prstGeom>
          <a:solidFill>
            <a:srgbClr val="EEF3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Oval 54"/>
          <p:cNvSpPr/>
          <p:nvPr/>
        </p:nvSpPr>
        <p:spPr>
          <a:xfrm>
            <a:off x="7981950" y="1719155"/>
            <a:ext cx="800100" cy="766655"/>
          </a:xfrm>
          <a:prstGeom prst="ellipse">
            <a:avLst/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Isosceles Triangle 55"/>
          <p:cNvSpPr/>
          <p:nvPr/>
        </p:nvSpPr>
        <p:spPr>
          <a:xfrm>
            <a:off x="8201025" y="1965580"/>
            <a:ext cx="361950" cy="109522"/>
          </a:xfrm>
          <a:prstGeom prst="triangl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8239125" y="2065976"/>
            <a:ext cx="285750" cy="182537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8343900" y="2138990"/>
            <a:ext cx="76200" cy="109522"/>
          </a:xfrm>
          <a:prstGeom prst="rect">
            <a:avLst/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ounded Rectangle 58"/>
          <p:cNvSpPr/>
          <p:nvPr/>
        </p:nvSpPr>
        <p:spPr>
          <a:xfrm>
            <a:off x="7858125" y="2595333"/>
            <a:ext cx="1047750" cy="219044"/>
          </a:xfrm>
          <a:prstGeom prst="roundRect">
            <a:avLst>
              <a:gd name="adj" fmla="val 50000"/>
            </a:avLst>
          </a:prstGeom>
          <a:solidFill>
            <a:srgbClr val="F0E8F6"/>
          </a:solidFill>
          <a:ln w="9525">
            <a:solidFill>
              <a:srgbClr val="6F3CC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6F3CC2"/>
                </a:solidFill>
                <a:latin typeface="Calibri"/>
              </a:rPr>
              <a:t> </a:t>
            </a:r>
          </a:p>
        </p:txBody>
      </p:sp>
      <p:sp>
        <p:nvSpPr>
          <p:cNvPr id="60" name="Rounded Rectangle 59"/>
          <p:cNvSpPr/>
          <p:nvPr/>
        </p:nvSpPr>
        <p:spPr>
          <a:xfrm>
            <a:off x="7315200" y="2905646"/>
            <a:ext cx="2133600" cy="2281712"/>
          </a:xfrm>
          <a:prstGeom prst="roundRect">
            <a:avLst>
              <a:gd name="adj" fmla="val 357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7315200" y="2905646"/>
            <a:ext cx="2133600" cy="45634"/>
          </a:xfrm>
          <a:prstGeom prst="rect">
            <a:avLst/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7400925" y="3015168"/>
            <a:ext cx="1962150" cy="219044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05000"/>
              </a:lnSpc>
            </a:pPr>
            <a:r>
              <a:rPr sz="1150" b="1">
                <a:solidFill>
                  <a:srgbClr val="0B2E4A"/>
                </a:solidFill>
                <a:latin typeface="Calibri"/>
              </a:rPr>
              <a:t>Retailers &amp; Channels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7400925" y="3234212"/>
            <a:ext cx="19621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Base Year: 2026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7400925" y="3453257"/>
            <a:ext cx="1962150" cy="164283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2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Sell to end customers across offline and online channels, capturing point-of-sale margin and brand visibility.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9563100" y="1262813"/>
            <a:ext cx="2209800" cy="346820"/>
          </a:xfrm>
          <a:prstGeom prst="rect">
            <a:avLst/>
          </a:prstGeom>
          <a:noFill/>
        </p:spPr>
        <p:txBody>
          <a:bodyPr wrap="square" lIns="28575" rIns="28575" tIns="9525" bIns="9525" anchor="b">
            <a:spAutoFit/>
          </a:bodyPr>
          <a:lstStyle/>
          <a:p>
            <a:pPr algn="ctr">
              <a:lnSpc>
                <a:spcPct val="100000"/>
              </a:lnSpc>
            </a:pPr>
            <a:r>
              <a:rPr sz="1100" b="1">
                <a:solidFill>
                  <a:srgbClr val="0B2E4A"/>
                </a:solidFill>
                <a:latin typeface="Calibri"/>
              </a:rPr>
              <a:t>End Users</a:t>
            </a:r>
          </a:p>
        </p:txBody>
      </p:sp>
      <p:sp>
        <p:nvSpPr>
          <p:cNvPr id="66" name="Oval 65"/>
          <p:cNvSpPr/>
          <p:nvPr/>
        </p:nvSpPr>
        <p:spPr>
          <a:xfrm>
            <a:off x="10220325" y="1673521"/>
            <a:ext cx="895350" cy="857924"/>
          </a:xfrm>
          <a:prstGeom prst="ellipse">
            <a:avLst/>
          </a:prstGeom>
          <a:solidFill>
            <a:srgbClr val="EEF3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Oval 66"/>
          <p:cNvSpPr/>
          <p:nvPr/>
        </p:nvSpPr>
        <p:spPr>
          <a:xfrm>
            <a:off x="10267950" y="1719155"/>
            <a:ext cx="800100" cy="766655"/>
          </a:xfrm>
          <a:prstGeom prst="ellipse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Oval 67"/>
          <p:cNvSpPr/>
          <p:nvPr/>
        </p:nvSpPr>
        <p:spPr>
          <a:xfrm>
            <a:off x="10601325" y="1956453"/>
            <a:ext cx="133350" cy="127776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Freeform 68"/>
          <p:cNvSpPr/>
          <p:nvPr/>
        </p:nvSpPr>
        <p:spPr>
          <a:xfrm>
            <a:off x="10544175" y="2111610"/>
            <a:ext cx="247650" cy="127776"/>
          </a:xfrm>
          <a:custGeom>
            <a:avLst/>
            <a:gdLst/>
            <a:ahLst/>
            <a:cxnLst/>
            <a:rect l="l" t="t" r="r" b="b"/>
            <a:pathLst>
              <a:path w="26" h="14">
                <a:moveTo>
                  <a:pt x="0" y="14"/>
                </a:moveTo>
                <a:lnTo>
                  <a:pt x="4" y="0"/>
                </a:lnTo>
                <a:lnTo>
                  <a:pt x="22" y="0"/>
                </a:lnTo>
                <a:lnTo>
                  <a:pt x="26" y="1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ounded Rectangle 69"/>
          <p:cNvSpPr/>
          <p:nvPr/>
        </p:nvSpPr>
        <p:spPr>
          <a:xfrm>
            <a:off x="10144125" y="2595333"/>
            <a:ext cx="1047750" cy="219044"/>
          </a:xfrm>
          <a:prstGeom prst="roundRect">
            <a:avLst>
              <a:gd name="adj" fmla="val 50000"/>
            </a:avLst>
          </a:prstGeom>
          <a:solidFill>
            <a:srgbClr val="F0E8F6"/>
          </a:solidFill>
          <a:ln w="9525">
            <a:solidFill>
              <a:srgbClr val="6F3CC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6F3CC2"/>
                </a:solidFill>
                <a:latin typeface="Calibri"/>
              </a:rPr>
              <a:t> </a:t>
            </a:r>
          </a:p>
        </p:txBody>
      </p:sp>
      <p:sp>
        <p:nvSpPr>
          <p:cNvPr id="71" name="Rounded Rectangle 70"/>
          <p:cNvSpPr/>
          <p:nvPr/>
        </p:nvSpPr>
        <p:spPr>
          <a:xfrm>
            <a:off x="9601200" y="2905646"/>
            <a:ext cx="2133600" cy="2281712"/>
          </a:xfrm>
          <a:prstGeom prst="roundRect">
            <a:avLst>
              <a:gd name="adj" fmla="val 357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9601200" y="2905646"/>
            <a:ext cx="2133600" cy="45634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TextBox 72"/>
          <p:cNvSpPr txBox="1"/>
          <p:nvPr/>
        </p:nvSpPr>
        <p:spPr>
          <a:xfrm>
            <a:off x="9686925" y="3015168"/>
            <a:ext cx="1962150" cy="219044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05000"/>
              </a:lnSpc>
            </a:pPr>
            <a:r>
              <a:rPr sz="1150" b="1">
                <a:solidFill>
                  <a:srgbClr val="0B2E4A"/>
                </a:solidFill>
                <a:latin typeface="Calibri"/>
              </a:rPr>
              <a:t>End Users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9686925" y="3234212"/>
            <a:ext cx="19621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Base Year: 2026</a:t>
            </a:r>
          </a:p>
        </p:txBody>
      </p:sp>
      <p:sp>
        <p:nvSpPr>
          <p:cNvPr id="75" name="TextBox 74"/>
          <p:cNvSpPr txBox="1"/>
          <p:nvPr/>
        </p:nvSpPr>
        <p:spPr>
          <a:xfrm>
            <a:off x="9686925" y="3453257"/>
            <a:ext cx="1962150" cy="164283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2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Consumers and downstream industries; large end users sometimes backward-integrate to secure supply and cost.</a:t>
            </a:r>
          </a:p>
        </p:txBody>
      </p:sp>
      <p:sp>
        <p:nvSpPr>
          <p:cNvPr id="76" name="Rounded Rectangle 75"/>
          <p:cNvSpPr/>
          <p:nvPr/>
        </p:nvSpPr>
        <p:spPr>
          <a:xfrm>
            <a:off x="381000" y="5315134"/>
            <a:ext cx="11430000" cy="1204744"/>
          </a:xfrm>
          <a:prstGeom prst="roundRect">
            <a:avLst>
              <a:gd name="adj" fmla="val 606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TextBox 76"/>
          <p:cNvSpPr txBox="1"/>
          <p:nvPr/>
        </p:nvSpPr>
        <p:spPr>
          <a:xfrm>
            <a:off x="514350" y="5397275"/>
            <a:ext cx="11163300" cy="200791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Value-Added Read-out</a:t>
            </a:r>
          </a:p>
        </p:txBody>
      </p:sp>
      <p:sp>
        <p:nvSpPr>
          <p:cNvPr id="78" name="Rectangle 77"/>
          <p:cNvSpPr/>
          <p:nvPr/>
        </p:nvSpPr>
        <p:spPr>
          <a:xfrm>
            <a:off x="514350" y="5625447"/>
            <a:ext cx="111633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TextBox 78"/>
          <p:cNvSpPr txBox="1"/>
          <p:nvPr/>
        </p:nvSpPr>
        <p:spPr>
          <a:xfrm>
            <a:off x="514350" y="5707588"/>
            <a:ext cx="11163300" cy="73927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81" name="Picture 8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459650" y="2611256"/>
            <a:ext cx="128699" cy="187198"/>
          </a:xfrm>
          <a:prstGeom prst="rect">
            <a:avLst/>
          </a:prstGeom>
        </p:spPr>
      </p:pic>
      <p:pic>
        <p:nvPicPr>
          <p:cNvPr id="82" name="Picture 8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745650" y="2611256"/>
            <a:ext cx="128699" cy="187198"/>
          </a:xfrm>
          <a:prstGeom prst="rect">
            <a:avLst/>
          </a:prstGeom>
        </p:spPr>
      </p:pic>
      <p:pic>
        <p:nvPicPr>
          <p:cNvPr id="83" name="Picture 8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31650" y="2611256"/>
            <a:ext cx="128699" cy="187198"/>
          </a:xfrm>
          <a:prstGeom prst="rect">
            <a:avLst/>
          </a:prstGeom>
        </p:spPr>
      </p:pic>
      <p:pic>
        <p:nvPicPr>
          <p:cNvPr id="84" name="Picture 8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317650" y="2611256"/>
            <a:ext cx="128699" cy="187198"/>
          </a:xfrm>
          <a:prstGeom prst="rect">
            <a:avLst/>
          </a:prstGeom>
        </p:spPr>
      </p:pic>
      <p:pic>
        <p:nvPicPr>
          <p:cNvPr id="85" name="Picture 8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603650" y="2611256"/>
            <a:ext cx="128699" cy="187198"/>
          </a:xfrm>
          <a:prstGeom prst="rect">
            <a:avLst/>
          </a:prstGeom>
        </p:spPr>
      </p:pic>
      <p:sp>
        <p:nvSpPr>
          <p:cNvPr id="86" name="TextBox 85"/>
          <p:cNvSpPr txBox="1"/>
          <p:nvPr/>
        </p:nvSpPr>
        <p:spPr>
          <a:xfrm>
            <a:off x="514350" y="5717113"/>
            <a:ext cx="6647993" cy="153161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879" b="0">
                <a:solidFill>
                  <a:srgbClr val="2E2E2E"/>
                </a:solidFill>
                <a:latin typeface="Calibri"/>
              </a:rPr>
              <a:t>▪ The Pet Cosmetic Products Market value chain runs from raw-material suppliers through manufacturers, distributors and retailers to end users.</a:t>
            </a:r>
          </a:p>
        </p:txBody>
      </p:sp>
      <p:sp>
        <p:nvSpPr>
          <p:cNvPr id="87" name="TextBox 86"/>
          <p:cNvSpPr txBox="1"/>
          <p:nvPr/>
        </p:nvSpPr>
        <p:spPr>
          <a:xfrm>
            <a:off x="514350" y="5891458"/>
            <a:ext cx="3108563" cy="153161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879" b="0">
                <a:solidFill>
                  <a:srgbClr val="2E2E2E"/>
                </a:solidFill>
                <a:latin typeface="Calibri"/>
              </a:rPr>
              <a:t>▪ 'Manufacturers / Processors' captures the largest value addition (</a:t>
            </a:r>
          </a:p>
        </p:txBody>
      </p:sp>
      <p:pic>
        <p:nvPicPr>
          <p:cNvPr id="88" name="Picture 8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66114" y="5883635"/>
            <a:ext cx="102959" cy="149758"/>
          </a:xfrm>
          <a:prstGeom prst="rect">
            <a:avLst/>
          </a:prstGeom>
        </p:spPr>
      </p:pic>
      <p:sp>
        <p:nvSpPr>
          <p:cNvPr id="89" name="TextBox 88"/>
          <p:cNvSpPr txBox="1"/>
          <p:nvPr/>
        </p:nvSpPr>
        <p:spPr>
          <a:xfrm>
            <a:off x="3700111" y="5891458"/>
            <a:ext cx="2123678" cy="153161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879" b="0">
                <a:solidFill>
                  <a:srgbClr val="2E2E2E"/>
                </a:solidFill>
                <a:latin typeface="Calibri"/>
              </a:rPr>
              <a:t>), reflecting processing and scale advantages.</a:t>
            </a:r>
          </a:p>
        </p:txBody>
      </p:sp>
      <p:sp>
        <p:nvSpPr>
          <p:cNvPr id="90" name="TextBox 89"/>
          <p:cNvSpPr txBox="1"/>
          <p:nvPr/>
        </p:nvSpPr>
        <p:spPr>
          <a:xfrm>
            <a:off x="514350" y="6065804"/>
            <a:ext cx="5690369" cy="153161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879" b="0">
                <a:solidFill>
                  <a:srgbClr val="2E2E2E"/>
                </a:solidFill>
                <a:latin typeface="Calibri"/>
              </a:rPr>
              <a:t>▪ Forward and backward integration is common some suppliers process, and some large end users produce their own input.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514350" y="6240149"/>
            <a:ext cx="3730228" cy="153161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879" b="0">
                <a:solidFill>
                  <a:srgbClr val="2E2E2E"/>
                </a:solidFill>
                <a:latin typeface="Calibri"/>
              </a:rPr>
              <a:t>▪ Percentages show each stage's indicative share of value added along the chain.</a:t>
            </a:r>
          </a:p>
        </p:txBody>
      </p:sp>
    </p:spTree>
  </p:cSld>
  <p:clrMapOvr>
    <a:masterClrMapping/>
  </p:clrMapOvr>
</p:sld>
</file>

<file path=ppt/slides/slide21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Industry-Wide Operating Margin Analysis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Operating margin by region and value chain node, highlighting where value concentrates along the chain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Pet Cosmetic Products Market Operating Margin by Region &amp; Node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200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88256"/>
                <a:gridCol w="2799736"/>
                <a:gridCol w="2799736"/>
                <a:gridCol w="2799736"/>
                <a:gridCol w="2799736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Region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Node of Supply Chain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Operating Margin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Comparison to Parent Market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Notes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Europe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Raw Material Suppliers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Commodity-linked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Manufacturers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Highest margins (value-add + scale)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Distributors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Volume-led, thin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Retailers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Channel-dependent PoS margin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24860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142875" y="2819400"/>
            <a:ext cx="11906250" cy="3810000"/>
          </a:xfrm>
          <a:prstGeom prst="roundRect">
            <a:avLst>
              <a:gd name="adj" fmla="val 200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276225" y="290512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How to Read This</a:t>
            </a:r>
          </a:p>
        </p:txBody>
      </p:sp>
      <p:sp>
        <p:nvSpPr>
          <p:cNvPr id="16" name="Rectangle 15"/>
          <p:cNvSpPr/>
          <p:nvPr/>
        </p:nvSpPr>
        <p:spPr>
          <a:xfrm>
            <a:off x="276225" y="314325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76225" y="3228975"/>
            <a:ext cx="11639550" cy="33242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Node of Supply Chain: each major stage, from raw-material suppliers through to retailers.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Operating Margin: the indicative margin earned at each node, by region.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Comparison to Parent Market: margin versus the parent / associated market (e.g. the broader food or pharmaceutical value chain).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Margins are broken down by both region and node to surface where value concentrates along the chain.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10_0_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01826" y="1475676"/>
            <a:ext cx="876864" cy="265429"/>
          </a:xfrm>
          <a:prstGeom prst="rect">
            <a:avLst/>
          </a:prstGeom>
        </p:spPr>
      </p:pic>
      <p:pic>
        <p:nvPicPr>
          <p:cNvPr id="20" name="Picture 19" descr="_830_BPS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164571" y="1475676"/>
            <a:ext cx="1350844" cy="265429"/>
          </a:xfrm>
          <a:prstGeom prst="rect">
            <a:avLst/>
          </a:prstGeom>
        </p:spPr>
      </p:pic>
      <p:pic>
        <p:nvPicPr>
          <p:cNvPr id="21" name="Picture 20" descr="19_7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601826" y="1723707"/>
            <a:ext cx="876864" cy="265429"/>
          </a:xfrm>
          <a:prstGeom prst="rect">
            <a:avLst/>
          </a:prstGeom>
        </p:spPr>
      </p:pic>
      <p:pic>
        <p:nvPicPr>
          <p:cNvPr id="22" name="Picture 21" descr="_1_738_BPS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7008157" y="1723707"/>
            <a:ext cx="1663671" cy="265429"/>
          </a:xfrm>
          <a:prstGeom prst="rect">
            <a:avLst/>
          </a:prstGeom>
        </p:spPr>
      </p:pic>
      <p:pic>
        <p:nvPicPr>
          <p:cNvPr id="23" name="Picture 22" descr="9_8_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4680033" y="1971738"/>
            <a:ext cx="720450" cy="265429"/>
          </a:xfrm>
          <a:prstGeom prst="rect">
            <a:avLst/>
          </a:prstGeom>
        </p:spPr>
      </p:pic>
      <p:pic>
        <p:nvPicPr>
          <p:cNvPr id="24" name="Picture 23" descr="_692_BPS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7164571" y="1971738"/>
            <a:ext cx="1350844" cy="265429"/>
          </a:xfrm>
          <a:prstGeom prst="rect">
            <a:avLst/>
          </a:prstGeom>
        </p:spPr>
      </p:pic>
      <p:pic>
        <p:nvPicPr>
          <p:cNvPr id="25" name="Picture 24" descr="12_3_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4601826" y="2219769"/>
            <a:ext cx="876864" cy="265429"/>
          </a:xfrm>
          <a:prstGeom prst="rect">
            <a:avLst/>
          </a:prstGeom>
        </p:spPr>
      </p:pic>
      <p:pic>
        <p:nvPicPr>
          <p:cNvPr id="26" name="Picture 25" descr="_878_BPS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7164571" y="2219769"/>
            <a:ext cx="1350844" cy="265429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6269364" y="1736490"/>
            <a:ext cx="335428" cy="487895"/>
          </a:xfrm>
          <a:prstGeom prst="rect">
            <a:avLst/>
          </a:prstGeom>
        </p:spPr>
      </p:pic>
    </p:spTree>
  </p:cSld>
  <p:clrMapOvr>
    <a:masterClrMapping/>
  </p:clrMapOvr>
</p:sld>
</file>

<file path=ppt/slides/slide21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Buyers Assessment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Assessment of buyers and end users by volume, average price and revenue, highlighting purchasing power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3181350"/>
          </a:xfrm>
          <a:prstGeom prst="roundRect">
            <a:avLst>
              <a:gd name="adj" fmla="val 239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Pet Cosmetic Products Market Buyers / End-User Assessment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201" cy="27146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025288"/>
                <a:gridCol w="1184514"/>
                <a:gridCol w="633122"/>
                <a:gridCol w="1234640"/>
                <a:gridCol w="1753596"/>
                <a:gridCol w="1399763"/>
                <a:gridCol w="1535353"/>
                <a:gridCol w="1476427"/>
                <a:gridCol w="1644498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Company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Country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Region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Buyer Category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Buyer / End-User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Procurement Vol.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Avg Price (US$/MT)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Revenue (US$ Mn)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Key Selection Factor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Company 1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Austria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Europe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Manufacturer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B2B / Industrial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Price &amp; reliability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Company 2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Belgium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Europe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Distributor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B2B / Institutional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Quality &amp; compliance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Company 3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Bulgaria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Europe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Retailer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B2C /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Lead time &amp; service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Company 4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Croatia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Europe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Others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Contract / OEM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Capacity &amp; scale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Company 5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Czech Republic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Europe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Manufacturer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B2B / Industrial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Brand &amp; support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Company 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Denmark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Europe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Distributor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B2B / Institutional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Price &amp; reliability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Company 7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Finland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Europe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Retailer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B2C /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Quality &amp; compliance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Company 8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France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Europe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Others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Contract / OEM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Lead time &amp; service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Company 9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Germany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Europe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Manufacturer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B2B / Industrial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Capacity &amp; scale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Company 10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Greece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Europe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Distributor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B2B / Institutional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Brand &amp; support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39624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142875" y="4295775"/>
            <a:ext cx="11906250" cy="2333625"/>
          </a:xfrm>
          <a:prstGeom prst="roundRect">
            <a:avLst>
              <a:gd name="adj" fmla="val 326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276225" y="438150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Notes</a:t>
            </a:r>
          </a:p>
        </p:txBody>
      </p:sp>
      <p:sp>
        <p:nvSpPr>
          <p:cNvPr id="16" name="Rectangle 15"/>
          <p:cNvSpPr/>
          <p:nvPr/>
        </p:nvSpPr>
        <p:spPr>
          <a:xfrm>
            <a:off x="276225" y="46196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76225" y="4705350"/>
            <a:ext cx="11639550" cy="18478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This is a representative subset the full assessment lists 20–30 active participants (with brands, specifications, procurement strategies and SWOT). Note: value-chain economics are indicative derived from market modelling and expert validation, not company disclosures.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9_815_MT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08016" y="1475086"/>
            <a:ext cx="1350844" cy="265429"/>
          </a:xfrm>
          <a:prstGeom prst="rect">
            <a:avLst/>
          </a:prstGeom>
        </p:spPr>
      </p:pic>
      <p:pic>
        <p:nvPicPr>
          <p:cNvPr id="20" name="Picture 19" descr="16_444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634358" y="1475086"/>
            <a:ext cx="1033277" cy="265429"/>
          </a:xfrm>
          <a:prstGeom prst="rect">
            <a:avLst/>
          </a:prstGeom>
        </p:spPr>
      </p:pic>
      <p:pic>
        <p:nvPicPr>
          <p:cNvPr id="21" name="Picture 20" descr="161_391_258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746843" y="1475086"/>
            <a:ext cx="1820085" cy="265429"/>
          </a:xfrm>
          <a:prstGeom prst="rect">
            <a:avLst/>
          </a:prstGeom>
        </p:spPr>
      </p:pic>
      <p:pic>
        <p:nvPicPr>
          <p:cNvPr id="22" name="Picture 21" descr="8_833_MT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008016" y="1721936"/>
            <a:ext cx="1350844" cy="265429"/>
          </a:xfrm>
          <a:prstGeom prst="rect">
            <a:avLst/>
          </a:prstGeom>
        </p:spPr>
      </p:pic>
      <p:pic>
        <p:nvPicPr>
          <p:cNvPr id="23" name="Picture 22" descr="17_067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7634358" y="1721936"/>
            <a:ext cx="1033277" cy="265429"/>
          </a:xfrm>
          <a:prstGeom prst="rect">
            <a:avLst/>
          </a:prstGeom>
        </p:spPr>
      </p:pic>
      <p:pic>
        <p:nvPicPr>
          <p:cNvPr id="24" name="Picture 23" descr="150_754_107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8746843" y="1721936"/>
            <a:ext cx="1820085" cy="265429"/>
          </a:xfrm>
          <a:prstGeom prst="rect">
            <a:avLst/>
          </a:prstGeom>
        </p:spPr>
      </p:pic>
      <p:pic>
        <p:nvPicPr>
          <p:cNvPr id="25" name="Picture 24" descr="7_852_MT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6008016" y="1968786"/>
            <a:ext cx="1350844" cy="265429"/>
          </a:xfrm>
          <a:prstGeom prst="rect">
            <a:avLst/>
          </a:prstGeom>
        </p:spPr>
      </p:pic>
      <p:pic>
        <p:nvPicPr>
          <p:cNvPr id="26" name="Picture 25" descr="17_690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7634358" y="1968786"/>
            <a:ext cx="1033277" cy="265429"/>
          </a:xfrm>
          <a:prstGeom prst="rect">
            <a:avLst/>
          </a:prstGeom>
        </p:spPr>
      </p:pic>
      <p:pic>
        <p:nvPicPr>
          <p:cNvPr id="27" name="Picture 26" descr="138_894_294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8746843" y="1968786"/>
            <a:ext cx="1820085" cy="265429"/>
          </a:xfrm>
          <a:prstGeom prst="rect">
            <a:avLst/>
          </a:prstGeom>
        </p:spPr>
      </p:pic>
      <p:pic>
        <p:nvPicPr>
          <p:cNvPr id="28" name="Picture 27" descr="6_870_MT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6008016" y="2215636"/>
            <a:ext cx="1350844" cy="265429"/>
          </a:xfrm>
          <a:prstGeom prst="rect">
            <a:avLst/>
          </a:prstGeom>
        </p:spPr>
      </p:pic>
      <p:pic>
        <p:nvPicPr>
          <p:cNvPr id="29" name="Picture 28" descr="18_312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7634358" y="2215636"/>
            <a:ext cx="1033277" cy="265429"/>
          </a:xfrm>
          <a:prstGeom prst="rect">
            <a:avLst/>
          </a:prstGeom>
        </p:spPr>
      </p:pic>
      <p:pic>
        <p:nvPicPr>
          <p:cNvPr id="30" name="Picture 29" descr="125_811_821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8746843" y="2215636"/>
            <a:ext cx="1820085" cy="265429"/>
          </a:xfrm>
          <a:prstGeom prst="rect">
            <a:avLst/>
          </a:prstGeom>
        </p:spPr>
      </p:pic>
      <p:pic>
        <p:nvPicPr>
          <p:cNvPr id="31" name="Picture 30" descr="5_889_MT_605E5C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6008016" y="2462486"/>
            <a:ext cx="1350844" cy="265429"/>
          </a:xfrm>
          <a:prstGeom prst="rect">
            <a:avLst/>
          </a:prstGeom>
        </p:spPr>
      </p:pic>
      <p:pic>
        <p:nvPicPr>
          <p:cNvPr id="32" name="Picture 31" descr="18_935_605E5C.png"/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7634358" y="2462486"/>
            <a:ext cx="1033277" cy="265429"/>
          </a:xfrm>
          <a:prstGeom prst="rect">
            <a:avLst/>
          </a:prstGeom>
        </p:spPr>
      </p:pic>
      <p:pic>
        <p:nvPicPr>
          <p:cNvPr id="33" name="Picture 32" descr="111_506_687_605E5C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8746843" y="2462486"/>
            <a:ext cx="1820085" cy="265429"/>
          </a:xfrm>
          <a:prstGeom prst="rect">
            <a:avLst/>
          </a:prstGeom>
        </p:spPr>
      </p:pic>
      <p:pic>
        <p:nvPicPr>
          <p:cNvPr id="34" name="Picture 33" descr="4_907_MT_605E5C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6008016" y="2709336"/>
            <a:ext cx="1350844" cy="265429"/>
          </a:xfrm>
          <a:prstGeom prst="rect">
            <a:avLst/>
          </a:prstGeom>
        </p:spPr>
      </p:pic>
      <p:pic>
        <p:nvPicPr>
          <p:cNvPr id="35" name="Picture 34" descr="19_558_605E5C.png"/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7634358" y="2709336"/>
            <a:ext cx="1033277" cy="265429"/>
          </a:xfrm>
          <a:prstGeom prst="rect">
            <a:avLst/>
          </a:prstGeom>
        </p:spPr>
      </p:pic>
      <p:pic>
        <p:nvPicPr>
          <p:cNvPr id="36" name="Picture 35" descr="95_978_892_605E5C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8825050" y="2709336"/>
            <a:ext cx="1663671" cy="265429"/>
          </a:xfrm>
          <a:prstGeom prst="rect">
            <a:avLst/>
          </a:prstGeom>
        </p:spPr>
      </p:pic>
      <p:pic>
        <p:nvPicPr>
          <p:cNvPr id="37" name="Picture 36" descr="3_926_MT_605E5C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6008016" y="2956186"/>
            <a:ext cx="1350844" cy="265429"/>
          </a:xfrm>
          <a:prstGeom prst="rect">
            <a:avLst/>
          </a:prstGeom>
        </p:spPr>
      </p:pic>
      <p:pic>
        <p:nvPicPr>
          <p:cNvPr id="38" name="Picture 37" descr="20_181_605E5C.png"/>
          <p:cNvPicPr>
            <a:picLocks noChangeAspect="1"/>
          </p:cNvPicPr>
          <p:nvPr/>
        </p:nvPicPr>
        <p:blipFill>
          <a:blip r:embed="rId23"/>
          <a:stretch>
            <a:fillRect/>
          </a:stretch>
        </p:blipFill>
        <p:spPr>
          <a:xfrm>
            <a:off x="7634358" y="2956186"/>
            <a:ext cx="1033277" cy="265429"/>
          </a:xfrm>
          <a:prstGeom prst="rect">
            <a:avLst/>
          </a:prstGeom>
        </p:spPr>
      </p:pic>
      <p:pic>
        <p:nvPicPr>
          <p:cNvPr id="39" name="Picture 38" descr="79_228_436_605E5C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8825050" y="2956186"/>
            <a:ext cx="1663671" cy="265429"/>
          </a:xfrm>
          <a:prstGeom prst="rect">
            <a:avLst/>
          </a:prstGeom>
        </p:spPr>
      </p:pic>
      <p:pic>
        <p:nvPicPr>
          <p:cNvPr id="40" name="Picture 39" descr="2_944_MT_605E5C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6008016" y="3203036"/>
            <a:ext cx="1350844" cy="265429"/>
          </a:xfrm>
          <a:prstGeom prst="rect">
            <a:avLst/>
          </a:prstGeom>
        </p:spPr>
      </p:pic>
      <p:pic>
        <p:nvPicPr>
          <p:cNvPr id="41" name="Picture 40" descr="20_804_605E5C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7634358" y="3203036"/>
            <a:ext cx="1033277" cy="265429"/>
          </a:xfrm>
          <a:prstGeom prst="rect">
            <a:avLst/>
          </a:prstGeom>
        </p:spPr>
      </p:pic>
      <p:pic>
        <p:nvPicPr>
          <p:cNvPr id="42" name="Picture 41" descr="61_255_318_605E5C.png"/>
          <p:cNvPicPr>
            <a:picLocks noChangeAspect="1"/>
          </p:cNvPicPr>
          <p:nvPr/>
        </p:nvPicPr>
        <p:blipFill>
          <a:blip r:embed="rId27"/>
          <a:stretch>
            <a:fillRect/>
          </a:stretch>
        </p:blipFill>
        <p:spPr>
          <a:xfrm>
            <a:off x="8825050" y="3203036"/>
            <a:ext cx="1663671" cy="265429"/>
          </a:xfrm>
          <a:prstGeom prst="rect">
            <a:avLst/>
          </a:prstGeom>
        </p:spPr>
      </p:pic>
      <p:pic>
        <p:nvPicPr>
          <p:cNvPr id="43" name="Picture 42" descr="1_963_MT_605E5C.png"/>
          <p:cNvPicPr>
            <a:picLocks noChangeAspect="1"/>
          </p:cNvPicPr>
          <p:nvPr/>
        </p:nvPicPr>
        <p:blipFill>
          <a:blip r:embed="rId28"/>
          <a:stretch>
            <a:fillRect/>
          </a:stretch>
        </p:blipFill>
        <p:spPr>
          <a:xfrm>
            <a:off x="6008016" y="3449886"/>
            <a:ext cx="1350844" cy="265429"/>
          </a:xfrm>
          <a:prstGeom prst="rect">
            <a:avLst/>
          </a:prstGeom>
        </p:spPr>
      </p:pic>
      <p:pic>
        <p:nvPicPr>
          <p:cNvPr id="44" name="Picture 43" descr="21_427_605E5C.png"/>
          <p:cNvPicPr>
            <a:picLocks noChangeAspect="1"/>
          </p:cNvPicPr>
          <p:nvPr/>
        </p:nvPicPr>
        <p:blipFill>
          <a:blip r:embed="rId29"/>
          <a:stretch>
            <a:fillRect/>
          </a:stretch>
        </p:blipFill>
        <p:spPr>
          <a:xfrm>
            <a:off x="7634358" y="3449886"/>
            <a:ext cx="1033277" cy="265429"/>
          </a:xfrm>
          <a:prstGeom prst="rect">
            <a:avLst/>
          </a:prstGeom>
        </p:spPr>
      </p:pic>
      <p:pic>
        <p:nvPicPr>
          <p:cNvPr id="45" name="Picture 44" descr="42_059_540_605E5C.png"/>
          <p:cNvPicPr>
            <a:picLocks noChangeAspect="1"/>
          </p:cNvPicPr>
          <p:nvPr/>
        </p:nvPicPr>
        <p:blipFill>
          <a:blip r:embed="rId30"/>
          <a:stretch>
            <a:fillRect/>
          </a:stretch>
        </p:blipFill>
        <p:spPr>
          <a:xfrm>
            <a:off x="8825050" y="3449886"/>
            <a:ext cx="1663671" cy="265429"/>
          </a:xfrm>
          <a:prstGeom prst="rect">
            <a:avLst/>
          </a:prstGeom>
        </p:spPr>
      </p:pic>
      <p:pic>
        <p:nvPicPr>
          <p:cNvPr id="46" name="Picture 45" descr="981_MT_605E5C.png"/>
          <p:cNvPicPr>
            <a:picLocks noChangeAspect="1"/>
          </p:cNvPicPr>
          <p:nvPr/>
        </p:nvPicPr>
        <p:blipFill>
          <a:blip r:embed="rId31"/>
          <a:stretch>
            <a:fillRect/>
          </a:stretch>
        </p:blipFill>
        <p:spPr>
          <a:xfrm>
            <a:off x="6166800" y="3696736"/>
            <a:ext cx="1033277" cy="265429"/>
          </a:xfrm>
          <a:prstGeom prst="rect">
            <a:avLst/>
          </a:prstGeom>
        </p:spPr>
      </p:pic>
      <p:pic>
        <p:nvPicPr>
          <p:cNvPr id="47" name="Picture 46" descr="22_050_605E5C.png"/>
          <p:cNvPicPr>
            <a:picLocks noChangeAspect="1"/>
          </p:cNvPicPr>
          <p:nvPr/>
        </p:nvPicPr>
        <p:blipFill>
          <a:blip r:embed="rId32"/>
          <a:stretch>
            <a:fillRect/>
          </a:stretch>
        </p:blipFill>
        <p:spPr>
          <a:xfrm>
            <a:off x="7634358" y="3696736"/>
            <a:ext cx="1033277" cy="265429"/>
          </a:xfrm>
          <a:prstGeom prst="rect">
            <a:avLst/>
          </a:prstGeom>
        </p:spPr>
      </p:pic>
      <p:pic>
        <p:nvPicPr>
          <p:cNvPr id="48" name="Picture 47" descr="21_641_100_605E5C.png"/>
          <p:cNvPicPr>
            <a:picLocks noChangeAspect="1"/>
          </p:cNvPicPr>
          <p:nvPr/>
        </p:nvPicPr>
        <p:blipFill>
          <a:blip r:embed="rId33"/>
          <a:stretch>
            <a:fillRect/>
          </a:stretch>
        </p:blipFill>
        <p:spPr>
          <a:xfrm>
            <a:off x="8825050" y="3696736"/>
            <a:ext cx="1663671" cy="265429"/>
          </a:xfrm>
          <a:prstGeom prst="rect">
            <a:avLst/>
          </a:prstGeom>
        </p:spPr>
      </p:pic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34"/>
          <a:stretch>
            <a:fillRect/>
          </a:stretch>
        </p:blipFill>
        <p:spPr>
          <a:xfrm>
            <a:off x="8002641" y="2451926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21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A2A63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FMI Section Breaker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0A2A63"/>
              </a:gs>
              <a:gs pos="100000">
                <a:srgbClr val="0F3F8F"/>
              </a:gs>
            </a:gsLst>
            <a:lin scaled="0" ang="195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399064" y="525547"/>
            <a:ext cx="1340395" cy="823424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4" name="Picture 3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5" name="TextBox 4"/>
          <p:cNvSpPr txBox="1"/>
          <p:nvPr/>
        </p:nvSpPr>
        <p:spPr>
          <a:xfrm>
            <a:off x="914400" y="3394075"/>
            <a:ext cx="7239000" cy="24765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400" b="0">
                <a:solidFill>
                  <a:srgbClr val="8FC8F2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6" name="FMI Breaker Title"/>
          <p:cNvSpPr txBox="1"/>
          <p:nvPr/>
        </p:nvSpPr>
        <p:spPr>
          <a:xfrm>
            <a:off x="914400" y="3698875"/>
            <a:ext cx="72390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 cap="all" spc="400">
                <a:solidFill>
                  <a:srgbClr val="FFFFFF"/>
                </a:solidFill>
                <a:latin typeface="Calibri"/>
              </a:rPr>
              <a:t>Market Dynamics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914400" y="4403725"/>
            <a:ext cx="7124700" cy="4889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</a:t>
            </a:r>
            <a:r>
              <a:rPr sz="2000" b="0">
                <a:solidFill>
                  <a:srgbClr val="FFD447"/>
                </a:solidFill>
                <a:latin typeface="Calibri"/>
              </a:rPr>
              <a:t>Market Dynamics &amp; Forces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4000500" y="6734175"/>
            <a:ext cx="8020050" cy="123825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r"/>
            <a:r>
              <a:rPr sz="700" b="0">
                <a:solidFill>
                  <a:srgbClr val="C9DCEE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1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14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Market Dynamics &amp; Forces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Drivers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Restraints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Opportunities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Recent Developments &amp; Milestones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Five Forces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2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Dynamics by Country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the growth driver, restraint and opportunity shaping each country of the Europe market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180975" y="876300"/>
            <a:ext cx="8572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1">
                <a:solidFill>
                  <a:srgbClr val="2E2E2E"/>
                </a:solidFill>
                <a:latin typeface="Calibri"/>
              </a:rPr>
              <a:t>Demand Dynamics by Country  ·  ranked by 2036 value</a:t>
            </a:r>
          </a:p>
        </p:txBody>
      </p:sp>
      <p:sp>
        <p:nvSpPr>
          <p:cNvPr id="12" name="Rectangle 11"/>
          <p:cNvSpPr/>
          <p:nvPr/>
        </p:nvSpPr>
        <p:spPr>
          <a:xfrm>
            <a:off x="142875" y="1123950"/>
            <a:ext cx="11906250" cy="266700"/>
          </a:xfrm>
          <a:prstGeom prst="rect">
            <a:avLst/>
          </a:prstGeom>
          <a:solidFill>
            <a:srgbClr val="DCE6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00025" y="1123950"/>
            <a:ext cx="1428750" cy="2667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Country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724025" y="1123950"/>
            <a:ext cx="3714750" cy="2667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Growth Drivers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5534025" y="1123950"/>
            <a:ext cx="2762250" cy="2667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Restraints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8391525" y="1123950"/>
            <a:ext cx="3619500" cy="2667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Priority Opportunities</a:t>
            </a:r>
          </a:p>
        </p:txBody>
      </p:sp>
      <p:sp>
        <p:nvSpPr>
          <p:cNvPr id="17" name="Rectangle 16"/>
          <p:cNvSpPr/>
          <p:nvPr/>
        </p:nvSpPr>
        <p:spPr>
          <a:xfrm>
            <a:off x="142875" y="1390650"/>
            <a:ext cx="11906250" cy="73342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00025" y="1390650"/>
            <a:ext cx="1428750" cy="73342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Germany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724025" y="1419225"/>
            <a:ext cx="3676650" cy="6762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5534025" y="1419225"/>
            <a:ext cx="2724150" cy="6762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8391525" y="1419225"/>
            <a:ext cx="3581400" cy="6762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2" name="Rectangle 21"/>
          <p:cNvSpPr/>
          <p:nvPr/>
        </p:nvSpPr>
        <p:spPr>
          <a:xfrm>
            <a:off x="142875" y="2124075"/>
            <a:ext cx="11906250" cy="733425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200025" y="2124075"/>
            <a:ext cx="1428750" cy="73342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United Kingdom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1724025" y="2152650"/>
            <a:ext cx="3676650" cy="6762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5534025" y="2152650"/>
            <a:ext cx="2724150" cy="6762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8391525" y="2152650"/>
            <a:ext cx="3581400" cy="6762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7" name="Rectangle 26"/>
          <p:cNvSpPr/>
          <p:nvPr/>
        </p:nvSpPr>
        <p:spPr>
          <a:xfrm>
            <a:off x="142875" y="2857500"/>
            <a:ext cx="11906250" cy="73342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200025" y="2857500"/>
            <a:ext cx="1428750" cy="73342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France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1724025" y="2886075"/>
            <a:ext cx="3676650" cy="6762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5534025" y="2886075"/>
            <a:ext cx="2724150" cy="6762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8391525" y="2886075"/>
            <a:ext cx="3581400" cy="6762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2" name="Rectangle 31"/>
          <p:cNvSpPr/>
          <p:nvPr/>
        </p:nvSpPr>
        <p:spPr>
          <a:xfrm>
            <a:off x="142875" y="3590925"/>
            <a:ext cx="11906250" cy="533400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TextBox 32"/>
          <p:cNvSpPr txBox="1"/>
          <p:nvPr/>
        </p:nvSpPr>
        <p:spPr>
          <a:xfrm>
            <a:off x="200025" y="3590925"/>
            <a:ext cx="1428750" cy="5334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Italy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1724025" y="3619500"/>
            <a:ext cx="367665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5534025" y="3619500"/>
            <a:ext cx="272415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8391525" y="3619500"/>
            <a:ext cx="358140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7" name="Rectangle 36"/>
          <p:cNvSpPr/>
          <p:nvPr/>
        </p:nvSpPr>
        <p:spPr>
          <a:xfrm>
            <a:off x="142875" y="4124325"/>
            <a:ext cx="11906250" cy="5334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200025" y="4124325"/>
            <a:ext cx="1428750" cy="5334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Spain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1724025" y="4152900"/>
            <a:ext cx="367665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5534025" y="4152900"/>
            <a:ext cx="272415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8391525" y="4152900"/>
            <a:ext cx="358140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2" name="Rectangle 41"/>
          <p:cNvSpPr/>
          <p:nvPr/>
        </p:nvSpPr>
        <p:spPr>
          <a:xfrm>
            <a:off x="142875" y="4657725"/>
            <a:ext cx="11906250" cy="533400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200025" y="4657725"/>
            <a:ext cx="1428750" cy="5334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Netherlands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1724025" y="4686300"/>
            <a:ext cx="367665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5534025" y="4686300"/>
            <a:ext cx="272415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Sub-scale base.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8391525" y="4686300"/>
            <a:ext cx="358140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7" name="Rectangle 46"/>
          <p:cNvSpPr/>
          <p:nvPr/>
        </p:nvSpPr>
        <p:spPr>
          <a:xfrm>
            <a:off x="142875" y="5191125"/>
            <a:ext cx="11906250" cy="73342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00025" y="5191125"/>
            <a:ext cx="1428750" cy="73342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Poland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1724025" y="5219700"/>
            <a:ext cx="3676650" cy="6762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5534025" y="5219700"/>
            <a:ext cx="2724150" cy="6762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8391525" y="5219700"/>
            <a:ext cx="3581400" cy="6762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cxnSp>
        <p:nvCxnSpPr>
          <p:cNvPr id="52" name="Connector 51"/>
          <p:cNvCxnSpPr/>
          <p:nvPr/>
        </p:nvCxnSpPr>
        <p:spPr>
          <a:xfrm>
            <a:off x="142875" y="5924550"/>
            <a:ext cx="11906250" cy="0"/>
          </a:xfrm>
          <a:prstGeom prst="line">
            <a:avLst/>
          </a:prstGeom>
          <a:ln w="12700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3" name="TextBox 52"/>
          <p:cNvSpPr txBox="1"/>
          <p:nvPr/>
        </p:nvSpPr>
        <p:spPr>
          <a:xfrm>
            <a:off x="200025" y="5943600"/>
            <a:ext cx="3810000" cy="1905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1752600" y="1505902"/>
            <a:ext cx="73813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Scale base (</a:t>
            </a:r>
          </a:p>
        </p:txBody>
      </p:sp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38789" y="1496123"/>
            <a:ext cx="128699" cy="187198"/>
          </a:xfrm>
          <a:prstGeom prst="rect">
            <a:avLst/>
          </a:prstGeom>
        </p:spPr>
      </p:pic>
      <p:sp>
        <p:nvSpPr>
          <p:cNvPr id="57" name="TextBox 56"/>
          <p:cNvSpPr txBox="1"/>
          <p:nvPr/>
        </p:nvSpPr>
        <p:spPr>
          <a:xfrm>
            <a:off x="2606285" y="1505902"/>
            <a:ext cx="155641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share), Installed demand (</a:t>
            </a:r>
          </a:p>
        </p:txBody>
      </p:sp>
      <p:pic>
        <p:nvPicPr>
          <p:cNvPr id="58" name="Picture 5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10756" y="1496123"/>
            <a:ext cx="128699" cy="187198"/>
          </a:xfrm>
          <a:prstGeom prst="rect">
            <a:avLst/>
          </a:prstGeom>
        </p:spPr>
      </p:pic>
      <p:sp>
        <p:nvSpPr>
          <p:cNvPr id="59" name="TextBox 58"/>
          <p:cNvSpPr txBox="1"/>
          <p:nvPr/>
        </p:nvSpPr>
        <p:spPr>
          <a:xfrm>
            <a:off x="4278252" y="1505902"/>
            <a:ext cx="47263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CAGR),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1752600" y="1673542"/>
            <a:ext cx="332258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Shampoos &amp; Cleansing Products demand, Accelerating vs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1752600" y="1841182"/>
            <a:ext cx="50430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history.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5562600" y="1589722"/>
            <a:ext cx="128711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Trails market pace by</a:t>
            </a:r>
          </a:p>
        </p:txBody>
      </p:sp>
      <p:pic>
        <p:nvPicPr>
          <p:cNvPr id="63" name="Picture 6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797766" y="1579943"/>
            <a:ext cx="128699" cy="187198"/>
          </a:xfrm>
          <a:prstGeom prst="rect">
            <a:avLst/>
          </a:prstGeom>
        </p:spPr>
      </p:pic>
      <p:sp>
        <p:nvSpPr>
          <p:cNvPr id="64" name="TextBox 63"/>
          <p:cNvSpPr txBox="1"/>
          <p:nvPr/>
        </p:nvSpPr>
        <p:spPr>
          <a:xfrm>
            <a:off x="6965262" y="1589722"/>
            <a:ext cx="6892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BPS, Rising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5562600" y="1757362"/>
            <a:ext cx="74741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realisation (</a:t>
            </a:r>
          </a:p>
        </p:txBody>
      </p:sp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258066" y="1747583"/>
            <a:ext cx="128699" cy="187198"/>
          </a:xfrm>
          <a:prstGeom prst="rect">
            <a:avLst/>
          </a:prstGeom>
        </p:spPr>
      </p:pic>
      <p:sp>
        <p:nvSpPr>
          <p:cNvPr id="67" name="TextBox 66"/>
          <p:cNvSpPr txBox="1"/>
          <p:nvPr/>
        </p:nvSpPr>
        <p:spPr>
          <a:xfrm>
            <a:off x="6425562" y="1757362"/>
            <a:ext cx="15368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8420100" y="1589722"/>
            <a:ext cx="229994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Scale Shampoos &amp; Cleansing Products (</a:t>
            </a:r>
          </a:p>
        </p:txBody>
      </p:sp>
      <p:pic>
        <p:nvPicPr>
          <p:cNvPr id="69" name="Picture 6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668091" y="1579943"/>
            <a:ext cx="128699" cy="187198"/>
          </a:xfrm>
          <a:prstGeom prst="rect">
            <a:avLst/>
          </a:prstGeom>
        </p:spPr>
      </p:pic>
      <p:sp>
        <p:nvSpPr>
          <p:cNvPr id="70" name="TextBox 69"/>
          <p:cNvSpPr txBox="1"/>
          <p:nvPr/>
        </p:nvSpPr>
        <p:spPr>
          <a:xfrm>
            <a:off x="10835587" y="1589722"/>
            <a:ext cx="15341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),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937056" y="1579943"/>
            <a:ext cx="128699" cy="187198"/>
          </a:xfrm>
          <a:prstGeom prst="rect">
            <a:avLst/>
          </a:prstGeom>
        </p:spPr>
      </p:pic>
      <p:sp>
        <p:nvSpPr>
          <p:cNvPr id="72" name="TextBox 71"/>
          <p:cNvSpPr txBox="1"/>
          <p:nvPr/>
        </p:nvSpPr>
        <p:spPr>
          <a:xfrm>
            <a:off x="11104552" y="1589722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8420100" y="1757362"/>
            <a:ext cx="70239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headroom.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1752600" y="2239327"/>
            <a:ext cx="73813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Scale base (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38789" y="2229548"/>
            <a:ext cx="128699" cy="187198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2606285" y="2239327"/>
            <a:ext cx="155641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share), Installed demand (</a:t>
            </a:r>
          </a:p>
        </p:txBody>
      </p:sp>
      <p:pic>
        <p:nvPicPr>
          <p:cNvPr id="77" name="Picture 7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10756" y="2229548"/>
            <a:ext cx="128699" cy="187198"/>
          </a:xfrm>
          <a:prstGeom prst="rect">
            <a:avLst/>
          </a:prstGeom>
        </p:spPr>
      </p:pic>
      <p:sp>
        <p:nvSpPr>
          <p:cNvPr id="78" name="TextBox 77"/>
          <p:cNvSpPr txBox="1"/>
          <p:nvPr/>
        </p:nvSpPr>
        <p:spPr>
          <a:xfrm>
            <a:off x="4278252" y="2239327"/>
            <a:ext cx="47263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CAGR),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1752600" y="2406967"/>
            <a:ext cx="332258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Shampoos &amp; Cleansing Products demand, Accelerating vs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1752600" y="2574607"/>
            <a:ext cx="50430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history.</a:t>
            </a:r>
          </a:p>
        </p:txBody>
      </p:sp>
      <p:sp>
        <p:nvSpPr>
          <p:cNvPr id="81" name="TextBox 80"/>
          <p:cNvSpPr txBox="1"/>
          <p:nvPr/>
        </p:nvSpPr>
        <p:spPr>
          <a:xfrm>
            <a:off x="5562600" y="2323147"/>
            <a:ext cx="128711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Trails market pace by</a:t>
            </a:r>
          </a:p>
        </p:txBody>
      </p:sp>
      <p:pic>
        <p:nvPicPr>
          <p:cNvPr id="82" name="Picture 8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797766" y="2313368"/>
            <a:ext cx="128699" cy="187198"/>
          </a:xfrm>
          <a:prstGeom prst="rect">
            <a:avLst/>
          </a:prstGeom>
        </p:spPr>
      </p:pic>
      <p:sp>
        <p:nvSpPr>
          <p:cNvPr id="83" name="TextBox 82"/>
          <p:cNvSpPr txBox="1"/>
          <p:nvPr/>
        </p:nvSpPr>
        <p:spPr>
          <a:xfrm>
            <a:off x="6965262" y="2323147"/>
            <a:ext cx="6892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BPS, Rising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5562600" y="2490787"/>
            <a:ext cx="74741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realisation (</a:t>
            </a:r>
          </a:p>
        </p:txBody>
      </p:sp>
      <p:pic>
        <p:nvPicPr>
          <p:cNvPr id="85" name="Picture 8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258066" y="2481008"/>
            <a:ext cx="128699" cy="187198"/>
          </a:xfrm>
          <a:prstGeom prst="rect">
            <a:avLst/>
          </a:prstGeom>
        </p:spPr>
      </p:pic>
      <p:sp>
        <p:nvSpPr>
          <p:cNvPr id="86" name="TextBox 85"/>
          <p:cNvSpPr txBox="1"/>
          <p:nvPr/>
        </p:nvSpPr>
        <p:spPr>
          <a:xfrm>
            <a:off x="6425562" y="2490787"/>
            <a:ext cx="15368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87" name="TextBox 86"/>
          <p:cNvSpPr txBox="1"/>
          <p:nvPr/>
        </p:nvSpPr>
        <p:spPr>
          <a:xfrm>
            <a:off x="8420100" y="2323147"/>
            <a:ext cx="229994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Scale Shampoos &amp; Cleansing Products (</a:t>
            </a:r>
          </a:p>
        </p:txBody>
      </p:sp>
      <p:pic>
        <p:nvPicPr>
          <p:cNvPr id="88" name="Picture 8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668091" y="2313368"/>
            <a:ext cx="128699" cy="187198"/>
          </a:xfrm>
          <a:prstGeom prst="rect">
            <a:avLst/>
          </a:prstGeom>
        </p:spPr>
      </p:pic>
      <p:sp>
        <p:nvSpPr>
          <p:cNvPr id="89" name="TextBox 88"/>
          <p:cNvSpPr txBox="1"/>
          <p:nvPr/>
        </p:nvSpPr>
        <p:spPr>
          <a:xfrm>
            <a:off x="10835587" y="2323147"/>
            <a:ext cx="15341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),</a:t>
            </a:r>
          </a:p>
        </p:txBody>
      </p:sp>
      <p:pic>
        <p:nvPicPr>
          <p:cNvPr id="90" name="Picture 8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937056" y="2313368"/>
            <a:ext cx="128699" cy="187198"/>
          </a:xfrm>
          <a:prstGeom prst="rect">
            <a:avLst/>
          </a:prstGeom>
        </p:spPr>
      </p:pic>
      <p:sp>
        <p:nvSpPr>
          <p:cNvPr id="91" name="TextBox 90"/>
          <p:cNvSpPr txBox="1"/>
          <p:nvPr/>
        </p:nvSpPr>
        <p:spPr>
          <a:xfrm>
            <a:off x="11104552" y="2323147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8420100" y="2490787"/>
            <a:ext cx="70239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headroom.</a:t>
            </a:r>
          </a:p>
        </p:txBody>
      </p:sp>
      <p:sp>
        <p:nvSpPr>
          <p:cNvPr id="93" name="TextBox 92"/>
          <p:cNvSpPr txBox="1"/>
          <p:nvPr/>
        </p:nvSpPr>
        <p:spPr>
          <a:xfrm>
            <a:off x="1752600" y="3056572"/>
            <a:ext cx="73813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Scale base (</a:t>
            </a:r>
          </a:p>
        </p:txBody>
      </p:sp>
      <p:pic>
        <p:nvPicPr>
          <p:cNvPr id="94" name="Picture 9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38789" y="3046793"/>
            <a:ext cx="128699" cy="187198"/>
          </a:xfrm>
          <a:prstGeom prst="rect">
            <a:avLst/>
          </a:prstGeom>
        </p:spPr>
      </p:pic>
      <p:sp>
        <p:nvSpPr>
          <p:cNvPr id="95" name="TextBox 94"/>
          <p:cNvSpPr txBox="1"/>
          <p:nvPr/>
        </p:nvSpPr>
        <p:spPr>
          <a:xfrm>
            <a:off x="2606285" y="3056572"/>
            <a:ext cx="168356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share), Above-market pace (</a:t>
            </a:r>
          </a:p>
        </p:txBody>
      </p:sp>
      <p:pic>
        <p:nvPicPr>
          <p:cNvPr id="96" name="Picture 9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37905" y="3046793"/>
            <a:ext cx="128699" cy="187198"/>
          </a:xfrm>
          <a:prstGeom prst="rect">
            <a:avLst/>
          </a:prstGeom>
        </p:spPr>
      </p:pic>
      <p:sp>
        <p:nvSpPr>
          <p:cNvPr id="97" name="TextBox 96"/>
          <p:cNvSpPr txBox="1"/>
          <p:nvPr/>
        </p:nvSpPr>
        <p:spPr>
          <a:xfrm>
            <a:off x="4405401" y="3056572"/>
            <a:ext cx="90321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), Shampoos &amp;</a:t>
            </a:r>
          </a:p>
        </p:txBody>
      </p:sp>
      <p:sp>
        <p:nvSpPr>
          <p:cNvPr id="98" name="TextBox 97"/>
          <p:cNvSpPr txBox="1"/>
          <p:nvPr/>
        </p:nvSpPr>
        <p:spPr>
          <a:xfrm>
            <a:off x="1752600" y="3224212"/>
            <a:ext cx="303254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Cleansing Products demand, Accelerating vs history.</a:t>
            </a:r>
          </a:p>
        </p:txBody>
      </p:sp>
      <p:sp>
        <p:nvSpPr>
          <p:cNvPr id="99" name="TextBox 98"/>
          <p:cNvSpPr txBox="1"/>
          <p:nvPr/>
        </p:nvSpPr>
        <p:spPr>
          <a:xfrm>
            <a:off x="5562600" y="3140392"/>
            <a:ext cx="111303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Rising realisation (</a:t>
            </a:r>
          </a:p>
        </p:txBody>
      </p:sp>
      <p:pic>
        <p:nvPicPr>
          <p:cNvPr id="100" name="Picture 9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623687" y="3130613"/>
            <a:ext cx="128699" cy="187198"/>
          </a:xfrm>
          <a:prstGeom prst="rect">
            <a:avLst/>
          </a:prstGeom>
        </p:spPr>
      </p:pic>
      <p:sp>
        <p:nvSpPr>
          <p:cNvPr id="101" name="TextBox 100"/>
          <p:cNvSpPr txBox="1"/>
          <p:nvPr/>
        </p:nvSpPr>
        <p:spPr>
          <a:xfrm>
            <a:off x="6791183" y="3140392"/>
            <a:ext cx="15368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102" name="TextBox 101"/>
          <p:cNvSpPr txBox="1"/>
          <p:nvPr/>
        </p:nvSpPr>
        <p:spPr>
          <a:xfrm>
            <a:off x="8420100" y="3056572"/>
            <a:ext cx="207292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Scale Dental &amp; Oral Care Products (</a:t>
            </a:r>
          </a:p>
        </p:txBody>
      </p:sp>
      <p:pic>
        <p:nvPicPr>
          <p:cNvPr id="103" name="Picture 10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441079" y="3046793"/>
            <a:ext cx="128699" cy="187198"/>
          </a:xfrm>
          <a:prstGeom prst="rect">
            <a:avLst/>
          </a:prstGeom>
        </p:spPr>
      </p:pic>
      <p:sp>
        <p:nvSpPr>
          <p:cNvPr id="104" name="TextBox 103"/>
          <p:cNvSpPr txBox="1"/>
          <p:nvPr/>
        </p:nvSpPr>
        <p:spPr>
          <a:xfrm>
            <a:off x="10608575" y="3056572"/>
            <a:ext cx="83090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), Mix shift to</a:t>
            </a:r>
          </a:p>
        </p:txBody>
      </p:sp>
      <p:sp>
        <p:nvSpPr>
          <p:cNvPr id="105" name="TextBox 104"/>
          <p:cNvSpPr txBox="1"/>
          <p:nvPr/>
        </p:nvSpPr>
        <p:spPr>
          <a:xfrm>
            <a:off x="8420100" y="3224212"/>
            <a:ext cx="193732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Shampoos &amp; Cleansing Products,</a:t>
            </a:r>
          </a:p>
        </p:txBody>
      </p:sp>
      <p:pic>
        <p:nvPicPr>
          <p:cNvPr id="106" name="Picture 10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305472" y="3214433"/>
            <a:ext cx="128699" cy="187198"/>
          </a:xfrm>
          <a:prstGeom prst="rect">
            <a:avLst/>
          </a:prstGeom>
        </p:spPr>
      </p:pic>
      <p:sp>
        <p:nvSpPr>
          <p:cNvPr id="107" name="TextBox 106"/>
          <p:cNvSpPr txBox="1"/>
          <p:nvPr/>
        </p:nvSpPr>
        <p:spPr>
          <a:xfrm>
            <a:off x="10472967" y="3224212"/>
            <a:ext cx="118343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 headroom.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1752600" y="3689985"/>
            <a:ext cx="113431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Installed demand (</a:t>
            </a:r>
          </a:p>
        </p:txBody>
      </p:sp>
      <p:pic>
        <p:nvPicPr>
          <p:cNvPr id="109" name="Picture 10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34969" y="3680206"/>
            <a:ext cx="128699" cy="187198"/>
          </a:xfrm>
          <a:prstGeom prst="rect">
            <a:avLst/>
          </a:prstGeom>
        </p:spPr>
      </p:pic>
      <p:sp>
        <p:nvSpPr>
          <p:cNvPr id="110" name="TextBox 109"/>
          <p:cNvSpPr txBox="1"/>
          <p:nvPr/>
        </p:nvSpPr>
        <p:spPr>
          <a:xfrm>
            <a:off x="3002465" y="3689985"/>
            <a:ext cx="233048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CAGR), Shampoos &amp; Cleansing Products</a:t>
            </a:r>
          </a:p>
        </p:txBody>
      </p:sp>
      <p:sp>
        <p:nvSpPr>
          <p:cNvPr id="111" name="TextBox 110"/>
          <p:cNvSpPr txBox="1"/>
          <p:nvPr/>
        </p:nvSpPr>
        <p:spPr>
          <a:xfrm>
            <a:off x="1752600" y="3857625"/>
            <a:ext cx="192449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demand, Accelerating vs history.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5562600" y="3773805"/>
            <a:ext cx="128711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Trails market pace by</a:t>
            </a:r>
          </a:p>
        </p:txBody>
      </p:sp>
      <p:pic>
        <p:nvPicPr>
          <p:cNvPr id="113" name="Picture 11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797766" y="3764026"/>
            <a:ext cx="128699" cy="187198"/>
          </a:xfrm>
          <a:prstGeom prst="rect">
            <a:avLst/>
          </a:prstGeom>
        </p:spPr>
      </p:pic>
      <p:sp>
        <p:nvSpPr>
          <p:cNvPr id="114" name="TextBox 113"/>
          <p:cNvSpPr txBox="1"/>
          <p:nvPr/>
        </p:nvSpPr>
        <p:spPr>
          <a:xfrm>
            <a:off x="6965262" y="3773805"/>
            <a:ext cx="32394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8420100" y="3689985"/>
            <a:ext cx="229994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Scale Shampoos &amp; Cleansing Products (</a:t>
            </a:r>
          </a:p>
        </p:txBody>
      </p:sp>
      <p:pic>
        <p:nvPicPr>
          <p:cNvPr id="116" name="Picture 11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668091" y="3680206"/>
            <a:ext cx="128699" cy="187198"/>
          </a:xfrm>
          <a:prstGeom prst="rect">
            <a:avLst/>
          </a:prstGeom>
        </p:spPr>
      </p:pic>
      <p:sp>
        <p:nvSpPr>
          <p:cNvPr id="117" name="TextBox 116"/>
          <p:cNvSpPr txBox="1"/>
          <p:nvPr/>
        </p:nvSpPr>
        <p:spPr>
          <a:xfrm>
            <a:off x="10835587" y="3689985"/>
            <a:ext cx="15341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),</a:t>
            </a:r>
          </a:p>
        </p:txBody>
      </p:sp>
      <p:pic>
        <p:nvPicPr>
          <p:cNvPr id="118" name="Picture 11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937056" y="3680206"/>
            <a:ext cx="128699" cy="187198"/>
          </a:xfrm>
          <a:prstGeom prst="rect">
            <a:avLst/>
          </a:prstGeom>
        </p:spPr>
      </p:pic>
      <p:sp>
        <p:nvSpPr>
          <p:cNvPr id="119" name="TextBox 118"/>
          <p:cNvSpPr txBox="1"/>
          <p:nvPr/>
        </p:nvSpPr>
        <p:spPr>
          <a:xfrm>
            <a:off x="11104552" y="3689985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120" name="TextBox 119"/>
          <p:cNvSpPr txBox="1"/>
          <p:nvPr/>
        </p:nvSpPr>
        <p:spPr>
          <a:xfrm>
            <a:off x="8420100" y="3857625"/>
            <a:ext cx="70239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headroom.</a:t>
            </a:r>
          </a:p>
        </p:txBody>
      </p:sp>
      <p:sp>
        <p:nvSpPr>
          <p:cNvPr id="121" name="TextBox 120"/>
          <p:cNvSpPr txBox="1"/>
          <p:nvPr/>
        </p:nvSpPr>
        <p:spPr>
          <a:xfrm>
            <a:off x="1752600" y="4223385"/>
            <a:ext cx="126146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Above-market pace (</a:t>
            </a:r>
          </a:p>
        </p:txBody>
      </p:sp>
      <p:pic>
        <p:nvPicPr>
          <p:cNvPr id="122" name="Picture 1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962118" y="4213606"/>
            <a:ext cx="128699" cy="187198"/>
          </a:xfrm>
          <a:prstGeom prst="rect">
            <a:avLst/>
          </a:prstGeom>
        </p:spPr>
      </p:pic>
      <p:sp>
        <p:nvSpPr>
          <p:cNvPr id="123" name="TextBox 122"/>
          <p:cNvSpPr txBox="1"/>
          <p:nvPr/>
        </p:nvSpPr>
        <p:spPr>
          <a:xfrm>
            <a:off x="3129614" y="4223385"/>
            <a:ext cx="201126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), Shampoos &amp; Cleansing Products</a:t>
            </a:r>
          </a:p>
        </p:txBody>
      </p:sp>
      <p:sp>
        <p:nvSpPr>
          <p:cNvPr id="124" name="TextBox 123"/>
          <p:cNvSpPr txBox="1"/>
          <p:nvPr/>
        </p:nvSpPr>
        <p:spPr>
          <a:xfrm>
            <a:off x="1752600" y="4391025"/>
            <a:ext cx="192449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demand, Accelerating vs history.</a:t>
            </a:r>
          </a:p>
        </p:txBody>
      </p:sp>
      <p:sp>
        <p:nvSpPr>
          <p:cNvPr id="125" name="TextBox 124"/>
          <p:cNvSpPr txBox="1"/>
          <p:nvPr/>
        </p:nvSpPr>
        <p:spPr>
          <a:xfrm>
            <a:off x="5562600" y="4307205"/>
            <a:ext cx="111303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Rising realisation (</a:t>
            </a:r>
          </a:p>
        </p:txBody>
      </p:sp>
      <p:pic>
        <p:nvPicPr>
          <p:cNvPr id="126" name="Picture 12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623687" y="4297426"/>
            <a:ext cx="128699" cy="187198"/>
          </a:xfrm>
          <a:prstGeom prst="rect">
            <a:avLst/>
          </a:prstGeom>
        </p:spPr>
      </p:pic>
      <p:sp>
        <p:nvSpPr>
          <p:cNvPr id="127" name="TextBox 126"/>
          <p:cNvSpPr txBox="1"/>
          <p:nvPr/>
        </p:nvSpPr>
        <p:spPr>
          <a:xfrm>
            <a:off x="6791183" y="4307205"/>
            <a:ext cx="15368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128" name="TextBox 127"/>
          <p:cNvSpPr txBox="1"/>
          <p:nvPr/>
        </p:nvSpPr>
        <p:spPr>
          <a:xfrm>
            <a:off x="8420100" y="4223385"/>
            <a:ext cx="204364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Scale Ear &amp; Eye Hygiene Products (</a:t>
            </a:r>
          </a:p>
        </p:txBody>
      </p:sp>
      <p:pic>
        <p:nvPicPr>
          <p:cNvPr id="129" name="Picture 12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411798" y="4213606"/>
            <a:ext cx="128699" cy="187198"/>
          </a:xfrm>
          <a:prstGeom prst="rect">
            <a:avLst/>
          </a:prstGeom>
        </p:spPr>
      </p:pic>
      <p:sp>
        <p:nvSpPr>
          <p:cNvPr id="130" name="TextBox 129"/>
          <p:cNvSpPr txBox="1"/>
          <p:nvPr/>
        </p:nvSpPr>
        <p:spPr>
          <a:xfrm>
            <a:off x="10579294" y="4223385"/>
            <a:ext cx="15341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),</a:t>
            </a:r>
          </a:p>
        </p:txBody>
      </p:sp>
      <p:pic>
        <p:nvPicPr>
          <p:cNvPr id="131" name="Picture 13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680763" y="4213606"/>
            <a:ext cx="128699" cy="187198"/>
          </a:xfrm>
          <a:prstGeom prst="rect">
            <a:avLst/>
          </a:prstGeom>
        </p:spPr>
      </p:pic>
      <p:sp>
        <p:nvSpPr>
          <p:cNvPr id="132" name="TextBox 131"/>
          <p:cNvSpPr txBox="1"/>
          <p:nvPr/>
        </p:nvSpPr>
        <p:spPr>
          <a:xfrm>
            <a:off x="10848259" y="4223385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133" name="TextBox 132"/>
          <p:cNvSpPr txBox="1"/>
          <p:nvPr/>
        </p:nvSpPr>
        <p:spPr>
          <a:xfrm>
            <a:off x="8420100" y="4391025"/>
            <a:ext cx="70239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headroom.</a:t>
            </a:r>
          </a:p>
        </p:txBody>
      </p:sp>
      <p:sp>
        <p:nvSpPr>
          <p:cNvPr id="134" name="TextBox 133"/>
          <p:cNvSpPr txBox="1"/>
          <p:nvPr/>
        </p:nvSpPr>
        <p:spPr>
          <a:xfrm>
            <a:off x="1752600" y="4756785"/>
            <a:ext cx="126146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Above-market pace (</a:t>
            </a:r>
          </a:p>
        </p:txBody>
      </p:sp>
      <p:pic>
        <p:nvPicPr>
          <p:cNvPr id="135" name="Picture 1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962118" y="4747006"/>
            <a:ext cx="128699" cy="187198"/>
          </a:xfrm>
          <a:prstGeom prst="rect">
            <a:avLst/>
          </a:prstGeom>
        </p:spPr>
      </p:pic>
      <p:sp>
        <p:nvSpPr>
          <p:cNvPr id="136" name="TextBox 135"/>
          <p:cNvSpPr txBox="1"/>
          <p:nvPr/>
        </p:nvSpPr>
        <p:spPr>
          <a:xfrm>
            <a:off x="3129614" y="4756785"/>
            <a:ext cx="201126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), Shampoos &amp; Cleansing Products</a:t>
            </a:r>
          </a:p>
        </p:txBody>
      </p:sp>
      <p:sp>
        <p:nvSpPr>
          <p:cNvPr id="137" name="TextBox 136"/>
          <p:cNvSpPr txBox="1"/>
          <p:nvPr/>
        </p:nvSpPr>
        <p:spPr>
          <a:xfrm>
            <a:off x="1752600" y="4924425"/>
            <a:ext cx="192449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demand, Accelerating vs history.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8420100" y="4756785"/>
            <a:ext cx="275178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Scale Coat Conditioning &amp; Grooming Products (</a:t>
            </a:r>
          </a:p>
        </p:txBody>
      </p:sp>
      <p:pic>
        <p:nvPicPr>
          <p:cNvPr id="139" name="Picture 13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119934" y="4747006"/>
            <a:ext cx="128699" cy="187198"/>
          </a:xfrm>
          <a:prstGeom prst="rect">
            <a:avLst/>
          </a:prstGeom>
        </p:spPr>
      </p:pic>
      <p:sp>
        <p:nvSpPr>
          <p:cNvPr id="140" name="TextBox 139"/>
          <p:cNvSpPr txBox="1"/>
          <p:nvPr/>
        </p:nvSpPr>
        <p:spPr>
          <a:xfrm>
            <a:off x="11287429" y="4756785"/>
            <a:ext cx="15341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),</a:t>
            </a:r>
          </a:p>
        </p:txBody>
      </p:sp>
      <p:pic>
        <p:nvPicPr>
          <p:cNvPr id="141" name="Picture 14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388898" y="4747006"/>
            <a:ext cx="128699" cy="187198"/>
          </a:xfrm>
          <a:prstGeom prst="rect">
            <a:avLst/>
          </a:prstGeom>
        </p:spPr>
      </p:pic>
      <p:sp>
        <p:nvSpPr>
          <p:cNvPr id="142" name="TextBox 141"/>
          <p:cNvSpPr txBox="1"/>
          <p:nvPr/>
        </p:nvSpPr>
        <p:spPr>
          <a:xfrm>
            <a:off x="11556394" y="4756785"/>
            <a:ext cx="30102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</a:t>
            </a:r>
          </a:p>
        </p:txBody>
      </p:sp>
      <p:sp>
        <p:nvSpPr>
          <p:cNvPr id="143" name="TextBox 142"/>
          <p:cNvSpPr txBox="1"/>
          <p:nvPr/>
        </p:nvSpPr>
        <p:spPr>
          <a:xfrm>
            <a:off x="8420100" y="4924425"/>
            <a:ext cx="92695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Mn headroom.</a:t>
            </a:r>
          </a:p>
        </p:txBody>
      </p:sp>
      <p:sp>
        <p:nvSpPr>
          <p:cNvPr id="144" name="TextBox 143"/>
          <p:cNvSpPr txBox="1"/>
          <p:nvPr/>
        </p:nvSpPr>
        <p:spPr>
          <a:xfrm>
            <a:off x="1752600" y="5390197"/>
            <a:ext cx="113431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Installed demand (</a:t>
            </a:r>
          </a:p>
        </p:txBody>
      </p:sp>
      <p:pic>
        <p:nvPicPr>
          <p:cNvPr id="145" name="Picture 14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34969" y="5380418"/>
            <a:ext cx="128699" cy="187198"/>
          </a:xfrm>
          <a:prstGeom prst="rect">
            <a:avLst/>
          </a:prstGeom>
        </p:spPr>
      </p:pic>
      <p:sp>
        <p:nvSpPr>
          <p:cNvPr id="146" name="TextBox 145"/>
          <p:cNvSpPr txBox="1"/>
          <p:nvPr/>
        </p:nvSpPr>
        <p:spPr>
          <a:xfrm>
            <a:off x="3002465" y="5390197"/>
            <a:ext cx="224835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CAGR), Coat Conditioning &amp; Grooming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1752600" y="5557837"/>
            <a:ext cx="245846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Products demand, Accelerating vs history.</a:t>
            </a:r>
          </a:p>
        </p:txBody>
      </p:sp>
      <p:sp>
        <p:nvSpPr>
          <p:cNvPr id="148" name="TextBox 147"/>
          <p:cNvSpPr txBox="1"/>
          <p:nvPr/>
        </p:nvSpPr>
        <p:spPr>
          <a:xfrm>
            <a:off x="5562600" y="5474017"/>
            <a:ext cx="128711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Trails market pace by</a:t>
            </a:r>
          </a:p>
        </p:txBody>
      </p:sp>
      <p:pic>
        <p:nvPicPr>
          <p:cNvPr id="149" name="Picture 14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797766" y="5464238"/>
            <a:ext cx="128699" cy="187198"/>
          </a:xfrm>
          <a:prstGeom prst="rect">
            <a:avLst/>
          </a:prstGeom>
        </p:spPr>
      </p:pic>
      <p:sp>
        <p:nvSpPr>
          <p:cNvPr id="150" name="TextBox 149"/>
          <p:cNvSpPr txBox="1"/>
          <p:nvPr/>
        </p:nvSpPr>
        <p:spPr>
          <a:xfrm>
            <a:off x="6965262" y="5474017"/>
            <a:ext cx="122272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BPS, Sub-scale base.</a:t>
            </a:r>
          </a:p>
        </p:txBody>
      </p:sp>
      <p:sp>
        <p:nvSpPr>
          <p:cNvPr id="151" name="TextBox 150"/>
          <p:cNvSpPr txBox="1"/>
          <p:nvPr/>
        </p:nvSpPr>
        <p:spPr>
          <a:xfrm>
            <a:off x="8420100" y="5306377"/>
            <a:ext cx="241344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Scale Fragrance &amp; Deodorizing Products (</a:t>
            </a:r>
          </a:p>
        </p:txBody>
      </p:sp>
      <p:pic>
        <p:nvPicPr>
          <p:cNvPr id="152" name="Picture 15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781598" y="5296598"/>
            <a:ext cx="128699" cy="187198"/>
          </a:xfrm>
          <a:prstGeom prst="rect">
            <a:avLst/>
          </a:prstGeom>
        </p:spPr>
      </p:pic>
      <p:sp>
        <p:nvSpPr>
          <p:cNvPr id="153" name="TextBox 152"/>
          <p:cNvSpPr txBox="1"/>
          <p:nvPr/>
        </p:nvSpPr>
        <p:spPr>
          <a:xfrm>
            <a:off x="10949093" y="5306377"/>
            <a:ext cx="83090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), Mix shift to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8420100" y="5474017"/>
            <a:ext cx="238916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Coat Conditioning &amp; Grooming Products,</a:t>
            </a:r>
          </a:p>
        </p:txBody>
      </p:sp>
      <p:pic>
        <p:nvPicPr>
          <p:cNvPr id="155" name="Picture 15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757314" y="5464238"/>
            <a:ext cx="128699" cy="187198"/>
          </a:xfrm>
          <a:prstGeom prst="rect">
            <a:avLst/>
          </a:prstGeom>
        </p:spPr>
      </p:pic>
      <p:sp>
        <p:nvSpPr>
          <p:cNvPr id="156" name="TextBox 155"/>
          <p:cNvSpPr txBox="1"/>
          <p:nvPr/>
        </p:nvSpPr>
        <p:spPr>
          <a:xfrm>
            <a:off x="10924810" y="5474017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157" name="TextBox 156"/>
          <p:cNvSpPr txBox="1"/>
          <p:nvPr/>
        </p:nvSpPr>
        <p:spPr>
          <a:xfrm>
            <a:off x="8420100" y="5641657"/>
            <a:ext cx="70239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headroom.</a:t>
            </a:r>
          </a:p>
        </p:txBody>
      </p:sp>
    </p:spTree>
  </p:cSld>
  <p:clrMapOvr>
    <a:masterClrMapping/>
  </p:clrMapOvr>
</p:sld>
</file>

<file path=ppt/slides/slide22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Dynamics by Country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the growth driver, restraint and opportunity shaping each country of the Europe market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80975" y="876300"/>
            <a:ext cx="8572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1">
                <a:solidFill>
                  <a:srgbClr val="2E2E2E"/>
                </a:solidFill>
                <a:latin typeface="Calibri"/>
              </a:rPr>
              <a:t>Demand Dynamics by Country  ·  ranked by 2036 value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42875" y="1123950"/>
            <a:ext cx="11906250" cy="266700"/>
          </a:xfrm>
          <a:prstGeom prst="rect">
            <a:avLst/>
          </a:prstGeom>
          <a:solidFill>
            <a:srgbClr val="DCE6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00025" y="1123950"/>
            <a:ext cx="1428750" cy="2667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Country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1724025" y="1123950"/>
            <a:ext cx="3714750" cy="2667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Growth Drivers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5534025" y="1123950"/>
            <a:ext cx="2762250" cy="2667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Restraints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8391525" y="1123950"/>
            <a:ext cx="3619500" cy="2667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Priority Opportunities</a:t>
            </a:r>
          </a:p>
        </p:txBody>
      </p:sp>
      <p:sp>
        <p:nvSpPr>
          <p:cNvPr id="16" name="Rectangle 15"/>
          <p:cNvSpPr/>
          <p:nvPr/>
        </p:nvSpPr>
        <p:spPr>
          <a:xfrm>
            <a:off x="142875" y="1390650"/>
            <a:ext cx="11906250" cy="5334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00025" y="1390650"/>
            <a:ext cx="1428750" cy="5334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Other European Countries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724025" y="1419225"/>
            <a:ext cx="367665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5534025" y="1419225"/>
            <a:ext cx="272415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Sub-scale base.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8391525" y="1419225"/>
            <a:ext cx="358140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1" name="Rectangle 20"/>
          <p:cNvSpPr/>
          <p:nvPr/>
        </p:nvSpPr>
        <p:spPr>
          <a:xfrm>
            <a:off x="142875" y="1924050"/>
            <a:ext cx="11906250" cy="533400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200025" y="1924050"/>
            <a:ext cx="1428750" cy="5334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Sweden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1724025" y="1952625"/>
            <a:ext cx="367665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5534025" y="1952625"/>
            <a:ext cx="272415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Sub-scale base.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8391525" y="1952625"/>
            <a:ext cx="358140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6" name="Rectangle 25"/>
          <p:cNvSpPr/>
          <p:nvPr/>
        </p:nvSpPr>
        <p:spPr>
          <a:xfrm>
            <a:off x="142875" y="2457450"/>
            <a:ext cx="11906250" cy="5334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TextBox 26"/>
          <p:cNvSpPr txBox="1"/>
          <p:nvPr/>
        </p:nvSpPr>
        <p:spPr>
          <a:xfrm>
            <a:off x="200025" y="2457450"/>
            <a:ext cx="1428750" cy="5334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Austria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1724025" y="2486025"/>
            <a:ext cx="367665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5534025" y="2486025"/>
            <a:ext cx="272415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8391525" y="2486025"/>
            <a:ext cx="358140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cxnSp>
        <p:nvCxnSpPr>
          <p:cNvPr id="31" name="Connector 30"/>
          <p:cNvCxnSpPr/>
          <p:nvPr/>
        </p:nvCxnSpPr>
        <p:spPr>
          <a:xfrm>
            <a:off x="142875" y="2990850"/>
            <a:ext cx="11906250" cy="0"/>
          </a:xfrm>
          <a:prstGeom prst="line">
            <a:avLst/>
          </a:prstGeom>
          <a:ln w="12700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2" name="TextBox 31"/>
          <p:cNvSpPr txBox="1"/>
          <p:nvPr/>
        </p:nvSpPr>
        <p:spPr>
          <a:xfrm>
            <a:off x="200025" y="3009900"/>
            <a:ext cx="3810000" cy="1905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33" name="Rounded Rectangle 32"/>
          <p:cNvSpPr/>
          <p:nvPr/>
        </p:nvSpPr>
        <p:spPr>
          <a:xfrm>
            <a:off x="142875" y="3276600"/>
            <a:ext cx="11906250" cy="1038225"/>
          </a:xfrm>
          <a:prstGeom prst="roundRect">
            <a:avLst>
              <a:gd name="adj" fmla="val 479"/>
            </a:avLst>
          </a:prstGeom>
          <a:solidFill>
            <a:srgbClr val="FFFFFF"/>
          </a:solidFill>
          <a:ln w="1270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276225" y="3314700"/>
            <a:ext cx="38100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200" b="1">
                <a:solidFill>
                  <a:srgbClr val="0B2E4A"/>
                </a:solidFill>
                <a:latin typeface="Calibri"/>
              </a:rPr>
              <a:t>KEY TAKEAWAY</a:t>
            </a:r>
          </a:p>
        </p:txBody>
      </p:sp>
      <p:cxnSp>
        <p:nvCxnSpPr>
          <p:cNvPr id="35" name="Connector 34"/>
          <p:cNvCxnSpPr/>
          <p:nvPr/>
        </p:nvCxnSpPr>
        <p:spPr>
          <a:xfrm>
            <a:off x="276225" y="3562350"/>
            <a:ext cx="11639550" cy="0"/>
          </a:xfrm>
          <a:prstGeom prst="line">
            <a:avLst/>
          </a:prstGeom>
          <a:ln w="15875">
            <a:solidFill>
              <a:srgbClr val="0B2E4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TextBox 35"/>
          <p:cNvSpPr txBox="1"/>
          <p:nvPr/>
        </p:nvSpPr>
        <p:spPr>
          <a:xfrm>
            <a:off x="276225" y="3619500"/>
            <a:ext cx="11525250" cy="61912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1752600" y="1489710"/>
            <a:ext cx="126146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Above-market pace (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962118" y="1479931"/>
            <a:ext cx="128699" cy="187198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3129614" y="1489710"/>
            <a:ext cx="201126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), Shampoos &amp; Cleansing Products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1752600" y="1657350"/>
            <a:ext cx="192449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demand, Accelerating vs history.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8420100" y="1489710"/>
            <a:ext cx="229994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Scale Shampoos &amp; Cleansing Products (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668091" y="1479931"/>
            <a:ext cx="128699" cy="187198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10835587" y="1489710"/>
            <a:ext cx="15341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),</a:t>
            </a:r>
          </a:p>
        </p:txBody>
      </p:sp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937056" y="1479931"/>
            <a:ext cx="128699" cy="187198"/>
          </a:xfrm>
          <a:prstGeom prst="rect">
            <a:avLst/>
          </a:prstGeom>
        </p:spPr>
      </p:pic>
      <p:sp>
        <p:nvSpPr>
          <p:cNvPr id="46" name="TextBox 45"/>
          <p:cNvSpPr txBox="1"/>
          <p:nvPr/>
        </p:nvSpPr>
        <p:spPr>
          <a:xfrm>
            <a:off x="11104552" y="1489710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8420100" y="1657350"/>
            <a:ext cx="70239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headroom.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1752600" y="2023110"/>
            <a:ext cx="126146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Above-market pace (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962118" y="2013331"/>
            <a:ext cx="128699" cy="187198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3129614" y="2023110"/>
            <a:ext cx="201126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), Shampoos &amp; Cleansing Products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1752600" y="2190750"/>
            <a:ext cx="192449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demand, Accelerating vs history.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8420100" y="2023110"/>
            <a:ext cx="228466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Scale Skin, Paw &amp; Nose Care Products (</a:t>
            </a:r>
          </a:p>
        </p:txBody>
      </p:sp>
      <p:pic>
        <p:nvPicPr>
          <p:cNvPr id="53" name="Picture 5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652812" y="2013331"/>
            <a:ext cx="128699" cy="187198"/>
          </a:xfrm>
          <a:prstGeom prst="rect">
            <a:avLst/>
          </a:prstGeom>
        </p:spPr>
      </p:pic>
      <p:sp>
        <p:nvSpPr>
          <p:cNvPr id="54" name="TextBox 53"/>
          <p:cNvSpPr txBox="1"/>
          <p:nvPr/>
        </p:nvSpPr>
        <p:spPr>
          <a:xfrm>
            <a:off x="10820307" y="2023110"/>
            <a:ext cx="15341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),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921776" y="2013331"/>
            <a:ext cx="128699" cy="187198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11089272" y="2023110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8420100" y="2190750"/>
            <a:ext cx="70239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headroom.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1752600" y="2556510"/>
            <a:ext cx="113431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Installed demand (</a:t>
            </a:r>
          </a:p>
        </p:txBody>
      </p:sp>
      <p:pic>
        <p:nvPicPr>
          <p:cNvPr id="59" name="Picture 5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34969" y="2546731"/>
            <a:ext cx="128699" cy="187198"/>
          </a:xfrm>
          <a:prstGeom prst="rect">
            <a:avLst/>
          </a:prstGeom>
        </p:spPr>
      </p:pic>
      <p:sp>
        <p:nvSpPr>
          <p:cNvPr id="60" name="TextBox 59"/>
          <p:cNvSpPr txBox="1"/>
          <p:nvPr/>
        </p:nvSpPr>
        <p:spPr>
          <a:xfrm>
            <a:off x="3002465" y="2556510"/>
            <a:ext cx="233048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CAGR), Shampoos &amp; Cleansing Products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1752600" y="2724150"/>
            <a:ext cx="192449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demand, Accelerating vs history.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5562600" y="2556510"/>
            <a:ext cx="128711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Trails market pace by</a:t>
            </a:r>
          </a:p>
        </p:txBody>
      </p:sp>
      <p:pic>
        <p:nvPicPr>
          <p:cNvPr id="63" name="Picture 6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797766" y="2546731"/>
            <a:ext cx="128699" cy="187198"/>
          </a:xfrm>
          <a:prstGeom prst="rect">
            <a:avLst/>
          </a:prstGeom>
        </p:spPr>
      </p:pic>
      <p:sp>
        <p:nvSpPr>
          <p:cNvPr id="64" name="TextBox 63"/>
          <p:cNvSpPr txBox="1"/>
          <p:nvPr/>
        </p:nvSpPr>
        <p:spPr>
          <a:xfrm>
            <a:off x="6965262" y="2556510"/>
            <a:ext cx="122244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BPS, Sub-scale base,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5562600" y="2724150"/>
            <a:ext cx="111303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Rising realisation (</a:t>
            </a:r>
          </a:p>
        </p:txBody>
      </p:sp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623687" y="2714371"/>
            <a:ext cx="128699" cy="187198"/>
          </a:xfrm>
          <a:prstGeom prst="rect">
            <a:avLst/>
          </a:prstGeom>
        </p:spPr>
      </p:pic>
      <p:sp>
        <p:nvSpPr>
          <p:cNvPr id="67" name="TextBox 66"/>
          <p:cNvSpPr txBox="1"/>
          <p:nvPr/>
        </p:nvSpPr>
        <p:spPr>
          <a:xfrm>
            <a:off x="6791183" y="2724150"/>
            <a:ext cx="15368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8420100" y="2556510"/>
            <a:ext cx="275178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Scale Coat Conditioning &amp; Grooming Products (</a:t>
            </a:r>
          </a:p>
        </p:txBody>
      </p:sp>
      <p:pic>
        <p:nvPicPr>
          <p:cNvPr id="69" name="Picture 6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119934" y="2546731"/>
            <a:ext cx="128699" cy="187198"/>
          </a:xfrm>
          <a:prstGeom prst="rect">
            <a:avLst/>
          </a:prstGeom>
        </p:spPr>
      </p:pic>
      <p:sp>
        <p:nvSpPr>
          <p:cNvPr id="70" name="TextBox 69"/>
          <p:cNvSpPr txBox="1"/>
          <p:nvPr/>
        </p:nvSpPr>
        <p:spPr>
          <a:xfrm>
            <a:off x="11287429" y="2556510"/>
            <a:ext cx="15341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),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388898" y="2546731"/>
            <a:ext cx="128699" cy="187198"/>
          </a:xfrm>
          <a:prstGeom prst="rect">
            <a:avLst/>
          </a:prstGeom>
        </p:spPr>
      </p:pic>
      <p:sp>
        <p:nvSpPr>
          <p:cNvPr id="72" name="TextBox 71"/>
          <p:cNvSpPr txBox="1"/>
          <p:nvPr/>
        </p:nvSpPr>
        <p:spPr>
          <a:xfrm>
            <a:off x="11556394" y="2556510"/>
            <a:ext cx="30102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8420100" y="2724150"/>
            <a:ext cx="92695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Mn headroom.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304800" y="3677602"/>
            <a:ext cx="383527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Germany, United Kingdom, France anchor scale with a combined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088127" y="3667823"/>
            <a:ext cx="128699" cy="187198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4255623" y="3677602"/>
            <a:ext cx="503200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Europe value in 2036, while 'Other European Countries' offers the steepest upside at</a:t>
            </a:r>
          </a:p>
        </p:txBody>
      </p:sp>
      <p:pic>
        <p:nvPicPr>
          <p:cNvPr id="77" name="Picture 7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235677" y="3667823"/>
            <a:ext cx="128699" cy="187198"/>
          </a:xfrm>
          <a:prstGeom prst="rect">
            <a:avLst/>
          </a:prstGeom>
        </p:spPr>
      </p:pic>
      <p:sp>
        <p:nvSpPr>
          <p:cNvPr id="78" name="TextBox 77"/>
          <p:cNvSpPr txBox="1"/>
          <p:nvPr/>
        </p:nvSpPr>
        <p:spPr>
          <a:xfrm>
            <a:off x="9403173" y="3677602"/>
            <a:ext cx="181970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against a market pace of</a:t>
            </a:r>
          </a:p>
        </p:txBody>
      </p:sp>
      <p:pic>
        <p:nvPicPr>
          <p:cNvPr id="79" name="Picture 7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170929" y="3667823"/>
            <a:ext cx="128699" cy="187198"/>
          </a:xfrm>
          <a:prstGeom prst="rect">
            <a:avLst/>
          </a:prstGeom>
        </p:spPr>
      </p:pic>
      <p:sp>
        <p:nvSpPr>
          <p:cNvPr id="80" name="TextBox 79"/>
          <p:cNvSpPr txBox="1"/>
          <p:nvPr/>
        </p:nvSpPr>
        <p:spPr>
          <a:xfrm>
            <a:off x="11338425" y="3677602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  <p:sp>
        <p:nvSpPr>
          <p:cNvPr id="81" name="TextBox 80"/>
          <p:cNvSpPr txBox="1"/>
          <p:nvPr/>
        </p:nvSpPr>
        <p:spPr>
          <a:xfrm>
            <a:off x="304800" y="3845242"/>
            <a:ext cx="1127293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14 of 25 countries grow at or above that pace, so entry logic has to differ by country scale defence in the leaders, mix and premiumisation in the mid-tier, and availability-led expansion in the fastest</a:t>
            </a:r>
          </a:p>
        </p:txBody>
      </p:sp>
      <p:sp>
        <p:nvSpPr>
          <p:cNvPr id="82" name="TextBox 81"/>
          <p:cNvSpPr txBox="1"/>
          <p:nvPr/>
        </p:nvSpPr>
        <p:spPr>
          <a:xfrm>
            <a:off x="304800" y="4012882"/>
            <a:ext cx="53268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movers.</a:t>
            </a:r>
          </a:p>
        </p:txBody>
      </p:sp>
    </p:spTree>
  </p:cSld>
  <p:clrMapOvr>
    <a:masterClrMapping/>
  </p:clrMapOvr>
</p:sld>
</file>

<file path=ppt/slides/slide22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Driving Factors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economic and supply-side factors scored by their impact on the Europe market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Oval 10"/>
          <p:cNvSpPr/>
          <p:nvPr/>
        </p:nvSpPr>
        <p:spPr>
          <a:xfrm>
            <a:off x="2381250" y="1609633"/>
            <a:ext cx="4762500" cy="4563424"/>
          </a:xfrm>
          <a:prstGeom prst="ellipse">
            <a:avLst/>
          </a:prstGeom>
          <a:solidFill>
            <a:srgbClr val="DCE7F3"/>
          </a:solidFill>
          <a:ln w="12700">
            <a:solidFill>
              <a:srgbClr val="B9CDE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Oval 11"/>
          <p:cNvSpPr/>
          <p:nvPr/>
        </p:nvSpPr>
        <p:spPr>
          <a:xfrm>
            <a:off x="2619375" y="1837804"/>
            <a:ext cx="4286250" cy="4107082"/>
          </a:xfrm>
          <a:prstGeom prst="ellipse">
            <a:avLst/>
          </a:prstGeom>
          <a:solidFill>
            <a:srgbClr val="DCE7F3"/>
          </a:solidFill>
          <a:ln w="12700">
            <a:solidFill>
              <a:srgbClr val="B9CDE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Oval 12"/>
          <p:cNvSpPr/>
          <p:nvPr/>
        </p:nvSpPr>
        <p:spPr>
          <a:xfrm>
            <a:off x="2857500" y="2065976"/>
            <a:ext cx="3810000" cy="3650740"/>
          </a:xfrm>
          <a:prstGeom prst="ellipse">
            <a:avLst/>
          </a:prstGeom>
          <a:solidFill>
            <a:srgbClr val="DCE7F3"/>
          </a:solidFill>
          <a:ln w="12700">
            <a:solidFill>
              <a:srgbClr val="B9CDE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Oval 13"/>
          <p:cNvSpPr/>
          <p:nvPr/>
        </p:nvSpPr>
        <p:spPr>
          <a:xfrm>
            <a:off x="3095625" y="2294147"/>
            <a:ext cx="3333750" cy="3194397"/>
          </a:xfrm>
          <a:prstGeom prst="ellipse">
            <a:avLst/>
          </a:prstGeom>
          <a:solidFill>
            <a:srgbClr val="DCE7F3"/>
          </a:solidFill>
          <a:ln w="12700">
            <a:solidFill>
              <a:srgbClr val="B9CDE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Oval 14"/>
          <p:cNvSpPr/>
          <p:nvPr/>
        </p:nvSpPr>
        <p:spPr>
          <a:xfrm>
            <a:off x="3333750" y="2522318"/>
            <a:ext cx="2857500" cy="2738055"/>
          </a:xfrm>
          <a:prstGeom prst="ellipse">
            <a:avLst/>
          </a:prstGeom>
          <a:solidFill>
            <a:srgbClr val="DCE7F3"/>
          </a:solidFill>
          <a:ln w="12700">
            <a:solidFill>
              <a:srgbClr val="B9CDE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Oval 15"/>
          <p:cNvSpPr/>
          <p:nvPr/>
        </p:nvSpPr>
        <p:spPr>
          <a:xfrm>
            <a:off x="3571875" y="2750489"/>
            <a:ext cx="2381250" cy="2281712"/>
          </a:xfrm>
          <a:prstGeom prst="ellipse">
            <a:avLst/>
          </a:prstGeom>
          <a:solidFill>
            <a:srgbClr val="DCE7F3"/>
          </a:solidFill>
          <a:ln w="12700">
            <a:solidFill>
              <a:srgbClr val="B9CDE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Oval 16"/>
          <p:cNvSpPr/>
          <p:nvPr/>
        </p:nvSpPr>
        <p:spPr>
          <a:xfrm>
            <a:off x="3810000" y="2978660"/>
            <a:ext cx="1905000" cy="1825370"/>
          </a:xfrm>
          <a:prstGeom prst="ellipse">
            <a:avLst/>
          </a:prstGeom>
          <a:solidFill>
            <a:srgbClr val="DCE7F3"/>
          </a:solidFill>
          <a:ln w="12700">
            <a:solidFill>
              <a:srgbClr val="B9CDE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Oval 17"/>
          <p:cNvSpPr/>
          <p:nvPr/>
        </p:nvSpPr>
        <p:spPr>
          <a:xfrm>
            <a:off x="4048125" y="3206832"/>
            <a:ext cx="1428750" cy="1369027"/>
          </a:xfrm>
          <a:prstGeom prst="ellipse">
            <a:avLst/>
          </a:prstGeom>
          <a:solidFill>
            <a:srgbClr val="DCE7F3"/>
          </a:solidFill>
          <a:ln w="12700">
            <a:solidFill>
              <a:srgbClr val="B9CDE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Oval 18"/>
          <p:cNvSpPr/>
          <p:nvPr/>
        </p:nvSpPr>
        <p:spPr>
          <a:xfrm>
            <a:off x="4286250" y="3435003"/>
            <a:ext cx="952500" cy="912685"/>
          </a:xfrm>
          <a:prstGeom prst="ellipse">
            <a:avLst/>
          </a:prstGeom>
          <a:solidFill>
            <a:srgbClr val="DCE7F3"/>
          </a:solidFill>
          <a:ln w="12700">
            <a:solidFill>
              <a:srgbClr val="B9CDE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Oval 19"/>
          <p:cNvSpPr/>
          <p:nvPr/>
        </p:nvSpPr>
        <p:spPr>
          <a:xfrm>
            <a:off x="4524375" y="3663174"/>
            <a:ext cx="476250" cy="456342"/>
          </a:xfrm>
          <a:prstGeom prst="ellipse">
            <a:avLst/>
          </a:prstGeom>
          <a:solidFill>
            <a:srgbClr val="DCE7F3"/>
          </a:solidFill>
          <a:ln w="12700">
            <a:solidFill>
              <a:srgbClr val="B9CDE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1" name="Connector 20"/>
          <p:cNvCxnSpPr/>
          <p:nvPr/>
        </p:nvCxnSpPr>
        <p:spPr>
          <a:xfrm flipV="1">
            <a:off x="4762500" y="1609633"/>
            <a:ext cx="0" cy="2281712"/>
          </a:xfrm>
          <a:prstGeom prst="line">
            <a:avLst/>
          </a:prstGeom>
          <a:ln w="9525">
            <a:solidFill>
              <a:srgbClr val="B9CDE3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 flipH="1" flipV="1">
            <a:off x="3729314" y="1835594"/>
            <a:ext cx="1033186" cy="2055752"/>
          </a:xfrm>
          <a:prstGeom prst="line">
            <a:avLst/>
          </a:prstGeom>
          <a:ln w="9525">
            <a:solidFill>
              <a:srgbClr val="B9CDE3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 flipH="1" flipV="1">
            <a:off x="2900764" y="2468721"/>
            <a:ext cx="1861736" cy="1422624"/>
          </a:xfrm>
          <a:prstGeom prst="line">
            <a:avLst/>
          </a:prstGeom>
          <a:ln w="9525">
            <a:solidFill>
              <a:srgbClr val="B9CDE3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 flipH="1" flipV="1">
            <a:off x="2440953" y="3383617"/>
            <a:ext cx="2321547" cy="507729"/>
          </a:xfrm>
          <a:prstGeom prst="line">
            <a:avLst/>
          </a:prstGeom>
          <a:ln w="9525">
            <a:solidFill>
              <a:srgbClr val="B9CDE3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 flipH="1">
            <a:off x="2440953" y="3891345"/>
            <a:ext cx="2321547" cy="507729"/>
          </a:xfrm>
          <a:prstGeom prst="line">
            <a:avLst/>
          </a:prstGeom>
          <a:ln w="9525">
            <a:solidFill>
              <a:srgbClr val="B9CDE3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 flipH="1">
            <a:off x="2900764" y="3891345"/>
            <a:ext cx="1861736" cy="1422624"/>
          </a:xfrm>
          <a:prstGeom prst="line">
            <a:avLst/>
          </a:prstGeom>
          <a:ln w="9525">
            <a:solidFill>
              <a:srgbClr val="B9CDE3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7" name="Connector 26"/>
          <p:cNvCxnSpPr/>
          <p:nvPr/>
        </p:nvCxnSpPr>
        <p:spPr>
          <a:xfrm flipH="1">
            <a:off x="3729314" y="3891345"/>
            <a:ext cx="1033186" cy="2055752"/>
          </a:xfrm>
          <a:prstGeom prst="line">
            <a:avLst/>
          </a:prstGeom>
          <a:ln w="9525">
            <a:solidFill>
              <a:srgbClr val="B9CDE3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8" name="Connector 27"/>
          <p:cNvCxnSpPr/>
          <p:nvPr/>
        </p:nvCxnSpPr>
        <p:spPr>
          <a:xfrm>
            <a:off x="4762500" y="3891345"/>
            <a:ext cx="0" cy="2281712"/>
          </a:xfrm>
          <a:prstGeom prst="line">
            <a:avLst/>
          </a:prstGeom>
          <a:ln w="9525">
            <a:solidFill>
              <a:srgbClr val="B9CDE3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9" name="Freeform 28"/>
          <p:cNvSpPr/>
          <p:nvPr/>
        </p:nvSpPr>
        <p:spPr>
          <a:xfrm>
            <a:off x="2438400" y="2312400"/>
            <a:ext cx="2324100" cy="2783689"/>
          </a:xfrm>
          <a:custGeom>
            <a:avLst/>
            <a:gdLst/>
            <a:ahLst/>
            <a:cxnLst/>
            <a:rect l="l" t="t" r="r" b="b"/>
            <a:pathLst>
              <a:path w="244" h="305">
                <a:moveTo>
                  <a:pt x="244" y="0"/>
                </a:moveTo>
                <a:lnTo>
                  <a:pt x="180" y="40"/>
                </a:lnTo>
                <a:lnTo>
                  <a:pt x="70" y="34"/>
                </a:lnTo>
                <a:lnTo>
                  <a:pt x="164" y="155"/>
                </a:lnTo>
                <a:lnTo>
                  <a:pt x="0" y="229"/>
                </a:lnTo>
                <a:lnTo>
                  <a:pt x="78" y="305"/>
                </a:lnTo>
                <a:lnTo>
                  <a:pt x="190" y="286"/>
                </a:lnTo>
                <a:lnTo>
                  <a:pt x="244" y="270"/>
                </a:lnTo>
              </a:path>
            </a:pathLst>
          </a:custGeom>
          <a:noFill/>
          <a:ln w="31750">
            <a:solidFill>
              <a:srgbClr val="0F5F6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Oval 29"/>
          <p:cNvSpPr/>
          <p:nvPr/>
        </p:nvSpPr>
        <p:spPr>
          <a:xfrm>
            <a:off x="4714875" y="1563999"/>
            <a:ext cx="95250" cy="91268"/>
          </a:xfrm>
          <a:prstGeom prst="ellipse">
            <a:avLst/>
          </a:prstGeom>
          <a:solidFill>
            <a:srgbClr val="2F6DA8"/>
          </a:solidFill>
          <a:ln w="12700">
            <a:solidFill>
              <a:srgbClr val="2F6DA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2400300" y="1281067"/>
            <a:ext cx="2286000" cy="23729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2" name="Oval 31"/>
          <p:cNvSpPr/>
          <p:nvPr/>
        </p:nvSpPr>
        <p:spPr>
          <a:xfrm>
            <a:off x="3681689" y="1789960"/>
            <a:ext cx="95250" cy="91268"/>
          </a:xfrm>
          <a:prstGeom prst="ellipse">
            <a:avLst/>
          </a:prstGeom>
          <a:solidFill>
            <a:srgbClr val="2F6DA8"/>
          </a:solidFill>
          <a:ln w="12700">
            <a:solidFill>
              <a:srgbClr val="2F6DA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TextBox 32"/>
          <p:cNvSpPr txBox="1"/>
          <p:nvPr/>
        </p:nvSpPr>
        <p:spPr>
          <a:xfrm>
            <a:off x="1385456" y="1519681"/>
            <a:ext cx="2286000" cy="23729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4" name="Oval 33"/>
          <p:cNvSpPr/>
          <p:nvPr/>
        </p:nvSpPr>
        <p:spPr>
          <a:xfrm>
            <a:off x="2853139" y="2423087"/>
            <a:ext cx="95250" cy="91268"/>
          </a:xfrm>
          <a:prstGeom prst="ellipse">
            <a:avLst/>
          </a:prstGeom>
          <a:solidFill>
            <a:srgbClr val="2F6DA8"/>
          </a:solidFill>
          <a:ln w="12700">
            <a:solidFill>
              <a:srgbClr val="2F6DA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TextBox 34"/>
          <p:cNvSpPr txBox="1"/>
          <p:nvPr/>
        </p:nvSpPr>
        <p:spPr>
          <a:xfrm>
            <a:off x="510507" y="2270405"/>
            <a:ext cx="2286000" cy="23729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6" name="Oval 35"/>
          <p:cNvSpPr/>
          <p:nvPr/>
        </p:nvSpPr>
        <p:spPr>
          <a:xfrm>
            <a:off x="2393328" y="3337982"/>
            <a:ext cx="95250" cy="91268"/>
          </a:xfrm>
          <a:prstGeom prst="ellipse">
            <a:avLst/>
          </a:prstGeom>
          <a:solidFill>
            <a:srgbClr val="2F6DA8"/>
          </a:solidFill>
          <a:ln w="12700">
            <a:solidFill>
              <a:srgbClr val="2F6DA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TextBox 36"/>
          <p:cNvSpPr txBox="1"/>
          <p:nvPr/>
        </p:nvSpPr>
        <p:spPr>
          <a:xfrm>
            <a:off x="24946" y="3236535"/>
            <a:ext cx="2286000" cy="23729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8" name="Oval 37"/>
          <p:cNvSpPr/>
          <p:nvPr/>
        </p:nvSpPr>
        <p:spPr>
          <a:xfrm>
            <a:off x="2393328" y="4353440"/>
            <a:ext cx="95250" cy="91268"/>
          </a:xfrm>
          <a:prstGeom prst="ellipse">
            <a:avLst/>
          </a:prstGeom>
          <a:solidFill>
            <a:srgbClr val="2F6DA8"/>
          </a:solidFill>
          <a:ln w="12700">
            <a:solidFill>
              <a:srgbClr val="2F6DA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TextBox 38"/>
          <p:cNvSpPr txBox="1"/>
          <p:nvPr/>
        </p:nvSpPr>
        <p:spPr>
          <a:xfrm>
            <a:off x="24946" y="4308858"/>
            <a:ext cx="2286000" cy="23729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0" name="Oval 39"/>
          <p:cNvSpPr/>
          <p:nvPr/>
        </p:nvSpPr>
        <p:spPr>
          <a:xfrm>
            <a:off x="2853139" y="5268335"/>
            <a:ext cx="95250" cy="91268"/>
          </a:xfrm>
          <a:prstGeom prst="ellipse">
            <a:avLst/>
          </a:prstGeom>
          <a:solidFill>
            <a:srgbClr val="2F6DA8"/>
          </a:solidFill>
          <a:ln w="12700">
            <a:solidFill>
              <a:srgbClr val="2F6DA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TextBox 40"/>
          <p:cNvSpPr txBox="1"/>
          <p:nvPr/>
        </p:nvSpPr>
        <p:spPr>
          <a:xfrm>
            <a:off x="510507" y="5274987"/>
            <a:ext cx="2286000" cy="23729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2" name="Oval 41"/>
          <p:cNvSpPr/>
          <p:nvPr/>
        </p:nvSpPr>
        <p:spPr>
          <a:xfrm>
            <a:off x="3681689" y="5901463"/>
            <a:ext cx="95250" cy="91268"/>
          </a:xfrm>
          <a:prstGeom prst="ellipse">
            <a:avLst/>
          </a:prstGeom>
          <a:solidFill>
            <a:srgbClr val="2F6DA8"/>
          </a:solidFill>
          <a:ln w="12700">
            <a:solidFill>
              <a:srgbClr val="2F6DA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1385456" y="6025711"/>
            <a:ext cx="2286000" cy="23729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4" name="Oval 43"/>
          <p:cNvSpPr/>
          <p:nvPr/>
        </p:nvSpPr>
        <p:spPr>
          <a:xfrm>
            <a:off x="4714875" y="6127423"/>
            <a:ext cx="95250" cy="91268"/>
          </a:xfrm>
          <a:prstGeom prst="ellipse">
            <a:avLst/>
          </a:prstGeom>
          <a:solidFill>
            <a:srgbClr val="2F6DA8"/>
          </a:solidFill>
          <a:ln w="12700">
            <a:solidFill>
              <a:srgbClr val="2F6DA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TextBox 44"/>
          <p:cNvSpPr txBox="1"/>
          <p:nvPr/>
        </p:nvSpPr>
        <p:spPr>
          <a:xfrm>
            <a:off x="2400300" y="6264326"/>
            <a:ext cx="2286000" cy="23729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6" name="Rectangle 45"/>
          <p:cNvSpPr/>
          <p:nvPr/>
        </p:nvSpPr>
        <p:spPr>
          <a:xfrm>
            <a:off x="4762500" y="970754"/>
            <a:ext cx="7429500" cy="5640393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FMI Scale 0"/>
          <p:cNvSpPr txBox="1"/>
          <p:nvPr/>
        </p:nvSpPr>
        <p:spPr>
          <a:xfrm>
            <a:off x="4286250" y="3818331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0%</a:t>
            </a:r>
          </a:p>
        </p:txBody>
      </p:sp>
      <p:sp>
        <p:nvSpPr>
          <p:cNvPr id="48" name="FMI Scale 1"/>
          <p:cNvSpPr txBox="1"/>
          <p:nvPr/>
        </p:nvSpPr>
        <p:spPr>
          <a:xfrm>
            <a:off x="4286250" y="3590159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10%</a:t>
            </a:r>
          </a:p>
        </p:txBody>
      </p:sp>
      <p:sp>
        <p:nvSpPr>
          <p:cNvPr id="49" name="FMI Scale 2"/>
          <p:cNvSpPr txBox="1"/>
          <p:nvPr/>
        </p:nvSpPr>
        <p:spPr>
          <a:xfrm>
            <a:off x="4286250" y="3361988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20%</a:t>
            </a:r>
          </a:p>
        </p:txBody>
      </p:sp>
      <p:sp>
        <p:nvSpPr>
          <p:cNvPr id="50" name="FMI Scale 3"/>
          <p:cNvSpPr txBox="1"/>
          <p:nvPr/>
        </p:nvSpPr>
        <p:spPr>
          <a:xfrm>
            <a:off x="4286250" y="3133817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30%</a:t>
            </a:r>
          </a:p>
        </p:txBody>
      </p:sp>
      <p:sp>
        <p:nvSpPr>
          <p:cNvPr id="51" name="FMI Scale 4"/>
          <p:cNvSpPr txBox="1"/>
          <p:nvPr/>
        </p:nvSpPr>
        <p:spPr>
          <a:xfrm>
            <a:off x="4286250" y="2905646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40%</a:t>
            </a:r>
          </a:p>
        </p:txBody>
      </p:sp>
      <p:sp>
        <p:nvSpPr>
          <p:cNvPr id="52" name="FMI Scale 5"/>
          <p:cNvSpPr txBox="1"/>
          <p:nvPr/>
        </p:nvSpPr>
        <p:spPr>
          <a:xfrm>
            <a:off x="4286250" y="2677474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50%</a:t>
            </a:r>
          </a:p>
        </p:txBody>
      </p:sp>
      <p:sp>
        <p:nvSpPr>
          <p:cNvPr id="53" name="FMI Scale 6"/>
          <p:cNvSpPr txBox="1"/>
          <p:nvPr/>
        </p:nvSpPr>
        <p:spPr>
          <a:xfrm>
            <a:off x="4286250" y="2449303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60%</a:t>
            </a:r>
          </a:p>
        </p:txBody>
      </p:sp>
      <p:sp>
        <p:nvSpPr>
          <p:cNvPr id="54" name="FMI Scale 7"/>
          <p:cNvSpPr txBox="1"/>
          <p:nvPr/>
        </p:nvSpPr>
        <p:spPr>
          <a:xfrm>
            <a:off x="4286250" y="2221132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70%</a:t>
            </a:r>
          </a:p>
        </p:txBody>
      </p:sp>
      <p:sp>
        <p:nvSpPr>
          <p:cNvPr id="55" name="FMI Scale 8"/>
          <p:cNvSpPr txBox="1"/>
          <p:nvPr/>
        </p:nvSpPr>
        <p:spPr>
          <a:xfrm>
            <a:off x="4286250" y="1992961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80%</a:t>
            </a:r>
          </a:p>
        </p:txBody>
      </p:sp>
      <p:sp>
        <p:nvSpPr>
          <p:cNvPr id="56" name="FMI Scale 9"/>
          <p:cNvSpPr txBox="1"/>
          <p:nvPr/>
        </p:nvSpPr>
        <p:spPr>
          <a:xfrm>
            <a:off x="4286250" y="1764790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90%</a:t>
            </a:r>
          </a:p>
        </p:txBody>
      </p:sp>
      <p:sp>
        <p:nvSpPr>
          <p:cNvPr id="57" name="FMI Scale 10"/>
          <p:cNvSpPr txBox="1"/>
          <p:nvPr/>
        </p:nvSpPr>
        <p:spPr>
          <a:xfrm>
            <a:off x="4286250" y="1536618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100%</a:t>
            </a:r>
          </a:p>
        </p:txBody>
      </p:sp>
      <p:cxnSp>
        <p:nvCxnSpPr>
          <p:cNvPr id="58" name="Connector 57"/>
          <p:cNvCxnSpPr/>
          <p:nvPr/>
        </p:nvCxnSpPr>
        <p:spPr>
          <a:xfrm>
            <a:off x="4762500" y="1025515"/>
            <a:ext cx="0" cy="5549124"/>
          </a:xfrm>
          <a:prstGeom prst="line">
            <a:avLst/>
          </a:prstGeom>
          <a:ln w="12700">
            <a:solidFill>
              <a:srgbClr val="D5DBE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9" name="TextBox 58"/>
          <p:cNvSpPr txBox="1"/>
          <p:nvPr/>
        </p:nvSpPr>
        <p:spPr>
          <a:xfrm>
            <a:off x="4972050" y="1080276"/>
            <a:ext cx="7077075" cy="21904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200" b="1">
                <a:solidFill>
                  <a:srgbClr val="0B2E4A"/>
                </a:solidFill>
                <a:latin typeface="Calibri"/>
              </a:rPr>
              <a:t>Economic and Supply-side Factors</a:t>
            </a:r>
          </a:p>
        </p:txBody>
      </p:sp>
      <p:cxnSp>
        <p:nvCxnSpPr>
          <p:cNvPr id="60" name="Connector 59"/>
          <p:cNvCxnSpPr/>
          <p:nvPr/>
        </p:nvCxnSpPr>
        <p:spPr>
          <a:xfrm>
            <a:off x="4972050" y="1335828"/>
            <a:ext cx="7077075" cy="0"/>
          </a:xfrm>
          <a:prstGeom prst="line">
            <a:avLst/>
          </a:prstGeom>
          <a:ln w="31750">
            <a:solidFill>
              <a:srgbClr val="1F6FB4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1" name="TextBox 60"/>
          <p:cNvSpPr txBox="1"/>
          <p:nvPr/>
        </p:nvSpPr>
        <p:spPr>
          <a:xfrm>
            <a:off x="4972050" y="1427096"/>
            <a:ext cx="7077075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4972050" y="1883439"/>
            <a:ext cx="7077075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4972050" y="2339781"/>
            <a:ext cx="7077075" cy="29205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4972050" y="2613586"/>
            <a:ext cx="7077075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▪  Portfolio breadth spans 6 product type lines and 5 sales channels routes, giving producers wide reformulation and channel latitude.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4972050" y="3069929"/>
            <a:ext cx="7077075" cy="29205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4972050" y="3343734"/>
            <a:ext cx="7077075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▪  Note: the dynamics framing is indicative factors, impact ratings and narrative are generated from the loaded dataset's own values.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3466991" y="1322601"/>
            <a:ext cx="1125226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Production Scale-up</a:t>
            </a:r>
          </a:p>
        </p:txBody>
      </p:sp>
      <p:pic>
        <p:nvPicPr>
          <p:cNvPr id="69" name="Picture 6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38330" y="1313604"/>
            <a:ext cx="118403" cy="172222"/>
          </a:xfrm>
          <a:prstGeom prst="rect">
            <a:avLst/>
          </a:prstGeom>
        </p:spPr>
      </p:pic>
      <p:sp>
        <p:nvSpPr>
          <p:cNvPr id="70" name="TextBox 69"/>
          <p:cNvSpPr txBox="1"/>
          <p:nvPr/>
        </p:nvSpPr>
        <p:spPr>
          <a:xfrm>
            <a:off x="2482772" y="1561215"/>
            <a:ext cx="1094602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Input Cost Pressure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23486" y="1552218"/>
            <a:ext cx="118403" cy="172222"/>
          </a:xfrm>
          <a:prstGeom prst="rect">
            <a:avLst/>
          </a:prstGeom>
        </p:spPr>
      </p:pic>
      <p:sp>
        <p:nvSpPr>
          <p:cNvPr id="72" name="TextBox 71"/>
          <p:cNvSpPr txBox="1"/>
          <p:nvPr/>
        </p:nvSpPr>
        <p:spPr>
          <a:xfrm>
            <a:off x="1943191" y="2311939"/>
            <a:ext cx="759234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Capacity Add</a:t>
            </a:r>
          </a:p>
        </p:txBody>
      </p:sp>
      <p:pic>
        <p:nvPicPr>
          <p:cNvPr id="73" name="Picture 7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648537" y="2302942"/>
            <a:ext cx="118403" cy="172222"/>
          </a:xfrm>
          <a:prstGeom prst="rect">
            <a:avLst/>
          </a:prstGeom>
        </p:spPr>
      </p:pic>
      <p:sp>
        <p:nvSpPr>
          <p:cNvPr id="74" name="TextBox 73"/>
          <p:cNvSpPr txBox="1"/>
          <p:nvPr/>
        </p:nvSpPr>
        <p:spPr>
          <a:xfrm>
            <a:off x="1014573" y="3278069"/>
            <a:ext cx="1202291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Supply Concentration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62976" y="3269072"/>
            <a:ext cx="118403" cy="172222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1148118" y="4350392"/>
            <a:ext cx="1068746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Geographic Spread</a:t>
            </a:r>
          </a:p>
        </p:txBody>
      </p:sp>
      <p:pic>
        <p:nvPicPr>
          <p:cNvPr id="77" name="Picture 7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62976" y="4341395"/>
            <a:ext cx="118403" cy="172222"/>
          </a:xfrm>
          <a:prstGeom prst="rect">
            <a:avLst/>
          </a:prstGeom>
        </p:spPr>
      </p:pic>
      <p:sp>
        <p:nvSpPr>
          <p:cNvPr id="78" name="TextBox 77"/>
          <p:cNvSpPr txBox="1"/>
          <p:nvPr/>
        </p:nvSpPr>
        <p:spPr>
          <a:xfrm>
            <a:off x="1722039" y="5316521"/>
            <a:ext cx="980386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Portfolio Breadth</a:t>
            </a:r>
          </a:p>
        </p:txBody>
      </p:sp>
      <p:pic>
        <p:nvPicPr>
          <p:cNvPr id="79" name="Picture 7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648537" y="5307524"/>
            <a:ext cx="118403" cy="172222"/>
          </a:xfrm>
          <a:prstGeom prst="rect">
            <a:avLst/>
          </a:prstGeom>
        </p:spPr>
      </p:pic>
      <p:sp>
        <p:nvSpPr>
          <p:cNvPr id="80" name="TextBox 79"/>
          <p:cNvSpPr txBox="1"/>
          <p:nvPr/>
        </p:nvSpPr>
        <p:spPr>
          <a:xfrm>
            <a:off x="2838472" y="6067245"/>
            <a:ext cx="738901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Route Depth</a:t>
            </a:r>
          </a:p>
        </p:txBody>
      </p:sp>
      <p:pic>
        <p:nvPicPr>
          <p:cNvPr id="81" name="Picture 8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23486" y="6058248"/>
            <a:ext cx="118403" cy="172222"/>
          </a:xfrm>
          <a:prstGeom prst="rect">
            <a:avLst/>
          </a:prstGeom>
        </p:spPr>
      </p:pic>
      <p:sp>
        <p:nvSpPr>
          <p:cNvPr id="82" name="TextBox 81"/>
          <p:cNvSpPr txBox="1"/>
          <p:nvPr/>
        </p:nvSpPr>
        <p:spPr>
          <a:xfrm>
            <a:off x="3616852" y="6305860"/>
            <a:ext cx="975365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Value Realisation</a:t>
            </a:r>
          </a:p>
        </p:txBody>
      </p:sp>
      <p:pic>
        <p:nvPicPr>
          <p:cNvPr id="83" name="Picture 8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38330" y="6296863"/>
            <a:ext cx="118403" cy="172222"/>
          </a:xfrm>
          <a:prstGeom prst="rect">
            <a:avLst/>
          </a:prstGeom>
        </p:spPr>
      </p:pic>
      <p:sp>
        <p:nvSpPr>
          <p:cNvPr id="84" name="TextBox 83"/>
          <p:cNvSpPr txBox="1"/>
          <p:nvPr/>
        </p:nvSpPr>
        <p:spPr>
          <a:xfrm>
            <a:off x="5000625" y="1496754"/>
            <a:ext cx="321044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Supply-side conditions are led by Geographic Spread (</a:t>
            </a:r>
          </a:p>
        </p:txBody>
      </p:sp>
      <p:pic>
        <p:nvPicPr>
          <p:cNvPr id="85" name="Picture 8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159122" y="1486975"/>
            <a:ext cx="128699" cy="187198"/>
          </a:xfrm>
          <a:prstGeom prst="rect">
            <a:avLst/>
          </a:prstGeom>
        </p:spPr>
      </p:pic>
      <p:sp>
        <p:nvSpPr>
          <p:cNvPr id="86" name="TextBox 85"/>
          <p:cNvSpPr txBox="1"/>
          <p:nvPr/>
        </p:nvSpPr>
        <p:spPr>
          <a:xfrm>
            <a:off x="8326618" y="1496754"/>
            <a:ext cx="119734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/10), Capacity Add (</a:t>
            </a:r>
          </a:p>
        </p:txBody>
      </p:sp>
      <p:pic>
        <p:nvPicPr>
          <p:cNvPr id="87" name="Picture 8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472016" y="1486975"/>
            <a:ext cx="128699" cy="187198"/>
          </a:xfrm>
          <a:prstGeom prst="rect">
            <a:avLst/>
          </a:prstGeom>
        </p:spPr>
      </p:pic>
      <p:sp>
        <p:nvSpPr>
          <p:cNvPr id="88" name="TextBox 87"/>
          <p:cNvSpPr txBox="1"/>
          <p:nvPr/>
        </p:nvSpPr>
        <p:spPr>
          <a:xfrm>
            <a:off x="9639512" y="1496754"/>
            <a:ext cx="143772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/10), Portfolio Breadth (</a:t>
            </a:r>
          </a:p>
        </p:txBody>
      </p:sp>
      <p:pic>
        <p:nvPicPr>
          <p:cNvPr id="89" name="Picture 8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025293" y="1486975"/>
            <a:ext cx="128699" cy="187198"/>
          </a:xfrm>
          <a:prstGeom prst="rect">
            <a:avLst/>
          </a:prstGeom>
        </p:spPr>
      </p:pic>
      <p:sp>
        <p:nvSpPr>
          <p:cNvPr id="90" name="TextBox 89"/>
          <p:cNvSpPr txBox="1"/>
          <p:nvPr/>
        </p:nvSpPr>
        <p:spPr>
          <a:xfrm>
            <a:off x="11192789" y="1496754"/>
            <a:ext cx="59161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/10) on a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5000625" y="1664394"/>
            <a:ext cx="282845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0-10 scale scored from the europe dataset itself.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5000625" y="1953097"/>
            <a:ext cx="124591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Volume expands at</a:t>
            </a:r>
          </a:p>
        </p:txBody>
      </p:sp>
      <p:pic>
        <p:nvPicPr>
          <p:cNvPr id="93" name="Picture 9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194591" y="1943318"/>
            <a:ext cx="128699" cy="187198"/>
          </a:xfrm>
          <a:prstGeom prst="rect">
            <a:avLst/>
          </a:prstGeom>
        </p:spPr>
      </p:pic>
      <p:sp>
        <p:nvSpPr>
          <p:cNvPr id="94" name="TextBox 93"/>
          <p:cNvSpPr txBox="1"/>
          <p:nvPr/>
        </p:nvSpPr>
        <p:spPr>
          <a:xfrm>
            <a:off x="6362087" y="1953097"/>
            <a:ext cx="300278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(2026–2036) while average realisation moves</a:t>
            </a:r>
          </a:p>
        </p:txBody>
      </p:sp>
      <p:pic>
        <p:nvPicPr>
          <p:cNvPr id="95" name="Picture 9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312927" y="1943318"/>
            <a:ext cx="128699" cy="187198"/>
          </a:xfrm>
          <a:prstGeom prst="rect">
            <a:avLst/>
          </a:prstGeom>
        </p:spPr>
      </p:pic>
      <p:sp>
        <p:nvSpPr>
          <p:cNvPr id="96" name="TextBox 95"/>
          <p:cNvSpPr txBox="1"/>
          <p:nvPr/>
        </p:nvSpPr>
        <p:spPr>
          <a:xfrm>
            <a:off x="9480423" y="1953097"/>
            <a:ext cx="23465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 year the balance of those two sets the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5000625" y="2120737"/>
            <a:ext cx="157142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cost-pass-through picture.</a:t>
            </a:r>
          </a:p>
        </p:txBody>
      </p:sp>
      <p:sp>
        <p:nvSpPr>
          <p:cNvPr id="98" name="TextBox 97"/>
          <p:cNvSpPr txBox="1"/>
          <p:nvPr/>
        </p:nvSpPr>
        <p:spPr>
          <a:xfrm>
            <a:off x="5000625" y="2401990"/>
            <a:ext cx="222790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Supply is dispersed: 'Germany' holds</a:t>
            </a:r>
          </a:p>
        </p:txBody>
      </p:sp>
      <p:pic>
        <p:nvPicPr>
          <p:cNvPr id="99" name="Picture 9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76584" y="2392211"/>
            <a:ext cx="128699" cy="187198"/>
          </a:xfrm>
          <a:prstGeom prst="rect">
            <a:avLst/>
          </a:prstGeom>
        </p:spPr>
      </p:pic>
      <p:sp>
        <p:nvSpPr>
          <p:cNvPr id="100" name="TextBox 99"/>
          <p:cNvSpPr txBox="1"/>
          <p:nvPr/>
        </p:nvSpPr>
        <p:spPr>
          <a:xfrm>
            <a:off x="7344079" y="2401990"/>
            <a:ext cx="200607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2036 value across 25 countries.</a:t>
            </a:r>
          </a:p>
        </p:txBody>
      </p:sp>
      <p:sp>
        <p:nvSpPr>
          <p:cNvPr id="101" name="TextBox 100"/>
          <p:cNvSpPr txBox="1"/>
          <p:nvPr/>
        </p:nvSpPr>
        <p:spPr>
          <a:xfrm>
            <a:off x="5000625" y="3132138"/>
            <a:ext cx="293159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Capacity added between 2026 and 2036 is worth</a:t>
            </a:r>
          </a:p>
        </p:txBody>
      </p:sp>
      <p:pic>
        <p:nvPicPr>
          <p:cNvPr id="102" name="Picture 10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880268" y="3122359"/>
            <a:ext cx="128699" cy="187198"/>
          </a:xfrm>
          <a:prstGeom prst="rect">
            <a:avLst/>
          </a:prstGeom>
        </p:spPr>
      </p:pic>
      <p:sp>
        <p:nvSpPr>
          <p:cNvPr id="103" name="TextBox 102"/>
          <p:cNvSpPr txBox="1"/>
          <p:nvPr/>
        </p:nvSpPr>
        <p:spPr>
          <a:xfrm>
            <a:off x="8047764" y="3132138"/>
            <a:ext cx="65901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Mn, a</a:t>
            </a:r>
          </a:p>
        </p:txBody>
      </p:sp>
      <p:pic>
        <p:nvPicPr>
          <p:cNvPr id="104" name="Picture 10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654826" y="3122359"/>
            <a:ext cx="128699" cy="187198"/>
          </a:xfrm>
          <a:prstGeom prst="rect">
            <a:avLst/>
          </a:prstGeom>
        </p:spPr>
      </p:pic>
      <p:sp>
        <p:nvSpPr>
          <p:cNvPr id="105" name="TextBox 104"/>
          <p:cNvSpPr txBox="1"/>
          <p:nvPr/>
        </p:nvSpPr>
        <p:spPr>
          <a:xfrm>
            <a:off x="8822322" y="3132138"/>
            <a:ext cx="18019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× expansion on the 2026 base.</a:t>
            </a:r>
          </a:p>
        </p:txBody>
      </p:sp>
    </p:spTree>
  </p:cSld>
  <p:clrMapOvr>
    <a:masterClrMapping/>
  </p:clrMapOvr>
</p:sld>
</file>

<file path=ppt/slides/slide22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Driving Factors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demand-side factors scored by their impact on the Europe market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Oval 10"/>
          <p:cNvSpPr/>
          <p:nvPr/>
        </p:nvSpPr>
        <p:spPr>
          <a:xfrm>
            <a:off x="5048250" y="1609633"/>
            <a:ext cx="4762500" cy="4563424"/>
          </a:xfrm>
          <a:prstGeom prst="ellipse">
            <a:avLst/>
          </a:prstGeom>
          <a:solidFill>
            <a:srgbClr val="E2F0CF"/>
          </a:solidFill>
          <a:ln w="12700">
            <a:solidFill>
              <a:srgbClr val="C5DFA4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Oval 11"/>
          <p:cNvSpPr/>
          <p:nvPr/>
        </p:nvSpPr>
        <p:spPr>
          <a:xfrm>
            <a:off x="5286375" y="1837804"/>
            <a:ext cx="4286250" cy="4107082"/>
          </a:xfrm>
          <a:prstGeom prst="ellipse">
            <a:avLst/>
          </a:prstGeom>
          <a:solidFill>
            <a:srgbClr val="E2F0CF"/>
          </a:solidFill>
          <a:ln w="12700">
            <a:solidFill>
              <a:srgbClr val="C5DFA4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Oval 12"/>
          <p:cNvSpPr/>
          <p:nvPr/>
        </p:nvSpPr>
        <p:spPr>
          <a:xfrm>
            <a:off x="5524500" y="2065976"/>
            <a:ext cx="3810000" cy="3650740"/>
          </a:xfrm>
          <a:prstGeom prst="ellipse">
            <a:avLst/>
          </a:prstGeom>
          <a:solidFill>
            <a:srgbClr val="E2F0CF"/>
          </a:solidFill>
          <a:ln w="12700">
            <a:solidFill>
              <a:srgbClr val="C5DFA4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Oval 13"/>
          <p:cNvSpPr/>
          <p:nvPr/>
        </p:nvSpPr>
        <p:spPr>
          <a:xfrm>
            <a:off x="5762625" y="2294147"/>
            <a:ext cx="3333750" cy="3194397"/>
          </a:xfrm>
          <a:prstGeom prst="ellipse">
            <a:avLst/>
          </a:prstGeom>
          <a:solidFill>
            <a:srgbClr val="E2F0CF"/>
          </a:solidFill>
          <a:ln w="12700">
            <a:solidFill>
              <a:srgbClr val="C5DFA4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Oval 14"/>
          <p:cNvSpPr/>
          <p:nvPr/>
        </p:nvSpPr>
        <p:spPr>
          <a:xfrm>
            <a:off x="6000750" y="2522318"/>
            <a:ext cx="2857500" cy="2738055"/>
          </a:xfrm>
          <a:prstGeom prst="ellipse">
            <a:avLst/>
          </a:prstGeom>
          <a:solidFill>
            <a:srgbClr val="E2F0CF"/>
          </a:solidFill>
          <a:ln w="12700">
            <a:solidFill>
              <a:srgbClr val="C5DFA4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Oval 15"/>
          <p:cNvSpPr/>
          <p:nvPr/>
        </p:nvSpPr>
        <p:spPr>
          <a:xfrm>
            <a:off x="6238875" y="2750489"/>
            <a:ext cx="2381250" cy="2281712"/>
          </a:xfrm>
          <a:prstGeom prst="ellipse">
            <a:avLst/>
          </a:prstGeom>
          <a:solidFill>
            <a:srgbClr val="E2F0CF"/>
          </a:solidFill>
          <a:ln w="12700">
            <a:solidFill>
              <a:srgbClr val="C5DFA4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Oval 16"/>
          <p:cNvSpPr/>
          <p:nvPr/>
        </p:nvSpPr>
        <p:spPr>
          <a:xfrm>
            <a:off x="6477000" y="2978660"/>
            <a:ext cx="1905000" cy="1825370"/>
          </a:xfrm>
          <a:prstGeom prst="ellipse">
            <a:avLst/>
          </a:prstGeom>
          <a:solidFill>
            <a:srgbClr val="E2F0CF"/>
          </a:solidFill>
          <a:ln w="12700">
            <a:solidFill>
              <a:srgbClr val="C5DFA4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Oval 17"/>
          <p:cNvSpPr/>
          <p:nvPr/>
        </p:nvSpPr>
        <p:spPr>
          <a:xfrm>
            <a:off x="6715125" y="3206832"/>
            <a:ext cx="1428750" cy="1369027"/>
          </a:xfrm>
          <a:prstGeom prst="ellipse">
            <a:avLst/>
          </a:prstGeom>
          <a:solidFill>
            <a:srgbClr val="E2F0CF"/>
          </a:solidFill>
          <a:ln w="12700">
            <a:solidFill>
              <a:srgbClr val="C5DFA4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Oval 18"/>
          <p:cNvSpPr/>
          <p:nvPr/>
        </p:nvSpPr>
        <p:spPr>
          <a:xfrm>
            <a:off x="6953250" y="3435003"/>
            <a:ext cx="952500" cy="912685"/>
          </a:xfrm>
          <a:prstGeom prst="ellipse">
            <a:avLst/>
          </a:prstGeom>
          <a:solidFill>
            <a:srgbClr val="E2F0CF"/>
          </a:solidFill>
          <a:ln w="12700">
            <a:solidFill>
              <a:srgbClr val="C5DFA4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Oval 19"/>
          <p:cNvSpPr/>
          <p:nvPr/>
        </p:nvSpPr>
        <p:spPr>
          <a:xfrm>
            <a:off x="7191375" y="3663174"/>
            <a:ext cx="476250" cy="456342"/>
          </a:xfrm>
          <a:prstGeom prst="ellipse">
            <a:avLst/>
          </a:prstGeom>
          <a:solidFill>
            <a:srgbClr val="E2F0CF"/>
          </a:solidFill>
          <a:ln w="12700">
            <a:solidFill>
              <a:srgbClr val="C5DFA4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1" name="Connector 20"/>
          <p:cNvCxnSpPr/>
          <p:nvPr/>
        </p:nvCxnSpPr>
        <p:spPr>
          <a:xfrm flipV="1">
            <a:off x="7429500" y="1609633"/>
            <a:ext cx="0" cy="2281712"/>
          </a:xfrm>
          <a:prstGeom prst="line">
            <a:avLst/>
          </a:prstGeom>
          <a:ln w="9525">
            <a:solidFill>
              <a:srgbClr val="C5DFA4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 flipV="1">
            <a:off x="7429500" y="1835594"/>
            <a:ext cx="1033186" cy="2055752"/>
          </a:xfrm>
          <a:prstGeom prst="line">
            <a:avLst/>
          </a:prstGeom>
          <a:ln w="9525">
            <a:solidFill>
              <a:srgbClr val="C5DFA4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 flipV="1">
            <a:off x="7429500" y="2468721"/>
            <a:ext cx="1861736" cy="1422624"/>
          </a:xfrm>
          <a:prstGeom prst="line">
            <a:avLst/>
          </a:prstGeom>
          <a:ln w="9525">
            <a:solidFill>
              <a:srgbClr val="C5DFA4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 flipV="1">
            <a:off x="7429500" y="3383617"/>
            <a:ext cx="2321547" cy="507729"/>
          </a:xfrm>
          <a:prstGeom prst="line">
            <a:avLst/>
          </a:prstGeom>
          <a:ln w="9525">
            <a:solidFill>
              <a:srgbClr val="C5DFA4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7429500" y="3891345"/>
            <a:ext cx="2321547" cy="507729"/>
          </a:xfrm>
          <a:prstGeom prst="line">
            <a:avLst/>
          </a:prstGeom>
          <a:ln w="9525">
            <a:solidFill>
              <a:srgbClr val="C5DFA4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7429500" y="3891345"/>
            <a:ext cx="1861736" cy="1422624"/>
          </a:xfrm>
          <a:prstGeom prst="line">
            <a:avLst/>
          </a:prstGeom>
          <a:ln w="9525">
            <a:solidFill>
              <a:srgbClr val="C5DFA4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7" name="Connector 26"/>
          <p:cNvCxnSpPr/>
          <p:nvPr/>
        </p:nvCxnSpPr>
        <p:spPr>
          <a:xfrm>
            <a:off x="7429500" y="3891345"/>
            <a:ext cx="1033186" cy="2055752"/>
          </a:xfrm>
          <a:prstGeom prst="line">
            <a:avLst/>
          </a:prstGeom>
          <a:ln w="9525">
            <a:solidFill>
              <a:srgbClr val="C5DFA4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8" name="Connector 27"/>
          <p:cNvCxnSpPr/>
          <p:nvPr/>
        </p:nvCxnSpPr>
        <p:spPr>
          <a:xfrm>
            <a:off x="7429500" y="3891345"/>
            <a:ext cx="0" cy="2281712"/>
          </a:xfrm>
          <a:prstGeom prst="line">
            <a:avLst/>
          </a:prstGeom>
          <a:ln w="9525">
            <a:solidFill>
              <a:srgbClr val="C5DFA4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9" name="Freeform 28"/>
          <p:cNvSpPr/>
          <p:nvPr/>
        </p:nvSpPr>
        <p:spPr>
          <a:xfrm>
            <a:off x="7429500" y="2504064"/>
            <a:ext cx="1485900" cy="3267412"/>
          </a:xfrm>
          <a:custGeom>
            <a:avLst/>
            <a:gdLst/>
            <a:ahLst/>
            <a:cxnLst/>
            <a:rect l="l" t="t" r="r" b="b"/>
            <a:pathLst>
              <a:path w="156" h="358">
                <a:moveTo>
                  <a:pt x="0" y="0"/>
                </a:moveTo>
                <a:lnTo>
                  <a:pt x="64" y="18"/>
                </a:lnTo>
                <a:lnTo>
                  <a:pt x="98" y="74"/>
                </a:lnTo>
                <a:lnTo>
                  <a:pt x="109" y="127"/>
                </a:lnTo>
                <a:lnTo>
                  <a:pt x="156" y="188"/>
                </a:lnTo>
                <a:lnTo>
                  <a:pt x="129" y="255"/>
                </a:lnTo>
                <a:lnTo>
                  <a:pt x="56" y="269"/>
                </a:lnTo>
                <a:lnTo>
                  <a:pt x="0" y="358"/>
                </a:lnTo>
              </a:path>
            </a:pathLst>
          </a:custGeom>
          <a:noFill/>
          <a:ln w="31750">
            <a:solidFill>
              <a:srgbClr val="0F5F6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Oval 29"/>
          <p:cNvSpPr/>
          <p:nvPr/>
        </p:nvSpPr>
        <p:spPr>
          <a:xfrm>
            <a:off x="7381875" y="1563999"/>
            <a:ext cx="95250" cy="91268"/>
          </a:xfrm>
          <a:prstGeom prst="ellipse">
            <a:avLst/>
          </a:prstGeom>
          <a:solidFill>
            <a:srgbClr val="8CC152"/>
          </a:solidFill>
          <a:ln w="12700">
            <a:solidFill>
              <a:srgbClr val="8CC1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7505700" y="1281067"/>
            <a:ext cx="2286000" cy="23729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2" name="Oval 31"/>
          <p:cNvSpPr/>
          <p:nvPr/>
        </p:nvSpPr>
        <p:spPr>
          <a:xfrm>
            <a:off x="8415061" y="1789960"/>
            <a:ext cx="95250" cy="91268"/>
          </a:xfrm>
          <a:prstGeom prst="ellipse">
            <a:avLst/>
          </a:prstGeom>
          <a:solidFill>
            <a:srgbClr val="8CC152"/>
          </a:solidFill>
          <a:ln w="12700">
            <a:solidFill>
              <a:srgbClr val="8CC1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TextBox 32"/>
          <p:cNvSpPr txBox="1"/>
          <p:nvPr/>
        </p:nvSpPr>
        <p:spPr>
          <a:xfrm>
            <a:off x="8520544" y="1519681"/>
            <a:ext cx="2286000" cy="23729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4" name="Oval 33"/>
          <p:cNvSpPr/>
          <p:nvPr/>
        </p:nvSpPr>
        <p:spPr>
          <a:xfrm>
            <a:off x="9243611" y="2423087"/>
            <a:ext cx="95250" cy="91268"/>
          </a:xfrm>
          <a:prstGeom prst="ellipse">
            <a:avLst/>
          </a:prstGeom>
          <a:solidFill>
            <a:srgbClr val="8CC152"/>
          </a:solidFill>
          <a:ln w="12700">
            <a:solidFill>
              <a:srgbClr val="8CC1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TextBox 34"/>
          <p:cNvSpPr txBox="1"/>
          <p:nvPr/>
        </p:nvSpPr>
        <p:spPr>
          <a:xfrm>
            <a:off x="9395493" y="2270405"/>
            <a:ext cx="2286000" cy="23729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6" name="Oval 35"/>
          <p:cNvSpPr/>
          <p:nvPr/>
        </p:nvSpPr>
        <p:spPr>
          <a:xfrm>
            <a:off x="9703422" y="3337982"/>
            <a:ext cx="95250" cy="91268"/>
          </a:xfrm>
          <a:prstGeom prst="ellipse">
            <a:avLst/>
          </a:prstGeom>
          <a:solidFill>
            <a:srgbClr val="8CC152"/>
          </a:solidFill>
          <a:ln w="12700">
            <a:solidFill>
              <a:srgbClr val="8CC1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TextBox 36"/>
          <p:cNvSpPr txBox="1"/>
          <p:nvPr/>
        </p:nvSpPr>
        <p:spPr>
          <a:xfrm>
            <a:off x="9881054" y="3236535"/>
            <a:ext cx="2168071" cy="23729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8" name="Oval 37"/>
          <p:cNvSpPr/>
          <p:nvPr/>
        </p:nvSpPr>
        <p:spPr>
          <a:xfrm>
            <a:off x="9703422" y="4353440"/>
            <a:ext cx="95250" cy="91268"/>
          </a:xfrm>
          <a:prstGeom prst="ellipse">
            <a:avLst/>
          </a:prstGeom>
          <a:solidFill>
            <a:srgbClr val="8CC152"/>
          </a:solidFill>
          <a:ln w="12700">
            <a:solidFill>
              <a:srgbClr val="8CC1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TextBox 38"/>
          <p:cNvSpPr txBox="1"/>
          <p:nvPr/>
        </p:nvSpPr>
        <p:spPr>
          <a:xfrm>
            <a:off x="9881054" y="4308858"/>
            <a:ext cx="2168071" cy="23729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0" name="Oval 39"/>
          <p:cNvSpPr/>
          <p:nvPr/>
        </p:nvSpPr>
        <p:spPr>
          <a:xfrm>
            <a:off x="9243611" y="5268335"/>
            <a:ext cx="95250" cy="91268"/>
          </a:xfrm>
          <a:prstGeom prst="ellipse">
            <a:avLst/>
          </a:prstGeom>
          <a:solidFill>
            <a:srgbClr val="8CC152"/>
          </a:solidFill>
          <a:ln w="12700">
            <a:solidFill>
              <a:srgbClr val="8CC1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TextBox 40"/>
          <p:cNvSpPr txBox="1"/>
          <p:nvPr/>
        </p:nvSpPr>
        <p:spPr>
          <a:xfrm>
            <a:off x="9395493" y="5274987"/>
            <a:ext cx="2286000" cy="23729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2" name="Oval 41"/>
          <p:cNvSpPr/>
          <p:nvPr/>
        </p:nvSpPr>
        <p:spPr>
          <a:xfrm>
            <a:off x="8415061" y="5901463"/>
            <a:ext cx="95250" cy="91268"/>
          </a:xfrm>
          <a:prstGeom prst="ellipse">
            <a:avLst/>
          </a:prstGeom>
          <a:solidFill>
            <a:srgbClr val="8CC152"/>
          </a:solidFill>
          <a:ln w="12700">
            <a:solidFill>
              <a:srgbClr val="8CC1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8520544" y="6025711"/>
            <a:ext cx="2286000" cy="23729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4" name="Oval 43"/>
          <p:cNvSpPr/>
          <p:nvPr/>
        </p:nvSpPr>
        <p:spPr>
          <a:xfrm>
            <a:off x="7381875" y="6127423"/>
            <a:ext cx="95250" cy="91268"/>
          </a:xfrm>
          <a:prstGeom prst="ellipse">
            <a:avLst/>
          </a:prstGeom>
          <a:solidFill>
            <a:srgbClr val="8CC152"/>
          </a:solidFill>
          <a:ln w="12700">
            <a:solidFill>
              <a:srgbClr val="8CC1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TextBox 44"/>
          <p:cNvSpPr txBox="1"/>
          <p:nvPr/>
        </p:nvSpPr>
        <p:spPr>
          <a:xfrm>
            <a:off x="7505700" y="6264326"/>
            <a:ext cx="2286000" cy="23729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6" name="Rectangle 45"/>
          <p:cNvSpPr/>
          <p:nvPr/>
        </p:nvSpPr>
        <p:spPr>
          <a:xfrm>
            <a:off x="0" y="970754"/>
            <a:ext cx="7429500" cy="5640393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FMI Scale 0"/>
          <p:cNvSpPr txBox="1"/>
          <p:nvPr/>
        </p:nvSpPr>
        <p:spPr>
          <a:xfrm>
            <a:off x="7486650" y="3818331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0%</a:t>
            </a:r>
          </a:p>
        </p:txBody>
      </p:sp>
      <p:sp>
        <p:nvSpPr>
          <p:cNvPr id="48" name="FMI Scale 1"/>
          <p:cNvSpPr txBox="1"/>
          <p:nvPr/>
        </p:nvSpPr>
        <p:spPr>
          <a:xfrm>
            <a:off x="7486650" y="3590159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10%</a:t>
            </a:r>
          </a:p>
        </p:txBody>
      </p:sp>
      <p:sp>
        <p:nvSpPr>
          <p:cNvPr id="49" name="FMI Scale 2"/>
          <p:cNvSpPr txBox="1"/>
          <p:nvPr/>
        </p:nvSpPr>
        <p:spPr>
          <a:xfrm>
            <a:off x="7486650" y="3361988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20%</a:t>
            </a:r>
          </a:p>
        </p:txBody>
      </p:sp>
      <p:sp>
        <p:nvSpPr>
          <p:cNvPr id="50" name="FMI Scale 3"/>
          <p:cNvSpPr txBox="1"/>
          <p:nvPr/>
        </p:nvSpPr>
        <p:spPr>
          <a:xfrm>
            <a:off x="7486650" y="3133817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30%</a:t>
            </a:r>
          </a:p>
        </p:txBody>
      </p:sp>
      <p:sp>
        <p:nvSpPr>
          <p:cNvPr id="51" name="FMI Scale 4"/>
          <p:cNvSpPr txBox="1"/>
          <p:nvPr/>
        </p:nvSpPr>
        <p:spPr>
          <a:xfrm>
            <a:off x="7486650" y="2905646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40%</a:t>
            </a:r>
          </a:p>
        </p:txBody>
      </p:sp>
      <p:sp>
        <p:nvSpPr>
          <p:cNvPr id="52" name="FMI Scale 5"/>
          <p:cNvSpPr txBox="1"/>
          <p:nvPr/>
        </p:nvSpPr>
        <p:spPr>
          <a:xfrm>
            <a:off x="7486650" y="2677474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50%</a:t>
            </a:r>
          </a:p>
        </p:txBody>
      </p:sp>
      <p:sp>
        <p:nvSpPr>
          <p:cNvPr id="53" name="FMI Scale 6"/>
          <p:cNvSpPr txBox="1"/>
          <p:nvPr/>
        </p:nvSpPr>
        <p:spPr>
          <a:xfrm>
            <a:off x="7486650" y="2449303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60%</a:t>
            </a:r>
          </a:p>
        </p:txBody>
      </p:sp>
      <p:sp>
        <p:nvSpPr>
          <p:cNvPr id="54" name="FMI Scale 7"/>
          <p:cNvSpPr txBox="1"/>
          <p:nvPr/>
        </p:nvSpPr>
        <p:spPr>
          <a:xfrm>
            <a:off x="7486650" y="2221132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70%</a:t>
            </a:r>
          </a:p>
        </p:txBody>
      </p:sp>
      <p:sp>
        <p:nvSpPr>
          <p:cNvPr id="55" name="FMI Scale 8"/>
          <p:cNvSpPr txBox="1"/>
          <p:nvPr/>
        </p:nvSpPr>
        <p:spPr>
          <a:xfrm>
            <a:off x="7486650" y="1992961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80%</a:t>
            </a:r>
          </a:p>
        </p:txBody>
      </p:sp>
      <p:sp>
        <p:nvSpPr>
          <p:cNvPr id="56" name="FMI Scale 9"/>
          <p:cNvSpPr txBox="1"/>
          <p:nvPr/>
        </p:nvSpPr>
        <p:spPr>
          <a:xfrm>
            <a:off x="7486650" y="1764790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90%</a:t>
            </a:r>
          </a:p>
        </p:txBody>
      </p:sp>
      <p:sp>
        <p:nvSpPr>
          <p:cNvPr id="57" name="FMI Scale 10"/>
          <p:cNvSpPr txBox="1"/>
          <p:nvPr/>
        </p:nvSpPr>
        <p:spPr>
          <a:xfrm>
            <a:off x="7486650" y="1536618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100%</a:t>
            </a:r>
          </a:p>
        </p:txBody>
      </p:sp>
      <p:cxnSp>
        <p:nvCxnSpPr>
          <p:cNvPr id="58" name="Connector 57"/>
          <p:cNvCxnSpPr/>
          <p:nvPr/>
        </p:nvCxnSpPr>
        <p:spPr>
          <a:xfrm>
            <a:off x="7429500" y="1025515"/>
            <a:ext cx="0" cy="5549124"/>
          </a:xfrm>
          <a:prstGeom prst="line">
            <a:avLst/>
          </a:prstGeom>
          <a:ln w="12700">
            <a:solidFill>
              <a:srgbClr val="D5DBE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9" name="TextBox 58"/>
          <p:cNvSpPr txBox="1"/>
          <p:nvPr/>
        </p:nvSpPr>
        <p:spPr>
          <a:xfrm>
            <a:off x="180975" y="1080276"/>
            <a:ext cx="7038975" cy="21904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200" b="1">
                <a:solidFill>
                  <a:srgbClr val="0B2E4A"/>
                </a:solidFill>
                <a:latin typeface="Calibri"/>
              </a:rPr>
              <a:t>Demand-side Factors</a:t>
            </a:r>
          </a:p>
        </p:txBody>
      </p:sp>
      <p:cxnSp>
        <p:nvCxnSpPr>
          <p:cNvPr id="60" name="Connector 59"/>
          <p:cNvCxnSpPr/>
          <p:nvPr/>
        </p:nvCxnSpPr>
        <p:spPr>
          <a:xfrm>
            <a:off x="180975" y="1335828"/>
            <a:ext cx="7038975" cy="0"/>
          </a:xfrm>
          <a:prstGeom prst="line">
            <a:avLst/>
          </a:prstGeom>
          <a:ln w="31750">
            <a:solidFill>
              <a:srgbClr val="1F6FB4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1" name="TextBox 60"/>
          <p:cNvSpPr txBox="1"/>
          <p:nvPr/>
        </p:nvSpPr>
        <p:spPr>
          <a:xfrm>
            <a:off x="180975" y="1427096"/>
            <a:ext cx="7038975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180975" y="1883439"/>
            <a:ext cx="7038975" cy="29205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180975" y="2157244"/>
            <a:ext cx="7038975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180975" y="2613586"/>
            <a:ext cx="7038975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180975" y="3069929"/>
            <a:ext cx="7038975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180975" y="3526271"/>
            <a:ext cx="7038975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▪  Note: the dynamics framing is indicative factors, impact ratings and narrative are generated from the loaded dataset's own values.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7534275" y="1322601"/>
            <a:ext cx="943988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Demand Growth</a:t>
            </a:r>
          </a:p>
        </p:txBody>
      </p:sp>
      <p:pic>
        <p:nvPicPr>
          <p:cNvPr id="69" name="Picture 6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424374" y="1313604"/>
            <a:ext cx="118403" cy="172222"/>
          </a:xfrm>
          <a:prstGeom prst="rect">
            <a:avLst/>
          </a:prstGeom>
        </p:spPr>
      </p:pic>
      <p:sp>
        <p:nvSpPr>
          <p:cNvPr id="70" name="TextBox 69"/>
          <p:cNvSpPr txBox="1"/>
          <p:nvPr/>
        </p:nvSpPr>
        <p:spPr>
          <a:xfrm>
            <a:off x="8549119" y="1561215"/>
            <a:ext cx="903573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Premiumisation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398803" y="1552218"/>
            <a:ext cx="118403" cy="172222"/>
          </a:xfrm>
          <a:prstGeom prst="rect">
            <a:avLst/>
          </a:prstGeom>
        </p:spPr>
      </p:pic>
      <p:sp>
        <p:nvSpPr>
          <p:cNvPr id="72" name="TextBox 71"/>
          <p:cNvSpPr txBox="1"/>
          <p:nvPr/>
        </p:nvSpPr>
        <p:spPr>
          <a:xfrm>
            <a:off x="9424068" y="2311939"/>
            <a:ext cx="765761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App. Breadth</a:t>
            </a:r>
          </a:p>
        </p:txBody>
      </p:sp>
      <p:pic>
        <p:nvPicPr>
          <p:cNvPr id="73" name="Picture 7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135940" y="2302942"/>
            <a:ext cx="118403" cy="172222"/>
          </a:xfrm>
          <a:prstGeom prst="rect">
            <a:avLst/>
          </a:prstGeom>
        </p:spPr>
      </p:pic>
      <p:sp>
        <p:nvSpPr>
          <p:cNvPr id="74" name="TextBox 73"/>
          <p:cNvSpPr txBox="1"/>
          <p:nvPr/>
        </p:nvSpPr>
        <p:spPr>
          <a:xfrm>
            <a:off x="9909628" y="3278069"/>
            <a:ext cx="791114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Emerging Pull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646855" y="3269072"/>
            <a:ext cx="118403" cy="172222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9909628" y="4350392"/>
            <a:ext cx="1135267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Volume Momentum</a:t>
            </a:r>
          </a:p>
        </p:txBody>
      </p:sp>
      <p:pic>
        <p:nvPicPr>
          <p:cNvPr id="77" name="Picture 7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991008" y="4341395"/>
            <a:ext cx="118403" cy="172222"/>
          </a:xfrm>
          <a:prstGeom prst="rect">
            <a:avLst/>
          </a:prstGeom>
        </p:spPr>
      </p:pic>
      <p:sp>
        <p:nvSpPr>
          <p:cNvPr id="78" name="TextBox 77"/>
          <p:cNvSpPr txBox="1"/>
          <p:nvPr/>
        </p:nvSpPr>
        <p:spPr>
          <a:xfrm>
            <a:off x="9424068" y="5316521"/>
            <a:ext cx="1032097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Category Maturity</a:t>
            </a:r>
          </a:p>
        </p:txBody>
      </p:sp>
      <p:pic>
        <p:nvPicPr>
          <p:cNvPr id="79" name="Picture 7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402276" y="5307524"/>
            <a:ext cx="118403" cy="172222"/>
          </a:xfrm>
          <a:prstGeom prst="rect">
            <a:avLst/>
          </a:prstGeom>
        </p:spPr>
      </p:pic>
      <p:sp>
        <p:nvSpPr>
          <p:cNvPr id="80" name="TextBox 79"/>
          <p:cNvSpPr txBox="1"/>
          <p:nvPr/>
        </p:nvSpPr>
        <p:spPr>
          <a:xfrm>
            <a:off x="8549119" y="6067245"/>
            <a:ext cx="911857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Adoption Depth</a:t>
            </a:r>
          </a:p>
        </p:txBody>
      </p:sp>
      <p:pic>
        <p:nvPicPr>
          <p:cNvPr id="81" name="Picture 8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407087" y="6058248"/>
            <a:ext cx="118403" cy="172222"/>
          </a:xfrm>
          <a:prstGeom prst="rect">
            <a:avLst/>
          </a:prstGeom>
        </p:spPr>
      </p:pic>
      <p:sp>
        <p:nvSpPr>
          <p:cNvPr id="82" name="TextBox 81"/>
          <p:cNvSpPr txBox="1"/>
          <p:nvPr/>
        </p:nvSpPr>
        <p:spPr>
          <a:xfrm>
            <a:off x="7534275" y="6305860"/>
            <a:ext cx="955786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Consumer Reach</a:t>
            </a:r>
          </a:p>
        </p:txBody>
      </p:sp>
      <p:pic>
        <p:nvPicPr>
          <p:cNvPr id="83" name="Picture 8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436172" y="6296863"/>
            <a:ext cx="118403" cy="172222"/>
          </a:xfrm>
          <a:prstGeom prst="rect">
            <a:avLst/>
          </a:prstGeom>
        </p:spPr>
      </p:pic>
      <p:sp>
        <p:nvSpPr>
          <p:cNvPr id="84" name="TextBox 83"/>
          <p:cNvSpPr txBox="1"/>
          <p:nvPr/>
        </p:nvSpPr>
        <p:spPr>
          <a:xfrm>
            <a:off x="209550" y="1496754"/>
            <a:ext cx="318861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Demand-side conditions are led by Consumer Reach (</a:t>
            </a:r>
          </a:p>
        </p:txBody>
      </p:sp>
      <p:pic>
        <p:nvPicPr>
          <p:cNvPr id="85" name="Picture 8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346219" y="1486975"/>
            <a:ext cx="128699" cy="187198"/>
          </a:xfrm>
          <a:prstGeom prst="rect">
            <a:avLst/>
          </a:prstGeom>
        </p:spPr>
      </p:pic>
      <p:sp>
        <p:nvSpPr>
          <p:cNvPr id="86" name="TextBox 85"/>
          <p:cNvSpPr txBox="1"/>
          <p:nvPr/>
        </p:nvSpPr>
        <p:spPr>
          <a:xfrm>
            <a:off x="3513715" y="1496754"/>
            <a:ext cx="149393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/10), Category Maturity (</a:t>
            </a:r>
          </a:p>
        </p:txBody>
      </p:sp>
      <p:pic>
        <p:nvPicPr>
          <p:cNvPr id="87" name="Picture 8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955703" y="1486975"/>
            <a:ext cx="128699" cy="187198"/>
          </a:xfrm>
          <a:prstGeom prst="rect">
            <a:avLst/>
          </a:prstGeom>
        </p:spPr>
      </p:pic>
      <p:sp>
        <p:nvSpPr>
          <p:cNvPr id="88" name="TextBox 87"/>
          <p:cNvSpPr txBox="1"/>
          <p:nvPr/>
        </p:nvSpPr>
        <p:spPr>
          <a:xfrm>
            <a:off x="5123199" y="1496754"/>
            <a:ext cx="153213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/10), Volume Momentum</a:t>
            </a:r>
          </a:p>
        </p:txBody>
      </p:sp>
      <p:sp>
        <p:nvSpPr>
          <p:cNvPr id="89" name="TextBox 88"/>
          <p:cNvSpPr txBox="1"/>
          <p:nvPr/>
        </p:nvSpPr>
        <p:spPr>
          <a:xfrm>
            <a:off x="209550" y="1664394"/>
            <a:ext cx="11849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(</a:t>
            </a:r>
          </a:p>
        </p:txBody>
      </p:sp>
      <p:pic>
        <p:nvPicPr>
          <p:cNvPr id="90" name="Picture 8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76093" y="1654615"/>
            <a:ext cx="128699" cy="187198"/>
          </a:xfrm>
          <a:prstGeom prst="rect">
            <a:avLst/>
          </a:prstGeom>
        </p:spPr>
      </p:pic>
      <p:sp>
        <p:nvSpPr>
          <p:cNvPr id="91" name="TextBox 90"/>
          <p:cNvSpPr txBox="1"/>
          <p:nvPr/>
        </p:nvSpPr>
        <p:spPr>
          <a:xfrm>
            <a:off x="443589" y="1664394"/>
            <a:ext cx="337552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/10) on a 0-10 scale scored from the europe dataset itself.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209550" y="1945648"/>
            <a:ext cx="99843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Value grows at</a:t>
            </a:r>
          </a:p>
        </p:txBody>
      </p:sp>
      <p:pic>
        <p:nvPicPr>
          <p:cNvPr id="93" name="Picture 9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56039" y="1935869"/>
            <a:ext cx="128699" cy="187198"/>
          </a:xfrm>
          <a:prstGeom prst="rect">
            <a:avLst/>
          </a:prstGeom>
        </p:spPr>
      </p:pic>
      <p:sp>
        <p:nvSpPr>
          <p:cNvPr id="94" name="TextBox 93"/>
          <p:cNvSpPr txBox="1"/>
          <p:nvPr/>
        </p:nvSpPr>
        <p:spPr>
          <a:xfrm>
            <a:off x="1323535" y="1945648"/>
            <a:ext cx="108329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against volume at</a:t>
            </a:r>
          </a:p>
        </p:txBody>
      </p:sp>
      <p:pic>
        <p:nvPicPr>
          <p:cNvPr id="95" name="Picture 9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354882" y="1935869"/>
            <a:ext cx="128699" cy="187198"/>
          </a:xfrm>
          <a:prstGeom prst="rect">
            <a:avLst/>
          </a:prstGeom>
        </p:spPr>
      </p:pic>
      <p:sp>
        <p:nvSpPr>
          <p:cNvPr id="96" name="TextBox 95"/>
          <p:cNvSpPr txBox="1"/>
          <p:nvPr/>
        </p:nvSpPr>
        <p:spPr>
          <a:xfrm>
            <a:off x="2522378" y="1945648"/>
            <a:ext cx="223009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 premiumising market through 2036.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209550" y="2226902"/>
            <a:ext cx="245682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'Shampoos &amp; Cleansing Products' carries</a:t>
            </a:r>
          </a:p>
        </p:txBody>
      </p:sp>
      <p:pic>
        <p:nvPicPr>
          <p:cNvPr id="98" name="Picture 9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614431" y="2217123"/>
            <a:ext cx="128699" cy="187198"/>
          </a:xfrm>
          <a:prstGeom prst="rect">
            <a:avLst/>
          </a:prstGeom>
        </p:spPr>
      </p:pic>
      <p:sp>
        <p:nvSpPr>
          <p:cNvPr id="99" name="TextBox 98"/>
          <p:cNvSpPr txBox="1"/>
          <p:nvPr/>
        </p:nvSpPr>
        <p:spPr>
          <a:xfrm>
            <a:off x="2781927" y="2226902"/>
            <a:ext cx="371603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product type demand while 'Shampoos &amp; Cleansing Products'</a:t>
            </a:r>
          </a:p>
        </p:txBody>
      </p:sp>
      <p:sp>
        <p:nvSpPr>
          <p:cNvPr id="100" name="TextBox 99"/>
          <p:cNvSpPr txBox="1"/>
          <p:nvPr/>
        </p:nvSpPr>
        <p:spPr>
          <a:xfrm>
            <a:off x="209550" y="2394542"/>
            <a:ext cx="130157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compounds fastest at</a:t>
            </a:r>
          </a:p>
        </p:txBody>
      </p:sp>
      <p:pic>
        <p:nvPicPr>
          <p:cNvPr id="101" name="Picture 10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459177" y="2384763"/>
            <a:ext cx="128699" cy="187198"/>
          </a:xfrm>
          <a:prstGeom prst="rect">
            <a:avLst/>
          </a:prstGeom>
        </p:spPr>
      </p:pic>
      <p:sp>
        <p:nvSpPr>
          <p:cNvPr id="102" name="TextBox 101"/>
          <p:cNvSpPr txBox="1"/>
          <p:nvPr/>
        </p:nvSpPr>
        <p:spPr>
          <a:xfrm>
            <a:off x="1626673" y="2394542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209550" y="2683244"/>
            <a:ext cx="28450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Pull is strongest in 'Other European Countries' (</a:t>
            </a:r>
          </a:p>
        </p:txBody>
      </p:sp>
      <p:pic>
        <p:nvPicPr>
          <p:cNvPr id="104" name="Picture 10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002699" y="2673465"/>
            <a:ext cx="128699" cy="187198"/>
          </a:xfrm>
          <a:prstGeom prst="rect">
            <a:avLst/>
          </a:prstGeom>
        </p:spPr>
      </p:pic>
      <p:sp>
        <p:nvSpPr>
          <p:cNvPr id="105" name="TextBox 104"/>
          <p:cNvSpPr txBox="1"/>
          <p:nvPr/>
        </p:nvSpPr>
        <p:spPr>
          <a:xfrm>
            <a:off x="3170195" y="2683244"/>
            <a:ext cx="53157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CAGR, +</a:t>
            </a:r>
          </a:p>
        </p:txBody>
      </p:sp>
      <p:pic>
        <p:nvPicPr>
          <p:cNvPr id="106" name="Picture 10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649818" y="2673465"/>
            <a:ext cx="128699" cy="187198"/>
          </a:xfrm>
          <a:prstGeom prst="rect">
            <a:avLst/>
          </a:prstGeom>
        </p:spPr>
      </p:pic>
      <p:sp>
        <p:nvSpPr>
          <p:cNvPr id="107" name="TextBox 106"/>
          <p:cNvSpPr txBox="1"/>
          <p:nvPr/>
        </p:nvSpPr>
        <p:spPr>
          <a:xfrm>
            <a:off x="3817314" y="2683244"/>
            <a:ext cx="30641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 versus the market), with 14 of 25 countries at or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209550" y="2850884"/>
            <a:ext cx="75860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above pace.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209550" y="3223407"/>
            <a:ext cx="397903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Reach runs through 5 sales channels routes, led by 'E-commerce' at</a:t>
            </a:r>
          </a:p>
        </p:txBody>
      </p:sp>
      <p:pic>
        <p:nvPicPr>
          <p:cNvPr id="110" name="Picture 10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36640" y="3213628"/>
            <a:ext cx="128699" cy="187198"/>
          </a:xfrm>
          <a:prstGeom prst="rect">
            <a:avLst/>
          </a:prstGeom>
        </p:spPr>
      </p:pic>
      <p:sp>
        <p:nvSpPr>
          <p:cNvPr id="111" name="TextBox 110"/>
          <p:cNvSpPr txBox="1"/>
          <p:nvPr/>
        </p:nvSpPr>
        <p:spPr>
          <a:xfrm>
            <a:off x="4304136" y="3223407"/>
            <a:ext cx="24316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and with 'E-commerce' growing fastest at</a:t>
            </a:r>
          </a:p>
        </p:txBody>
      </p:sp>
      <p:pic>
        <p:nvPicPr>
          <p:cNvPr id="112" name="Picture 11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683885" y="3213628"/>
            <a:ext cx="128699" cy="187198"/>
          </a:xfrm>
          <a:prstGeom prst="rect">
            <a:avLst/>
          </a:prstGeom>
        </p:spPr>
      </p:pic>
      <p:sp>
        <p:nvSpPr>
          <p:cNvPr id="113" name="TextBox 112"/>
          <p:cNvSpPr txBox="1"/>
          <p:nvPr/>
        </p:nvSpPr>
        <p:spPr>
          <a:xfrm>
            <a:off x="6851381" y="3223407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</p:spTree>
  </p:cSld>
  <p:clrMapOvr>
    <a:masterClrMapping/>
  </p:clrMapOvr>
</p:sld>
</file>

<file path=ppt/slides/slide22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Restraints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the key restraints on the Europe market and the likelihood of their impact across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025515"/>
            <a:ext cx="2038350" cy="255552"/>
          </a:xfrm>
          <a:prstGeom prst="roundRect">
            <a:avLst>
              <a:gd name="adj" fmla="val 1869"/>
            </a:avLst>
          </a:prstGeom>
          <a:solidFill>
            <a:srgbClr val="C0603A"/>
          </a:solidFill>
          <a:ln w="12700">
            <a:solidFill>
              <a:srgbClr val="C0603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142875" y="1025515"/>
            <a:ext cx="2038350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Market Restraints</a:t>
            </a:r>
          </a:p>
        </p:txBody>
      </p:sp>
      <p:sp>
        <p:nvSpPr>
          <p:cNvPr id="13" name="Rectangle 12"/>
          <p:cNvSpPr/>
          <p:nvPr/>
        </p:nvSpPr>
        <p:spPr>
          <a:xfrm>
            <a:off x="142875" y="1390589"/>
            <a:ext cx="9496425" cy="255552"/>
          </a:xfrm>
          <a:prstGeom prst="rect">
            <a:avLst/>
          </a:prstGeom>
          <a:solidFill>
            <a:srgbClr val="F7E3D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276225" y="1390589"/>
            <a:ext cx="9267825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Coat Conditioning &amp; Grooming Products Lags the Category and Dilutes Blended Growth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61925" y="1700902"/>
            <a:ext cx="9439275" cy="77578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9810750" y="1390589"/>
            <a:ext cx="22383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Likelihood of impact on timeline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9810750" y="1773916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2021–22</a:t>
            </a:r>
          </a:p>
        </p:txBody>
      </p:sp>
      <p:sp>
        <p:nvSpPr>
          <p:cNvPr id="18" name="Rectangle 17"/>
          <p:cNvSpPr/>
          <p:nvPr/>
        </p:nvSpPr>
        <p:spPr>
          <a:xfrm>
            <a:off x="9810750" y="1938200"/>
            <a:ext cx="990600" cy="310313"/>
          </a:xfrm>
          <a:prstGeom prst="rect">
            <a:avLst/>
          </a:prstGeom>
          <a:solidFill>
            <a:srgbClr val="FBF0C4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9810750" y="1938200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9AA0A6"/>
                </a:solidFill>
                <a:latin typeface="Calibri"/>
              </a:rPr>
              <a:t>Low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10896600" y="1773916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2023–25</a:t>
            </a:r>
          </a:p>
        </p:txBody>
      </p:sp>
      <p:sp>
        <p:nvSpPr>
          <p:cNvPr id="21" name="Rectangle 20"/>
          <p:cNvSpPr/>
          <p:nvPr/>
        </p:nvSpPr>
        <p:spPr>
          <a:xfrm>
            <a:off x="10896600" y="1938200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0896600" y="1938200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9AA0A6"/>
                </a:solidFill>
                <a:latin typeface="Calibri"/>
              </a:rPr>
              <a:t>Low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9810750" y="2294147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2026–28</a:t>
            </a:r>
          </a:p>
        </p:txBody>
      </p:sp>
      <p:sp>
        <p:nvSpPr>
          <p:cNvPr id="24" name="Rectangle 23"/>
          <p:cNvSpPr/>
          <p:nvPr/>
        </p:nvSpPr>
        <p:spPr>
          <a:xfrm>
            <a:off x="9810750" y="2458430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810750" y="2458430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9AA0A6"/>
                </a:solidFill>
                <a:latin typeface="Calibri"/>
              </a:rPr>
              <a:t>Low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10896600" y="2294147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2029–36</a:t>
            </a:r>
          </a:p>
        </p:txBody>
      </p:sp>
      <p:sp>
        <p:nvSpPr>
          <p:cNvPr id="27" name="Rectangle 26"/>
          <p:cNvSpPr/>
          <p:nvPr/>
        </p:nvSpPr>
        <p:spPr>
          <a:xfrm>
            <a:off x="10896600" y="2458430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10896600" y="2458430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9AA0A6"/>
                </a:solidFill>
                <a:latin typeface="Calibri"/>
              </a:rPr>
              <a:t>Low</a:t>
            </a:r>
          </a:p>
        </p:txBody>
      </p:sp>
      <p:cxnSp>
        <p:nvCxnSpPr>
          <p:cNvPr id="29" name="Connector 28"/>
          <p:cNvCxnSpPr/>
          <p:nvPr/>
        </p:nvCxnSpPr>
        <p:spPr>
          <a:xfrm>
            <a:off x="142875" y="3088183"/>
            <a:ext cx="1190625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0" name="Rectangle 29"/>
          <p:cNvSpPr/>
          <p:nvPr/>
        </p:nvSpPr>
        <p:spPr>
          <a:xfrm>
            <a:off x="142875" y="3142944"/>
            <a:ext cx="9496425" cy="255552"/>
          </a:xfrm>
          <a:prstGeom prst="rect">
            <a:avLst/>
          </a:prstGeom>
          <a:solidFill>
            <a:srgbClr val="F7E3D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276225" y="3142944"/>
            <a:ext cx="9267825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Uneven Country Performance Caps the Blended Rate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161925" y="3453257"/>
            <a:ext cx="9439275" cy="59324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9810750" y="3142944"/>
            <a:ext cx="22383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Likelihood of impact on timeline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9810750" y="3526271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2021–22</a:t>
            </a:r>
          </a:p>
        </p:txBody>
      </p:sp>
      <p:sp>
        <p:nvSpPr>
          <p:cNvPr id="35" name="Rectangle 34"/>
          <p:cNvSpPr/>
          <p:nvPr/>
        </p:nvSpPr>
        <p:spPr>
          <a:xfrm>
            <a:off x="9810750" y="3690555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9810750" y="3690555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B5613"/>
                </a:solidFill>
                <a:latin typeface="Calibri"/>
              </a:rPr>
              <a:t>Medium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10896600" y="3526271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2023–25</a:t>
            </a:r>
          </a:p>
        </p:txBody>
      </p:sp>
      <p:sp>
        <p:nvSpPr>
          <p:cNvPr id="38" name="Rectangle 37"/>
          <p:cNvSpPr/>
          <p:nvPr/>
        </p:nvSpPr>
        <p:spPr>
          <a:xfrm>
            <a:off x="10896600" y="3690555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TextBox 38"/>
          <p:cNvSpPr txBox="1"/>
          <p:nvPr/>
        </p:nvSpPr>
        <p:spPr>
          <a:xfrm>
            <a:off x="10896600" y="3690555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B5613"/>
                </a:solidFill>
                <a:latin typeface="Calibri"/>
              </a:rPr>
              <a:t>Medium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9810750" y="4046502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2026–28</a:t>
            </a:r>
          </a:p>
        </p:txBody>
      </p:sp>
      <p:sp>
        <p:nvSpPr>
          <p:cNvPr id="41" name="Rectangle 40"/>
          <p:cNvSpPr/>
          <p:nvPr/>
        </p:nvSpPr>
        <p:spPr>
          <a:xfrm>
            <a:off x="9810750" y="4210785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9810750" y="4210785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B5613"/>
                </a:solidFill>
                <a:latin typeface="Calibri"/>
              </a:rPr>
              <a:t>Medium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10896600" y="4046502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2029–36</a:t>
            </a:r>
          </a:p>
        </p:txBody>
      </p:sp>
      <p:sp>
        <p:nvSpPr>
          <p:cNvPr id="44" name="Rectangle 43"/>
          <p:cNvSpPr/>
          <p:nvPr/>
        </p:nvSpPr>
        <p:spPr>
          <a:xfrm>
            <a:off x="10896600" y="4210785"/>
            <a:ext cx="990600" cy="310313"/>
          </a:xfrm>
          <a:prstGeom prst="rect">
            <a:avLst/>
          </a:prstGeom>
          <a:solidFill>
            <a:srgbClr val="F2C94C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TextBox 44"/>
          <p:cNvSpPr txBox="1"/>
          <p:nvPr/>
        </p:nvSpPr>
        <p:spPr>
          <a:xfrm>
            <a:off x="10896600" y="4210785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B5613"/>
                </a:solidFill>
                <a:latin typeface="Calibri"/>
              </a:rPr>
              <a:t>Medium</a:t>
            </a:r>
          </a:p>
        </p:txBody>
      </p:sp>
      <p:cxnSp>
        <p:nvCxnSpPr>
          <p:cNvPr id="46" name="Connector 45"/>
          <p:cNvCxnSpPr/>
          <p:nvPr/>
        </p:nvCxnSpPr>
        <p:spPr>
          <a:xfrm>
            <a:off x="142875" y="4840538"/>
            <a:ext cx="1190625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7" name="Rectangle 46"/>
          <p:cNvSpPr/>
          <p:nvPr/>
        </p:nvSpPr>
        <p:spPr>
          <a:xfrm>
            <a:off x="142875" y="4895299"/>
            <a:ext cx="9496425" cy="255552"/>
          </a:xfrm>
          <a:prstGeom prst="rect">
            <a:avLst/>
          </a:prstGeom>
          <a:solidFill>
            <a:srgbClr val="F7E3D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76225" y="4895299"/>
            <a:ext cx="9267825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Fragmented Demand Raises Cost-to-Serve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161925" y="5205612"/>
            <a:ext cx="9439275" cy="77578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9810750" y="4895299"/>
            <a:ext cx="22383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Likelihood of impact on timeline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9810750" y="5278626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2021–22</a:t>
            </a:r>
          </a:p>
        </p:txBody>
      </p:sp>
      <p:sp>
        <p:nvSpPr>
          <p:cNvPr id="52" name="Rectangle 51"/>
          <p:cNvSpPr/>
          <p:nvPr/>
        </p:nvSpPr>
        <p:spPr>
          <a:xfrm>
            <a:off x="9810750" y="5442910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TextBox 52"/>
          <p:cNvSpPr txBox="1"/>
          <p:nvPr/>
        </p:nvSpPr>
        <p:spPr>
          <a:xfrm>
            <a:off x="9810750" y="5442910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4A3A05"/>
                </a:solidFill>
                <a:latin typeface="Calibri"/>
              </a:rPr>
              <a:t>High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10896600" y="5278626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2023–25</a:t>
            </a:r>
          </a:p>
        </p:txBody>
      </p:sp>
      <p:sp>
        <p:nvSpPr>
          <p:cNvPr id="55" name="Rectangle 54"/>
          <p:cNvSpPr/>
          <p:nvPr/>
        </p:nvSpPr>
        <p:spPr>
          <a:xfrm>
            <a:off x="10896600" y="5442910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10896600" y="5442910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4A3A05"/>
                </a:solidFill>
                <a:latin typeface="Calibri"/>
              </a:rPr>
              <a:t>High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9810750" y="5798857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2026–28</a:t>
            </a:r>
          </a:p>
        </p:txBody>
      </p:sp>
      <p:sp>
        <p:nvSpPr>
          <p:cNvPr id="58" name="Rectangle 57"/>
          <p:cNvSpPr/>
          <p:nvPr/>
        </p:nvSpPr>
        <p:spPr>
          <a:xfrm>
            <a:off x="9810750" y="5963140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TextBox 58"/>
          <p:cNvSpPr txBox="1"/>
          <p:nvPr/>
        </p:nvSpPr>
        <p:spPr>
          <a:xfrm>
            <a:off x="9810750" y="5963140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4A3A05"/>
                </a:solidFill>
                <a:latin typeface="Calibri"/>
              </a:rPr>
              <a:t>High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10896600" y="5798857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2029–36</a:t>
            </a:r>
          </a:p>
        </p:txBody>
      </p:sp>
      <p:sp>
        <p:nvSpPr>
          <p:cNvPr id="61" name="Rectangle 60"/>
          <p:cNvSpPr/>
          <p:nvPr/>
        </p:nvSpPr>
        <p:spPr>
          <a:xfrm>
            <a:off x="10896600" y="5963140"/>
            <a:ext cx="990600" cy="310313"/>
          </a:xfrm>
          <a:prstGeom prst="rect">
            <a:avLst/>
          </a:prstGeom>
          <a:solidFill>
            <a:srgbClr val="C99A0A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10896600" y="5963140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4A3A05"/>
                </a:solidFill>
                <a:latin typeface="Calibri"/>
              </a:rPr>
              <a:t>High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190500" y="1753513"/>
            <a:ext cx="32099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'Coat Conditioning &amp; Grooming Products' grows at only</a:t>
            </a:r>
          </a:p>
        </p:txBody>
      </p:sp>
      <p:pic>
        <p:nvPicPr>
          <p:cNvPr id="65" name="Picture 6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348451" y="1743734"/>
            <a:ext cx="128699" cy="187198"/>
          </a:xfrm>
          <a:prstGeom prst="rect">
            <a:avLst/>
          </a:prstGeom>
        </p:spPr>
      </p:pic>
      <p:sp>
        <p:nvSpPr>
          <p:cNvPr id="66" name="TextBox 65"/>
          <p:cNvSpPr txBox="1"/>
          <p:nvPr/>
        </p:nvSpPr>
        <p:spPr>
          <a:xfrm>
            <a:off x="3515947" y="1753513"/>
            <a:ext cx="601807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against the market's 6.1%, a -51 BPS gap, and 'Coat Conditioning &amp; Grooming Products' surrenders</a:t>
            </a:r>
          </a:p>
        </p:txBody>
      </p:sp>
      <p:pic>
        <p:nvPicPr>
          <p:cNvPr id="67" name="Picture 6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7032" y="1911374"/>
            <a:ext cx="128699" cy="187198"/>
          </a:xfrm>
          <a:prstGeom prst="rect">
            <a:avLst/>
          </a:prstGeom>
        </p:spPr>
      </p:pic>
      <p:sp>
        <p:nvSpPr>
          <p:cNvPr id="68" name="TextBox 67"/>
          <p:cNvSpPr txBox="1"/>
          <p:nvPr/>
        </p:nvSpPr>
        <p:spPr>
          <a:xfrm>
            <a:off x="344528" y="1921153"/>
            <a:ext cx="886529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 of product type share between 2026 and 2036. Because these lines still carry meaningful volume, the drag is absorbed by the whole category: blended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190500" y="2088793"/>
            <a:ext cx="909858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growth sits below what the leading lines achieve on their own. Rationalising or repositioning the lagging end of a 6-line portfolio is therefore a precondition for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190500" y="2256433"/>
            <a:ext cx="182463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realising the headline forecast.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190500" y="3498419"/>
            <a:ext cx="135860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'Belgium' grows at just</a:t>
            </a:r>
          </a:p>
        </p:txBody>
      </p:sp>
      <p:pic>
        <p:nvPicPr>
          <p:cNvPr id="72" name="Picture 7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497153" y="3488640"/>
            <a:ext cx="128699" cy="187198"/>
          </a:xfrm>
          <a:prstGeom prst="rect">
            <a:avLst/>
          </a:prstGeom>
        </p:spPr>
      </p:pic>
      <p:sp>
        <p:nvSpPr>
          <p:cNvPr id="73" name="TextBox 72"/>
          <p:cNvSpPr txBox="1"/>
          <p:nvPr/>
        </p:nvSpPr>
        <p:spPr>
          <a:xfrm>
            <a:off x="1664649" y="3498419"/>
            <a:ext cx="46990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-</a:t>
            </a:r>
          </a:p>
        </p:txBody>
      </p:sp>
      <p:pic>
        <p:nvPicPr>
          <p:cNvPr id="74" name="Picture 7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082609" y="3488640"/>
            <a:ext cx="128699" cy="187198"/>
          </a:xfrm>
          <a:prstGeom prst="rect">
            <a:avLst/>
          </a:prstGeom>
        </p:spPr>
      </p:pic>
      <p:sp>
        <p:nvSpPr>
          <p:cNvPr id="75" name="TextBox 74"/>
          <p:cNvSpPr txBox="1"/>
          <p:nvPr/>
        </p:nvSpPr>
        <p:spPr>
          <a:xfrm>
            <a:off x="2250104" y="3498419"/>
            <a:ext cx="687265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 against the market and 11 of 25 countries sit below the market pace altogether. Demand is therefore not uniformly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190500" y="3666059"/>
            <a:ext cx="841972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available: suppliers carrying a broad geographic footprint fund presence in slow countries out of returns earned in the fast ones. With 'Germany' at</a:t>
            </a:r>
          </a:p>
        </p:txBody>
      </p:sp>
      <p:pic>
        <p:nvPicPr>
          <p:cNvPr id="77" name="Picture 7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558279" y="3656280"/>
            <a:ext cx="128699" cy="187198"/>
          </a:xfrm>
          <a:prstGeom prst="rect">
            <a:avLst/>
          </a:prstGeom>
        </p:spPr>
      </p:pic>
      <p:sp>
        <p:nvSpPr>
          <p:cNvPr id="78" name="TextBox 77"/>
          <p:cNvSpPr txBox="1"/>
          <p:nvPr/>
        </p:nvSpPr>
        <p:spPr>
          <a:xfrm>
            <a:off x="8725775" y="3666059"/>
            <a:ext cx="6625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value, a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190500" y="3833699"/>
            <a:ext cx="514714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shortfall in a single leading country is difficult to offset elsewhere in the forecast window.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190500" y="5342043"/>
            <a:ext cx="271958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The market is fragmented: no country exceeds</a:t>
            </a:r>
          </a:p>
        </p:txBody>
      </p:sp>
      <p:pic>
        <p:nvPicPr>
          <p:cNvPr id="81" name="Picture 8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58137" y="5332264"/>
            <a:ext cx="128699" cy="187198"/>
          </a:xfrm>
          <a:prstGeom prst="rect">
            <a:avLst/>
          </a:prstGeom>
        </p:spPr>
      </p:pic>
      <p:sp>
        <p:nvSpPr>
          <p:cNvPr id="82" name="TextBox 81"/>
          <p:cNvSpPr txBox="1"/>
          <p:nvPr/>
        </p:nvSpPr>
        <p:spPr>
          <a:xfrm>
            <a:off x="3025633" y="5342043"/>
            <a:ext cx="636375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2036 value and demand spreads across 6 product type lines and 5 sales channels routes. Average realisation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190500" y="5509683"/>
            <a:ext cx="44864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moves</a:t>
            </a:r>
          </a:p>
        </p:txBody>
      </p:sp>
      <p:pic>
        <p:nvPicPr>
          <p:cNvPr id="84" name="Picture 8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87193" y="5499904"/>
            <a:ext cx="128699" cy="187198"/>
          </a:xfrm>
          <a:prstGeom prst="rect">
            <a:avLst/>
          </a:prstGeom>
        </p:spPr>
      </p:pic>
      <p:sp>
        <p:nvSpPr>
          <p:cNvPr id="85" name="TextBox 84"/>
          <p:cNvSpPr txBox="1"/>
          <p:nvPr/>
        </p:nvSpPr>
        <p:spPr>
          <a:xfrm>
            <a:off x="754689" y="5509683"/>
            <a:ext cx="864892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 year, so cost movements cannot be passed on evenly across 25 countries. The practical constraint is the same in either case commercial terms set for</a:t>
            </a:r>
          </a:p>
        </p:txBody>
      </p:sp>
      <p:sp>
        <p:nvSpPr>
          <p:cNvPr id="86" name="TextBox 85"/>
          <p:cNvSpPr txBox="1"/>
          <p:nvPr/>
        </p:nvSpPr>
        <p:spPr>
          <a:xfrm>
            <a:off x="190500" y="5677323"/>
            <a:ext cx="685246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the market as a whole underserve part of it, and margin is lost in the mismatch rather than in the headline growth rate.</a:t>
            </a:r>
          </a:p>
        </p:txBody>
      </p:sp>
    </p:spTree>
  </p:cSld>
  <p:clrMapOvr>
    <a:masterClrMapping/>
  </p:clrMapOvr>
</p:sld>
</file>

<file path=ppt/slides/slide22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Opportunities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the key opportunities in the Europe market and the likelihood of their impact across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025515"/>
            <a:ext cx="2038350" cy="255552"/>
          </a:xfrm>
          <a:prstGeom prst="roundRect">
            <a:avLst>
              <a:gd name="adj" fmla="val 1869"/>
            </a:avLst>
          </a:prstGeom>
          <a:solidFill>
            <a:srgbClr val="5B7C99"/>
          </a:solidFill>
          <a:ln w="12700">
            <a:solidFill>
              <a:srgbClr val="5B7C9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142875" y="1025515"/>
            <a:ext cx="2038350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Market Opportunities</a:t>
            </a:r>
          </a:p>
        </p:txBody>
      </p:sp>
      <p:sp>
        <p:nvSpPr>
          <p:cNvPr id="13" name="Rectangle 12"/>
          <p:cNvSpPr/>
          <p:nvPr/>
        </p:nvSpPr>
        <p:spPr>
          <a:xfrm>
            <a:off x="142875" y="1390589"/>
            <a:ext cx="9496425" cy="255552"/>
          </a:xfrm>
          <a:prstGeom prst="rect">
            <a:avLst/>
          </a:prstGeom>
          <a:solidFill>
            <a:srgbClr val="E8EEF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276225" y="1390589"/>
            <a:ext cx="9267825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Germany Carries the Largest Absolute Opportunity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61925" y="1700902"/>
            <a:ext cx="9439275" cy="59324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9810750" y="1390589"/>
            <a:ext cx="22383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Likelihood of impact on timeline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9810750" y="1773916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2021–22</a:t>
            </a:r>
          </a:p>
        </p:txBody>
      </p:sp>
      <p:sp>
        <p:nvSpPr>
          <p:cNvPr id="18" name="Rectangle 17"/>
          <p:cNvSpPr/>
          <p:nvPr/>
        </p:nvSpPr>
        <p:spPr>
          <a:xfrm>
            <a:off x="9810750" y="1938200"/>
            <a:ext cx="990600" cy="310313"/>
          </a:xfrm>
          <a:prstGeom prst="rect">
            <a:avLst/>
          </a:prstGeom>
          <a:solidFill>
            <a:srgbClr val="FBF0C4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9810750" y="1938200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9AA0A6"/>
                </a:solidFill>
                <a:latin typeface="Calibri"/>
              </a:rPr>
              <a:t>Low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10896600" y="1773916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2023–25</a:t>
            </a:r>
          </a:p>
        </p:txBody>
      </p:sp>
      <p:sp>
        <p:nvSpPr>
          <p:cNvPr id="21" name="Rectangle 20"/>
          <p:cNvSpPr/>
          <p:nvPr/>
        </p:nvSpPr>
        <p:spPr>
          <a:xfrm>
            <a:off x="10896600" y="1938200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0896600" y="1938200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9AA0A6"/>
                </a:solidFill>
                <a:latin typeface="Calibri"/>
              </a:rPr>
              <a:t>Low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9810750" y="2294147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2026–28</a:t>
            </a:r>
          </a:p>
        </p:txBody>
      </p:sp>
      <p:sp>
        <p:nvSpPr>
          <p:cNvPr id="24" name="Rectangle 23"/>
          <p:cNvSpPr/>
          <p:nvPr/>
        </p:nvSpPr>
        <p:spPr>
          <a:xfrm>
            <a:off x="9810750" y="2458430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810750" y="2458430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9AA0A6"/>
                </a:solidFill>
                <a:latin typeface="Calibri"/>
              </a:rPr>
              <a:t>Low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10896600" y="2294147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2029–36</a:t>
            </a:r>
          </a:p>
        </p:txBody>
      </p:sp>
      <p:sp>
        <p:nvSpPr>
          <p:cNvPr id="27" name="Rectangle 26"/>
          <p:cNvSpPr/>
          <p:nvPr/>
        </p:nvSpPr>
        <p:spPr>
          <a:xfrm>
            <a:off x="10896600" y="2458430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10896600" y="2458430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9AA0A6"/>
                </a:solidFill>
                <a:latin typeface="Calibri"/>
              </a:rPr>
              <a:t>Low</a:t>
            </a:r>
          </a:p>
        </p:txBody>
      </p:sp>
      <p:cxnSp>
        <p:nvCxnSpPr>
          <p:cNvPr id="29" name="Connector 28"/>
          <p:cNvCxnSpPr/>
          <p:nvPr/>
        </p:nvCxnSpPr>
        <p:spPr>
          <a:xfrm>
            <a:off x="142875" y="3088183"/>
            <a:ext cx="1190625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0" name="Rectangle 29"/>
          <p:cNvSpPr/>
          <p:nvPr/>
        </p:nvSpPr>
        <p:spPr>
          <a:xfrm>
            <a:off x="142875" y="3142944"/>
            <a:ext cx="9496425" cy="255552"/>
          </a:xfrm>
          <a:prstGeom prst="rect">
            <a:avLst/>
          </a:prstGeom>
          <a:solidFill>
            <a:srgbClr val="E8EEF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276225" y="3142944"/>
            <a:ext cx="9267825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Romania Offers Under-penetrated, Above-pace Headroom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161925" y="3453257"/>
            <a:ext cx="9439275" cy="59324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9810750" y="3142944"/>
            <a:ext cx="22383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Likelihood of impact on timeline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9810750" y="3526271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2021–22</a:t>
            </a:r>
          </a:p>
        </p:txBody>
      </p:sp>
      <p:sp>
        <p:nvSpPr>
          <p:cNvPr id="35" name="Rectangle 34"/>
          <p:cNvSpPr/>
          <p:nvPr/>
        </p:nvSpPr>
        <p:spPr>
          <a:xfrm>
            <a:off x="9810750" y="3690555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9810750" y="3690555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4A3A05"/>
                </a:solidFill>
                <a:latin typeface="Calibri"/>
              </a:rPr>
              <a:t>High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10896600" y="3526271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2023–25</a:t>
            </a:r>
          </a:p>
        </p:txBody>
      </p:sp>
      <p:sp>
        <p:nvSpPr>
          <p:cNvPr id="38" name="Rectangle 37"/>
          <p:cNvSpPr/>
          <p:nvPr/>
        </p:nvSpPr>
        <p:spPr>
          <a:xfrm>
            <a:off x="10896600" y="3690555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TextBox 38"/>
          <p:cNvSpPr txBox="1"/>
          <p:nvPr/>
        </p:nvSpPr>
        <p:spPr>
          <a:xfrm>
            <a:off x="10896600" y="3690555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4A3A05"/>
                </a:solidFill>
                <a:latin typeface="Calibri"/>
              </a:rPr>
              <a:t>High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9810750" y="4046502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2026–28</a:t>
            </a:r>
          </a:p>
        </p:txBody>
      </p:sp>
      <p:sp>
        <p:nvSpPr>
          <p:cNvPr id="41" name="Rectangle 40"/>
          <p:cNvSpPr/>
          <p:nvPr/>
        </p:nvSpPr>
        <p:spPr>
          <a:xfrm>
            <a:off x="9810750" y="4210785"/>
            <a:ext cx="990600" cy="310313"/>
          </a:xfrm>
          <a:prstGeom prst="rect">
            <a:avLst/>
          </a:prstGeom>
          <a:solidFill>
            <a:srgbClr val="C99A0A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9810750" y="4210785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4A3A05"/>
                </a:solidFill>
                <a:latin typeface="Calibri"/>
              </a:rPr>
              <a:t>High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10896600" y="4046502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2029–36</a:t>
            </a:r>
          </a:p>
        </p:txBody>
      </p:sp>
      <p:sp>
        <p:nvSpPr>
          <p:cNvPr id="44" name="Rectangle 43"/>
          <p:cNvSpPr/>
          <p:nvPr/>
        </p:nvSpPr>
        <p:spPr>
          <a:xfrm>
            <a:off x="10896600" y="4210785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TextBox 44"/>
          <p:cNvSpPr txBox="1"/>
          <p:nvPr/>
        </p:nvSpPr>
        <p:spPr>
          <a:xfrm>
            <a:off x="10896600" y="4210785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4A3A05"/>
                </a:solidFill>
                <a:latin typeface="Calibri"/>
              </a:rPr>
              <a:t>High</a:t>
            </a:r>
          </a:p>
        </p:txBody>
      </p:sp>
      <p:cxnSp>
        <p:nvCxnSpPr>
          <p:cNvPr id="46" name="Connector 45"/>
          <p:cNvCxnSpPr/>
          <p:nvPr/>
        </p:nvCxnSpPr>
        <p:spPr>
          <a:xfrm>
            <a:off x="142875" y="4840538"/>
            <a:ext cx="1190625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7" name="Rectangle 46"/>
          <p:cNvSpPr/>
          <p:nvPr/>
        </p:nvSpPr>
        <p:spPr>
          <a:xfrm>
            <a:off x="142875" y="4895299"/>
            <a:ext cx="9496425" cy="255552"/>
          </a:xfrm>
          <a:prstGeom prst="rect">
            <a:avLst/>
          </a:prstGeom>
          <a:solidFill>
            <a:srgbClr val="E8EEF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76225" y="4895299"/>
            <a:ext cx="9267825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E-commerce Opens the Fastest Route to Market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161925" y="5205612"/>
            <a:ext cx="9439275" cy="59324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9810750" y="4895299"/>
            <a:ext cx="22383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Likelihood of impact on timeline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9810750" y="5278626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2021–22</a:t>
            </a:r>
          </a:p>
        </p:txBody>
      </p:sp>
      <p:sp>
        <p:nvSpPr>
          <p:cNvPr id="52" name="Rectangle 51"/>
          <p:cNvSpPr/>
          <p:nvPr/>
        </p:nvSpPr>
        <p:spPr>
          <a:xfrm>
            <a:off x="9810750" y="5442910"/>
            <a:ext cx="990600" cy="310313"/>
          </a:xfrm>
          <a:prstGeom prst="rect">
            <a:avLst/>
          </a:prstGeom>
          <a:solidFill>
            <a:srgbClr val="F2C94C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TextBox 52"/>
          <p:cNvSpPr txBox="1"/>
          <p:nvPr/>
        </p:nvSpPr>
        <p:spPr>
          <a:xfrm>
            <a:off x="9810750" y="5442910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B5613"/>
                </a:solidFill>
                <a:latin typeface="Calibri"/>
              </a:rPr>
              <a:t>Medium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10896600" y="5278626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2023–25</a:t>
            </a:r>
          </a:p>
        </p:txBody>
      </p:sp>
      <p:sp>
        <p:nvSpPr>
          <p:cNvPr id="55" name="Rectangle 54"/>
          <p:cNvSpPr/>
          <p:nvPr/>
        </p:nvSpPr>
        <p:spPr>
          <a:xfrm>
            <a:off x="10896600" y="5442910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10896600" y="5442910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B5613"/>
                </a:solidFill>
                <a:latin typeface="Calibri"/>
              </a:rPr>
              <a:t>Medium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9810750" y="5798857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2026–28</a:t>
            </a:r>
          </a:p>
        </p:txBody>
      </p:sp>
      <p:sp>
        <p:nvSpPr>
          <p:cNvPr id="58" name="Rectangle 57"/>
          <p:cNvSpPr/>
          <p:nvPr/>
        </p:nvSpPr>
        <p:spPr>
          <a:xfrm>
            <a:off x="9810750" y="5963140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TextBox 58"/>
          <p:cNvSpPr txBox="1"/>
          <p:nvPr/>
        </p:nvSpPr>
        <p:spPr>
          <a:xfrm>
            <a:off x="9810750" y="5963140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B5613"/>
                </a:solidFill>
                <a:latin typeface="Calibri"/>
              </a:rPr>
              <a:t>Medium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10896600" y="5798857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2029–36</a:t>
            </a:r>
          </a:p>
        </p:txBody>
      </p:sp>
      <p:sp>
        <p:nvSpPr>
          <p:cNvPr id="61" name="Rectangle 60"/>
          <p:cNvSpPr/>
          <p:nvPr/>
        </p:nvSpPr>
        <p:spPr>
          <a:xfrm>
            <a:off x="10896600" y="5963140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10896600" y="5963140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B5613"/>
                </a:solidFill>
                <a:latin typeface="Calibri"/>
              </a:rPr>
              <a:t>Medium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190500" y="1746064"/>
            <a:ext cx="95942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'Germany' adds</a:t>
            </a:r>
          </a:p>
        </p:txBody>
      </p:sp>
      <p:pic>
        <p:nvPicPr>
          <p:cNvPr id="65" name="Picture 6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97972" y="1736285"/>
            <a:ext cx="128699" cy="187198"/>
          </a:xfrm>
          <a:prstGeom prst="rect">
            <a:avLst/>
          </a:prstGeom>
        </p:spPr>
      </p:pic>
      <p:sp>
        <p:nvSpPr>
          <p:cNvPr id="66" name="TextBox 65"/>
          <p:cNvSpPr txBox="1"/>
          <p:nvPr/>
        </p:nvSpPr>
        <p:spPr>
          <a:xfrm>
            <a:off x="1265467" y="1746064"/>
            <a:ext cx="784291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 between 2026 and 2036 the single largest absolute increment of any geography in the dataset. Capturing it is a question of scale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190500" y="1913704"/>
            <a:ext cx="435942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execution rather than market creation: demand already exists and grows at</a:t>
            </a:r>
          </a:p>
        </p:txBody>
      </p:sp>
      <p:pic>
        <p:nvPicPr>
          <p:cNvPr id="68" name="Picture 6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97975" y="1903925"/>
            <a:ext cx="128699" cy="187198"/>
          </a:xfrm>
          <a:prstGeom prst="rect">
            <a:avLst/>
          </a:prstGeom>
        </p:spPr>
      </p:pic>
      <p:sp>
        <p:nvSpPr>
          <p:cNvPr id="69" name="TextBox 68"/>
          <p:cNvSpPr txBox="1"/>
          <p:nvPr/>
        </p:nvSpPr>
        <p:spPr>
          <a:xfrm>
            <a:off x="4665471" y="1913704"/>
            <a:ext cx="466010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at the market level. Prioritising supply, channel coverage and service levels there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190500" y="2081344"/>
            <a:ext cx="191767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converts the largest share of the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056226" y="2071565"/>
            <a:ext cx="128699" cy="187198"/>
          </a:xfrm>
          <a:prstGeom prst="rect">
            <a:avLst/>
          </a:prstGeom>
        </p:spPr>
      </p:pic>
      <p:sp>
        <p:nvSpPr>
          <p:cNvPr id="72" name="TextBox 71"/>
          <p:cNvSpPr txBox="1"/>
          <p:nvPr/>
        </p:nvSpPr>
        <p:spPr>
          <a:xfrm>
            <a:off x="2223722" y="2081344"/>
            <a:ext cx="330648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 the whole market adds over the forecast period.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190500" y="3498419"/>
            <a:ext cx="14816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'Romania' compounds at</a:t>
            </a:r>
          </a:p>
        </p:txBody>
      </p:sp>
      <p:pic>
        <p:nvPicPr>
          <p:cNvPr id="74" name="Picture 7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20209" y="3488640"/>
            <a:ext cx="128699" cy="187198"/>
          </a:xfrm>
          <a:prstGeom prst="rect">
            <a:avLst/>
          </a:prstGeom>
        </p:spPr>
      </p:pic>
      <p:sp>
        <p:nvSpPr>
          <p:cNvPr id="75" name="TextBox 74"/>
          <p:cNvSpPr txBox="1"/>
          <p:nvPr/>
        </p:nvSpPr>
        <p:spPr>
          <a:xfrm>
            <a:off x="1787705" y="3498419"/>
            <a:ext cx="760224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from a below-median base one of 7 geographies in the dataset combining above-median growth with below-median size. That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190500" y="3666059"/>
            <a:ext cx="713841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profile is where share is cheapest to buy: competitive intensity is lower than in the 16.3%-share leaders, while growth runs +</a:t>
            </a:r>
          </a:p>
        </p:txBody>
      </p:sp>
      <p:pic>
        <p:nvPicPr>
          <p:cNvPr id="77" name="Picture 7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276968" y="3656280"/>
            <a:ext cx="128699" cy="187198"/>
          </a:xfrm>
          <a:prstGeom prst="rect">
            <a:avLst/>
          </a:prstGeom>
        </p:spPr>
      </p:pic>
      <p:sp>
        <p:nvSpPr>
          <p:cNvPr id="78" name="TextBox 77"/>
          <p:cNvSpPr txBox="1"/>
          <p:nvPr/>
        </p:nvSpPr>
        <p:spPr>
          <a:xfrm>
            <a:off x="7444464" y="3666059"/>
            <a:ext cx="182514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 ahead of the market. Early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190500" y="3833699"/>
            <a:ext cx="455669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distribution and reference accounts established here compound through 2036.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190500" y="5250774"/>
            <a:ext cx="137194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'E-commerce' grows at</a:t>
            </a:r>
          </a:p>
        </p:txBody>
      </p:sp>
      <p:pic>
        <p:nvPicPr>
          <p:cNvPr id="81" name="Picture 8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510493" y="5240995"/>
            <a:ext cx="128699" cy="187198"/>
          </a:xfrm>
          <a:prstGeom prst="rect">
            <a:avLst/>
          </a:prstGeom>
        </p:spPr>
      </p:pic>
      <p:sp>
        <p:nvSpPr>
          <p:cNvPr id="82" name="TextBox 81"/>
          <p:cNvSpPr txBox="1"/>
          <p:nvPr/>
        </p:nvSpPr>
        <p:spPr>
          <a:xfrm>
            <a:off x="1677989" y="5250774"/>
            <a:ext cx="313839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CAGR, the fastest of 5 sales channels routes, and adds</a:t>
            </a:r>
          </a:p>
        </p:txBody>
      </p:sp>
      <p:pic>
        <p:nvPicPr>
          <p:cNvPr id="83" name="Picture 8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764437" y="5240995"/>
            <a:ext cx="128699" cy="187198"/>
          </a:xfrm>
          <a:prstGeom prst="rect">
            <a:avLst/>
          </a:prstGeom>
        </p:spPr>
      </p:pic>
      <p:sp>
        <p:nvSpPr>
          <p:cNvPr id="84" name="TextBox 83"/>
          <p:cNvSpPr txBox="1"/>
          <p:nvPr/>
        </p:nvSpPr>
        <p:spPr>
          <a:xfrm>
            <a:off x="4931933" y="5250774"/>
            <a:ext cx="37184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 over the forecast period while 'E-commerce' still carries</a:t>
            </a:r>
          </a:p>
        </p:txBody>
      </p:sp>
      <p:pic>
        <p:nvPicPr>
          <p:cNvPr id="85" name="Picture 8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598450" y="5240995"/>
            <a:ext cx="128699" cy="187198"/>
          </a:xfrm>
          <a:prstGeom prst="rect">
            <a:avLst/>
          </a:prstGeom>
        </p:spPr>
      </p:pic>
      <p:sp>
        <p:nvSpPr>
          <p:cNvPr id="86" name="TextBox 85"/>
          <p:cNvSpPr txBox="1"/>
          <p:nvPr/>
        </p:nvSpPr>
        <p:spPr>
          <a:xfrm>
            <a:off x="8765946" y="5250774"/>
            <a:ext cx="19243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</a:t>
            </a:r>
          </a:p>
        </p:txBody>
      </p:sp>
      <p:sp>
        <p:nvSpPr>
          <p:cNvPr id="87" name="TextBox 86"/>
          <p:cNvSpPr txBox="1"/>
          <p:nvPr/>
        </p:nvSpPr>
        <p:spPr>
          <a:xfrm>
            <a:off x="190500" y="5418414"/>
            <a:ext cx="816024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demand today. Pairing the incumbent route for volume with the fastest route for growth and leading with 'Shampoos &amp; Cleansing Products' at</a:t>
            </a:r>
          </a:p>
        </p:txBody>
      </p:sp>
      <p:pic>
        <p:nvPicPr>
          <p:cNvPr id="88" name="Picture 8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298797" y="5408635"/>
            <a:ext cx="128699" cy="187198"/>
          </a:xfrm>
          <a:prstGeom prst="rect">
            <a:avLst/>
          </a:prstGeom>
        </p:spPr>
      </p:pic>
      <p:sp>
        <p:nvSpPr>
          <p:cNvPr id="89" name="TextBox 88"/>
          <p:cNvSpPr txBox="1"/>
          <p:nvPr/>
        </p:nvSpPr>
        <p:spPr>
          <a:xfrm>
            <a:off x="8466293" y="5418414"/>
            <a:ext cx="38452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is the</a:t>
            </a:r>
          </a:p>
        </p:txBody>
      </p:sp>
      <p:sp>
        <p:nvSpPr>
          <p:cNvPr id="90" name="TextBox 89"/>
          <p:cNvSpPr txBox="1"/>
          <p:nvPr/>
        </p:nvSpPr>
        <p:spPr>
          <a:xfrm>
            <a:off x="190500" y="5586054"/>
            <a:ext cx="279762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highest-yield combination the dataset supports.</a:t>
            </a:r>
          </a:p>
        </p:txBody>
      </p:sp>
    </p:spTree>
  </p:cSld>
  <p:clrMapOvr>
    <a:masterClrMapping/>
  </p:clrMapOvr>
</p:sld>
</file>

<file path=ppt/slides/slide22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Recent Developments &amp; Milestones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Recent developments and milestones shaping the Europe market, by year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42875" y="1025515"/>
            <a:ext cx="11906250" cy="292059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142875" y="1025515"/>
            <a:ext cx="1428750" cy="29205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50" b="1">
                <a:solidFill>
                  <a:srgbClr val="FFFFFF"/>
                </a:solidFill>
                <a:latin typeface="Calibri"/>
              </a:rPr>
              <a:t>Year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1714500" y="1025515"/>
            <a:ext cx="10239375" cy="29205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50" b="1">
                <a:solidFill>
                  <a:srgbClr val="FFFFFF"/>
                </a:solidFill>
                <a:latin typeface="Calibri"/>
              </a:rPr>
              <a:t>Recent Development</a:t>
            </a:r>
          </a:p>
        </p:txBody>
      </p:sp>
      <p:sp>
        <p:nvSpPr>
          <p:cNvPr id="14" name="Rectangle 13"/>
          <p:cNvSpPr/>
          <p:nvPr/>
        </p:nvSpPr>
        <p:spPr>
          <a:xfrm>
            <a:off x="142875" y="1317574"/>
            <a:ext cx="11906250" cy="1296013"/>
          </a:xfrm>
          <a:prstGeom prst="rect">
            <a:avLst/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142875" y="1317574"/>
            <a:ext cx="1428750" cy="12960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250" b="1">
                <a:solidFill>
                  <a:srgbClr val="0B2E4A"/>
                </a:solidFill>
                <a:latin typeface="Calibri"/>
              </a:rPr>
              <a:t>2022</a:t>
            </a:r>
          </a:p>
        </p:txBody>
      </p:sp>
      <p:cxnSp>
        <p:nvCxnSpPr>
          <p:cNvPr id="16" name="Connector 15"/>
          <p:cNvCxnSpPr/>
          <p:nvPr/>
        </p:nvCxnSpPr>
        <p:spPr>
          <a:xfrm>
            <a:off x="1571625" y="1317574"/>
            <a:ext cx="0" cy="1296013"/>
          </a:xfrm>
          <a:prstGeom prst="line">
            <a:avLst/>
          </a:prstGeom>
          <a:ln w="12700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" name="TextBox 16"/>
          <p:cNvSpPr txBox="1"/>
          <p:nvPr/>
        </p:nvSpPr>
        <p:spPr>
          <a:xfrm>
            <a:off x="1714500" y="1668957"/>
            <a:ext cx="10210800" cy="59324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Rectangle 17"/>
          <p:cNvSpPr/>
          <p:nvPr/>
        </p:nvSpPr>
        <p:spPr>
          <a:xfrm>
            <a:off x="142875" y="2613586"/>
            <a:ext cx="11906250" cy="985700"/>
          </a:xfrm>
          <a:prstGeom prst="rect">
            <a:avLst/>
          </a:prstGeom>
          <a:solidFill>
            <a:srgbClr val="F5F8FA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142875" y="2613586"/>
            <a:ext cx="1428750" cy="9857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250" b="1">
                <a:solidFill>
                  <a:srgbClr val="0B2E4A"/>
                </a:solidFill>
                <a:latin typeface="Calibri"/>
              </a:rPr>
              <a:t>2026</a:t>
            </a:r>
          </a:p>
        </p:txBody>
      </p:sp>
      <p:cxnSp>
        <p:nvCxnSpPr>
          <p:cNvPr id="20" name="Connector 19"/>
          <p:cNvCxnSpPr/>
          <p:nvPr/>
        </p:nvCxnSpPr>
        <p:spPr>
          <a:xfrm>
            <a:off x="1571625" y="2613586"/>
            <a:ext cx="0" cy="985700"/>
          </a:xfrm>
          <a:prstGeom prst="line">
            <a:avLst/>
          </a:prstGeom>
          <a:ln w="12700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" name="TextBox 20"/>
          <p:cNvSpPr txBox="1"/>
          <p:nvPr/>
        </p:nvSpPr>
        <p:spPr>
          <a:xfrm>
            <a:off x="1714500" y="2905646"/>
            <a:ext cx="10210800" cy="401581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2" name="Rectangle 21"/>
          <p:cNvSpPr/>
          <p:nvPr/>
        </p:nvSpPr>
        <p:spPr>
          <a:xfrm>
            <a:off x="142875" y="3599286"/>
            <a:ext cx="11906250" cy="985700"/>
          </a:xfrm>
          <a:prstGeom prst="rect">
            <a:avLst/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142875" y="3599286"/>
            <a:ext cx="1428750" cy="9857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250" b="1">
                <a:solidFill>
                  <a:srgbClr val="0B2E4A"/>
                </a:solidFill>
                <a:latin typeface="Calibri"/>
              </a:rPr>
              <a:t>2033</a:t>
            </a:r>
          </a:p>
        </p:txBody>
      </p:sp>
      <p:cxnSp>
        <p:nvCxnSpPr>
          <p:cNvPr id="24" name="Connector 23"/>
          <p:cNvCxnSpPr/>
          <p:nvPr/>
        </p:nvCxnSpPr>
        <p:spPr>
          <a:xfrm>
            <a:off x="1571625" y="3599286"/>
            <a:ext cx="0" cy="985700"/>
          </a:xfrm>
          <a:prstGeom prst="line">
            <a:avLst/>
          </a:prstGeom>
          <a:ln w="12700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" name="TextBox 24"/>
          <p:cNvSpPr txBox="1"/>
          <p:nvPr/>
        </p:nvSpPr>
        <p:spPr>
          <a:xfrm>
            <a:off x="1714500" y="3891345"/>
            <a:ext cx="10210800" cy="401581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6" name="Rectangle 25"/>
          <p:cNvSpPr/>
          <p:nvPr/>
        </p:nvSpPr>
        <p:spPr>
          <a:xfrm>
            <a:off x="142875" y="4584986"/>
            <a:ext cx="11906250" cy="985700"/>
          </a:xfrm>
          <a:prstGeom prst="rect">
            <a:avLst/>
          </a:prstGeom>
          <a:solidFill>
            <a:srgbClr val="F5F8FA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TextBox 26"/>
          <p:cNvSpPr txBox="1"/>
          <p:nvPr/>
        </p:nvSpPr>
        <p:spPr>
          <a:xfrm>
            <a:off x="142875" y="4584986"/>
            <a:ext cx="1428750" cy="9857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250" b="1">
                <a:solidFill>
                  <a:srgbClr val="0B2E4A"/>
                </a:solidFill>
                <a:latin typeface="Calibri"/>
              </a:rPr>
              <a:t>2031</a:t>
            </a:r>
          </a:p>
        </p:txBody>
      </p:sp>
      <p:cxnSp>
        <p:nvCxnSpPr>
          <p:cNvPr id="28" name="Connector 27"/>
          <p:cNvCxnSpPr/>
          <p:nvPr/>
        </p:nvCxnSpPr>
        <p:spPr>
          <a:xfrm>
            <a:off x="1571625" y="4584986"/>
            <a:ext cx="0" cy="985700"/>
          </a:xfrm>
          <a:prstGeom prst="line">
            <a:avLst/>
          </a:prstGeom>
          <a:ln w="12700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9" name="TextBox 28"/>
          <p:cNvSpPr txBox="1"/>
          <p:nvPr/>
        </p:nvSpPr>
        <p:spPr>
          <a:xfrm>
            <a:off x="1714500" y="4877045"/>
            <a:ext cx="10210800" cy="401581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0" name="Rectangle 29"/>
          <p:cNvSpPr/>
          <p:nvPr/>
        </p:nvSpPr>
        <p:spPr>
          <a:xfrm>
            <a:off x="142875" y="5570686"/>
            <a:ext cx="11906250" cy="985700"/>
          </a:xfrm>
          <a:prstGeom prst="rect">
            <a:avLst/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142875" y="5570686"/>
            <a:ext cx="1428750" cy="9857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250" b="1">
                <a:solidFill>
                  <a:srgbClr val="0B2E4A"/>
                </a:solidFill>
                <a:latin typeface="Calibri"/>
              </a:rPr>
              <a:t>2036</a:t>
            </a:r>
          </a:p>
        </p:txBody>
      </p:sp>
      <p:cxnSp>
        <p:nvCxnSpPr>
          <p:cNvPr id="32" name="Connector 31"/>
          <p:cNvCxnSpPr/>
          <p:nvPr/>
        </p:nvCxnSpPr>
        <p:spPr>
          <a:xfrm>
            <a:off x="1571625" y="5570686"/>
            <a:ext cx="0" cy="985700"/>
          </a:xfrm>
          <a:prstGeom prst="line">
            <a:avLst/>
          </a:prstGeom>
          <a:ln w="12700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3" name="TextBox 32"/>
          <p:cNvSpPr txBox="1"/>
          <p:nvPr/>
        </p:nvSpPr>
        <p:spPr>
          <a:xfrm>
            <a:off x="1714500" y="5862745"/>
            <a:ext cx="10210800" cy="401581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1743075" y="1797939"/>
            <a:ext cx="355724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Strongest historical expansion on record: Europe value rose +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248366" y="1788160"/>
            <a:ext cx="128699" cy="187198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5415862" y="1797939"/>
            <a:ext cx="93595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year on year to</a:t>
            </a:r>
          </a:p>
        </p:txBody>
      </p:sp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299869" y="1788160"/>
            <a:ext cx="128699" cy="187198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6467365" y="1797939"/>
            <a:ext cx="526501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Mn, the steepest single-year move of the 2021–2025 period. Demand for 'Shampoos &amp;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1743075" y="1965579"/>
            <a:ext cx="118343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Cleansing Products'</a:t>
            </a:r>
          </a:p>
        </p:txBody>
      </p:sp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74558" y="1955800"/>
            <a:ext cx="128699" cy="187198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3042054" y="1965579"/>
            <a:ext cx="71755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product type value by 2036 set the pace, and the 5 sales channels routes tracked here all carried volume through the year.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1743075" y="2945502"/>
            <a:ext cx="3402282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Base year for the forecast: the europe market is estimated at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092438" y="2936114"/>
            <a:ext cx="123551" cy="179710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5253234" y="2945502"/>
            <a:ext cx="1825680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US$ Mn, having compounded at</a:t>
            </a:r>
          </a:p>
        </p:txBody>
      </p:sp>
      <p:pic>
        <p:nvPicPr>
          <p:cNvPr id="46" name="Picture 4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25996" y="2936114"/>
            <a:ext cx="123551" cy="179710"/>
          </a:xfrm>
          <a:prstGeom prst="rect">
            <a:avLst/>
          </a:prstGeom>
        </p:spPr>
      </p:pic>
      <p:sp>
        <p:nvSpPr>
          <p:cNvPr id="47" name="TextBox 46"/>
          <p:cNvSpPr txBox="1"/>
          <p:nvPr/>
        </p:nvSpPr>
        <p:spPr>
          <a:xfrm>
            <a:off x="7186792" y="2945502"/>
            <a:ext cx="2011132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across 2021–2025. 'Germany' holds</a:t>
            </a:r>
          </a:p>
        </p:txBody>
      </p:sp>
      <p:pic>
        <p:nvPicPr>
          <p:cNvPr id="48" name="Picture 4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145006" y="2936114"/>
            <a:ext cx="123551" cy="179710"/>
          </a:xfrm>
          <a:prstGeom prst="rect">
            <a:avLst/>
          </a:prstGeom>
        </p:spPr>
      </p:pic>
      <p:sp>
        <p:nvSpPr>
          <p:cNvPr id="49" name="TextBox 48"/>
          <p:cNvSpPr txBox="1"/>
          <p:nvPr/>
        </p:nvSpPr>
        <p:spPr>
          <a:xfrm>
            <a:off x="9305802" y="2945502"/>
            <a:ext cx="2073997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of value across 25 countries, and the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1743075" y="3106436"/>
            <a:ext cx="4221622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forecast is built from 10 segment breakdowns covering 6 product type lines.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1743075" y="3931201"/>
            <a:ext cx="1089374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The market passes</a:t>
            </a:r>
          </a:p>
        </p:txBody>
      </p:sp>
      <p:pic>
        <p:nvPicPr>
          <p:cNvPr id="52" name="Picture 5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779530" y="3921813"/>
            <a:ext cx="123551" cy="179710"/>
          </a:xfrm>
          <a:prstGeom prst="rect">
            <a:avLst/>
          </a:prstGeom>
        </p:spPr>
      </p:pic>
      <p:sp>
        <p:nvSpPr>
          <p:cNvPr id="53" name="TextBox 52"/>
          <p:cNvSpPr txBox="1"/>
          <p:nvPr/>
        </p:nvSpPr>
        <p:spPr>
          <a:xfrm>
            <a:off x="2940326" y="3931201"/>
            <a:ext cx="2945201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US$ Mn one and a half times the 2026 base reaching</a:t>
            </a:r>
          </a:p>
        </p:txBody>
      </p:sp>
      <p:pic>
        <p:nvPicPr>
          <p:cNvPr id="54" name="Picture 5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832609" y="3921813"/>
            <a:ext cx="123551" cy="179710"/>
          </a:xfrm>
          <a:prstGeom prst="rect">
            <a:avLst/>
          </a:prstGeom>
        </p:spPr>
      </p:pic>
      <p:sp>
        <p:nvSpPr>
          <p:cNvPr id="55" name="TextBox 54"/>
          <p:cNvSpPr txBox="1"/>
          <p:nvPr/>
        </p:nvSpPr>
        <p:spPr>
          <a:xfrm>
            <a:off x="5993405" y="3931201"/>
            <a:ext cx="4150375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US$ Mn. Growth by this point is led by 'Shampoos &amp; Cleansing Products' at</a:t>
            </a:r>
          </a:p>
        </p:txBody>
      </p:sp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090863" y="3921813"/>
            <a:ext cx="123551" cy="179710"/>
          </a:xfrm>
          <a:prstGeom prst="rect">
            <a:avLst/>
          </a:prstGeom>
        </p:spPr>
      </p:pic>
      <p:sp>
        <p:nvSpPr>
          <p:cNvPr id="57" name="TextBox 56"/>
          <p:cNvSpPr txBox="1"/>
          <p:nvPr/>
        </p:nvSpPr>
        <p:spPr>
          <a:xfrm>
            <a:off x="10251659" y="3931201"/>
            <a:ext cx="1157723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CAGR and by 'Other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1743075" y="4092135"/>
            <a:ext cx="2273331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European Countries' among countries at</a:t>
            </a:r>
          </a:p>
        </p:txBody>
      </p:sp>
      <p:pic>
        <p:nvPicPr>
          <p:cNvPr id="59" name="Picture 5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963488" y="4082747"/>
            <a:ext cx="123551" cy="179710"/>
          </a:xfrm>
          <a:prstGeom prst="rect">
            <a:avLst/>
          </a:prstGeom>
        </p:spPr>
      </p:pic>
      <p:sp>
        <p:nvSpPr>
          <p:cNvPr id="60" name="TextBox 59"/>
          <p:cNvSpPr txBox="1"/>
          <p:nvPr/>
        </p:nvSpPr>
        <p:spPr>
          <a:xfrm>
            <a:off x="4124284" y="4092135"/>
            <a:ext cx="3423499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, with 14 of 25 countries running at or above the market rate.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1743075" y="4916901"/>
            <a:ext cx="2190297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Mid-horizon checkpoint: value reaches</a:t>
            </a:r>
          </a:p>
        </p:txBody>
      </p:sp>
      <p:pic>
        <p:nvPicPr>
          <p:cNvPr id="62" name="Picture 6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880454" y="4907513"/>
            <a:ext cx="123551" cy="179710"/>
          </a:xfrm>
          <a:prstGeom prst="rect">
            <a:avLst/>
          </a:prstGeom>
        </p:spPr>
      </p:pic>
      <p:sp>
        <p:nvSpPr>
          <p:cNvPr id="63" name="TextBox 62"/>
          <p:cNvSpPr txBox="1"/>
          <p:nvPr/>
        </p:nvSpPr>
        <p:spPr>
          <a:xfrm>
            <a:off x="4041250" y="4916901"/>
            <a:ext cx="541139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US$ Mn,</a:t>
            </a:r>
          </a:p>
        </p:txBody>
      </p:sp>
      <p:pic>
        <p:nvPicPr>
          <p:cNvPr id="64" name="Picture 6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29470" y="4907513"/>
            <a:ext cx="123551" cy="179710"/>
          </a:xfrm>
          <a:prstGeom prst="rect">
            <a:avLst/>
          </a:prstGeom>
        </p:spPr>
      </p:pic>
      <p:sp>
        <p:nvSpPr>
          <p:cNvPr id="65" name="TextBox 64"/>
          <p:cNvSpPr txBox="1"/>
          <p:nvPr/>
        </p:nvSpPr>
        <p:spPr>
          <a:xfrm>
            <a:off x="4690266" y="4916901"/>
            <a:ext cx="2581333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× the 2026 base. Average realisation stands at</a:t>
            </a:r>
          </a:p>
        </p:txBody>
      </p:sp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218681" y="4907513"/>
            <a:ext cx="123551" cy="179710"/>
          </a:xfrm>
          <a:prstGeom prst="rect">
            <a:avLst/>
          </a:prstGeom>
        </p:spPr>
      </p:pic>
      <p:sp>
        <p:nvSpPr>
          <p:cNvPr id="67" name="TextBox 66"/>
          <p:cNvSpPr txBox="1"/>
          <p:nvPr/>
        </p:nvSpPr>
        <p:spPr>
          <a:xfrm>
            <a:off x="7379477" y="4916901"/>
            <a:ext cx="1740288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US$/MT, and mix has moved +</a:t>
            </a:r>
          </a:p>
        </p:txBody>
      </p:sp>
      <p:pic>
        <p:nvPicPr>
          <p:cNvPr id="68" name="Picture 6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066848" y="4907513"/>
            <a:ext cx="123551" cy="179710"/>
          </a:xfrm>
          <a:prstGeom prst="rect">
            <a:avLst/>
          </a:prstGeom>
        </p:spPr>
      </p:pic>
      <p:sp>
        <p:nvSpPr>
          <p:cNvPr id="69" name="TextBox 68"/>
          <p:cNvSpPr txBox="1"/>
          <p:nvPr/>
        </p:nvSpPr>
        <p:spPr>
          <a:xfrm>
            <a:off x="9227644" y="4916901"/>
            <a:ext cx="2004321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BPS toward 'Shampoos &amp; Cleansing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1743075" y="5077835"/>
            <a:ext cx="3665267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Products' while 'Coat Conditioning &amp; Grooming Products' gives up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355424" y="5068447"/>
            <a:ext cx="123551" cy="179710"/>
          </a:xfrm>
          <a:prstGeom prst="rect">
            <a:avLst/>
          </a:prstGeom>
        </p:spPr>
      </p:pic>
      <p:sp>
        <p:nvSpPr>
          <p:cNvPr id="72" name="TextBox 71"/>
          <p:cNvSpPr txBox="1"/>
          <p:nvPr/>
        </p:nvSpPr>
        <p:spPr>
          <a:xfrm>
            <a:off x="5516220" y="5077835"/>
            <a:ext cx="314039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BPS.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1743075" y="5902601"/>
            <a:ext cx="2605963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Forecast outcome: the europe market reaches</a:t>
            </a:r>
          </a:p>
        </p:txBody>
      </p:sp>
      <p:pic>
        <p:nvPicPr>
          <p:cNvPr id="74" name="Picture 7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96120" y="5893213"/>
            <a:ext cx="123551" cy="179710"/>
          </a:xfrm>
          <a:prstGeom prst="rect">
            <a:avLst/>
          </a:prstGeom>
        </p:spPr>
      </p:pic>
      <p:sp>
        <p:nvSpPr>
          <p:cNvPr id="75" name="TextBox 74"/>
          <p:cNvSpPr txBox="1"/>
          <p:nvPr/>
        </p:nvSpPr>
        <p:spPr>
          <a:xfrm>
            <a:off x="4456916" y="5902601"/>
            <a:ext cx="635698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US$ Mn, a</a:t>
            </a:r>
          </a:p>
        </p:txBody>
      </p:sp>
      <p:pic>
        <p:nvPicPr>
          <p:cNvPr id="76" name="Picture 7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039696" y="5893213"/>
            <a:ext cx="123551" cy="179710"/>
          </a:xfrm>
          <a:prstGeom prst="rect">
            <a:avLst/>
          </a:prstGeom>
        </p:spPr>
      </p:pic>
      <p:sp>
        <p:nvSpPr>
          <p:cNvPr id="77" name="TextBox 76"/>
          <p:cNvSpPr txBox="1"/>
          <p:nvPr/>
        </p:nvSpPr>
        <p:spPr>
          <a:xfrm>
            <a:off x="5200492" y="5902601"/>
            <a:ext cx="1437751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× expansion on 2026 and</a:t>
            </a:r>
          </a:p>
        </p:txBody>
      </p:sp>
      <p:pic>
        <p:nvPicPr>
          <p:cNvPr id="78" name="Picture 7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85324" y="5893213"/>
            <a:ext cx="123551" cy="179710"/>
          </a:xfrm>
          <a:prstGeom prst="rect">
            <a:avLst/>
          </a:prstGeom>
        </p:spPr>
      </p:pic>
      <p:sp>
        <p:nvSpPr>
          <p:cNvPr id="79" name="TextBox 78"/>
          <p:cNvSpPr txBox="1"/>
          <p:nvPr/>
        </p:nvSpPr>
        <p:spPr>
          <a:xfrm>
            <a:off x="6746120" y="5902601"/>
            <a:ext cx="1799224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US$ Mn of incremental value at</a:t>
            </a:r>
          </a:p>
        </p:txBody>
      </p:sp>
      <p:pic>
        <p:nvPicPr>
          <p:cNvPr id="80" name="Picture 7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492427" y="5893213"/>
            <a:ext cx="123551" cy="179710"/>
          </a:xfrm>
          <a:prstGeom prst="rect">
            <a:avLst/>
          </a:prstGeom>
        </p:spPr>
      </p:pic>
      <p:sp>
        <p:nvSpPr>
          <p:cNvPr id="81" name="TextBox 80"/>
          <p:cNvSpPr txBox="1"/>
          <p:nvPr/>
        </p:nvSpPr>
        <p:spPr>
          <a:xfrm>
            <a:off x="8653223" y="5902601"/>
            <a:ext cx="1678717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CAGR. Volume compounds at</a:t>
            </a:r>
          </a:p>
        </p:txBody>
      </p:sp>
      <p:pic>
        <p:nvPicPr>
          <p:cNvPr id="82" name="Picture 8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279022" y="5893213"/>
            <a:ext cx="123551" cy="179710"/>
          </a:xfrm>
          <a:prstGeom prst="rect">
            <a:avLst/>
          </a:prstGeom>
        </p:spPr>
      </p:pic>
      <p:sp>
        <p:nvSpPr>
          <p:cNvPr id="83" name="TextBox 82"/>
          <p:cNvSpPr txBox="1"/>
          <p:nvPr/>
        </p:nvSpPr>
        <p:spPr>
          <a:xfrm>
            <a:off x="10439818" y="5902601"/>
            <a:ext cx="854678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over the same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1743075" y="6063535"/>
            <a:ext cx="1565052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window, leaving realisation</a:t>
            </a:r>
          </a:p>
        </p:txBody>
      </p:sp>
      <p:pic>
        <p:nvPicPr>
          <p:cNvPr id="85" name="Picture 8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255209" y="6054147"/>
            <a:ext cx="123551" cy="179710"/>
          </a:xfrm>
          <a:prstGeom prst="rect">
            <a:avLst/>
          </a:prstGeom>
        </p:spPr>
      </p:pic>
      <p:sp>
        <p:nvSpPr>
          <p:cNvPr id="86" name="TextBox 85"/>
          <p:cNvSpPr txBox="1"/>
          <p:nvPr/>
        </p:nvSpPr>
        <p:spPr>
          <a:xfrm>
            <a:off x="3416005" y="6063535"/>
            <a:ext cx="4255412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a year the gap between the two is the premiumisation the forecast assumes.</a:t>
            </a:r>
          </a:p>
        </p:txBody>
      </p:sp>
    </p:spTree>
  </p:cSld>
  <p:clrMapOvr>
    <a:masterClrMapping/>
  </p:clrMapOvr>
</p:sld>
</file>

<file path=ppt/slides/slide22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Porter's Five Forces Analysis Europe Pet Cosmetic Products Market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supplier power, buyer power, competition, substitutes and entry barriers shaping the market's profitability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142875" y="989007"/>
            <a:ext cx="11906250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12" name="Oval 11"/>
          <p:cNvSpPr/>
          <p:nvPr/>
        </p:nvSpPr>
        <p:spPr>
          <a:xfrm>
            <a:off x="876300" y="1427096"/>
            <a:ext cx="914400" cy="876177"/>
          </a:xfrm>
          <a:prstGeom prst="ellipse">
            <a:avLst/>
          </a:prstGeom>
          <a:solidFill>
            <a:srgbClr val="F2D24B"/>
          </a:solidFill>
          <a:ln w="12700">
            <a:solidFill>
              <a:srgbClr val="F2D24B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1047750" y="1664394"/>
            <a:ext cx="571500" cy="401581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3400" b="1">
                <a:solidFill>
                  <a:srgbClr val="8A6A00"/>
                </a:solidFill>
                <a:latin typeface="Calibri"/>
              </a:rPr>
              <a:t>$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19075" y="2376288"/>
            <a:ext cx="2228850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50" b="1">
                <a:solidFill>
                  <a:srgbClr val="2E2E2E"/>
                </a:solidFill>
                <a:latin typeface="Calibri"/>
              </a:rPr>
              <a:t>Bargaining Power of Suppliers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247650" y="2796123"/>
            <a:ext cx="2171700" cy="77578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247650" y="3663174"/>
            <a:ext cx="2171700" cy="77578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247650" y="4530225"/>
            <a:ext cx="2171700" cy="77578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▸  Buyers can rebalance across 6 product type lines, which caps supplier leverage in commodity grades.</a:t>
            </a:r>
          </a:p>
        </p:txBody>
      </p:sp>
      <p:sp>
        <p:nvSpPr>
          <p:cNvPr id="18" name="Oval 17"/>
          <p:cNvSpPr/>
          <p:nvPr/>
        </p:nvSpPr>
        <p:spPr>
          <a:xfrm>
            <a:off x="3257550" y="1427096"/>
            <a:ext cx="914400" cy="876177"/>
          </a:xfrm>
          <a:prstGeom prst="ellipse">
            <a:avLst/>
          </a:prstGeom>
          <a:solidFill>
            <a:srgbClr val="D9D9D9"/>
          </a:solidFill>
          <a:ln w="12700">
            <a:solidFill>
              <a:srgbClr val="D9D9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3476625" y="1710028"/>
            <a:ext cx="152400" cy="209918"/>
          </a:xfrm>
          <a:custGeom>
            <a:avLst/>
            <a:gdLst/>
            <a:ahLst/>
            <a:cxnLst/>
            <a:rect l="l" t="t" r="r" b="b"/>
            <a:pathLst>
              <a:path w="16" h="23">
                <a:moveTo>
                  <a:pt x="0" y="0"/>
                </a:moveTo>
                <a:lnTo>
                  <a:pt x="8" y="0"/>
                </a:lnTo>
                <a:lnTo>
                  <a:pt x="16" y="23"/>
                </a:lnTo>
              </a:path>
            </a:pathLst>
          </a:custGeom>
          <a:noFill/>
          <a:ln w="43180">
            <a:solidFill>
              <a:srgbClr val="2B2B2B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Freeform 19"/>
          <p:cNvSpPr/>
          <p:nvPr/>
        </p:nvSpPr>
        <p:spPr>
          <a:xfrm>
            <a:off x="3609975" y="1783043"/>
            <a:ext cx="342900" cy="155156"/>
          </a:xfrm>
          <a:custGeom>
            <a:avLst/>
            <a:gdLst/>
            <a:ahLst/>
            <a:cxnLst/>
            <a:rect l="l" t="t" r="r" b="b"/>
            <a:pathLst>
              <a:path w="36" h="17">
                <a:moveTo>
                  <a:pt x="0" y="0"/>
                </a:moveTo>
                <a:lnTo>
                  <a:pt x="36" y="0"/>
                </a:lnTo>
                <a:lnTo>
                  <a:pt x="31" y="17"/>
                </a:lnTo>
                <a:lnTo>
                  <a:pt x="5" y="17"/>
                </a:lnTo>
                <a:close/>
              </a:path>
            </a:pathLst>
          </a:custGeom>
          <a:solidFill>
            <a:srgbClr val="2B2B2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Oval 20"/>
          <p:cNvSpPr/>
          <p:nvPr/>
        </p:nvSpPr>
        <p:spPr>
          <a:xfrm>
            <a:off x="3648075" y="1983834"/>
            <a:ext cx="76200" cy="73015"/>
          </a:xfrm>
          <a:prstGeom prst="ellipse">
            <a:avLst/>
          </a:prstGeom>
          <a:solidFill>
            <a:srgbClr val="2B2B2B"/>
          </a:solidFill>
          <a:ln w="12700">
            <a:solidFill>
              <a:srgbClr val="2B2B2B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Oval 21"/>
          <p:cNvSpPr/>
          <p:nvPr/>
        </p:nvSpPr>
        <p:spPr>
          <a:xfrm>
            <a:off x="3829050" y="1983834"/>
            <a:ext cx="76200" cy="73015"/>
          </a:xfrm>
          <a:prstGeom prst="ellipse">
            <a:avLst/>
          </a:prstGeom>
          <a:solidFill>
            <a:srgbClr val="2B2B2B"/>
          </a:solidFill>
          <a:ln w="12700">
            <a:solidFill>
              <a:srgbClr val="2B2B2B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2600325" y="2376288"/>
            <a:ext cx="2228850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50" b="1">
                <a:solidFill>
                  <a:srgbClr val="2E2E2E"/>
                </a:solidFill>
                <a:latin typeface="Calibri"/>
              </a:rPr>
              <a:t>Bargaining Power of Buyers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2628900" y="2796123"/>
            <a:ext cx="2171700" cy="96744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628900" y="3854838"/>
            <a:ext cx="2171700" cy="59324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628900" y="4539352"/>
            <a:ext cx="2171700" cy="59324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▸  Switching is easiest where 6 comparable product type lines compete for the same demand.</a:t>
            </a:r>
          </a:p>
        </p:txBody>
      </p:sp>
      <p:sp>
        <p:nvSpPr>
          <p:cNvPr id="27" name="Oval 26"/>
          <p:cNvSpPr/>
          <p:nvPr/>
        </p:nvSpPr>
        <p:spPr>
          <a:xfrm>
            <a:off x="5638800" y="1427096"/>
            <a:ext cx="914400" cy="876177"/>
          </a:xfrm>
          <a:prstGeom prst="ellipse">
            <a:avLst/>
          </a:prstGeom>
          <a:solidFill>
            <a:srgbClr val="E88A8A"/>
          </a:solidFill>
          <a:ln w="12700">
            <a:solidFill>
              <a:srgbClr val="E88A8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Oval 27"/>
          <p:cNvSpPr/>
          <p:nvPr/>
        </p:nvSpPr>
        <p:spPr>
          <a:xfrm>
            <a:off x="5876925" y="1655267"/>
            <a:ext cx="438150" cy="419835"/>
          </a:xfrm>
          <a:prstGeom prst="ellipse">
            <a:avLst/>
          </a:prstGeom>
          <a:solidFill>
            <a:srgbClr val="B23A3A"/>
          </a:solidFill>
          <a:ln w="12700">
            <a:solidFill>
              <a:srgbClr val="B23A3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Oval 28"/>
          <p:cNvSpPr/>
          <p:nvPr/>
        </p:nvSpPr>
        <p:spPr>
          <a:xfrm>
            <a:off x="5943600" y="1719155"/>
            <a:ext cx="304800" cy="292059"/>
          </a:xfrm>
          <a:prstGeom prst="ellipse">
            <a:avLst/>
          </a:prstGeom>
          <a:solidFill>
            <a:srgbClr val="E88A8A"/>
          </a:solidFill>
          <a:ln w="12700">
            <a:solidFill>
              <a:srgbClr val="E88A8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Oval 29"/>
          <p:cNvSpPr/>
          <p:nvPr/>
        </p:nvSpPr>
        <p:spPr>
          <a:xfrm>
            <a:off x="6010275" y="1783043"/>
            <a:ext cx="171450" cy="164283"/>
          </a:xfrm>
          <a:prstGeom prst="ellipse">
            <a:avLst/>
          </a:prstGeom>
          <a:solidFill>
            <a:srgbClr val="B23A3A"/>
          </a:solidFill>
          <a:ln w="12700">
            <a:solidFill>
              <a:srgbClr val="B23A3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Oval 30"/>
          <p:cNvSpPr/>
          <p:nvPr/>
        </p:nvSpPr>
        <p:spPr>
          <a:xfrm>
            <a:off x="6062662" y="1833240"/>
            <a:ext cx="66675" cy="63888"/>
          </a:xfrm>
          <a:prstGeom prst="ellipse">
            <a:avLst/>
          </a:prstGeom>
          <a:solidFill>
            <a:srgbClr val="E88A8A"/>
          </a:solidFill>
          <a:ln w="12700">
            <a:solidFill>
              <a:srgbClr val="E88A8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Freeform 31"/>
          <p:cNvSpPr/>
          <p:nvPr/>
        </p:nvSpPr>
        <p:spPr>
          <a:xfrm>
            <a:off x="6134100" y="1627887"/>
            <a:ext cx="209550" cy="200791"/>
          </a:xfrm>
          <a:custGeom>
            <a:avLst/>
            <a:gdLst/>
            <a:ahLst/>
            <a:cxnLst/>
            <a:rect l="l" t="t" r="r" b="b"/>
            <a:pathLst>
              <a:path w="22" h="22">
                <a:moveTo>
                  <a:pt x="0" y="22"/>
                </a:moveTo>
                <a:lnTo>
                  <a:pt x="22" y="0"/>
                </a:lnTo>
              </a:path>
            </a:pathLst>
          </a:custGeom>
          <a:noFill/>
          <a:ln w="38100">
            <a:solidFill>
              <a:srgbClr val="B23A3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Freeform 32"/>
          <p:cNvSpPr/>
          <p:nvPr/>
        </p:nvSpPr>
        <p:spPr>
          <a:xfrm>
            <a:off x="6267450" y="1591379"/>
            <a:ext cx="114300" cy="109522"/>
          </a:xfrm>
          <a:custGeom>
            <a:avLst/>
            <a:gdLst/>
            <a:ahLst/>
            <a:cxnLst/>
            <a:rect l="l" t="t" r="r" b="b"/>
            <a:pathLst>
              <a:path w="12" h="12">
                <a:moveTo>
                  <a:pt x="0" y="0"/>
                </a:moveTo>
                <a:lnTo>
                  <a:pt x="12" y="0"/>
                </a:lnTo>
                <a:lnTo>
                  <a:pt x="12" y="12"/>
                </a:lnTo>
                <a:close/>
              </a:path>
            </a:pathLst>
          </a:custGeom>
          <a:solidFill>
            <a:srgbClr val="B23A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4981575" y="2376288"/>
            <a:ext cx="2228850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50" b="1">
                <a:solidFill>
                  <a:srgbClr val="2E2E2E"/>
                </a:solidFill>
                <a:latin typeface="Calibri"/>
              </a:rPr>
              <a:t>Intensity of Competition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5010150" y="2796123"/>
            <a:ext cx="2171700" cy="59324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5010150" y="3480637"/>
            <a:ext cx="2171700" cy="96744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5010150" y="4539352"/>
            <a:ext cx="2171700" cy="59324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8" name="Oval 37"/>
          <p:cNvSpPr/>
          <p:nvPr/>
        </p:nvSpPr>
        <p:spPr>
          <a:xfrm>
            <a:off x="8020050" y="1427096"/>
            <a:ext cx="914400" cy="876177"/>
          </a:xfrm>
          <a:prstGeom prst="ellipse">
            <a:avLst/>
          </a:prstGeom>
          <a:solidFill>
            <a:srgbClr val="C9C0E0"/>
          </a:solidFill>
          <a:ln w="12700">
            <a:solidFill>
              <a:srgbClr val="C9C0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ounded Rectangle 38"/>
          <p:cNvSpPr/>
          <p:nvPr/>
        </p:nvSpPr>
        <p:spPr>
          <a:xfrm>
            <a:off x="8382000" y="1637014"/>
            <a:ext cx="190500" cy="182537"/>
          </a:xfrm>
          <a:prstGeom prst="roundRect">
            <a:avLst>
              <a:gd name="adj" fmla="val 15000"/>
            </a:avLst>
          </a:prstGeom>
          <a:solidFill>
            <a:srgbClr val="C9C0E0"/>
          </a:solidFill>
          <a:ln w="27940">
            <a:solidFill>
              <a:srgbClr val="4A3F6B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ounded Rectangle 39"/>
          <p:cNvSpPr/>
          <p:nvPr/>
        </p:nvSpPr>
        <p:spPr>
          <a:xfrm>
            <a:off x="8248650" y="1874312"/>
            <a:ext cx="190500" cy="182537"/>
          </a:xfrm>
          <a:prstGeom prst="roundRect">
            <a:avLst>
              <a:gd name="adj" fmla="val 15000"/>
            </a:avLst>
          </a:prstGeom>
          <a:solidFill>
            <a:srgbClr val="C9C0E0"/>
          </a:solidFill>
          <a:ln w="27940">
            <a:solidFill>
              <a:srgbClr val="4A3F6B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ounded Rectangle 40"/>
          <p:cNvSpPr/>
          <p:nvPr/>
        </p:nvSpPr>
        <p:spPr>
          <a:xfrm>
            <a:off x="8515350" y="1874312"/>
            <a:ext cx="190500" cy="182537"/>
          </a:xfrm>
          <a:prstGeom prst="roundRect">
            <a:avLst>
              <a:gd name="adj" fmla="val 15000"/>
            </a:avLst>
          </a:prstGeom>
          <a:solidFill>
            <a:srgbClr val="C9C0E0"/>
          </a:solidFill>
          <a:ln w="27940">
            <a:solidFill>
              <a:srgbClr val="4A3F6B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7362825" y="2376288"/>
            <a:ext cx="2228850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50" b="1">
                <a:solidFill>
                  <a:srgbClr val="2E2E2E"/>
                </a:solidFill>
                <a:latin typeface="Calibri"/>
              </a:rPr>
              <a:t>Threat of Substitutes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7391400" y="2796123"/>
            <a:ext cx="2171700" cy="11499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7391400" y="4037375"/>
            <a:ext cx="2171700" cy="401581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7391400" y="4530225"/>
            <a:ext cx="2171700" cy="59324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6" name="Oval 45"/>
          <p:cNvSpPr/>
          <p:nvPr/>
        </p:nvSpPr>
        <p:spPr>
          <a:xfrm>
            <a:off x="10401300" y="1427096"/>
            <a:ext cx="914400" cy="876177"/>
          </a:xfrm>
          <a:prstGeom prst="ellipse">
            <a:avLst/>
          </a:prstGeom>
          <a:solidFill>
            <a:srgbClr val="BFDCEA"/>
          </a:solidFill>
          <a:ln w="12700">
            <a:solidFill>
              <a:srgbClr val="BFDC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Oval 46"/>
          <p:cNvSpPr/>
          <p:nvPr/>
        </p:nvSpPr>
        <p:spPr>
          <a:xfrm>
            <a:off x="10610850" y="1700902"/>
            <a:ext cx="114300" cy="109522"/>
          </a:xfrm>
          <a:prstGeom prst="ellipse">
            <a:avLst/>
          </a:prstGeom>
          <a:solidFill>
            <a:srgbClr val="5B7C99"/>
          </a:solidFill>
          <a:ln w="12700">
            <a:solidFill>
              <a:srgbClr val="5B7C9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Freeform 47"/>
          <p:cNvSpPr/>
          <p:nvPr/>
        </p:nvSpPr>
        <p:spPr>
          <a:xfrm>
            <a:off x="10563225" y="1837804"/>
            <a:ext cx="209550" cy="182537"/>
          </a:xfrm>
          <a:custGeom>
            <a:avLst/>
            <a:gdLst/>
            <a:ahLst/>
            <a:cxnLst/>
            <a:rect l="l" t="t" r="r" b="b"/>
            <a:pathLst>
              <a:path w="22" h="20">
                <a:moveTo>
                  <a:pt x="0" y="20"/>
                </a:moveTo>
                <a:lnTo>
                  <a:pt x="3" y="0"/>
                </a:lnTo>
                <a:lnTo>
                  <a:pt x="19" y="0"/>
                </a:lnTo>
                <a:lnTo>
                  <a:pt x="22" y="20"/>
                </a:lnTo>
                <a:close/>
              </a:path>
            </a:pathLst>
          </a:custGeom>
          <a:solidFill>
            <a:srgbClr val="5B7C9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Oval 48"/>
          <p:cNvSpPr/>
          <p:nvPr/>
        </p:nvSpPr>
        <p:spPr>
          <a:xfrm>
            <a:off x="10991850" y="1700902"/>
            <a:ext cx="114300" cy="109522"/>
          </a:xfrm>
          <a:prstGeom prst="ellipse">
            <a:avLst/>
          </a:prstGeom>
          <a:solidFill>
            <a:srgbClr val="5B7C99"/>
          </a:solidFill>
          <a:ln w="12700">
            <a:solidFill>
              <a:srgbClr val="5B7C9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Freeform 49"/>
          <p:cNvSpPr/>
          <p:nvPr/>
        </p:nvSpPr>
        <p:spPr>
          <a:xfrm>
            <a:off x="10944225" y="1837804"/>
            <a:ext cx="209550" cy="182537"/>
          </a:xfrm>
          <a:custGeom>
            <a:avLst/>
            <a:gdLst/>
            <a:ahLst/>
            <a:cxnLst/>
            <a:rect l="l" t="t" r="r" b="b"/>
            <a:pathLst>
              <a:path w="22" h="20">
                <a:moveTo>
                  <a:pt x="0" y="20"/>
                </a:moveTo>
                <a:lnTo>
                  <a:pt x="3" y="0"/>
                </a:lnTo>
                <a:lnTo>
                  <a:pt x="19" y="0"/>
                </a:lnTo>
                <a:lnTo>
                  <a:pt x="22" y="20"/>
                </a:lnTo>
                <a:close/>
              </a:path>
            </a:pathLst>
          </a:custGeom>
          <a:solidFill>
            <a:srgbClr val="5B7C9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Oval 50"/>
          <p:cNvSpPr/>
          <p:nvPr/>
        </p:nvSpPr>
        <p:spPr>
          <a:xfrm>
            <a:off x="10782300" y="1609633"/>
            <a:ext cx="152400" cy="146030"/>
          </a:xfrm>
          <a:prstGeom prst="ellipse">
            <a:avLst/>
          </a:prstGeom>
          <a:solidFill>
            <a:srgbClr val="5B7C99"/>
          </a:solidFill>
          <a:ln w="12700">
            <a:solidFill>
              <a:srgbClr val="5B7C9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Freeform 51"/>
          <p:cNvSpPr/>
          <p:nvPr/>
        </p:nvSpPr>
        <p:spPr>
          <a:xfrm>
            <a:off x="10715625" y="1783043"/>
            <a:ext cx="285750" cy="255552"/>
          </a:xfrm>
          <a:custGeom>
            <a:avLst/>
            <a:gdLst/>
            <a:ahLst/>
            <a:cxnLst/>
            <a:rect l="l" t="t" r="r" b="b"/>
            <a:pathLst>
              <a:path w="30" h="28">
                <a:moveTo>
                  <a:pt x="0" y="28"/>
                </a:moveTo>
                <a:lnTo>
                  <a:pt x="4" y="0"/>
                </a:lnTo>
                <a:lnTo>
                  <a:pt x="26" y="0"/>
                </a:lnTo>
                <a:lnTo>
                  <a:pt x="30" y="28"/>
                </a:lnTo>
                <a:close/>
              </a:path>
            </a:pathLst>
          </a:custGeom>
          <a:solidFill>
            <a:srgbClr val="5B7C9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TextBox 52"/>
          <p:cNvSpPr txBox="1"/>
          <p:nvPr/>
        </p:nvSpPr>
        <p:spPr>
          <a:xfrm>
            <a:off x="9744075" y="2376288"/>
            <a:ext cx="2228850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50" b="1">
                <a:solidFill>
                  <a:srgbClr val="2E2E2E"/>
                </a:solidFill>
                <a:latin typeface="Calibri"/>
              </a:rPr>
              <a:t>Threat of New Entrants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9772650" y="2796123"/>
            <a:ext cx="2171700" cy="77578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9772650" y="3663174"/>
            <a:ext cx="2171700" cy="77578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9772650" y="4530225"/>
            <a:ext cx="2171700" cy="77578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171450" y="1069470"/>
            <a:ext cx="1031004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6C7A89"/>
                </a:solidFill>
                <a:latin typeface="Calibri"/>
              </a:rPr>
              <a:t>Supplier power, buyer power, competitive intensity, substitution and entry barriers scored from the europe dataset 6 product type lines, 5 sales channels routes and 25 countries at</a:t>
            </a:r>
          </a:p>
        </p:txBody>
      </p:sp>
      <p:pic>
        <p:nvPicPr>
          <p:cNvPr id="59" name="Picture 5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429545" y="1059691"/>
            <a:ext cx="128699" cy="187198"/>
          </a:xfrm>
          <a:prstGeom prst="rect">
            <a:avLst/>
          </a:prstGeom>
        </p:spPr>
      </p:pic>
      <p:sp>
        <p:nvSpPr>
          <p:cNvPr id="60" name="TextBox 59"/>
          <p:cNvSpPr txBox="1"/>
          <p:nvPr/>
        </p:nvSpPr>
        <p:spPr>
          <a:xfrm>
            <a:off x="10597040" y="1069470"/>
            <a:ext cx="43061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6C7A89"/>
                </a:solidFill>
                <a:latin typeface="Calibri"/>
              </a:rPr>
              <a:t>CAGR.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276225" y="2848734"/>
            <a:ext cx="193268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▸ Assessed moderate. 'Germany'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276225" y="3016374"/>
            <a:ext cx="53950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supplies</a:t>
            </a:r>
          </a:p>
        </p:txBody>
      </p:sp>
      <p:pic>
        <p:nvPicPr>
          <p:cNvPr id="63" name="Picture 6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63778" y="3006595"/>
            <a:ext cx="128699" cy="187198"/>
          </a:xfrm>
          <a:prstGeom prst="rect">
            <a:avLst/>
          </a:prstGeom>
        </p:spPr>
      </p:pic>
      <p:sp>
        <p:nvSpPr>
          <p:cNvPr id="64" name="TextBox 63"/>
          <p:cNvSpPr txBox="1"/>
          <p:nvPr/>
        </p:nvSpPr>
        <p:spPr>
          <a:xfrm>
            <a:off x="931274" y="3016374"/>
            <a:ext cx="140744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2036 value across 25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276225" y="3184014"/>
            <a:ext cx="204073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countries, concentrating upstream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276225" y="3351654"/>
            <a:ext cx="5968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leverage.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276225" y="3799605"/>
            <a:ext cx="167616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▸ Average realisation moves</a:t>
            </a:r>
          </a:p>
        </p:txBody>
      </p:sp>
      <p:pic>
        <p:nvPicPr>
          <p:cNvPr id="68" name="Picture 6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00439" y="3789826"/>
            <a:ext cx="128699" cy="187198"/>
          </a:xfrm>
          <a:prstGeom prst="rect">
            <a:avLst/>
          </a:prstGeom>
        </p:spPr>
      </p:pic>
      <p:sp>
        <p:nvSpPr>
          <p:cNvPr id="69" name="TextBox 68"/>
          <p:cNvSpPr txBox="1"/>
          <p:nvPr/>
        </p:nvSpPr>
        <p:spPr>
          <a:xfrm>
            <a:off x="2067935" y="3799605"/>
            <a:ext cx="14304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276225" y="3967245"/>
            <a:ext cx="203118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year (2026–2036), indicating input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276225" y="4134885"/>
            <a:ext cx="187429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costs are being passed through.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2657475" y="2860746"/>
            <a:ext cx="17463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▸ Assessed moderate to high.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2657475" y="3028386"/>
            <a:ext cx="185464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Demand routes through 5 sales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2657475" y="3196026"/>
            <a:ext cx="148820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channels channels led by</a:t>
            </a:r>
          </a:p>
        </p:txBody>
      </p:sp>
      <p:sp>
        <p:nvSpPr>
          <p:cNvPr id="75" name="TextBox 74"/>
          <p:cNvSpPr txBox="1"/>
          <p:nvPr/>
        </p:nvSpPr>
        <p:spPr>
          <a:xfrm>
            <a:off x="2657475" y="3363666"/>
            <a:ext cx="99758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'E-commerce' at</a:t>
            </a:r>
          </a:p>
        </p:txBody>
      </p:sp>
      <p:pic>
        <p:nvPicPr>
          <p:cNvPr id="76" name="Picture 7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603116" y="3353887"/>
            <a:ext cx="128699" cy="187198"/>
          </a:xfrm>
          <a:prstGeom prst="rect">
            <a:avLst/>
          </a:prstGeom>
        </p:spPr>
      </p:pic>
      <p:sp>
        <p:nvSpPr>
          <p:cNvPr id="77" name="TextBox 76"/>
          <p:cNvSpPr txBox="1"/>
          <p:nvPr/>
        </p:nvSpPr>
        <p:spPr>
          <a:xfrm>
            <a:off x="3770612" y="3363666"/>
            <a:ext cx="78997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, giving large</a:t>
            </a:r>
          </a:p>
        </p:txBody>
      </p:sp>
      <p:sp>
        <p:nvSpPr>
          <p:cNvPr id="78" name="TextBox 77"/>
          <p:cNvSpPr txBox="1"/>
          <p:nvPr/>
        </p:nvSpPr>
        <p:spPr>
          <a:xfrm>
            <a:off x="2657475" y="3531306"/>
            <a:ext cx="80853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buyers scale.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2657475" y="3900000"/>
            <a:ext cx="206201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▸ Price sensitivity tracks realisation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2657475" y="4067640"/>
            <a:ext cx="49584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moving</a:t>
            </a:r>
          </a:p>
        </p:txBody>
      </p:sp>
      <p:pic>
        <p:nvPicPr>
          <p:cNvPr id="81" name="Picture 8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101372" y="4057861"/>
            <a:ext cx="128699" cy="187198"/>
          </a:xfrm>
          <a:prstGeom prst="rect">
            <a:avLst/>
          </a:prstGeom>
        </p:spPr>
      </p:pic>
      <p:sp>
        <p:nvSpPr>
          <p:cNvPr id="82" name="TextBox 81"/>
          <p:cNvSpPr txBox="1"/>
          <p:nvPr/>
        </p:nvSpPr>
        <p:spPr>
          <a:xfrm>
            <a:off x="3268868" y="4067640"/>
            <a:ext cx="131658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 year against volume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2657475" y="4235280"/>
            <a:ext cx="63254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growth of</a:t>
            </a:r>
          </a:p>
        </p:txBody>
      </p:sp>
      <p:pic>
        <p:nvPicPr>
          <p:cNvPr id="84" name="Picture 8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238070" y="4225501"/>
            <a:ext cx="128699" cy="187198"/>
          </a:xfrm>
          <a:prstGeom prst="rect">
            <a:avLst/>
          </a:prstGeom>
        </p:spPr>
      </p:pic>
      <p:sp>
        <p:nvSpPr>
          <p:cNvPr id="85" name="TextBox 84"/>
          <p:cNvSpPr txBox="1"/>
          <p:nvPr/>
        </p:nvSpPr>
        <p:spPr>
          <a:xfrm>
            <a:off x="3405566" y="4235280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  <p:sp>
        <p:nvSpPr>
          <p:cNvPr id="86" name="TextBox 85"/>
          <p:cNvSpPr txBox="1"/>
          <p:nvPr/>
        </p:nvSpPr>
        <p:spPr>
          <a:xfrm>
            <a:off x="5038725" y="2841285"/>
            <a:ext cx="21145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▸ Assessed high. 6 product type lines</a:t>
            </a:r>
          </a:p>
        </p:txBody>
      </p:sp>
      <p:sp>
        <p:nvSpPr>
          <p:cNvPr id="87" name="TextBox 86"/>
          <p:cNvSpPr txBox="1"/>
          <p:nvPr/>
        </p:nvSpPr>
        <p:spPr>
          <a:xfrm>
            <a:off x="5038725" y="3008925"/>
            <a:ext cx="195069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compete inside the segment; the</a:t>
            </a:r>
          </a:p>
        </p:txBody>
      </p:sp>
      <p:sp>
        <p:nvSpPr>
          <p:cNvPr id="88" name="TextBox 87"/>
          <p:cNvSpPr txBox="1"/>
          <p:nvPr/>
        </p:nvSpPr>
        <p:spPr>
          <a:xfrm>
            <a:off x="5038725" y="3176565"/>
            <a:ext cx="77551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leader holds</a:t>
            </a:r>
          </a:p>
        </p:txBody>
      </p:sp>
      <p:pic>
        <p:nvPicPr>
          <p:cNvPr id="89" name="Picture 8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762295" y="3166786"/>
            <a:ext cx="128699" cy="187198"/>
          </a:xfrm>
          <a:prstGeom prst="rect">
            <a:avLst/>
          </a:prstGeom>
        </p:spPr>
      </p:pic>
      <p:sp>
        <p:nvSpPr>
          <p:cNvPr id="90" name="TextBox 89"/>
          <p:cNvSpPr txBox="1"/>
          <p:nvPr/>
        </p:nvSpPr>
        <p:spPr>
          <a:xfrm>
            <a:off x="5929790" y="3176565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5038725" y="3629080"/>
            <a:ext cx="193404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▸ Growth is unevenly distributed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5038725" y="3796720"/>
            <a:ext cx="210948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'Shampoos &amp; Cleansing Products' at</a:t>
            </a:r>
          </a:p>
        </p:txBody>
      </p:sp>
      <p:pic>
        <p:nvPicPr>
          <p:cNvPr id="93" name="Picture 9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025257" y="3954581"/>
            <a:ext cx="128699" cy="187198"/>
          </a:xfrm>
          <a:prstGeom prst="rect">
            <a:avLst/>
          </a:prstGeom>
        </p:spPr>
      </p:pic>
      <p:sp>
        <p:nvSpPr>
          <p:cNvPr id="94" name="TextBox 93"/>
          <p:cNvSpPr txBox="1"/>
          <p:nvPr/>
        </p:nvSpPr>
        <p:spPr>
          <a:xfrm>
            <a:off x="5192753" y="3964360"/>
            <a:ext cx="169038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against 'Coat Conditioning &amp;</a:t>
            </a:r>
          </a:p>
        </p:txBody>
      </p:sp>
      <p:sp>
        <p:nvSpPr>
          <p:cNvPr id="95" name="TextBox 94"/>
          <p:cNvSpPr txBox="1"/>
          <p:nvPr/>
        </p:nvSpPr>
        <p:spPr>
          <a:xfrm>
            <a:off x="5038725" y="4132000"/>
            <a:ext cx="135369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Grooming Products' at</a:t>
            </a:r>
          </a:p>
        </p:txBody>
      </p:sp>
      <p:pic>
        <p:nvPicPr>
          <p:cNvPr id="96" name="Picture 9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340467" y="4122221"/>
            <a:ext cx="128699" cy="187198"/>
          </a:xfrm>
          <a:prstGeom prst="rect">
            <a:avLst/>
          </a:prstGeom>
        </p:spPr>
      </p:pic>
      <p:sp>
        <p:nvSpPr>
          <p:cNvPr id="97" name="TextBox 96"/>
          <p:cNvSpPr txBox="1"/>
          <p:nvPr/>
        </p:nvSpPr>
        <p:spPr>
          <a:xfrm>
            <a:off x="6507963" y="4132000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  <p:sp>
        <p:nvSpPr>
          <p:cNvPr id="98" name="TextBox 97"/>
          <p:cNvSpPr txBox="1"/>
          <p:nvPr/>
        </p:nvSpPr>
        <p:spPr>
          <a:xfrm>
            <a:off x="5038725" y="4584514"/>
            <a:ext cx="182490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▸ 14 of 25 countries grow at or</a:t>
            </a:r>
          </a:p>
        </p:txBody>
      </p:sp>
      <p:sp>
        <p:nvSpPr>
          <p:cNvPr id="99" name="TextBox 98"/>
          <p:cNvSpPr txBox="1"/>
          <p:nvPr/>
        </p:nvSpPr>
        <p:spPr>
          <a:xfrm>
            <a:off x="5038725" y="4752154"/>
            <a:ext cx="64427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above the</a:t>
            </a:r>
          </a:p>
        </p:txBody>
      </p:sp>
      <p:pic>
        <p:nvPicPr>
          <p:cNvPr id="100" name="Picture 9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631053" y="4742375"/>
            <a:ext cx="128699" cy="187198"/>
          </a:xfrm>
          <a:prstGeom prst="rect">
            <a:avLst/>
          </a:prstGeom>
        </p:spPr>
      </p:pic>
      <p:sp>
        <p:nvSpPr>
          <p:cNvPr id="101" name="TextBox 100"/>
          <p:cNvSpPr txBox="1"/>
          <p:nvPr/>
        </p:nvSpPr>
        <p:spPr>
          <a:xfrm>
            <a:off x="5798549" y="4752154"/>
            <a:ext cx="129830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market pace, keeping</a:t>
            </a:r>
          </a:p>
        </p:txBody>
      </p:sp>
      <p:sp>
        <p:nvSpPr>
          <p:cNvPr id="102" name="TextBox 101"/>
          <p:cNvSpPr txBox="1"/>
          <p:nvPr/>
        </p:nvSpPr>
        <p:spPr>
          <a:xfrm>
            <a:off x="5038725" y="4919794"/>
            <a:ext cx="102354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 contested.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7419975" y="2952014"/>
            <a:ext cx="21145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▸ Assessed low. 'Coat Conditioning &amp;</a:t>
            </a:r>
          </a:p>
        </p:txBody>
      </p:sp>
      <p:sp>
        <p:nvSpPr>
          <p:cNvPr id="104" name="TextBox 103"/>
          <p:cNvSpPr txBox="1"/>
          <p:nvPr/>
        </p:nvSpPr>
        <p:spPr>
          <a:xfrm>
            <a:off x="7419975" y="3119654"/>
            <a:ext cx="152449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Grooming Products' loses</a:t>
            </a:r>
          </a:p>
        </p:txBody>
      </p:sp>
      <p:pic>
        <p:nvPicPr>
          <p:cNvPr id="105" name="Picture 10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892522" y="3109875"/>
            <a:ext cx="128699" cy="187198"/>
          </a:xfrm>
          <a:prstGeom prst="rect">
            <a:avLst/>
          </a:prstGeom>
        </p:spPr>
      </p:pic>
      <p:sp>
        <p:nvSpPr>
          <p:cNvPr id="106" name="TextBox 105"/>
          <p:cNvSpPr txBox="1"/>
          <p:nvPr/>
        </p:nvSpPr>
        <p:spPr>
          <a:xfrm>
            <a:off x="9060018" y="3119654"/>
            <a:ext cx="43663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 of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7419975" y="3287294"/>
            <a:ext cx="189639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 to 'Shampoos &amp; Cleansing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7419975" y="3454934"/>
            <a:ext cx="75287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Products' (+</a:t>
            </a:r>
          </a:p>
        </p:txBody>
      </p:sp>
      <p:pic>
        <p:nvPicPr>
          <p:cNvPr id="109" name="Picture 10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120898" y="3445155"/>
            <a:ext cx="128699" cy="187198"/>
          </a:xfrm>
          <a:prstGeom prst="rect">
            <a:avLst/>
          </a:prstGeom>
        </p:spPr>
      </p:pic>
      <p:sp>
        <p:nvSpPr>
          <p:cNvPr id="110" name="TextBox 109"/>
          <p:cNvSpPr txBox="1"/>
          <p:nvPr/>
        </p:nvSpPr>
        <p:spPr>
          <a:xfrm>
            <a:off x="8288394" y="3454934"/>
            <a:ext cx="81480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BPS) by 2036</a:t>
            </a:r>
          </a:p>
        </p:txBody>
      </p:sp>
      <p:sp>
        <p:nvSpPr>
          <p:cNvPr id="111" name="TextBox 110"/>
          <p:cNvSpPr txBox="1"/>
          <p:nvPr/>
        </p:nvSpPr>
        <p:spPr>
          <a:xfrm>
            <a:off x="7419975" y="3622574"/>
            <a:ext cx="21145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substitution is visible inside the mix.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7419975" y="4077231"/>
            <a:ext cx="1550384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▸ The slowest line grows at</a:t>
            </a:r>
          </a:p>
        </p:txBody>
      </p:sp>
      <p:pic>
        <p:nvPicPr>
          <p:cNvPr id="113" name="Picture 11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917440" y="4067843"/>
            <a:ext cx="123551" cy="179710"/>
          </a:xfrm>
          <a:prstGeom prst="rect">
            <a:avLst/>
          </a:prstGeom>
        </p:spPr>
      </p:pic>
      <p:sp>
        <p:nvSpPr>
          <p:cNvPr id="114" name="TextBox 113"/>
          <p:cNvSpPr txBox="1"/>
          <p:nvPr/>
        </p:nvSpPr>
        <p:spPr>
          <a:xfrm>
            <a:off x="9078236" y="4077231"/>
            <a:ext cx="181236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, -</a:t>
            </a:r>
          </a:p>
        </p:txBody>
      </p:sp>
      <p:pic>
        <p:nvPicPr>
          <p:cNvPr id="115" name="Picture 1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206555" y="4067843"/>
            <a:ext cx="123551" cy="179710"/>
          </a:xfrm>
          <a:prstGeom prst="rect">
            <a:avLst/>
          </a:prstGeom>
        </p:spPr>
      </p:pic>
      <p:sp>
        <p:nvSpPr>
          <p:cNvPr id="116" name="TextBox 115"/>
          <p:cNvSpPr txBox="1"/>
          <p:nvPr/>
        </p:nvSpPr>
        <p:spPr>
          <a:xfrm>
            <a:off x="7419975" y="4238165"/>
            <a:ext cx="1368861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BPS against the market.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7419975" y="4575387"/>
            <a:ext cx="125437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▸ Realisation moving</a:t>
            </a:r>
          </a:p>
        </p:txBody>
      </p:sp>
      <p:pic>
        <p:nvPicPr>
          <p:cNvPr id="118" name="Picture 11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622399" y="4565608"/>
            <a:ext cx="128699" cy="187198"/>
          </a:xfrm>
          <a:prstGeom prst="rect">
            <a:avLst/>
          </a:prstGeom>
        </p:spPr>
      </p:pic>
      <p:sp>
        <p:nvSpPr>
          <p:cNvPr id="119" name="TextBox 118"/>
          <p:cNvSpPr txBox="1"/>
          <p:nvPr/>
        </p:nvSpPr>
        <p:spPr>
          <a:xfrm>
            <a:off x="8789895" y="4575387"/>
            <a:ext cx="42326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 year</a:t>
            </a:r>
          </a:p>
        </p:txBody>
      </p:sp>
      <p:sp>
        <p:nvSpPr>
          <p:cNvPr id="120" name="TextBox 119"/>
          <p:cNvSpPr txBox="1"/>
          <p:nvPr/>
        </p:nvSpPr>
        <p:spPr>
          <a:xfrm>
            <a:off x="7419975" y="4743027"/>
            <a:ext cx="191139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widens the price gap substitutes</a:t>
            </a:r>
          </a:p>
        </p:txBody>
      </p:sp>
      <p:sp>
        <p:nvSpPr>
          <p:cNvPr id="121" name="TextBox 120"/>
          <p:cNvSpPr txBox="1"/>
          <p:nvPr/>
        </p:nvSpPr>
        <p:spPr>
          <a:xfrm>
            <a:off x="7419975" y="4910667"/>
            <a:ext cx="7187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must close.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9801225" y="2932554"/>
            <a:ext cx="205819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▸ Assessed high. The market grows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9801225" y="3100194"/>
            <a:ext cx="18997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at</a:t>
            </a:r>
          </a:p>
        </p:txBody>
      </p:sp>
      <p:pic>
        <p:nvPicPr>
          <p:cNvPr id="124" name="Picture 1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939255" y="3090415"/>
            <a:ext cx="128699" cy="187198"/>
          </a:xfrm>
          <a:prstGeom prst="rect">
            <a:avLst/>
          </a:prstGeom>
        </p:spPr>
      </p:pic>
      <p:sp>
        <p:nvSpPr>
          <p:cNvPr id="125" name="TextBox 124"/>
          <p:cNvSpPr txBox="1"/>
          <p:nvPr/>
        </p:nvSpPr>
        <p:spPr>
          <a:xfrm>
            <a:off x="10106751" y="3100194"/>
            <a:ext cx="94057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and adds</a:t>
            </a:r>
          </a:p>
        </p:txBody>
      </p:sp>
      <p:pic>
        <p:nvPicPr>
          <p:cNvPr id="126" name="Picture 12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995379" y="3090415"/>
            <a:ext cx="128699" cy="187198"/>
          </a:xfrm>
          <a:prstGeom prst="rect">
            <a:avLst/>
          </a:prstGeom>
        </p:spPr>
      </p:pic>
      <p:sp>
        <p:nvSpPr>
          <p:cNvPr id="127" name="TextBox 126"/>
          <p:cNvSpPr txBox="1"/>
          <p:nvPr/>
        </p:nvSpPr>
        <p:spPr>
          <a:xfrm>
            <a:off x="11162875" y="3100194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128" name="TextBox 127"/>
          <p:cNvSpPr txBox="1"/>
          <p:nvPr/>
        </p:nvSpPr>
        <p:spPr>
          <a:xfrm>
            <a:off x="9801225" y="3267834"/>
            <a:ext cx="151767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by 2036, attracting entry.</a:t>
            </a:r>
          </a:p>
        </p:txBody>
      </p:sp>
      <p:sp>
        <p:nvSpPr>
          <p:cNvPr id="129" name="TextBox 128"/>
          <p:cNvSpPr txBox="1"/>
          <p:nvPr/>
        </p:nvSpPr>
        <p:spPr>
          <a:xfrm>
            <a:off x="9801225" y="3799605"/>
            <a:ext cx="21145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▸ Demand spreads over 25 countries</a:t>
            </a:r>
          </a:p>
        </p:txBody>
      </p:sp>
      <p:sp>
        <p:nvSpPr>
          <p:cNvPr id="130" name="TextBox 129"/>
          <p:cNvSpPr txBox="1"/>
          <p:nvPr/>
        </p:nvSpPr>
        <p:spPr>
          <a:xfrm>
            <a:off x="9801225" y="3967245"/>
            <a:ext cx="149311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with no single one above</a:t>
            </a:r>
          </a:p>
        </p:txBody>
      </p:sp>
      <p:pic>
        <p:nvPicPr>
          <p:cNvPr id="131" name="Picture 13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242394" y="3957466"/>
            <a:ext cx="128699" cy="187198"/>
          </a:xfrm>
          <a:prstGeom prst="rect">
            <a:avLst/>
          </a:prstGeom>
        </p:spPr>
      </p:pic>
      <p:sp>
        <p:nvSpPr>
          <p:cNvPr id="132" name="TextBox 131"/>
          <p:cNvSpPr txBox="1"/>
          <p:nvPr/>
        </p:nvSpPr>
        <p:spPr>
          <a:xfrm>
            <a:off x="11409890" y="3967245"/>
            <a:ext cx="27101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, so</a:t>
            </a:r>
          </a:p>
        </p:txBody>
      </p:sp>
      <p:sp>
        <p:nvSpPr>
          <p:cNvPr id="133" name="TextBox 132"/>
          <p:cNvSpPr txBox="1"/>
          <p:nvPr/>
        </p:nvSpPr>
        <p:spPr>
          <a:xfrm>
            <a:off x="9801225" y="4134885"/>
            <a:ext cx="149857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regional entry is feasible.</a:t>
            </a:r>
          </a:p>
        </p:txBody>
      </p:sp>
      <p:sp>
        <p:nvSpPr>
          <p:cNvPr id="134" name="TextBox 133"/>
          <p:cNvSpPr txBox="1"/>
          <p:nvPr/>
        </p:nvSpPr>
        <p:spPr>
          <a:xfrm>
            <a:off x="9801225" y="4582836"/>
            <a:ext cx="210648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▸ Incumbent scale in 'Germany' and</a:t>
            </a:r>
          </a:p>
        </p:txBody>
      </p:sp>
      <p:sp>
        <p:nvSpPr>
          <p:cNvPr id="135" name="TextBox 134"/>
          <p:cNvSpPr txBox="1"/>
          <p:nvPr/>
        </p:nvSpPr>
        <p:spPr>
          <a:xfrm>
            <a:off x="9801225" y="4750476"/>
            <a:ext cx="196405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'Shampoos &amp; Cleansing Products'</a:t>
            </a:r>
          </a:p>
        </p:txBody>
      </p:sp>
      <p:sp>
        <p:nvSpPr>
          <p:cNvPr id="136" name="TextBox 135"/>
          <p:cNvSpPr txBox="1"/>
          <p:nvPr/>
        </p:nvSpPr>
        <p:spPr>
          <a:xfrm>
            <a:off x="9801225" y="4918116"/>
            <a:ext cx="11849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(</a:t>
            </a:r>
          </a:p>
        </p:txBody>
      </p:sp>
      <p:pic>
        <p:nvPicPr>
          <p:cNvPr id="137" name="Picture 1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867768" y="4908336"/>
            <a:ext cx="128699" cy="187198"/>
          </a:xfrm>
          <a:prstGeom prst="rect">
            <a:avLst/>
          </a:prstGeom>
        </p:spPr>
      </p:pic>
      <p:sp>
        <p:nvSpPr>
          <p:cNvPr id="138" name="TextBox 137"/>
          <p:cNvSpPr txBox="1"/>
          <p:nvPr/>
        </p:nvSpPr>
        <p:spPr>
          <a:xfrm>
            <a:off x="10035264" y="4918116"/>
            <a:ext cx="146801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segment) remains the</a:t>
            </a:r>
          </a:p>
        </p:txBody>
      </p:sp>
      <p:sp>
        <p:nvSpPr>
          <p:cNvPr id="139" name="TextBox 138"/>
          <p:cNvSpPr txBox="1"/>
          <p:nvPr/>
        </p:nvSpPr>
        <p:spPr>
          <a:xfrm>
            <a:off x="9801225" y="5085756"/>
            <a:ext cx="102326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principal barrier.</a:t>
            </a:r>
          </a:p>
        </p:txBody>
      </p:sp>
    </p:spTree>
  </p:cSld>
  <p:clrMapOvr>
    <a:masterClrMapping/>
  </p:clrMapOvr>
</p:sld>
</file>

<file path=ppt/slides/slide22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A2A63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FMI Section Breaker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0A2A63"/>
              </a:gs>
              <a:gs pos="100000">
                <a:srgbClr val="0F3F8F"/>
              </a:gs>
            </a:gsLst>
            <a:lin scaled="0" ang="195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399064" y="525547"/>
            <a:ext cx="1340395" cy="823424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4" name="Picture 3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5" name="TextBox 4"/>
          <p:cNvSpPr txBox="1"/>
          <p:nvPr/>
        </p:nvSpPr>
        <p:spPr>
          <a:xfrm>
            <a:off x="914400" y="3000375"/>
            <a:ext cx="7239000" cy="24765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400" b="0">
                <a:solidFill>
                  <a:srgbClr val="8FC8F2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6" name="FMI Breaker Title"/>
          <p:cNvSpPr txBox="1"/>
          <p:nvPr/>
        </p:nvSpPr>
        <p:spPr>
          <a:xfrm>
            <a:off x="914400" y="3305175"/>
            <a:ext cx="72390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 cap="all" spc="400">
                <a:solidFill>
                  <a:srgbClr val="FFFFFF"/>
                </a:solidFill>
                <a:latin typeface="Calibri"/>
              </a:rPr>
              <a:t>Competition Assessment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914400" y="4010025"/>
            <a:ext cx="71247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</a:t>
            </a:r>
            <a:r>
              <a:rPr sz="2000" b="0">
                <a:solidFill>
                  <a:srgbClr val="FFD447"/>
                </a:solidFill>
                <a:latin typeface="Calibri"/>
              </a:rPr>
              <a:t>Competitive Landscape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</a:t>
            </a:r>
            <a:r>
              <a:rPr sz="2000" b="0">
                <a:solidFill>
                  <a:srgbClr val="FFD447"/>
                </a:solidFill>
                <a:latin typeface="Calibri"/>
              </a:rPr>
              <a:t>Market Share by Leading Players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</a:t>
            </a:r>
            <a:r>
              <a:rPr sz="2000" b="0">
                <a:solidFill>
                  <a:srgbClr val="FFD447"/>
                </a:solidFill>
                <a:latin typeface="Calibri"/>
              </a:rPr>
              <a:t>Company Profiles &amp; Strategic Benchmarking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4000500" y="6734175"/>
            <a:ext cx="8020050" cy="123825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r"/>
            <a:r>
              <a:rPr sz="700" b="0">
                <a:solidFill>
                  <a:srgbClr val="C9DCEE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2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15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Competitive Landscape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Pipeline Assessment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Strategic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Competition Dashboard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3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Competitive Landscape at a Glance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Market concentration, segment leadership and the moves that will shift share, 2026–2036, in one page</a:t>
            </a:r>
          </a:p>
        </p:txBody>
      </p:sp>
      <p:cxnSp>
        <p:nvCxnSpPr>
          <p:cNvPr id="10" name="Connector 9"/>
          <p:cNvCxnSpPr/>
          <p:nvPr/>
        </p:nvCxnSpPr>
        <p:spPr>
          <a:xfrm>
            <a:off x="190500" y="1047750"/>
            <a:ext cx="11811000" cy="0"/>
          </a:xfrm>
          <a:prstGeom prst="line">
            <a:avLst/>
          </a:prstGeom>
          <a:ln w="19050">
            <a:solidFill>
              <a:srgbClr val="0F2D52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" name="TextBox 10"/>
          <p:cNvSpPr txBox="1"/>
          <p:nvPr/>
        </p:nvSpPr>
        <p:spPr>
          <a:xfrm>
            <a:off x="247650" y="1104900"/>
            <a:ext cx="1381125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Top 3 share, 2026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247650" y="1295400"/>
            <a:ext cx="1381125" cy="4000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E87722"/>
                </a:solidFill>
                <a:latin typeface="Calibri"/>
              </a:rPr>
              <a:t> </a:t>
            </a:r>
          </a:p>
        </p:txBody>
      </p:sp>
      <p:cxnSp>
        <p:nvCxnSpPr>
          <p:cNvPr id="13" name="Connector 12"/>
          <p:cNvCxnSpPr/>
          <p:nvPr/>
        </p:nvCxnSpPr>
        <p:spPr>
          <a:xfrm>
            <a:off x="1666875" y="1123950"/>
            <a:ext cx="0" cy="47625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" name="TextBox 13"/>
          <p:cNvSpPr txBox="1"/>
          <p:nvPr/>
        </p:nvSpPr>
        <p:spPr>
          <a:xfrm>
            <a:off x="1724025" y="1104900"/>
            <a:ext cx="1381125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Top 5 share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724025" y="1295400"/>
            <a:ext cx="1381125" cy="4000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 </a:t>
            </a:r>
          </a:p>
        </p:txBody>
      </p:sp>
      <p:cxnSp>
        <p:nvCxnSpPr>
          <p:cNvPr id="16" name="Connector 15"/>
          <p:cNvCxnSpPr/>
          <p:nvPr/>
        </p:nvCxnSpPr>
        <p:spPr>
          <a:xfrm>
            <a:off x="3143250" y="1123950"/>
            <a:ext cx="0" cy="47625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" name="TextBox 16"/>
          <p:cNvSpPr txBox="1"/>
          <p:nvPr/>
        </p:nvSpPr>
        <p:spPr>
          <a:xfrm>
            <a:off x="3200400" y="1104900"/>
            <a:ext cx="1381125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Top 3 product types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3200400" y="1295400"/>
            <a:ext cx="1381125" cy="4000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 </a:t>
            </a:r>
          </a:p>
        </p:txBody>
      </p:sp>
      <p:cxnSp>
        <p:nvCxnSpPr>
          <p:cNvPr id="19" name="Connector 18"/>
          <p:cNvCxnSpPr/>
          <p:nvPr/>
        </p:nvCxnSpPr>
        <p:spPr>
          <a:xfrm>
            <a:off x="4619625" y="1123950"/>
            <a:ext cx="0" cy="47625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" name="TextBox 19"/>
          <p:cNvSpPr txBox="1"/>
          <p:nvPr/>
        </p:nvSpPr>
        <p:spPr>
          <a:xfrm>
            <a:off x="4676775" y="1104900"/>
            <a:ext cx="1381125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Largest end use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676775" y="1295400"/>
            <a:ext cx="1381125" cy="4000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/>
            </a:r>
          </a:p>
        </p:txBody>
      </p:sp>
      <p:cxnSp>
        <p:nvCxnSpPr>
          <p:cNvPr id="22" name="Connector 21"/>
          <p:cNvCxnSpPr/>
          <p:nvPr/>
        </p:nvCxnSpPr>
        <p:spPr>
          <a:xfrm>
            <a:off x="6096000" y="1123950"/>
            <a:ext cx="0" cy="47625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3" name="TextBox 22"/>
          <p:cNvSpPr txBox="1"/>
          <p:nvPr/>
        </p:nvSpPr>
        <p:spPr>
          <a:xfrm>
            <a:off x="6153150" y="1104900"/>
            <a:ext cx="1381125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Named competitors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153150" y="1295400"/>
            <a:ext cx="1381125" cy="4000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10</a:t>
            </a:r>
          </a:p>
        </p:txBody>
      </p:sp>
      <p:cxnSp>
        <p:nvCxnSpPr>
          <p:cNvPr id="25" name="Connector 24"/>
          <p:cNvCxnSpPr/>
          <p:nvPr/>
        </p:nvCxnSpPr>
        <p:spPr>
          <a:xfrm>
            <a:off x="7572375" y="1123950"/>
            <a:ext cx="0" cy="47625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6" name="TextBox 25"/>
          <p:cNvSpPr txBox="1"/>
          <p:nvPr/>
        </p:nvSpPr>
        <p:spPr>
          <a:xfrm>
            <a:off x="7629525" y="1104900"/>
            <a:ext cx="1381125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Moves tracked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7629525" y="1295400"/>
            <a:ext cx="1381125" cy="4000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50</a:t>
            </a:r>
          </a:p>
        </p:txBody>
      </p:sp>
      <p:cxnSp>
        <p:nvCxnSpPr>
          <p:cNvPr id="28" name="Connector 27"/>
          <p:cNvCxnSpPr/>
          <p:nvPr/>
        </p:nvCxnSpPr>
        <p:spPr>
          <a:xfrm>
            <a:off x="9048750" y="1123950"/>
            <a:ext cx="0" cy="47625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9" name="TextBox 28"/>
          <p:cNvSpPr txBox="1"/>
          <p:nvPr/>
        </p:nvSpPr>
        <p:spPr>
          <a:xfrm>
            <a:off x="9105900" y="1104900"/>
            <a:ext cx="1381125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Largest player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9105900" y="1295400"/>
            <a:ext cx="1381125" cy="4000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Beaphar</a:t>
            </a:r>
          </a:p>
        </p:txBody>
      </p:sp>
      <p:cxnSp>
        <p:nvCxnSpPr>
          <p:cNvPr id="31" name="Connector 30"/>
          <p:cNvCxnSpPr/>
          <p:nvPr/>
        </p:nvCxnSpPr>
        <p:spPr>
          <a:xfrm>
            <a:off x="10525125" y="1123950"/>
            <a:ext cx="0" cy="47625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2" name="TextBox 31"/>
          <p:cNvSpPr txBox="1"/>
          <p:nvPr/>
        </p:nvSpPr>
        <p:spPr>
          <a:xfrm>
            <a:off x="10582275" y="1104900"/>
            <a:ext cx="1381125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CAGR 2026–2036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10582275" y="1295400"/>
            <a:ext cx="1381125" cy="4000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 </a:t>
            </a:r>
          </a:p>
        </p:txBody>
      </p:sp>
      <p:cxnSp>
        <p:nvCxnSpPr>
          <p:cNvPr id="34" name="Connector 33"/>
          <p:cNvCxnSpPr/>
          <p:nvPr/>
        </p:nvCxnSpPr>
        <p:spPr>
          <a:xfrm>
            <a:off x="190500" y="1733550"/>
            <a:ext cx="11811000" cy="0"/>
          </a:xfrm>
          <a:prstGeom prst="line">
            <a:avLst/>
          </a:prstGeom>
          <a:ln w="19050">
            <a:solidFill>
              <a:srgbClr val="0F2D52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5" name="Rectangle 34"/>
          <p:cNvSpPr/>
          <p:nvPr/>
        </p:nvSpPr>
        <p:spPr>
          <a:xfrm>
            <a:off x="190500" y="1924050"/>
            <a:ext cx="209550" cy="2095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190500" y="1924050"/>
            <a:ext cx="209550" cy="2095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495300" y="1905000"/>
            <a:ext cx="5410200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Leadership is concentrated in value, spread in capability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495300" y="2114550"/>
            <a:ext cx="5410200" cy="7620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/>
            </a:r>
          </a:p>
        </p:txBody>
      </p:sp>
      <p:sp>
        <p:nvSpPr>
          <p:cNvPr id="39" name="Rectangle 38"/>
          <p:cNvSpPr/>
          <p:nvPr/>
        </p:nvSpPr>
        <p:spPr>
          <a:xfrm>
            <a:off x="190500" y="3028950"/>
            <a:ext cx="209550" cy="2095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190500" y="3028950"/>
            <a:ext cx="209550" cy="2095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495300" y="3009900"/>
            <a:ext cx="5410200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The tier structure is steep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495300" y="3219450"/>
            <a:ext cx="5410200" cy="7620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/>
            </a:r>
          </a:p>
        </p:txBody>
      </p:sp>
      <p:sp>
        <p:nvSpPr>
          <p:cNvPr id="43" name="Rectangle 42"/>
          <p:cNvSpPr/>
          <p:nvPr/>
        </p:nvSpPr>
        <p:spPr>
          <a:xfrm>
            <a:off x="190500" y="4133850"/>
            <a:ext cx="209550" cy="2095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90500" y="4133850"/>
            <a:ext cx="209550" cy="2095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495300" y="4114800"/>
            <a:ext cx="5410200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Growth is shifting inside the product mix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495300" y="4324350"/>
            <a:ext cx="5410200" cy="7620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/>
            </a:r>
          </a:p>
        </p:txBody>
      </p:sp>
      <p:sp>
        <p:nvSpPr>
          <p:cNvPr id="47" name="Rectangle 46"/>
          <p:cNvSpPr/>
          <p:nvPr/>
        </p:nvSpPr>
        <p:spPr>
          <a:xfrm>
            <a:off x="6286500" y="1924050"/>
            <a:ext cx="209550" cy="2095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286500" y="1924050"/>
            <a:ext cx="209550" cy="2095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4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6591300" y="1905000"/>
            <a:ext cx="5410200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Reach divides the field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6591300" y="2114550"/>
            <a:ext cx="5410200" cy="7620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4 players compete globally, 2 regionally and 4 in one market or niche.</a:t>
            </a:r>
          </a:p>
        </p:txBody>
      </p:sp>
      <p:sp>
        <p:nvSpPr>
          <p:cNvPr id="51" name="Rectangle 50"/>
          <p:cNvSpPr/>
          <p:nvPr/>
        </p:nvSpPr>
        <p:spPr>
          <a:xfrm>
            <a:off x="6286500" y="3028950"/>
            <a:ext cx="209550" cy="2095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6286500" y="3028950"/>
            <a:ext cx="209550" cy="2095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5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6591300" y="3009900"/>
            <a:ext cx="5410200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Consolidation is an active lever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6591300" y="3219450"/>
            <a:ext cx="5410200" cy="7620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Acquisition is an active strategy at 5 of 10 named players; the independent target list is shrinking.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286500" y="4133850"/>
            <a:ext cx="209550" cy="2095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286500" y="4133850"/>
            <a:ext cx="209550" cy="2095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6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6591300" y="4114800"/>
            <a:ext cx="5410200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Success factors, in order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6591300" y="4324350"/>
            <a:ext cx="5410200" cy="7620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1 segment breadth, 2 scale and share, 3 geographic reach, 4 innovation pipeline, 5 strategic momentum.  Ranking leads: Laboratoire Biogance, Beaphar, Laboratoire Francodex.</a:t>
            </a:r>
          </a:p>
        </p:txBody>
      </p:sp>
      <p:cxnSp>
        <p:nvCxnSpPr>
          <p:cNvPr id="59" name="Connector 58"/>
          <p:cNvCxnSpPr/>
          <p:nvPr/>
        </p:nvCxnSpPr>
        <p:spPr>
          <a:xfrm>
            <a:off x="190500" y="5219700"/>
            <a:ext cx="11811000" cy="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0" name="TextBox 59"/>
          <p:cNvSpPr txBox="1"/>
          <p:nvPr/>
        </p:nvSpPr>
        <p:spPr>
          <a:xfrm>
            <a:off x="190500" y="5276850"/>
            <a:ext cx="381000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HOW THIS SECTION IS BUILT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190500" y="5448300"/>
            <a:ext cx="11811000" cy="571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Pages 2 to 4 show where the market is and who plays.  Pages 5 to 7 rate every named company on twenty Ps (who they are, what they sell, how they win); a cell reads n/a where no evidence exists.  Page 8 turns the pattern into five success factors and a ranking.  Pages 9 and 10 list what each player is doing and what each of your departments should do about it.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63" name="Picture 6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73863" y="1401826"/>
            <a:ext cx="128699" cy="187198"/>
          </a:xfrm>
          <a:prstGeom prst="rect">
            <a:avLst/>
          </a:prstGeom>
        </p:spPr>
      </p:pic>
      <p:pic>
        <p:nvPicPr>
          <p:cNvPr id="64" name="Picture 6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350238" y="1401826"/>
            <a:ext cx="128699" cy="187198"/>
          </a:xfrm>
          <a:prstGeom prst="rect">
            <a:avLst/>
          </a:prstGeom>
        </p:spPr>
      </p:pic>
      <p:pic>
        <p:nvPicPr>
          <p:cNvPr id="65" name="Picture 6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826613" y="1401826"/>
            <a:ext cx="128699" cy="187198"/>
          </a:xfrm>
          <a:prstGeom prst="rect">
            <a:avLst/>
          </a:prstGeom>
        </p:spPr>
      </p:pic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208488" y="1401826"/>
            <a:ext cx="128699" cy="187198"/>
          </a:xfrm>
          <a:prstGeom prst="rect">
            <a:avLst/>
          </a:prstGeom>
        </p:spPr>
      </p:pic>
      <p:sp>
        <p:nvSpPr>
          <p:cNvPr id="67" name="TextBox 66"/>
          <p:cNvSpPr txBox="1"/>
          <p:nvPr/>
        </p:nvSpPr>
        <p:spPr>
          <a:xfrm>
            <a:off x="4705350" y="1304925"/>
            <a:ext cx="1180790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1">
                <a:solidFill>
                  <a:srgbClr val="0F2D52"/>
                </a:solidFill>
                <a:latin typeface="Calibri"/>
              </a:rPr>
              <a:t>Pet Specialty Retail,</a:t>
            </a:r>
          </a:p>
        </p:txBody>
      </p:sp>
      <p:pic>
        <p:nvPicPr>
          <p:cNvPr id="68" name="Picture 6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92421" y="1456471"/>
            <a:ext cx="123551" cy="179710"/>
          </a:xfrm>
          <a:prstGeom prst="rect">
            <a:avLst/>
          </a:prstGeom>
        </p:spPr>
      </p:pic>
      <p:sp>
        <p:nvSpPr>
          <p:cNvPr id="69" name="TextBox 68"/>
          <p:cNvSpPr txBox="1"/>
          <p:nvPr/>
        </p:nvSpPr>
        <p:spPr>
          <a:xfrm>
            <a:off x="523875" y="2124075"/>
            <a:ext cx="113731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The top three hold</a:t>
            </a:r>
          </a:p>
        </p:txBody>
      </p:sp>
      <p:pic>
        <p:nvPicPr>
          <p:cNvPr id="70" name="Picture 6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09246" y="2114296"/>
            <a:ext cx="128699" cy="187198"/>
          </a:xfrm>
          <a:prstGeom prst="rect">
            <a:avLst/>
          </a:prstGeom>
        </p:spPr>
      </p:pic>
      <p:sp>
        <p:nvSpPr>
          <p:cNvPr id="71" name="TextBox 70"/>
          <p:cNvSpPr txBox="1"/>
          <p:nvPr/>
        </p:nvSpPr>
        <p:spPr>
          <a:xfrm>
            <a:off x="1776742" y="2124075"/>
            <a:ext cx="394932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of 2026 value, but 3 companies lead the 8 sub-segments tracked; no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523875" y="2291715"/>
            <a:ext cx="138643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one leads more than 5.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523875" y="3228975"/>
            <a:ext cx="136405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Tier 1 (4 players) holds</a:t>
            </a:r>
          </a:p>
        </p:txBody>
      </p:sp>
      <p:pic>
        <p:nvPicPr>
          <p:cNvPr id="74" name="Picture 7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835985" y="3219196"/>
            <a:ext cx="128699" cy="187198"/>
          </a:xfrm>
          <a:prstGeom prst="rect">
            <a:avLst/>
          </a:prstGeom>
        </p:spPr>
      </p:pic>
      <p:sp>
        <p:nvSpPr>
          <p:cNvPr id="75" name="TextBox 74"/>
          <p:cNvSpPr txBox="1"/>
          <p:nvPr/>
        </p:nvSpPr>
        <p:spPr>
          <a:xfrm>
            <a:off x="2003481" y="3228975"/>
            <a:ext cx="187565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; Tier 2 and Tier 3 together hold</a:t>
            </a:r>
          </a:p>
        </p:txBody>
      </p:sp>
      <p:pic>
        <p:nvPicPr>
          <p:cNvPr id="76" name="Picture 7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827189" y="3219196"/>
            <a:ext cx="128699" cy="187198"/>
          </a:xfrm>
          <a:prstGeom prst="rect">
            <a:avLst/>
          </a:prstGeom>
        </p:spPr>
      </p:pic>
      <p:sp>
        <p:nvSpPr>
          <p:cNvPr id="77" name="TextBox 76"/>
          <p:cNvSpPr txBox="1"/>
          <p:nvPr/>
        </p:nvSpPr>
        <p:spPr>
          <a:xfrm>
            <a:off x="3994685" y="3228975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.</a:t>
            </a:r>
          </a:p>
        </p:txBody>
      </p:sp>
      <p:sp>
        <p:nvSpPr>
          <p:cNvPr id="78" name="TextBox 77"/>
          <p:cNvSpPr txBox="1"/>
          <p:nvPr/>
        </p:nvSpPr>
        <p:spPr>
          <a:xfrm>
            <a:off x="523875" y="4333875"/>
            <a:ext cx="491631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'Shampoos &amp; Cleansing Products' is the largest line; 'Shampoos &amp; Cleansing Products'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523875" y="4501515"/>
            <a:ext cx="130157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compounds fastest at</a:t>
            </a:r>
          </a:p>
        </p:txBody>
      </p:sp>
      <p:pic>
        <p:nvPicPr>
          <p:cNvPr id="80" name="Picture 7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73502" y="4491736"/>
            <a:ext cx="128699" cy="187198"/>
          </a:xfrm>
          <a:prstGeom prst="rect">
            <a:avLst/>
          </a:prstGeom>
        </p:spPr>
      </p:pic>
      <p:sp>
        <p:nvSpPr>
          <p:cNvPr id="81" name="TextBox 80"/>
          <p:cNvSpPr txBox="1"/>
          <p:nvPr/>
        </p:nvSpPr>
        <p:spPr>
          <a:xfrm>
            <a:off x="1940998" y="4501515"/>
            <a:ext cx="43061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CAGR.</a:t>
            </a:r>
          </a:p>
        </p:txBody>
      </p:sp>
    </p:spTree>
  </p:cSld>
  <p:clrMapOvr>
    <a:masterClrMapping/>
  </p:clrMapOvr>
</p:sld>
</file>

<file path=ppt/slides/slide23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Segment Leadership Map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Share by player group and which named player leads or is active in each sub-segment, 2026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90500" y="1047750"/>
            <a:ext cx="57150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Who holds the market, 2026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90500" y="1257300"/>
            <a:ext cx="4509884" cy="266700"/>
          </a:xfrm>
          <a:prstGeom prst="rect">
            <a:avLst/>
          </a:prstGeom>
          <a:solidFill>
            <a:srgbClr val="0F2D52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47650" y="1257300"/>
            <a:ext cx="4433684" cy="2667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13" name="Rectangle 12"/>
          <p:cNvSpPr/>
          <p:nvPr/>
        </p:nvSpPr>
        <p:spPr>
          <a:xfrm>
            <a:off x="4700384" y="1257300"/>
            <a:ext cx="1536162" cy="266700"/>
          </a:xfrm>
          <a:prstGeom prst="rect">
            <a:avLst/>
          </a:prstGeom>
          <a:solidFill>
            <a:srgbClr val="1F6FA8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4757534" y="1257300"/>
            <a:ext cx="1459962" cy="2667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15" name="Rectangle 14"/>
          <p:cNvSpPr/>
          <p:nvPr/>
        </p:nvSpPr>
        <p:spPr>
          <a:xfrm>
            <a:off x="6236546" y="1257300"/>
            <a:ext cx="2242416" cy="266700"/>
          </a:xfrm>
          <a:prstGeom prst="rect">
            <a:avLst/>
          </a:prstGeom>
          <a:solidFill>
            <a:srgbClr val="6FA0CF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6293696" y="1257300"/>
            <a:ext cx="2166216" cy="2667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17" name="Rectangle 16"/>
          <p:cNvSpPr/>
          <p:nvPr/>
        </p:nvSpPr>
        <p:spPr>
          <a:xfrm>
            <a:off x="8478962" y="1257300"/>
            <a:ext cx="3522538" cy="266700"/>
          </a:xfrm>
          <a:prstGeom prst="rect">
            <a:avLst/>
          </a:prstGeom>
          <a:solidFill>
            <a:srgbClr val="A9C6E3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8536112" y="1257300"/>
            <a:ext cx="3446338" cy="2667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/>
            </a:r>
          </a:p>
        </p:txBody>
      </p:sp>
      <p:sp>
        <p:nvSpPr>
          <p:cNvPr id="19" name="Rectangle 18"/>
          <p:cNvSpPr/>
          <p:nvPr/>
        </p:nvSpPr>
        <p:spPr>
          <a:xfrm>
            <a:off x="190500" y="1600200"/>
            <a:ext cx="85725" cy="85725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314325" y="1543050"/>
            <a:ext cx="276225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Beaphar, Laboratoire Biogance, Laboratoire Francodex</a:t>
            </a:r>
          </a:p>
        </p:txBody>
      </p:sp>
      <p:sp>
        <p:nvSpPr>
          <p:cNvPr id="21" name="Rectangle 20"/>
          <p:cNvSpPr/>
          <p:nvPr/>
        </p:nvSpPr>
        <p:spPr>
          <a:xfrm>
            <a:off x="3143250" y="1600200"/>
            <a:ext cx="85725" cy="85725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3267075" y="1543050"/>
            <a:ext cx="276225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Group55, Lakeland Cosmetics</a:t>
            </a:r>
          </a:p>
        </p:txBody>
      </p:sp>
      <p:sp>
        <p:nvSpPr>
          <p:cNvPr id="23" name="Rectangle 22"/>
          <p:cNvSpPr/>
          <p:nvPr/>
        </p:nvSpPr>
        <p:spPr>
          <a:xfrm>
            <a:off x="6096000" y="1600200"/>
            <a:ext cx="85725" cy="85725"/>
          </a:xfrm>
          <a:prstGeom prst="rect">
            <a:avLst/>
          </a:prstGeom>
          <a:solidFill>
            <a:srgbClr val="6FA0C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6219825" y="1543050"/>
            <a:ext cx="276225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Laboratorios Bilper, Artero, Iv San Bernard, Cosmetica Veneta, K9 Competition</a:t>
            </a:r>
          </a:p>
        </p:txBody>
      </p:sp>
      <p:sp>
        <p:nvSpPr>
          <p:cNvPr id="25" name="Rectangle 24"/>
          <p:cNvSpPr/>
          <p:nvPr/>
        </p:nvSpPr>
        <p:spPr>
          <a:xfrm>
            <a:off x="9048750" y="1600200"/>
            <a:ext cx="85725" cy="85725"/>
          </a:xfrm>
          <a:prstGeom prst="rect">
            <a:avLst/>
          </a:prstGeom>
          <a:solidFill>
            <a:srgbClr val="A9C6E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9172575" y="1543050"/>
            <a:ext cx="276225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Long tail of regional and niche suppliers</a:t>
            </a:r>
          </a:p>
        </p:txBody>
      </p:sp>
      <p:cxnSp>
        <p:nvCxnSpPr>
          <p:cNvPr id="27" name="Connector 26"/>
          <p:cNvCxnSpPr/>
          <p:nvPr/>
        </p:nvCxnSpPr>
        <p:spPr>
          <a:xfrm>
            <a:off x="190500" y="1924050"/>
            <a:ext cx="11811000" cy="0"/>
          </a:xfrm>
          <a:prstGeom prst="line">
            <a:avLst/>
          </a:prstGeom>
          <a:ln w="19050">
            <a:solidFill>
              <a:srgbClr val="0F2D52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8" name="TextBox 27"/>
          <p:cNvSpPr txBox="1"/>
          <p:nvPr/>
        </p:nvSpPr>
        <p:spPr>
          <a:xfrm>
            <a:off x="190500" y="1981200"/>
            <a:ext cx="85725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Who leads which sub-segment, 2026  (full = leader, half = active)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114550" y="2114550"/>
            <a:ext cx="120015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Shampoos &amp; Cleansing Products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3352800" y="2114550"/>
            <a:ext cx="120015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Coat Conditioning &amp; Grooming Products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4591050" y="2114550"/>
            <a:ext cx="120015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Skin, Paw &amp; Nose Care Products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5829300" y="2114550"/>
            <a:ext cx="120015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Dental &amp; Oral Care Products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7067550" y="2114550"/>
            <a:ext cx="120015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Pet Specialty Retail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8305800" y="2114550"/>
            <a:ext cx="120015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E-commerce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9544050" y="2114550"/>
            <a:ext cx="120015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General Retail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10782300" y="2114550"/>
            <a:ext cx="120015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Veterinary &amp; Animal Health</a:t>
            </a:r>
          </a:p>
        </p:txBody>
      </p:sp>
      <p:cxnSp>
        <p:nvCxnSpPr>
          <p:cNvPr id="37" name="Connector 36"/>
          <p:cNvCxnSpPr/>
          <p:nvPr/>
        </p:nvCxnSpPr>
        <p:spPr>
          <a:xfrm>
            <a:off x="190500" y="26098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8" name="Rectangle 37"/>
          <p:cNvSpPr/>
          <p:nvPr/>
        </p:nvSpPr>
        <p:spPr>
          <a:xfrm>
            <a:off x="190500" y="26384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TextBox 38"/>
          <p:cNvSpPr txBox="1"/>
          <p:nvPr/>
        </p:nvSpPr>
        <p:spPr>
          <a:xfrm>
            <a:off x="285750" y="2628900"/>
            <a:ext cx="17907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Beaphar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285750" y="2790825"/>
            <a:ext cx="179070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41" name="Oval 40"/>
          <p:cNvSpPr/>
          <p:nvPr/>
        </p:nvSpPr>
        <p:spPr>
          <a:xfrm>
            <a:off x="2638425" y="27051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Freeform 41"/>
          <p:cNvSpPr/>
          <p:nvPr/>
        </p:nvSpPr>
        <p:spPr>
          <a:xfrm>
            <a:off x="2714625" y="27051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Oval 42"/>
          <p:cNvSpPr/>
          <p:nvPr/>
        </p:nvSpPr>
        <p:spPr>
          <a:xfrm>
            <a:off x="3876675" y="27051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Oval 43"/>
          <p:cNvSpPr/>
          <p:nvPr/>
        </p:nvSpPr>
        <p:spPr>
          <a:xfrm>
            <a:off x="5114925" y="27051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Oval 44"/>
          <p:cNvSpPr/>
          <p:nvPr/>
        </p:nvSpPr>
        <p:spPr>
          <a:xfrm>
            <a:off x="6353175" y="27051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Oval 45"/>
          <p:cNvSpPr/>
          <p:nvPr/>
        </p:nvSpPr>
        <p:spPr>
          <a:xfrm>
            <a:off x="7591425" y="27051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Freeform 46"/>
          <p:cNvSpPr/>
          <p:nvPr/>
        </p:nvSpPr>
        <p:spPr>
          <a:xfrm>
            <a:off x="7667625" y="27051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Oval 47"/>
          <p:cNvSpPr/>
          <p:nvPr/>
        </p:nvSpPr>
        <p:spPr>
          <a:xfrm>
            <a:off x="8829675" y="27051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Freeform 48"/>
          <p:cNvSpPr/>
          <p:nvPr/>
        </p:nvSpPr>
        <p:spPr>
          <a:xfrm>
            <a:off x="8905875" y="27051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Oval 49"/>
          <p:cNvSpPr/>
          <p:nvPr/>
        </p:nvSpPr>
        <p:spPr>
          <a:xfrm>
            <a:off x="10067925" y="27051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Oval 50"/>
          <p:cNvSpPr/>
          <p:nvPr/>
        </p:nvSpPr>
        <p:spPr>
          <a:xfrm>
            <a:off x="11306175" y="27051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52" name="Connector 51"/>
          <p:cNvCxnSpPr/>
          <p:nvPr/>
        </p:nvCxnSpPr>
        <p:spPr>
          <a:xfrm>
            <a:off x="190500" y="29527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3" name="Rectangle 52"/>
          <p:cNvSpPr/>
          <p:nvPr/>
        </p:nvSpPr>
        <p:spPr>
          <a:xfrm>
            <a:off x="190500" y="29813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285750" y="2971800"/>
            <a:ext cx="17907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Laboratoire Biogance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285750" y="3133725"/>
            <a:ext cx="179070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56" name="Oval 55"/>
          <p:cNvSpPr/>
          <p:nvPr/>
        </p:nvSpPr>
        <p:spPr>
          <a:xfrm>
            <a:off x="2638425" y="30480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Freeform 56"/>
          <p:cNvSpPr/>
          <p:nvPr/>
        </p:nvSpPr>
        <p:spPr>
          <a:xfrm>
            <a:off x="2714625" y="30480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Oval 57"/>
          <p:cNvSpPr/>
          <p:nvPr/>
        </p:nvSpPr>
        <p:spPr>
          <a:xfrm>
            <a:off x="3876675" y="30480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Freeform 58"/>
          <p:cNvSpPr/>
          <p:nvPr/>
        </p:nvSpPr>
        <p:spPr>
          <a:xfrm>
            <a:off x="3952875" y="30480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Oval 59"/>
          <p:cNvSpPr/>
          <p:nvPr/>
        </p:nvSpPr>
        <p:spPr>
          <a:xfrm>
            <a:off x="5114925" y="30480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Oval 60"/>
          <p:cNvSpPr/>
          <p:nvPr/>
        </p:nvSpPr>
        <p:spPr>
          <a:xfrm>
            <a:off x="6353175" y="30480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Freeform 61"/>
          <p:cNvSpPr/>
          <p:nvPr/>
        </p:nvSpPr>
        <p:spPr>
          <a:xfrm>
            <a:off x="6429375" y="30480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Oval 62"/>
          <p:cNvSpPr/>
          <p:nvPr/>
        </p:nvSpPr>
        <p:spPr>
          <a:xfrm>
            <a:off x="7591425" y="30480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Freeform 63"/>
          <p:cNvSpPr/>
          <p:nvPr/>
        </p:nvSpPr>
        <p:spPr>
          <a:xfrm>
            <a:off x="7667625" y="30480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Oval 64"/>
          <p:cNvSpPr/>
          <p:nvPr/>
        </p:nvSpPr>
        <p:spPr>
          <a:xfrm>
            <a:off x="8829675" y="30480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Oval 65"/>
          <p:cNvSpPr/>
          <p:nvPr/>
        </p:nvSpPr>
        <p:spPr>
          <a:xfrm>
            <a:off x="10067925" y="30480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Freeform 66"/>
          <p:cNvSpPr/>
          <p:nvPr/>
        </p:nvSpPr>
        <p:spPr>
          <a:xfrm>
            <a:off x="10144125" y="30480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Oval 67"/>
          <p:cNvSpPr/>
          <p:nvPr/>
        </p:nvSpPr>
        <p:spPr>
          <a:xfrm>
            <a:off x="11306175" y="30480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Freeform 68"/>
          <p:cNvSpPr/>
          <p:nvPr/>
        </p:nvSpPr>
        <p:spPr>
          <a:xfrm>
            <a:off x="11382375" y="30480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0" name="Connector 69"/>
          <p:cNvCxnSpPr/>
          <p:nvPr/>
        </p:nvCxnSpPr>
        <p:spPr>
          <a:xfrm>
            <a:off x="190500" y="32956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1" name="Rectangle 70"/>
          <p:cNvSpPr/>
          <p:nvPr/>
        </p:nvSpPr>
        <p:spPr>
          <a:xfrm>
            <a:off x="190500" y="33242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285750" y="3314700"/>
            <a:ext cx="17907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Laboratoire Francodex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285750" y="3476625"/>
            <a:ext cx="179070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74" name="Oval 73"/>
          <p:cNvSpPr/>
          <p:nvPr/>
        </p:nvSpPr>
        <p:spPr>
          <a:xfrm>
            <a:off x="2638425" y="33909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Oval 74"/>
          <p:cNvSpPr/>
          <p:nvPr/>
        </p:nvSpPr>
        <p:spPr>
          <a:xfrm>
            <a:off x="3876675" y="33909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Oval 75"/>
          <p:cNvSpPr/>
          <p:nvPr/>
        </p:nvSpPr>
        <p:spPr>
          <a:xfrm>
            <a:off x="5114925" y="33909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Freeform 76"/>
          <p:cNvSpPr/>
          <p:nvPr/>
        </p:nvSpPr>
        <p:spPr>
          <a:xfrm>
            <a:off x="5191125" y="33909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Oval 77"/>
          <p:cNvSpPr/>
          <p:nvPr/>
        </p:nvSpPr>
        <p:spPr>
          <a:xfrm>
            <a:off x="6353175" y="33909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Oval 78"/>
          <p:cNvSpPr/>
          <p:nvPr/>
        </p:nvSpPr>
        <p:spPr>
          <a:xfrm>
            <a:off x="7591425" y="33909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Oval 79"/>
          <p:cNvSpPr/>
          <p:nvPr/>
        </p:nvSpPr>
        <p:spPr>
          <a:xfrm>
            <a:off x="8829675" y="33909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Freeform 80"/>
          <p:cNvSpPr/>
          <p:nvPr/>
        </p:nvSpPr>
        <p:spPr>
          <a:xfrm>
            <a:off x="8905875" y="33909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Oval 81"/>
          <p:cNvSpPr/>
          <p:nvPr/>
        </p:nvSpPr>
        <p:spPr>
          <a:xfrm>
            <a:off x="10067925" y="33909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Freeform 82"/>
          <p:cNvSpPr/>
          <p:nvPr/>
        </p:nvSpPr>
        <p:spPr>
          <a:xfrm>
            <a:off x="10144125" y="33909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Oval 83"/>
          <p:cNvSpPr/>
          <p:nvPr/>
        </p:nvSpPr>
        <p:spPr>
          <a:xfrm>
            <a:off x="11306175" y="33909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Freeform 84"/>
          <p:cNvSpPr/>
          <p:nvPr/>
        </p:nvSpPr>
        <p:spPr>
          <a:xfrm>
            <a:off x="11382375" y="33909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86" name="Connector 85"/>
          <p:cNvCxnSpPr/>
          <p:nvPr/>
        </p:nvCxnSpPr>
        <p:spPr>
          <a:xfrm>
            <a:off x="190500" y="36385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7" name="Rectangle 86"/>
          <p:cNvSpPr/>
          <p:nvPr/>
        </p:nvSpPr>
        <p:spPr>
          <a:xfrm>
            <a:off x="190500" y="36671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85750" y="3657600"/>
            <a:ext cx="17907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Group55</a:t>
            </a:r>
          </a:p>
        </p:txBody>
      </p:sp>
      <p:sp>
        <p:nvSpPr>
          <p:cNvPr id="89" name="TextBox 88"/>
          <p:cNvSpPr txBox="1"/>
          <p:nvPr/>
        </p:nvSpPr>
        <p:spPr>
          <a:xfrm>
            <a:off x="285750" y="3819525"/>
            <a:ext cx="179070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90" name="Oval 89"/>
          <p:cNvSpPr/>
          <p:nvPr/>
        </p:nvSpPr>
        <p:spPr>
          <a:xfrm>
            <a:off x="2638425" y="37338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Oval 90"/>
          <p:cNvSpPr/>
          <p:nvPr/>
        </p:nvSpPr>
        <p:spPr>
          <a:xfrm>
            <a:off x="3876675" y="37338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Freeform 91"/>
          <p:cNvSpPr/>
          <p:nvPr/>
        </p:nvSpPr>
        <p:spPr>
          <a:xfrm>
            <a:off x="3952875" y="37338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Oval 92"/>
          <p:cNvSpPr/>
          <p:nvPr/>
        </p:nvSpPr>
        <p:spPr>
          <a:xfrm>
            <a:off x="5114925" y="37338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Freeform 93"/>
          <p:cNvSpPr/>
          <p:nvPr/>
        </p:nvSpPr>
        <p:spPr>
          <a:xfrm>
            <a:off x="5191125" y="37338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Oval 94"/>
          <p:cNvSpPr/>
          <p:nvPr/>
        </p:nvSpPr>
        <p:spPr>
          <a:xfrm>
            <a:off x="6353175" y="37338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Freeform 95"/>
          <p:cNvSpPr/>
          <p:nvPr/>
        </p:nvSpPr>
        <p:spPr>
          <a:xfrm>
            <a:off x="6429375" y="37338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Oval 96"/>
          <p:cNvSpPr/>
          <p:nvPr/>
        </p:nvSpPr>
        <p:spPr>
          <a:xfrm>
            <a:off x="7591425" y="37338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Freeform 97"/>
          <p:cNvSpPr/>
          <p:nvPr/>
        </p:nvSpPr>
        <p:spPr>
          <a:xfrm>
            <a:off x="7667625" y="37338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Oval 98"/>
          <p:cNvSpPr/>
          <p:nvPr/>
        </p:nvSpPr>
        <p:spPr>
          <a:xfrm>
            <a:off x="8829675" y="37338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Freeform 99"/>
          <p:cNvSpPr/>
          <p:nvPr/>
        </p:nvSpPr>
        <p:spPr>
          <a:xfrm>
            <a:off x="8905875" y="37338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Oval 100"/>
          <p:cNvSpPr/>
          <p:nvPr/>
        </p:nvSpPr>
        <p:spPr>
          <a:xfrm>
            <a:off x="10067925" y="37338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Oval 101"/>
          <p:cNvSpPr/>
          <p:nvPr/>
        </p:nvSpPr>
        <p:spPr>
          <a:xfrm>
            <a:off x="11306175" y="37338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03" name="Connector 102"/>
          <p:cNvCxnSpPr/>
          <p:nvPr/>
        </p:nvCxnSpPr>
        <p:spPr>
          <a:xfrm>
            <a:off x="190500" y="39814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4" name="Rectangle 103"/>
          <p:cNvSpPr/>
          <p:nvPr/>
        </p:nvSpPr>
        <p:spPr>
          <a:xfrm>
            <a:off x="190500" y="4010025"/>
            <a:ext cx="38100" cy="28575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TextBox 104"/>
          <p:cNvSpPr txBox="1"/>
          <p:nvPr/>
        </p:nvSpPr>
        <p:spPr>
          <a:xfrm>
            <a:off x="285750" y="4000500"/>
            <a:ext cx="17907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Lakeland Cosmetics</a:t>
            </a:r>
          </a:p>
        </p:txBody>
      </p:sp>
      <p:sp>
        <p:nvSpPr>
          <p:cNvPr id="106" name="TextBox 105"/>
          <p:cNvSpPr txBox="1"/>
          <p:nvPr/>
        </p:nvSpPr>
        <p:spPr>
          <a:xfrm>
            <a:off x="285750" y="4162425"/>
            <a:ext cx="179070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2</a:t>
            </a:r>
          </a:p>
        </p:txBody>
      </p:sp>
      <p:sp>
        <p:nvSpPr>
          <p:cNvPr id="107" name="Oval 106"/>
          <p:cNvSpPr/>
          <p:nvPr/>
        </p:nvSpPr>
        <p:spPr>
          <a:xfrm>
            <a:off x="2638425" y="40767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Freeform 107"/>
          <p:cNvSpPr/>
          <p:nvPr/>
        </p:nvSpPr>
        <p:spPr>
          <a:xfrm>
            <a:off x="2714625" y="40767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Oval 108"/>
          <p:cNvSpPr/>
          <p:nvPr/>
        </p:nvSpPr>
        <p:spPr>
          <a:xfrm>
            <a:off x="3876675" y="40767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Freeform 109"/>
          <p:cNvSpPr/>
          <p:nvPr/>
        </p:nvSpPr>
        <p:spPr>
          <a:xfrm>
            <a:off x="3952875" y="40767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Oval 110"/>
          <p:cNvSpPr/>
          <p:nvPr/>
        </p:nvSpPr>
        <p:spPr>
          <a:xfrm>
            <a:off x="5114925" y="40767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Freeform 111"/>
          <p:cNvSpPr/>
          <p:nvPr/>
        </p:nvSpPr>
        <p:spPr>
          <a:xfrm>
            <a:off x="5191125" y="40767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Oval 112"/>
          <p:cNvSpPr/>
          <p:nvPr/>
        </p:nvSpPr>
        <p:spPr>
          <a:xfrm>
            <a:off x="6353175" y="40767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Oval 113"/>
          <p:cNvSpPr/>
          <p:nvPr/>
        </p:nvSpPr>
        <p:spPr>
          <a:xfrm>
            <a:off x="7591425" y="40767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Freeform 114"/>
          <p:cNvSpPr/>
          <p:nvPr/>
        </p:nvSpPr>
        <p:spPr>
          <a:xfrm>
            <a:off x="7667625" y="40767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Oval 115"/>
          <p:cNvSpPr/>
          <p:nvPr/>
        </p:nvSpPr>
        <p:spPr>
          <a:xfrm>
            <a:off x="8829675" y="40767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Oval 116"/>
          <p:cNvSpPr/>
          <p:nvPr/>
        </p:nvSpPr>
        <p:spPr>
          <a:xfrm>
            <a:off x="10067925" y="40767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Freeform 117"/>
          <p:cNvSpPr/>
          <p:nvPr/>
        </p:nvSpPr>
        <p:spPr>
          <a:xfrm>
            <a:off x="10144125" y="40767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Oval 118"/>
          <p:cNvSpPr/>
          <p:nvPr/>
        </p:nvSpPr>
        <p:spPr>
          <a:xfrm>
            <a:off x="11306175" y="40767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20" name="Connector 119"/>
          <p:cNvCxnSpPr/>
          <p:nvPr/>
        </p:nvCxnSpPr>
        <p:spPr>
          <a:xfrm>
            <a:off x="190500" y="43243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1" name="Rectangle 120"/>
          <p:cNvSpPr/>
          <p:nvPr/>
        </p:nvSpPr>
        <p:spPr>
          <a:xfrm>
            <a:off x="190500" y="4352925"/>
            <a:ext cx="38100" cy="28575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285750" y="4343400"/>
            <a:ext cx="17907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Laboratorios Bilper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285750" y="4505325"/>
            <a:ext cx="179070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2</a:t>
            </a:r>
          </a:p>
        </p:txBody>
      </p:sp>
      <p:sp>
        <p:nvSpPr>
          <p:cNvPr id="124" name="Oval 123"/>
          <p:cNvSpPr/>
          <p:nvPr/>
        </p:nvSpPr>
        <p:spPr>
          <a:xfrm>
            <a:off x="2638425" y="44196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Freeform 124"/>
          <p:cNvSpPr/>
          <p:nvPr/>
        </p:nvSpPr>
        <p:spPr>
          <a:xfrm>
            <a:off x="2714625" y="44196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Oval 125"/>
          <p:cNvSpPr/>
          <p:nvPr/>
        </p:nvSpPr>
        <p:spPr>
          <a:xfrm>
            <a:off x="3876675" y="44196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Freeform 126"/>
          <p:cNvSpPr/>
          <p:nvPr/>
        </p:nvSpPr>
        <p:spPr>
          <a:xfrm>
            <a:off x="3952875" y="44196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Oval 127"/>
          <p:cNvSpPr/>
          <p:nvPr/>
        </p:nvSpPr>
        <p:spPr>
          <a:xfrm>
            <a:off x="5114925" y="44196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Oval 128"/>
          <p:cNvSpPr/>
          <p:nvPr/>
        </p:nvSpPr>
        <p:spPr>
          <a:xfrm>
            <a:off x="6353175" y="44196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Oval 129"/>
          <p:cNvSpPr/>
          <p:nvPr/>
        </p:nvSpPr>
        <p:spPr>
          <a:xfrm>
            <a:off x="7591425" y="44196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Oval 130"/>
          <p:cNvSpPr/>
          <p:nvPr/>
        </p:nvSpPr>
        <p:spPr>
          <a:xfrm>
            <a:off x="8829675" y="44196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Freeform 131"/>
          <p:cNvSpPr/>
          <p:nvPr/>
        </p:nvSpPr>
        <p:spPr>
          <a:xfrm>
            <a:off x="8905875" y="44196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Oval 132"/>
          <p:cNvSpPr/>
          <p:nvPr/>
        </p:nvSpPr>
        <p:spPr>
          <a:xfrm>
            <a:off x="10067925" y="44196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Freeform 133"/>
          <p:cNvSpPr/>
          <p:nvPr/>
        </p:nvSpPr>
        <p:spPr>
          <a:xfrm>
            <a:off x="10144125" y="44196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Oval 134"/>
          <p:cNvSpPr/>
          <p:nvPr/>
        </p:nvSpPr>
        <p:spPr>
          <a:xfrm>
            <a:off x="11306175" y="44196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36" name="Connector 135"/>
          <p:cNvCxnSpPr/>
          <p:nvPr/>
        </p:nvCxnSpPr>
        <p:spPr>
          <a:xfrm>
            <a:off x="190500" y="46672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7" name="Rectangle 136"/>
          <p:cNvSpPr/>
          <p:nvPr/>
        </p:nvSpPr>
        <p:spPr>
          <a:xfrm>
            <a:off x="190500" y="46958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285750" y="4686300"/>
            <a:ext cx="17907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Artero</a:t>
            </a:r>
          </a:p>
        </p:txBody>
      </p:sp>
      <p:sp>
        <p:nvSpPr>
          <p:cNvPr id="139" name="TextBox 138"/>
          <p:cNvSpPr txBox="1"/>
          <p:nvPr/>
        </p:nvSpPr>
        <p:spPr>
          <a:xfrm>
            <a:off x="285750" y="4848225"/>
            <a:ext cx="179070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140" name="Oval 139"/>
          <p:cNvSpPr/>
          <p:nvPr/>
        </p:nvSpPr>
        <p:spPr>
          <a:xfrm>
            <a:off x="2638425" y="47625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Freeform 140"/>
          <p:cNvSpPr/>
          <p:nvPr/>
        </p:nvSpPr>
        <p:spPr>
          <a:xfrm>
            <a:off x="2714625" y="47625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Oval 141"/>
          <p:cNvSpPr/>
          <p:nvPr/>
        </p:nvSpPr>
        <p:spPr>
          <a:xfrm>
            <a:off x="3876675" y="47625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Oval 142"/>
          <p:cNvSpPr/>
          <p:nvPr/>
        </p:nvSpPr>
        <p:spPr>
          <a:xfrm>
            <a:off x="5114925" y="47625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Freeform 143"/>
          <p:cNvSpPr/>
          <p:nvPr/>
        </p:nvSpPr>
        <p:spPr>
          <a:xfrm>
            <a:off x="5191125" y="47625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5" name="Oval 144"/>
          <p:cNvSpPr/>
          <p:nvPr/>
        </p:nvSpPr>
        <p:spPr>
          <a:xfrm>
            <a:off x="6353175" y="47625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Oval 145"/>
          <p:cNvSpPr/>
          <p:nvPr/>
        </p:nvSpPr>
        <p:spPr>
          <a:xfrm>
            <a:off x="7591425" y="47625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Freeform 146"/>
          <p:cNvSpPr/>
          <p:nvPr/>
        </p:nvSpPr>
        <p:spPr>
          <a:xfrm>
            <a:off x="7667625" y="47625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Oval 147"/>
          <p:cNvSpPr/>
          <p:nvPr/>
        </p:nvSpPr>
        <p:spPr>
          <a:xfrm>
            <a:off x="8829675" y="47625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Freeform 148"/>
          <p:cNvSpPr/>
          <p:nvPr/>
        </p:nvSpPr>
        <p:spPr>
          <a:xfrm>
            <a:off x="8905875" y="47625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Oval 149"/>
          <p:cNvSpPr/>
          <p:nvPr/>
        </p:nvSpPr>
        <p:spPr>
          <a:xfrm>
            <a:off x="10067925" y="47625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Oval 150"/>
          <p:cNvSpPr/>
          <p:nvPr/>
        </p:nvSpPr>
        <p:spPr>
          <a:xfrm>
            <a:off x="11306175" y="47625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52" name="Connector 151"/>
          <p:cNvCxnSpPr/>
          <p:nvPr/>
        </p:nvCxnSpPr>
        <p:spPr>
          <a:xfrm>
            <a:off x="190500" y="50101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3" name="Rectangle 152"/>
          <p:cNvSpPr/>
          <p:nvPr/>
        </p:nvSpPr>
        <p:spPr>
          <a:xfrm>
            <a:off x="190500" y="50387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285750" y="5029200"/>
            <a:ext cx="17907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Iv San Bernard</a:t>
            </a:r>
          </a:p>
        </p:txBody>
      </p:sp>
      <p:sp>
        <p:nvSpPr>
          <p:cNvPr id="155" name="TextBox 154"/>
          <p:cNvSpPr txBox="1"/>
          <p:nvPr/>
        </p:nvSpPr>
        <p:spPr>
          <a:xfrm>
            <a:off x="285750" y="5191125"/>
            <a:ext cx="179070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156" name="Oval 155"/>
          <p:cNvSpPr/>
          <p:nvPr/>
        </p:nvSpPr>
        <p:spPr>
          <a:xfrm>
            <a:off x="2638425" y="51054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Oval 156"/>
          <p:cNvSpPr/>
          <p:nvPr/>
        </p:nvSpPr>
        <p:spPr>
          <a:xfrm>
            <a:off x="3876675" y="51054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Freeform 157"/>
          <p:cNvSpPr/>
          <p:nvPr/>
        </p:nvSpPr>
        <p:spPr>
          <a:xfrm>
            <a:off x="3952875" y="51054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Oval 158"/>
          <p:cNvSpPr/>
          <p:nvPr/>
        </p:nvSpPr>
        <p:spPr>
          <a:xfrm>
            <a:off x="5114925" y="51054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Freeform 159"/>
          <p:cNvSpPr/>
          <p:nvPr/>
        </p:nvSpPr>
        <p:spPr>
          <a:xfrm>
            <a:off x="5191125" y="51054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1" name="Oval 160"/>
          <p:cNvSpPr/>
          <p:nvPr/>
        </p:nvSpPr>
        <p:spPr>
          <a:xfrm>
            <a:off x="6353175" y="51054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Oval 161"/>
          <p:cNvSpPr/>
          <p:nvPr/>
        </p:nvSpPr>
        <p:spPr>
          <a:xfrm>
            <a:off x="7591425" y="51054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3" name="Freeform 162"/>
          <p:cNvSpPr/>
          <p:nvPr/>
        </p:nvSpPr>
        <p:spPr>
          <a:xfrm>
            <a:off x="7667625" y="51054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Oval 163"/>
          <p:cNvSpPr/>
          <p:nvPr/>
        </p:nvSpPr>
        <p:spPr>
          <a:xfrm>
            <a:off x="8829675" y="51054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5" name="Oval 164"/>
          <p:cNvSpPr/>
          <p:nvPr/>
        </p:nvSpPr>
        <p:spPr>
          <a:xfrm>
            <a:off x="10067925" y="51054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Freeform 165"/>
          <p:cNvSpPr/>
          <p:nvPr/>
        </p:nvSpPr>
        <p:spPr>
          <a:xfrm>
            <a:off x="10144125" y="51054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7" name="Oval 166"/>
          <p:cNvSpPr/>
          <p:nvPr/>
        </p:nvSpPr>
        <p:spPr>
          <a:xfrm>
            <a:off x="11306175" y="51054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68" name="Connector 167"/>
          <p:cNvCxnSpPr/>
          <p:nvPr/>
        </p:nvCxnSpPr>
        <p:spPr>
          <a:xfrm>
            <a:off x="190500" y="53530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9" name="Rectangle 168"/>
          <p:cNvSpPr/>
          <p:nvPr/>
        </p:nvSpPr>
        <p:spPr>
          <a:xfrm>
            <a:off x="190500" y="53816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285750" y="5372100"/>
            <a:ext cx="17907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Cosmetica Veneta</a:t>
            </a:r>
          </a:p>
        </p:txBody>
      </p:sp>
      <p:sp>
        <p:nvSpPr>
          <p:cNvPr id="171" name="TextBox 170"/>
          <p:cNvSpPr txBox="1"/>
          <p:nvPr/>
        </p:nvSpPr>
        <p:spPr>
          <a:xfrm>
            <a:off x="285750" y="5534025"/>
            <a:ext cx="179070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172" name="Oval 171"/>
          <p:cNvSpPr/>
          <p:nvPr/>
        </p:nvSpPr>
        <p:spPr>
          <a:xfrm>
            <a:off x="2638425" y="54483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3" name="Freeform 172"/>
          <p:cNvSpPr/>
          <p:nvPr/>
        </p:nvSpPr>
        <p:spPr>
          <a:xfrm>
            <a:off x="2714625" y="54483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Oval 173"/>
          <p:cNvSpPr/>
          <p:nvPr/>
        </p:nvSpPr>
        <p:spPr>
          <a:xfrm>
            <a:off x="3876675" y="54483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5" name="Freeform 174"/>
          <p:cNvSpPr/>
          <p:nvPr/>
        </p:nvSpPr>
        <p:spPr>
          <a:xfrm>
            <a:off x="3952875" y="54483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Oval 175"/>
          <p:cNvSpPr/>
          <p:nvPr/>
        </p:nvSpPr>
        <p:spPr>
          <a:xfrm>
            <a:off x="5114925" y="54483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7" name="Freeform 176"/>
          <p:cNvSpPr/>
          <p:nvPr/>
        </p:nvSpPr>
        <p:spPr>
          <a:xfrm>
            <a:off x="5191125" y="54483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Oval 177"/>
          <p:cNvSpPr/>
          <p:nvPr/>
        </p:nvSpPr>
        <p:spPr>
          <a:xfrm>
            <a:off x="6353175" y="54483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9" name="Oval 178"/>
          <p:cNvSpPr/>
          <p:nvPr/>
        </p:nvSpPr>
        <p:spPr>
          <a:xfrm>
            <a:off x="7591425" y="54483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Oval 179"/>
          <p:cNvSpPr/>
          <p:nvPr/>
        </p:nvSpPr>
        <p:spPr>
          <a:xfrm>
            <a:off x="8829675" y="54483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1" name="Freeform 180"/>
          <p:cNvSpPr/>
          <p:nvPr/>
        </p:nvSpPr>
        <p:spPr>
          <a:xfrm>
            <a:off x="8905875" y="54483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Oval 181"/>
          <p:cNvSpPr/>
          <p:nvPr/>
        </p:nvSpPr>
        <p:spPr>
          <a:xfrm>
            <a:off x="10067925" y="54483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3" name="Freeform 182"/>
          <p:cNvSpPr/>
          <p:nvPr/>
        </p:nvSpPr>
        <p:spPr>
          <a:xfrm>
            <a:off x="10144125" y="54483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Oval 183"/>
          <p:cNvSpPr/>
          <p:nvPr/>
        </p:nvSpPr>
        <p:spPr>
          <a:xfrm>
            <a:off x="11306175" y="54483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85" name="Connector 184"/>
          <p:cNvCxnSpPr/>
          <p:nvPr/>
        </p:nvCxnSpPr>
        <p:spPr>
          <a:xfrm>
            <a:off x="190500" y="56959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6" name="Rectangle 185"/>
          <p:cNvSpPr/>
          <p:nvPr/>
        </p:nvSpPr>
        <p:spPr>
          <a:xfrm>
            <a:off x="190500" y="57245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7" name="TextBox 186"/>
          <p:cNvSpPr txBox="1"/>
          <p:nvPr/>
        </p:nvSpPr>
        <p:spPr>
          <a:xfrm>
            <a:off x="285750" y="5715000"/>
            <a:ext cx="17907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K9 Competition</a:t>
            </a:r>
          </a:p>
        </p:txBody>
      </p:sp>
      <p:sp>
        <p:nvSpPr>
          <p:cNvPr id="188" name="TextBox 187"/>
          <p:cNvSpPr txBox="1"/>
          <p:nvPr/>
        </p:nvSpPr>
        <p:spPr>
          <a:xfrm>
            <a:off x="285750" y="5876925"/>
            <a:ext cx="179070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189" name="Oval 188"/>
          <p:cNvSpPr/>
          <p:nvPr/>
        </p:nvSpPr>
        <p:spPr>
          <a:xfrm>
            <a:off x="2638425" y="57912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Freeform 189"/>
          <p:cNvSpPr/>
          <p:nvPr/>
        </p:nvSpPr>
        <p:spPr>
          <a:xfrm>
            <a:off x="2714625" y="57912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1" name="Oval 190"/>
          <p:cNvSpPr/>
          <p:nvPr/>
        </p:nvSpPr>
        <p:spPr>
          <a:xfrm>
            <a:off x="3876675" y="57912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Freeform 191"/>
          <p:cNvSpPr/>
          <p:nvPr/>
        </p:nvSpPr>
        <p:spPr>
          <a:xfrm>
            <a:off x="3952875" y="57912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3" name="Oval 192"/>
          <p:cNvSpPr/>
          <p:nvPr/>
        </p:nvSpPr>
        <p:spPr>
          <a:xfrm>
            <a:off x="5114925" y="57912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Oval 193"/>
          <p:cNvSpPr/>
          <p:nvPr/>
        </p:nvSpPr>
        <p:spPr>
          <a:xfrm>
            <a:off x="6353175" y="57912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5" name="Oval 194"/>
          <p:cNvSpPr/>
          <p:nvPr/>
        </p:nvSpPr>
        <p:spPr>
          <a:xfrm>
            <a:off x="7591425" y="57912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Freeform 195"/>
          <p:cNvSpPr/>
          <p:nvPr/>
        </p:nvSpPr>
        <p:spPr>
          <a:xfrm>
            <a:off x="7667625" y="57912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7" name="Oval 196"/>
          <p:cNvSpPr/>
          <p:nvPr/>
        </p:nvSpPr>
        <p:spPr>
          <a:xfrm>
            <a:off x="8829675" y="57912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Freeform 197"/>
          <p:cNvSpPr/>
          <p:nvPr/>
        </p:nvSpPr>
        <p:spPr>
          <a:xfrm>
            <a:off x="8905875" y="57912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9" name="Oval 198"/>
          <p:cNvSpPr/>
          <p:nvPr/>
        </p:nvSpPr>
        <p:spPr>
          <a:xfrm>
            <a:off x="10067925" y="57912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Oval 199"/>
          <p:cNvSpPr/>
          <p:nvPr/>
        </p:nvSpPr>
        <p:spPr>
          <a:xfrm>
            <a:off x="11306175" y="57912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1" name="Connector 200"/>
          <p:cNvCxnSpPr/>
          <p:nvPr/>
        </p:nvCxnSpPr>
        <p:spPr>
          <a:xfrm>
            <a:off x="190500" y="60388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2" name="Rectangle 201"/>
          <p:cNvSpPr/>
          <p:nvPr/>
        </p:nvSpPr>
        <p:spPr>
          <a:xfrm>
            <a:off x="190500" y="6124575"/>
            <a:ext cx="85725" cy="85725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3" name="TextBox 202"/>
          <p:cNvSpPr txBox="1"/>
          <p:nvPr/>
        </p:nvSpPr>
        <p:spPr>
          <a:xfrm>
            <a:off x="314325" y="6076950"/>
            <a:ext cx="20955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Tier 1</a:t>
            </a:r>
          </a:p>
        </p:txBody>
      </p:sp>
      <p:sp>
        <p:nvSpPr>
          <p:cNvPr id="204" name="Rectangle 203"/>
          <p:cNvSpPr/>
          <p:nvPr/>
        </p:nvSpPr>
        <p:spPr>
          <a:xfrm>
            <a:off x="847725" y="6124575"/>
            <a:ext cx="85725" cy="85725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5" name="TextBox 204"/>
          <p:cNvSpPr txBox="1"/>
          <p:nvPr/>
        </p:nvSpPr>
        <p:spPr>
          <a:xfrm>
            <a:off x="971550" y="6076950"/>
            <a:ext cx="20955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Tier 2</a:t>
            </a:r>
          </a:p>
        </p:txBody>
      </p:sp>
      <p:sp>
        <p:nvSpPr>
          <p:cNvPr id="206" name="Rectangle 205"/>
          <p:cNvSpPr/>
          <p:nvPr/>
        </p:nvSpPr>
        <p:spPr>
          <a:xfrm>
            <a:off x="1504950" y="6124575"/>
            <a:ext cx="85725" cy="85725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7" name="TextBox 206"/>
          <p:cNvSpPr txBox="1"/>
          <p:nvPr/>
        </p:nvSpPr>
        <p:spPr>
          <a:xfrm>
            <a:off x="1628775" y="6076950"/>
            <a:ext cx="20955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Tier 3</a:t>
            </a:r>
          </a:p>
        </p:txBody>
      </p:sp>
      <p:sp>
        <p:nvSpPr>
          <p:cNvPr id="208" name="TextBox 207"/>
          <p:cNvSpPr txBox="1"/>
          <p:nvPr/>
        </p:nvSpPr>
        <p:spPr>
          <a:xfrm>
            <a:off x="190500" y="6286500"/>
            <a:ext cx="285750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READING</a:t>
            </a:r>
          </a:p>
        </p:txBody>
      </p:sp>
      <p:sp>
        <p:nvSpPr>
          <p:cNvPr id="209" name="TextBox 208"/>
          <p:cNvSpPr txBox="1"/>
          <p:nvPr/>
        </p:nvSpPr>
        <p:spPr>
          <a:xfrm>
            <a:off x="190500" y="6400800"/>
            <a:ext cx="11811000" cy="2286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Read across a row to see breadth; down a column to see contestability.  'Shampoos &amp; Cleansing Products' is the most contested column (8 players active); 'Dental &amp; Oral Care Products' is the most open (3).</a:t>
            </a:r>
          </a:p>
        </p:txBody>
      </p:sp>
      <p:sp>
        <p:nvSpPr>
          <p:cNvPr id="210" name="TextBox 20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211" name="TextBox 210"/>
          <p:cNvSpPr txBox="1"/>
          <p:nvPr/>
        </p:nvSpPr>
        <p:spPr>
          <a:xfrm>
            <a:off x="276225" y="1306830"/>
            <a:ext cx="39816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FFFFFF"/>
                </a:solidFill>
                <a:latin typeface="Calibri"/>
              </a:rPr>
              <a:t>Top 3</a:t>
            </a:r>
          </a:p>
        </p:txBody>
      </p:sp>
      <p:pic>
        <p:nvPicPr>
          <p:cNvPr id="212" name="Picture 21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22441" y="1297051"/>
            <a:ext cx="128699" cy="187198"/>
          </a:xfrm>
          <a:prstGeom prst="rect">
            <a:avLst/>
          </a:prstGeom>
        </p:spPr>
      </p:pic>
      <p:sp>
        <p:nvSpPr>
          <p:cNvPr id="213" name="TextBox 212"/>
          <p:cNvSpPr txBox="1"/>
          <p:nvPr/>
        </p:nvSpPr>
        <p:spPr>
          <a:xfrm>
            <a:off x="4786109" y="1306830"/>
            <a:ext cx="81317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FFFFFF"/>
                </a:solidFill>
                <a:latin typeface="Calibri"/>
              </a:rPr>
              <a:t>Rest of top 5</a:t>
            </a:r>
          </a:p>
        </p:txBody>
      </p:sp>
      <p:pic>
        <p:nvPicPr>
          <p:cNvPr id="214" name="Picture 21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547332" y="1297051"/>
            <a:ext cx="128699" cy="187198"/>
          </a:xfrm>
          <a:prstGeom prst="rect">
            <a:avLst/>
          </a:prstGeom>
        </p:spPr>
      </p:pic>
      <p:sp>
        <p:nvSpPr>
          <p:cNvPr id="215" name="TextBox 214"/>
          <p:cNvSpPr txBox="1"/>
          <p:nvPr/>
        </p:nvSpPr>
        <p:spPr>
          <a:xfrm>
            <a:off x="6322271" y="1306830"/>
            <a:ext cx="62026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FFFFFF"/>
                </a:solidFill>
                <a:latin typeface="Calibri"/>
              </a:rPr>
              <a:t>Emerging</a:t>
            </a:r>
          </a:p>
        </p:txBody>
      </p:sp>
      <p:pic>
        <p:nvPicPr>
          <p:cNvPr id="216" name="Picture 21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90588" y="1297051"/>
            <a:ext cx="128699" cy="187198"/>
          </a:xfrm>
          <a:prstGeom prst="rect">
            <a:avLst/>
          </a:prstGeom>
        </p:spPr>
      </p:pic>
      <p:sp>
        <p:nvSpPr>
          <p:cNvPr id="217" name="TextBox 216"/>
          <p:cNvSpPr txBox="1"/>
          <p:nvPr/>
        </p:nvSpPr>
        <p:spPr>
          <a:xfrm>
            <a:off x="8564687" y="1306830"/>
            <a:ext cx="4699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0F2D52"/>
                </a:solidFill>
                <a:latin typeface="Calibri"/>
              </a:rPr>
              <a:t>Others</a:t>
            </a:r>
          </a:p>
        </p:txBody>
      </p:sp>
      <p:pic>
        <p:nvPicPr>
          <p:cNvPr id="218" name="Picture 21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982663" y="1297051"/>
            <a:ext cx="128699" cy="187198"/>
          </a:xfrm>
          <a:prstGeom prst="rect">
            <a:avLst/>
          </a:prstGeom>
        </p:spPr>
      </p:pic>
    </p:spTree>
  </p:cSld>
  <p:clrMapOvr>
    <a:masterClrMapping/>
  </p:clrMapOvr>
</p:sld>
</file>

<file path=ppt/slides/slide23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Value Chain Positioning of Leading Players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How the market is organised by product type and end use, and who leads at each stage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247650" y="1047750"/>
            <a:ext cx="22669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Top 3 share, 2026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247650" y="1238250"/>
            <a:ext cx="2266950" cy="2286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E87722"/>
                </a:solidFill>
                <a:latin typeface="Calibri"/>
              </a:rPr>
              <a:t> </a:t>
            </a:r>
          </a:p>
        </p:txBody>
      </p:sp>
      <p:cxnSp>
        <p:nvCxnSpPr>
          <p:cNvPr id="12" name="Connector 11"/>
          <p:cNvCxnSpPr/>
          <p:nvPr/>
        </p:nvCxnSpPr>
        <p:spPr>
          <a:xfrm>
            <a:off x="2552700" y="1085850"/>
            <a:ext cx="0" cy="40005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" name="TextBox 12"/>
          <p:cNvSpPr txBox="1"/>
          <p:nvPr/>
        </p:nvSpPr>
        <p:spPr>
          <a:xfrm>
            <a:off x="2609850" y="1047750"/>
            <a:ext cx="22669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Top 5 share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609850" y="1238250"/>
            <a:ext cx="2266950" cy="2286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 </a:t>
            </a:r>
          </a:p>
        </p:txBody>
      </p:sp>
      <p:cxnSp>
        <p:nvCxnSpPr>
          <p:cNvPr id="15" name="Connector 14"/>
          <p:cNvCxnSpPr/>
          <p:nvPr/>
        </p:nvCxnSpPr>
        <p:spPr>
          <a:xfrm>
            <a:off x="4914900" y="1085850"/>
            <a:ext cx="0" cy="40005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" name="TextBox 15"/>
          <p:cNvSpPr txBox="1"/>
          <p:nvPr/>
        </p:nvSpPr>
        <p:spPr>
          <a:xfrm>
            <a:off x="4972050" y="1047750"/>
            <a:ext cx="22669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Shampoos &amp; Cleansing Products, share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4972050" y="1238250"/>
            <a:ext cx="2266950" cy="2286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 </a:t>
            </a:r>
          </a:p>
        </p:txBody>
      </p:sp>
      <p:cxnSp>
        <p:nvCxnSpPr>
          <p:cNvPr id="18" name="Connector 17"/>
          <p:cNvCxnSpPr/>
          <p:nvPr/>
        </p:nvCxnSpPr>
        <p:spPr>
          <a:xfrm>
            <a:off x="7277100" y="1085850"/>
            <a:ext cx="0" cy="40005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" name="TextBox 18"/>
          <p:cNvSpPr txBox="1"/>
          <p:nvPr/>
        </p:nvSpPr>
        <p:spPr>
          <a:xfrm>
            <a:off x="7334250" y="1047750"/>
            <a:ext cx="22669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Coat Conditioning &amp; Grooming Products, share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7334250" y="1238250"/>
            <a:ext cx="2266950" cy="2286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 </a:t>
            </a:r>
          </a:p>
        </p:txBody>
      </p:sp>
      <p:cxnSp>
        <p:nvCxnSpPr>
          <p:cNvPr id="21" name="Connector 20"/>
          <p:cNvCxnSpPr/>
          <p:nvPr/>
        </p:nvCxnSpPr>
        <p:spPr>
          <a:xfrm>
            <a:off x="9639300" y="1085850"/>
            <a:ext cx="0" cy="40005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" name="TextBox 21"/>
          <p:cNvSpPr txBox="1"/>
          <p:nvPr/>
        </p:nvSpPr>
        <p:spPr>
          <a:xfrm>
            <a:off x="9696450" y="1047750"/>
            <a:ext cx="22669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Skin, Paw &amp; Nose Care Products, share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9696450" y="1238250"/>
            <a:ext cx="2266950" cy="2286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 </a:t>
            </a:r>
          </a:p>
        </p:txBody>
      </p:sp>
      <p:cxnSp>
        <p:nvCxnSpPr>
          <p:cNvPr id="24" name="Connector 23"/>
          <p:cNvCxnSpPr/>
          <p:nvPr/>
        </p:nvCxnSpPr>
        <p:spPr>
          <a:xfrm>
            <a:off x="190500" y="1543050"/>
            <a:ext cx="11811000" cy="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" name="Rectangle 24"/>
          <p:cNvSpPr/>
          <p:nvPr/>
        </p:nvSpPr>
        <p:spPr>
          <a:xfrm>
            <a:off x="190500" y="1638300"/>
            <a:ext cx="2767012" cy="3714750"/>
          </a:xfrm>
          <a:prstGeom prst="rect">
            <a:avLst/>
          </a:prstGeom>
          <a:solidFill>
            <a:srgbClr val="FFFFFF"/>
          </a:solidFill>
          <a:ln w="9525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Rectangle 25"/>
          <p:cNvSpPr/>
          <p:nvPr/>
        </p:nvSpPr>
        <p:spPr>
          <a:xfrm>
            <a:off x="190500" y="1638300"/>
            <a:ext cx="2767012" cy="47625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TextBox 26"/>
          <p:cNvSpPr txBox="1"/>
          <p:nvPr/>
        </p:nvSpPr>
        <p:spPr>
          <a:xfrm>
            <a:off x="285750" y="1733550"/>
            <a:ext cx="2576512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1. Shampoos &amp; Cleansing Products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285750" y="1924050"/>
            <a:ext cx="666750" cy="190500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71550" y="1924050"/>
            <a:ext cx="1890712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of market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285750" y="2133600"/>
            <a:ext cx="666750" cy="190500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 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971550" y="2133600"/>
            <a:ext cx="1890712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CAGR 2026–2036</a:t>
            </a:r>
          </a:p>
        </p:txBody>
      </p:sp>
      <p:cxnSp>
        <p:nvCxnSpPr>
          <p:cNvPr id="32" name="Connector 31"/>
          <p:cNvCxnSpPr/>
          <p:nvPr/>
        </p:nvCxnSpPr>
        <p:spPr>
          <a:xfrm>
            <a:off x="285750" y="2362200"/>
            <a:ext cx="2576512" cy="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3" name="TextBox 32"/>
          <p:cNvSpPr txBox="1"/>
          <p:nvPr/>
        </p:nvSpPr>
        <p:spPr>
          <a:xfrm>
            <a:off x="285750" y="2419350"/>
            <a:ext cx="2576512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LEADS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85750" y="2590800"/>
            <a:ext cx="2576512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●  Laboratoire Francodex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285750" y="2819400"/>
            <a:ext cx="2576512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ALSO ACTIVE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285750" y="2990850"/>
            <a:ext cx="2576512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●  Beaphar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285750" y="3162300"/>
            <a:ext cx="2576512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●  Laboratoire Biogance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285750" y="3333750"/>
            <a:ext cx="2576512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●  Lakeland Cosmetics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285750" y="3505200"/>
            <a:ext cx="2576512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●  Laboratorios Bilper</a:t>
            </a:r>
          </a:p>
        </p:txBody>
      </p:sp>
      <p:cxnSp>
        <p:nvCxnSpPr>
          <p:cNvPr id="40" name="Connector 39"/>
          <p:cNvCxnSpPr/>
          <p:nvPr/>
        </p:nvCxnSpPr>
        <p:spPr>
          <a:xfrm>
            <a:off x="285750" y="4438650"/>
            <a:ext cx="2576512" cy="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1" name="TextBox 40"/>
          <p:cNvSpPr txBox="1"/>
          <p:nvPr/>
        </p:nvSpPr>
        <p:spPr>
          <a:xfrm>
            <a:off x="285750" y="4495800"/>
            <a:ext cx="2576512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WHAT TO WATCH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285750" y="4667250"/>
            <a:ext cx="2576512" cy="6667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/>
            </a:r>
          </a:p>
        </p:txBody>
      </p:sp>
      <p:cxnSp>
        <p:nvCxnSpPr>
          <p:cNvPr id="43" name="Connector 42"/>
          <p:cNvCxnSpPr/>
          <p:nvPr/>
        </p:nvCxnSpPr>
        <p:spPr>
          <a:xfrm>
            <a:off x="2995612" y="3495675"/>
            <a:ext cx="152400" cy="0"/>
          </a:xfrm>
          <a:prstGeom prst="line">
            <a:avLst/>
          </a:prstGeom>
          <a:ln w="25400">
            <a:solidFill>
              <a:srgbClr val="0F2D52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4" name="Freeform 43"/>
          <p:cNvSpPr/>
          <p:nvPr/>
        </p:nvSpPr>
        <p:spPr>
          <a:xfrm>
            <a:off x="3105150" y="3448050"/>
            <a:ext cx="57150" cy="95250"/>
          </a:xfrm>
          <a:custGeom>
            <a:avLst/>
            <a:gdLst/>
            <a:ahLst/>
            <a:cxnLst/>
            <a:rect l="l" t="t" r="r" b="b"/>
            <a:pathLst>
              <a:path w="6" h="10">
                <a:moveTo>
                  <a:pt x="6" y="5"/>
                </a:moveTo>
                <a:lnTo>
                  <a:pt x="0" y="0"/>
                </a:lnTo>
                <a:lnTo>
                  <a:pt x="0" y="10"/>
                </a:lnTo>
                <a:close/>
              </a:path>
            </a:pathLst>
          </a:custGeom>
          <a:solidFill>
            <a:srgbClr val="0F2D52"/>
          </a:solidFill>
          <a:ln w="9525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3205162" y="1638300"/>
            <a:ext cx="2767012" cy="3714750"/>
          </a:xfrm>
          <a:prstGeom prst="rect">
            <a:avLst/>
          </a:prstGeom>
          <a:solidFill>
            <a:srgbClr val="FFFFFF"/>
          </a:solidFill>
          <a:ln w="9525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3205162" y="1638300"/>
            <a:ext cx="2767012" cy="47625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TextBox 46"/>
          <p:cNvSpPr txBox="1"/>
          <p:nvPr/>
        </p:nvSpPr>
        <p:spPr>
          <a:xfrm>
            <a:off x="3300412" y="1733550"/>
            <a:ext cx="2576512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2. Coat Conditioning &amp; Grooming Products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3300412" y="1924050"/>
            <a:ext cx="666750" cy="190500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3986212" y="1924050"/>
            <a:ext cx="1890712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of market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3300412" y="2133600"/>
            <a:ext cx="666750" cy="190500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 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3986212" y="2133600"/>
            <a:ext cx="1890712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CAGR 2026–2036</a:t>
            </a:r>
          </a:p>
        </p:txBody>
      </p:sp>
      <p:cxnSp>
        <p:nvCxnSpPr>
          <p:cNvPr id="52" name="Connector 51"/>
          <p:cNvCxnSpPr/>
          <p:nvPr/>
        </p:nvCxnSpPr>
        <p:spPr>
          <a:xfrm>
            <a:off x="3300412" y="2362200"/>
            <a:ext cx="2576513" cy="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3" name="TextBox 52"/>
          <p:cNvSpPr txBox="1"/>
          <p:nvPr/>
        </p:nvSpPr>
        <p:spPr>
          <a:xfrm>
            <a:off x="3300412" y="2419350"/>
            <a:ext cx="2576512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LEADS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3300412" y="2590800"/>
            <a:ext cx="2576512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●  Beaphar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3300412" y="2819400"/>
            <a:ext cx="2576512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ALSO ACTIVE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3300412" y="2990850"/>
            <a:ext cx="2576512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●  Laboratoire Biogance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3300412" y="3162300"/>
            <a:ext cx="2576512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●  Group55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3300412" y="3333750"/>
            <a:ext cx="2576512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●  Lakeland Cosmetics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3300412" y="3505200"/>
            <a:ext cx="2576512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●  Laboratorios Bilper</a:t>
            </a:r>
          </a:p>
        </p:txBody>
      </p:sp>
      <p:cxnSp>
        <p:nvCxnSpPr>
          <p:cNvPr id="60" name="Connector 59"/>
          <p:cNvCxnSpPr/>
          <p:nvPr/>
        </p:nvCxnSpPr>
        <p:spPr>
          <a:xfrm>
            <a:off x="3300412" y="4438650"/>
            <a:ext cx="2576513" cy="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1" name="TextBox 60"/>
          <p:cNvSpPr txBox="1"/>
          <p:nvPr/>
        </p:nvSpPr>
        <p:spPr>
          <a:xfrm>
            <a:off x="3300412" y="4495800"/>
            <a:ext cx="2576512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WHAT TO WATCH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3300412" y="4667250"/>
            <a:ext cx="2576512" cy="6667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/>
            </a:r>
          </a:p>
        </p:txBody>
      </p:sp>
      <p:cxnSp>
        <p:nvCxnSpPr>
          <p:cNvPr id="63" name="Connector 62"/>
          <p:cNvCxnSpPr/>
          <p:nvPr/>
        </p:nvCxnSpPr>
        <p:spPr>
          <a:xfrm>
            <a:off x="6010275" y="3495675"/>
            <a:ext cx="152400" cy="0"/>
          </a:xfrm>
          <a:prstGeom prst="line">
            <a:avLst/>
          </a:prstGeom>
          <a:ln w="25400">
            <a:solidFill>
              <a:srgbClr val="0F2D52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4" name="Freeform 63"/>
          <p:cNvSpPr/>
          <p:nvPr/>
        </p:nvSpPr>
        <p:spPr>
          <a:xfrm>
            <a:off x="6115050" y="3448050"/>
            <a:ext cx="66675" cy="95250"/>
          </a:xfrm>
          <a:custGeom>
            <a:avLst/>
            <a:gdLst/>
            <a:ahLst/>
            <a:cxnLst/>
            <a:rect l="l" t="t" r="r" b="b"/>
            <a:pathLst>
              <a:path w="7" h="10">
                <a:moveTo>
                  <a:pt x="7" y="5"/>
                </a:moveTo>
                <a:lnTo>
                  <a:pt x="0" y="0"/>
                </a:lnTo>
                <a:lnTo>
                  <a:pt x="0" y="10"/>
                </a:lnTo>
                <a:close/>
              </a:path>
            </a:pathLst>
          </a:custGeom>
          <a:solidFill>
            <a:srgbClr val="0F2D52"/>
          </a:solidFill>
          <a:ln w="9525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Rectangle 64"/>
          <p:cNvSpPr/>
          <p:nvPr/>
        </p:nvSpPr>
        <p:spPr>
          <a:xfrm>
            <a:off x="6219825" y="1638300"/>
            <a:ext cx="2767012" cy="3714750"/>
          </a:xfrm>
          <a:prstGeom prst="rect">
            <a:avLst/>
          </a:prstGeom>
          <a:solidFill>
            <a:srgbClr val="FFFFFF"/>
          </a:solidFill>
          <a:ln w="9525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6219825" y="1638300"/>
            <a:ext cx="2767012" cy="47625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TextBox 66"/>
          <p:cNvSpPr txBox="1"/>
          <p:nvPr/>
        </p:nvSpPr>
        <p:spPr>
          <a:xfrm>
            <a:off x="6315075" y="1733550"/>
            <a:ext cx="2576512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3. Skin, Paw &amp; Nose Care Products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6315075" y="1924050"/>
            <a:ext cx="666750" cy="190500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7000875" y="1924050"/>
            <a:ext cx="1890712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of market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6315075" y="2133600"/>
            <a:ext cx="666750" cy="190500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 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7000875" y="2133600"/>
            <a:ext cx="1890712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CAGR 2026–2036</a:t>
            </a:r>
          </a:p>
        </p:txBody>
      </p:sp>
      <p:cxnSp>
        <p:nvCxnSpPr>
          <p:cNvPr id="72" name="Connector 71"/>
          <p:cNvCxnSpPr/>
          <p:nvPr/>
        </p:nvCxnSpPr>
        <p:spPr>
          <a:xfrm>
            <a:off x="6315075" y="2362200"/>
            <a:ext cx="2576513" cy="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3" name="TextBox 72"/>
          <p:cNvSpPr txBox="1"/>
          <p:nvPr/>
        </p:nvSpPr>
        <p:spPr>
          <a:xfrm>
            <a:off x="6315075" y="2419350"/>
            <a:ext cx="2576512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LEADS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6315075" y="2590800"/>
            <a:ext cx="2576512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●  Beaphar</a:t>
            </a:r>
          </a:p>
        </p:txBody>
      </p:sp>
      <p:sp>
        <p:nvSpPr>
          <p:cNvPr id="75" name="TextBox 74"/>
          <p:cNvSpPr txBox="1"/>
          <p:nvPr/>
        </p:nvSpPr>
        <p:spPr>
          <a:xfrm>
            <a:off x="6315075" y="2819400"/>
            <a:ext cx="2576512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ALSO ACTIVE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6315075" y="2990850"/>
            <a:ext cx="2576512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●  Laboratoire Francodex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6315075" y="3162300"/>
            <a:ext cx="2576512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●  Group55</a:t>
            </a:r>
          </a:p>
        </p:txBody>
      </p:sp>
      <p:sp>
        <p:nvSpPr>
          <p:cNvPr id="78" name="TextBox 77"/>
          <p:cNvSpPr txBox="1"/>
          <p:nvPr/>
        </p:nvSpPr>
        <p:spPr>
          <a:xfrm>
            <a:off x="6315075" y="3333750"/>
            <a:ext cx="2576512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●  Lakeland Cosmetics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6315075" y="3505200"/>
            <a:ext cx="2576512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●  Artero</a:t>
            </a:r>
          </a:p>
        </p:txBody>
      </p:sp>
      <p:cxnSp>
        <p:nvCxnSpPr>
          <p:cNvPr id="80" name="Connector 79"/>
          <p:cNvCxnSpPr/>
          <p:nvPr/>
        </p:nvCxnSpPr>
        <p:spPr>
          <a:xfrm>
            <a:off x="6315075" y="4438650"/>
            <a:ext cx="2576513" cy="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1" name="TextBox 80"/>
          <p:cNvSpPr txBox="1"/>
          <p:nvPr/>
        </p:nvSpPr>
        <p:spPr>
          <a:xfrm>
            <a:off x="6315075" y="4495800"/>
            <a:ext cx="2576512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WHAT TO WATCH</a:t>
            </a:r>
          </a:p>
        </p:txBody>
      </p:sp>
      <p:sp>
        <p:nvSpPr>
          <p:cNvPr id="82" name="TextBox 81"/>
          <p:cNvSpPr txBox="1"/>
          <p:nvPr/>
        </p:nvSpPr>
        <p:spPr>
          <a:xfrm>
            <a:off x="6315075" y="4667250"/>
            <a:ext cx="2576512" cy="6667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/>
            </a:r>
          </a:p>
        </p:txBody>
      </p:sp>
      <p:cxnSp>
        <p:nvCxnSpPr>
          <p:cNvPr id="83" name="Connector 82"/>
          <p:cNvCxnSpPr/>
          <p:nvPr/>
        </p:nvCxnSpPr>
        <p:spPr>
          <a:xfrm>
            <a:off x="9024938" y="3495675"/>
            <a:ext cx="152400" cy="0"/>
          </a:xfrm>
          <a:prstGeom prst="line">
            <a:avLst/>
          </a:prstGeom>
          <a:ln w="25400">
            <a:solidFill>
              <a:srgbClr val="0F2D52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4" name="Freeform 83"/>
          <p:cNvSpPr/>
          <p:nvPr/>
        </p:nvSpPr>
        <p:spPr>
          <a:xfrm>
            <a:off x="9124950" y="3448050"/>
            <a:ext cx="76200" cy="95250"/>
          </a:xfrm>
          <a:custGeom>
            <a:avLst/>
            <a:gdLst/>
            <a:ahLst/>
            <a:cxnLst/>
            <a:rect l="l" t="t" r="r" b="b"/>
            <a:pathLst>
              <a:path w="8" h="10">
                <a:moveTo>
                  <a:pt x="8" y="5"/>
                </a:moveTo>
                <a:lnTo>
                  <a:pt x="0" y="0"/>
                </a:lnTo>
                <a:lnTo>
                  <a:pt x="0" y="10"/>
                </a:lnTo>
                <a:close/>
              </a:path>
            </a:pathLst>
          </a:custGeom>
          <a:solidFill>
            <a:srgbClr val="0F2D52"/>
          </a:solidFill>
          <a:ln w="9525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9234488" y="1638300"/>
            <a:ext cx="2767012" cy="3714750"/>
          </a:xfrm>
          <a:prstGeom prst="rect">
            <a:avLst/>
          </a:prstGeom>
          <a:solidFill>
            <a:srgbClr val="FFFFFF"/>
          </a:solidFill>
          <a:ln w="9525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9234488" y="1638300"/>
            <a:ext cx="2767012" cy="47625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TextBox 86"/>
          <p:cNvSpPr txBox="1"/>
          <p:nvPr/>
        </p:nvSpPr>
        <p:spPr>
          <a:xfrm>
            <a:off x="9329738" y="1733550"/>
            <a:ext cx="2576512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4. Sales Channels</a:t>
            </a:r>
          </a:p>
        </p:txBody>
      </p:sp>
      <p:sp>
        <p:nvSpPr>
          <p:cNvPr id="88" name="TextBox 87"/>
          <p:cNvSpPr txBox="1"/>
          <p:nvPr/>
        </p:nvSpPr>
        <p:spPr>
          <a:xfrm>
            <a:off x="9329738" y="1924050"/>
            <a:ext cx="2576512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By application</a:t>
            </a:r>
          </a:p>
        </p:txBody>
      </p:sp>
      <p:sp>
        <p:nvSpPr>
          <p:cNvPr id="89" name="TextBox 88"/>
          <p:cNvSpPr txBox="1"/>
          <p:nvPr/>
        </p:nvSpPr>
        <p:spPr>
          <a:xfrm>
            <a:off x="9329738" y="2133600"/>
            <a:ext cx="2576512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Who buys the output.</a:t>
            </a:r>
          </a:p>
        </p:txBody>
      </p:sp>
      <p:cxnSp>
        <p:nvCxnSpPr>
          <p:cNvPr id="90" name="Connector 89"/>
          <p:cNvCxnSpPr/>
          <p:nvPr/>
        </p:nvCxnSpPr>
        <p:spPr>
          <a:xfrm>
            <a:off x="9329738" y="2362200"/>
            <a:ext cx="2576512" cy="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1" name="TextBox 90"/>
          <p:cNvSpPr txBox="1"/>
          <p:nvPr/>
        </p:nvSpPr>
        <p:spPr>
          <a:xfrm>
            <a:off x="9329738" y="2419350"/>
            <a:ext cx="1333500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Pet Specialty Retail</a:t>
            </a:r>
          </a:p>
        </p:txBody>
      </p:sp>
      <p:sp>
        <p:nvSpPr>
          <p:cNvPr id="92" name="Rectangle 91"/>
          <p:cNvSpPr/>
          <p:nvPr/>
        </p:nvSpPr>
        <p:spPr>
          <a:xfrm>
            <a:off x="10682288" y="2524125"/>
            <a:ext cx="766762" cy="1143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TextBox 92"/>
          <p:cNvSpPr txBox="1"/>
          <p:nvPr/>
        </p:nvSpPr>
        <p:spPr>
          <a:xfrm>
            <a:off x="11487150" y="2486025"/>
            <a:ext cx="476250" cy="1905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9329738" y="2743200"/>
            <a:ext cx="1333500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E-commerce</a:t>
            </a:r>
          </a:p>
        </p:txBody>
      </p:sp>
      <p:sp>
        <p:nvSpPr>
          <p:cNvPr id="95" name="Rectangle 94"/>
          <p:cNvSpPr/>
          <p:nvPr/>
        </p:nvSpPr>
        <p:spPr>
          <a:xfrm>
            <a:off x="10682288" y="2847975"/>
            <a:ext cx="760590" cy="1143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11480977" y="2809875"/>
            <a:ext cx="476250" cy="1905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9329738" y="3067050"/>
            <a:ext cx="1333500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General Retail</a:t>
            </a:r>
          </a:p>
        </p:txBody>
      </p:sp>
      <p:sp>
        <p:nvSpPr>
          <p:cNvPr id="98" name="Rectangle 97"/>
          <p:cNvSpPr/>
          <p:nvPr/>
        </p:nvSpPr>
        <p:spPr>
          <a:xfrm>
            <a:off x="10682288" y="3171825"/>
            <a:ext cx="425409" cy="1143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TextBox 98"/>
          <p:cNvSpPr txBox="1"/>
          <p:nvPr/>
        </p:nvSpPr>
        <p:spPr>
          <a:xfrm>
            <a:off x="11145796" y="3133725"/>
            <a:ext cx="476250" cy="1905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sp>
        <p:nvSpPr>
          <p:cNvPr id="100" name="TextBox 99"/>
          <p:cNvSpPr txBox="1"/>
          <p:nvPr/>
        </p:nvSpPr>
        <p:spPr>
          <a:xfrm>
            <a:off x="9329738" y="3390900"/>
            <a:ext cx="1333500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Veterinary &amp; Animal Health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10682288" y="3495675"/>
            <a:ext cx="313385" cy="1143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11033772" y="3457575"/>
            <a:ext cx="476250" cy="1905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9329738" y="3714750"/>
            <a:ext cx="1333500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Professional &amp; B2B</a:t>
            </a:r>
          </a:p>
        </p:txBody>
      </p:sp>
      <p:sp>
        <p:nvSpPr>
          <p:cNvPr id="104" name="Rectangle 103"/>
          <p:cNvSpPr/>
          <p:nvPr/>
        </p:nvSpPr>
        <p:spPr>
          <a:xfrm>
            <a:off x="10682288" y="3819525"/>
            <a:ext cx="237630" cy="1143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TextBox 104"/>
          <p:cNvSpPr txBox="1"/>
          <p:nvPr/>
        </p:nvSpPr>
        <p:spPr>
          <a:xfrm>
            <a:off x="10958018" y="3781425"/>
            <a:ext cx="476250" cy="1905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cxnSp>
        <p:nvCxnSpPr>
          <p:cNvPr id="106" name="Connector 105"/>
          <p:cNvCxnSpPr/>
          <p:nvPr/>
        </p:nvCxnSpPr>
        <p:spPr>
          <a:xfrm>
            <a:off x="9329738" y="4438650"/>
            <a:ext cx="2576512" cy="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7" name="TextBox 106"/>
          <p:cNvSpPr txBox="1"/>
          <p:nvPr/>
        </p:nvSpPr>
        <p:spPr>
          <a:xfrm>
            <a:off x="9329738" y="4495800"/>
            <a:ext cx="2576512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WHAT TO WATCH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9329738" y="4667250"/>
            <a:ext cx="2576512" cy="6667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/>
            </a:r>
          </a:p>
        </p:txBody>
      </p:sp>
      <p:sp>
        <p:nvSpPr>
          <p:cNvPr id="109" name="Rectangle 108"/>
          <p:cNvSpPr/>
          <p:nvPr/>
        </p:nvSpPr>
        <p:spPr>
          <a:xfrm>
            <a:off x="190500" y="5467350"/>
            <a:ext cx="11811000" cy="400050"/>
          </a:xfrm>
          <a:prstGeom prst="rect">
            <a:avLst/>
          </a:prstGeom>
          <a:solidFill>
            <a:srgbClr val="FFFFFF"/>
          </a:solidFill>
          <a:ln w="9525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90500" y="5467350"/>
            <a:ext cx="47625" cy="4000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TextBox 110"/>
          <p:cNvSpPr txBox="1"/>
          <p:nvPr/>
        </p:nvSpPr>
        <p:spPr>
          <a:xfrm>
            <a:off x="304800" y="5467350"/>
            <a:ext cx="1047750" cy="4000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ENABLERS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1428750" y="5467350"/>
            <a:ext cx="10477500" cy="4000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Shampoos &amp; Cleansing Products Compounds Fastest Across the Product Type Mix  |  Europe Emerges as the Growth Engine Among Regions  |  Premiumisation Lifts Average Realisation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90500" y="5924550"/>
            <a:ext cx="11811000" cy="400050"/>
          </a:xfrm>
          <a:prstGeom prst="rect">
            <a:avLst/>
          </a:prstGeom>
          <a:solidFill>
            <a:srgbClr val="FFFFFF"/>
          </a:solidFill>
          <a:ln w="9525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190500" y="5924550"/>
            <a:ext cx="47625" cy="400050"/>
          </a:xfrm>
          <a:prstGeom prst="rect">
            <a:avLst/>
          </a:prstGeom>
          <a:solidFill>
            <a:srgbClr val="8B1E2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TextBox 114"/>
          <p:cNvSpPr txBox="1"/>
          <p:nvPr/>
        </p:nvSpPr>
        <p:spPr>
          <a:xfrm>
            <a:off x="304800" y="5924550"/>
            <a:ext cx="1047750" cy="4000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8B1E2D"/>
                </a:solidFill>
                <a:latin typeface="Calibri"/>
              </a:rPr>
              <a:t>CONSTRAINTS</a:t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1428750" y="5924550"/>
            <a:ext cx="10477500" cy="4000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Coat Conditioning &amp; Grooming Products Lags the Category and Dilutes Blended Growth  |  Uneven Region Performance Caps the Blended Rate  |  Concentration Risk Limits Pricing and Sourcing Flexibility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18" name="Picture 11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316775" y="1258951"/>
            <a:ext cx="128699" cy="187198"/>
          </a:xfrm>
          <a:prstGeom prst="rect">
            <a:avLst/>
          </a:prstGeom>
        </p:spPr>
      </p:pic>
      <p:pic>
        <p:nvPicPr>
          <p:cNvPr id="119" name="Picture 11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678975" y="1258951"/>
            <a:ext cx="128699" cy="187198"/>
          </a:xfrm>
          <a:prstGeom prst="rect">
            <a:avLst/>
          </a:prstGeom>
        </p:spPr>
      </p:pic>
      <p:pic>
        <p:nvPicPr>
          <p:cNvPr id="120" name="Picture 1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41175" y="1258951"/>
            <a:ext cx="128699" cy="187198"/>
          </a:xfrm>
          <a:prstGeom prst="rect">
            <a:avLst/>
          </a:prstGeom>
        </p:spPr>
      </p:pic>
      <p:pic>
        <p:nvPicPr>
          <p:cNvPr id="121" name="Picture 1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403375" y="1258951"/>
            <a:ext cx="128699" cy="187198"/>
          </a:xfrm>
          <a:prstGeom prst="rect">
            <a:avLst/>
          </a:prstGeom>
        </p:spPr>
      </p:pic>
      <p:pic>
        <p:nvPicPr>
          <p:cNvPr id="122" name="Picture 1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765575" y="1258951"/>
            <a:ext cx="128699" cy="187198"/>
          </a:xfrm>
          <a:prstGeom prst="rect">
            <a:avLst/>
          </a:prstGeom>
        </p:spPr>
      </p:pic>
      <p:pic>
        <p:nvPicPr>
          <p:cNvPr id="123" name="Picture 12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54775" y="1925701"/>
            <a:ext cx="128699" cy="187198"/>
          </a:xfrm>
          <a:prstGeom prst="rect">
            <a:avLst/>
          </a:prstGeom>
        </p:spPr>
      </p:pic>
      <p:pic>
        <p:nvPicPr>
          <p:cNvPr id="124" name="Picture 1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54775" y="2135251"/>
            <a:ext cx="128699" cy="187198"/>
          </a:xfrm>
          <a:prstGeom prst="rect">
            <a:avLst/>
          </a:prstGeom>
        </p:spPr>
      </p:pic>
      <p:pic>
        <p:nvPicPr>
          <p:cNvPr id="125" name="Picture 12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69437" y="1925701"/>
            <a:ext cx="128699" cy="187198"/>
          </a:xfrm>
          <a:prstGeom prst="rect">
            <a:avLst/>
          </a:prstGeom>
        </p:spPr>
      </p:pic>
      <p:pic>
        <p:nvPicPr>
          <p:cNvPr id="126" name="Picture 12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69437" y="2135251"/>
            <a:ext cx="128699" cy="187198"/>
          </a:xfrm>
          <a:prstGeom prst="rect">
            <a:avLst/>
          </a:prstGeom>
        </p:spPr>
      </p:pic>
      <p:pic>
        <p:nvPicPr>
          <p:cNvPr id="127" name="Picture 1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84100" y="1925701"/>
            <a:ext cx="128699" cy="187198"/>
          </a:xfrm>
          <a:prstGeom prst="rect">
            <a:avLst/>
          </a:prstGeom>
        </p:spPr>
      </p:pic>
      <p:pic>
        <p:nvPicPr>
          <p:cNvPr id="128" name="Picture 12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84100" y="2135251"/>
            <a:ext cx="128699" cy="187198"/>
          </a:xfrm>
          <a:prstGeom prst="rect">
            <a:avLst/>
          </a:prstGeom>
        </p:spPr>
      </p:pic>
      <p:pic>
        <p:nvPicPr>
          <p:cNvPr id="129" name="Picture 12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660925" y="2487676"/>
            <a:ext cx="128699" cy="187198"/>
          </a:xfrm>
          <a:prstGeom prst="rect">
            <a:avLst/>
          </a:prstGeom>
        </p:spPr>
      </p:pic>
      <p:pic>
        <p:nvPicPr>
          <p:cNvPr id="130" name="Picture 1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654752" y="2811526"/>
            <a:ext cx="128699" cy="187198"/>
          </a:xfrm>
          <a:prstGeom prst="rect">
            <a:avLst/>
          </a:prstGeom>
        </p:spPr>
      </p:pic>
      <p:pic>
        <p:nvPicPr>
          <p:cNvPr id="131" name="Picture 13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319571" y="3135376"/>
            <a:ext cx="128699" cy="187198"/>
          </a:xfrm>
          <a:prstGeom prst="rect">
            <a:avLst/>
          </a:prstGeom>
        </p:spPr>
      </p:pic>
      <p:pic>
        <p:nvPicPr>
          <p:cNvPr id="132" name="Picture 1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207547" y="3459226"/>
            <a:ext cx="128699" cy="187198"/>
          </a:xfrm>
          <a:prstGeom prst="rect">
            <a:avLst/>
          </a:prstGeom>
        </p:spPr>
      </p:pic>
      <p:pic>
        <p:nvPicPr>
          <p:cNvPr id="133" name="Picture 13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131793" y="3783076"/>
            <a:ext cx="128699" cy="187198"/>
          </a:xfrm>
          <a:prstGeom prst="rect">
            <a:avLst/>
          </a:prstGeom>
        </p:spPr>
      </p:pic>
      <p:sp>
        <p:nvSpPr>
          <p:cNvPr id="134" name="TextBox 133"/>
          <p:cNvSpPr txBox="1"/>
          <p:nvPr/>
        </p:nvSpPr>
        <p:spPr>
          <a:xfrm>
            <a:off x="314325" y="4676775"/>
            <a:ext cx="251936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5 named players compete here; 'Shampoos</a:t>
            </a:r>
          </a:p>
        </p:txBody>
      </p:sp>
      <p:sp>
        <p:nvSpPr>
          <p:cNvPr id="135" name="TextBox 134"/>
          <p:cNvSpPr txBox="1"/>
          <p:nvPr/>
        </p:nvSpPr>
        <p:spPr>
          <a:xfrm>
            <a:off x="314325" y="4844415"/>
            <a:ext cx="161017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&amp; Cleansing Products' adds</a:t>
            </a:r>
          </a:p>
        </p:txBody>
      </p:sp>
      <p:pic>
        <p:nvPicPr>
          <p:cNvPr id="136" name="Picture 1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872548" y="4834636"/>
            <a:ext cx="128699" cy="187198"/>
          </a:xfrm>
          <a:prstGeom prst="rect">
            <a:avLst/>
          </a:prstGeom>
        </p:spPr>
      </p:pic>
      <p:sp>
        <p:nvSpPr>
          <p:cNvPr id="137" name="TextBox 136"/>
          <p:cNvSpPr txBox="1"/>
          <p:nvPr/>
        </p:nvSpPr>
        <p:spPr>
          <a:xfrm>
            <a:off x="2040043" y="4844415"/>
            <a:ext cx="69393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US$ Mn by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314325" y="5012055"/>
            <a:ext cx="39516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2036.</a:t>
            </a:r>
          </a:p>
        </p:txBody>
      </p:sp>
      <p:sp>
        <p:nvSpPr>
          <p:cNvPr id="139" name="TextBox 138"/>
          <p:cNvSpPr txBox="1"/>
          <p:nvPr/>
        </p:nvSpPr>
        <p:spPr>
          <a:xfrm>
            <a:off x="3328987" y="4676775"/>
            <a:ext cx="220444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5 named players compete here; 'Coat</a:t>
            </a:r>
          </a:p>
        </p:txBody>
      </p:sp>
      <p:sp>
        <p:nvSpPr>
          <p:cNvPr id="140" name="TextBox 139"/>
          <p:cNvSpPr txBox="1"/>
          <p:nvPr/>
        </p:nvSpPr>
        <p:spPr>
          <a:xfrm>
            <a:off x="3328987" y="4844415"/>
            <a:ext cx="239134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Conditioning &amp; Grooming Products' adds</a:t>
            </a:r>
          </a:p>
        </p:txBody>
      </p:sp>
      <p:pic>
        <p:nvPicPr>
          <p:cNvPr id="141" name="Picture 14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315519" y="5002276"/>
            <a:ext cx="128699" cy="187198"/>
          </a:xfrm>
          <a:prstGeom prst="rect">
            <a:avLst/>
          </a:prstGeom>
        </p:spPr>
      </p:pic>
      <p:sp>
        <p:nvSpPr>
          <p:cNvPr id="142" name="TextBox 141"/>
          <p:cNvSpPr txBox="1"/>
          <p:nvPr/>
        </p:nvSpPr>
        <p:spPr>
          <a:xfrm>
            <a:off x="3483015" y="5012055"/>
            <a:ext cx="10445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US$ Mn by 2036.</a:t>
            </a:r>
          </a:p>
        </p:txBody>
      </p:sp>
      <p:sp>
        <p:nvSpPr>
          <p:cNvPr id="143" name="TextBox 142"/>
          <p:cNvSpPr txBox="1"/>
          <p:nvPr/>
        </p:nvSpPr>
        <p:spPr>
          <a:xfrm>
            <a:off x="6343650" y="4676775"/>
            <a:ext cx="24813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5 named players compete here; 'Skin, Paw</a:t>
            </a:r>
          </a:p>
        </p:txBody>
      </p:sp>
      <p:sp>
        <p:nvSpPr>
          <p:cNvPr id="144" name="TextBox 143"/>
          <p:cNvSpPr txBox="1"/>
          <p:nvPr/>
        </p:nvSpPr>
        <p:spPr>
          <a:xfrm>
            <a:off x="6343650" y="4844415"/>
            <a:ext cx="164727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&amp; Nose Care Products' adds</a:t>
            </a:r>
          </a:p>
        </p:txBody>
      </p:sp>
      <p:pic>
        <p:nvPicPr>
          <p:cNvPr id="145" name="Picture 14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938980" y="4834636"/>
            <a:ext cx="128699" cy="187198"/>
          </a:xfrm>
          <a:prstGeom prst="rect">
            <a:avLst/>
          </a:prstGeom>
        </p:spPr>
      </p:pic>
      <p:sp>
        <p:nvSpPr>
          <p:cNvPr id="146" name="TextBox 145"/>
          <p:cNvSpPr txBox="1"/>
          <p:nvPr/>
        </p:nvSpPr>
        <p:spPr>
          <a:xfrm>
            <a:off x="8106476" y="4844415"/>
            <a:ext cx="69393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US$ Mn by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6343650" y="5012055"/>
            <a:ext cx="39516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2036.</a:t>
            </a:r>
          </a:p>
        </p:txBody>
      </p:sp>
      <p:sp>
        <p:nvSpPr>
          <p:cNvPr id="148" name="TextBox 147"/>
          <p:cNvSpPr txBox="1"/>
          <p:nvPr/>
        </p:nvSpPr>
        <p:spPr>
          <a:xfrm>
            <a:off x="9358313" y="4676775"/>
            <a:ext cx="172886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The top two end uses pay for</a:t>
            </a:r>
          </a:p>
        </p:txBody>
      </p:sp>
      <p:pic>
        <p:nvPicPr>
          <p:cNvPr id="149" name="Picture 14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035226" y="4666996"/>
            <a:ext cx="128699" cy="187198"/>
          </a:xfrm>
          <a:prstGeom prst="rect">
            <a:avLst/>
          </a:prstGeom>
        </p:spPr>
      </p:pic>
      <p:sp>
        <p:nvSpPr>
          <p:cNvPr id="150" name="TextBox 149"/>
          <p:cNvSpPr txBox="1"/>
          <p:nvPr/>
        </p:nvSpPr>
        <p:spPr>
          <a:xfrm>
            <a:off x="11202722" y="4676775"/>
            <a:ext cx="41399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of the</a:t>
            </a:r>
          </a:p>
        </p:txBody>
      </p:sp>
      <p:sp>
        <p:nvSpPr>
          <p:cNvPr id="151" name="TextBox 150"/>
          <p:cNvSpPr txBox="1"/>
          <p:nvPr/>
        </p:nvSpPr>
        <p:spPr>
          <a:xfrm>
            <a:off x="9358313" y="4844415"/>
            <a:ext cx="251936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market; vendors package for one vertical at</a:t>
            </a:r>
          </a:p>
        </p:txBody>
      </p:sp>
      <p:sp>
        <p:nvSpPr>
          <p:cNvPr id="152" name="TextBox 151"/>
          <p:cNvSpPr txBox="1"/>
          <p:nvPr/>
        </p:nvSpPr>
        <p:spPr>
          <a:xfrm>
            <a:off x="9358313" y="5012055"/>
            <a:ext cx="4701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a time.</a:t>
            </a:r>
          </a:p>
        </p:txBody>
      </p:sp>
    </p:spTree>
  </p:cSld>
  <p:clrMapOvr>
    <a:masterClrMapping/>
  </p:clrMapOvr>
</p:sld>
</file>

<file path=ppt/slides/slide23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Player Landscape by Business Type and Reach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Named players by business type and geographic reach, with how each group competes</a:t>
            </a:r>
          </a:p>
        </p:txBody>
      </p:sp>
      <p:sp>
        <p:nvSpPr>
          <p:cNvPr id="10" name="Rectangle 9"/>
          <p:cNvSpPr/>
          <p:nvPr/>
        </p:nvSpPr>
        <p:spPr>
          <a:xfrm>
            <a:off x="1638300" y="1047750"/>
            <a:ext cx="3422650" cy="2667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1714500" y="1047750"/>
            <a:ext cx="3308350" cy="2667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Tier 1  (4)</a:t>
            </a:r>
          </a:p>
        </p:txBody>
      </p:sp>
      <p:sp>
        <p:nvSpPr>
          <p:cNvPr id="12" name="Rectangle 11"/>
          <p:cNvSpPr/>
          <p:nvPr/>
        </p:nvSpPr>
        <p:spPr>
          <a:xfrm>
            <a:off x="5099050" y="1047750"/>
            <a:ext cx="3422650" cy="26670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5175250" y="1047750"/>
            <a:ext cx="3308350" cy="2667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Tier 2  (2)</a:t>
            </a:r>
          </a:p>
        </p:txBody>
      </p:sp>
      <p:sp>
        <p:nvSpPr>
          <p:cNvPr id="14" name="Rectangle 13"/>
          <p:cNvSpPr/>
          <p:nvPr/>
        </p:nvSpPr>
        <p:spPr>
          <a:xfrm>
            <a:off x="8559800" y="1047750"/>
            <a:ext cx="3422650" cy="26670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8636000" y="1047750"/>
            <a:ext cx="3308350" cy="2667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Tier 3  (4)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190500" y="1409700"/>
            <a:ext cx="1381125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Global (4)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90500" y="1581150"/>
            <a:ext cx="1333500" cy="3810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Sells in most major regions</a:t>
            </a:r>
          </a:p>
        </p:txBody>
      </p:sp>
      <p:cxnSp>
        <p:nvCxnSpPr>
          <p:cNvPr id="18" name="Connector 17"/>
          <p:cNvCxnSpPr/>
          <p:nvPr/>
        </p:nvCxnSpPr>
        <p:spPr>
          <a:xfrm>
            <a:off x="1647825" y="1390650"/>
            <a:ext cx="0" cy="971550"/>
          </a:xfrm>
          <a:prstGeom prst="line">
            <a:avLst/>
          </a:prstGeom>
          <a:ln w="31750">
            <a:solidFill>
              <a:srgbClr val="1F6FA8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" name="Rectangle 18"/>
          <p:cNvSpPr/>
          <p:nvPr/>
        </p:nvSpPr>
        <p:spPr>
          <a:xfrm>
            <a:off x="1733550" y="1447800"/>
            <a:ext cx="142875" cy="142875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1733550" y="1438275"/>
            <a:ext cx="142875" cy="1619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1924050" y="1428750"/>
            <a:ext cx="30797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Beaphar</a:t>
            </a:r>
          </a:p>
        </p:txBody>
      </p:sp>
      <p:sp>
        <p:nvSpPr>
          <p:cNvPr id="22" name="Rectangle 21"/>
          <p:cNvSpPr/>
          <p:nvPr/>
        </p:nvSpPr>
        <p:spPr>
          <a:xfrm>
            <a:off x="1733550" y="1638300"/>
            <a:ext cx="142875" cy="142875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1733550" y="1628775"/>
            <a:ext cx="142875" cy="1619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1924050" y="1619250"/>
            <a:ext cx="30797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Laboratoire Biogance</a:t>
            </a:r>
          </a:p>
        </p:txBody>
      </p:sp>
      <p:sp>
        <p:nvSpPr>
          <p:cNvPr id="25" name="Rectangle 24"/>
          <p:cNvSpPr/>
          <p:nvPr/>
        </p:nvSpPr>
        <p:spPr>
          <a:xfrm>
            <a:off x="1733550" y="1828800"/>
            <a:ext cx="142875" cy="142875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1733550" y="1819275"/>
            <a:ext cx="142875" cy="1619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1924050" y="1809750"/>
            <a:ext cx="30797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Laboratoire Francodex</a:t>
            </a:r>
          </a:p>
        </p:txBody>
      </p:sp>
      <p:sp>
        <p:nvSpPr>
          <p:cNvPr id="28" name="Rectangle 27"/>
          <p:cNvSpPr/>
          <p:nvPr/>
        </p:nvSpPr>
        <p:spPr>
          <a:xfrm>
            <a:off x="1733550" y="2019300"/>
            <a:ext cx="142875" cy="142875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1733550" y="2009775"/>
            <a:ext cx="142875" cy="1619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924050" y="2000250"/>
            <a:ext cx="30797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Group55</a:t>
            </a:r>
          </a:p>
        </p:txBody>
      </p:sp>
      <p:cxnSp>
        <p:nvCxnSpPr>
          <p:cNvPr id="31" name="Connector 30"/>
          <p:cNvCxnSpPr/>
          <p:nvPr/>
        </p:nvCxnSpPr>
        <p:spPr>
          <a:xfrm>
            <a:off x="5108575" y="1390650"/>
            <a:ext cx="0" cy="971550"/>
          </a:xfrm>
          <a:prstGeom prst="line">
            <a:avLst/>
          </a:prstGeom>
          <a:ln w="31750">
            <a:solidFill>
              <a:srgbClr val="E07B24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8569325" y="1390650"/>
            <a:ext cx="0" cy="971550"/>
          </a:xfrm>
          <a:prstGeom prst="line">
            <a:avLst/>
          </a:prstGeom>
          <a:ln w="31750">
            <a:solidFill>
              <a:srgbClr val="2E8B57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3" name="TextBox 32"/>
          <p:cNvSpPr txBox="1"/>
          <p:nvPr/>
        </p:nvSpPr>
        <p:spPr>
          <a:xfrm>
            <a:off x="190500" y="2438400"/>
            <a:ext cx="1381125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Regional (2)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190500" y="2609850"/>
            <a:ext cx="1333500" cy="3810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Strong in one or two regions</a:t>
            </a:r>
          </a:p>
        </p:txBody>
      </p:sp>
      <p:cxnSp>
        <p:nvCxnSpPr>
          <p:cNvPr id="35" name="Connector 34"/>
          <p:cNvCxnSpPr/>
          <p:nvPr/>
        </p:nvCxnSpPr>
        <p:spPr>
          <a:xfrm>
            <a:off x="190500" y="240030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>
            <a:off x="1647825" y="2419350"/>
            <a:ext cx="0" cy="971550"/>
          </a:xfrm>
          <a:prstGeom prst="line">
            <a:avLst/>
          </a:prstGeom>
          <a:ln w="31750">
            <a:solidFill>
              <a:srgbClr val="1F6FA8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7" name="Connector 36"/>
          <p:cNvCxnSpPr/>
          <p:nvPr/>
        </p:nvCxnSpPr>
        <p:spPr>
          <a:xfrm>
            <a:off x="5108575" y="2419350"/>
            <a:ext cx="0" cy="971550"/>
          </a:xfrm>
          <a:prstGeom prst="line">
            <a:avLst/>
          </a:prstGeom>
          <a:ln w="31750">
            <a:solidFill>
              <a:srgbClr val="E07B24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8" name="Rectangle 37"/>
          <p:cNvSpPr/>
          <p:nvPr/>
        </p:nvSpPr>
        <p:spPr>
          <a:xfrm>
            <a:off x="5194300" y="2476500"/>
            <a:ext cx="142875" cy="142875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TextBox 38"/>
          <p:cNvSpPr txBox="1"/>
          <p:nvPr/>
        </p:nvSpPr>
        <p:spPr>
          <a:xfrm>
            <a:off x="5194300" y="2466975"/>
            <a:ext cx="142875" cy="1619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5384800" y="2457450"/>
            <a:ext cx="30797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Lakeland Cosmetics</a:t>
            </a:r>
          </a:p>
        </p:txBody>
      </p:sp>
      <p:sp>
        <p:nvSpPr>
          <p:cNvPr id="41" name="Rectangle 40"/>
          <p:cNvSpPr/>
          <p:nvPr/>
        </p:nvSpPr>
        <p:spPr>
          <a:xfrm>
            <a:off x="5194300" y="2667000"/>
            <a:ext cx="142875" cy="142875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5194300" y="2657475"/>
            <a:ext cx="142875" cy="1619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5384800" y="2647950"/>
            <a:ext cx="30797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Laboratorios Bilper</a:t>
            </a:r>
          </a:p>
        </p:txBody>
      </p:sp>
      <p:cxnSp>
        <p:nvCxnSpPr>
          <p:cNvPr id="44" name="Connector 43"/>
          <p:cNvCxnSpPr/>
          <p:nvPr/>
        </p:nvCxnSpPr>
        <p:spPr>
          <a:xfrm>
            <a:off x="8569325" y="2419350"/>
            <a:ext cx="0" cy="971550"/>
          </a:xfrm>
          <a:prstGeom prst="line">
            <a:avLst/>
          </a:prstGeom>
          <a:ln w="31750">
            <a:solidFill>
              <a:srgbClr val="2E8B57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5" name="TextBox 44"/>
          <p:cNvSpPr txBox="1"/>
          <p:nvPr/>
        </p:nvSpPr>
        <p:spPr>
          <a:xfrm>
            <a:off x="190500" y="3467100"/>
            <a:ext cx="1381125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Local or niche (4)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190500" y="3638550"/>
            <a:ext cx="1333500" cy="3810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One market or one specialist use</a:t>
            </a:r>
          </a:p>
        </p:txBody>
      </p:sp>
      <p:cxnSp>
        <p:nvCxnSpPr>
          <p:cNvPr id="47" name="Connector 46"/>
          <p:cNvCxnSpPr/>
          <p:nvPr/>
        </p:nvCxnSpPr>
        <p:spPr>
          <a:xfrm>
            <a:off x="190500" y="342900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8" name="Connector 47"/>
          <p:cNvCxnSpPr/>
          <p:nvPr/>
        </p:nvCxnSpPr>
        <p:spPr>
          <a:xfrm>
            <a:off x="1647825" y="3448050"/>
            <a:ext cx="0" cy="971550"/>
          </a:xfrm>
          <a:prstGeom prst="line">
            <a:avLst/>
          </a:prstGeom>
          <a:ln w="31750">
            <a:solidFill>
              <a:srgbClr val="1F6FA8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9" name="Connector 48"/>
          <p:cNvCxnSpPr/>
          <p:nvPr/>
        </p:nvCxnSpPr>
        <p:spPr>
          <a:xfrm>
            <a:off x="5108575" y="3448050"/>
            <a:ext cx="0" cy="971550"/>
          </a:xfrm>
          <a:prstGeom prst="line">
            <a:avLst/>
          </a:prstGeom>
          <a:ln w="31750">
            <a:solidFill>
              <a:srgbClr val="E07B24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0" name="Connector 49"/>
          <p:cNvCxnSpPr/>
          <p:nvPr/>
        </p:nvCxnSpPr>
        <p:spPr>
          <a:xfrm>
            <a:off x="8569325" y="3448050"/>
            <a:ext cx="0" cy="971550"/>
          </a:xfrm>
          <a:prstGeom prst="line">
            <a:avLst/>
          </a:prstGeom>
          <a:ln w="31750">
            <a:solidFill>
              <a:srgbClr val="2E8B57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1" name="Rectangle 50"/>
          <p:cNvSpPr/>
          <p:nvPr/>
        </p:nvSpPr>
        <p:spPr>
          <a:xfrm>
            <a:off x="8655050" y="3505200"/>
            <a:ext cx="142875" cy="142875"/>
          </a:xfrm>
          <a:prstGeom prst="rect">
            <a:avLst/>
          </a:prstGeom>
          <a:solidFill>
            <a:srgbClr val="A9C6E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8655050" y="3495675"/>
            <a:ext cx="142875" cy="1619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3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8845550" y="3486150"/>
            <a:ext cx="30797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Artero</a:t>
            </a:r>
          </a:p>
        </p:txBody>
      </p:sp>
      <p:sp>
        <p:nvSpPr>
          <p:cNvPr id="54" name="Rectangle 53"/>
          <p:cNvSpPr/>
          <p:nvPr/>
        </p:nvSpPr>
        <p:spPr>
          <a:xfrm>
            <a:off x="8655050" y="3695700"/>
            <a:ext cx="142875" cy="142875"/>
          </a:xfrm>
          <a:prstGeom prst="rect">
            <a:avLst/>
          </a:prstGeom>
          <a:solidFill>
            <a:srgbClr val="A9C6E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TextBox 54"/>
          <p:cNvSpPr txBox="1"/>
          <p:nvPr/>
        </p:nvSpPr>
        <p:spPr>
          <a:xfrm>
            <a:off x="8655050" y="3686175"/>
            <a:ext cx="142875" cy="1619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3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8845550" y="3676650"/>
            <a:ext cx="30797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Iv San Bernard</a:t>
            </a:r>
          </a:p>
        </p:txBody>
      </p:sp>
      <p:sp>
        <p:nvSpPr>
          <p:cNvPr id="57" name="Rectangle 56"/>
          <p:cNvSpPr/>
          <p:nvPr/>
        </p:nvSpPr>
        <p:spPr>
          <a:xfrm>
            <a:off x="8655050" y="3886200"/>
            <a:ext cx="142875" cy="142875"/>
          </a:xfrm>
          <a:prstGeom prst="rect">
            <a:avLst/>
          </a:prstGeom>
          <a:solidFill>
            <a:srgbClr val="A9C6E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8655050" y="3876675"/>
            <a:ext cx="142875" cy="1619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3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8845550" y="3867150"/>
            <a:ext cx="30797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Cosmetica Veneta</a:t>
            </a:r>
          </a:p>
        </p:txBody>
      </p:sp>
      <p:sp>
        <p:nvSpPr>
          <p:cNvPr id="60" name="Rectangle 59"/>
          <p:cNvSpPr/>
          <p:nvPr/>
        </p:nvSpPr>
        <p:spPr>
          <a:xfrm>
            <a:off x="8655050" y="4076700"/>
            <a:ext cx="142875" cy="142875"/>
          </a:xfrm>
          <a:prstGeom prst="rect">
            <a:avLst/>
          </a:prstGeom>
          <a:solidFill>
            <a:srgbClr val="A9C6E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TextBox 60"/>
          <p:cNvSpPr txBox="1"/>
          <p:nvPr/>
        </p:nvSpPr>
        <p:spPr>
          <a:xfrm>
            <a:off x="8655050" y="4067175"/>
            <a:ext cx="142875" cy="1619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3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8845550" y="4057650"/>
            <a:ext cx="30797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K9 Competition</a:t>
            </a:r>
          </a:p>
        </p:txBody>
      </p:sp>
      <p:sp>
        <p:nvSpPr>
          <p:cNvPr id="63" name="Rectangle 62"/>
          <p:cNvSpPr/>
          <p:nvPr/>
        </p:nvSpPr>
        <p:spPr>
          <a:xfrm>
            <a:off x="190500" y="4524375"/>
            <a:ext cx="123825" cy="123825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361950" y="4476750"/>
            <a:ext cx="47625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Tier 1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819150" y="4476750"/>
            <a:ext cx="60960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1447800" y="4476750"/>
            <a:ext cx="123825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combined share</a:t>
            </a:r>
          </a:p>
        </p:txBody>
      </p:sp>
      <p:sp>
        <p:nvSpPr>
          <p:cNvPr id="67" name="Rectangle 66"/>
          <p:cNvSpPr/>
          <p:nvPr/>
        </p:nvSpPr>
        <p:spPr>
          <a:xfrm>
            <a:off x="2952750" y="4524375"/>
            <a:ext cx="123825" cy="123825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3124200" y="4476750"/>
            <a:ext cx="47625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Tier 2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3581400" y="4476750"/>
            <a:ext cx="60960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4210050" y="4476750"/>
            <a:ext cx="123825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combined share</a:t>
            </a:r>
          </a:p>
        </p:txBody>
      </p:sp>
      <p:sp>
        <p:nvSpPr>
          <p:cNvPr id="71" name="Rectangle 70"/>
          <p:cNvSpPr/>
          <p:nvPr/>
        </p:nvSpPr>
        <p:spPr>
          <a:xfrm>
            <a:off x="5715000" y="4524375"/>
            <a:ext cx="123825" cy="123825"/>
          </a:xfrm>
          <a:prstGeom prst="rect">
            <a:avLst/>
          </a:prstGeom>
          <a:solidFill>
            <a:srgbClr val="A9C6E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5886450" y="4476750"/>
            <a:ext cx="47625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Tier 3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6343650" y="4476750"/>
            <a:ext cx="60960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6972300" y="4476750"/>
            <a:ext cx="123825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combined share</a:t>
            </a:r>
          </a:p>
        </p:txBody>
      </p:sp>
      <p:sp>
        <p:nvSpPr>
          <p:cNvPr id="75" name="TextBox 74"/>
          <p:cNvSpPr txBox="1"/>
          <p:nvPr/>
        </p:nvSpPr>
        <p:spPr>
          <a:xfrm>
            <a:off x="190500" y="4705350"/>
            <a:ext cx="118110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BY TYPE   Tier 1 4   |   Tier 2 2   |   Tier 3 4      BY REACH   Global 4   |   Regional 2   |   Local or niche 4</a:t>
            </a:r>
          </a:p>
        </p:txBody>
      </p:sp>
      <p:sp>
        <p:nvSpPr>
          <p:cNvPr id="76" name="Rectangle 75"/>
          <p:cNvSpPr/>
          <p:nvPr/>
        </p:nvSpPr>
        <p:spPr>
          <a:xfrm>
            <a:off x="190500" y="4972050"/>
            <a:ext cx="2809875" cy="381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TextBox 76"/>
          <p:cNvSpPr txBox="1"/>
          <p:nvPr/>
        </p:nvSpPr>
        <p:spPr>
          <a:xfrm>
            <a:off x="190500" y="5048250"/>
            <a:ext cx="2809875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Tier 1</a:t>
            </a:r>
          </a:p>
        </p:txBody>
      </p:sp>
      <p:sp>
        <p:nvSpPr>
          <p:cNvPr id="78" name="TextBox 77"/>
          <p:cNvSpPr txBox="1"/>
          <p:nvPr/>
        </p:nvSpPr>
        <p:spPr>
          <a:xfrm>
            <a:off x="190500" y="5219700"/>
            <a:ext cx="2809875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HOW IT EARNS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190500" y="5372100"/>
            <a:ext cx="2809875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Direct + key accounts; premium / bundled positioning.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190500" y="5715000"/>
            <a:ext cx="2809875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DOMINANT STRATEGY</a:t>
            </a:r>
          </a:p>
        </p:txBody>
      </p:sp>
      <p:sp>
        <p:nvSpPr>
          <p:cNvPr id="81" name="TextBox 80"/>
          <p:cNvSpPr txBox="1"/>
          <p:nvPr/>
        </p:nvSpPr>
        <p:spPr>
          <a:xfrm>
            <a:off x="190500" y="5867400"/>
            <a:ext cx="2809875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/>
            </a:r>
          </a:p>
        </p:txBody>
      </p:sp>
      <p:sp>
        <p:nvSpPr>
          <p:cNvPr id="82" name="Rectangle 81"/>
          <p:cNvSpPr/>
          <p:nvPr/>
        </p:nvSpPr>
        <p:spPr>
          <a:xfrm>
            <a:off x="3190875" y="4972050"/>
            <a:ext cx="2809875" cy="3810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TextBox 82"/>
          <p:cNvSpPr txBox="1"/>
          <p:nvPr/>
        </p:nvSpPr>
        <p:spPr>
          <a:xfrm>
            <a:off x="3190875" y="5048250"/>
            <a:ext cx="2809875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Tier 2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3190875" y="5219700"/>
            <a:ext cx="2809875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HOW IT EARNS</a:t>
            </a:r>
          </a:p>
        </p:txBody>
      </p:sp>
      <p:sp>
        <p:nvSpPr>
          <p:cNvPr id="85" name="TextBox 84"/>
          <p:cNvSpPr txBox="1"/>
          <p:nvPr/>
        </p:nvSpPr>
        <p:spPr>
          <a:xfrm>
            <a:off x="3190875" y="5372100"/>
            <a:ext cx="2809875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Distributors; mid / value-added positioning.</a:t>
            </a:r>
          </a:p>
        </p:txBody>
      </p:sp>
      <p:sp>
        <p:nvSpPr>
          <p:cNvPr id="86" name="TextBox 85"/>
          <p:cNvSpPr txBox="1"/>
          <p:nvPr/>
        </p:nvSpPr>
        <p:spPr>
          <a:xfrm>
            <a:off x="3190875" y="5715000"/>
            <a:ext cx="2809875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DOMINANT STRATEGY</a:t>
            </a:r>
          </a:p>
        </p:txBody>
      </p:sp>
      <p:sp>
        <p:nvSpPr>
          <p:cNvPr id="87" name="TextBox 86"/>
          <p:cNvSpPr txBox="1"/>
          <p:nvPr/>
        </p:nvSpPr>
        <p:spPr>
          <a:xfrm>
            <a:off x="3190875" y="5867400"/>
            <a:ext cx="2809875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/>
            </a:r>
          </a:p>
        </p:txBody>
      </p:sp>
      <p:sp>
        <p:nvSpPr>
          <p:cNvPr id="88" name="Rectangle 87"/>
          <p:cNvSpPr/>
          <p:nvPr/>
        </p:nvSpPr>
        <p:spPr>
          <a:xfrm>
            <a:off x="6191250" y="4972050"/>
            <a:ext cx="2809875" cy="3810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TextBox 88"/>
          <p:cNvSpPr txBox="1"/>
          <p:nvPr/>
        </p:nvSpPr>
        <p:spPr>
          <a:xfrm>
            <a:off x="6191250" y="5048250"/>
            <a:ext cx="2809875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Tier 3</a:t>
            </a:r>
          </a:p>
        </p:txBody>
      </p:sp>
      <p:sp>
        <p:nvSpPr>
          <p:cNvPr id="90" name="TextBox 89"/>
          <p:cNvSpPr txBox="1"/>
          <p:nvPr/>
        </p:nvSpPr>
        <p:spPr>
          <a:xfrm>
            <a:off x="6191250" y="5219700"/>
            <a:ext cx="2809875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HOW IT EARNS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6191250" y="5372100"/>
            <a:ext cx="2809875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Regional partners; value / entry positioning.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6191250" y="5715000"/>
            <a:ext cx="2809875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DOMINANT STRATEGY</a:t>
            </a:r>
          </a:p>
        </p:txBody>
      </p:sp>
      <p:sp>
        <p:nvSpPr>
          <p:cNvPr id="93" name="TextBox 92"/>
          <p:cNvSpPr txBox="1"/>
          <p:nvPr/>
        </p:nvSpPr>
        <p:spPr>
          <a:xfrm>
            <a:off x="6191250" y="5867400"/>
            <a:ext cx="2809875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/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95" name="Picture 9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59600" y="4487926"/>
            <a:ext cx="128699" cy="187198"/>
          </a:xfrm>
          <a:prstGeom prst="rect">
            <a:avLst/>
          </a:prstGeom>
        </p:spPr>
      </p:pic>
      <p:pic>
        <p:nvPicPr>
          <p:cNvPr id="96" name="Picture 9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821850" y="4487926"/>
            <a:ext cx="128699" cy="187198"/>
          </a:xfrm>
          <a:prstGeom prst="rect">
            <a:avLst/>
          </a:prstGeom>
        </p:spPr>
      </p:pic>
      <p:pic>
        <p:nvPicPr>
          <p:cNvPr id="97" name="Picture 9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84100" y="4487926"/>
            <a:ext cx="128699" cy="187198"/>
          </a:xfrm>
          <a:prstGeom prst="rect">
            <a:avLst/>
          </a:prstGeom>
        </p:spPr>
      </p:pic>
      <p:sp>
        <p:nvSpPr>
          <p:cNvPr id="98" name="TextBox 97"/>
          <p:cNvSpPr txBox="1"/>
          <p:nvPr/>
        </p:nvSpPr>
        <p:spPr>
          <a:xfrm>
            <a:off x="219075" y="5876925"/>
            <a:ext cx="117661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Launch-led growth;</a:t>
            </a:r>
          </a:p>
        </p:txBody>
      </p:sp>
      <p:pic>
        <p:nvPicPr>
          <p:cNvPr id="99" name="Picture 9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343736" y="5867145"/>
            <a:ext cx="128699" cy="187198"/>
          </a:xfrm>
          <a:prstGeom prst="rect">
            <a:avLst/>
          </a:prstGeom>
        </p:spPr>
      </p:pic>
      <p:sp>
        <p:nvSpPr>
          <p:cNvPr id="100" name="TextBox 99"/>
          <p:cNvSpPr txBox="1"/>
          <p:nvPr/>
        </p:nvSpPr>
        <p:spPr>
          <a:xfrm>
            <a:off x="1511232" y="5876925"/>
            <a:ext cx="102272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combined share.</a:t>
            </a:r>
          </a:p>
        </p:txBody>
      </p:sp>
      <p:sp>
        <p:nvSpPr>
          <p:cNvPr id="101" name="TextBox 100"/>
          <p:cNvSpPr txBox="1"/>
          <p:nvPr/>
        </p:nvSpPr>
        <p:spPr>
          <a:xfrm>
            <a:off x="3219450" y="5876925"/>
            <a:ext cx="117661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Launch-led growth;</a:t>
            </a:r>
          </a:p>
        </p:txBody>
      </p:sp>
      <p:pic>
        <p:nvPicPr>
          <p:cNvPr id="102" name="Picture 10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344111" y="5867145"/>
            <a:ext cx="128699" cy="187198"/>
          </a:xfrm>
          <a:prstGeom prst="rect">
            <a:avLst/>
          </a:prstGeom>
        </p:spPr>
      </p:pic>
      <p:sp>
        <p:nvSpPr>
          <p:cNvPr id="103" name="TextBox 102"/>
          <p:cNvSpPr txBox="1"/>
          <p:nvPr/>
        </p:nvSpPr>
        <p:spPr>
          <a:xfrm>
            <a:off x="4511607" y="5876925"/>
            <a:ext cx="102272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combined share.</a:t>
            </a:r>
          </a:p>
        </p:txBody>
      </p:sp>
      <p:sp>
        <p:nvSpPr>
          <p:cNvPr id="104" name="TextBox 103"/>
          <p:cNvSpPr txBox="1"/>
          <p:nvPr/>
        </p:nvSpPr>
        <p:spPr>
          <a:xfrm>
            <a:off x="6219825" y="5876925"/>
            <a:ext cx="117661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Launch-led growth;</a:t>
            </a:r>
          </a:p>
        </p:txBody>
      </p:sp>
      <p:pic>
        <p:nvPicPr>
          <p:cNvPr id="105" name="Picture 10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44486" y="5867145"/>
            <a:ext cx="128699" cy="187198"/>
          </a:xfrm>
          <a:prstGeom prst="rect">
            <a:avLst/>
          </a:prstGeom>
        </p:spPr>
      </p:pic>
      <p:sp>
        <p:nvSpPr>
          <p:cNvPr id="106" name="TextBox 105"/>
          <p:cNvSpPr txBox="1"/>
          <p:nvPr/>
        </p:nvSpPr>
        <p:spPr>
          <a:xfrm>
            <a:off x="7511982" y="5876925"/>
            <a:ext cx="102272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combined share.</a:t>
            </a:r>
          </a:p>
        </p:txBody>
      </p:sp>
    </p:spTree>
  </p:cSld>
  <p:clrMapOvr>
    <a:masterClrMapping/>
  </p:clrMapOvr>
</p:sld>
</file>

<file path=ppt/slides/slide23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Corporate Scorecard: Who They Are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Eight corporate Ps for every named competitor: ownership, strategy, breadth, presence, scale and performance</a:t>
            </a:r>
          </a:p>
        </p:txBody>
      </p:sp>
      <p:sp>
        <p:nvSpPr>
          <p:cNvPr id="10" name="Rectangle 9"/>
          <p:cNvSpPr/>
          <p:nvPr/>
        </p:nvSpPr>
        <p:spPr>
          <a:xfrm>
            <a:off x="190500" y="1047750"/>
            <a:ext cx="11811000" cy="2095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66700" y="1047750"/>
            <a:ext cx="666750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LEVEL 1, CORPORATE: WHO THEY ARE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2038350" y="1295400"/>
            <a:ext cx="230505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Parent and ownership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2038350" y="1657350"/>
            <a:ext cx="2305050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From the company roster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4419600" y="1295400"/>
            <a:ext cx="11938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Purpose (strategy)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4419600" y="1657350"/>
            <a:ext cx="1193800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Dominant active move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5689600" y="1295400"/>
            <a:ext cx="9821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Portfolio breadth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5689600" y="1657350"/>
            <a:ext cx="982133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Sub-segments: 6+ 3, 4+ 2, 2+ 1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6747933" y="1295400"/>
            <a:ext cx="9821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Presence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6747933" y="1657350"/>
            <a:ext cx="982133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Global 3, regional 2, local 1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7806267" y="1295400"/>
            <a:ext cx="9821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Power (scale)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7806267" y="1657350"/>
            <a:ext cx="982133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Tier 1 = 3, 2 = 2, 3 = 1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8864600" y="1295400"/>
            <a:ext cx="9821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Performance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8864600" y="1657350"/>
            <a:ext cx="982133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9922933" y="1295400"/>
            <a:ext cx="9821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People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9922933" y="1657350"/>
            <a:ext cx="982133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Talent; not assessed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10981267" y="1295400"/>
            <a:ext cx="9821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Partnerships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10981267" y="1657350"/>
            <a:ext cx="982133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Named alliances</a:t>
            </a:r>
          </a:p>
        </p:txBody>
      </p:sp>
      <p:cxnSp>
        <p:nvCxnSpPr>
          <p:cNvPr id="28" name="Connector 27"/>
          <p:cNvCxnSpPr/>
          <p:nvPr/>
        </p:nvCxnSpPr>
        <p:spPr>
          <a:xfrm>
            <a:off x="190500" y="2209800"/>
            <a:ext cx="11811000" cy="0"/>
          </a:xfrm>
          <a:prstGeom prst="line">
            <a:avLst/>
          </a:prstGeom>
          <a:ln w="12700">
            <a:solidFill>
              <a:srgbClr val="0F2D52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9" name="Rectangle 28"/>
          <p:cNvSpPr/>
          <p:nvPr/>
        </p:nvSpPr>
        <p:spPr>
          <a:xfrm>
            <a:off x="190500" y="22574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285750" y="22479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Beaphar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285750" y="24098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000250" y="2228850"/>
            <a:ext cx="238125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4419600" y="2228850"/>
            <a:ext cx="11938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Buy to scale</a:t>
            </a:r>
          </a:p>
        </p:txBody>
      </p:sp>
      <p:sp>
        <p:nvSpPr>
          <p:cNvPr id="34" name="Oval 33"/>
          <p:cNvSpPr/>
          <p:nvPr/>
        </p:nvSpPr>
        <p:spPr>
          <a:xfrm>
            <a:off x="6104467" y="23241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Oval 34"/>
          <p:cNvSpPr/>
          <p:nvPr/>
        </p:nvSpPr>
        <p:spPr>
          <a:xfrm>
            <a:off x="7162800" y="23241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Oval 35"/>
          <p:cNvSpPr/>
          <p:nvPr/>
        </p:nvSpPr>
        <p:spPr>
          <a:xfrm>
            <a:off x="8221133" y="23241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Oval 36"/>
          <p:cNvSpPr/>
          <p:nvPr/>
        </p:nvSpPr>
        <p:spPr>
          <a:xfrm>
            <a:off x="9279467" y="23241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884833" y="22288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10943167" y="22288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cxnSp>
        <p:nvCxnSpPr>
          <p:cNvPr id="40" name="Connector 39"/>
          <p:cNvCxnSpPr/>
          <p:nvPr/>
        </p:nvCxnSpPr>
        <p:spPr>
          <a:xfrm>
            <a:off x="190500" y="25717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1" name="Rectangle 40"/>
          <p:cNvSpPr/>
          <p:nvPr/>
        </p:nvSpPr>
        <p:spPr>
          <a:xfrm>
            <a:off x="190500" y="26003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285750" y="25908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Laboratoire Biogance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285750" y="27527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2000250" y="2571750"/>
            <a:ext cx="238125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4419600" y="2571750"/>
            <a:ext cx="11938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Launch-led growth</a:t>
            </a:r>
          </a:p>
        </p:txBody>
      </p:sp>
      <p:sp>
        <p:nvSpPr>
          <p:cNvPr id="46" name="Oval 45"/>
          <p:cNvSpPr/>
          <p:nvPr/>
        </p:nvSpPr>
        <p:spPr>
          <a:xfrm>
            <a:off x="6104467" y="26670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Oval 46"/>
          <p:cNvSpPr/>
          <p:nvPr/>
        </p:nvSpPr>
        <p:spPr>
          <a:xfrm>
            <a:off x="7162800" y="26670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Oval 47"/>
          <p:cNvSpPr/>
          <p:nvPr/>
        </p:nvSpPr>
        <p:spPr>
          <a:xfrm>
            <a:off x="8221133" y="26670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Oval 48"/>
          <p:cNvSpPr/>
          <p:nvPr/>
        </p:nvSpPr>
        <p:spPr>
          <a:xfrm>
            <a:off x="9279467" y="26670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9884833" y="25717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10943167" y="25717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cxnSp>
        <p:nvCxnSpPr>
          <p:cNvPr id="52" name="Connector 51"/>
          <p:cNvCxnSpPr/>
          <p:nvPr/>
        </p:nvCxnSpPr>
        <p:spPr>
          <a:xfrm>
            <a:off x="190500" y="29146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3" name="Rectangle 52"/>
          <p:cNvSpPr/>
          <p:nvPr/>
        </p:nvSpPr>
        <p:spPr>
          <a:xfrm>
            <a:off x="190500" y="29432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285750" y="29337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Laboratoire Francodex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285750" y="30956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2000250" y="2914650"/>
            <a:ext cx="238125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4419600" y="2914650"/>
            <a:ext cx="11938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Buy to scale</a:t>
            </a:r>
          </a:p>
        </p:txBody>
      </p:sp>
      <p:sp>
        <p:nvSpPr>
          <p:cNvPr id="58" name="Oval 57"/>
          <p:cNvSpPr/>
          <p:nvPr/>
        </p:nvSpPr>
        <p:spPr>
          <a:xfrm>
            <a:off x="6104467" y="30099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Oval 58"/>
          <p:cNvSpPr/>
          <p:nvPr/>
        </p:nvSpPr>
        <p:spPr>
          <a:xfrm>
            <a:off x="7162800" y="30099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Oval 59"/>
          <p:cNvSpPr/>
          <p:nvPr/>
        </p:nvSpPr>
        <p:spPr>
          <a:xfrm>
            <a:off x="8221133" y="30099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Oval 60"/>
          <p:cNvSpPr/>
          <p:nvPr/>
        </p:nvSpPr>
        <p:spPr>
          <a:xfrm>
            <a:off x="9279467" y="30099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Freeform 61"/>
          <p:cNvSpPr/>
          <p:nvPr/>
        </p:nvSpPr>
        <p:spPr>
          <a:xfrm>
            <a:off x="9353550" y="30099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TextBox 62"/>
          <p:cNvSpPr txBox="1"/>
          <p:nvPr/>
        </p:nvSpPr>
        <p:spPr>
          <a:xfrm>
            <a:off x="9884833" y="29146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10943167" y="29146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cxnSp>
        <p:nvCxnSpPr>
          <p:cNvPr id="65" name="Connector 64"/>
          <p:cNvCxnSpPr/>
          <p:nvPr/>
        </p:nvCxnSpPr>
        <p:spPr>
          <a:xfrm>
            <a:off x="190500" y="32575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6" name="Rectangle 65"/>
          <p:cNvSpPr/>
          <p:nvPr/>
        </p:nvSpPr>
        <p:spPr>
          <a:xfrm>
            <a:off x="190500" y="32861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TextBox 66"/>
          <p:cNvSpPr txBox="1"/>
          <p:nvPr/>
        </p:nvSpPr>
        <p:spPr>
          <a:xfrm>
            <a:off x="285750" y="32766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Group55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285750" y="34385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2000250" y="3257550"/>
            <a:ext cx="238125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4419600" y="3257550"/>
            <a:ext cx="11938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Launch-led growth</a:t>
            </a:r>
          </a:p>
        </p:txBody>
      </p:sp>
      <p:sp>
        <p:nvSpPr>
          <p:cNvPr id="71" name="Oval 70"/>
          <p:cNvSpPr/>
          <p:nvPr/>
        </p:nvSpPr>
        <p:spPr>
          <a:xfrm>
            <a:off x="6104467" y="33528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Freeform 71"/>
          <p:cNvSpPr/>
          <p:nvPr/>
        </p:nvSpPr>
        <p:spPr>
          <a:xfrm>
            <a:off x="6181725" y="33528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Oval 72"/>
          <p:cNvSpPr/>
          <p:nvPr/>
        </p:nvSpPr>
        <p:spPr>
          <a:xfrm>
            <a:off x="7162800" y="33528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Oval 73"/>
          <p:cNvSpPr/>
          <p:nvPr/>
        </p:nvSpPr>
        <p:spPr>
          <a:xfrm>
            <a:off x="8221133" y="33528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Oval 74"/>
          <p:cNvSpPr/>
          <p:nvPr/>
        </p:nvSpPr>
        <p:spPr>
          <a:xfrm>
            <a:off x="9279467" y="33528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Freeform 75"/>
          <p:cNvSpPr/>
          <p:nvPr/>
        </p:nvSpPr>
        <p:spPr>
          <a:xfrm>
            <a:off x="9353550" y="33528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TextBox 76"/>
          <p:cNvSpPr txBox="1"/>
          <p:nvPr/>
        </p:nvSpPr>
        <p:spPr>
          <a:xfrm>
            <a:off x="9884833" y="32575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78" name="TextBox 77"/>
          <p:cNvSpPr txBox="1"/>
          <p:nvPr/>
        </p:nvSpPr>
        <p:spPr>
          <a:xfrm>
            <a:off x="10943167" y="32575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cxnSp>
        <p:nvCxnSpPr>
          <p:cNvPr id="79" name="Connector 78"/>
          <p:cNvCxnSpPr/>
          <p:nvPr/>
        </p:nvCxnSpPr>
        <p:spPr>
          <a:xfrm>
            <a:off x="190500" y="36004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0" name="Rectangle 79"/>
          <p:cNvSpPr/>
          <p:nvPr/>
        </p:nvSpPr>
        <p:spPr>
          <a:xfrm>
            <a:off x="190500" y="3629025"/>
            <a:ext cx="38100" cy="28575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TextBox 80"/>
          <p:cNvSpPr txBox="1"/>
          <p:nvPr/>
        </p:nvSpPr>
        <p:spPr>
          <a:xfrm>
            <a:off x="285750" y="36195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Lakeland Cosmetics</a:t>
            </a:r>
          </a:p>
        </p:txBody>
      </p:sp>
      <p:sp>
        <p:nvSpPr>
          <p:cNvPr id="82" name="TextBox 81"/>
          <p:cNvSpPr txBox="1"/>
          <p:nvPr/>
        </p:nvSpPr>
        <p:spPr>
          <a:xfrm>
            <a:off x="285750" y="37814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2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2000250" y="3600450"/>
            <a:ext cx="238125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4419600" y="3600450"/>
            <a:ext cx="11938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Buy to scale</a:t>
            </a:r>
          </a:p>
        </p:txBody>
      </p:sp>
      <p:sp>
        <p:nvSpPr>
          <p:cNvPr id="85" name="Oval 84"/>
          <p:cNvSpPr/>
          <p:nvPr/>
        </p:nvSpPr>
        <p:spPr>
          <a:xfrm>
            <a:off x="6104467" y="36957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Freeform 85"/>
          <p:cNvSpPr/>
          <p:nvPr/>
        </p:nvSpPr>
        <p:spPr>
          <a:xfrm>
            <a:off x="6181725" y="36957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Oval 86"/>
          <p:cNvSpPr/>
          <p:nvPr/>
        </p:nvSpPr>
        <p:spPr>
          <a:xfrm>
            <a:off x="7162800" y="36957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Freeform 87"/>
          <p:cNvSpPr/>
          <p:nvPr/>
        </p:nvSpPr>
        <p:spPr>
          <a:xfrm>
            <a:off x="7239000" y="36957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Oval 88"/>
          <p:cNvSpPr/>
          <p:nvPr/>
        </p:nvSpPr>
        <p:spPr>
          <a:xfrm>
            <a:off x="8221133" y="36957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Freeform 89"/>
          <p:cNvSpPr/>
          <p:nvPr/>
        </p:nvSpPr>
        <p:spPr>
          <a:xfrm>
            <a:off x="8296275" y="36957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Oval 90"/>
          <p:cNvSpPr/>
          <p:nvPr/>
        </p:nvSpPr>
        <p:spPr>
          <a:xfrm>
            <a:off x="9279467" y="36957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Freeform 91"/>
          <p:cNvSpPr/>
          <p:nvPr/>
        </p:nvSpPr>
        <p:spPr>
          <a:xfrm>
            <a:off x="9353550" y="36957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TextBox 92"/>
          <p:cNvSpPr txBox="1"/>
          <p:nvPr/>
        </p:nvSpPr>
        <p:spPr>
          <a:xfrm>
            <a:off x="9884833" y="36004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10943167" y="36004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cxnSp>
        <p:nvCxnSpPr>
          <p:cNvPr id="95" name="Connector 94"/>
          <p:cNvCxnSpPr/>
          <p:nvPr/>
        </p:nvCxnSpPr>
        <p:spPr>
          <a:xfrm>
            <a:off x="190500" y="39433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6" name="Rectangle 95"/>
          <p:cNvSpPr/>
          <p:nvPr/>
        </p:nvSpPr>
        <p:spPr>
          <a:xfrm>
            <a:off x="190500" y="3971925"/>
            <a:ext cx="38100" cy="28575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TextBox 96"/>
          <p:cNvSpPr txBox="1"/>
          <p:nvPr/>
        </p:nvSpPr>
        <p:spPr>
          <a:xfrm>
            <a:off x="285750" y="39624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Laboratorios Bilper</a:t>
            </a:r>
          </a:p>
        </p:txBody>
      </p:sp>
      <p:sp>
        <p:nvSpPr>
          <p:cNvPr id="98" name="TextBox 97"/>
          <p:cNvSpPr txBox="1"/>
          <p:nvPr/>
        </p:nvSpPr>
        <p:spPr>
          <a:xfrm>
            <a:off x="285750" y="41243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2</a:t>
            </a:r>
          </a:p>
        </p:txBody>
      </p:sp>
      <p:sp>
        <p:nvSpPr>
          <p:cNvPr id="99" name="TextBox 98"/>
          <p:cNvSpPr txBox="1"/>
          <p:nvPr/>
        </p:nvSpPr>
        <p:spPr>
          <a:xfrm>
            <a:off x="2000250" y="3943350"/>
            <a:ext cx="238125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100" name="TextBox 99"/>
          <p:cNvSpPr txBox="1"/>
          <p:nvPr/>
        </p:nvSpPr>
        <p:spPr>
          <a:xfrm>
            <a:off x="4419600" y="3943350"/>
            <a:ext cx="11938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Launch-led growth</a:t>
            </a:r>
          </a:p>
        </p:txBody>
      </p:sp>
      <p:sp>
        <p:nvSpPr>
          <p:cNvPr id="101" name="Oval 100"/>
          <p:cNvSpPr/>
          <p:nvPr/>
        </p:nvSpPr>
        <p:spPr>
          <a:xfrm>
            <a:off x="6104467" y="40386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Freeform 101"/>
          <p:cNvSpPr/>
          <p:nvPr/>
        </p:nvSpPr>
        <p:spPr>
          <a:xfrm>
            <a:off x="6181725" y="40386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Oval 102"/>
          <p:cNvSpPr/>
          <p:nvPr/>
        </p:nvSpPr>
        <p:spPr>
          <a:xfrm>
            <a:off x="7162800" y="40386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Freeform 103"/>
          <p:cNvSpPr/>
          <p:nvPr/>
        </p:nvSpPr>
        <p:spPr>
          <a:xfrm>
            <a:off x="7239000" y="40386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Oval 104"/>
          <p:cNvSpPr/>
          <p:nvPr/>
        </p:nvSpPr>
        <p:spPr>
          <a:xfrm>
            <a:off x="8221133" y="40386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Freeform 105"/>
          <p:cNvSpPr/>
          <p:nvPr/>
        </p:nvSpPr>
        <p:spPr>
          <a:xfrm>
            <a:off x="8296275" y="40386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Oval 106"/>
          <p:cNvSpPr/>
          <p:nvPr/>
        </p:nvSpPr>
        <p:spPr>
          <a:xfrm>
            <a:off x="9279467" y="40386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Freeform 107"/>
          <p:cNvSpPr/>
          <p:nvPr/>
        </p:nvSpPr>
        <p:spPr>
          <a:xfrm>
            <a:off x="9353550" y="40386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TextBox 108"/>
          <p:cNvSpPr txBox="1"/>
          <p:nvPr/>
        </p:nvSpPr>
        <p:spPr>
          <a:xfrm>
            <a:off x="9884833" y="39433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110" name="TextBox 109"/>
          <p:cNvSpPr txBox="1"/>
          <p:nvPr/>
        </p:nvSpPr>
        <p:spPr>
          <a:xfrm>
            <a:off x="10943167" y="39433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cxnSp>
        <p:nvCxnSpPr>
          <p:cNvPr id="111" name="Connector 110"/>
          <p:cNvCxnSpPr/>
          <p:nvPr/>
        </p:nvCxnSpPr>
        <p:spPr>
          <a:xfrm>
            <a:off x="190500" y="42862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2" name="Rectangle 111"/>
          <p:cNvSpPr/>
          <p:nvPr/>
        </p:nvSpPr>
        <p:spPr>
          <a:xfrm>
            <a:off x="190500" y="43148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TextBox 112"/>
          <p:cNvSpPr txBox="1"/>
          <p:nvPr/>
        </p:nvSpPr>
        <p:spPr>
          <a:xfrm>
            <a:off x="285750" y="43053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Artero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285750" y="44672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2000250" y="4286250"/>
            <a:ext cx="238125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4419600" y="4286250"/>
            <a:ext cx="11938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Buy to scale</a:t>
            </a:r>
          </a:p>
        </p:txBody>
      </p:sp>
      <p:sp>
        <p:nvSpPr>
          <p:cNvPr id="117" name="Oval 116"/>
          <p:cNvSpPr/>
          <p:nvPr/>
        </p:nvSpPr>
        <p:spPr>
          <a:xfrm>
            <a:off x="6104467" y="43815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Freeform 117"/>
          <p:cNvSpPr/>
          <p:nvPr/>
        </p:nvSpPr>
        <p:spPr>
          <a:xfrm>
            <a:off x="6181725" y="43815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Oval 118"/>
          <p:cNvSpPr/>
          <p:nvPr/>
        </p:nvSpPr>
        <p:spPr>
          <a:xfrm>
            <a:off x="7162800" y="43815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Freeform 119"/>
          <p:cNvSpPr/>
          <p:nvPr/>
        </p:nvSpPr>
        <p:spPr>
          <a:xfrm>
            <a:off x="7239000" y="438150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Oval 120"/>
          <p:cNvSpPr/>
          <p:nvPr/>
        </p:nvSpPr>
        <p:spPr>
          <a:xfrm>
            <a:off x="8221133" y="43815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Freeform 121"/>
          <p:cNvSpPr/>
          <p:nvPr/>
        </p:nvSpPr>
        <p:spPr>
          <a:xfrm>
            <a:off x="8296275" y="438150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Oval 122"/>
          <p:cNvSpPr/>
          <p:nvPr/>
        </p:nvSpPr>
        <p:spPr>
          <a:xfrm>
            <a:off x="9279467" y="43815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Freeform 123"/>
          <p:cNvSpPr/>
          <p:nvPr/>
        </p:nvSpPr>
        <p:spPr>
          <a:xfrm>
            <a:off x="9353550" y="43815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TextBox 124"/>
          <p:cNvSpPr txBox="1"/>
          <p:nvPr/>
        </p:nvSpPr>
        <p:spPr>
          <a:xfrm>
            <a:off x="9884833" y="42862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126" name="TextBox 125"/>
          <p:cNvSpPr txBox="1"/>
          <p:nvPr/>
        </p:nvSpPr>
        <p:spPr>
          <a:xfrm>
            <a:off x="10943167" y="42862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cxnSp>
        <p:nvCxnSpPr>
          <p:cNvPr id="127" name="Connector 126"/>
          <p:cNvCxnSpPr/>
          <p:nvPr/>
        </p:nvCxnSpPr>
        <p:spPr>
          <a:xfrm>
            <a:off x="190500" y="46291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8" name="Rectangle 127"/>
          <p:cNvSpPr/>
          <p:nvPr/>
        </p:nvSpPr>
        <p:spPr>
          <a:xfrm>
            <a:off x="190500" y="46577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TextBox 128"/>
          <p:cNvSpPr txBox="1"/>
          <p:nvPr/>
        </p:nvSpPr>
        <p:spPr>
          <a:xfrm>
            <a:off x="285750" y="46482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Iv San Bernard</a:t>
            </a:r>
          </a:p>
        </p:txBody>
      </p:sp>
      <p:sp>
        <p:nvSpPr>
          <p:cNvPr id="130" name="TextBox 129"/>
          <p:cNvSpPr txBox="1"/>
          <p:nvPr/>
        </p:nvSpPr>
        <p:spPr>
          <a:xfrm>
            <a:off x="285750" y="48101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131" name="TextBox 130"/>
          <p:cNvSpPr txBox="1"/>
          <p:nvPr/>
        </p:nvSpPr>
        <p:spPr>
          <a:xfrm>
            <a:off x="2000250" y="4629150"/>
            <a:ext cx="238125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132" name="TextBox 131"/>
          <p:cNvSpPr txBox="1"/>
          <p:nvPr/>
        </p:nvSpPr>
        <p:spPr>
          <a:xfrm>
            <a:off x="4419600" y="4629150"/>
            <a:ext cx="11938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Launch-led growth</a:t>
            </a:r>
          </a:p>
        </p:txBody>
      </p:sp>
      <p:sp>
        <p:nvSpPr>
          <p:cNvPr id="133" name="Oval 132"/>
          <p:cNvSpPr/>
          <p:nvPr/>
        </p:nvSpPr>
        <p:spPr>
          <a:xfrm>
            <a:off x="6104467" y="47244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Freeform 133"/>
          <p:cNvSpPr/>
          <p:nvPr/>
        </p:nvSpPr>
        <p:spPr>
          <a:xfrm>
            <a:off x="6181725" y="47244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Oval 134"/>
          <p:cNvSpPr/>
          <p:nvPr/>
        </p:nvSpPr>
        <p:spPr>
          <a:xfrm>
            <a:off x="7162800" y="47244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Freeform 135"/>
          <p:cNvSpPr/>
          <p:nvPr/>
        </p:nvSpPr>
        <p:spPr>
          <a:xfrm>
            <a:off x="7239000" y="472440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Oval 136"/>
          <p:cNvSpPr/>
          <p:nvPr/>
        </p:nvSpPr>
        <p:spPr>
          <a:xfrm>
            <a:off x="8221133" y="47244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Freeform 137"/>
          <p:cNvSpPr/>
          <p:nvPr/>
        </p:nvSpPr>
        <p:spPr>
          <a:xfrm>
            <a:off x="8296275" y="472440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Oval 138"/>
          <p:cNvSpPr/>
          <p:nvPr/>
        </p:nvSpPr>
        <p:spPr>
          <a:xfrm>
            <a:off x="9279467" y="47244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Freeform 139"/>
          <p:cNvSpPr/>
          <p:nvPr/>
        </p:nvSpPr>
        <p:spPr>
          <a:xfrm>
            <a:off x="9353550" y="472440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TextBox 140"/>
          <p:cNvSpPr txBox="1"/>
          <p:nvPr/>
        </p:nvSpPr>
        <p:spPr>
          <a:xfrm>
            <a:off x="9884833" y="46291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142" name="TextBox 141"/>
          <p:cNvSpPr txBox="1"/>
          <p:nvPr/>
        </p:nvSpPr>
        <p:spPr>
          <a:xfrm>
            <a:off x="10943167" y="46291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cxnSp>
        <p:nvCxnSpPr>
          <p:cNvPr id="143" name="Connector 142"/>
          <p:cNvCxnSpPr/>
          <p:nvPr/>
        </p:nvCxnSpPr>
        <p:spPr>
          <a:xfrm>
            <a:off x="190500" y="49720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4" name="Rectangle 143"/>
          <p:cNvSpPr/>
          <p:nvPr/>
        </p:nvSpPr>
        <p:spPr>
          <a:xfrm>
            <a:off x="190500" y="50006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5" name="TextBox 144"/>
          <p:cNvSpPr txBox="1"/>
          <p:nvPr/>
        </p:nvSpPr>
        <p:spPr>
          <a:xfrm>
            <a:off x="285750" y="49911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Cosmetica Veneta</a:t>
            </a:r>
          </a:p>
        </p:txBody>
      </p:sp>
      <p:sp>
        <p:nvSpPr>
          <p:cNvPr id="146" name="TextBox 145"/>
          <p:cNvSpPr txBox="1"/>
          <p:nvPr/>
        </p:nvSpPr>
        <p:spPr>
          <a:xfrm>
            <a:off x="285750" y="51530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2000250" y="4972050"/>
            <a:ext cx="238125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148" name="TextBox 147"/>
          <p:cNvSpPr txBox="1"/>
          <p:nvPr/>
        </p:nvSpPr>
        <p:spPr>
          <a:xfrm>
            <a:off x="4419600" y="4972050"/>
            <a:ext cx="11938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Buy to scale</a:t>
            </a:r>
          </a:p>
        </p:txBody>
      </p:sp>
      <p:sp>
        <p:nvSpPr>
          <p:cNvPr id="149" name="Oval 148"/>
          <p:cNvSpPr/>
          <p:nvPr/>
        </p:nvSpPr>
        <p:spPr>
          <a:xfrm>
            <a:off x="6104467" y="50673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Freeform 149"/>
          <p:cNvSpPr/>
          <p:nvPr/>
        </p:nvSpPr>
        <p:spPr>
          <a:xfrm>
            <a:off x="6181725" y="50673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Oval 150"/>
          <p:cNvSpPr/>
          <p:nvPr/>
        </p:nvSpPr>
        <p:spPr>
          <a:xfrm>
            <a:off x="7162800" y="50673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Freeform 151"/>
          <p:cNvSpPr/>
          <p:nvPr/>
        </p:nvSpPr>
        <p:spPr>
          <a:xfrm>
            <a:off x="7239000" y="506730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Oval 152"/>
          <p:cNvSpPr/>
          <p:nvPr/>
        </p:nvSpPr>
        <p:spPr>
          <a:xfrm>
            <a:off x="8221133" y="50673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Freeform 153"/>
          <p:cNvSpPr/>
          <p:nvPr/>
        </p:nvSpPr>
        <p:spPr>
          <a:xfrm>
            <a:off x="8296275" y="506730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5" name="Oval 154"/>
          <p:cNvSpPr/>
          <p:nvPr/>
        </p:nvSpPr>
        <p:spPr>
          <a:xfrm>
            <a:off x="9279467" y="50673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Freeform 155"/>
          <p:cNvSpPr/>
          <p:nvPr/>
        </p:nvSpPr>
        <p:spPr>
          <a:xfrm>
            <a:off x="9353550" y="506730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TextBox 156"/>
          <p:cNvSpPr txBox="1"/>
          <p:nvPr/>
        </p:nvSpPr>
        <p:spPr>
          <a:xfrm>
            <a:off x="9884833" y="49720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158" name="TextBox 157"/>
          <p:cNvSpPr txBox="1"/>
          <p:nvPr/>
        </p:nvSpPr>
        <p:spPr>
          <a:xfrm>
            <a:off x="10943167" y="49720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cxnSp>
        <p:nvCxnSpPr>
          <p:cNvPr id="159" name="Connector 158"/>
          <p:cNvCxnSpPr/>
          <p:nvPr/>
        </p:nvCxnSpPr>
        <p:spPr>
          <a:xfrm>
            <a:off x="190500" y="53149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0" name="Rectangle 159"/>
          <p:cNvSpPr/>
          <p:nvPr/>
        </p:nvSpPr>
        <p:spPr>
          <a:xfrm>
            <a:off x="190500" y="53435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1" name="TextBox 160"/>
          <p:cNvSpPr txBox="1"/>
          <p:nvPr/>
        </p:nvSpPr>
        <p:spPr>
          <a:xfrm>
            <a:off x="285750" y="53340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K9 Competition</a:t>
            </a:r>
          </a:p>
        </p:txBody>
      </p:sp>
      <p:sp>
        <p:nvSpPr>
          <p:cNvPr id="162" name="TextBox 161"/>
          <p:cNvSpPr txBox="1"/>
          <p:nvPr/>
        </p:nvSpPr>
        <p:spPr>
          <a:xfrm>
            <a:off x="285750" y="54959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163" name="TextBox 162"/>
          <p:cNvSpPr txBox="1"/>
          <p:nvPr/>
        </p:nvSpPr>
        <p:spPr>
          <a:xfrm>
            <a:off x="2000250" y="5314950"/>
            <a:ext cx="238125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164" name="TextBox 163"/>
          <p:cNvSpPr txBox="1"/>
          <p:nvPr/>
        </p:nvSpPr>
        <p:spPr>
          <a:xfrm>
            <a:off x="4419600" y="5314950"/>
            <a:ext cx="11938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Launch-led growth</a:t>
            </a:r>
          </a:p>
        </p:txBody>
      </p:sp>
      <p:sp>
        <p:nvSpPr>
          <p:cNvPr id="165" name="Oval 164"/>
          <p:cNvSpPr/>
          <p:nvPr/>
        </p:nvSpPr>
        <p:spPr>
          <a:xfrm>
            <a:off x="6104467" y="54102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Freeform 165"/>
          <p:cNvSpPr/>
          <p:nvPr/>
        </p:nvSpPr>
        <p:spPr>
          <a:xfrm>
            <a:off x="6181725" y="54102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7" name="Oval 166"/>
          <p:cNvSpPr/>
          <p:nvPr/>
        </p:nvSpPr>
        <p:spPr>
          <a:xfrm>
            <a:off x="7162800" y="54102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Freeform 167"/>
          <p:cNvSpPr/>
          <p:nvPr/>
        </p:nvSpPr>
        <p:spPr>
          <a:xfrm>
            <a:off x="7239000" y="541020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Oval 168"/>
          <p:cNvSpPr/>
          <p:nvPr/>
        </p:nvSpPr>
        <p:spPr>
          <a:xfrm>
            <a:off x="8221133" y="54102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Freeform 169"/>
          <p:cNvSpPr/>
          <p:nvPr/>
        </p:nvSpPr>
        <p:spPr>
          <a:xfrm>
            <a:off x="8296275" y="541020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1" name="Oval 170"/>
          <p:cNvSpPr/>
          <p:nvPr/>
        </p:nvSpPr>
        <p:spPr>
          <a:xfrm>
            <a:off x="9279467" y="54102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Freeform 171"/>
          <p:cNvSpPr/>
          <p:nvPr/>
        </p:nvSpPr>
        <p:spPr>
          <a:xfrm>
            <a:off x="9353550" y="541020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3" name="TextBox 172"/>
          <p:cNvSpPr txBox="1"/>
          <p:nvPr/>
        </p:nvSpPr>
        <p:spPr>
          <a:xfrm>
            <a:off x="9884833" y="53149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174" name="TextBox 173"/>
          <p:cNvSpPr txBox="1"/>
          <p:nvPr/>
        </p:nvSpPr>
        <p:spPr>
          <a:xfrm>
            <a:off x="10943167" y="53149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cxnSp>
        <p:nvCxnSpPr>
          <p:cNvPr id="175" name="Connector 174"/>
          <p:cNvCxnSpPr/>
          <p:nvPr/>
        </p:nvCxnSpPr>
        <p:spPr>
          <a:xfrm>
            <a:off x="190500" y="56578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6" name="Oval 175"/>
          <p:cNvSpPr/>
          <p:nvPr/>
        </p:nvSpPr>
        <p:spPr>
          <a:xfrm>
            <a:off x="200025" y="5734050"/>
            <a:ext cx="133350" cy="13335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7" name="TextBox 176"/>
          <p:cNvSpPr txBox="1"/>
          <p:nvPr/>
        </p:nvSpPr>
        <p:spPr>
          <a:xfrm>
            <a:off x="381000" y="5715000"/>
            <a:ext cx="16192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Strong, direct evidence</a:t>
            </a:r>
          </a:p>
        </p:txBody>
      </p:sp>
      <p:sp>
        <p:nvSpPr>
          <p:cNvPr id="178" name="Oval 177"/>
          <p:cNvSpPr/>
          <p:nvPr/>
        </p:nvSpPr>
        <p:spPr>
          <a:xfrm>
            <a:off x="2065020" y="5734050"/>
            <a:ext cx="133350" cy="13335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9" name="Freeform 178"/>
          <p:cNvSpPr/>
          <p:nvPr/>
        </p:nvSpPr>
        <p:spPr>
          <a:xfrm>
            <a:off x="2133600" y="5734050"/>
            <a:ext cx="66675" cy="133350"/>
          </a:xfrm>
          <a:custGeom>
            <a:avLst/>
            <a:gdLst/>
            <a:ahLst/>
            <a:cxnLst/>
            <a:rect l="l" t="t" r="r" b="b"/>
            <a:pathLst>
              <a:path w="7" h="14">
                <a:moveTo>
                  <a:pt x="0" y="7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1"/>
                </a:lnTo>
                <a:lnTo>
                  <a:pt x="4" y="2"/>
                </a:lnTo>
                <a:lnTo>
                  <a:pt x="5" y="3"/>
                </a:lnTo>
                <a:lnTo>
                  <a:pt x="6" y="4"/>
                </a:lnTo>
                <a:lnTo>
                  <a:pt x="6" y="5"/>
                </a:lnTo>
                <a:lnTo>
                  <a:pt x="7" y="6"/>
                </a:lnTo>
                <a:lnTo>
                  <a:pt x="7" y="7"/>
                </a:lnTo>
                <a:lnTo>
                  <a:pt x="7" y="8"/>
                </a:lnTo>
                <a:lnTo>
                  <a:pt x="6" y="9"/>
                </a:lnTo>
                <a:lnTo>
                  <a:pt x="6" y="10"/>
                </a:lnTo>
                <a:lnTo>
                  <a:pt x="5" y="11"/>
                </a:lnTo>
                <a:lnTo>
                  <a:pt x="4" y="12"/>
                </a:lnTo>
                <a:lnTo>
                  <a:pt x="3" y="13"/>
                </a:lnTo>
                <a:lnTo>
                  <a:pt x="2" y="14"/>
                </a:lnTo>
                <a:lnTo>
                  <a:pt x="1" y="14"/>
                </a:lnTo>
                <a:lnTo>
                  <a:pt x="0" y="14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2245995" y="5715000"/>
            <a:ext cx="16192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Moderate or partial</a:t>
            </a:r>
          </a:p>
        </p:txBody>
      </p:sp>
      <p:sp>
        <p:nvSpPr>
          <p:cNvPr id="181" name="Oval 180"/>
          <p:cNvSpPr/>
          <p:nvPr/>
        </p:nvSpPr>
        <p:spPr>
          <a:xfrm>
            <a:off x="3678555" y="5734050"/>
            <a:ext cx="133350" cy="13335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Freeform 181"/>
          <p:cNvSpPr/>
          <p:nvPr/>
        </p:nvSpPr>
        <p:spPr>
          <a:xfrm>
            <a:off x="3743325" y="5734050"/>
            <a:ext cx="66675" cy="66675"/>
          </a:xfrm>
          <a:custGeom>
            <a:avLst/>
            <a:gdLst/>
            <a:ahLst/>
            <a:cxnLst/>
            <a:rect l="l" t="t" r="r" b="b"/>
            <a:pathLst>
              <a:path w="7" h="7">
                <a:moveTo>
                  <a:pt x="0" y="7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6" y="4"/>
                </a:lnTo>
                <a:lnTo>
                  <a:pt x="7" y="5"/>
                </a:lnTo>
                <a:lnTo>
                  <a:pt x="7" y="6"/>
                </a:lnTo>
                <a:lnTo>
                  <a:pt x="7" y="7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3" name="TextBox 182"/>
          <p:cNvSpPr txBox="1"/>
          <p:nvPr/>
        </p:nvSpPr>
        <p:spPr>
          <a:xfrm>
            <a:off x="3859530" y="5715000"/>
            <a:ext cx="16192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Weak or indirect</a:t>
            </a:r>
          </a:p>
        </p:txBody>
      </p:sp>
      <p:sp>
        <p:nvSpPr>
          <p:cNvPr id="184" name="Oval 183"/>
          <p:cNvSpPr/>
          <p:nvPr/>
        </p:nvSpPr>
        <p:spPr>
          <a:xfrm>
            <a:off x="5103495" y="5734050"/>
            <a:ext cx="133350" cy="13335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5" name="TextBox 184"/>
          <p:cNvSpPr txBox="1"/>
          <p:nvPr/>
        </p:nvSpPr>
        <p:spPr>
          <a:xfrm>
            <a:off x="5284470" y="5715000"/>
            <a:ext cx="16192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None found</a:t>
            </a:r>
          </a:p>
        </p:txBody>
      </p:sp>
      <p:sp>
        <p:nvSpPr>
          <p:cNvPr id="186" name="TextBox 185"/>
          <p:cNvSpPr txBox="1"/>
          <p:nvPr/>
        </p:nvSpPr>
        <p:spPr>
          <a:xfrm>
            <a:off x="6141720" y="5715000"/>
            <a:ext cx="133350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n/a  Not assessed</a:t>
            </a:r>
          </a:p>
        </p:txBody>
      </p:sp>
      <p:sp>
        <p:nvSpPr>
          <p:cNvPr id="187" name="TextBox 186"/>
          <p:cNvSpPr txBox="1"/>
          <p:nvPr/>
        </p:nvSpPr>
        <p:spPr>
          <a:xfrm>
            <a:off x="190500" y="5943600"/>
            <a:ext cx="285750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READING</a:t>
            </a:r>
          </a:p>
        </p:txBody>
      </p:sp>
      <p:sp>
        <p:nvSpPr>
          <p:cNvPr id="188" name="TextBox 187"/>
          <p:cNvSpPr txBox="1"/>
          <p:nvPr/>
        </p:nvSpPr>
        <p:spPr>
          <a:xfrm>
            <a:off x="190500" y="6096000"/>
            <a:ext cx="11811000" cy="2286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4 of 10 named players compete globally; scale and share follow the tier structure.  People and Partnerships need company-level research and read n/a until the research feed supplies them.</a:t>
            </a:r>
          </a:p>
        </p:txBody>
      </p:sp>
      <p:sp>
        <p:nvSpPr>
          <p:cNvPr id="189" name="TextBox 18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190" name="TextBox 189"/>
          <p:cNvSpPr txBox="1"/>
          <p:nvPr/>
        </p:nvSpPr>
        <p:spPr>
          <a:xfrm>
            <a:off x="8893175" y="1666875"/>
            <a:ext cx="39898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5F6B7A"/>
                </a:solidFill>
                <a:latin typeface="Calibri"/>
              </a:rPr>
              <a:t>Share</a:t>
            </a:r>
          </a:p>
        </p:txBody>
      </p:sp>
      <p:pic>
        <p:nvPicPr>
          <p:cNvPr id="191" name="Picture 19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240209" y="1657096"/>
            <a:ext cx="128699" cy="187198"/>
          </a:xfrm>
          <a:prstGeom prst="rect">
            <a:avLst/>
          </a:prstGeom>
        </p:spPr>
      </p:pic>
      <p:sp>
        <p:nvSpPr>
          <p:cNvPr id="192" name="TextBox 191"/>
          <p:cNvSpPr txBox="1"/>
          <p:nvPr/>
        </p:nvSpPr>
        <p:spPr>
          <a:xfrm>
            <a:off x="9407705" y="1666875"/>
            <a:ext cx="38452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5F6B7A"/>
                </a:solidFill>
                <a:latin typeface="Calibri"/>
              </a:rPr>
              <a:t>+ = 3,</a:t>
            </a:r>
          </a:p>
        </p:txBody>
      </p:sp>
      <p:pic>
        <p:nvPicPr>
          <p:cNvPr id="193" name="Picture 19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879707" y="1824736"/>
            <a:ext cx="128699" cy="187198"/>
          </a:xfrm>
          <a:prstGeom prst="rect">
            <a:avLst/>
          </a:prstGeom>
        </p:spPr>
      </p:pic>
      <p:sp>
        <p:nvSpPr>
          <p:cNvPr id="194" name="TextBox 193"/>
          <p:cNvSpPr txBox="1"/>
          <p:nvPr/>
        </p:nvSpPr>
        <p:spPr>
          <a:xfrm>
            <a:off x="9047203" y="1834515"/>
            <a:ext cx="6434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5F6B7A"/>
                </a:solidFill>
                <a:latin typeface="Calibri"/>
              </a:rPr>
              <a:t>= 2, else 1</a:t>
            </a:r>
          </a:p>
        </p:txBody>
      </p:sp>
    </p:spTree>
  </p:cSld>
  <p:clrMapOvr>
    <a:masterClrMapping/>
  </p:clrMapOvr>
</p:sld>
</file>

<file path=ppt/slides/slide23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Offering Scorecard: What They Sell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Six offering Ps: product, technology, price and model, verticals, proof and IP</a:t>
            </a:r>
          </a:p>
        </p:txBody>
      </p:sp>
      <p:sp>
        <p:nvSpPr>
          <p:cNvPr id="10" name="Rectangle 9"/>
          <p:cNvSpPr/>
          <p:nvPr/>
        </p:nvSpPr>
        <p:spPr>
          <a:xfrm>
            <a:off x="190500" y="1047750"/>
            <a:ext cx="11811000" cy="2095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66700" y="1047750"/>
            <a:ext cx="666750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LEVEL 2, OFFERING: WHAT THEY SELL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2038350" y="1295400"/>
            <a:ext cx="1394572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Product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2038350" y="1657350"/>
            <a:ext cx="1394572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Of the top three types offered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3509122" y="1295400"/>
            <a:ext cx="1394572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Platform (technology)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3509122" y="1657350"/>
            <a:ext cx="1394572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R&amp;D and development: both 3, one 2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4979894" y="129540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Price and model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4979894" y="1657350"/>
            <a:ext cx="1688726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Positioning by tier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6744821" y="129540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Positioning (verticals)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6744821" y="1657350"/>
            <a:ext cx="1688726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End uses served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8509747" y="129540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Proof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8509747" y="1657350"/>
            <a:ext cx="1688726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Named customer references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10274674" y="129540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Patents and IP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10274674" y="1657350"/>
            <a:ext cx="1688726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Where the study covers patents</a:t>
            </a:r>
          </a:p>
        </p:txBody>
      </p:sp>
      <p:cxnSp>
        <p:nvCxnSpPr>
          <p:cNvPr id="24" name="Connector 23"/>
          <p:cNvCxnSpPr/>
          <p:nvPr/>
        </p:nvCxnSpPr>
        <p:spPr>
          <a:xfrm>
            <a:off x="190500" y="2209800"/>
            <a:ext cx="11811000" cy="0"/>
          </a:xfrm>
          <a:prstGeom prst="line">
            <a:avLst/>
          </a:prstGeom>
          <a:ln w="12700">
            <a:solidFill>
              <a:srgbClr val="0F2D52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" name="Rectangle 24"/>
          <p:cNvSpPr/>
          <p:nvPr/>
        </p:nvSpPr>
        <p:spPr>
          <a:xfrm>
            <a:off x="190500" y="22574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285750" y="22479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Beaphar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285750" y="24098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28" name="Oval 27"/>
          <p:cNvSpPr/>
          <p:nvPr/>
        </p:nvSpPr>
        <p:spPr>
          <a:xfrm>
            <a:off x="2659436" y="23241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Oval 28"/>
          <p:cNvSpPr/>
          <p:nvPr/>
        </p:nvSpPr>
        <p:spPr>
          <a:xfrm>
            <a:off x="4130208" y="23241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Freeform 29"/>
          <p:cNvSpPr/>
          <p:nvPr/>
        </p:nvSpPr>
        <p:spPr>
          <a:xfrm>
            <a:off x="4210050" y="23241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7" y="7"/>
                </a:lnTo>
                <a:lnTo>
                  <a:pt x="8" y="8"/>
                </a:lnTo>
                <a:lnTo>
                  <a:pt x="7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2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4979894" y="22288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Premium / bundled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6744821" y="22288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Pet Specialty Retail, E-commerce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8471647" y="22288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10236574" y="22288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cxnSp>
        <p:nvCxnSpPr>
          <p:cNvPr id="35" name="Connector 34"/>
          <p:cNvCxnSpPr/>
          <p:nvPr/>
        </p:nvCxnSpPr>
        <p:spPr>
          <a:xfrm>
            <a:off x="190500" y="25717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190500" y="26003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TextBox 36"/>
          <p:cNvSpPr txBox="1"/>
          <p:nvPr/>
        </p:nvSpPr>
        <p:spPr>
          <a:xfrm>
            <a:off x="285750" y="25908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Laboratoire Biogance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285750" y="27527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39" name="Oval 38"/>
          <p:cNvSpPr/>
          <p:nvPr/>
        </p:nvSpPr>
        <p:spPr>
          <a:xfrm>
            <a:off x="2659436" y="26670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Freeform 39"/>
          <p:cNvSpPr/>
          <p:nvPr/>
        </p:nvSpPr>
        <p:spPr>
          <a:xfrm>
            <a:off x="2733675" y="26670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Oval 40"/>
          <p:cNvSpPr/>
          <p:nvPr/>
        </p:nvSpPr>
        <p:spPr>
          <a:xfrm>
            <a:off x="4130208" y="26670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4979894" y="25717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Premium / bundled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6744821" y="25717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Pet Specialty Retail, General Retail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8471647" y="25717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10236574" y="25717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cxnSp>
        <p:nvCxnSpPr>
          <p:cNvPr id="46" name="Connector 45"/>
          <p:cNvCxnSpPr/>
          <p:nvPr/>
        </p:nvCxnSpPr>
        <p:spPr>
          <a:xfrm>
            <a:off x="190500" y="29146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7" name="Rectangle 46"/>
          <p:cNvSpPr/>
          <p:nvPr/>
        </p:nvSpPr>
        <p:spPr>
          <a:xfrm>
            <a:off x="190500" y="29432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85750" y="29337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Laboratoire Francodex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285750" y="30956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50" name="Oval 49"/>
          <p:cNvSpPr/>
          <p:nvPr/>
        </p:nvSpPr>
        <p:spPr>
          <a:xfrm>
            <a:off x="2659436" y="30099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Freeform 50"/>
          <p:cNvSpPr/>
          <p:nvPr/>
        </p:nvSpPr>
        <p:spPr>
          <a:xfrm>
            <a:off x="2733675" y="30099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Oval 51"/>
          <p:cNvSpPr/>
          <p:nvPr/>
        </p:nvSpPr>
        <p:spPr>
          <a:xfrm>
            <a:off x="4130208" y="30099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Freeform 52"/>
          <p:cNvSpPr/>
          <p:nvPr/>
        </p:nvSpPr>
        <p:spPr>
          <a:xfrm>
            <a:off x="4210050" y="30099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7" y="7"/>
                </a:lnTo>
                <a:lnTo>
                  <a:pt x="8" y="8"/>
                </a:lnTo>
                <a:lnTo>
                  <a:pt x="7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2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4979894" y="29146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Premium / bundled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6744821" y="29146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E-commerce, General Retail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8471647" y="29146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10236574" y="29146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cxnSp>
        <p:nvCxnSpPr>
          <p:cNvPr id="58" name="Connector 57"/>
          <p:cNvCxnSpPr/>
          <p:nvPr/>
        </p:nvCxnSpPr>
        <p:spPr>
          <a:xfrm>
            <a:off x="190500" y="32575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9" name="Rectangle 58"/>
          <p:cNvSpPr/>
          <p:nvPr/>
        </p:nvSpPr>
        <p:spPr>
          <a:xfrm>
            <a:off x="190500" y="32861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85750" y="32766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Group55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285750" y="34385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62" name="Oval 61"/>
          <p:cNvSpPr/>
          <p:nvPr/>
        </p:nvSpPr>
        <p:spPr>
          <a:xfrm>
            <a:off x="2659436" y="33528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Freeform 62"/>
          <p:cNvSpPr/>
          <p:nvPr/>
        </p:nvSpPr>
        <p:spPr>
          <a:xfrm>
            <a:off x="2733675" y="33528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Oval 63"/>
          <p:cNvSpPr/>
          <p:nvPr/>
        </p:nvSpPr>
        <p:spPr>
          <a:xfrm>
            <a:off x="4130208" y="33528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TextBox 64"/>
          <p:cNvSpPr txBox="1"/>
          <p:nvPr/>
        </p:nvSpPr>
        <p:spPr>
          <a:xfrm>
            <a:off x="4979894" y="32575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Premium / bundled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6744821" y="32575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Pet Specialty Retail, E-commerce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8471647" y="32575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10236574" y="32575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cxnSp>
        <p:nvCxnSpPr>
          <p:cNvPr id="69" name="Connector 68"/>
          <p:cNvCxnSpPr/>
          <p:nvPr/>
        </p:nvCxnSpPr>
        <p:spPr>
          <a:xfrm>
            <a:off x="190500" y="36004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0" name="Rectangle 69"/>
          <p:cNvSpPr/>
          <p:nvPr/>
        </p:nvSpPr>
        <p:spPr>
          <a:xfrm>
            <a:off x="190500" y="3629025"/>
            <a:ext cx="38100" cy="28575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TextBox 70"/>
          <p:cNvSpPr txBox="1"/>
          <p:nvPr/>
        </p:nvSpPr>
        <p:spPr>
          <a:xfrm>
            <a:off x="285750" y="36195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Lakeland Cosmetics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285750" y="37814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2</a:t>
            </a:r>
          </a:p>
        </p:txBody>
      </p:sp>
      <p:sp>
        <p:nvSpPr>
          <p:cNvPr id="73" name="Oval 72"/>
          <p:cNvSpPr/>
          <p:nvPr/>
        </p:nvSpPr>
        <p:spPr>
          <a:xfrm>
            <a:off x="2659436" y="36957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Oval 73"/>
          <p:cNvSpPr/>
          <p:nvPr/>
        </p:nvSpPr>
        <p:spPr>
          <a:xfrm>
            <a:off x="4130208" y="36957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Freeform 74"/>
          <p:cNvSpPr/>
          <p:nvPr/>
        </p:nvSpPr>
        <p:spPr>
          <a:xfrm>
            <a:off x="4210050" y="36957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7" y="7"/>
                </a:lnTo>
                <a:lnTo>
                  <a:pt x="8" y="8"/>
                </a:lnTo>
                <a:lnTo>
                  <a:pt x="7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2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4979894" y="36004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Mid / value-added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6744821" y="36004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Pet Specialty Retail, General Retail</a:t>
            </a:r>
          </a:p>
        </p:txBody>
      </p:sp>
      <p:sp>
        <p:nvSpPr>
          <p:cNvPr id="78" name="TextBox 77"/>
          <p:cNvSpPr txBox="1"/>
          <p:nvPr/>
        </p:nvSpPr>
        <p:spPr>
          <a:xfrm>
            <a:off x="8471647" y="36004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10236574" y="36004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cxnSp>
        <p:nvCxnSpPr>
          <p:cNvPr id="80" name="Connector 79"/>
          <p:cNvCxnSpPr/>
          <p:nvPr/>
        </p:nvCxnSpPr>
        <p:spPr>
          <a:xfrm>
            <a:off x="190500" y="39433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1" name="Rectangle 80"/>
          <p:cNvSpPr/>
          <p:nvPr/>
        </p:nvSpPr>
        <p:spPr>
          <a:xfrm>
            <a:off x="190500" y="3971925"/>
            <a:ext cx="38100" cy="28575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285750" y="39624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Laboratorios Bilper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285750" y="41243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2</a:t>
            </a:r>
          </a:p>
        </p:txBody>
      </p:sp>
      <p:sp>
        <p:nvSpPr>
          <p:cNvPr id="84" name="Oval 83"/>
          <p:cNvSpPr/>
          <p:nvPr/>
        </p:nvSpPr>
        <p:spPr>
          <a:xfrm>
            <a:off x="2659436" y="40386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Freeform 84"/>
          <p:cNvSpPr/>
          <p:nvPr/>
        </p:nvSpPr>
        <p:spPr>
          <a:xfrm>
            <a:off x="2733675" y="40386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Oval 85"/>
          <p:cNvSpPr/>
          <p:nvPr/>
        </p:nvSpPr>
        <p:spPr>
          <a:xfrm>
            <a:off x="4130208" y="40386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TextBox 86"/>
          <p:cNvSpPr txBox="1"/>
          <p:nvPr/>
        </p:nvSpPr>
        <p:spPr>
          <a:xfrm>
            <a:off x="4979894" y="39433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Mid / value-added</a:t>
            </a:r>
          </a:p>
        </p:txBody>
      </p:sp>
      <p:sp>
        <p:nvSpPr>
          <p:cNvPr id="88" name="TextBox 87"/>
          <p:cNvSpPr txBox="1"/>
          <p:nvPr/>
        </p:nvSpPr>
        <p:spPr>
          <a:xfrm>
            <a:off x="6744821" y="39433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E-commerce, General Retail</a:t>
            </a:r>
          </a:p>
        </p:txBody>
      </p:sp>
      <p:sp>
        <p:nvSpPr>
          <p:cNvPr id="89" name="TextBox 88"/>
          <p:cNvSpPr txBox="1"/>
          <p:nvPr/>
        </p:nvSpPr>
        <p:spPr>
          <a:xfrm>
            <a:off x="8471647" y="39433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90" name="TextBox 89"/>
          <p:cNvSpPr txBox="1"/>
          <p:nvPr/>
        </p:nvSpPr>
        <p:spPr>
          <a:xfrm>
            <a:off x="10236574" y="39433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cxnSp>
        <p:nvCxnSpPr>
          <p:cNvPr id="91" name="Connector 90"/>
          <p:cNvCxnSpPr/>
          <p:nvPr/>
        </p:nvCxnSpPr>
        <p:spPr>
          <a:xfrm>
            <a:off x="190500" y="42862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2" name="Rectangle 91"/>
          <p:cNvSpPr/>
          <p:nvPr/>
        </p:nvSpPr>
        <p:spPr>
          <a:xfrm>
            <a:off x="190500" y="43148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TextBox 92"/>
          <p:cNvSpPr txBox="1"/>
          <p:nvPr/>
        </p:nvSpPr>
        <p:spPr>
          <a:xfrm>
            <a:off x="285750" y="43053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Artero</a:t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285750" y="44672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95" name="Oval 94"/>
          <p:cNvSpPr/>
          <p:nvPr/>
        </p:nvSpPr>
        <p:spPr>
          <a:xfrm>
            <a:off x="2659436" y="43815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Freeform 95"/>
          <p:cNvSpPr/>
          <p:nvPr/>
        </p:nvSpPr>
        <p:spPr>
          <a:xfrm>
            <a:off x="2733675" y="43815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Oval 96"/>
          <p:cNvSpPr/>
          <p:nvPr/>
        </p:nvSpPr>
        <p:spPr>
          <a:xfrm>
            <a:off x="4130208" y="43815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Freeform 97"/>
          <p:cNvSpPr/>
          <p:nvPr/>
        </p:nvSpPr>
        <p:spPr>
          <a:xfrm>
            <a:off x="4210050" y="43815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7" y="7"/>
                </a:lnTo>
                <a:lnTo>
                  <a:pt x="8" y="8"/>
                </a:lnTo>
                <a:lnTo>
                  <a:pt x="7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2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TextBox 98"/>
          <p:cNvSpPr txBox="1"/>
          <p:nvPr/>
        </p:nvSpPr>
        <p:spPr>
          <a:xfrm>
            <a:off x="4979894" y="42862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Value / entry</a:t>
            </a:r>
          </a:p>
        </p:txBody>
      </p:sp>
      <p:sp>
        <p:nvSpPr>
          <p:cNvPr id="100" name="TextBox 99"/>
          <p:cNvSpPr txBox="1"/>
          <p:nvPr/>
        </p:nvSpPr>
        <p:spPr>
          <a:xfrm>
            <a:off x="6744821" y="42862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Pet Specialty Retail, E-commerce</a:t>
            </a:r>
          </a:p>
        </p:txBody>
      </p:sp>
      <p:sp>
        <p:nvSpPr>
          <p:cNvPr id="101" name="TextBox 100"/>
          <p:cNvSpPr txBox="1"/>
          <p:nvPr/>
        </p:nvSpPr>
        <p:spPr>
          <a:xfrm>
            <a:off x="8471647" y="42862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102" name="TextBox 101"/>
          <p:cNvSpPr txBox="1"/>
          <p:nvPr/>
        </p:nvSpPr>
        <p:spPr>
          <a:xfrm>
            <a:off x="10236574" y="42862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cxnSp>
        <p:nvCxnSpPr>
          <p:cNvPr id="103" name="Connector 102"/>
          <p:cNvCxnSpPr/>
          <p:nvPr/>
        </p:nvCxnSpPr>
        <p:spPr>
          <a:xfrm>
            <a:off x="190500" y="46291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4" name="Rectangle 103"/>
          <p:cNvSpPr/>
          <p:nvPr/>
        </p:nvSpPr>
        <p:spPr>
          <a:xfrm>
            <a:off x="190500" y="46577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TextBox 104"/>
          <p:cNvSpPr txBox="1"/>
          <p:nvPr/>
        </p:nvSpPr>
        <p:spPr>
          <a:xfrm>
            <a:off x="285750" y="46482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Iv San Bernard</a:t>
            </a:r>
          </a:p>
        </p:txBody>
      </p:sp>
      <p:sp>
        <p:nvSpPr>
          <p:cNvPr id="106" name="TextBox 105"/>
          <p:cNvSpPr txBox="1"/>
          <p:nvPr/>
        </p:nvSpPr>
        <p:spPr>
          <a:xfrm>
            <a:off x="285750" y="48101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107" name="Oval 106"/>
          <p:cNvSpPr/>
          <p:nvPr/>
        </p:nvSpPr>
        <p:spPr>
          <a:xfrm>
            <a:off x="2659436" y="47244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Freeform 107"/>
          <p:cNvSpPr/>
          <p:nvPr/>
        </p:nvSpPr>
        <p:spPr>
          <a:xfrm>
            <a:off x="2733675" y="47244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Oval 108"/>
          <p:cNvSpPr/>
          <p:nvPr/>
        </p:nvSpPr>
        <p:spPr>
          <a:xfrm>
            <a:off x="4130208" y="47244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4979894" y="46291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Value / entry</a:t>
            </a:r>
          </a:p>
        </p:txBody>
      </p:sp>
      <p:sp>
        <p:nvSpPr>
          <p:cNvPr id="111" name="TextBox 110"/>
          <p:cNvSpPr txBox="1"/>
          <p:nvPr/>
        </p:nvSpPr>
        <p:spPr>
          <a:xfrm>
            <a:off x="6744821" y="46291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Pet Specialty Retail, General Retail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8471647" y="46291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113" name="TextBox 112"/>
          <p:cNvSpPr txBox="1"/>
          <p:nvPr/>
        </p:nvSpPr>
        <p:spPr>
          <a:xfrm>
            <a:off x="10236574" y="46291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cxnSp>
        <p:nvCxnSpPr>
          <p:cNvPr id="114" name="Connector 113"/>
          <p:cNvCxnSpPr/>
          <p:nvPr/>
        </p:nvCxnSpPr>
        <p:spPr>
          <a:xfrm>
            <a:off x="190500" y="49720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5" name="Rectangle 114"/>
          <p:cNvSpPr/>
          <p:nvPr/>
        </p:nvSpPr>
        <p:spPr>
          <a:xfrm>
            <a:off x="190500" y="50006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285750" y="49911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Cosmetica Veneta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285750" y="51530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118" name="Oval 117"/>
          <p:cNvSpPr/>
          <p:nvPr/>
        </p:nvSpPr>
        <p:spPr>
          <a:xfrm>
            <a:off x="2659436" y="50673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Oval 118"/>
          <p:cNvSpPr/>
          <p:nvPr/>
        </p:nvSpPr>
        <p:spPr>
          <a:xfrm>
            <a:off x="4130208" y="50673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Freeform 119"/>
          <p:cNvSpPr/>
          <p:nvPr/>
        </p:nvSpPr>
        <p:spPr>
          <a:xfrm>
            <a:off x="4210050" y="50673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7" y="7"/>
                </a:lnTo>
                <a:lnTo>
                  <a:pt x="8" y="8"/>
                </a:lnTo>
                <a:lnTo>
                  <a:pt x="7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2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TextBox 120"/>
          <p:cNvSpPr txBox="1"/>
          <p:nvPr/>
        </p:nvSpPr>
        <p:spPr>
          <a:xfrm>
            <a:off x="4979894" y="49720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Value / entry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6744821" y="49720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E-commerce, General Retail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8471647" y="49720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124" name="TextBox 123"/>
          <p:cNvSpPr txBox="1"/>
          <p:nvPr/>
        </p:nvSpPr>
        <p:spPr>
          <a:xfrm>
            <a:off x="10236574" y="49720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cxnSp>
        <p:nvCxnSpPr>
          <p:cNvPr id="125" name="Connector 124"/>
          <p:cNvCxnSpPr/>
          <p:nvPr/>
        </p:nvCxnSpPr>
        <p:spPr>
          <a:xfrm>
            <a:off x="190500" y="53149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6" name="Rectangle 125"/>
          <p:cNvSpPr/>
          <p:nvPr/>
        </p:nvSpPr>
        <p:spPr>
          <a:xfrm>
            <a:off x="190500" y="53435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TextBox 126"/>
          <p:cNvSpPr txBox="1"/>
          <p:nvPr/>
        </p:nvSpPr>
        <p:spPr>
          <a:xfrm>
            <a:off x="285750" y="53340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K9 Competition</a:t>
            </a:r>
          </a:p>
        </p:txBody>
      </p:sp>
      <p:sp>
        <p:nvSpPr>
          <p:cNvPr id="128" name="TextBox 127"/>
          <p:cNvSpPr txBox="1"/>
          <p:nvPr/>
        </p:nvSpPr>
        <p:spPr>
          <a:xfrm>
            <a:off x="285750" y="54959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129" name="Oval 128"/>
          <p:cNvSpPr/>
          <p:nvPr/>
        </p:nvSpPr>
        <p:spPr>
          <a:xfrm>
            <a:off x="2659436" y="54102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Freeform 129"/>
          <p:cNvSpPr/>
          <p:nvPr/>
        </p:nvSpPr>
        <p:spPr>
          <a:xfrm>
            <a:off x="2733675" y="54102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Oval 130"/>
          <p:cNvSpPr/>
          <p:nvPr/>
        </p:nvSpPr>
        <p:spPr>
          <a:xfrm>
            <a:off x="4130208" y="54102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4979894" y="53149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Value / entry</a:t>
            </a:r>
          </a:p>
        </p:txBody>
      </p:sp>
      <p:sp>
        <p:nvSpPr>
          <p:cNvPr id="133" name="TextBox 132"/>
          <p:cNvSpPr txBox="1"/>
          <p:nvPr/>
        </p:nvSpPr>
        <p:spPr>
          <a:xfrm>
            <a:off x="6744821" y="53149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Pet Specialty Retail, E-commerce</a:t>
            </a:r>
          </a:p>
        </p:txBody>
      </p:sp>
      <p:sp>
        <p:nvSpPr>
          <p:cNvPr id="134" name="TextBox 133"/>
          <p:cNvSpPr txBox="1"/>
          <p:nvPr/>
        </p:nvSpPr>
        <p:spPr>
          <a:xfrm>
            <a:off x="8471647" y="53149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135" name="TextBox 134"/>
          <p:cNvSpPr txBox="1"/>
          <p:nvPr/>
        </p:nvSpPr>
        <p:spPr>
          <a:xfrm>
            <a:off x="10236574" y="53149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cxnSp>
        <p:nvCxnSpPr>
          <p:cNvPr id="136" name="Connector 135"/>
          <p:cNvCxnSpPr/>
          <p:nvPr/>
        </p:nvCxnSpPr>
        <p:spPr>
          <a:xfrm>
            <a:off x="190500" y="56578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7" name="Oval 136"/>
          <p:cNvSpPr/>
          <p:nvPr/>
        </p:nvSpPr>
        <p:spPr>
          <a:xfrm>
            <a:off x="200025" y="5734050"/>
            <a:ext cx="133350" cy="13335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381000" y="5715000"/>
            <a:ext cx="16192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Strong, direct evidence</a:t>
            </a:r>
          </a:p>
        </p:txBody>
      </p:sp>
      <p:sp>
        <p:nvSpPr>
          <p:cNvPr id="139" name="Oval 138"/>
          <p:cNvSpPr/>
          <p:nvPr/>
        </p:nvSpPr>
        <p:spPr>
          <a:xfrm>
            <a:off x="2065020" y="5734050"/>
            <a:ext cx="133350" cy="13335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Freeform 139"/>
          <p:cNvSpPr/>
          <p:nvPr/>
        </p:nvSpPr>
        <p:spPr>
          <a:xfrm>
            <a:off x="2133600" y="5734050"/>
            <a:ext cx="66675" cy="133350"/>
          </a:xfrm>
          <a:custGeom>
            <a:avLst/>
            <a:gdLst/>
            <a:ahLst/>
            <a:cxnLst/>
            <a:rect l="l" t="t" r="r" b="b"/>
            <a:pathLst>
              <a:path w="7" h="14">
                <a:moveTo>
                  <a:pt x="0" y="7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1"/>
                </a:lnTo>
                <a:lnTo>
                  <a:pt x="4" y="2"/>
                </a:lnTo>
                <a:lnTo>
                  <a:pt x="5" y="3"/>
                </a:lnTo>
                <a:lnTo>
                  <a:pt x="6" y="4"/>
                </a:lnTo>
                <a:lnTo>
                  <a:pt x="6" y="5"/>
                </a:lnTo>
                <a:lnTo>
                  <a:pt x="7" y="6"/>
                </a:lnTo>
                <a:lnTo>
                  <a:pt x="7" y="7"/>
                </a:lnTo>
                <a:lnTo>
                  <a:pt x="7" y="8"/>
                </a:lnTo>
                <a:lnTo>
                  <a:pt x="6" y="9"/>
                </a:lnTo>
                <a:lnTo>
                  <a:pt x="6" y="10"/>
                </a:lnTo>
                <a:lnTo>
                  <a:pt x="5" y="11"/>
                </a:lnTo>
                <a:lnTo>
                  <a:pt x="4" y="12"/>
                </a:lnTo>
                <a:lnTo>
                  <a:pt x="3" y="13"/>
                </a:lnTo>
                <a:lnTo>
                  <a:pt x="2" y="14"/>
                </a:lnTo>
                <a:lnTo>
                  <a:pt x="1" y="14"/>
                </a:lnTo>
                <a:lnTo>
                  <a:pt x="0" y="14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TextBox 140"/>
          <p:cNvSpPr txBox="1"/>
          <p:nvPr/>
        </p:nvSpPr>
        <p:spPr>
          <a:xfrm>
            <a:off x="2245995" y="5715000"/>
            <a:ext cx="16192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Moderate or partial</a:t>
            </a:r>
          </a:p>
        </p:txBody>
      </p:sp>
      <p:sp>
        <p:nvSpPr>
          <p:cNvPr id="142" name="Oval 141"/>
          <p:cNvSpPr/>
          <p:nvPr/>
        </p:nvSpPr>
        <p:spPr>
          <a:xfrm>
            <a:off x="3678555" y="5734050"/>
            <a:ext cx="133350" cy="13335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Freeform 142"/>
          <p:cNvSpPr/>
          <p:nvPr/>
        </p:nvSpPr>
        <p:spPr>
          <a:xfrm>
            <a:off x="3743325" y="5734050"/>
            <a:ext cx="66675" cy="66675"/>
          </a:xfrm>
          <a:custGeom>
            <a:avLst/>
            <a:gdLst/>
            <a:ahLst/>
            <a:cxnLst/>
            <a:rect l="l" t="t" r="r" b="b"/>
            <a:pathLst>
              <a:path w="7" h="7">
                <a:moveTo>
                  <a:pt x="0" y="7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6" y="4"/>
                </a:lnTo>
                <a:lnTo>
                  <a:pt x="7" y="5"/>
                </a:lnTo>
                <a:lnTo>
                  <a:pt x="7" y="6"/>
                </a:lnTo>
                <a:lnTo>
                  <a:pt x="7" y="7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3859530" y="5715000"/>
            <a:ext cx="16192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Weak or indirect</a:t>
            </a:r>
          </a:p>
        </p:txBody>
      </p:sp>
      <p:sp>
        <p:nvSpPr>
          <p:cNvPr id="145" name="Oval 144"/>
          <p:cNvSpPr/>
          <p:nvPr/>
        </p:nvSpPr>
        <p:spPr>
          <a:xfrm>
            <a:off x="5103495" y="5734050"/>
            <a:ext cx="133350" cy="13335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5284470" y="5715000"/>
            <a:ext cx="16192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None found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6141720" y="5715000"/>
            <a:ext cx="133350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n/a  Not assessed</a:t>
            </a:r>
          </a:p>
        </p:txBody>
      </p:sp>
      <p:sp>
        <p:nvSpPr>
          <p:cNvPr id="148" name="TextBox 147"/>
          <p:cNvSpPr txBox="1"/>
          <p:nvPr/>
        </p:nvSpPr>
        <p:spPr>
          <a:xfrm>
            <a:off x="190500" y="5943600"/>
            <a:ext cx="285750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READING</a:t>
            </a:r>
          </a:p>
        </p:txBody>
      </p:sp>
      <p:sp>
        <p:nvSpPr>
          <p:cNvPr id="149" name="TextBox 148"/>
          <p:cNvSpPr txBox="1"/>
          <p:nvPr/>
        </p:nvSpPr>
        <p:spPr>
          <a:xfrm>
            <a:off x="190500" y="6096000"/>
            <a:ext cx="11811000" cy="2286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 breadth and technology strength do not always go together; the end uses each player serves show where it competes head to head.  Proof needs customer research.</a:t>
            </a:r>
          </a:p>
        </p:txBody>
      </p:sp>
      <p:sp>
        <p:nvSpPr>
          <p:cNvPr id="150" name="TextBox 14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3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Execution Scorecard: How They Win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Six execution Ps: channel, promotion, momentum, pipeline, policy exposure and prospects</a:t>
            </a:r>
          </a:p>
        </p:txBody>
      </p:sp>
      <p:sp>
        <p:nvSpPr>
          <p:cNvPr id="10" name="Rectangle 9"/>
          <p:cNvSpPr/>
          <p:nvPr/>
        </p:nvSpPr>
        <p:spPr>
          <a:xfrm>
            <a:off x="190500" y="1047750"/>
            <a:ext cx="11811000" cy="2095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66700" y="1047750"/>
            <a:ext cx="666750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LEVEL 3, EXECUTION: HOW THEY WIN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2038350" y="129540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Place (channel)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2038350" y="1657350"/>
            <a:ext cx="1688726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Route to market by tier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3803276" y="129540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Promotion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3803276" y="1657350"/>
            <a:ext cx="1688726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Go-to-market; not assessed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5568203" y="1295400"/>
            <a:ext cx="1394572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Pace (momentum)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5568203" y="1657350"/>
            <a:ext cx="1394572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Active moves: 5+ = 3, 3-4 = 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7038975" y="129540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Pipeline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7038975" y="1657350"/>
            <a:ext cx="1688726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Launch or development in motion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8803901" y="129540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Policy exposure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8803901" y="1657350"/>
            <a:ext cx="1688726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Regulation in its favour or against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10568828" y="1295400"/>
            <a:ext cx="1394572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Prospects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10568828" y="1657350"/>
            <a:ext cx="1394572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Gaining 3, holding 2, at risk 1</a:t>
            </a:r>
          </a:p>
        </p:txBody>
      </p:sp>
      <p:cxnSp>
        <p:nvCxnSpPr>
          <p:cNvPr id="24" name="Connector 23"/>
          <p:cNvCxnSpPr/>
          <p:nvPr/>
        </p:nvCxnSpPr>
        <p:spPr>
          <a:xfrm>
            <a:off x="190500" y="2209800"/>
            <a:ext cx="11811000" cy="0"/>
          </a:xfrm>
          <a:prstGeom prst="line">
            <a:avLst/>
          </a:prstGeom>
          <a:ln w="12700">
            <a:solidFill>
              <a:srgbClr val="0F2D52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" name="Rectangle 24"/>
          <p:cNvSpPr/>
          <p:nvPr/>
        </p:nvSpPr>
        <p:spPr>
          <a:xfrm>
            <a:off x="190500" y="22574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285750" y="22479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Beaphar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285750" y="24098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2038350" y="22288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Direct + key accounts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3765176" y="22288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30" name="Oval 29"/>
          <p:cNvSpPr/>
          <p:nvPr/>
        </p:nvSpPr>
        <p:spPr>
          <a:xfrm>
            <a:off x="6189289" y="23241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7000875" y="22288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8765801" y="22288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33" name="Oval 32"/>
          <p:cNvSpPr/>
          <p:nvPr/>
        </p:nvSpPr>
        <p:spPr>
          <a:xfrm>
            <a:off x="11189914" y="23241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34" name="Connector 33"/>
          <p:cNvCxnSpPr/>
          <p:nvPr/>
        </p:nvCxnSpPr>
        <p:spPr>
          <a:xfrm>
            <a:off x="190500" y="25717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5" name="Rectangle 34"/>
          <p:cNvSpPr/>
          <p:nvPr/>
        </p:nvSpPr>
        <p:spPr>
          <a:xfrm>
            <a:off x="190500" y="26003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285750" y="25908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Laboratoire Biogance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285750" y="27527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2038350" y="25717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Direct + key accounts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3765176" y="25717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40" name="Oval 39"/>
          <p:cNvSpPr/>
          <p:nvPr/>
        </p:nvSpPr>
        <p:spPr>
          <a:xfrm>
            <a:off x="6189289" y="26670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TextBox 40"/>
          <p:cNvSpPr txBox="1"/>
          <p:nvPr/>
        </p:nvSpPr>
        <p:spPr>
          <a:xfrm>
            <a:off x="7038975" y="25717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Launch pipeline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8765801" y="25717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43" name="Oval 42"/>
          <p:cNvSpPr/>
          <p:nvPr/>
        </p:nvSpPr>
        <p:spPr>
          <a:xfrm>
            <a:off x="11189914" y="26670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44" name="Connector 43"/>
          <p:cNvCxnSpPr/>
          <p:nvPr/>
        </p:nvCxnSpPr>
        <p:spPr>
          <a:xfrm>
            <a:off x="190500" y="29146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5" name="Rectangle 44"/>
          <p:cNvSpPr/>
          <p:nvPr/>
        </p:nvSpPr>
        <p:spPr>
          <a:xfrm>
            <a:off x="190500" y="29432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85750" y="29337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Laboratoire Francodex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285750" y="30956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2038350" y="29146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Direct + key accounts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3765176" y="29146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50" name="Oval 49"/>
          <p:cNvSpPr/>
          <p:nvPr/>
        </p:nvSpPr>
        <p:spPr>
          <a:xfrm>
            <a:off x="6189289" y="30099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TextBox 50"/>
          <p:cNvSpPr txBox="1"/>
          <p:nvPr/>
        </p:nvSpPr>
        <p:spPr>
          <a:xfrm>
            <a:off x="7000875" y="29146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8765801" y="29146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53" name="Oval 52"/>
          <p:cNvSpPr/>
          <p:nvPr/>
        </p:nvSpPr>
        <p:spPr>
          <a:xfrm>
            <a:off x="11189914" y="30099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54" name="Connector 53"/>
          <p:cNvCxnSpPr/>
          <p:nvPr/>
        </p:nvCxnSpPr>
        <p:spPr>
          <a:xfrm>
            <a:off x="190500" y="32575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5" name="Rectangle 54"/>
          <p:cNvSpPr/>
          <p:nvPr/>
        </p:nvSpPr>
        <p:spPr>
          <a:xfrm>
            <a:off x="190500" y="32861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285750" y="32766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Group55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285750" y="34385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2038350" y="32575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Direct + key accounts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3765176" y="32575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60" name="Oval 59"/>
          <p:cNvSpPr/>
          <p:nvPr/>
        </p:nvSpPr>
        <p:spPr>
          <a:xfrm>
            <a:off x="6189289" y="33528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TextBox 60"/>
          <p:cNvSpPr txBox="1"/>
          <p:nvPr/>
        </p:nvSpPr>
        <p:spPr>
          <a:xfrm>
            <a:off x="7038975" y="32575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Launch pipeline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8765801" y="32575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63" name="Oval 62"/>
          <p:cNvSpPr/>
          <p:nvPr/>
        </p:nvSpPr>
        <p:spPr>
          <a:xfrm>
            <a:off x="11189914" y="33528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64" name="Connector 63"/>
          <p:cNvCxnSpPr/>
          <p:nvPr/>
        </p:nvCxnSpPr>
        <p:spPr>
          <a:xfrm>
            <a:off x="190500" y="36004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5" name="Rectangle 64"/>
          <p:cNvSpPr/>
          <p:nvPr/>
        </p:nvSpPr>
        <p:spPr>
          <a:xfrm>
            <a:off x="190500" y="3629025"/>
            <a:ext cx="38100" cy="28575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285750" y="36195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Lakeland Cosmetics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285750" y="37814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2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2038350" y="36004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Distributors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3765176" y="36004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70" name="Oval 69"/>
          <p:cNvSpPr/>
          <p:nvPr/>
        </p:nvSpPr>
        <p:spPr>
          <a:xfrm>
            <a:off x="6189289" y="36957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TextBox 70"/>
          <p:cNvSpPr txBox="1"/>
          <p:nvPr/>
        </p:nvSpPr>
        <p:spPr>
          <a:xfrm>
            <a:off x="7000875" y="36004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8765801" y="36004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73" name="Oval 72"/>
          <p:cNvSpPr/>
          <p:nvPr/>
        </p:nvSpPr>
        <p:spPr>
          <a:xfrm>
            <a:off x="11189914" y="36957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Freeform 73"/>
          <p:cNvSpPr/>
          <p:nvPr/>
        </p:nvSpPr>
        <p:spPr>
          <a:xfrm>
            <a:off x="11268075" y="36957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5" name="Connector 74"/>
          <p:cNvCxnSpPr/>
          <p:nvPr/>
        </p:nvCxnSpPr>
        <p:spPr>
          <a:xfrm>
            <a:off x="190500" y="39433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6" name="Rectangle 75"/>
          <p:cNvSpPr/>
          <p:nvPr/>
        </p:nvSpPr>
        <p:spPr>
          <a:xfrm>
            <a:off x="190500" y="3971925"/>
            <a:ext cx="38100" cy="28575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TextBox 76"/>
          <p:cNvSpPr txBox="1"/>
          <p:nvPr/>
        </p:nvSpPr>
        <p:spPr>
          <a:xfrm>
            <a:off x="285750" y="39624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Laboratorios Bilper</a:t>
            </a:r>
          </a:p>
        </p:txBody>
      </p:sp>
      <p:sp>
        <p:nvSpPr>
          <p:cNvPr id="78" name="TextBox 77"/>
          <p:cNvSpPr txBox="1"/>
          <p:nvPr/>
        </p:nvSpPr>
        <p:spPr>
          <a:xfrm>
            <a:off x="285750" y="41243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2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2038350" y="39433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Distributors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3765176" y="39433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81" name="Oval 80"/>
          <p:cNvSpPr/>
          <p:nvPr/>
        </p:nvSpPr>
        <p:spPr>
          <a:xfrm>
            <a:off x="6189289" y="40386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7038975" y="39433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Launch pipeline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8765801" y="39433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84" name="Oval 83"/>
          <p:cNvSpPr/>
          <p:nvPr/>
        </p:nvSpPr>
        <p:spPr>
          <a:xfrm>
            <a:off x="11189914" y="40386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Freeform 84"/>
          <p:cNvSpPr/>
          <p:nvPr/>
        </p:nvSpPr>
        <p:spPr>
          <a:xfrm>
            <a:off x="11268075" y="40386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86" name="Connector 85"/>
          <p:cNvCxnSpPr/>
          <p:nvPr/>
        </p:nvCxnSpPr>
        <p:spPr>
          <a:xfrm>
            <a:off x="190500" y="42862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7" name="Rectangle 86"/>
          <p:cNvSpPr/>
          <p:nvPr/>
        </p:nvSpPr>
        <p:spPr>
          <a:xfrm>
            <a:off x="190500" y="43148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85750" y="43053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Artero</a:t>
            </a:r>
          </a:p>
        </p:txBody>
      </p:sp>
      <p:sp>
        <p:nvSpPr>
          <p:cNvPr id="89" name="TextBox 88"/>
          <p:cNvSpPr txBox="1"/>
          <p:nvPr/>
        </p:nvSpPr>
        <p:spPr>
          <a:xfrm>
            <a:off x="285750" y="44672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90" name="TextBox 89"/>
          <p:cNvSpPr txBox="1"/>
          <p:nvPr/>
        </p:nvSpPr>
        <p:spPr>
          <a:xfrm>
            <a:off x="2038350" y="42862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Regional partners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3765176" y="42862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92" name="Oval 91"/>
          <p:cNvSpPr/>
          <p:nvPr/>
        </p:nvSpPr>
        <p:spPr>
          <a:xfrm>
            <a:off x="6189289" y="43815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TextBox 92"/>
          <p:cNvSpPr txBox="1"/>
          <p:nvPr/>
        </p:nvSpPr>
        <p:spPr>
          <a:xfrm>
            <a:off x="7000875" y="42862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8765801" y="42862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95" name="Oval 94"/>
          <p:cNvSpPr/>
          <p:nvPr/>
        </p:nvSpPr>
        <p:spPr>
          <a:xfrm>
            <a:off x="11189914" y="43815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Freeform 95"/>
          <p:cNvSpPr/>
          <p:nvPr/>
        </p:nvSpPr>
        <p:spPr>
          <a:xfrm>
            <a:off x="11268075" y="43815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97" name="Connector 96"/>
          <p:cNvCxnSpPr/>
          <p:nvPr/>
        </p:nvCxnSpPr>
        <p:spPr>
          <a:xfrm>
            <a:off x="190500" y="46291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8" name="Rectangle 97"/>
          <p:cNvSpPr/>
          <p:nvPr/>
        </p:nvSpPr>
        <p:spPr>
          <a:xfrm>
            <a:off x="190500" y="46577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TextBox 98"/>
          <p:cNvSpPr txBox="1"/>
          <p:nvPr/>
        </p:nvSpPr>
        <p:spPr>
          <a:xfrm>
            <a:off x="285750" y="46482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Iv San Bernard</a:t>
            </a:r>
          </a:p>
        </p:txBody>
      </p:sp>
      <p:sp>
        <p:nvSpPr>
          <p:cNvPr id="100" name="TextBox 99"/>
          <p:cNvSpPr txBox="1"/>
          <p:nvPr/>
        </p:nvSpPr>
        <p:spPr>
          <a:xfrm>
            <a:off x="285750" y="48101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101" name="TextBox 100"/>
          <p:cNvSpPr txBox="1"/>
          <p:nvPr/>
        </p:nvSpPr>
        <p:spPr>
          <a:xfrm>
            <a:off x="2038350" y="46291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Regional partners</a:t>
            </a:r>
          </a:p>
        </p:txBody>
      </p:sp>
      <p:sp>
        <p:nvSpPr>
          <p:cNvPr id="102" name="TextBox 101"/>
          <p:cNvSpPr txBox="1"/>
          <p:nvPr/>
        </p:nvSpPr>
        <p:spPr>
          <a:xfrm>
            <a:off x="3765176" y="46291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103" name="Oval 102"/>
          <p:cNvSpPr/>
          <p:nvPr/>
        </p:nvSpPr>
        <p:spPr>
          <a:xfrm>
            <a:off x="6189289" y="47244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7038975" y="46291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Launch pipeline</a:t>
            </a:r>
          </a:p>
        </p:txBody>
      </p:sp>
      <p:sp>
        <p:nvSpPr>
          <p:cNvPr id="105" name="TextBox 104"/>
          <p:cNvSpPr txBox="1"/>
          <p:nvPr/>
        </p:nvSpPr>
        <p:spPr>
          <a:xfrm>
            <a:off x="8765801" y="46291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106" name="Oval 105"/>
          <p:cNvSpPr/>
          <p:nvPr/>
        </p:nvSpPr>
        <p:spPr>
          <a:xfrm>
            <a:off x="11189914" y="47244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Freeform 106"/>
          <p:cNvSpPr/>
          <p:nvPr/>
        </p:nvSpPr>
        <p:spPr>
          <a:xfrm>
            <a:off x="11268075" y="47244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08" name="Connector 107"/>
          <p:cNvCxnSpPr/>
          <p:nvPr/>
        </p:nvCxnSpPr>
        <p:spPr>
          <a:xfrm>
            <a:off x="190500" y="49720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9" name="Rectangle 108"/>
          <p:cNvSpPr/>
          <p:nvPr/>
        </p:nvSpPr>
        <p:spPr>
          <a:xfrm>
            <a:off x="190500" y="50006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285750" y="49911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Cosmetica Veneta</a:t>
            </a:r>
          </a:p>
        </p:txBody>
      </p:sp>
      <p:sp>
        <p:nvSpPr>
          <p:cNvPr id="111" name="TextBox 110"/>
          <p:cNvSpPr txBox="1"/>
          <p:nvPr/>
        </p:nvSpPr>
        <p:spPr>
          <a:xfrm>
            <a:off x="285750" y="51530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2038350" y="49720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Regional partners</a:t>
            </a:r>
          </a:p>
        </p:txBody>
      </p:sp>
      <p:sp>
        <p:nvSpPr>
          <p:cNvPr id="113" name="TextBox 112"/>
          <p:cNvSpPr txBox="1"/>
          <p:nvPr/>
        </p:nvSpPr>
        <p:spPr>
          <a:xfrm>
            <a:off x="3765176" y="49720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114" name="Oval 113"/>
          <p:cNvSpPr/>
          <p:nvPr/>
        </p:nvSpPr>
        <p:spPr>
          <a:xfrm>
            <a:off x="6189289" y="50673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TextBox 114"/>
          <p:cNvSpPr txBox="1"/>
          <p:nvPr/>
        </p:nvSpPr>
        <p:spPr>
          <a:xfrm>
            <a:off x="7000875" y="49720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8765801" y="49720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117" name="Oval 116"/>
          <p:cNvSpPr/>
          <p:nvPr/>
        </p:nvSpPr>
        <p:spPr>
          <a:xfrm>
            <a:off x="11189914" y="50673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Freeform 117"/>
          <p:cNvSpPr/>
          <p:nvPr/>
        </p:nvSpPr>
        <p:spPr>
          <a:xfrm>
            <a:off x="11268075" y="50673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19" name="Connector 118"/>
          <p:cNvCxnSpPr/>
          <p:nvPr/>
        </p:nvCxnSpPr>
        <p:spPr>
          <a:xfrm>
            <a:off x="190500" y="53149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0" name="Rectangle 119"/>
          <p:cNvSpPr/>
          <p:nvPr/>
        </p:nvSpPr>
        <p:spPr>
          <a:xfrm>
            <a:off x="190500" y="53435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TextBox 120"/>
          <p:cNvSpPr txBox="1"/>
          <p:nvPr/>
        </p:nvSpPr>
        <p:spPr>
          <a:xfrm>
            <a:off x="285750" y="53340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K9 Competition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285750" y="54959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2038350" y="53149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Regional partners</a:t>
            </a:r>
          </a:p>
        </p:txBody>
      </p:sp>
      <p:sp>
        <p:nvSpPr>
          <p:cNvPr id="124" name="TextBox 123"/>
          <p:cNvSpPr txBox="1"/>
          <p:nvPr/>
        </p:nvSpPr>
        <p:spPr>
          <a:xfrm>
            <a:off x="3765176" y="53149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125" name="Oval 124"/>
          <p:cNvSpPr/>
          <p:nvPr/>
        </p:nvSpPr>
        <p:spPr>
          <a:xfrm>
            <a:off x="6189289" y="54102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7038975" y="53149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Launch pipeline</a:t>
            </a:r>
          </a:p>
        </p:txBody>
      </p:sp>
      <p:sp>
        <p:nvSpPr>
          <p:cNvPr id="127" name="TextBox 126"/>
          <p:cNvSpPr txBox="1"/>
          <p:nvPr/>
        </p:nvSpPr>
        <p:spPr>
          <a:xfrm>
            <a:off x="8765801" y="53149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128" name="Oval 127"/>
          <p:cNvSpPr/>
          <p:nvPr/>
        </p:nvSpPr>
        <p:spPr>
          <a:xfrm>
            <a:off x="11189914" y="54102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Freeform 128"/>
          <p:cNvSpPr/>
          <p:nvPr/>
        </p:nvSpPr>
        <p:spPr>
          <a:xfrm>
            <a:off x="11268075" y="54102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30" name="Connector 129"/>
          <p:cNvCxnSpPr/>
          <p:nvPr/>
        </p:nvCxnSpPr>
        <p:spPr>
          <a:xfrm>
            <a:off x="190500" y="56578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1" name="Oval 130"/>
          <p:cNvSpPr/>
          <p:nvPr/>
        </p:nvSpPr>
        <p:spPr>
          <a:xfrm>
            <a:off x="200025" y="5734050"/>
            <a:ext cx="133350" cy="13335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381000" y="5715000"/>
            <a:ext cx="16192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Strong, direct evidence</a:t>
            </a:r>
          </a:p>
        </p:txBody>
      </p:sp>
      <p:sp>
        <p:nvSpPr>
          <p:cNvPr id="133" name="Oval 132"/>
          <p:cNvSpPr/>
          <p:nvPr/>
        </p:nvSpPr>
        <p:spPr>
          <a:xfrm>
            <a:off x="2065020" y="5734050"/>
            <a:ext cx="133350" cy="13335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Freeform 133"/>
          <p:cNvSpPr/>
          <p:nvPr/>
        </p:nvSpPr>
        <p:spPr>
          <a:xfrm>
            <a:off x="2133600" y="5734050"/>
            <a:ext cx="66675" cy="133350"/>
          </a:xfrm>
          <a:custGeom>
            <a:avLst/>
            <a:gdLst/>
            <a:ahLst/>
            <a:cxnLst/>
            <a:rect l="l" t="t" r="r" b="b"/>
            <a:pathLst>
              <a:path w="7" h="14">
                <a:moveTo>
                  <a:pt x="0" y="7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1"/>
                </a:lnTo>
                <a:lnTo>
                  <a:pt x="4" y="2"/>
                </a:lnTo>
                <a:lnTo>
                  <a:pt x="5" y="3"/>
                </a:lnTo>
                <a:lnTo>
                  <a:pt x="6" y="4"/>
                </a:lnTo>
                <a:lnTo>
                  <a:pt x="6" y="5"/>
                </a:lnTo>
                <a:lnTo>
                  <a:pt x="7" y="6"/>
                </a:lnTo>
                <a:lnTo>
                  <a:pt x="7" y="7"/>
                </a:lnTo>
                <a:lnTo>
                  <a:pt x="7" y="8"/>
                </a:lnTo>
                <a:lnTo>
                  <a:pt x="6" y="9"/>
                </a:lnTo>
                <a:lnTo>
                  <a:pt x="6" y="10"/>
                </a:lnTo>
                <a:lnTo>
                  <a:pt x="5" y="11"/>
                </a:lnTo>
                <a:lnTo>
                  <a:pt x="4" y="12"/>
                </a:lnTo>
                <a:lnTo>
                  <a:pt x="3" y="13"/>
                </a:lnTo>
                <a:lnTo>
                  <a:pt x="2" y="14"/>
                </a:lnTo>
                <a:lnTo>
                  <a:pt x="1" y="14"/>
                </a:lnTo>
                <a:lnTo>
                  <a:pt x="0" y="14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TextBox 134"/>
          <p:cNvSpPr txBox="1"/>
          <p:nvPr/>
        </p:nvSpPr>
        <p:spPr>
          <a:xfrm>
            <a:off x="2245995" y="5715000"/>
            <a:ext cx="16192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Moderate or partial</a:t>
            </a:r>
          </a:p>
        </p:txBody>
      </p:sp>
      <p:sp>
        <p:nvSpPr>
          <p:cNvPr id="136" name="Oval 135"/>
          <p:cNvSpPr/>
          <p:nvPr/>
        </p:nvSpPr>
        <p:spPr>
          <a:xfrm>
            <a:off x="3678555" y="5734050"/>
            <a:ext cx="133350" cy="13335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Freeform 136"/>
          <p:cNvSpPr/>
          <p:nvPr/>
        </p:nvSpPr>
        <p:spPr>
          <a:xfrm>
            <a:off x="3743325" y="5734050"/>
            <a:ext cx="66675" cy="66675"/>
          </a:xfrm>
          <a:custGeom>
            <a:avLst/>
            <a:gdLst/>
            <a:ahLst/>
            <a:cxnLst/>
            <a:rect l="l" t="t" r="r" b="b"/>
            <a:pathLst>
              <a:path w="7" h="7">
                <a:moveTo>
                  <a:pt x="0" y="7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6" y="4"/>
                </a:lnTo>
                <a:lnTo>
                  <a:pt x="7" y="5"/>
                </a:lnTo>
                <a:lnTo>
                  <a:pt x="7" y="6"/>
                </a:lnTo>
                <a:lnTo>
                  <a:pt x="7" y="7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3859530" y="5715000"/>
            <a:ext cx="16192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Weak or indirect</a:t>
            </a:r>
          </a:p>
        </p:txBody>
      </p:sp>
      <p:sp>
        <p:nvSpPr>
          <p:cNvPr id="139" name="Oval 138"/>
          <p:cNvSpPr/>
          <p:nvPr/>
        </p:nvSpPr>
        <p:spPr>
          <a:xfrm>
            <a:off x="5103495" y="5734050"/>
            <a:ext cx="133350" cy="13335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5284470" y="5715000"/>
            <a:ext cx="16192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None found</a:t>
            </a:r>
          </a:p>
        </p:txBody>
      </p:sp>
      <p:sp>
        <p:nvSpPr>
          <p:cNvPr id="141" name="TextBox 140"/>
          <p:cNvSpPr txBox="1"/>
          <p:nvPr/>
        </p:nvSpPr>
        <p:spPr>
          <a:xfrm>
            <a:off x="6141720" y="5715000"/>
            <a:ext cx="133350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n/a  Not assessed</a:t>
            </a:r>
          </a:p>
        </p:txBody>
      </p:sp>
      <p:sp>
        <p:nvSpPr>
          <p:cNvPr id="142" name="TextBox 141"/>
          <p:cNvSpPr txBox="1"/>
          <p:nvPr/>
        </p:nvSpPr>
        <p:spPr>
          <a:xfrm>
            <a:off x="190500" y="5943600"/>
            <a:ext cx="285750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READING</a:t>
            </a:r>
          </a:p>
        </p:txBody>
      </p:sp>
      <p:sp>
        <p:nvSpPr>
          <p:cNvPr id="143" name="TextBox 142"/>
          <p:cNvSpPr txBox="1"/>
          <p:nvPr/>
        </p:nvSpPr>
        <p:spPr>
          <a:xfrm>
            <a:off x="190500" y="6096000"/>
            <a:ext cx="11811000" cy="2286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Momentum sits with the players running the most strategic moves; prospects combine breadth, reach, scale and pace.  Promotion and policy exposure need market and regulatory research.</a:t>
            </a:r>
          </a:p>
        </p:txBody>
      </p:sp>
      <p:sp>
        <p:nvSpPr>
          <p:cNvPr id="144" name="TextBox 14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3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Success Factors and Composite Ranking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Five weighted success factors and the composite ranking they produce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2133600" y="1047750"/>
            <a:ext cx="15811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1. Segment breadth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2133600" y="1209675"/>
            <a:ext cx="1581150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/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2133600" y="1371600"/>
            <a:ext cx="158115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Lead or be active in several sub-segments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3790950" y="1047750"/>
            <a:ext cx="15811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2. Scale and share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3790950" y="1209675"/>
            <a:ext cx="1581150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/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3790950" y="1371600"/>
            <a:ext cx="158115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Tier position and share of market value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5448300" y="1047750"/>
            <a:ext cx="15811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3. Geographic reach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5448300" y="1209675"/>
            <a:ext cx="1581150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448300" y="1371600"/>
            <a:ext cx="158115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Global, regional or single-market footprint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7105650" y="1047750"/>
            <a:ext cx="15811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4. Innovation pipeline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7105650" y="1209675"/>
            <a:ext cx="1581150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/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7105650" y="1371600"/>
            <a:ext cx="158115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R&amp;D and product development in motion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8763000" y="1047750"/>
            <a:ext cx="15811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5. Strategic momentum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8763000" y="1209675"/>
            <a:ext cx="1581150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/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8763000" y="1371600"/>
            <a:ext cx="158115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Number of active strategic moves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0420350" y="1047750"/>
            <a:ext cx="16192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Composite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10420350" y="1219200"/>
            <a:ext cx="16192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weighted 0 to 3</a:t>
            </a:r>
          </a:p>
        </p:txBody>
      </p:sp>
      <p:cxnSp>
        <p:nvCxnSpPr>
          <p:cNvPr id="27" name="Connector 26"/>
          <p:cNvCxnSpPr/>
          <p:nvPr/>
        </p:nvCxnSpPr>
        <p:spPr>
          <a:xfrm>
            <a:off x="190500" y="1752600"/>
            <a:ext cx="11811000" cy="0"/>
          </a:xfrm>
          <a:prstGeom prst="line">
            <a:avLst/>
          </a:prstGeom>
          <a:ln w="12700">
            <a:solidFill>
              <a:srgbClr val="0F2D52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8" name="Rectangle 27"/>
          <p:cNvSpPr/>
          <p:nvPr/>
        </p:nvSpPr>
        <p:spPr>
          <a:xfrm>
            <a:off x="190500" y="1847850"/>
            <a:ext cx="38100" cy="2286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285750" y="1809750"/>
            <a:ext cx="1809750" cy="3048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Laboratoire Biogance</a:t>
            </a:r>
          </a:p>
        </p:txBody>
      </p:sp>
      <p:sp>
        <p:nvSpPr>
          <p:cNvPr id="30" name="Oval 29"/>
          <p:cNvSpPr/>
          <p:nvPr/>
        </p:nvSpPr>
        <p:spPr>
          <a:xfrm>
            <a:off x="2847975" y="18859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Oval 30"/>
          <p:cNvSpPr/>
          <p:nvPr/>
        </p:nvSpPr>
        <p:spPr>
          <a:xfrm>
            <a:off x="4505325" y="18859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Oval 31"/>
          <p:cNvSpPr/>
          <p:nvPr/>
        </p:nvSpPr>
        <p:spPr>
          <a:xfrm>
            <a:off x="6162675" y="18859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Oval 32"/>
          <p:cNvSpPr/>
          <p:nvPr/>
        </p:nvSpPr>
        <p:spPr>
          <a:xfrm>
            <a:off x="7820025" y="18859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Oval 33"/>
          <p:cNvSpPr/>
          <p:nvPr/>
        </p:nvSpPr>
        <p:spPr>
          <a:xfrm>
            <a:off x="9477375" y="18859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10420350" y="1895475"/>
            <a:ext cx="1143000" cy="1333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11601450" y="1809750"/>
            <a:ext cx="419100" cy="3048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cxnSp>
        <p:nvCxnSpPr>
          <p:cNvPr id="37" name="Connector 36"/>
          <p:cNvCxnSpPr/>
          <p:nvPr/>
        </p:nvCxnSpPr>
        <p:spPr>
          <a:xfrm>
            <a:off x="190500" y="21145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8" name="Rectangle 37"/>
          <p:cNvSpPr/>
          <p:nvPr/>
        </p:nvSpPr>
        <p:spPr>
          <a:xfrm>
            <a:off x="190500" y="2152650"/>
            <a:ext cx="38100" cy="2286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TextBox 38"/>
          <p:cNvSpPr txBox="1"/>
          <p:nvPr/>
        </p:nvSpPr>
        <p:spPr>
          <a:xfrm>
            <a:off x="285750" y="2114550"/>
            <a:ext cx="1809750" cy="3048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Beaphar</a:t>
            </a:r>
          </a:p>
        </p:txBody>
      </p:sp>
      <p:sp>
        <p:nvSpPr>
          <p:cNvPr id="40" name="Oval 39"/>
          <p:cNvSpPr/>
          <p:nvPr/>
        </p:nvSpPr>
        <p:spPr>
          <a:xfrm>
            <a:off x="2847975" y="21907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Oval 40"/>
          <p:cNvSpPr/>
          <p:nvPr/>
        </p:nvSpPr>
        <p:spPr>
          <a:xfrm>
            <a:off x="4505325" y="21907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Oval 41"/>
          <p:cNvSpPr/>
          <p:nvPr/>
        </p:nvSpPr>
        <p:spPr>
          <a:xfrm>
            <a:off x="6162675" y="21907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Oval 42"/>
          <p:cNvSpPr/>
          <p:nvPr/>
        </p:nvSpPr>
        <p:spPr>
          <a:xfrm>
            <a:off x="7820025" y="21907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Freeform 43"/>
          <p:cNvSpPr/>
          <p:nvPr/>
        </p:nvSpPr>
        <p:spPr>
          <a:xfrm>
            <a:off x="7896225" y="21907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Oval 44"/>
          <p:cNvSpPr/>
          <p:nvPr/>
        </p:nvSpPr>
        <p:spPr>
          <a:xfrm>
            <a:off x="9477375" y="21907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420350" y="2200275"/>
            <a:ext cx="1085850" cy="1333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TextBox 46"/>
          <p:cNvSpPr txBox="1"/>
          <p:nvPr/>
        </p:nvSpPr>
        <p:spPr>
          <a:xfrm>
            <a:off x="11544300" y="2114550"/>
            <a:ext cx="419100" cy="3048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cxnSp>
        <p:nvCxnSpPr>
          <p:cNvPr id="48" name="Connector 47"/>
          <p:cNvCxnSpPr/>
          <p:nvPr/>
        </p:nvCxnSpPr>
        <p:spPr>
          <a:xfrm>
            <a:off x="190500" y="24193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9" name="Rectangle 48"/>
          <p:cNvSpPr/>
          <p:nvPr/>
        </p:nvSpPr>
        <p:spPr>
          <a:xfrm>
            <a:off x="190500" y="2457450"/>
            <a:ext cx="38100" cy="2286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285750" y="2419350"/>
            <a:ext cx="1809750" cy="3048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Laboratoire Francodex</a:t>
            </a:r>
          </a:p>
        </p:txBody>
      </p:sp>
      <p:sp>
        <p:nvSpPr>
          <p:cNvPr id="51" name="Oval 50"/>
          <p:cNvSpPr/>
          <p:nvPr/>
        </p:nvSpPr>
        <p:spPr>
          <a:xfrm>
            <a:off x="2847975" y="24955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Oval 51"/>
          <p:cNvSpPr/>
          <p:nvPr/>
        </p:nvSpPr>
        <p:spPr>
          <a:xfrm>
            <a:off x="4505325" y="24955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Oval 52"/>
          <p:cNvSpPr/>
          <p:nvPr/>
        </p:nvSpPr>
        <p:spPr>
          <a:xfrm>
            <a:off x="6162675" y="24955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Oval 53"/>
          <p:cNvSpPr/>
          <p:nvPr/>
        </p:nvSpPr>
        <p:spPr>
          <a:xfrm>
            <a:off x="7820025" y="24955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Freeform 54"/>
          <p:cNvSpPr/>
          <p:nvPr/>
        </p:nvSpPr>
        <p:spPr>
          <a:xfrm>
            <a:off x="7896225" y="24955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Oval 55"/>
          <p:cNvSpPr/>
          <p:nvPr/>
        </p:nvSpPr>
        <p:spPr>
          <a:xfrm>
            <a:off x="9477375" y="24955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10420350" y="2505075"/>
            <a:ext cx="1085850" cy="1333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544300" y="2419350"/>
            <a:ext cx="419100" cy="3048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cxnSp>
        <p:nvCxnSpPr>
          <p:cNvPr id="59" name="Connector 58"/>
          <p:cNvCxnSpPr/>
          <p:nvPr/>
        </p:nvCxnSpPr>
        <p:spPr>
          <a:xfrm>
            <a:off x="190500" y="27241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0" name="Rectangle 59"/>
          <p:cNvSpPr/>
          <p:nvPr/>
        </p:nvSpPr>
        <p:spPr>
          <a:xfrm>
            <a:off x="190500" y="2762250"/>
            <a:ext cx="38100" cy="2286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TextBox 60"/>
          <p:cNvSpPr txBox="1"/>
          <p:nvPr/>
        </p:nvSpPr>
        <p:spPr>
          <a:xfrm>
            <a:off x="285750" y="2724150"/>
            <a:ext cx="1809750" cy="3048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Group55</a:t>
            </a:r>
          </a:p>
        </p:txBody>
      </p:sp>
      <p:sp>
        <p:nvSpPr>
          <p:cNvPr id="62" name="Oval 61"/>
          <p:cNvSpPr/>
          <p:nvPr/>
        </p:nvSpPr>
        <p:spPr>
          <a:xfrm>
            <a:off x="2847975" y="28003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Freeform 62"/>
          <p:cNvSpPr/>
          <p:nvPr/>
        </p:nvSpPr>
        <p:spPr>
          <a:xfrm>
            <a:off x="2924175" y="28003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Oval 63"/>
          <p:cNvSpPr/>
          <p:nvPr/>
        </p:nvSpPr>
        <p:spPr>
          <a:xfrm>
            <a:off x="4505325" y="28003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Oval 64"/>
          <p:cNvSpPr/>
          <p:nvPr/>
        </p:nvSpPr>
        <p:spPr>
          <a:xfrm>
            <a:off x="6162675" y="28003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Oval 65"/>
          <p:cNvSpPr/>
          <p:nvPr/>
        </p:nvSpPr>
        <p:spPr>
          <a:xfrm>
            <a:off x="7820025" y="28003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Oval 66"/>
          <p:cNvSpPr/>
          <p:nvPr/>
        </p:nvSpPr>
        <p:spPr>
          <a:xfrm>
            <a:off x="9477375" y="28003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10420350" y="2809875"/>
            <a:ext cx="1028700" cy="1333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TextBox 68"/>
          <p:cNvSpPr txBox="1"/>
          <p:nvPr/>
        </p:nvSpPr>
        <p:spPr>
          <a:xfrm>
            <a:off x="11487150" y="2724150"/>
            <a:ext cx="419100" cy="3048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cxnSp>
        <p:nvCxnSpPr>
          <p:cNvPr id="70" name="Connector 69"/>
          <p:cNvCxnSpPr/>
          <p:nvPr/>
        </p:nvCxnSpPr>
        <p:spPr>
          <a:xfrm>
            <a:off x="190500" y="30289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1" name="Rectangle 70"/>
          <p:cNvSpPr/>
          <p:nvPr/>
        </p:nvSpPr>
        <p:spPr>
          <a:xfrm>
            <a:off x="190500" y="3067050"/>
            <a:ext cx="38100" cy="22860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285750" y="3028950"/>
            <a:ext cx="1809750" cy="3048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Laboratorios Bilper</a:t>
            </a:r>
          </a:p>
        </p:txBody>
      </p:sp>
      <p:sp>
        <p:nvSpPr>
          <p:cNvPr id="73" name="Oval 72"/>
          <p:cNvSpPr/>
          <p:nvPr/>
        </p:nvSpPr>
        <p:spPr>
          <a:xfrm>
            <a:off x="2847975" y="31051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Freeform 73"/>
          <p:cNvSpPr/>
          <p:nvPr/>
        </p:nvSpPr>
        <p:spPr>
          <a:xfrm>
            <a:off x="2924175" y="31051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Oval 74"/>
          <p:cNvSpPr/>
          <p:nvPr/>
        </p:nvSpPr>
        <p:spPr>
          <a:xfrm>
            <a:off x="4505325" y="31051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Freeform 75"/>
          <p:cNvSpPr/>
          <p:nvPr/>
        </p:nvSpPr>
        <p:spPr>
          <a:xfrm>
            <a:off x="4581525" y="31051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Oval 76"/>
          <p:cNvSpPr/>
          <p:nvPr/>
        </p:nvSpPr>
        <p:spPr>
          <a:xfrm>
            <a:off x="6162675" y="31051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Freeform 77"/>
          <p:cNvSpPr/>
          <p:nvPr/>
        </p:nvSpPr>
        <p:spPr>
          <a:xfrm>
            <a:off x="6238875" y="31051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Oval 78"/>
          <p:cNvSpPr/>
          <p:nvPr/>
        </p:nvSpPr>
        <p:spPr>
          <a:xfrm>
            <a:off x="7820025" y="31051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Oval 79"/>
          <p:cNvSpPr/>
          <p:nvPr/>
        </p:nvSpPr>
        <p:spPr>
          <a:xfrm>
            <a:off x="9477375" y="31051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Rectangle 80"/>
          <p:cNvSpPr/>
          <p:nvPr/>
        </p:nvSpPr>
        <p:spPr>
          <a:xfrm>
            <a:off x="10420350" y="3114675"/>
            <a:ext cx="876300" cy="1333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11334750" y="3028950"/>
            <a:ext cx="419100" cy="3048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cxnSp>
        <p:nvCxnSpPr>
          <p:cNvPr id="83" name="Connector 82"/>
          <p:cNvCxnSpPr/>
          <p:nvPr/>
        </p:nvCxnSpPr>
        <p:spPr>
          <a:xfrm>
            <a:off x="190500" y="33337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4" name="Rectangle 83"/>
          <p:cNvSpPr/>
          <p:nvPr/>
        </p:nvSpPr>
        <p:spPr>
          <a:xfrm>
            <a:off x="190500" y="3371850"/>
            <a:ext cx="38100" cy="22860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TextBox 84"/>
          <p:cNvSpPr txBox="1"/>
          <p:nvPr/>
        </p:nvSpPr>
        <p:spPr>
          <a:xfrm>
            <a:off x="285750" y="3333750"/>
            <a:ext cx="1809750" cy="3048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Lakeland Cosmetics</a:t>
            </a:r>
          </a:p>
        </p:txBody>
      </p:sp>
      <p:sp>
        <p:nvSpPr>
          <p:cNvPr id="86" name="Oval 85"/>
          <p:cNvSpPr/>
          <p:nvPr/>
        </p:nvSpPr>
        <p:spPr>
          <a:xfrm>
            <a:off x="2847975" y="34099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Freeform 86"/>
          <p:cNvSpPr/>
          <p:nvPr/>
        </p:nvSpPr>
        <p:spPr>
          <a:xfrm>
            <a:off x="2924175" y="34099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Oval 87"/>
          <p:cNvSpPr/>
          <p:nvPr/>
        </p:nvSpPr>
        <p:spPr>
          <a:xfrm>
            <a:off x="4505325" y="34099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Freeform 88"/>
          <p:cNvSpPr/>
          <p:nvPr/>
        </p:nvSpPr>
        <p:spPr>
          <a:xfrm>
            <a:off x="4581525" y="34099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Oval 89"/>
          <p:cNvSpPr/>
          <p:nvPr/>
        </p:nvSpPr>
        <p:spPr>
          <a:xfrm>
            <a:off x="6162675" y="34099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Freeform 90"/>
          <p:cNvSpPr/>
          <p:nvPr/>
        </p:nvSpPr>
        <p:spPr>
          <a:xfrm>
            <a:off x="6238875" y="34099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Oval 91"/>
          <p:cNvSpPr/>
          <p:nvPr/>
        </p:nvSpPr>
        <p:spPr>
          <a:xfrm>
            <a:off x="7820025" y="34099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Freeform 92"/>
          <p:cNvSpPr/>
          <p:nvPr/>
        </p:nvSpPr>
        <p:spPr>
          <a:xfrm>
            <a:off x="7896225" y="34099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Oval 93"/>
          <p:cNvSpPr/>
          <p:nvPr/>
        </p:nvSpPr>
        <p:spPr>
          <a:xfrm>
            <a:off x="9477375" y="34099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0420350" y="3419475"/>
            <a:ext cx="819150" cy="1333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11277600" y="3333750"/>
            <a:ext cx="419100" cy="3048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cxnSp>
        <p:nvCxnSpPr>
          <p:cNvPr id="97" name="Connector 96"/>
          <p:cNvCxnSpPr/>
          <p:nvPr/>
        </p:nvCxnSpPr>
        <p:spPr>
          <a:xfrm>
            <a:off x="190500" y="36385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8" name="Rectangle 97"/>
          <p:cNvSpPr/>
          <p:nvPr/>
        </p:nvSpPr>
        <p:spPr>
          <a:xfrm>
            <a:off x="190500" y="3676650"/>
            <a:ext cx="38100" cy="22860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TextBox 98"/>
          <p:cNvSpPr txBox="1"/>
          <p:nvPr/>
        </p:nvSpPr>
        <p:spPr>
          <a:xfrm>
            <a:off x="285750" y="3638550"/>
            <a:ext cx="1809750" cy="3048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Iv San Bernard</a:t>
            </a:r>
          </a:p>
        </p:txBody>
      </p:sp>
      <p:sp>
        <p:nvSpPr>
          <p:cNvPr id="100" name="Oval 99"/>
          <p:cNvSpPr/>
          <p:nvPr/>
        </p:nvSpPr>
        <p:spPr>
          <a:xfrm>
            <a:off x="2847975" y="37147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Freeform 100"/>
          <p:cNvSpPr/>
          <p:nvPr/>
        </p:nvSpPr>
        <p:spPr>
          <a:xfrm>
            <a:off x="2924175" y="37147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Oval 101"/>
          <p:cNvSpPr/>
          <p:nvPr/>
        </p:nvSpPr>
        <p:spPr>
          <a:xfrm>
            <a:off x="4505325" y="37147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Freeform 102"/>
          <p:cNvSpPr/>
          <p:nvPr/>
        </p:nvSpPr>
        <p:spPr>
          <a:xfrm>
            <a:off x="4581525" y="371475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Oval 103"/>
          <p:cNvSpPr/>
          <p:nvPr/>
        </p:nvSpPr>
        <p:spPr>
          <a:xfrm>
            <a:off x="6162675" y="37147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Freeform 104"/>
          <p:cNvSpPr/>
          <p:nvPr/>
        </p:nvSpPr>
        <p:spPr>
          <a:xfrm>
            <a:off x="6238875" y="371475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Oval 105"/>
          <p:cNvSpPr/>
          <p:nvPr/>
        </p:nvSpPr>
        <p:spPr>
          <a:xfrm>
            <a:off x="7820025" y="37147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Oval 106"/>
          <p:cNvSpPr/>
          <p:nvPr/>
        </p:nvSpPr>
        <p:spPr>
          <a:xfrm>
            <a:off x="9477375" y="37147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10420350" y="3724275"/>
            <a:ext cx="723900" cy="1333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TextBox 108"/>
          <p:cNvSpPr txBox="1"/>
          <p:nvPr/>
        </p:nvSpPr>
        <p:spPr>
          <a:xfrm>
            <a:off x="11182350" y="3638550"/>
            <a:ext cx="419100" cy="3048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cxnSp>
        <p:nvCxnSpPr>
          <p:cNvPr id="110" name="Connector 109"/>
          <p:cNvCxnSpPr/>
          <p:nvPr/>
        </p:nvCxnSpPr>
        <p:spPr>
          <a:xfrm>
            <a:off x="190500" y="39433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1" name="Rectangle 110"/>
          <p:cNvSpPr/>
          <p:nvPr/>
        </p:nvSpPr>
        <p:spPr>
          <a:xfrm>
            <a:off x="190500" y="3981450"/>
            <a:ext cx="38100" cy="22860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285750" y="3943350"/>
            <a:ext cx="1809750" cy="3048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K9 Competition</a:t>
            </a:r>
          </a:p>
        </p:txBody>
      </p:sp>
      <p:sp>
        <p:nvSpPr>
          <p:cNvPr id="113" name="Oval 112"/>
          <p:cNvSpPr/>
          <p:nvPr/>
        </p:nvSpPr>
        <p:spPr>
          <a:xfrm>
            <a:off x="2847975" y="40195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Freeform 113"/>
          <p:cNvSpPr/>
          <p:nvPr/>
        </p:nvSpPr>
        <p:spPr>
          <a:xfrm>
            <a:off x="2924175" y="40195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Oval 114"/>
          <p:cNvSpPr/>
          <p:nvPr/>
        </p:nvSpPr>
        <p:spPr>
          <a:xfrm>
            <a:off x="4505325" y="40195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Freeform 115"/>
          <p:cNvSpPr/>
          <p:nvPr/>
        </p:nvSpPr>
        <p:spPr>
          <a:xfrm>
            <a:off x="4581525" y="401955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Oval 116"/>
          <p:cNvSpPr/>
          <p:nvPr/>
        </p:nvSpPr>
        <p:spPr>
          <a:xfrm>
            <a:off x="6162675" y="40195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Freeform 117"/>
          <p:cNvSpPr/>
          <p:nvPr/>
        </p:nvSpPr>
        <p:spPr>
          <a:xfrm>
            <a:off x="6238875" y="401955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Oval 118"/>
          <p:cNvSpPr/>
          <p:nvPr/>
        </p:nvSpPr>
        <p:spPr>
          <a:xfrm>
            <a:off x="7820025" y="40195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Oval 119"/>
          <p:cNvSpPr/>
          <p:nvPr/>
        </p:nvSpPr>
        <p:spPr>
          <a:xfrm>
            <a:off x="9477375" y="40195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10420350" y="4029075"/>
            <a:ext cx="723900" cy="1333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11182350" y="3943350"/>
            <a:ext cx="419100" cy="3048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cxnSp>
        <p:nvCxnSpPr>
          <p:cNvPr id="123" name="Connector 122"/>
          <p:cNvCxnSpPr/>
          <p:nvPr/>
        </p:nvCxnSpPr>
        <p:spPr>
          <a:xfrm>
            <a:off x="190500" y="42481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4" name="Rectangle 123"/>
          <p:cNvSpPr/>
          <p:nvPr/>
        </p:nvSpPr>
        <p:spPr>
          <a:xfrm>
            <a:off x="190500" y="4286250"/>
            <a:ext cx="38100" cy="22860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TextBox 124"/>
          <p:cNvSpPr txBox="1"/>
          <p:nvPr/>
        </p:nvSpPr>
        <p:spPr>
          <a:xfrm>
            <a:off x="285750" y="4248150"/>
            <a:ext cx="1809750" cy="3048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Artero</a:t>
            </a:r>
          </a:p>
        </p:txBody>
      </p:sp>
      <p:sp>
        <p:nvSpPr>
          <p:cNvPr id="126" name="Oval 125"/>
          <p:cNvSpPr/>
          <p:nvPr/>
        </p:nvSpPr>
        <p:spPr>
          <a:xfrm>
            <a:off x="2847975" y="43243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Freeform 126"/>
          <p:cNvSpPr/>
          <p:nvPr/>
        </p:nvSpPr>
        <p:spPr>
          <a:xfrm>
            <a:off x="2924175" y="43243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Oval 127"/>
          <p:cNvSpPr/>
          <p:nvPr/>
        </p:nvSpPr>
        <p:spPr>
          <a:xfrm>
            <a:off x="4505325" y="43243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Freeform 128"/>
          <p:cNvSpPr/>
          <p:nvPr/>
        </p:nvSpPr>
        <p:spPr>
          <a:xfrm>
            <a:off x="4581525" y="432435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Oval 129"/>
          <p:cNvSpPr/>
          <p:nvPr/>
        </p:nvSpPr>
        <p:spPr>
          <a:xfrm>
            <a:off x="6162675" y="43243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Freeform 130"/>
          <p:cNvSpPr/>
          <p:nvPr/>
        </p:nvSpPr>
        <p:spPr>
          <a:xfrm>
            <a:off x="6238875" y="432435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Oval 131"/>
          <p:cNvSpPr/>
          <p:nvPr/>
        </p:nvSpPr>
        <p:spPr>
          <a:xfrm>
            <a:off x="7820025" y="43243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Freeform 132"/>
          <p:cNvSpPr/>
          <p:nvPr/>
        </p:nvSpPr>
        <p:spPr>
          <a:xfrm>
            <a:off x="7896225" y="43243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Oval 133"/>
          <p:cNvSpPr/>
          <p:nvPr/>
        </p:nvSpPr>
        <p:spPr>
          <a:xfrm>
            <a:off x="9477375" y="43243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10420350" y="4333875"/>
            <a:ext cx="666750" cy="1333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11125200" y="4248150"/>
            <a:ext cx="419100" cy="3048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cxnSp>
        <p:nvCxnSpPr>
          <p:cNvPr id="137" name="Connector 136"/>
          <p:cNvCxnSpPr/>
          <p:nvPr/>
        </p:nvCxnSpPr>
        <p:spPr>
          <a:xfrm>
            <a:off x="190500" y="45529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8" name="Rectangle 137"/>
          <p:cNvSpPr/>
          <p:nvPr/>
        </p:nvSpPr>
        <p:spPr>
          <a:xfrm>
            <a:off x="190500" y="4591050"/>
            <a:ext cx="38100" cy="22860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TextBox 138"/>
          <p:cNvSpPr txBox="1"/>
          <p:nvPr/>
        </p:nvSpPr>
        <p:spPr>
          <a:xfrm>
            <a:off x="285750" y="4552950"/>
            <a:ext cx="1809750" cy="3048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Cosmetica Veneta</a:t>
            </a:r>
          </a:p>
        </p:txBody>
      </p:sp>
      <p:sp>
        <p:nvSpPr>
          <p:cNvPr id="140" name="Oval 139"/>
          <p:cNvSpPr/>
          <p:nvPr/>
        </p:nvSpPr>
        <p:spPr>
          <a:xfrm>
            <a:off x="2847975" y="46291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Freeform 140"/>
          <p:cNvSpPr/>
          <p:nvPr/>
        </p:nvSpPr>
        <p:spPr>
          <a:xfrm>
            <a:off x="2924175" y="46291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Oval 141"/>
          <p:cNvSpPr/>
          <p:nvPr/>
        </p:nvSpPr>
        <p:spPr>
          <a:xfrm>
            <a:off x="4505325" y="46291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Freeform 142"/>
          <p:cNvSpPr/>
          <p:nvPr/>
        </p:nvSpPr>
        <p:spPr>
          <a:xfrm>
            <a:off x="4581525" y="462915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Oval 143"/>
          <p:cNvSpPr/>
          <p:nvPr/>
        </p:nvSpPr>
        <p:spPr>
          <a:xfrm>
            <a:off x="6162675" y="46291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5" name="Freeform 144"/>
          <p:cNvSpPr/>
          <p:nvPr/>
        </p:nvSpPr>
        <p:spPr>
          <a:xfrm>
            <a:off x="6238875" y="462915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Oval 145"/>
          <p:cNvSpPr/>
          <p:nvPr/>
        </p:nvSpPr>
        <p:spPr>
          <a:xfrm>
            <a:off x="7820025" y="46291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Freeform 146"/>
          <p:cNvSpPr/>
          <p:nvPr/>
        </p:nvSpPr>
        <p:spPr>
          <a:xfrm>
            <a:off x="7896225" y="46291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Oval 147"/>
          <p:cNvSpPr/>
          <p:nvPr/>
        </p:nvSpPr>
        <p:spPr>
          <a:xfrm>
            <a:off x="9477375" y="46291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Rectangle 148"/>
          <p:cNvSpPr/>
          <p:nvPr/>
        </p:nvSpPr>
        <p:spPr>
          <a:xfrm>
            <a:off x="10420350" y="4638675"/>
            <a:ext cx="666750" cy="1333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11125200" y="4552950"/>
            <a:ext cx="419100" cy="3048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cxnSp>
        <p:nvCxnSpPr>
          <p:cNvPr id="151" name="Connector 150"/>
          <p:cNvCxnSpPr/>
          <p:nvPr/>
        </p:nvCxnSpPr>
        <p:spPr>
          <a:xfrm>
            <a:off x="190500" y="48577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2" name="Oval 151"/>
          <p:cNvSpPr/>
          <p:nvPr/>
        </p:nvSpPr>
        <p:spPr>
          <a:xfrm>
            <a:off x="200025" y="4933950"/>
            <a:ext cx="133350" cy="13335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TextBox 152"/>
          <p:cNvSpPr txBox="1"/>
          <p:nvPr/>
        </p:nvSpPr>
        <p:spPr>
          <a:xfrm>
            <a:off x="381000" y="4914900"/>
            <a:ext cx="16192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Strong, direct evidence</a:t>
            </a:r>
          </a:p>
        </p:txBody>
      </p:sp>
      <p:sp>
        <p:nvSpPr>
          <p:cNvPr id="154" name="Oval 153"/>
          <p:cNvSpPr/>
          <p:nvPr/>
        </p:nvSpPr>
        <p:spPr>
          <a:xfrm>
            <a:off x="2065020" y="4933950"/>
            <a:ext cx="133350" cy="13335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5" name="Freeform 154"/>
          <p:cNvSpPr/>
          <p:nvPr/>
        </p:nvSpPr>
        <p:spPr>
          <a:xfrm>
            <a:off x="2133600" y="4933950"/>
            <a:ext cx="66675" cy="133350"/>
          </a:xfrm>
          <a:custGeom>
            <a:avLst/>
            <a:gdLst/>
            <a:ahLst/>
            <a:cxnLst/>
            <a:rect l="l" t="t" r="r" b="b"/>
            <a:pathLst>
              <a:path w="7" h="14">
                <a:moveTo>
                  <a:pt x="0" y="7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1"/>
                </a:lnTo>
                <a:lnTo>
                  <a:pt x="4" y="2"/>
                </a:lnTo>
                <a:lnTo>
                  <a:pt x="5" y="3"/>
                </a:lnTo>
                <a:lnTo>
                  <a:pt x="6" y="4"/>
                </a:lnTo>
                <a:lnTo>
                  <a:pt x="6" y="5"/>
                </a:lnTo>
                <a:lnTo>
                  <a:pt x="7" y="6"/>
                </a:lnTo>
                <a:lnTo>
                  <a:pt x="7" y="7"/>
                </a:lnTo>
                <a:lnTo>
                  <a:pt x="7" y="8"/>
                </a:lnTo>
                <a:lnTo>
                  <a:pt x="6" y="9"/>
                </a:lnTo>
                <a:lnTo>
                  <a:pt x="6" y="10"/>
                </a:lnTo>
                <a:lnTo>
                  <a:pt x="5" y="11"/>
                </a:lnTo>
                <a:lnTo>
                  <a:pt x="4" y="12"/>
                </a:lnTo>
                <a:lnTo>
                  <a:pt x="3" y="13"/>
                </a:lnTo>
                <a:lnTo>
                  <a:pt x="2" y="14"/>
                </a:lnTo>
                <a:lnTo>
                  <a:pt x="1" y="14"/>
                </a:lnTo>
                <a:lnTo>
                  <a:pt x="0" y="14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2245995" y="4914900"/>
            <a:ext cx="16192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Moderate or partial</a:t>
            </a:r>
          </a:p>
        </p:txBody>
      </p:sp>
      <p:sp>
        <p:nvSpPr>
          <p:cNvPr id="157" name="Oval 156"/>
          <p:cNvSpPr/>
          <p:nvPr/>
        </p:nvSpPr>
        <p:spPr>
          <a:xfrm>
            <a:off x="3678555" y="4933950"/>
            <a:ext cx="133350" cy="13335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Freeform 157"/>
          <p:cNvSpPr/>
          <p:nvPr/>
        </p:nvSpPr>
        <p:spPr>
          <a:xfrm>
            <a:off x="3743325" y="4933950"/>
            <a:ext cx="66675" cy="66675"/>
          </a:xfrm>
          <a:custGeom>
            <a:avLst/>
            <a:gdLst/>
            <a:ahLst/>
            <a:cxnLst/>
            <a:rect l="l" t="t" r="r" b="b"/>
            <a:pathLst>
              <a:path w="7" h="7">
                <a:moveTo>
                  <a:pt x="0" y="7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6" y="4"/>
                </a:lnTo>
                <a:lnTo>
                  <a:pt x="7" y="5"/>
                </a:lnTo>
                <a:lnTo>
                  <a:pt x="7" y="6"/>
                </a:lnTo>
                <a:lnTo>
                  <a:pt x="7" y="7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TextBox 158"/>
          <p:cNvSpPr txBox="1"/>
          <p:nvPr/>
        </p:nvSpPr>
        <p:spPr>
          <a:xfrm>
            <a:off x="3859530" y="4914900"/>
            <a:ext cx="16192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Weak or indirect</a:t>
            </a:r>
          </a:p>
        </p:txBody>
      </p:sp>
      <p:sp>
        <p:nvSpPr>
          <p:cNvPr id="160" name="Oval 159"/>
          <p:cNvSpPr/>
          <p:nvPr/>
        </p:nvSpPr>
        <p:spPr>
          <a:xfrm>
            <a:off x="5103495" y="4933950"/>
            <a:ext cx="133350" cy="13335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1" name="TextBox 160"/>
          <p:cNvSpPr txBox="1"/>
          <p:nvPr/>
        </p:nvSpPr>
        <p:spPr>
          <a:xfrm>
            <a:off x="5284470" y="4914900"/>
            <a:ext cx="16192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None found</a:t>
            </a:r>
          </a:p>
        </p:txBody>
      </p:sp>
      <p:sp>
        <p:nvSpPr>
          <p:cNvPr id="162" name="TextBox 161"/>
          <p:cNvSpPr txBox="1"/>
          <p:nvPr/>
        </p:nvSpPr>
        <p:spPr>
          <a:xfrm>
            <a:off x="6141720" y="4914900"/>
            <a:ext cx="133350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n/a  Not assessed</a:t>
            </a:r>
          </a:p>
        </p:txBody>
      </p:sp>
      <p:sp>
        <p:nvSpPr>
          <p:cNvPr id="163" name="TextBox 162"/>
          <p:cNvSpPr txBox="1"/>
          <p:nvPr/>
        </p:nvSpPr>
        <p:spPr>
          <a:xfrm>
            <a:off x="190500" y="5143500"/>
            <a:ext cx="285750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STRATEGIC GROUPS</a:t>
            </a:r>
          </a:p>
        </p:txBody>
      </p:sp>
      <p:sp>
        <p:nvSpPr>
          <p:cNvPr id="164" name="Rectangle 163"/>
          <p:cNvSpPr/>
          <p:nvPr/>
        </p:nvSpPr>
        <p:spPr>
          <a:xfrm>
            <a:off x="190500" y="5334000"/>
            <a:ext cx="3810000" cy="28575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5" name="TextBox 164"/>
          <p:cNvSpPr txBox="1"/>
          <p:nvPr/>
        </p:nvSpPr>
        <p:spPr>
          <a:xfrm>
            <a:off x="190500" y="5391150"/>
            <a:ext cx="38100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Tier 1</a:t>
            </a:r>
          </a:p>
        </p:txBody>
      </p:sp>
      <p:sp>
        <p:nvSpPr>
          <p:cNvPr id="166" name="TextBox 165"/>
          <p:cNvSpPr txBox="1"/>
          <p:nvPr/>
        </p:nvSpPr>
        <p:spPr>
          <a:xfrm>
            <a:off x="190500" y="5562600"/>
            <a:ext cx="3810000" cy="3238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Laboratoire Biogance, Beaphar, Laboratoire Francodex, Group55</a:t>
            </a:r>
          </a:p>
        </p:txBody>
      </p:sp>
      <p:sp>
        <p:nvSpPr>
          <p:cNvPr id="167" name="TextBox 166"/>
          <p:cNvSpPr txBox="1"/>
          <p:nvPr/>
        </p:nvSpPr>
        <p:spPr>
          <a:xfrm>
            <a:off x="190500" y="5924550"/>
            <a:ext cx="381000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Wins on scale and share; weakest on innovation pipeline.</a:t>
            </a:r>
          </a:p>
        </p:txBody>
      </p:sp>
      <p:sp>
        <p:nvSpPr>
          <p:cNvPr id="168" name="Rectangle 167"/>
          <p:cNvSpPr/>
          <p:nvPr/>
        </p:nvSpPr>
        <p:spPr>
          <a:xfrm>
            <a:off x="4191000" y="5334000"/>
            <a:ext cx="3810000" cy="28575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TextBox 168"/>
          <p:cNvSpPr txBox="1"/>
          <p:nvPr/>
        </p:nvSpPr>
        <p:spPr>
          <a:xfrm>
            <a:off x="4191000" y="5391150"/>
            <a:ext cx="38100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Tier 2</a:t>
            </a:r>
          </a:p>
        </p:txBody>
      </p:sp>
      <p:sp>
        <p:nvSpPr>
          <p:cNvPr id="170" name="TextBox 169"/>
          <p:cNvSpPr txBox="1"/>
          <p:nvPr/>
        </p:nvSpPr>
        <p:spPr>
          <a:xfrm>
            <a:off x="4191000" y="5562600"/>
            <a:ext cx="3810000" cy="3238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Laboratorios Bilper, Lakeland Cosmetics</a:t>
            </a:r>
          </a:p>
        </p:txBody>
      </p:sp>
      <p:sp>
        <p:nvSpPr>
          <p:cNvPr id="171" name="TextBox 170"/>
          <p:cNvSpPr txBox="1"/>
          <p:nvPr/>
        </p:nvSpPr>
        <p:spPr>
          <a:xfrm>
            <a:off x="4191000" y="5924550"/>
            <a:ext cx="381000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Wins on strategic momentum; weakest on segment breadth.</a:t>
            </a:r>
          </a:p>
        </p:txBody>
      </p:sp>
      <p:sp>
        <p:nvSpPr>
          <p:cNvPr id="172" name="Rectangle 171"/>
          <p:cNvSpPr/>
          <p:nvPr/>
        </p:nvSpPr>
        <p:spPr>
          <a:xfrm>
            <a:off x="8191500" y="5334000"/>
            <a:ext cx="3810000" cy="28575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3" name="TextBox 172"/>
          <p:cNvSpPr txBox="1"/>
          <p:nvPr/>
        </p:nvSpPr>
        <p:spPr>
          <a:xfrm>
            <a:off x="8191500" y="5391150"/>
            <a:ext cx="38100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Tier 3</a:t>
            </a:r>
          </a:p>
        </p:txBody>
      </p:sp>
      <p:sp>
        <p:nvSpPr>
          <p:cNvPr id="174" name="TextBox 173"/>
          <p:cNvSpPr txBox="1"/>
          <p:nvPr/>
        </p:nvSpPr>
        <p:spPr>
          <a:xfrm>
            <a:off x="8191500" y="5562600"/>
            <a:ext cx="3810000" cy="3238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Iv San Bernard, K9 Competition, Artero, Cosmetica Veneta</a:t>
            </a:r>
          </a:p>
        </p:txBody>
      </p:sp>
      <p:sp>
        <p:nvSpPr>
          <p:cNvPr id="175" name="TextBox 174"/>
          <p:cNvSpPr txBox="1"/>
          <p:nvPr/>
        </p:nvSpPr>
        <p:spPr>
          <a:xfrm>
            <a:off x="8191500" y="5924550"/>
            <a:ext cx="381000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Wins on strategic momentum; weakest on scale and share.</a:t>
            </a:r>
          </a:p>
        </p:txBody>
      </p:sp>
      <p:sp>
        <p:nvSpPr>
          <p:cNvPr id="176" name="TextBox 175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77" name="Picture 17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46650" y="1868551"/>
            <a:ext cx="128699" cy="187198"/>
          </a:xfrm>
          <a:prstGeom prst="rect">
            <a:avLst/>
          </a:prstGeom>
        </p:spPr>
      </p:pic>
      <p:pic>
        <p:nvPicPr>
          <p:cNvPr id="178" name="Picture 17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689500" y="2173351"/>
            <a:ext cx="128699" cy="187198"/>
          </a:xfrm>
          <a:prstGeom prst="rect">
            <a:avLst/>
          </a:prstGeom>
        </p:spPr>
      </p:pic>
      <p:pic>
        <p:nvPicPr>
          <p:cNvPr id="179" name="Picture 17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689500" y="2478151"/>
            <a:ext cx="128699" cy="187198"/>
          </a:xfrm>
          <a:prstGeom prst="rect">
            <a:avLst/>
          </a:prstGeom>
        </p:spPr>
      </p:pic>
      <p:pic>
        <p:nvPicPr>
          <p:cNvPr id="180" name="Picture 17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632350" y="2782951"/>
            <a:ext cx="128699" cy="187198"/>
          </a:xfrm>
          <a:prstGeom prst="rect">
            <a:avLst/>
          </a:prstGeom>
        </p:spPr>
      </p:pic>
      <p:pic>
        <p:nvPicPr>
          <p:cNvPr id="181" name="Picture 18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79950" y="3087751"/>
            <a:ext cx="128699" cy="187198"/>
          </a:xfrm>
          <a:prstGeom prst="rect">
            <a:avLst/>
          </a:prstGeom>
        </p:spPr>
      </p:pic>
      <p:pic>
        <p:nvPicPr>
          <p:cNvPr id="182" name="Picture 18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22800" y="3392551"/>
            <a:ext cx="128699" cy="187198"/>
          </a:xfrm>
          <a:prstGeom prst="rect">
            <a:avLst/>
          </a:prstGeom>
        </p:spPr>
      </p:pic>
      <p:pic>
        <p:nvPicPr>
          <p:cNvPr id="183" name="Picture 18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327550" y="3697351"/>
            <a:ext cx="128699" cy="187198"/>
          </a:xfrm>
          <a:prstGeom prst="rect">
            <a:avLst/>
          </a:prstGeom>
        </p:spPr>
      </p:pic>
      <p:pic>
        <p:nvPicPr>
          <p:cNvPr id="184" name="Picture 18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327550" y="4002151"/>
            <a:ext cx="128699" cy="187198"/>
          </a:xfrm>
          <a:prstGeom prst="rect">
            <a:avLst/>
          </a:prstGeom>
        </p:spPr>
      </p:pic>
      <p:pic>
        <p:nvPicPr>
          <p:cNvPr id="185" name="Picture 18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270400" y="4306951"/>
            <a:ext cx="128699" cy="187198"/>
          </a:xfrm>
          <a:prstGeom prst="rect">
            <a:avLst/>
          </a:prstGeom>
        </p:spPr>
      </p:pic>
      <p:pic>
        <p:nvPicPr>
          <p:cNvPr id="186" name="Picture 18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270400" y="4611751"/>
            <a:ext cx="128699" cy="187198"/>
          </a:xfrm>
          <a:prstGeom prst="rect">
            <a:avLst/>
          </a:prstGeom>
        </p:spPr>
      </p:pic>
      <p:sp>
        <p:nvSpPr>
          <p:cNvPr id="187" name="TextBox 186"/>
          <p:cNvSpPr txBox="1"/>
          <p:nvPr/>
        </p:nvSpPr>
        <p:spPr>
          <a:xfrm>
            <a:off x="2162175" y="1219200"/>
            <a:ext cx="379523" cy="13975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791" b="1">
                <a:solidFill>
                  <a:srgbClr val="1F2933"/>
                </a:solidFill>
                <a:latin typeface="Calibri"/>
              </a:rPr>
              <a:t>Weight</a:t>
            </a:r>
          </a:p>
        </p:txBody>
      </p:sp>
      <p:pic>
        <p:nvPicPr>
          <p:cNvPr id="188" name="Picture 18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82959" y="1212159"/>
            <a:ext cx="92663" cy="134782"/>
          </a:xfrm>
          <a:prstGeom prst="rect">
            <a:avLst/>
          </a:prstGeom>
        </p:spPr>
      </p:pic>
      <p:sp>
        <p:nvSpPr>
          <p:cNvPr id="189" name="TextBox 188"/>
          <p:cNvSpPr txBox="1"/>
          <p:nvPr/>
        </p:nvSpPr>
        <p:spPr>
          <a:xfrm>
            <a:off x="3819525" y="1219200"/>
            <a:ext cx="379523" cy="13975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791" b="1">
                <a:solidFill>
                  <a:srgbClr val="1F2933"/>
                </a:solidFill>
                <a:latin typeface="Calibri"/>
              </a:rPr>
              <a:t>Weight</a:t>
            </a:r>
          </a:p>
        </p:txBody>
      </p:sp>
      <p:pic>
        <p:nvPicPr>
          <p:cNvPr id="190" name="Picture 18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40309" y="1212159"/>
            <a:ext cx="92663" cy="134782"/>
          </a:xfrm>
          <a:prstGeom prst="rect">
            <a:avLst/>
          </a:prstGeom>
        </p:spPr>
      </p:pic>
      <p:sp>
        <p:nvSpPr>
          <p:cNvPr id="191" name="TextBox 190"/>
          <p:cNvSpPr txBox="1"/>
          <p:nvPr/>
        </p:nvSpPr>
        <p:spPr>
          <a:xfrm>
            <a:off x="5476875" y="1219200"/>
            <a:ext cx="379523" cy="13975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791" b="1">
                <a:solidFill>
                  <a:srgbClr val="1F2933"/>
                </a:solidFill>
                <a:latin typeface="Calibri"/>
              </a:rPr>
              <a:t>Weight</a:t>
            </a:r>
          </a:p>
        </p:txBody>
      </p:sp>
      <p:pic>
        <p:nvPicPr>
          <p:cNvPr id="192" name="Picture 19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797659" y="1212159"/>
            <a:ext cx="92663" cy="134782"/>
          </a:xfrm>
          <a:prstGeom prst="rect">
            <a:avLst/>
          </a:prstGeom>
        </p:spPr>
      </p:pic>
      <p:sp>
        <p:nvSpPr>
          <p:cNvPr id="193" name="TextBox 192"/>
          <p:cNvSpPr txBox="1"/>
          <p:nvPr/>
        </p:nvSpPr>
        <p:spPr>
          <a:xfrm>
            <a:off x="7134225" y="1219200"/>
            <a:ext cx="379523" cy="13975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791" b="1">
                <a:solidFill>
                  <a:srgbClr val="1F2933"/>
                </a:solidFill>
                <a:latin typeface="Calibri"/>
              </a:rPr>
              <a:t>Weight</a:t>
            </a:r>
          </a:p>
        </p:txBody>
      </p:sp>
      <p:pic>
        <p:nvPicPr>
          <p:cNvPr id="194" name="Picture 19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455009" y="1212159"/>
            <a:ext cx="92663" cy="134782"/>
          </a:xfrm>
          <a:prstGeom prst="rect">
            <a:avLst/>
          </a:prstGeom>
        </p:spPr>
      </p:pic>
      <p:sp>
        <p:nvSpPr>
          <p:cNvPr id="195" name="TextBox 194"/>
          <p:cNvSpPr txBox="1"/>
          <p:nvPr/>
        </p:nvSpPr>
        <p:spPr>
          <a:xfrm>
            <a:off x="8791575" y="1219200"/>
            <a:ext cx="379523" cy="13975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791" b="1">
                <a:solidFill>
                  <a:srgbClr val="1F2933"/>
                </a:solidFill>
                <a:latin typeface="Calibri"/>
              </a:rPr>
              <a:t>Weight</a:t>
            </a:r>
          </a:p>
        </p:txBody>
      </p:sp>
      <p:pic>
        <p:nvPicPr>
          <p:cNvPr id="196" name="Picture 19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112359" y="1212159"/>
            <a:ext cx="92663" cy="134782"/>
          </a:xfrm>
          <a:prstGeom prst="rect">
            <a:avLst/>
          </a:prstGeom>
        </p:spPr>
      </p:pic>
    </p:spTree>
  </p:cSld>
  <p:clrMapOvr>
    <a:masterClrMapping/>
  </p:clrMapOvr>
</p:sld>
</file>

<file path=ppt/slides/slide23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Strategic Activity Tracker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Each player's active strategic moves: what, type, source department, signal and who should act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209550" y="1047750"/>
            <a:ext cx="12954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COMPANY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1543050" y="1047750"/>
            <a:ext cx="23431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DEVELOPMENT (WHAT IS HAPPENING)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3924300" y="1047750"/>
            <a:ext cx="533400" cy="171450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DATE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4495800" y="1047750"/>
            <a:ext cx="438150" cy="171450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TYPE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4972050" y="1047750"/>
            <a:ext cx="12001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SOURCE DEPT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6210300" y="1047750"/>
            <a:ext cx="9144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EVIDENCE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7162800" y="1047750"/>
            <a:ext cx="21526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SIGNAL (WHAT IT INDICATES)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9353550" y="1047750"/>
            <a:ext cx="26289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WHO SHOULD ACT</a:t>
            </a:r>
          </a:p>
        </p:txBody>
      </p:sp>
      <p:cxnSp>
        <p:nvCxnSpPr>
          <p:cNvPr id="18" name="Connector 17"/>
          <p:cNvCxnSpPr/>
          <p:nvPr/>
        </p:nvCxnSpPr>
        <p:spPr>
          <a:xfrm>
            <a:off x="190500" y="1238250"/>
            <a:ext cx="11811000" cy="0"/>
          </a:xfrm>
          <a:prstGeom prst="line">
            <a:avLst/>
          </a:prstGeom>
          <a:ln w="19050">
            <a:solidFill>
              <a:srgbClr val="0F2D52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" name="Rectangle 18"/>
          <p:cNvSpPr/>
          <p:nvPr/>
        </p:nvSpPr>
        <p:spPr>
          <a:xfrm>
            <a:off x="190500" y="1295400"/>
            <a:ext cx="38100" cy="4191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266700" y="1285875"/>
            <a:ext cx="12382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Beaphar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1543050" y="1285875"/>
            <a:ext cx="2324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Acquisition to add scale or capability in Europe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3924300" y="1285875"/>
            <a:ext cx="533400" cy="171450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23" name="Rectangle 22"/>
          <p:cNvSpPr/>
          <p:nvPr/>
        </p:nvSpPr>
        <p:spPr>
          <a:xfrm>
            <a:off x="4514850" y="1314450"/>
            <a:ext cx="285750" cy="171450"/>
          </a:xfrm>
          <a:prstGeom prst="rect">
            <a:avLst/>
          </a:prstGeom>
          <a:solidFill>
            <a:srgbClr val="8E3A8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4514850" y="1314450"/>
            <a:ext cx="285750" cy="1714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MA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4972050" y="1285875"/>
            <a:ext cx="1181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Corporate development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6210300" y="1285875"/>
            <a:ext cx="8953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FMI company profiling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7162800" y="1285875"/>
            <a:ext cx="21336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Consolidation: capability is being bought, not built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9353550" y="1285875"/>
            <a:ext cx="26289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Corporate development: track targets and deal multiples</a:t>
            </a:r>
          </a:p>
        </p:txBody>
      </p:sp>
      <p:cxnSp>
        <p:nvCxnSpPr>
          <p:cNvPr id="29" name="Connector 28"/>
          <p:cNvCxnSpPr/>
          <p:nvPr/>
        </p:nvCxnSpPr>
        <p:spPr>
          <a:xfrm>
            <a:off x="190500" y="175260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0" name="Rectangle 29"/>
          <p:cNvSpPr/>
          <p:nvPr/>
        </p:nvSpPr>
        <p:spPr>
          <a:xfrm>
            <a:off x="190500" y="1790700"/>
            <a:ext cx="38100" cy="4191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266700" y="1781175"/>
            <a:ext cx="12382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Laboratoire Biogance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1543050" y="1781175"/>
            <a:ext cx="2324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 development programme in Shampoos &amp; Cleansing Products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3924300" y="1781175"/>
            <a:ext cx="533400" cy="171450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34" name="Rectangle 33"/>
          <p:cNvSpPr/>
          <p:nvPr/>
        </p:nvSpPr>
        <p:spPr>
          <a:xfrm>
            <a:off x="4514850" y="1809750"/>
            <a:ext cx="285750" cy="1714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TextBox 34"/>
          <p:cNvSpPr txBox="1"/>
          <p:nvPr/>
        </p:nvSpPr>
        <p:spPr>
          <a:xfrm>
            <a:off x="4514850" y="1809750"/>
            <a:ext cx="285750" cy="1714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PR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4972050" y="1781175"/>
            <a:ext cx="1181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 and R&amp;D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6210300" y="1781175"/>
            <a:ext cx="8953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FMI company profiling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7162800" y="1781175"/>
            <a:ext cx="21336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Capability build ahead of demand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9353550" y="1781175"/>
            <a:ext cx="26289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Product: watch the roadmap</a:t>
            </a:r>
          </a:p>
        </p:txBody>
      </p:sp>
      <p:cxnSp>
        <p:nvCxnSpPr>
          <p:cNvPr id="40" name="Connector 39"/>
          <p:cNvCxnSpPr/>
          <p:nvPr/>
        </p:nvCxnSpPr>
        <p:spPr>
          <a:xfrm>
            <a:off x="190500" y="224790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1" name="Rectangle 40"/>
          <p:cNvSpPr/>
          <p:nvPr/>
        </p:nvSpPr>
        <p:spPr>
          <a:xfrm>
            <a:off x="190500" y="2286000"/>
            <a:ext cx="38100" cy="4191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266700" y="2276475"/>
            <a:ext cx="12382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Laboratoire Francodex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1543050" y="2276475"/>
            <a:ext cx="2324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Acquisition to add scale or capability in Europe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3924300" y="2276475"/>
            <a:ext cx="533400" cy="171450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45" name="Rectangle 44"/>
          <p:cNvSpPr/>
          <p:nvPr/>
        </p:nvSpPr>
        <p:spPr>
          <a:xfrm>
            <a:off x="4514850" y="2305050"/>
            <a:ext cx="285750" cy="171450"/>
          </a:xfrm>
          <a:prstGeom prst="rect">
            <a:avLst/>
          </a:prstGeom>
          <a:solidFill>
            <a:srgbClr val="8E3A8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4514850" y="2305050"/>
            <a:ext cx="285750" cy="1714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MA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4972050" y="2276475"/>
            <a:ext cx="1181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Corporate development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6210300" y="2276475"/>
            <a:ext cx="8953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FMI company profiling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7162800" y="2276475"/>
            <a:ext cx="21336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Consolidation: capability is being bought, not built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9353550" y="2276475"/>
            <a:ext cx="26289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Corporate development: track targets and deal multiples</a:t>
            </a:r>
          </a:p>
        </p:txBody>
      </p:sp>
      <p:cxnSp>
        <p:nvCxnSpPr>
          <p:cNvPr id="51" name="Connector 50"/>
          <p:cNvCxnSpPr/>
          <p:nvPr/>
        </p:nvCxnSpPr>
        <p:spPr>
          <a:xfrm>
            <a:off x="190500" y="274320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2" name="Rectangle 51"/>
          <p:cNvSpPr/>
          <p:nvPr/>
        </p:nvSpPr>
        <p:spPr>
          <a:xfrm>
            <a:off x="190500" y="2781300"/>
            <a:ext cx="38100" cy="4191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TextBox 52"/>
          <p:cNvSpPr txBox="1"/>
          <p:nvPr/>
        </p:nvSpPr>
        <p:spPr>
          <a:xfrm>
            <a:off x="266700" y="2771775"/>
            <a:ext cx="12382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Group55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1543050" y="2771775"/>
            <a:ext cx="2324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 development programme in Coat Conditioning &amp; Grooming Products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3924300" y="2771775"/>
            <a:ext cx="533400" cy="171450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56" name="Rectangle 55"/>
          <p:cNvSpPr/>
          <p:nvPr/>
        </p:nvSpPr>
        <p:spPr>
          <a:xfrm>
            <a:off x="4514850" y="2800350"/>
            <a:ext cx="285750" cy="1714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TextBox 56"/>
          <p:cNvSpPr txBox="1"/>
          <p:nvPr/>
        </p:nvSpPr>
        <p:spPr>
          <a:xfrm>
            <a:off x="4514850" y="2800350"/>
            <a:ext cx="285750" cy="1714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PR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4972050" y="2771775"/>
            <a:ext cx="1181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 and R&amp;D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6210300" y="2771775"/>
            <a:ext cx="8953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FMI company profiling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7162800" y="2771775"/>
            <a:ext cx="21336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Capability build ahead of demand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9353550" y="2771775"/>
            <a:ext cx="26289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Product: watch the roadmap</a:t>
            </a:r>
          </a:p>
        </p:txBody>
      </p:sp>
      <p:cxnSp>
        <p:nvCxnSpPr>
          <p:cNvPr id="62" name="Connector 61"/>
          <p:cNvCxnSpPr/>
          <p:nvPr/>
        </p:nvCxnSpPr>
        <p:spPr>
          <a:xfrm>
            <a:off x="190500" y="323850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3" name="Rectangle 62"/>
          <p:cNvSpPr/>
          <p:nvPr/>
        </p:nvSpPr>
        <p:spPr>
          <a:xfrm>
            <a:off x="190500" y="3276600"/>
            <a:ext cx="38100" cy="41910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66700" y="3267075"/>
            <a:ext cx="12382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Lakeland Cosmetics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1543050" y="3267075"/>
            <a:ext cx="2324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Acquisition to add scale or capability in Europe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3924300" y="3267075"/>
            <a:ext cx="533400" cy="171450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67" name="Rectangle 66"/>
          <p:cNvSpPr/>
          <p:nvPr/>
        </p:nvSpPr>
        <p:spPr>
          <a:xfrm>
            <a:off x="4514850" y="3295650"/>
            <a:ext cx="285750" cy="171450"/>
          </a:xfrm>
          <a:prstGeom prst="rect">
            <a:avLst/>
          </a:prstGeom>
          <a:solidFill>
            <a:srgbClr val="8E3A8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4514850" y="3295650"/>
            <a:ext cx="285750" cy="1714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MA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4972050" y="3267075"/>
            <a:ext cx="1181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Corporate development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6210300" y="3267075"/>
            <a:ext cx="8953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FMI company profiling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7162800" y="3267075"/>
            <a:ext cx="21336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Consolidation: capability is being bought, not built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9353550" y="3267075"/>
            <a:ext cx="26289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Corporate development: track targets and deal multiples</a:t>
            </a:r>
          </a:p>
        </p:txBody>
      </p:sp>
      <p:cxnSp>
        <p:nvCxnSpPr>
          <p:cNvPr id="73" name="Connector 72"/>
          <p:cNvCxnSpPr/>
          <p:nvPr/>
        </p:nvCxnSpPr>
        <p:spPr>
          <a:xfrm>
            <a:off x="190500" y="373380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4" name="Rectangle 73"/>
          <p:cNvSpPr/>
          <p:nvPr/>
        </p:nvSpPr>
        <p:spPr>
          <a:xfrm>
            <a:off x="190500" y="3771900"/>
            <a:ext cx="38100" cy="41910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TextBox 74"/>
          <p:cNvSpPr txBox="1"/>
          <p:nvPr/>
        </p:nvSpPr>
        <p:spPr>
          <a:xfrm>
            <a:off x="266700" y="3762375"/>
            <a:ext cx="12382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Laboratorios Bilper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1543050" y="3762375"/>
            <a:ext cx="2324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 development programme in Shampoos &amp; Cleansing Products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3924300" y="3762375"/>
            <a:ext cx="533400" cy="171450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78" name="Rectangle 77"/>
          <p:cNvSpPr/>
          <p:nvPr/>
        </p:nvSpPr>
        <p:spPr>
          <a:xfrm>
            <a:off x="4514850" y="3790950"/>
            <a:ext cx="285750" cy="1714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TextBox 78"/>
          <p:cNvSpPr txBox="1"/>
          <p:nvPr/>
        </p:nvSpPr>
        <p:spPr>
          <a:xfrm>
            <a:off x="4514850" y="3790950"/>
            <a:ext cx="285750" cy="1714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PR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4972050" y="3762375"/>
            <a:ext cx="1181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 and R&amp;D</a:t>
            </a:r>
          </a:p>
        </p:txBody>
      </p:sp>
      <p:sp>
        <p:nvSpPr>
          <p:cNvPr id="81" name="TextBox 80"/>
          <p:cNvSpPr txBox="1"/>
          <p:nvPr/>
        </p:nvSpPr>
        <p:spPr>
          <a:xfrm>
            <a:off x="6210300" y="3762375"/>
            <a:ext cx="8953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FMI company profiling</a:t>
            </a:r>
          </a:p>
        </p:txBody>
      </p:sp>
      <p:sp>
        <p:nvSpPr>
          <p:cNvPr id="82" name="TextBox 81"/>
          <p:cNvSpPr txBox="1"/>
          <p:nvPr/>
        </p:nvSpPr>
        <p:spPr>
          <a:xfrm>
            <a:off x="7162800" y="3762375"/>
            <a:ext cx="21336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Capability build ahead of demand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9353550" y="3762375"/>
            <a:ext cx="26289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Product: watch the roadmap</a:t>
            </a:r>
          </a:p>
        </p:txBody>
      </p:sp>
      <p:cxnSp>
        <p:nvCxnSpPr>
          <p:cNvPr id="84" name="Connector 83"/>
          <p:cNvCxnSpPr/>
          <p:nvPr/>
        </p:nvCxnSpPr>
        <p:spPr>
          <a:xfrm>
            <a:off x="190500" y="422910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5" name="Rectangle 84"/>
          <p:cNvSpPr/>
          <p:nvPr/>
        </p:nvSpPr>
        <p:spPr>
          <a:xfrm>
            <a:off x="190500" y="4267200"/>
            <a:ext cx="38100" cy="41910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266700" y="4257675"/>
            <a:ext cx="12382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Artero</a:t>
            </a:r>
          </a:p>
        </p:txBody>
      </p:sp>
      <p:sp>
        <p:nvSpPr>
          <p:cNvPr id="87" name="TextBox 86"/>
          <p:cNvSpPr txBox="1"/>
          <p:nvPr/>
        </p:nvSpPr>
        <p:spPr>
          <a:xfrm>
            <a:off x="1543050" y="4257675"/>
            <a:ext cx="2324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Acquisition to add scale or capability in Europe</a:t>
            </a:r>
          </a:p>
        </p:txBody>
      </p:sp>
      <p:sp>
        <p:nvSpPr>
          <p:cNvPr id="88" name="TextBox 87"/>
          <p:cNvSpPr txBox="1"/>
          <p:nvPr/>
        </p:nvSpPr>
        <p:spPr>
          <a:xfrm>
            <a:off x="3924300" y="4257675"/>
            <a:ext cx="533400" cy="171450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89" name="Rectangle 88"/>
          <p:cNvSpPr/>
          <p:nvPr/>
        </p:nvSpPr>
        <p:spPr>
          <a:xfrm>
            <a:off x="4514850" y="4286250"/>
            <a:ext cx="285750" cy="171450"/>
          </a:xfrm>
          <a:prstGeom prst="rect">
            <a:avLst/>
          </a:prstGeom>
          <a:solidFill>
            <a:srgbClr val="8E3A8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4514850" y="4286250"/>
            <a:ext cx="285750" cy="1714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MA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4972050" y="4257675"/>
            <a:ext cx="1181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Corporate development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6210300" y="4257675"/>
            <a:ext cx="8953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FMI company profiling</a:t>
            </a:r>
          </a:p>
        </p:txBody>
      </p:sp>
      <p:sp>
        <p:nvSpPr>
          <p:cNvPr id="93" name="TextBox 92"/>
          <p:cNvSpPr txBox="1"/>
          <p:nvPr/>
        </p:nvSpPr>
        <p:spPr>
          <a:xfrm>
            <a:off x="7162800" y="4257675"/>
            <a:ext cx="21336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Consolidation: capability is being bought, not built</a:t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9353550" y="4257675"/>
            <a:ext cx="26289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Corporate development: track targets and deal multiples</a:t>
            </a:r>
          </a:p>
        </p:txBody>
      </p:sp>
      <p:cxnSp>
        <p:nvCxnSpPr>
          <p:cNvPr id="95" name="Connector 94"/>
          <p:cNvCxnSpPr/>
          <p:nvPr/>
        </p:nvCxnSpPr>
        <p:spPr>
          <a:xfrm>
            <a:off x="190500" y="472440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6" name="Rectangle 95"/>
          <p:cNvSpPr/>
          <p:nvPr/>
        </p:nvSpPr>
        <p:spPr>
          <a:xfrm>
            <a:off x="190500" y="4762500"/>
            <a:ext cx="38100" cy="41910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TextBox 96"/>
          <p:cNvSpPr txBox="1"/>
          <p:nvPr/>
        </p:nvSpPr>
        <p:spPr>
          <a:xfrm>
            <a:off x="266700" y="4752975"/>
            <a:ext cx="12382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Iv San Bernard</a:t>
            </a:r>
          </a:p>
        </p:txBody>
      </p:sp>
      <p:sp>
        <p:nvSpPr>
          <p:cNvPr id="98" name="TextBox 97"/>
          <p:cNvSpPr txBox="1"/>
          <p:nvPr/>
        </p:nvSpPr>
        <p:spPr>
          <a:xfrm>
            <a:off x="1543050" y="4752975"/>
            <a:ext cx="2324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 development programme in Coat Conditioning &amp; Grooming Products</a:t>
            </a:r>
          </a:p>
        </p:txBody>
      </p:sp>
      <p:sp>
        <p:nvSpPr>
          <p:cNvPr id="99" name="TextBox 98"/>
          <p:cNvSpPr txBox="1"/>
          <p:nvPr/>
        </p:nvSpPr>
        <p:spPr>
          <a:xfrm>
            <a:off x="3924300" y="4752975"/>
            <a:ext cx="533400" cy="171450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100" name="Rectangle 99"/>
          <p:cNvSpPr/>
          <p:nvPr/>
        </p:nvSpPr>
        <p:spPr>
          <a:xfrm>
            <a:off x="4514850" y="4781550"/>
            <a:ext cx="285750" cy="1714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TextBox 100"/>
          <p:cNvSpPr txBox="1"/>
          <p:nvPr/>
        </p:nvSpPr>
        <p:spPr>
          <a:xfrm>
            <a:off x="4514850" y="4781550"/>
            <a:ext cx="285750" cy="1714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PR</a:t>
            </a:r>
          </a:p>
        </p:txBody>
      </p:sp>
      <p:sp>
        <p:nvSpPr>
          <p:cNvPr id="102" name="TextBox 101"/>
          <p:cNvSpPr txBox="1"/>
          <p:nvPr/>
        </p:nvSpPr>
        <p:spPr>
          <a:xfrm>
            <a:off x="4972050" y="4752975"/>
            <a:ext cx="1181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 and R&amp;D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6210300" y="4752975"/>
            <a:ext cx="8953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FMI company profiling</a:t>
            </a:r>
          </a:p>
        </p:txBody>
      </p:sp>
      <p:sp>
        <p:nvSpPr>
          <p:cNvPr id="104" name="TextBox 103"/>
          <p:cNvSpPr txBox="1"/>
          <p:nvPr/>
        </p:nvSpPr>
        <p:spPr>
          <a:xfrm>
            <a:off x="7162800" y="4752975"/>
            <a:ext cx="21336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Capability build ahead of demand</a:t>
            </a:r>
          </a:p>
        </p:txBody>
      </p:sp>
      <p:sp>
        <p:nvSpPr>
          <p:cNvPr id="105" name="TextBox 104"/>
          <p:cNvSpPr txBox="1"/>
          <p:nvPr/>
        </p:nvSpPr>
        <p:spPr>
          <a:xfrm>
            <a:off x="9353550" y="4752975"/>
            <a:ext cx="26289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Product: watch the roadmap</a:t>
            </a:r>
          </a:p>
        </p:txBody>
      </p:sp>
      <p:cxnSp>
        <p:nvCxnSpPr>
          <p:cNvPr id="106" name="Connector 105"/>
          <p:cNvCxnSpPr/>
          <p:nvPr/>
        </p:nvCxnSpPr>
        <p:spPr>
          <a:xfrm>
            <a:off x="190500" y="521970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7" name="Rectangle 106"/>
          <p:cNvSpPr/>
          <p:nvPr/>
        </p:nvSpPr>
        <p:spPr>
          <a:xfrm>
            <a:off x="190500" y="5257800"/>
            <a:ext cx="38100" cy="41910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266700" y="5248275"/>
            <a:ext cx="12382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Cosmetica Veneta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1543050" y="5248275"/>
            <a:ext cx="2324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Acquisition to add scale or capability in Europe</a:t>
            </a:r>
          </a:p>
        </p:txBody>
      </p:sp>
      <p:sp>
        <p:nvSpPr>
          <p:cNvPr id="110" name="TextBox 109"/>
          <p:cNvSpPr txBox="1"/>
          <p:nvPr/>
        </p:nvSpPr>
        <p:spPr>
          <a:xfrm>
            <a:off x="3924300" y="5248275"/>
            <a:ext cx="533400" cy="171450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4514850" y="5276850"/>
            <a:ext cx="285750" cy="171450"/>
          </a:xfrm>
          <a:prstGeom prst="rect">
            <a:avLst/>
          </a:prstGeom>
          <a:solidFill>
            <a:srgbClr val="8E3A8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4514850" y="5276850"/>
            <a:ext cx="285750" cy="1714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MA</a:t>
            </a:r>
          </a:p>
        </p:txBody>
      </p:sp>
      <p:sp>
        <p:nvSpPr>
          <p:cNvPr id="113" name="TextBox 112"/>
          <p:cNvSpPr txBox="1"/>
          <p:nvPr/>
        </p:nvSpPr>
        <p:spPr>
          <a:xfrm>
            <a:off x="4972050" y="5248275"/>
            <a:ext cx="1181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Corporate development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6210300" y="5248275"/>
            <a:ext cx="8953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FMI company profiling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7162800" y="5248275"/>
            <a:ext cx="21336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Consolidation: capability is being bought, not built</a:t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9353550" y="5248275"/>
            <a:ext cx="26289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Corporate development: track targets and deal multiples</a:t>
            </a:r>
          </a:p>
        </p:txBody>
      </p:sp>
      <p:cxnSp>
        <p:nvCxnSpPr>
          <p:cNvPr id="117" name="Connector 116"/>
          <p:cNvCxnSpPr/>
          <p:nvPr/>
        </p:nvCxnSpPr>
        <p:spPr>
          <a:xfrm>
            <a:off x="190500" y="571500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8" name="Rectangle 117"/>
          <p:cNvSpPr/>
          <p:nvPr/>
        </p:nvSpPr>
        <p:spPr>
          <a:xfrm>
            <a:off x="190500" y="5753100"/>
            <a:ext cx="38100" cy="41910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TextBox 118"/>
          <p:cNvSpPr txBox="1"/>
          <p:nvPr/>
        </p:nvSpPr>
        <p:spPr>
          <a:xfrm>
            <a:off x="266700" y="5743575"/>
            <a:ext cx="12382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K9 Competition</a:t>
            </a:r>
          </a:p>
        </p:txBody>
      </p:sp>
      <p:sp>
        <p:nvSpPr>
          <p:cNvPr id="120" name="TextBox 119"/>
          <p:cNvSpPr txBox="1"/>
          <p:nvPr/>
        </p:nvSpPr>
        <p:spPr>
          <a:xfrm>
            <a:off x="1543050" y="5743575"/>
            <a:ext cx="2324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 development programme in Shampoos &amp; Cleansing Products</a:t>
            </a:r>
          </a:p>
        </p:txBody>
      </p:sp>
      <p:sp>
        <p:nvSpPr>
          <p:cNvPr id="121" name="TextBox 120"/>
          <p:cNvSpPr txBox="1"/>
          <p:nvPr/>
        </p:nvSpPr>
        <p:spPr>
          <a:xfrm>
            <a:off x="3924300" y="5743575"/>
            <a:ext cx="533400" cy="171450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122" name="Rectangle 121"/>
          <p:cNvSpPr/>
          <p:nvPr/>
        </p:nvSpPr>
        <p:spPr>
          <a:xfrm>
            <a:off x="4514850" y="5772150"/>
            <a:ext cx="285750" cy="1714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TextBox 122"/>
          <p:cNvSpPr txBox="1"/>
          <p:nvPr/>
        </p:nvSpPr>
        <p:spPr>
          <a:xfrm>
            <a:off x="4514850" y="5772150"/>
            <a:ext cx="285750" cy="1714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PR</a:t>
            </a:r>
          </a:p>
        </p:txBody>
      </p:sp>
      <p:sp>
        <p:nvSpPr>
          <p:cNvPr id="124" name="TextBox 123"/>
          <p:cNvSpPr txBox="1"/>
          <p:nvPr/>
        </p:nvSpPr>
        <p:spPr>
          <a:xfrm>
            <a:off x="4972050" y="5743575"/>
            <a:ext cx="1181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 and R&amp;D</a:t>
            </a:r>
          </a:p>
        </p:txBody>
      </p:sp>
      <p:sp>
        <p:nvSpPr>
          <p:cNvPr id="125" name="TextBox 124"/>
          <p:cNvSpPr txBox="1"/>
          <p:nvPr/>
        </p:nvSpPr>
        <p:spPr>
          <a:xfrm>
            <a:off x="6210300" y="5743575"/>
            <a:ext cx="8953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FMI company profiling</a:t>
            </a:r>
          </a:p>
        </p:txBody>
      </p:sp>
      <p:sp>
        <p:nvSpPr>
          <p:cNvPr id="126" name="TextBox 125"/>
          <p:cNvSpPr txBox="1"/>
          <p:nvPr/>
        </p:nvSpPr>
        <p:spPr>
          <a:xfrm>
            <a:off x="7162800" y="5743575"/>
            <a:ext cx="21336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Capability build ahead of demand</a:t>
            </a:r>
          </a:p>
        </p:txBody>
      </p:sp>
      <p:sp>
        <p:nvSpPr>
          <p:cNvPr id="127" name="TextBox 126"/>
          <p:cNvSpPr txBox="1"/>
          <p:nvPr/>
        </p:nvSpPr>
        <p:spPr>
          <a:xfrm>
            <a:off x="9353550" y="5743575"/>
            <a:ext cx="26289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Product: watch the roadmap</a:t>
            </a:r>
          </a:p>
        </p:txBody>
      </p:sp>
      <p:cxnSp>
        <p:nvCxnSpPr>
          <p:cNvPr id="128" name="Connector 127"/>
          <p:cNvCxnSpPr/>
          <p:nvPr/>
        </p:nvCxnSpPr>
        <p:spPr>
          <a:xfrm>
            <a:off x="190500" y="621030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9" name="Rectangle 128"/>
          <p:cNvSpPr/>
          <p:nvPr/>
        </p:nvSpPr>
        <p:spPr>
          <a:xfrm>
            <a:off x="190500" y="6276975"/>
            <a:ext cx="285750" cy="152400"/>
          </a:xfrm>
          <a:prstGeom prst="rect">
            <a:avLst/>
          </a:prstGeom>
          <a:solidFill>
            <a:srgbClr val="8E3A8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190500" y="6276975"/>
            <a:ext cx="285750" cy="1524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MA</a:t>
            </a:r>
          </a:p>
        </p:txBody>
      </p:sp>
      <p:sp>
        <p:nvSpPr>
          <p:cNvPr id="131" name="TextBox 130"/>
          <p:cNvSpPr txBox="1"/>
          <p:nvPr/>
        </p:nvSpPr>
        <p:spPr>
          <a:xfrm>
            <a:off x="514350" y="6257925"/>
            <a:ext cx="1619250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M&amp;A</a:t>
            </a:r>
          </a:p>
        </p:txBody>
      </p:sp>
      <p:sp>
        <p:nvSpPr>
          <p:cNvPr id="132" name="Rectangle 131"/>
          <p:cNvSpPr/>
          <p:nvPr/>
        </p:nvSpPr>
        <p:spPr>
          <a:xfrm>
            <a:off x="923925" y="6276975"/>
            <a:ext cx="285750" cy="1524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TextBox 132"/>
          <p:cNvSpPr txBox="1"/>
          <p:nvPr/>
        </p:nvSpPr>
        <p:spPr>
          <a:xfrm>
            <a:off x="923925" y="6276975"/>
            <a:ext cx="285750" cy="1524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PR</a:t>
            </a:r>
          </a:p>
        </p:txBody>
      </p:sp>
      <p:sp>
        <p:nvSpPr>
          <p:cNvPr id="134" name="TextBox 133"/>
          <p:cNvSpPr txBox="1"/>
          <p:nvPr/>
        </p:nvSpPr>
        <p:spPr>
          <a:xfrm>
            <a:off x="1247775" y="6257925"/>
            <a:ext cx="1619250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Product / portfolio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2724150" y="6276975"/>
            <a:ext cx="285750" cy="152400"/>
          </a:xfrm>
          <a:prstGeom prst="rect">
            <a:avLst/>
          </a:prstGeom>
          <a:solidFill>
            <a:srgbClr val="6B7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2724150" y="6276975"/>
            <a:ext cx="285750" cy="1524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EX</a:t>
            </a:r>
          </a:p>
        </p:txBody>
      </p:sp>
      <p:sp>
        <p:nvSpPr>
          <p:cNvPr id="137" name="TextBox 136"/>
          <p:cNvSpPr txBox="1"/>
          <p:nvPr/>
        </p:nvSpPr>
        <p:spPr>
          <a:xfrm>
            <a:off x="3048000" y="6257925"/>
            <a:ext cx="1619250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Expansion</a:t>
            </a:r>
          </a:p>
        </p:txBody>
      </p:sp>
      <p:sp>
        <p:nvSpPr>
          <p:cNvPr id="138" name="Rectangle 137"/>
          <p:cNvSpPr/>
          <p:nvPr/>
        </p:nvSpPr>
        <p:spPr>
          <a:xfrm>
            <a:off x="3857625" y="6276975"/>
            <a:ext cx="285750" cy="15240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TextBox 138"/>
          <p:cNvSpPr txBox="1"/>
          <p:nvPr/>
        </p:nvSpPr>
        <p:spPr>
          <a:xfrm>
            <a:off x="3857625" y="6276975"/>
            <a:ext cx="285750" cy="1524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RD</a:t>
            </a:r>
          </a:p>
        </p:txBody>
      </p:sp>
      <p:sp>
        <p:nvSpPr>
          <p:cNvPr id="140" name="TextBox 139"/>
          <p:cNvSpPr txBox="1"/>
          <p:nvPr/>
        </p:nvSpPr>
        <p:spPr>
          <a:xfrm>
            <a:off x="4181475" y="6257925"/>
            <a:ext cx="1619250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R&amp;D / technology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5457825" y="6276975"/>
            <a:ext cx="285750" cy="152400"/>
          </a:xfrm>
          <a:prstGeom prst="rect">
            <a:avLst/>
          </a:prstGeom>
          <a:solidFill>
            <a:srgbClr val="C0392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5457825" y="6276975"/>
            <a:ext cx="285750" cy="1524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RG</a:t>
            </a:r>
          </a:p>
        </p:txBody>
      </p:sp>
      <p:sp>
        <p:nvSpPr>
          <p:cNvPr id="143" name="TextBox 142"/>
          <p:cNvSpPr txBox="1"/>
          <p:nvPr/>
        </p:nvSpPr>
        <p:spPr>
          <a:xfrm>
            <a:off x="5781675" y="6257925"/>
            <a:ext cx="1619250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Regulation / compliance</a:t>
            </a:r>
          </a:p>
        </p:txBody>
      </p:sp>
      <p:sp>
        <p:nvSpPr>
          <p:cNvPr id="144" name="Rectangle 143"/>
          <p:cNvSpPr/>
          <p:nvPr/>
        </p:nvSpPr>
        <p:spPr>
          <a:xfrm>
            <a:off x="7524750" y="6276975"/>
            <a:ext cx="285750" cy="152400"/>
          </a:xfrm>
          <a:prstGeom prst="rect">
            <a:avLst/>
          </a:prstGeom>
          <a:solidFill>
            <a:srgbClr val="17768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5" name="TextBox 144"/>
          <p:cNvSpPr txBox="1"/>
          <p:nvPr/>
        </p:nvSpPr>
        <p:spPr>
          <a:xfrm>
            <a:off x="7524750" y="6276975"/>
            <a:ext cx="285750" cy="1524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CP</a:t>
            </a:r>
          </a:p>
        </p:txBody>
      </p:sp>
      <p:sp>
        <p:nvSpPr>
          <p:cNvPr id="146" name="TextBox 145"/>
          <p:cNvSpPr txBox="1"/>
          <p:nvPr/>
        </p:nvSpPr>
        <p:spPr>
          <a:xfrm>
            <a:off x="7848600" y="6257925"/>
            <a:ext cx="1619250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Capital / funding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190500" y="6457950"/>
            <a:ext cx="118110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Dates, deal values and evidence sources populate from the research feed; until then each row reads the player's most telling active strategy.</a:t>
            </a:r>
          </a:p>
        </p:txBody>
      </p:sp>
      <p:sp>
        <p:nvSpPr>
          <p:cNvPr id="148" name="TextBox 14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3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Strategic Activity by Function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Where competitor activity concentrates by type and department, and what it means for each function</a:t>
            </a:r>
          </a:p>
        </p:txBody>
      </p:sp>
      <p:sp>
        <p:nvSpPr>
          <p:cNvPr id="10" name="Rectangle 9"/>
          <p:cNvSpPr/>
          <p:nvPr/>
        </p:nvSpPr>
        <p:spPr>
          <a:xfrm>
            <a:off x="190500" y="1638300"/>
            <a:ext cx="38100" cy="1714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85750" y="1600200"/>
            <a:ext cx="140970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Beaphar</a:t>
            </a:r>
          </a:p>
        </p:txBody>
      </p:sp>
      <p:sp>
        <p:nvSpPr>
          <p:cNvPr id="12" name="Rectangle 11"/>
          <p:cNvSpPr/>
          <p:nvPr/>
        </p:nvSpPr>
        <p:spPr>
          <a:xfrm>
            <a:off x="190500" y="1885950"/>
            <a:ext cx="38100" cy="1714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85750" y="1847850"/>
            <a:ext cx="140970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Laboratoire Biogance</a:t>
            </a:r>
          </a:p>
        </p:txBody>
      </p:sp>
      <p:sp>
        <p:nvSpPr>
          <p:cNvPr id="14" name="Rectangle 13"/>
          <p:cNvSpPr/>
          <p:nvPr/>
        </p:nvSpPr>
        <p:spPr>
          <a:xfrm>
            <a:off x="190500" y="2133600"/>
            <a:ext cx="38100" cy="1714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285750" y="2095500"/>
            <a:ext cx="140970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Laboratoire Francodex</a:t>
            </a:r>
          </a:p>
        </p:txBody>
      </p:sp>
      <p:sp>
        <p:nvSpPr>
          <p:cNvPr id="16" name="Rectangle 15"/>
          <p:cNvSpPr/>
          <p:nvPr/>
        </p:nvSpPr>
        <p:spPr>
          <a:xfrm>
            <a:off x="190500" y="2381250"/>
            <a:ext cx="38100" cy="1714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85750" y="2343150"/>
            <a:ext cx="140970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Group55</a:t>
            </a:r>
          </a:p>
        </p:txBody>
      </p:sp>
      <p:sp>
        <p:nvSpPr>
          <p:cNvPr id="18" name="Rectangle 17"/>
          <p:cNvSpPr/>
          <p:nvPr/>
        </p:nvSpPr>
        <p:spPr>
          <a:xfrm>
            <a:off x="190500" y="2628900"/>
            <a:ext cx="38100" cy="17145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85750" y="2590800"/>
            <a:ext cx="140970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Lakeland Cosmetics</a:t>
            </a:r>
          </a:p>
        </p:txBody>
      </p:sp>
      <p:sp>
        <p:nvSpPr>
          <p:cNvPr id="20" name="Rectangle 19"/>
          <p:cNvSpPr/>
          <p:nvPr/>
        </p:nvSpPr>
        <p:spPr>
          <a:xfrm>
            <a:off x="190500" y="2876550"/>
            <a:ext cx="38100" cy="17145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285750" y="2838450"/>
            <a:ext cx="140970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Laboratorios Bilper</a:t>
            </a:r>
          </a:p>
        </p:txBody>
      </p:sp>
      <p:sp>
        <p:nvSpPr>
          <p:cNvPr id="22" name="Rectangle 21"/>
          <p:cNvSpPr/>
          <p:nvPr/>
        </p:nvSpPr>
        <p:spPr>
          <a:xfrm>
            <a:off x="190500" y="3124200"/>
            <a:ext cx="38100" cy="1714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285750" y="3086100"/>
            <a:ext cx="140970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Artero</a:t>
            </a:r>
          </a:p>
        </p:txBody>
      </p:sp>
      <p:sp>
        <p:nvSpPr>
          <p:cNvPr id="24" name="Rectangle 23"/>
          <p:cNvSpPr/>
          <p:nvPr/>
        </p:nvSpPr>
        <p:spPr>
          <a:xfrm>
            <a:off x="190500" y="3371850"/>
            <a:ext cx="38100" cy="1714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285750" y="3333750"/>
            <a:ext cx="140970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Iv San Bernard</a:t>
            </a:r>
          </a:p>
        </p:txBody>
      </p:sp>
      <p:sp>
        <p:nvSpPr>
          <p:cNvPr id="26" name="Rectangle 25"/>
          <p:cNvSpPr/>
          <p:nvPr/>
        </p:nvSpPr>
        <p:spPr>
          <a:xfrm>
            <a:off x="190500" y="3619500"/>
            <a:ext cx="38100" cy="1714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TextBox 26"/>
          <p:cNvSpPr txBox="1"/>
          <p:nvPr/>
        </p:nvSpPr>
        <p:spPr>
          <a:xfrm>
            <a:off x="285750" y="3581400"/>
            <a:ext cx="140970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Cosmetica Veneta</a:t>
            </a:r>
          </a:p>
        </p:txBody>
      </p:sp>
      <p:sp>
        <p:nvSpPr>
          <p:cNvPr id="28" name="Rectangle 27"/>
          <p:cNvSpPr/>
          <p:nvPr/>
        </p:nvSpPr>
        <p:spPr>
          <a:xfrm>
            <a:off x="190500" y="3867150"/>
            <a:ext cx="38100" cy="1714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285750" y="3829050"/>
            <a:ext cx="140970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K9 Competition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714500" y="1047750"/>
            <a:ext cx="33020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Moves by type (count)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714500" y="1219200"/>
            <a:ext cx="550333" cy="3429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MA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264833" y="1219200"/>
            <a:ext cx="550333" cy="3429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PR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2815167" y="1219200"/>
            <a:ext cx="550333" cy="3429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EX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3365500" y="1219200"/>
            <a:ext cx="550333" cy="3429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RD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3915833" y="1219200"/>
            <a:ext cx="550333" cy="3429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RG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4466167" y="1219200"/>
            <a:ext cx="550333" cy="3429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CP</a:t>
            </a:r>
          </a:p>
        </p:txBody>
      </p:sp>
      <p:sp>
        <p:nvSpPr>
          <p:cNvPr id="37" name="Rectangle 36"/>
          <p:cNvSpPr/>
          <p:nvPr/>
        </p:nvSpPr>
        <p:spPr>
          <a:xfrm>
            <a:off x="1724025" y="16097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1714500" y="16097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39" name="Rectangle 38"/>
          <p:cNvSpPr/>
          <p:nvPr/>
        </p:nvSpPr>
        <p:spPr>
          <a:xfrm>
            <a:off x="2274358" y="160972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2824692" y="16097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TextBox 40"/>
          <p:cNvSpPr txBox="1"/>
          <p:nvPr/>
        </p:nvSpPr>
        <p:spPr>
          <a:xfrm>
            <a:off x="2815167" y="16097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42" name="Rectangle 41"/>
          <p:cNvSpPr/>
          <p:nvPr/>
        </p:nvSpPr>
        <p:spPr>
          <a:xfrm>
            <a:off x="3375025" y="16097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3365500" y="16097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44" name="Rectangle 43"/>
          <p:cNvSpPr/>
          <p:nvPr/>
        </p:nvSpPr>
        <p:spPr>
          <a:xfrm>
            <a:off x="3925358" y="16097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TextBox 44"/>
          <p:cNvSpPr txBox="1"/>
          <p:nvPr/>
        </p:nvSpPr>
        <p:spPr>
          <a:xfrm>
            <a:off x="3915833" y="16097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46" name="Rectangle 45"/>
          <p:cNvSpPr/>
          <p:nvPr/>
        </p:nvSpPr>
        <p:spPr>
          <a:xfrm>
            <a:off x="4475692" y="16097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TextBox 46"/>
          <p:cNvSpPr txBox="1"/>
          <p:nvPr/>
        </p:nvSpPr>
        <p:spPr>
          <a:xfrm>
            <a:off x="4466167" y="16097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48" name="Rectangle 47"/>
          <p:cNvSpPr/>
          <p:nvPr/>
        </p:nvSpPr>
        <p:spPr>
          <a:xfrm>
            <a:off x="1724025" y="18573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Rectangle 48"/>
          <p:cNvSpPr/>
          <p:nvPr/>
        </p:nvSpPr>
        <p:spPr>
          <a:xfrm>
            <a:off x="2274358" y="1857375"/>
            <a:ext cx="531283" cy="228600"/>
          </a:xfrm>
          <a:prstGeom prst="rect">
            <a:avLst/>
          </a:prstGeom>
          <a:solidFill>
            <a:srgbClr val="8FB4DC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2264833" y="18573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2</a:t>
            </a:r>
          </a:p>
        </p:txBody>
      </p:sp>
      <p:sp>
        <p:nvSpPr>
          <p:cNvPr id="51" name="Rectangle 50"/>
          <p:cNvSpPr/>
          <p:nvPr/>
        </p:nvSpPr>
        <p:spPr>
          <a:xfrm>
            <a:off x="2824692" y="18573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2815167" y="18573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53" name="Rectangle 52"/>
          <p:cNvSpPr/>
          <p:nvPr/>
        </p:nvSpPr>
        <p:spPr>
          <a:xfrm>
            <a:off x="3375025" y="18573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3365500" y="18573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55" name="Rectangle 54"/>
          <p:cNvSpPr/>
          <p:nvPr/>
        </p:nvSpPr>
        <p:spPr>
          <a:xfrm>
            <a:off x="3925358" y="18573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4475692" y="18573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TextBox 56"/>
          <p:cNvSpPr txBox="1"/>
          <p:nvPr/>
        </p:nvSpPr>
        <p:spPr>
          <a:xfrm>
            <a:off x="4466167" y="18573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58" name="Rectangle 57"/>
          <p:cNvSpPr/>
          <p:nvPr/>
        </p:nvSpPr>
        <p:spPr>
          <a:xfrm>
            <a:off x="1724025" y="21050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TextBox 58"/>
          <p:cNvSpPr txBox="1"/>
          <p:nvPr/>
        </p:nvSpPr>
        <p:spPr>
          <a:xfrm>
            <a:off x="1714500" y="21050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60" name="Rectangle 59"/>
          <p:cNvSpPr/>
          <p:nvPr/>
        </p:nvSpPr>
        <p:spPr>
          <a:xfrm>
            <a:off x="2274358" y="210502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2824692" y="21050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2815167" y="21050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63" name="Rectangle 62"/>
          <p:cNvSpPr/>
          <p:nvPr/>
        </p:nvSpPr>
        <p:spPr>
          <a:xfrm>
            <a:off x="3375025" y="21050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3365500" y="21050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65" name="Rectangle 64"/>
          <p:cNvSpPr/>
          <p:nvPr/>
        </p:nvSpPr>
        <p:spPr>
          <a:xfrm>
            <a:off x="3925358" y="21050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3915833" y="21050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67" name="Rectangle 66"/>
          <p:cNvSpPr/>
          <p:nvPr/>
        </p:nvSpPr>
        <p:spPr>
          <a:xfrm>
            <a:off x="4475692" y="21050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4466167" y="21050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69" name="Rectangle 68"/>
          <p:cNvSpPr/>
          <p:nvPr/>
        </p:nvSpPr>
        <p:spPr>
          <a:xfrm>
            <a:off x="1724025" y="23526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2274358" y="2352675"/>
            <a:ext cx="531283" cy="228600"/>
          </a:xfrm>
          <a:prstGeom prst="rect">
            <a:avLst/>
          </a:prstGeom>
          <a:solidFill>
            <a:srgbClr val="8FB4DC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TextBox 70"/>
          <p:cNvSpPr txBox="1"/>
          <p:nvPr/>
        </p:nvSpPr>
        <p:spPr>
          <a:xfrm>
            <a:off x="2264833" y="23526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2</a:t>
            </a:r>
          </a:p>
        </p:txBody>
      </p:sp>
      <p:sp>
        <p:nvSpPr>
          <p:cNvPr id="72" name="Rectangle 71"/>
          <p:cNvSpPr/>
          <p:nvPr/>
        </p:nvSpPr>
        <p:spPr>
          <a:xfrm>
            <a:off x="2824692" y="23526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TextBox 72"/>
          <p:cNvSpPr txBox="1"/>
          <p:nvPr/>
        </p:nvSpPr>
        <p:spPr>
          <a:xfrm>
            <a:off x="2815167" y="23526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74" name="Rectangle 73"/>
          <p:cNvSpPr/>
          <p:nvPr/>
        </p:nvSpPr>
        <p:spPr>
          <a:xfrm>
            <a:off x="3375025" y="23526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TextBox 74"/>
          <p:cNvSpPr txBox="1"/>
          <p:nvPr/>
        </p:nvSpPr>
        <p:spPr>
          <a:xfrm>
            <a:off x="3365500" y="23526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76" name="Rectangle 75"/>
          <p:cNvSpPr/>
          <p:nvPr/>
        </p:nvSpPr>
        <p:spPr>
          <a:xfrm>
            <a:off x="3925358" y="23526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4475692" y="23526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4466167" y="23526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79" name="Rectangle 78"/>
          <p:cNvSpPr/>
          <p:nvPr/>
        </p:nvSpPr>
        <p:spPr>
          <a:xfrm>
            <a:off x="1724025" y="26003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1714500" y="26003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81" name="Rectangle 80"/>
          <p:cNvSpPr/>
          <p:nvPr/>
        </p:nvSpPr>
        <p:spPr>
          <a:xfrm>
            <a:off x="2274358" y="260032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2824692" y="26003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TextBox 82"/>
          <p:cNvSpPr txBox="1"/>
          <p:nvPr/>
        </p:nvSpPr>
        <p:spPr>
          <a:xfrm>
            <a:off x="2815167" y="26003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84" name="Rectangle 83"/>
          <p:cNvSpPr/>
          <p:nvPr/>
        </p:nvSpPr>
        <p:spPr>
          <a:xfrm>
            <a:off x="3375025" y="26003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TextBox 84"/>
          <p:cNvSpPr txBox="1"/>
          <p:nvPr/>
        </p:nvSpPr>
        <p:spPr>
          <a:xfrm>
            <a:off x="3365500" y="26003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86" name="Rectangle 85"/>
          <p:cNvSpPr/>
          <p:nvPr/>
        </p:nvSpPr>
        <p:spPr>
          <a:xfrm>
            <a:off x="3925358" y="26003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TextBox 86"/>
          <p:cNvSpPr txBox="1"/>
          <p:nvPr/>
        </p:nvSpPr>
        <p:spPr>
          <a:xfrm>
            <a:off x="3915833" y="26003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88" name="Rectangle 87"/>
          <p:cNvSpPr/>
          <p:nvPr/>
        </p:nvSpPr>
        <p:spPr>
          <a:xfrm>
            <a:off x="4475692" y="26003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TextBox 88"/>
          <p:cNvSpPr txBox="1"/>
          <p:nvPr/>
        </p:nvSpPr>
        <p:spPr>
          <a:xfrm>
            <a:off x="4466167" y="26003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90" name="Rectangle 89"/>
          <p:cNvSpPr/>
          <p:nvPr/>
        </p:nvSpPr>
        <p:spPr>
          <a:xfrm>
            <a:off x="1724025" y="28479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2274358" y="2847975"/>
            <a:ext cx="531283" cy="228600"/>
          </a:xfrm>
          <a:prstGeom prst="rect">
            <a:avLst/>
          </a:prstGeom>
          <a:solidFill>
            <a:srgbClr val="8FB4DC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2264833" y="28479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2</a:t>
            </a:r>
          </a:p>
        </p:txBody>
      </p:sp>
      <p:sp>
        <p:nvSpPr>
          <p:cNvPr id="93" name="Rectangle 92"/>
          <p:cNvSpPr/>
          <p:nvPr/>
        </p:nvSpPr>
        <p:spPr>
          <a:xfrm>
            <a:off x="2824692" y="28479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2815167" y="28479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95" name="Rectangle 94"/>
          <p:cNvSpPr/>
          <p:nvPr/>
        </p:nvSpPr>
        <p:spPr>
          <a:xfrm>
            <a:off x="3375025" y="28479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3365500" y="28479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97" name="Rectangle 96"/>
          <p:cNvSpPr/>
          <p:nvPr/>
        </p:nvSpPr>
        <p:spPr>
          <a:xfrm>
            <a:off x="3925358" y="28479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4475692" y="28479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TextBox 98"/>
          <p:cNvSpPr txBox="1"/>
          <p:nvPr/>
        </p:nvSpPr>
        <p:spPr>
          <a:xfrm>
            <a:off x="4466167" y="28479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00" name="Rectangle 99"/>
          <p:cNvSpPr/>
          <p:nvPr/>
        </p:nvSpPr>
        <p:spPr>
          <a:xfrm>
            <a:off x="1724025" y="30956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TextBox 100"/>
          <p:cNvSpPr txBox="1"/>
          <p:nvPr/>
        </p:nvSpPr>
        <p:spPr>
          <a:xfrm>
            <a:off x="1714500" y="30956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02" name="Rectangle 101"/>
          <p:cNvSpPr/>
          <p:nvPr/>
        </p:nvSpPr>
        <p:spPr>
          <a:xfrm>
            <a:off x="2274358" y="309562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2824692" y="30956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2815167" y="30956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3375025" y="30956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3365500" y="30956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3925358" y="30956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3915833" y="30956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4475692" y="30956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4466167" y="30956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1724025" y="33432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Rectangle 111"/>
          <p:cNvSpPr/>
          <p:nvPr/>
        </p:nvSpPr>
        <p:spPr>
          <a:xfrm>
            <a:off x="2274358" y="3343275"/>
            <a:ext cx="531283" cy="228600"/>
          </a:xfrm>
          <a:prstGeom prst="rect">
            <a:avLst/>
          </a:prstGeom>
          <a:solidFill>
            <a:srgbClr val="8FB4DC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TextBox 112"/>
          <p:cNvSpPr txBox="1"/>
          <p:nvPr/>
        </p:nvSpPr>
        <p:spPr>
          <a:xfrm>
            <a:off x="2264833" y="33432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2</a:t>
            </a:r>
          </a:p>
        </p:txBody>
      </p:sp>
      <p:sp>
        <p:nvSpPr>
          <p:cNvPr id="114" name="Rectangle 113"/>
          <p:cNvSpPr/>
          <p:nvPr/>
        </p:nvSpPr>
        <p:spPr>
          <a:xfrm>
            <a:off x="2824692" y="33432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TextBox 114"/>
          <p:cNvSpPr txBox="1"/>
          <p:nvPr/>
        </p:nvSpPr>
        <p:spPr>
          <a:xfrm>
            <a:off x="2815167" y="33432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16" name="Rectangle 115"/>
          <p:cNvSpPr/>
          <p:nvPr/>
        </p:nvSpPr>
        <p:spPr>
          <a:xfrm>
            <a:off x="3375025" y="33432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TextBox 116"/>
          <p:cNvSpPr txBox="1"/>
          <p:nvPr/>
        </p:nvSpPr>
        <p:spPr>
          <a:xfrm>
            <a:off x="3365500" y="33432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18" name="Rectangle 117"/>
          <p:cNvSpPr/>
          <p:nvPr/>
        </p:nvSpPr>
        <p:spPr>
          <a:xfrm>
            <a:off x="3925358" y="33432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4475692" y="33432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4466167" y="33432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1724025" y="35909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1714500" y="35909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2274358" y="359092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Rectangle 123"/>
          <p:cNvSpPr/>
          <p:nvPr/>
        </p:nvSpPr>
        <p:spPr>
          <a:xfrm>
            <a:off x="2824692" y="35909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TextBox 124"/>
          <p:cNvSpPr txBox="1"/>
          <p:nvPr/>
        </p:nvSpPr>
        <p:spPr>
          <a:xfrm>
            <a:off x="2815167" y="35909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26" name="Rectangle 125"/>
          <p:cNvSpPr/>
          <p:nvPr/>
        </p:nvSpPr>
        <p:spPr>
          <a:xfrm>
            <a:off x="3375025" y="35909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TextBox 126"/>
          <p:cNvSpPr txBox="1"/>
          <p:nvPr/>
        </p:nvSpPr>
        <p:spPr>
          <a:xfrm>
            <a:off x="3365500" y="35909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28" name="Rectangle 127"/>
          <p:cNvSpPr/>
          <p:nvPr/>
        </p:nvSpPr>
        <p:spPr>
          <a:xfrm>
            <a:off x="3925358" y="35909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TextBox 128"/>
          <p:cNvSpPr txBox="1"/>
          <p:nvPr/>
        </p:nvSpPr>
        <p:spPr>
          <a:xfrm>
            <a:off x="3915833" y="35909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30" name="Rectangle 129"/>
          <p:cNvSpPr/>
          <p:nvPr/>
        </p:nvSpPr>
        <p:spPr>
          <a:xfrm>
            <a:off x="4475692" y="35909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TextBox 130"/>
          <p:cNvSpPr txBox="1"/>
          <p:nvPr/>
        </p:nvSpPr>
        <p:spPr>
          <a:xfrm>
            <a:off x="4466167" y="35909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32" name="Rectangle 131"/>
          <p:cNvSpPr/>
          <p:nvPr/>
        </p:nvSpPr>
        <p:spPr>
          <a:xfrm>
            <a:off x="1724025" y="38385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2274358" y="3838575"/>
            <a:ext cx="531283" cy="228600"/>
          </a:xfrm>
          <a:prstGeom prst="rect">
            <a:avLst/>
          </a:prstGeom>
          <a:solidFill>
            <a:srgbClr val="8FB4DC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2264833" y="38385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2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2824692" y="38385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2815167" y="38385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3375025" y="38385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3365500" y="38385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3925358" y="38385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Rectangle 139"/>
          <p:cNvSpPr/>
          <p:nvPr/>
        </p:nvSpPr>
        <p:spPr>
          <a:xfrm>
            <a:off x="4475692" y="38385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TextBox 140"/>
          <p:cNvSpPr txBox="1"/>
          <p:nvPr/>
        </p:nvSpPr>
        <p:spPr>
          <a:xfrm>
            <a:off x="4466167" y="38385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42" name="TextBox 141"/>
          <p:cNvSpPr txBox="1"/>
          <p:nvPr/>
        </p:nvSpPr>
        <p:spPr>
          <a:xfrm>
            <a:off x="5207000" y="1047750"/>
            <a:ext cx="33020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By department</a:t>
            </a:r>
          </a:p>
        </p:txBody>
      </p:sp>
      <p:sp>
        <p:nvSpPr>
          <p:cNvPr id="143" name="TextBox 142"/>
          <p:cNvSpPr txBox="1"/>
          <p:nvPr/>
        </p:nvSpPr>
        <p:spPr>
          <a:xfrm>
            <a:off x="5207000" y="1219200"/>
            <a:ext cx="8255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Product &amp; R&amp;D</a:t>
            </a:r>
          </a:p>
        </p:txBody>
      </p:sp>
      <p:sp>
        <p:nvSpPr>
          <p:cNvPr id="144" name="TextBox 143"/>
          <p:cNvSpPr txBox="1"/>
          <p:nvPr/>
        </p:nvSpPr>
        <p:spPr>
          <a:xfrm>
            <a:off x="6032500" y="1219200"/>
            <a:ext cx="8255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Corp. dev.</a:t>
            </a:r>
          </a:p>
        </p:txBody>
      </p:sp>
      <p:sp>
        <p:nvSpPr>
          <p:cNvPr id="145" name="TextBox 144"/>
          <p:cNvSpPr txBox="1"/>
          <p:nvPr/>
        </p:nvSpPr>
        <p:spPr>
          <a:xfrm>
            <a:off x="6858000" y="1219200"/>
            <a:ext cx="8255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Operations</a:t>
            </a:r>
          </a:p>
        </p:txBody>
      </p:sp>
      <p:sp>
        <p:nvSpPr>
          <p:cNvPr id="146" name="TextBox 145"/>
          <p:cNvSpPr txBox="1"/>
          <p:nvPr/>
        </p:nvSpPr>
        <p:spPr>
          <a:xfrm>
            <a:off x="7683500" y="1219200"/>
            <a:ext cx="8255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Legal &amp; reg.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5216525" y="16097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5207000" y="16097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6042025" y="16097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6032500" y="16097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6867525" y="16097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6858000" y="16097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7693025" y="16097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7683500" y="16097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5216525" y="1857375"/>
            <a:ext cx="806450" cy="228600"/>
          </a:xfrm>
          <a:prstGeom prst="rect">
            <a:avLst/>
          </a:prstGeom>
          <a:solidFill>
            <a:srgbClr val="3D73AE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5207000" y="185737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6042025" y="1857375"/>
            <a:ext cx="806450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Rectangle 157"/>
          <p:cNvSpPr/>
          <p:nvPr/>
        </p:nvSpPr>
        <p:spPr>
          <a:xfrm>
            <a:off x="6867525" y="185737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TextBox 158"/>
          <p:cNvSpPr txBox="1"/>
          <p:nvPr/>
        </p:nvSpPr>
        <p:spPr>
          <a:xfrm>
            <a:off x="6858000" y="185737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60" name="Rectangle 159"/>
          <p:cNvSpPr/>
          <p:nvPr/>
        </p:nvSpPr>
        <p:spPr>
          <a:xfrm>
            <a:off x="7693025" y="1857375"/>
            <a:ext cx="806450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1" name="Rectangle 160"/>
          <p:cNvSpPr/>
          <p:nvPr/>
        </p:nvSpPr>
        <p:spPr>
          <a:xfrm>
            <a:off x="5216525" y="21050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5207000" y="21050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6042025" y="21050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6032500" y="21050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6867525" y="21050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6858000" y="21050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7693025" y="21050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7683500" y="21050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5216525" y="2352675"/>
            <a:ext cx="806450" cy="228600"/>
          </a:xfrm>
          <a:prstGeom prst="rect">
            <a:avLst/>
          </a:prstGeom>
          <a:solidFill>
            <a:srgbClr val="3D73AE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5207000" y="235267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6042025" y="2352675"/>
            <a:ext cx="806450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Rectangle 171"/>
          <p:cNvSpPr/>
          <p:nvPr/>
        </p:nvSpPr>
        <p:spPr>
          <a:xfrm>
            <a:off x="6867525" y="235267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3" name="TextBox 172"/>
          <p:cNvSpPr txBox="1"/>
          <p:nvPr/>
        </p:nvSpPr>
        <p:spPr>
          <a:xfrm>
            <a:off x="6858000" y="235267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74" name="Rectangle 173"/>
          <p:cNvSpPr/>
          <p:nvPr/>
        </p:nvSpPr>
        <p:spPr>
          <a:xfrm>
            <a:off x="7693025" y="2352675"/>
            <a:ext cx="806450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5" name="Rectangle 174"/>
          <p:cNvSpPr/>
          <p:nvPr/>
        </p:nvSpPr>
        <p:spPr>
          <a:xfrm>
            <a:off x="5216525" y="26003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5207000" y="26003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6042025" y="26003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6032500" y="26003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6867525" y="26003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6858000" y="26003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7693025" y="26003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7683500" y="26003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5216525" y="2847975"/>
            <a:ext cx="806450" cy="228600"/>
          </a:xfrm>
          <a:prstGeom prst="rect">
            <a:avLst/>
          </a:prstGeom>
          <a:solidFill>
            <a:srgbClr val="3D73AE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5207000" y="284797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6042025" y="2847975"/>
            <a:ext cx="806450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Rectangle 185"/>
          <p:cNvSpPr/>
          <p:nvPr/>
        </p:nvSpPr>
        <p:spPr>
          <a:xfrm>
            <a:off x="6867525" y="284797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7" name="TextBox 186"/>
          <p:cNvSpPr txBox="1"/>
          <p:nvPr/>
        </p:nvSpPr>
        <p:spPr>
          <a:xfrm>
            <a:off x="6858000" y="284797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88" name="Rectangle 187"/>
          <p:cNvSpPr/>
          <p:nvPr/>
        </p:nvSpPr>
        <p:spPr>
          <a:xfrm>
            <a:off x="7693025" y="2847975"/>
            <a:ext cx="806450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9" name="Rectangle 188"/>
          <p:cNvSpPr/>
          <p:nvPr/>
        </p:nvSpPr>
        <p:spPr>
          <a:xfrm>
            <a:off x="5216525" y="30956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5207000" y="30956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6042025" y="30956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6032500" y="30956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6867525" y="30956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6858000" y="30956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7693025" y="30956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7683500" y="30956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5216525" y="3343275"/>
            <a:ext cx="806450" cy="228600"/>
          </a:xfrm>
          <a:prstGeom prst="rect">
            <a:avLst/>
          </a:prstGeom>
          <a:solidFill>
            <a:srgbClr val="3D73AE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5207000" y="334327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6042025" y="3343275"/>
            <a:ext cx="806450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Rectangle 199"/>
          <p:cNvSpPr/>
          <p:nvPr/>
        </p:nvSpPr>
        <p:spPr>
          <a:xfrm>
            <a:off x="6867525" y="334327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1" name="TextBox 200"/>
          <p:cNvSpPr txBox="1"/>
          <p:nvPr/>
        </p:nvSpPr>
        <p:spPr>
          <a:xfrm>
            <a:off x="6858000" y="334327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202" name="Rectangle 201"/>
          <p:cNvSpPr/>
          <p:nvPr/>
        </p:nvSpPr>
        <p:spPr>
          <a:xfrm>
            <a:off x="7693025" y="3343275"/>
            <a:ext cx="806450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3" name="Rectangle 202"/>
          <p:cNvSpPr/>
          <p:nvPr/>
        </p:nvSpPr>
        <p:spPr>
          <a:xfrm>
            <a:off x="5216525" y="35909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5207000" y="35909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6042025" y="35909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6032500" y="35909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6867525" y="35909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6858000" y="35909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7693025" y="35909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7683500" y="35909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5216525" y="3838575"/>
            <a:ext cx="806450" cy="228600"/>
          </a:xfrm>
          <a:prstGeom prst="rect">
            <a:avLst/>
          </a:prstGeom>
          <a:solidFill>
            <a:srgbClr val="3D73AE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5207000" y="383857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6042025" y="3838575"/>
            <a:ext cx="806450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Rectangle 213"/>
          <p:cNvSpPr/>
          <p:nvPr/>
        </p:nvSpPr>
        <p:spPr>
          <a:xfrm>
            <a:off x="6867525" y="383857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5" name="TextBox 214"/>
          <p:cNvSpPr txBox="1"/>
          <p:nvPr/>
        </p:nvSpPr>
        <p:spPr>
          <a:xfrm>
            <a:off x="6858000" y="383857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216" name="Rectangle 215"/>
          <p:cNvSpPr/>
          <p:nvPr/>
        </p:nvSpPr>
        <p:spPr>
          <a:xfrm>
            <a:off x="7693025" y="3838575"/>
            <a:ext cx="806450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7" name="TextBox 216"/>
          <p:cNvSpPr txBox="1"/>
          <p:nvPr/>
        </p:nvSpPr>
        <p:spPr>
          <a:xfrm>
            <a:off x="8699500" y="1047750"/>
            <a:ext cx="33020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By region of activity</a:t>
            </a:r>
          </a:p>
        </p:txBody>
      </p:sp>
      <p:sp>
        <p:nvSpPr>
          <p:cNvPr id="218" name="TextBox 217"/>
          <p:cNvSpPr txBox="1"/>
          <p:nvPr/>
        </p:nvSpPr>
        <p:spPr>
          <a:xfrm>
            <a:off x="8699500" y="1219200"/>
            <a:ext cx="33020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Europe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8709025" y="1609725"/>
            <a:ext cx="3282950" cy="228600"/>
          </a:xfrm>
          <a:prstGeom prst="rect">
            <a:avLst/>
          </a:prstGeom>
          <a:solidFill>
            <a:srgbClr val="8FB4DC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8699500" y="1609725"/>
            <a:ext cx="33020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2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8709025" y="1857375"/>
            <a:ext cx="3282950" cy="228600"/>
          </a:xfrm>
          <a:prstGeom prst="rect">
            <a:avLst/>
          </a:prstGeom>
          <a:solidFill>
            <a:srgbClr val="8FB4DC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8699500" y="1857375"/>
            <a:ext cx="33020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2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8709025" y="2105025"/>
            <a:ext cx="3282950" cy="228600"/>
          </a:xfrm>
          <a:prstGeom prst="rect">
            <a:avLst/>
          </a:prstGeom>
          <a:solidFill>
            <a:srgbClr val="8FB4DC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8699500" y="2105025"/>
            <a:ext cx="33020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2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8709025" y="2352675"/>
            <a:ext cx="3282950" cy="228600"/>
          </a:xfrm>
          <a:prstGeom prst="rect">
            <a:avLst/>
          </a:prstGeom>
          <a:solidFill>
            <a:srgbClr val="8FB4DC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8699500" y="2352675"/>
            <a:ext cx="33020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2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8709025" y="2600325"/>
            <a:ext cx="3282950" cy="228600"/>
          </a:xfrm>
          <a:prstGeom prst="rect">
            <a:avLst/>
          </a:prstGeom>
          <a:solidFill>
            <a:srgbClr val="8FB4DC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8699500" y="2600325"/>
            <a:ext cx="33020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2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8709025" y="2847975"/>
            <a:ext cx="3282950" cy="228600"/>
          </a:xfrm>
          <a:prstGeom prst="rect">
            <a:avLst/>
          </a:prstGeom>
          <a:solidFill>
            <a:srgbClr val="8FB4DC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8699500" y="2847975"/>
            <a:ext cx="33020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2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8709025" y="3095625"/>
            <a:ext cx="3282950" cy="228600"/>
          </a:xfrm>
          <a:prstGeom prst="rect">
            <a:avLst/>
          </a:prstGeom>
          <a:solidFill>
            <a:srgbClr val="8FB4DC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8699500" y="3095625"/>
            <a:ext cx="33020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2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8709025" y="3343275"/>
            <a:ext cx="3282950" cy="228600"/>
          </a:xfrm>
          <a:prstGeom prst="rect">
            <a:avLst/>
          </a:prstGeom>
          <a:solidFill>
            <a:srgbClr val="8FB4DC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8699500" y="3343275"/>
            <a:ext cx="33020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2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8709025" y="3590925"/>
            <a:ext cx="3282950" cy="228600"/>
          </a:xfrm>
          <a:prstGeom prst="rect">
            <a:avLst/>
          </a:prstGeom>
          <a:solidFill>
            <a:srgbClr val="8FB4DC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8699500" y="3590925"/>
            <a:ext cx="33020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2</a:t>
            </a:r>
          </a:p>
        </p:txBody>
      </p:sp>
      <p:sp>
        <p:nvSpPr>
          <p:cNvPr id="237" name="Rectangle 236"/>
          <p:cNvSpPr/>
          <p:nvPr/>
        </p:nvSpPr>
        <p:spPr>
          <a:xfrm>
            <a:off x="8709025" y="3838575"/>
            <a:ext cx="3282950" cy="228600"/>
          </a:xfrm>
          <a:prstGeom prst="rect">
            <a:avLst/>
          </a:prstGeom>
          <a:solidFill>
            <a:srgbClr val="8FB4DC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8699500" y="3838575"/>
            <a:ext cx="33020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2</a:t>
            </a:r>
          </a:p>
        </p:txBody>
      </p:sp>
      <p:sp>
        <p:nvSpPr>
          <p:cNvPr id="239" name="Rectangle 238"/>
          <p:cNvSpPr/>
          <p:nvPr/>
        </p:nvSpPr>
        <p:spPr>
          <a:xfrm>
            <a:off x="190500" y="4171950"/>
            <a:ext cx="209550" cy="123825"/>
          </a:xfrm>
          <a:prstGeom prst="rect">
            <a:avLst/>
          </a:prstGeom>
          <a:solidFill>
            <a:srgbClr val="CFE0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438150" y="4133850"/>
            <a:ext cx="1047750" cy="1905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1 move</a:t>
            </a:r>
          </a:p>
        </p:txBody>
      </p:sp>
      <p:sp>
        <p:nvSpPr>
          <p:cNvPr id="241" name="Rectangle 240"/>
          <p:cNvSpPr/>
          <p:nvPr/>
        </p:nvSpPr>
        <p:spPr>
          <a:xfrm>
            <a:off x="1238250" y="4171950"/>
            <a:ext cx="209550" cy="123825"/>
          </a:xfrm>
          <a:prstGeom prst="rect">
            <a:avLst/>
          </a:prstGeom>
          <a:solidFill>
            <a:srgbClr val="8FB4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1485900" y="4133850"/>
            <a:ext cx="1047750" cy="1905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2 moves</a:t>
            </a:r>
          </a:p>
        </p:txBody>
      </p:sp>
      <p:sp>
        <p:nvSpPr>
          <p:cNvPr id="243" name="Rectangle 242"/>
          <p:cNvSpPr/>
          <p:nvPr/>
        </p:nvSpPr>
        <p:spPr>
          <a:xfrm>
            <a:off x="2286000" y="4171950"/>
            <a:ext cx="209550" cy="123825"/>
          </a:xfrm>
          <a:prstGeom prst="rect">
            <a:avLst/>
          </a:prstGeom>
          <a:solidFill>
            <a:srgbClr val="3D73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2533650" y="4133850"/>
            <a:ext cx="1047750" cy="1905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3+ moves</a:t>
            </a:r>
          </a:p>
        </p:txBody>
      </p:sp>
      <p:sp>
        <p:nvSpPr>
          <p:cNvPr id="245" name="TextBox 244"/>
          <p:cNvSpPr txBox="1"/>
          <p:nvPr/>
        </p:nvSpPr>
        <p:spPr>
          <a:xfrm>
            <a:off x="3524250" y="4133850"/>
            <a:ext cx="8477250" cy="1905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Type codes: MA M&amp;A, PR Product / portfolio, EX Expansion, RD R&amp;D / technology, RG Regulation / compliance, CP Capital / funding</a:t>
            </a:r>
          </a:p>
        </p:txBody>
      </p:sp>
      <p:cxnSp>
        <p:nvCxnSpPr>
          <p:cNvPr id="246" name="Connector 245"/>
          <p:cNvCxnSpPr/>
          <p:nvPr/>
        </p:nvCxnSpPr>
        <p:spPr>
          <a:xfrm>
            <a:off x="190500" y="4400550"/>
            <a:ext cx="11811000" cy="0"/>
          </a:xfrm>
          <a:prstGeom prst="line">
            <a:avLst/>
          </a:prstGeom>
          <a:ln w="19050">
            <a:solidFill>
              <a:srgbClr val="0F2D52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47" name="TextBox 246"/>
          <p:cNvSpPr txBox="1"/>
          <p:nvPr/>
        </p:nvSpPr>
        <p:spPr>
          <a:xfrm>
            <a:off x="190500" y="4457700"/>
            <a:ext cx="57150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WHAT IT MEANS FOR EACH OF YOUR DEPARTMENTS</a:t>
            </a:r>
          </a:p>
        </p:txBody>
      </p:sp>
      <p:sp>
        <p:nvSpPr>
          <p:cNvPr id="248" name="Rectangle 247"/>
          <p:cNvSpPr/>
          <p:nvPr/>
        </p:nvSpPr>
        <p:spPr>
          <a:xfrm>
            <a:off x="190500" y="4686300"/>
            <a:ext cx="1873250" cy="22860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9" name="TextBox 248"/>
          <p:cNvSpPr txBox="1"/>
          <p:nvPr/>
        </p:nvSpPr>
        <p:spPr>
          <a:xfrm>
            <a:off x="266700" y="4686300"/>
            <a:ext cx="17589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Sales</a:t>
            </a:r>
          </a:p>
        </p:txBody>
      </p:sp>
      <p:sp>
        <p:nvSpPr>
          <p:cNvPr id="250" name="TextBox 249"/>
          <p:cNvSpPr txBox="1"/>
          <p:nvPr/>
        </p:nvSpPr>
        <p:spPr>
          <a:xfrm>
            <a:off x="190500" y="4953000"/>
            <a:ext cx="1873250" cy="8572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10 expansion moves target new regions and volume tiers: defend key accounts where rivals expand.</a:t>
            </a:r>
          </a:p>
        </p:txBody>
      </p:sp>
      <p:sp>
        <p:nvSpPr>
          <p:cNvPr id="251" name="Rectangle 250"/>
          <p:cNvSpPr/>
          <p:nvPr/>
        </p:nvSpPr>
        <p:spPr>
          <a:xfrm>
            <a:off x="2178050" y="4686300"/>
            <a:ext cx="1873250" cy="22860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TextBox 251"/>
          <p:cNvSpPr txBox="1"/>
          <p:nvPr/>
        </p:nvSpPr>
        <p:spPr>
          <a:xfrm>
            <a:off x="2254250" y="4686300"/>
            <a:ext cx="17589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Marketing</a:t>
            </a:r>
          </a:p>
        </p:txBody>
      </p:sp>
      <p:sp>
        <p:nvSpPr>
          <p:cNvPr id="253" name="TextBox 252"/>
          <p:cNvSpPr txBox="1"/>
          <p:nvPr/>
        </p:nvSpPr>
        <p:spPr>
          <a:xfrm>
            <a:off x="2178050" y="4953000"/>
            <a:ext cx="1873250" cy="8572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Certification and compliance are being used as trust signals; make your own credentials visible.</a:t>
            </a:r>
          </a:p>
        </p:txBody>
      </p:sp>
      <p:sp>
        <p:nvSpPr>
          <p:cNvPr id="254" name="Rectangle 253"/>
          <p:cNvSpPr/>
          <p:nvPr/>
        </p:nvSpPr>
        <p:spPr>
          <a:xfrm>
            <a:off x="4165600" y="4686300"/>
            <a:ext cx="1873250" cy="22860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5" name="TextBox 254"/>
          <p:cNvSpPr txBox="1"/>
          <p:nvPr/>
        </p:nvSpPr>
        <p:spPr>
          <a:xfrm>
            <a:off x="4241800" y="4686300"/>
            <a:ext cx="17589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Product and R&amp;D</a:t>
            </a:r>
          </a:p>
        </p:txBody>
      </p:sp>
      <p:sp>
        <p:nvSpPr>
          <p:cNvPr id="256" name="TextBox 255"/>
          <p:cNvSpPr txBox="1"/>
          <p:nvPr/>
        </p:nvSpPr>
        <p:spPr>
          <a:xfrm>
            <a:off x="4165600" y="4953000"/>
            <a:ext cx="1873250" cy="8572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20 product and R&amp;D moves: benchmark launches and the technology roadmap.</a:t>
            </a:r>
          </a:p>
        </p:txBody>
      </p:sp>
      <p:sp>
        <p:nvSpPr>
          <p:cNvPr id="257" name="Rectangle 256"/>
          <p:cNvSpPr/>
          <p:nvPr/>
        </p:nvSpPr>
        <p:spPr>
          <a:xfrm>
            <a:off x="6153150" y="4686300"/>
            <a:ext cx="1873250" cy="22860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TextBox 257"/>
          <p:cNvSpPr txBox="1"/>
          <p:nvPr/>
        </p:nvSpPr>
        <p:spPr>
          <a:xfrm>
            <a:off x="6229350" y="4686300"/>
            <a:ext cx="17589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Corporate development</a:t>
            </a:r>
          </a:p>
        </p:txBody>
      </p:sp>
      <p:sp>
        <p:nvSpPr>
          <p:cNvPr id="259" name="TextBox 258"/>
          <p:cNvSpPr txBox="1"/>
          <p:nvPr/>
        </p:nvSpPr>
        <p:spPr>
          <a:xfrm>
            <a:off x="6153150" y="4953000"/>
            <a:ext cx="1873250" cy="8572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5 players are acquiring; the independent target list is shrinking.</a:t>
            </a:r>
          </a:p>
        </p:txBody>
      </p:sp>
      <p:sp>
        <p:nvSpPr>
          <p:cNvPr id="260" name="Rectangle 259"/>
          <p:cNvSpPr/>
          <p:nvPr/>
        </p:nvSpPr>
        <p:spPr>
          <a:xfrm>
            <a:off x="8140700" y="4686300"/>
            <a:ext cx="1873250" cy="22860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1" name="TextBox 260"/>
          <p:cNvSpPr txBox="1"/>
          <p:nvPr/>
        </p:nvSpPr>
        <p:spPr>
          <a:xfrm>
            <a:off x="8216900" y="4686300"/>
            <a:ext cx="17589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Operations</a:t>
            </a:r>
          </a:p>
        </p:txBody>
      </p:sp>
      <p:sp>
        <p:nvSpPr>
          <p:cNvPr id="262" name="TextBox 261"/>
          <p:cNvSpPr txBox="1"/>
          <p:nvPr/>
        </p:nvSpPr>
        <p:spPr>
          <a:xfrm>
            <a:off x="8140700" y="4953000"/>
            <a:ext cx="1873250" cy="8572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Expansion moves add capacity in rivals' home regions; review supply and lead times.</a:t>
            </a:r>
          </a:p>
        </p:txBody>
      </p:sp>
      <p:sp>
        <p:nvSpPr>
          <p:cNvPr id="263" name="Rectangle 262"/>
          <p:cNvSpPr/>
          <p:nvPr/>
        </p:nvSpPr>
        <p:spPr>
          <a:xfrm>
            <a:off x="10128250" y="4686300"/>
            <a:ext cx="1873250" cy="22860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TextBox 263"/>
          <p:cNvSpPr txBox="1"/>
          <p:nvPr/>
        </p:nvSpPr>
        <p:spPr>
          <a:xfrm>
            <a:off x="10204450" y="4686300"/>
            <a:ext cx="17589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Legal and regulatory</a:t>
            </a:r>
          </a:p>
        </p:txBody>
      </p:sp>
      <p:sp>
        <p:nvSpPr>
          <p:cNvPr id="265" name="TextBox 264"/>
          <p:cNvSpPr txBox="1"/>
          <p:nvPr/>
        </p:nvSpPr>
        <p:spPr>
          <a:xfrm>
            <a:off x="10128250" y="4953000"/>
            <a:ext cx="1873250" cy="8572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5 players lean on certification; audit your own compliance position.</a:t>
            </a:r>
          </a:p>
        </p:txBody>
      </p:sp>
      <p:sp>
        <p:nvSpPr>
          <p:cNvPr id="266" name="TextBox 265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4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Industry Structure Landscape – Pet Cosmetic Products Market, Europe 2026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Tier ladder, market concentration and tier profile, and the structural shift 2026→2036 shaping the tier structure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47750"/>
            <a:ext cx="5810250" cy="4000500"/>
          </a:xfrm>
          <a:prstGeom prst="roundRect">
            <a:avLst>
              <a:gd name="adj" fmla="val 131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104900"/>
            <a:ext cx="561975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200" b="1">
                <a:solidFill>
                  <a:srgbClr val="2E2E2E"/>
                </a:solidFill>
                <a:latin typeface="Calibri"/>
              </a:rPr>
              <a:t>Tier Ladder – Share of Market Value, 2026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238125" y="1304925"/>
            <a:ext cx="561975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B7280"/>
                </a:solidFill>
                <a:latin typeface="Calibri"/>
              </a:rPr>
              <a:t/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257175" y="1600200"/>
            <a:ext cx="99060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4213D"/>
                </a:solidFill>
                <a:latin typeface="Calibri"/>
              </a:rPr>
              <a:t>Tier 1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57175" y="1809750"/>
            <a:ext cx="990600" cy="3238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6B7280"/>
                </a:solidFill>
                <a:latin typeface="Calibri"/>
              </a:rPr>
              <a:t>Top / global players</a:t>
            </a:r>
          </a:p>
        </p:txBody>
      </p:sp>
      <p:sp>
        <p:nvSpPr>
          <p:cNvPr id="15" name="Rectangle 14"/>
          <p:cNvSpPr/>
          <p:nvPr/>
        </p:nvSpPr>
        <p:spPr>
          <a:xfrm>
            <a:off x="1266825" y="1581150"/>
            <a:ext cx="4533900" cy="476250"/>
          </a:xfrm>
          <a:prstGeom prst="rect">
            <a:avLst/>
          </a:prstGeom>
          <a:solidFill>
            <a:srgbClr val="1F3A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1362075" y="1609725"/>
            <a:ext cx="66675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362075" y="1809750"/>
            <a:ext cx="438150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266825" y="2066925"/>
            <a:ext cx="453390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6B7280"/>
                </a:solidFill>
                <a:latin typeface="Calibri"/>
              </a:rPr>
              <a:t>Beaphar · Laboratoire Biogance · Laboratoire Francodex · Group55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257175" y="2457450"/>
            <a:ext cx="99060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4213D"/>
                </a:solidFill>
                <a:latin typeface="Calibri"/>
              </a:rPr>
              <a:t>Tier 2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257175" y="2667000"/>
            <a:ext cx="990600" cy="3238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6B7280"/>
                </a:solidFill>
                <a:latin typeface="Calibri"/>
              </a:rPr>
              <a:t>Mid-sized players</a:t>
            </a:r>
          </a:p>
        </p:txBody>
      </p:sp>
      <p:sp>
        <p:nvSpPr>
          <p:cNvPr id="21" name="Rectangle 20"/>
          <p:cNvSpPr/>
          <p:nvPr/>
        </p:nvSpPr>
        <p:spPr>
          <a:xfrm>
            <a:off x="1266825" y="2438400"/>
            <a:ext cx="3786554" cy="476250"/>
          </a:xfrm>
          <a:prstGeom prst="rect">
            <a:avLst/>
          </a:prstGeom>
          <a:solidFill>
            <a:srgbClr val="2E6DB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362075" y="2466975"/>
            <a:ext cx="66675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1362075" y="2667000"/>
            <a:ext cx="3634154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1266825" y="2924175"/>
            <a:ext cx="453390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6B7280"/>
                </a:solidFill>
                <a:latin typeface="Calibri"/>
              </a:rPr>
              <a:t>Lakeland Cosmetics · Laboratorios Bilper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57175" y="3314700"/>
            <a:ext cx="99060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4213D"/>
                </a:solidFill>
                <a:latin typeface="Calibri"/>
              </a:rPr>
              <a:t>Tier 3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57175" y="3524250"/>
            <a:ext cx="990600" cy="3238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6B7280"/>
                </a:solidFill>
                <a:latin typeface="Calibri"/>
              </a:rPr>
              <a:t>Emerging / local players</a:t>
            </a:r>
          </a:p>
        </p:txBody>
      </p:sp>
      <p:sp>
        <p:nvSpPr>
          <p:cNvPr id="27" name="Rectangle 26"/>
          <p:cNvSpPr/>
          <p:nvPr/>
        </p:nvSpPr>
        <p:spPr>
          <a:xfrm>
            <a:off x="1266825" y="3295650"/>
            <a:ext cx="3487615" cy="476250"/>
          </a:xfrm>
          <a:prstGeom prst="rect">
            <a:avLst/>
          </a:prstGeom>
          <a:solidFill>
            <a:srgbClr val="6FA8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1362075" y="3324225"/>
            <a:ext cx="66675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1362075" y="3524250"/>
            <a:ext cx="3335215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266825" y="3781425"/>
            <a:ext cx="453390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6B7280"/>
                </a:solidFill>
                <a:latin typeface="Calibri"/>
              </a:rPr>
              <a:t>Artero · Iv San Bernard · Cosmetica Veneta · K9 Competition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257175" y="4171950"/>
            <a:ext cx="99060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4213D"/>
                </a:solidFill>
                <a:latin typeface="Calibri"/>
              </a:rPr>
              <a:t>Others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57175" y="4381500"/>
            <a:ext cx="990600" cy="3238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6B7280"/>
                </a:solidFill>
                <a:latin typeface="Calibri"/>
              </a:rPr>
              <a:t>Long tail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266825" y="4152900"/>
            <a:ext cx="3637085" cy="476250"/>
          </a:xfrm>
          <a:prstGeom prst="rect">
            <a:avLst/>
          </a:prstGeom>
          <a:solidFill>
            <a:srgbClr val="9FC5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1362075" y="4181475"/>
            <a:ext cx="66675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1362075" y="4381500"/>
            <a:ext cx="3484685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/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1266825" y="4638675"/>
            <a:ext cx="453390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6B7280"/>
                </a:solidFill>
                <a:latin typeface="Calibri"/>
              </a:rPr>
              <a:t>Regional &amp; niche suppliers</a:t>
            </a:r>
          </a:p>
        </p:txBody>
      </p:sp>
      <p:sp>
        <p:nvSpPr>
          <p:cNvPr id="37" name="Rounded Rectangle 36"/>
          <p:cNvSpPr/>
          <p:nvPr/>
        </p:nvSpPr>
        <p:spPr>
          <a:xfrm>
            <a:off x="142875" y="5162550"/>
            <a:ext cx="5810250" cy="1466850"/>
          </a:xfrm>
          <a:prstGeom prst="roundRect">
            <a:avLst>
              <a:gd name="adj" fmla="val 131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238125" y="5219700"/>
            <a:ext cx="561975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200" b="1">
                <a:solidFill>
                  <a:srgbClr val="2E2E2E"/>
                </a:solidFill>
                <a:latin typeface="Calibri"/>
              </a:rPr>
              <a:t>Concentration Read-out</a:t>
            </a:r>
          </a:p>
        </p:txBody>
      </p:sp>
      <p:sp>
        <p:nvSpPr>
          <p:cNvPr id="39" name="Rectangle 38"/>
          <p:cNvSpPr/>
          <p:nvPr/>
        </p:nvSpPr>
        <p:spPr>
          <a:xfrm>
            <a:off x="276225" y="5505450"/>
            <a:ext cx="1847850" cy="247650"/>
          </a:xfrm>
          <a:prstGeom prst="rect">
            <a:avLst/>
          </a:prstGeom>
          <a:solidFill>
            <a:srgbClr val="C9DAF0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276225" y="5505450"/>
            <a:ext cx="184785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14213D"/>
                </a:solidFill>
                <a:latin typeface="Calibri"/>
              </a:rPr>
              <a:t>Fragmented HHI &lt; 1,500</a:t>
            </a:r>
          </a:p>
        </p:txBody>
      </p:sp>
      <p:sp>
        <p:nvSpPr>
          <p:cNvPr id="41" name="Rectangle 40"/>
          <p:cNvSpPr/>
          <p:nvPr/>
        </p:nvSpPr>
        <p:spPr>
          <a:xfrm>
            <a:off x="2124075" y="5505450"/>
            <a:ext cx="1847850" cy="247650"/>
          </a:xfrm>
          <a:prstGeom prst="rect">
            <a:avLst/>
          </a:prstGeom>
          <a:solidFill>
            <a:srgbClr val="6FA8DC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2124075" y="5505450"/>
            <a:ext cx="184785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Moderate 1,500–2,500</a:t>
            </a:r>
          </a:p>
        </p:txBody>
      </p:sp>
      <p:sp>
        <p:nvSpPr>
          <p:cNvPr id="43" name="Rectangle 42"/>
          <p:cNvSpPr/>
          <p:nvPr/>
        </p:nvSpPr>
        <p:spPr>
          <a:xfrm>
            <a:off x="3971925" y="5505450"/>
            <a:ext cx="1847850" cy="247650"/>
          </a:xfrm>
          <a:prstGeom prst="rect">
            <a:avLst/>
          </a:prstGeom>
          <a:solidFill>
            <a:srgbClr val="1F3A6E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3971925" y="5505450"/>
            <a:ext cx="184785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Concentrated &gt; 2,500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669665" y="5762625"/>
            <a:ext cx="171450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14213D"/>
                </a:solidFill>
                <a:latin typeface="Calibri"/>
              </a:rPr>
              <a:t/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238125" y="5981700"/>
            <a:ext cx="5619750" cy="4191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14213D"/>
                </a:solidFill>
                <a:latin typeface="Calibri"/>
              </a:rPr>
              <a:t/>
            </a:r>
          </a:p>
        </p:txBody>
      </p:sp>
      <p:sp>
        <p:nvSpPr>
          <p:cNvPr id="47" name="Rounded Rectangle 46"/>
          <p:cNvSpPr/>
          <p:nvPr/>
        </p:nvSpPr>
        <p:spPr>
          <a:xfrm>
            <a:off x="6096000" y="1047750"/>
            <a:ext cx="5953125" cy="4000500"/>
          </a:xfrm>
          <a:prstGeom prst="roundRect">
            <a:avLst>
              <a:gd name="adj" fmla="val 128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191250" y="1104900"/>
            <a:ext cx="5762625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200" b="1">
                <a:solidFill>
                  <a:srgbClr val="2E2E2E"/>
                </a:solidFill>
                <a:latin typeface="Calibri"/>
              </a:rPr>
              <a:t>Tier Profile Matrix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6191250" y="1304925"/>
            <a:ext cx="5762625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B7280"/>
                </a:solidFill>
                <a:latin typeface="Calibri"/>
              </a:rPr>
              <a:t>Size, growth and competitive characteristics of each tier</a:t>
            </a:r>
          </a:p>
        </p:txBody>
      </p:sp>
      <p:sp>
        <p:nvSpPr>
          <p:cNvPr id="50" name="Rectangle 49"/>
          <p:cNvSpPr/>
          <p:nvPr/>
        </p:nvSpPr>
        <p:spPr>
          <a:xfrm>
            <a:off x="6191250" y="1562100"/>
            <a:ext cx="1619250" cy="247650"/>
          </a:xfrm>
          <a:prstGeom prst="rect">
            <a:avLst/>
          </a:prstGeom>
          <a:solidFill>
            <a:srgbClr val="1F3A6E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TextBox 50"/>
          <p:cNvSpPr txBox="1"/>
          <p:nvPr/>
        </p:nvSpPr>
        <p:spPr>
          <a:xfrm>
            <a:off x="6248400" y="1562100"/>
            <a:ext cx="154305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Metric</a:t>
            </a:r>
          </a:p>
        </p:txBody>
      </p:sp>
      <p:sp>
        <p:nvSpPr>
          <p:cNvPr id="52" name="Rectangle 51"/>
          <p:cNvSpPr/>
          <p:nvPr/>
        </p:nvSpPr>
        <p:spPr>
          <a:xfrm>
            <a:off x="7810500" y="1562100"/>
            <a:ext cx="828675" cy="247650"/>
          </a:xfrm>
          <a:prstGeom prst="rect">
            <a:avLst/>
          </a:prstGeom>
          <a:solidFill>
            <a:srgbClr val="1F3A6E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TextBox 52"/>
          <p:cNvSpPr txBox="1"/>
          <p:nvPr/>
        </p:nvSpPr>
        <p:spPr>
          <a:xfrm>
            <a:off x="7810500" y="1562100"/>
            <a:ext cx="828675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Tier 1</a:t>
            </a:r>
          </a:p>
        </p:txBody>
      </p:sp>
      <p:sp>
        <p:nvSpPr>
          <p:cNvPr id="54" name="Rectangle 53"/>
          <p:cNvSpPr/>
          <p:nvPr/>
        </p:nvSpPr>
        <p:spPr>
          <a:xfrm>
            <a:off x="8639175" y="1562100"/>
            <a:ext cx="828675" cy="247650"/>
          </a:xfrm>
          <a:prstGeom prst="rect">
            <a:avLst/>
          </a:prstGeom>
          <a:solidFill>
            <a:srgbClr val="2E6DB4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TextBox 54"/>
          <p:cNvSpPr txBox="1"/>
          <p:nvPr/>
        </p:nvSpPr>
        <p:spPr>
          <a:xfrm>
            <a:off x="8639175" y="1562100"/>
            <a:ext cx="828675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Tier 2</a:t>
            </a:r>
          </a:p>
        </p:txBody>
      </p:sp>
      <p:sp>
        <p:nvSpPr>
          <p:cNvPr id="56" name="Rectangle 55"/>
          <p:cNvSpPr/>
          <p:nvPr/>
        </p:nvSpPr>
        <p:spPr>
          <a:xfrm>
            <a:off x="9467850" y="1562100"/>
            <a:ext cx="828675" cy="247650"/>
          </a:xfrm>
          <a:prstGeom prst="rect">
            <a:avLst/>
          </a:prstGeom>
          <a:solidFill>
            <a:srgbClr val="6FA8DC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TextBox 56"/>
          <p:cNvSpPr txBox="1"/>
          <p:nvPr/>
        </p:nvSpPr>
        <p:spPr>
          <a:xfrm>
            <a:off x="9467850" y="1562100"/>
            <a:ext cx="828675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Tier 3</a:t>
            </a:r>
          </a:p>
        </p:txBody>
      </p:sp>
      <p:sp>
        <p:nvSpPr>
          <p:cNvPr id="58" name="Rectangle 57"/>
          <p:cNvSpPr/>
          <p:nvPr/>
        </p:nvSpPr>
        <p:spPr>
          <a:xfrm>
            <a:off x="10296525" y="1562100"/>
            <a:ext cx="828675" cy="247650"/>
          </a:xfrm>
          <a:prstGeom prst="rect">
            <a:avLst/>
          </a:prstGeom>
          <a:solidFill>
            <a:srgbClr val="9FC5E8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TextBox 58"/>
          <p:cNvSpPr txBox="1"/>
          <p:nvPr/>
        </p:nvSpPr>
        <p:spPr>
          <a:xfrm>
            <a:off x="10296525" y="1562100"/>
            <a:ext cx="828675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14213D"/>
                </a:solidFill>
                <a:latin typeface="Calibri"/>
              </a:rPr>
              <a:t>Others</a:t>
            </a:r>
          </a:p>
        </p:txBody>
      </p:sp>
      <p:sp>
        <p:nvSpPr>
          <p:cNvPr id="60" name="Rectangle 59"/>
          <p:cNvSpPr/>
          <p:nvPr/>
        </p:nvSpPr>
        <p:spPr>
          <a:xfrm>
            <a:off x="11125200" y="1562100"/>
            <a:ext cx="828675" cy="247650"/>
          </a:xfrm>
          <a:prstGeom prst="rect">
            <a:avLst/>
          </a:prstGeom>
          <a:solidFill>
            <a:srgbClr val="102447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TextBox 60"/>
          <p:cNvSpPr txBox="1"/>
          <p:nvPr/>
        </p:nvSpPr>
        <p:spPr>
          <a:xfrm>
            <a:off x="11125200" y="1562100"/>
            <a:ext cx="828675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Total</a:t>
            </a:r>
          </a:p>
        </p:txBody>
      </p:sp>
      <p:sp>
        <p:nvSpPr>
          <p:cNvPr id="62" name="Rectangle 61"/>
          <p:cNvSpPr/>
          <p:nvPr/>
        </p:nvSpPr>
        <p:spPr>
          <a:xfrm>
            <a:off x="6191250" y="1809750"/>
            <a:ext cx="1619250" cy="228600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TextBox 62"/>
          <p:cNvSpPr txBox="1"/>
          <p:nvPr/>
        </p:nvSpPr>
        <p:spPr>
          <a:xfrm>
            <a:off x="6248400" y="1809750"/>
            <a:ext cx="15430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Players</a:t>
            </a:r>
          </a:p>
        </p:txBody>
      </p:sp>
      <p:sp>
        <p:nvSpPr>
          <p:cNvPr id="64" name="Rectangle 63"/>
          <p:cNvSpPr/>
          <p:nvPr/>
        </p:nvSpPr>
        <p:spPr>
          <a:xfrm>
            <a:off x="7810500" y="18097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TextBox 64"/>
          <p:cNvSpPr txBox="1"/>
          <p:nvPr/>
        </p:nvSpPr>
        <p:spPr>
          <a:xfrm>
            <a:off x="7829550" y="1809750"/>
            <a:ext cx="79057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4</a:t>
            </a:r>
          </a:p>
        </p:txBody>
      </p:sp>
      <p:sp>
        <p:nvSpPr>
          <p:cNvPr id="66" name="Rectangle 65"/>
          <p:cNvSpPr/>
          <p:nvPr/>
        </p:nvSpPr>
        <p:spPr>
          <a:xfrm>
            <a:off x="8639175" y="18097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TextBox 66"/>
          <p:cNvSpPr txBox="1"/>
          <p:nvPr/>
        </p:nvSpPr>
        <p:spPr>
          <a:xfrm>
            <a:off x="8658225" y="1809750"/>
            <a:ext cx="79057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2</a:t>
            </a:r>
          </a:p>
        </p:txBody>
      </p:sp>
      <p:sp>
        <p:nvSpPr>
          <p:cNvPr id="68" name="Rectangle 67"/>
          <p:cNvSpPr/>
          <p:nvPr/>
        </p:nvSpPr>
        <p:spPr>
          <a:xfrm>
            <a:off x="9467850" y="18097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TextBox 68"/>
          <p:cNvSpPr txBox="1"/>
          <p:nvPr/>
        </p:nvSpPr>
        <p:spPr>
          <a:xfrm>
            <a:off x="9486900" y="1809750"/>
            <a:ext cx="79057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4</a:t>
            </a:r>
          </a:p>
        </p:txBody>
      </p:sp>
      <p:sp>
        <p:nvSpPr>
          <p:cNvPr id="70" name="Rectangle 69"/>
          <p:cNvSpPr/>
          <p:nvPr/>
        </p:nvSpPr>
        <p:spPr>
          <a:xfrm>
            <a:off x="10296525" y="18097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TextBox 70"/>
          <p:cNvSpPr txBox="1"/>
          <p:nvPr/>
        </p:nvSpPr>
        <p:spPr>
          <a:xfrm>
            <a:off x="10315575" y="1809750"/>
            <a:ext cx="79057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Long tail</a:t>
            </a:r>
          </a:p>
        </p:txBody>
      </p:sp>
      <p:sp>
        <p:nvSpPr>
          <p:cNvPr id="72" name="Rectangle 71"/>
          <p:cNvSpPr/>
          <p:nvPr/>
        </p:nvSpPr>
        <p:spPr>
          <a:xfrm>
            <a:off x="11125200" y="18097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TextBox 72"/>
          <p:cNvSpPr txBox="1"/>
          <p:nvPr/>
        </p:nvSpPr>
        <p:spPr>
          <a:xfrm>
            <a:off x="11144250" y="1809750"/>
            <a:ext cx="79057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74" name="Rectangle 73"/>
          <p:cNvSpPr/>
          <p:nvPr/>
        </p:nvSpPr>
        <p:spPr>
          <a:xfrm>
            <a:off x="6191250" y="2038350"/>
            <a:ext cx="1619250" cy="228600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TextBox 74"/>
          <p:cNvSpPr txBox="1"/>
          <p:nvPr/>
        </p:nvSpPr>
        <p:spPr>
          <a:xfrm>
            <a:off x="6248400" y="2038350"/>
            <a:ext cx="15430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Value 2026 (US$ Mn)</a:t>
            </a:r>
          </a:p>
        </p:txBody>
      </p:sp>
      <p:sp>
        <p:nvSpPr>
          <p:cNvPr id="76" name="Rectangle 75"/>
          <p:cNvSpPr/>
          <p:nvPr/>
        </p:nvSpPr>
        <p:spPr>
          <a:xfrm>
            <a:off x="7810500" y="20383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TextBox 76"/>
          <p:cNvSpPr txBox="1"/>
          <p:nvPr/>
        </p:nvSpPr>
        <p:spPr>
          <a:xfrm>
            <a:off x="7829550" y="2038350"/>
            <a:ext cx="79057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78" name="Rectangle 77"/>
          <p:cNvSpPr/>
          <p:nvPr/>
        </p:nvSpPr>
        <p:spPr>
          <a:xfrm>
            <a:off x="8639175" y="20383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TextBox 78"/>
          <p:cNvSpPr txBox="1"/>
          <p:nvPr/>
        </p:nvSpPr>
        <p:spPr>
          <a:xfrm>
            <a:off x="8658225" y="2038350"/>
            <a:ext cx="79057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80" name="Rectangle 79"/>
          <p:cNvSpPr/>
          <p:nvPr/>
        </p:nvSpPr>
        <p:spPr>
          <a:xfrm>
            <a:off x="9467850" y="20383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TextBox 80"/>
          <p:cNvSpPr txBox="1"/>
          <p:nvPr/>
        </p:nvSpPr>
        <p:spPr>
          <a:xfrm>
            <a:off x="9486900" y="2038350"/>
            <a:ext cx="79057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82" name="Rectangle 81"/>
          <p:cNvSpPr/>
          <p:nvPr/>
        </p:nvSpPr>
        <p:spPr>
          <a:xfrm>
            <a:off x="10296525" y="20383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TextBox 82"/>
          <p:cNvSpPr txBox="1"/>
          <p:nvPr/>
        </p:nvSpPr>
        <p:spPr>
          <a:xfrm>
            <a:off x="10315575" y="2038350"/>
            <a:ext cx="79057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84" name="Rectangle 83"/>
          <p:cNvSpPr/>
          <p:nvPr/>
        </p:nvSpPr>
        <p:spPr>
          <a:xfrm>
            <a:off x="11125200" y="20383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TextBox 84"/>
          <p:cNvSpPr txBox="1"/>
          <p:nvPr/>
        </p:nvSpPr>
        <p:spPr>
          <a:xfrm>
            <a:off x="11144250" y="2038350"/>
            <a:ext cx="79057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86" name="Rectangle 85"/>
          <p:cNvSpPr/>
          <p:nvPr/>
        </p:nvSpPr>
        <p:spPr>
          <a:xfrm>
            <a:off x="6191250" y="2266950"/>
            <a:ext cx="1619250" cy="228600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TextBox 86"/>
          <p:cNvSpPr txBox="1"/>
          <p:nvPr/>
        </p:nvSpPr>
        <p:spPr>
          <a:xfrm>
            <a:off x="6248400" y="2266950"/>
            <a:ext cx="15430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Share of value 2026</a:t>
            </a:r>
          </a:p>
        </p:txBody>
      </p:sp>
      <p:sp>
        <p:nvSpPr>
          <p:cNvPr id="88" name="Rectangle 87"/>
          <p:cNvSpPr/>
          <p:nvPr/>
        </p:nvSpPr>
        <p:spPr>
          <a:xfrm>
            <a:off x="7810500" y="22669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TextBox 88"/>
          <p:cNvSpPr txBox="1"/>
          <p:nvPr/>
        </p:nvSpPr>
        <p:spPr>
          <a:xfrm>
            <a:off x="8076248" y="2266950"/>
            <a:ext cx="29718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90" name="TextBox 89"/>
          <p:cNvSpPr txBox="1"/>
          <p:nvPr/>
        </p:nvSpPr>
        <p:spPr>
          <a:xfrm>
            <a:off x="8363902" y="2266950"/>
            <a:ext cx="13335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639175" y="22669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904922" y="2266950"/>
            <a:ext cx="29718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93" name="TextBox 92"/>
          <p:cNvSpPr txBox="1"/>
          <p:nvPr/>
        </p:nvSpPr>
        <p:spPr>
          <a:xfrm>
            <a:off x="9192578" y="2266950"/>
            <a:ext cx="13335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94" name="Rectangle 93"/>
          <p:cNvSpPr/>
          <p:nvPr/>
        </p:nvSpPr>
        <p:spPr>
          <a:xfrm>
            <a:off x="9467850" y="22669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TextBox 94"/>
          <p:cNvSpPr txBox="1"/>
          <p:nvPr/>
        </p:nvSpPr>
        <p:spPr>
          <a:xfrm>
            <a:off x="9733598" y="2266950"/>
            <a:ext cx="29718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96" name="TextBox 95"/>
          <p:cNvSpPr txBox="1"/>
          <p:nvPr/>
        </p:nvSpPr>
        <p:spPr>
          <a:xfrm>
            <a:off x="10021252" y="2266950"/>
            <a:ext cx="13335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97" name="Rectangle 96"/>
          <p:cNvSpPr/>
          <p:nvPr/>
        </p:nvSpPr>
        <p:spPr>
          <a:xfrm>
            <a:off x="10296525" y="22669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10562272" y="2266950"/>
            <a:ext cx="29718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99" name="TextBox 98"/>
          <p:cNvSpPr txBox="1"/>
          <p:nvPr/>
        </p:nvSpPr>
        <p:spPr>
          <a:xfrm>
            <a:off x="10849928" y="2266950"/>
            <a:ext cx="13335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100" name="Rectangle 99"/>
          <p:cNvSpPr/>
          <p:nvPr/>
        </p:nvSpPr>
        <p:spPr>
          <a:xfrm>
            <a:off x="11125200" y="22669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TextBox 100"/>
          <p:cNvSpPr txBox="1"/>
          <p:nvPr/>
        </p:nvSpPr>
        <p:spPr>
          <a:xfrm>
            <a:off x="11144250" y="2266950"/>
            <a:ext cx="79057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14213D"/>
                </a:solidFill>
                <a:latin typeface="Calibri"/>
              </a:rPr>
              <a:t>100%</a:t>
            </a:r>
          </a:p>
        </p:txBody>
      </p:sp>
      <p:sp>
        <p:nvSpPr>
          <p:cNvPr id="102" name="Rectangle 101"/>
          <p:cNvSpPr/>
          <p:nvPr/>
        </p:nvSpPr>
        <p:spPr>
          <a:xfrm>
            <a:off x="6191250" y="2495550"/>
            <a:ext cx="1619250" cy="228600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TextBox 102"/>
          <p:cNvSpPr txBox="1"/>
          <p:nvPr/>
        </p:nvSpPr>
        <p:spPr>
          <a:xfrm>
            <a:off x="6248400" y="2495550"/>
            <a:ext cx="15430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Share of value 2036</a:t>
            </a:r>
          </a:p>
        </p:txBody>
      </p:sp>
      <p:sp>
        <p:nvSpPr>
          <p:cNvPr id="104" name="Rectangle 103"/>
          <p:cNvSpPr/>
          <p:nvPr/>
        </p:nvSpPr>
        <p:spPr>
          <a:xfrm>
            <a:off x="7810500" y="24955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TextBox 104"/>
          <p:cNvSpPr txBox="1"/>
          <p:nvPr/>
        </p:nvSpPr>
        <p:spPr>
          <a:xfrm>
            <a:off x="8076248" y="2495550"/>
            <a:ext cx="29718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06" name="TextBox 105"/>
          <p:cNvSpPr txBox="1"/>
          <p:nvPr/>
        </p:nvSpPr>
        <p:spPr>
          <a:xfrm>
            <a:off x="8363902" y="2495550"/>
            <a:ext cx="13335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8639175" y="24955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8904922" y="2495550"/>
            <a:ext cx="29718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9192578" y="2495550"/>
            <a:ext cx="13335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110" name="Rectangle 109"/>
          <p:cNvSpPr/>
          <p:nvPr/>
        </p:nvSpPr>
        <p:spPr>
          <a:xfrm>
            <a:off x="9467850" y="24955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TextBox 110"/>
          <p:cNvSpPr txBox="1"/>
          <p:nvPr/>
        </p:nvSpPr>
        <p:spPr>
          <a:xfrm>
            <a:off x="9733598" y="2495550"/>
            <a:ext cx="29718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10021252" y="2495550"/>
            <a:ext cx="13335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0296525" y="24955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10562272" y="2495550"/>
            <a:ext cx="29718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10849928" y="2495550"/>
            <a:ext cx="13335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116" name="Rectangle 115"/>
          <p:cNvSpPr/>
          <p:nvPr/>
        </p:nvSpPr>
        <p:spPr>
          <a:xfrm>
            <a:off x="11125200" y="24955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TextBox 116"/>
          <p:cNvSpPr txBox="1"/>
          <p:nvPr/>
        </p:nvSpPr>
        <p:spPr>
          <a:xfrm>
            <a:off x="11144250" y="2495550"/>
            <a:ext cx="79057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14213D"/>
                </a:solidFill>
                <a:latin typeface="Calibri"/>
              </a:rPr>
              <a:t>100%</a:t>
            </a:r>
          </a:p>
        </p:txBody>
      </p:sp>
      <p:sp>
        <p:nvSpPr>
          <p:cNvPr id="118" name="Rectangle 117"/>
          <p:cNvSpPr/>
          <p:nvPr/>
        </p:nvSpPr>
        <p:spPr>
          <a:xfrm>
            <a:off x="6191250" y="2724150"/>
            <a:ext cx="1619250" cy="228600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TextBox 118"/>
          <p:cNvSpPr txBox="1"/>
          <p:nvPr/>
        </p:nvSpPr>
        <p:spPr>
          <a:xfrm>
            <a:off x="6248400" y="2724150"/>
            <a:ext cx="15430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Share change (pp)</a:t>
            </a:r>
          </a:p>
        </p:txBody>
      </p:sp>
      <p:sp>
        <p:nvSpPr>
          <p:cNvPr id="120" name="Rectangle 119"/>
          <p:cNvSpPr/>
          <p:nvPr/>
        </p:nvSpPr>
        <p:spPr>
          <a:xfrm>
            <a:off x="7810500" y="27241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TextBox 120"/>
          <p:cNvSpPr txBox="1"/>
          <p:nvPr/>
        </p:nvSpPr>
        <p:spPr>
          <a:xfrm>
            <a:off x="7975282" y="2724150"/>
            <a:ext cx="13335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14213D"/>
                </a:solidFill>
                <a:latin typeface="Calibri"/>
              </a:rPr>
              <a:t>+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8108632" y="2724150"/>
            <a:ext cx="23241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8639175" y="27241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8803958" y="2724150"/>
            <a:ext cx="13335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14213D"/>
                </a:solidFill>
                <a:latin typeface="Calibri"/>
              </a:rPr>
              <a:t>+</a:t>
            </a:r>
          </a:p>
        </p:txBody>
      </p:sp>
      <p:sp>
        <p:nvSpPr>
          <p:cNvPr id="125" name="TextBox 124"/>
          <p:cNvSpPr txBox="1"/>
          <p:nvPr/>
        </p:nvSpPr>
        <p:spPr>
          <a:xfrm>
            <a:off x="8937308" y="2724150"/>
            <a:ext cx="23241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26" name="Rectangle 125"/>
          <p:cNvSpPr/>
          <p:nvPr/>
        </p:nvSpPr>
        <p:spPr>
          <a:xfrm>
            <a:off x="9467850" y="27241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TextBox 126"/>
          <p:cNvSpPr txBox="1"/>
          <p:nvPr/>
        </p:nvSpPr>
        <p:spPr>
          <a:xfrm>
            <a:off x="9632632" y="2724150"/>
            <a:ext cx="13335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14213D"/>
                </a:solidFill>
                <a:latin typeface="Calibri"/>
              </a:rPr>
              <a:t>+</a:t>
            </a:r>
          </a:p>
        </p:txBody>
      </p:sp>
      <p:sp>
        <p:nvSpPr>
          <p:cNvPr id="128" name="TextBox 127"/>
          <p:cNvSpPr txBox="1"/>
          <p:nvPr/>
        </p:nvSpPr>
        <p:spPr>
          <a:xfrm>
            <a:off x="9765982" y="2724150"/>
            <a:ext cx="23241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10296525" y="27241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10461308" y="2724150"/>
            <a:ext cx="13335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14213D"/>
                </a:solidFill>
                <a:latin typeface="Calibri"/>
              </a:rPr>
              <a:t>−</a:t>
            </a:r>
          </a:p>
        </p:txBody>
      </p:sp>
      <p:sp>
        <p:nvSpPr>
          <p:cNvPr id="131" name="TextBox 130"/>
          <p:cNvSpPr txBox="1"/>
          <p:nvPr/>
        </p:nvSpPr>
        <p:spPr>
          <a:xfrm>
            <a:off x="10594658" y="2724150"/>
            <a:ext cx="23241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32" name="Rectangle 131"/>
          <p:cNvSpPr/>
          <p:nvPr/>
        </p:nvSpPr>
        <p:spPr>
          <a:xfrm>
            <a:off x="11125200" y="27241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TextBox 132"/>
          <p:cNvSpPr txBox="1"/>
          <p:nvPr/>
        </p:nvSpPr>
        <p:spPr>
          <a:xfrm>
            <a:off x="11144250" y="2724150"/>
            <a:ext cx="79057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14213D"/>
                </a:solidFill>
                <a:latin typeface="Calibri"/>
              </a:rPr>
              <a:t>–</a:t>
            </a:r>
          </a:p>
        </p:txBody>
      </p:sp>
      <p:sp>
        <p:nvSpPr>
          <p:cNvPr id="134" name="Rectangle 133"/>
          <p:cNvSpPr/>
          <p:nvPr/>
        </p:nvSpPr>
        <p:spPr>
          <a:xfrm>
            <a:off x="6191250" y="2952750"/>
            <a:ext cx="1619250" cy="228600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TextBox 134"/>
          <p:cNvSpPr txBox="1"/>
          <p:nvPr/>
        </p:nvSpPr>
        <p:spPr>
          <a:xfrm>
            <a:off x="6248400" y="2952750"/>
            <a:ext cx="15430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CAGR 2026–2036</a:t>
            </a:r>
          </a:p>
        </p:txBody>
      </p:sp>
      <p:sp>
        <p:nvSpPr>
          <p:cNvPr id="136" name="Rectangle 135"/>
          <p:cNvSpPr/>
          <p:nvPr/>
        </p:nvSpPr>
        <p:spPr>
          <a:xfrm>
            <a:off x="7810500" y="29527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TextBox 136"/>
          <p:cNvSpPr txBox="1"/>
          <p:nvPr/>
        </p:nvSpPr>
        <p:spPr>
          <a:xfrm>
            <a:off x="8108632" y="2952750"/>
            <a:ext cx="23241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8331518" y="2952750"/>
            <a:ext cx="13335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8639175" y="29527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8937308" y="2952750"/>
            <a:ext cx="23241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41" name="TextBox 140"/>
          <p:cNvSpPr txBox="1"/>
          <p:nvPr/>
        </p:nvSpPr>
        <p:spPr>
          <a:xfrm>
            <a:off x="9160192" y="2952750"/>
            <a:ext cx="13335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142" name="Rectangle 141"/>
          <p:cNvSpPr/>
          <p:nvPr/>
        </p:nvSpPr>
        <p:spPr>
          <a:xfrm>
            <a:off x="9467850" y="29527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TextBox 142"/>
          <p:cNvSpPr txBox="1"/>
          <p:nvPr/>
        </p:nvSpPr>
        <p:spPr>
          <a:xfrm>
            <a:off x="9765982" y="2952750"/>
            <a:ext cx="23241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44" name="TextBox 143"/>
          <p:cNvSpPr txBox="1"/>
          <p:nvPr/>
        </p:nvSpPr>
        <p:spPr>
          <a:xfrm>
            <a:off x="9988868" y="2952750"/>
            <a:ext cx="13335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10296525" y="29527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10594658" y="2952750"/>
            <a:ext cx="23241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10817542" y="2952750"/>
            <a:ext cx="13335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148" name="Rectangle 147"/>
          <p:cNvSpPr/>
          <p:nvPr/>
        </p:nvSpPr>
        <p:spPr>
          <a:xfrm>
            <a:off x="11125200" y="29527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TextBox 148"/>
          <p:cNvSpPr txBox="1"/>
          <p:nvPr/>
        </p:nvSpPr>
        <p:spPr>
          <a:xfrm>
            <a:off x="11423332" y="2952750"/>
            <a:ext cx="23241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50" name="TextBox 149"/>
          <p:cNvSpPr txBox="1"/>
          <p:nvPr/>
        </p:nvSpPr>
        <p:spPr>
          <a:xfrm>
            <a:off x="11646218" y="2952750"/>
            <a:ext cx="13335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6191250" y="3181350"/>
            <a:ext cx="1619250" cy="228600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6248400" y="3181350"/>
            <a:ext cx="15430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Avg / player (US$ Mn)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7810500" y="31813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7829550" y="3181350"/>
            <a:ext cx="79057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8639175" y="31813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8658225" y="3181350"/>
            <a:ext cx="79057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9467850" y="31813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9486900" y="3181350"/>
            <a:ext cx="79057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10296525" y="31813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10315575" y="3181350"/>
            <a:ext cx="79057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–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11125200" y="31813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11144250" y="3181350"/>
            <a:ext cx="79057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14213D"/>
                </a:solidFill>
                <a:latin typeface="Calibri"/>
              </a:rPr>
              <a:t>–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6191250" y="3409950"/>
            <a:ext cx="1619250" cy="323850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6248400" y="3409950"/>
            <a:ext cx="1543050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Installed base share (units)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7810500" y="340995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8076248" y="3409950"/>
            <a:ext cx="297180" cy="3238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67" name="TextBox 166"/>
          <p:cNvSpPr txBox="1"/>
          <p:nvPr/>
        </p:nvSpPr>
        <p:spPr>
          <a:xfrm>
            <a:off x="8363902" y="3409950"/>
            <a:ext cx="133350" cy="3238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168" name="Rectangle 167"/>
          <p:cNvSpPr/>
          <p:nvPr/>
        </p:nvSpPr>
        <p:spPr>
          <a:xfrm>
            <a:off x="8639175" y="340995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TextBox 168"/>
          <p:cNvSpPr txBox="1"/>
          <p:nvPr/>
        </p:nvSpPr>
        <p:spPr>
          <a:xfrm>
            <a:off x="8904922" y="3409950"/>
            <a:ext cx="297180" cy="3238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70" name="TextBox 169"/>
          <p:cNvSpPr txBox="1"/>
          <p:nvPr/>
        </p:nvSpPr>
        <p:spPr>
          <a:xfrm>
            <a:off x="9192578" y="3409950"/>
            <a:ext cx="133350" cy="3238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9467850" y="340995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9733598" y="3409950"/>
            <a:ext cx="297180" cy="3238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73" name="TextBox 172"/>
          <p:cNvSpPr txBox="1"/>
          <p:nvPr/>
        </p:nvSpPr>
        <p:spPr>
          <a:xfrm>
            <a:off x="10021252" y="3409950"/>
            <a:ext cx="133350" cy="3238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174" name="Rectangle 173"/>
          <p:cNvSpPr/>
          <p:nvPr/>
        </p:nvSpPr>
        <p:spPr>
          <a:xfrm>
            <a:off x="10296525" y="340995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5" name="TextBox 174"/>
          <p:cNvSpPr txBox="1"/>
          <p:nvPr/>
        </p:nvSpPr>
        <p:spPr>
          <a:xfrm>
            <a:off x="10562272" y="3409950"/>
            <a:ext cx="297180" cy="3238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76" name="TextBox 175"/>
          <p:cNvSpPr txBox="1"/>
          <p:nvPr/>
        </p:nvSpPr>
        <p:spPr>
          <a:xfrm>
            <a:off x="10849928" y="3409950"/>
            <a:ext cx="133350" cy="3238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11125200" y="340995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11144250" y="340995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14213D"/>
                </a:solidFill>
                <a:latin typeface="Calibri"/>
              </a:rPr>
              <a:t>100%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6191250" y="3733800"/>
            <a:ext cx="1619250" cy="323850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6248400" y="3733800"/>
            <a:ext cx="1543050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Price positioning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7810500" y="373380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7829550" y="373380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Premium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8639175" y="373380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8658225" y="373380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Mid / value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9467850" y="373380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9486900" y="373380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Value / entry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10296525" y="373380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10315575" y="373380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Mixed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11125200" y="373380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11144250" y="373380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–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6191250" y="4057650"/>
            <a:ext cx="1619250" cy="323850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6248400" y="4057650"/>
            <a:ext cx="1543050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Route-to-market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7810500" y="405765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7829550" y="405765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Direct / key accounts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8639175" y="405765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8658225" y="405765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Distributors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9467850" y="405765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9486900" y="405765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Regional partners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10296525" y="405765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10315575" y="405765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Local / online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11125200" y="405765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11144250" y="405765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–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6191250" y="4381500"/>
            <a:ext cx="1619250" cy="323850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6248400" y="4381500"/>
            <a:ext cx="1543050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Portfolio breadth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7810500" y="438150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7829550" y="438150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Full portfolio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8639175" y="438150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8658225" y="438150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2–3 core lines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9467850" y="438150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9486900" y="438150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Single line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0296525" y="438150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0315575" y="438150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Niche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11125200" y="438150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11144250" y="438150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–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6191250" y="4705350"/>
            <a:ext cx="1619250" cy="323850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6248400" y="4705350"/>
            <a:ext cx="1543050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Strategic posture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7810500" y="4705350"/>
            <a:ext cx="828675" cy="323850"/>
          </a:xfrm>
          <a:prstGeom prst="rect">
            <a:avLst/>
          </a:prstGeom>
          <a:solidFill>
            <a:srgbClr val="E0F3F3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7829550" y="470535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Defend &amp; bundle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8639175" y="4705350"/>
            <a:ext cx="828675" cy="323850"/>
          </a:xfrm>
          <a:prstGeom prst="rect">
            <a:avLst/>
          </a:prstGeom>
          <a:solidFill>
            <a:srgbClr val="E0F3F3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8658225" y="470535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Niche deepening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9467850" y="4705350"/>
            <a:ext cx="828675" cy="323850"/>
          </a:xfrm>
          <a:prstGeom prst="rect">
            <a:avLst/>
          </a:prstGeom>
          <a:solidFill>
            <a:srgbClr val="E0F3F3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9486900" y="470535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Scale-up or exit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10296525" y="4705350"/>
            <a:ext cx="828675" cy="323850"/>
          </a:xfrm>
          <a:prstGeom prst="rect">
            <a:avLst/>
          </a:prstGeom>
          <a:solidFill>
            <a:srgbClr val="E0F3F3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10315575" y="470535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Long-tail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11125200" y="470535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11144250" y="470535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–</a:t>
            </a:r>
          </a:p>
        </p:txBody>
      </p:sp>
      <p:sp>
        <p:nvSpPr>
          <p:cNvPr id="227" name="Rounded Rectangle 226"/>
          <p:cNvSpPr/>
          <p:nvPr/>
        </p:nvSpPr>
        <p:spPr>
          <a:xfrm>
            <a:off x="6096000" y="5162550"/>
            <a:ext cx="5953125" cy="1466850"/>
          </a:xfrm>
          <a:prstGeom prst="roundRect">
            <a:avLst>
              <a:gd name="adj" fmla="val 128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6191250" y="5219700"/>
            <a:ext cx="5762625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200" b="1">
                <a:solidFill>
                  <a:srgbClr val="2E2E2E"/>
                </a:solidFill>
                <a:latin typeface="Calibri"/>
              </a:rPr>
              <a:t>Key Takeaways</a:t>
            </a:r>
          </a:p>
        </p:txBody>
      </p:sp>
      <p:sp>
        <p:nvSpPr>
          <p:cNvPr id="229" name="TextBox 228"/>
          <p:cNvSpPr txBox="1"/>
          <p:nvPr/>
        </p:nvSpPr>
        <p:spPr>
          <a:xfrm>
            <a:off x="6210300" y="5467350"/>
            <a:ext cx="114300" cy="161925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1">
                <a:solidFill>
                  <a:srgbClr val="0E72AE"/>
                </a:solidFill>
                <a:latin typeface="Calibri"/>
              </a:rPr>
              <a:t>•</a:t>
            </a:r>
          </a:p>
        </p:txBody>
      </p:sp>
      <p:sp>
        <p:nvSpPr>
          <p:cNvPr id="230" name="TextBox 229"/>
          <p:cNvSpPr txBox="1"/>
          <p:nvPr/>
        </p:nvSpPr>
        <p:spPr>
          <a:xfrm>
            <a:off x="6343650" y="5467350"/>
            <a:ext cx="5591175" cy="533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/>
            </a:r>
          </a:p>
        </p:txBody>
      </p:sp>
      <p:sp>
        <p:nvSpPr>
          <p:cNvPr id="231" name="TextBox 230"/>
          <p:cNvSpPr txBox="1"/>
          <p:nvPr/>
        </p:nvSpPr>
        <p:spPr>
          <a:xfrm>
            <a:off x="6210300" y="5848350"/>
            <a:ext cx="114300" cy="161925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1">
                <a:solidFill>
                  <a:srgbClr val="0E72AE"/>
                </a:solidFill>
                <a:latin typeface="Calibri"/>
              </a:rPr>
              <a:t>•</a:t>
            </a:r>
          </a:p>
        </p:txBody>
      </p:sp>
      <p:sp>
        <p:nvSpPr>
          <p:cNvPr id="232" name="TextBox 231"/>
          <p:cNvSpPr txBox="1"/>
          <p:nvPr/>
        </p:nvSpPr>
        <p:spPr>
          <a:xfrm>
            <a:off x="6343650" y="5848350"/>
            <a:ext cx="5591175" cy="371475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/>
            </a:r>
          </a:p>
        </p:txBody>
      </p:sp>
      <p:sp>
        <p:nvSpPr>
          <p:cNvPr id="233" name="TextBox 232"/>
          <p:cNvSpPr txBox="1"/>
          <p:nvPr/>
        </p:nvSpPr>
        <p:spPr>
          <a:xfrm>
            <a:off x="6210300" y="6067425"/>
            <a:ext cx="114300" cy="161925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1">
                <a:solidFill>
                  <a:srgbClr val="0E72AE"/>
                </a:solidFill>
                <a:latin typeface="Calibri"/>
              </a:rPr>
              <a:t>•</a:t>
            </a:r>
          </a:p>
        </p:txBody>
      </p:sp>
      <p:sp>
        <p:nvSpPr>
          <p:cNvPr id="234" name="TextBox 233"/>
          <p:cNvSpPr txBox="1"/>
          <p:nvPr/>
        </p:nvSpPr>
        <p:spPr>
          <a:xfrm>
            <a:off x="6343650" y="6067425"/>
            <a:ext cx="5591175" cy="533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/>
            </a:r>
          </a:p>
        </p:txBody>
      </p:sp>
      <p:sp>
        <p:nvSpPr>
          <p:cNvPr id="235" name="TextBox 23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36" name="Picture 2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31100" y="1620901"/>
            <a:ext cx="128699" cy="187198"/>
          </a:xfrm>
          <a:prstGeom prst="rect">
            <a:avLst/>
          </a:prstGeom>
        </p:spPr>
      </p:pic>
      <p:pic>
        <p:nvPicPr>
          <p:cNvPr id="237" name="Picture 2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31100" y="2478151"/>
            <a:ext cx="128699" cy="187198"/>
          </a:xfrm>
          <a:prstGeom prst="rect">
            <a:avLst/>
          </a:prstGeom>
        </p:spPr>
      </p:pic>
      <p:pic>
        <p:nvPicPr>
          <p:cNvPr id="238" name="Picture 23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31100" y="3335401"/>
            <a:ext cx="128699" cy="187198"/>
          </a:xfrm>
          <a:prstGeom prst="rect">
            <a:avLst/>
          </a:prstGeom>
        </p:spPr>
      </p:pic>
      <p:pic>
        <p:nvPicPr>
          <p:cNvPr id="239" name="Picture 23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31100" y="4192651"/>
            <a:ext cx="128699" cy="187198"/>
          </a:xfrm>
          <a:prstGeom prst="rect">
            <a:avLst/>
          </a:prstGeom>
        </p:spPr>
      </p:pic>
      <p:pic>
        <p:nvPicPr>
          <p:cNvPr id="240" name="Picture 23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75188" y="1830451"/>
            <a:ext cx="128699" cy="187198"/>
          </a:xfrm>
          <a:prstGeom prst="rect">
            <a:avLst/>
          </a:prstGeom>
        </p:spPr>
      </p:pic>
      <p:pic>
        <p:nvPicPr>
          <p:cNvPr id="241" name="Picture 24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160488" y="2059051"/>
            <a:ext cx="128699" cy="187198"/>
          </a:xfrm>
          <a:prstGeom prst="rect">
            <a:avLst/>
          </a:prstGeom>
        </p:spPr>
      </p:pic>
      <p:pic>
        <p:nvPicPr>
          <p:cNvPr id="242" name="Picture 24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989163" y="2059051"/>
            <a:ext cx="128699" cy="187198"/>
          </a:xfrm>
          <a:prstGeom prst="rect">
            <a:avLst/>
          </a:prstGeom>
        </p:spPr>
      </p:pic>
      <p:pic>
        <p:nvPicPr>
          <p:cNvPr id="243" name="Picture 24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817838" y="2059051"/>
            <a:ext cx="128699" cy="187198"/>
          </a:xfrm>
          <a:prstGeom prst="rect">
            <a:avLst/>
          </a:prstGeom>
        </p:spPr>
      </p:pic>
      <p:pic>
        <p:nvPicPr>
          <p:cNvPr id="244" name="Picture 24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646513" y="2059051"/>
            <a:ext cx="128699" cy="187198"/>
          </a:xfrm>
          <a:prstGeom prst="rect">
            <a:avLst/>
          </a:prstGeom>
        </p:spPr>
      </p:pic>
      <p:pic>
        <p:nvPicPr>
          <p:cNvPr id="245" name="Picture 24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75188" y="2059051"/>
            <a:ext cx="128699" cy="187198"/>
          </a:xfrm>
          <a:prstGeom prst="rect">
            <a:avLst/>
          </a:prstGeom>
        </p:spPr>
      </p:pic>
      <p:pic>
        <p:nvPicPr>
          <p:cNvPr id="246" name="Picture 24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160488" y="2287651"/>
            <a:ext cx="128699" cy="187198"/>
          </a:xfrm>
          <a:prstGeom prst="rect">
            <a:avLst/>
          </a:prstGeom>
        </p:spPr>
      </p:pic>
      <p:pic>
        <p:nvPicPr>
          <p:cNvPr id="247" name="Picture 24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989162" y="2287651"/>
            <a:ext cx="128699" cy="187198"/>
          </a:xfrm>
          <a:prstGeom prst="rect">
            <a:avLst/>
          </a:prstGeom>
        </p:spPr>
      </p:pic>
      <p:pic>
        <p:nvPicPr>
          <p:cNvPr id="248" name="Picture 24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817838" y="2287651"/>
            <a:ext cx="128699" cy="187198"/>
          </a:xfrm>
          <a:prstGeom prst="rect">
            <a:avLst/>
          </a:prstGeom>
        </p:spPr>
      </p:pic>
      <p:pic>
        <p:nvPicPr>
          <p:cNvPr id="249" name="Picture 24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646512" y="2287651"/>
            <a:ext cx="128699" cy="187198"/>
          </a:xfrm>
          <a:prstGeom prst="rect">
            <a:avLst/>
          </a:prstGeom>
        </p:spPr>
      </p:pic>
      <p:pic>
        <p:nvPicPr>
          <p:cNvPr id="250" name="Picture 24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160488" y="2516251"/>
            <a:ext cx="128699" cy="187198"/>
          </a:xfrm>
          <a:prstGeom prst="rect">
            <a:avLst/>
          </a:prstGeom>
        </p:spPr>
      </p:pic>
      <p:pic>
        <p:nvPicPr>
          <p:cNvPr id="251" name="Picture 25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989162" y="2516251"/>
            <a:ext cx="128699" cy="187198"/>
          </a:xfrm>
          <a:prstGeom prst="rect">
            <a:avLst/>
          </a:prstGeom>
        </p:spPr>
      </p:pic>
      <p:pic>
        <p:nvPicPr>
          <p:cNvPr id="252" name="Picture 25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817838" y="2516251"/>
            <a:ext cx="128699" cy="187198"/>
          </a:xfrm>
          <a:prstGeom prst="rect">
            <a:avLst/>
          </a:prstGeom>
        </p:spPr>
      </p:pic>
      <p:pic>
        <p:nvPicPr>
          <p:cNvPr id="253" name="Picture 25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646512" y="2516251"/>
            <a:ext cx="128699" cy="187198"/>
          </a:xfrm>
          <a:prstGeom prst="rect">
            <a:avLst/>
          </a:prstGeom>
        </p:spPr>
      </p:pic>
      <p:pic>
        <p:nvPicPr>
          <p:cNvPr id="254" name="Picture 25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160487" y="2744851"/>
            <a:ext cx="128699" cy="187198"/>
          </a:xfrm>
          <a:prstGeom prst="rect">
            <a:avLst/>
          </a:prstGeom>
        </p:spPr>
      </p:pic>
      <p:pic>
        <p:nvPicPr>
          <p:cNvPr id="255" name="Picture 25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989163" y="2744851"/>
            <a:ext cx="128699" cy="187198"/>
          </a:xfrm>
          <a:prstGeom prst="rect">
            <a:avLst/>
          </a:prstGeom>
        </p:spPr>
      </p:pic>
      <p:pic>
        <p:nvPicPr>
          <p:cNvPr id="256" name="Picture 25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817837" y="2744851"/>
            <a:ext cx="128699" cy="187198"/>
          </a:xfrm>
          <a:prstGeom prst="rect">
            <a:avLst/>
          </a:prstGeom>
        </p:spPr>
      </p:pic>
      <p:pic>
        <p:nvPicPr>
          <p:cNvPr id="257" name="Picture 25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646513" y="2744851"/>
            <a:ext cx="128699" cy="187198"/>
          </a:xfrm>
          <a:prstGeom prst="rect">
            <a:avLst/>
          </a:prstGeom>
        </p:spPr>
      </p:pic>
      <p:pic>
        <p:nvPicPr>
          <p:cNvPr id="258" name="Picture 25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160487" y="2973451"/>
            <a:ext cx="128699" cy="187198"/>
          </a:xfrm>
          <a:prstGeom prst="rect">
            <a:avLst/>
          </a:prstGeom>
        </p:spPr>
      </p:pic>
      <p:pic>
        <p:nvPicPr>
          <p:cNvPr id="259" name="Picture 25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989163" y="2973451"/>
            <a:ext cx="128699" cy="187198"/>
          </a:xfrm>
          <a:prstGeom prst="rect">
            <a:avLst/>
          </a:prstGeom>
        </p:spPr>
      </p:pic>
      <p:pic>
        <p:nvPicPr>
          <p:cNvPr id="260" name="Picture 25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817837" y="2973451"/>
            <a:ext cx="128699" cy="187198"/>
          </a:xfrm>
          <a:prstGeom prst="rect">
            <a:avLst/>
          </a:prstGeom>
        </p:spPr>
      </p:pic>
      <p:pic>
        <p:nvPicPr>
          <p:cNvPr id="261" name="Picture 26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646513" y="2973451"/>
            <a:ext cx="128699" cy="187198"/>
          </a:xfrm>
          <a:prstGeom prst="rect">
            <a:avLst/>
          </a:prstGeom>
        </p:spPr>
      </p:pic>
      <p:pic>
        <p:nvPicPr>
          <p:cNvPr id="262" name="Picture 26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75187" y="2973451"/>
            <a:ext cx="128699" cy="187198"/>
          </a:xfrm>
          <a:prstGeom prst="rect">
            <a:avLst/>
          </a:prstGeom>
        </p:spPr>
      </p:pic>
      <p:pic>
        <p:nvPicPr>
          <p:cNvPr id="263" name="Picture 26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160488" y="3202051"/>
            <a:ext cx="128699" cy="187198"/>
          </a:xfrm>
          <a:prstGeom prst="rect">
            <a:avLst/>
          </a:prstGeom>
        </p:spPr>
      </p:pic>
      <p:pic>
        <p:nvPicPr>
          <p:cNvPr id="264" name="Picture 26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989163" y="3202051"/>
            <a:ext cx="128699" cy="187198"/>
          </a:xfrm>
          <a:prstGeom prst="rect">
            <a:avLst/>
          </a:prstGeom>
        </p:spPr>
      </p:pic>
      <p:pic>
        <p:nvPicPr>
          <p:cNvPr id="265" name="Picture 26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817838" y="3202051"/>
            <a:ext cx="128699" cy="187198"/>
          </a:xfrm>
          <a:prstGeom prst="rect">
            <a:avLst/>
          </a:prstGeom>
        </p:spPr>
      </p:pic>
      <p:pic>
        <p:nvPicPr>
          <p:cNvPr id="266" name="Picture 26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160488" y="3478276"/>
            <a:ext cx="128699" cy="187198"/>
          </a:xfrm>
          <a:prstGeom prst="rect">
            <a:avLst/>
          </a:prstGeom>
        </p:spPr>
      </p:pic>
      <p:pic>
        <p:nvPicPr>
          <p:cNvPr id="267" name="Picture 26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989162" y="3478276"/>
            <a:ext cx="128699" cy="187198"/>
          </a:xfrm>
          <a:prstGeom prst="rect">
            <a:avLst/>
          </a:prstGeom>
        </p:spPr>
      </p:pic>
      <p:pic>
        <p:nvPicPr>
          <p:cNvPr id="268" name="Picture 26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817838" y="3478276"/>
            <a:ext cx="128699" cy="187198"/>
          </a:xfrm>
          <a:prstGeom prst="rect">
            <a:avLst/>
          </a:prstGeom>
        </p:spPr>
      </p:pic>
      <p:pic>
        <p:nvPicPr>
          <p:cNvPr id="269" name="Picture 26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646512" y="3478276"/>
            <a:ext cx="128699" cy="187198"/>
          </a:xfrm>
          <a:prstGeom prst="rect">
            <a:avLst/>
          </a:prstGeom>
        </p:spPr>
      </p:pic>
      <p:sp>
        <p:nvSpPr>
          <p:cNvPr id="270" name="TextBox 269"/>
          <p:cNvSpPr txBox="1"/>
          <p:nvPr/>
        </p:nvSpPr>
        <p:spPr>
          <a:xfrm>
            <a:off x="266700" y="1344930"/>
            <a:ext cx="49148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6B7280"/>
                </a:solidFill>
                <a:latin typeface="Calibri"/>
              </a:rPr>
              <a:t>Market</a:t>
            </a:r>
          </a:p>
        </p:txBody>
      </p:sp>
      <p:pic>
        <p:nvPicPr>
          <p:cNvPr id="271" name="Picture 27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6231" y="1335151"/>
            <a:ext cx="128699" cy="187198"/>
          </a:xfrm>
          <a:prstGeom prst="rect">
            <a:avLst/>
          </a:prstGeom>
        </p:spPr>
      </p:pic>
      <p:sp>
        <p:nvSpPr>
          <p:cNvPr id="272" name="TextBox 271"/>
          <p:cNvSpPr txBox="1"/>
          <p:nvPr/>
        </p:nvSpPr>
        <p:spPr>
          <a:xfrm>
            <a:off x="873727" y="1344930"/>
            <a:ext cx="129038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6B7280"/>
                </a:solidFill>
                <a:latin typeface="Calibri"/>
              </a:rPr>
              <a:t>US$ Mn · Tier 1 share</a:t>
            </a:r>
          </a:p>
        </p:txBody>
      </p:sp>
      <p:pic>
        <p:nvPicPr>
          <p:cNvPr id="273" name="Picture 27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12168" y="1335151"/>
            <a:ext cx="128699" cy="187198"/>
          </a:xfrm>
          <a:prstGeom prst="rect">
            <a:avLst/>
          </a:prstGeom>
        </p:spPr>
      </p:pic>
      <p:sp>
        <p:nvSpPr>
          <p:cNvPr id="274" name="TextBox 273"/>
          <p:cNvSpPr txBox="1"/>
          <p:nvPr/>
        </p:nvSpPr>
        <p:spPr>
          <a:xfrm>
            <a:off x="2279664" y="1344930"/>
            <a:ext cx="20280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6B7280"/>
                </a:solidFill>
                <a:latin typeface="Calibri"/>
              </a:rPr>
              <a:t>→</a:t>
            </a:r>
          </a:p>
        </p:txBody>
      </p:sp>
      <p:pic>
        <p:nvPicPr>
          <p:cNvPr id="275" name="Picture 27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30519" y="1335151"/>
            <a:ext cx="128699" cy="187198"/>
          </a:xfrm>
          <a:prstGeom prst="rect">
            <a:avLst/>
          </a:prstGeom>
        </p:spPr>
      </p:pic>
      <p:sp>
        <p:nvSpPr>
          <p:cNvPr id="276" name="TextBox 275"/>
          <p:cNvSpPr txBox="1"/>
          <p:nvPr/>
        </p:nvSpPr>
        <p:spPr>
          <a:xfrm>
            <a:off x="2598014" y="1344930"/>
            <a:ext cx="52831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6B7280"/>
                </a:solidFill>
                <a:latin typeface="Calibri"/>
              </a:rPr>
              <a:t>by 2036</a:t>
            </a:r>
          </a:p>
        </p:txBody>
      </p:sp>
      <p:pic>
        <p:nvPicPr>
          <p:cNvPr id="277" name="Picture 27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377182" y="1839976"/>
            <a:ext cx="128699" cy="187198"/>
          </a:xfrm>
          <a:prstGeom prst="rect">
            <a:avLst/>
          </a:prstGeom>
        </p:spPr>
      </p:pic>
      <p:sp>
        <p:nvSpPr>
          <p:cNvPr id="278" name="TextBox 277"/>
          <p:cNvSpPr txBox="1"/>
          <p:nvPr/>
        </p:nvSpPr>
        <p:spPr>
          <a:xfrm>
            <a:off x="1544678" y="1849755"/>
            <a:ext cx="142954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FFFFFF"/>
                </a:solidFill>
                <a:latin typeface="Calibri"/>
              </a:rPr>
              <a:t>US$ Mn · 4 players · avg</a:t>
            </a:r>
          </a:p>
        </p:txBody>
      </p:sp>
      <p:pic>
        <p:nvPicPr>
          <p:cNvPr id="279" name="Picture 27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922273" y="1839976"/>
            <a:ext cx="128699" cy="187198"/>
          </a:xfrm>
          <a:prstGeom prst="rect">
            <a:avLst/>
          </a:prstGeom>
        </p:spPr>
      </p:pic>
      <p:sp>
        <p:nvSpPr>
          <p:cNvPr id="280" name="TextBox 279"/>
          <p:cNvSpPr txBox="1"/>
          <p:nvPr/>
        </p:nvSpPr>
        <p:spPr>
          <a:xfrm>
            <a:off x="3089769" y="1849755"/>
            <a:ext cx="99707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FFFFFF"/>
                </a:solidFill>
                <a:latin typeface="Calibri"/>
              </a:rPr>
              <a:t>US$ Mn / player</a:t>
            </a:r>
          </a:p>
        </p:txBody>
      </p:sp>
      <p:pic>
        <p:nvPicPr>
          <p:cNvPr id="281" name="Picture 28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377182" y="2697226"/>
            <a:ext cx="128699" cy="187198"/>
          </a:xfrm>
          <a:prstGeom prst="rect">
            <a:avLst/>
          </a:prstGeom>
        </p:spPr>
      </p:pic>
      <p:sp>
        <p:nvSpPr>
          <p:cNvPr id="282" name="TextBox 281"/>
          <p:cNvSpPr txBox="1"/>
          <p:nvPr/>
        </p:nvSpPr>
        <p:spPr>
          <a:xfrm>
            <a:off x="1544678" y="2707005"/>
            <a:ext cx="142954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FFFFFF"/>
                </a:solidFill>
                <a:latin typeface="Calibri"/>
              </a:rPr>
              <a:t>US$ Mn · 2 players · avg</a:t>
            </a:r>
          </a:p>
        </p:txBody>
      </p:sp>
      <p:pic>
        <p:nvPicPr>
          <p:cNvPr id="283" name="Picture 28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922273" y="2697226"/>
            <a:ext cx="128699" cy="187198"/>
          </a:xfrm>
          <a:prstGeom prst="rect">
            <a:avLst/>
          </a:prstGeom>
        </p:spPr>
      </p:pic>
      <p:sp>
        <p:nvSpPr>
          <p:cNvPr id="284" name="TextBox 283"/>
          <p:cNvSpPr txBox="1"/>
          <p:nvPr/>
        </p:nvSpPr>
        <p:spPr>
          <a:xfrm>
            <a:off x="3089769" y="2707005"/>
            <a:ext cx="99707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FFFFFF"/>
                </a:solidFill>
                <a:latin typeface="Calibri"/>
              </a:rPr>
              <a:t>US$ Mn / player</a:t>
            </a:r>
          </a:p>
        </p:txBody>
      </p:sp>
      <p:pic>
        <p:nvPicPr>
          <p:cNvPr id="285" name="Picture 28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377182" y="3554476"/>
            <a:ext cx="128699" cy="187198"/>
          </a:xfrm>
          <a:prstGeom prst="rect">
            <a:avLst/>
          </a:prstGeom>
        </p:spPr>
      </p:pic>
      <p:sp>
        <p:nvSpPr>
          <p:cNvPr id="286" name="TextBox 285"/>
          <p:cNvSpPr txBox="1"/>
          <p:nvPr/>
        </p:nvSpPr>
        <p:spPr>
          <a:xfrm>
            <a:off x="1544678" y="3564255"/>
            <a:ext cx="142954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FFFFFF"/>
                </a:solidFill>
                <a:latin typeface="Calibri"/>
              </a:rPr>
              <a:t>US$ Mn · 4 players · avg</a:t>
            </a:r>
          </a:p>
        </p:txBody>
      </p:sp>
      <p:pic>
        <p:nvPicPr>
          <p:cNvPr id="287" name="Picture 28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922273" y="3554476"/>
            <a:ext cx="128699" cy="187198"/>
          </a:xfrm>
          <a:prstGeom prst="rect">
            <a:avLst/>
          </a:prstGeom>
        </p:spPr>
      </p:pic>
      <p:sp>
        <p:nvSpPr>
          <p:cNvPr id="288" name="TextBox 287"/>
          <p:cNvSpPr txBox="1"/>
          <p:nvPr/>
        </p:nvSpPr>
        <p:spPr>
          <a:xfrm>
            <a:off x="3089769" y="3564255"/>
            <a:ext cx="99707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FFFFFF"/>
                </a:solidFill>
                <a:latin typeface="Calibri"/>
              </a:rPr>
              <a:t>US$ Mn / player</a:t>
            </a:r>
          </a:p>
        </p:txBody>
      </p:sp>
      <p:pic>
        <p:nvPicPr>
          <p:cNvPr id="289" name="Picture 28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377182" y="4411726"/>
            <a:ext cx="128699" cy="187198"/>
          </a:xfrm>
          <a:prstGeom prst="rect">
            <a:avLst/>
          </a:prstGeom>
        </p:spPr>
      </p:pic>
      <p:sp>
        <p:nvSpPr>
          <p:cNvPr id="290" name="TextBox 289"/>
          <p:cNvSpPr txBox="1"/>
          <p:nvPr/>
        </p:nvSpPr>
        <p:spPr>
          <a:xfrm>
            <a:off x="1544678" y="4421505"/>
            <a:ext cx="124700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US$ Mn · – · long tail</a:t>
            </a:r>
          </a:p>
        </p:txBody>
      </p:sp>
      <p:sp>
        <p:nvSpPr>
          <p:cNvPr id="291" name="TextBox 290"/>
          <p:cNvSpPr txBox="1"/>
          <p:nvPr/>
        </p:nvSpPr>
        <p:spPr>
          <a:xfrm>
            <a:off x="1241169" y="5802630"/>
            <a:ext cx="49366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2E7D32"/>
                </a:solidFill>
                <a:latin typeface="Calibri"/>
              </a:rPr>
              <a:t>▲</a:t>
            </a:r>
            <a:r>
              <a:rPr sz="1100" b="1">
                <a:solidFill>
                  <a:srgbClr val="14213D"/>
                </a:solidFill>
                <a:latin typeface="Calibri"/>
              </a:rPr>
              <a:t> HHI =</a:t>
            </a:r>
          </a:p>
        </p:txBody>
      </p:sp>
      <p:pic>
        <p:nvPicPr>
          <p:cNvPr id="292" name="Picture 29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82883" y="5792851"/>
            <a:ext cx="128699" cy="187198"/>
          </a:xfrm>
          <a:prstGeom prst="rect">
            <a:avLst/>
          </a:prstGeom>
        </p:spPr>
      </p:pic>
      <p:sp>
        <p:nvSpPr>
          <p:cNvPr id="293" name="TextBox 292"/>
          <p:cNvSpPr txBox="1"/>
          <p:nvPr/>
        </p:nvSpPr>
        <p:spPr>
          <a:xfrm>
            <a:off x="876202" y="6107430"/>
            <a:ext cx="40089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14213D"/>
                </a:solidFill>
                <a:latin typeface="Calibri"/>
              </a:rPr>
              <a:t>CR4 =</a:t>
            </a:r>
          </a:p>
        </p:txBody>
      </p:sp>
      <p:pic>
        <p:nvPicPr>
          <p:cNvPr id="294" name="Picture 29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225147" y="6097651"/>
            <a:ext cx="128699" cy="187198"/>
          </a:xfrm>
          <a:prstGeom prst="rect">
            <a:avLst/>
          </a:prstGeom>
        </p:spPr>
      </p:pic>
      <p:sp>
        <p:nvSpPr>
          <p:cNvPr id="295" name="TextBox 294"/>
          <p:cNvSpPr txBox="1"/>
          <p:nvPr/>
        </p:nvSpPr>
        <p:spPr>
          <a:xfrm>
            <a:off x="1392643" y="6107430"/>
            <a:ext cx="106828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14213D"/>
                </a:solidFill>
                <a:latin typeface="Calibri"/>
              </a:rPr>
              <a:t>· Tier 1 : Others =</a:t>
            </a:r>
          </a:p>
        </p:txBody>
      </p:sp>
      <p:pic>
        <p:nvPicPr>
          <p:cNvPr id="296" name="Picture 29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08983" y="6097651"/>
            <a:ext cx="128699" cy="187198"/>
          </a:xfrm>
          <a:prstGeom prst="rect">
            <a:avLst/>
          </a:prstGeom>
        </p:spPr>
      </p:pic>
      <p:sp>
        <p:nvSpPr>
          <p:cNvPr id="297" name="TextBox 296"/>
          <p:cNvSpPr txBox="1"/>
          <p:nvPr/>
        </p:nvSpPr>
        <p:spPr>
          <a:xfrm>
            <a:off x="2576478" y="6107430"/>
            <a:ext cx="139762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14213D"/>
                </a:solidFill>
                <a:latin typeface="Calibri"/>
              </a:rPr>
              <a:t>: 1 · Top-player share =</a:t>
            </a:r>
          </a:p>
        </p:txBody>
      </p:sp>
      <p:pic>
        <p:nvPicPr>
          <p:cNvPr id="298" name="Picture 29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922150" y="6097651"/>
            <a:ext cx="128699" cy="187198"/>
          </a:xfrm>
          <a:prstGeom prst="rect">
            <a:avLst/>
          </a:prstGeom>
        </p:spPr>
      </p:pic>
      <p:sp>
        <p:nvSpPr>
          <p:cNvPr id="299" name="TextBox 298"/>
          <p:cNvSpPr txBox="1"/>
          <p:nvPr/>
        </p:nvSpPr>
        <p:spPr>
          <a:xfrm>
            <a:off x="4089646" y="6107430"/>
            <a:ext cx="120635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14213D"/>
                </a:solidFill>
                <a:latin typeface="Calibri"/>
              </a:rPr>
              <a:t>· Class: Fragmented</a:t>
            </a:r>
          </a:p>
        </p:txBody>
      </p:sp>
      <p:sp>
        <p:nvSpPr>
          <p:cNvPr id="300" name="TextBox 299"/>
          <p:cNvSpPr txBox="1"/>
          <p:nvPr/>
        </p:nvSpPr>
        <p:spPr>
          <a:xfrm>
            <a:off x="6372225" y="5476875"/>
            <a:ext cx="47156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Tier 1 (</a:t>
            </a:r>
          </a:p>
        </p:txBody>
      </p:sp>
      <p:pic>
        <p:nvPicPr>
          <p:cNvPr id="301" name="Picture 30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791838" y="5467095"/>
            <a:ext cx="128699" cy="187198"/>
          </a:xfrm>
          <a:prstGeom prst="rect">
            <a:avLst/>
          </a:prstGeom>
        </p:spPr>
      </p:pic>
      <p:sp>
        <p:nvSpPr>
          <p:cNvPr id="302" name="TextBox 301"/>
          <p:cNvSpPr txBox="1"/>
          <p:nvPr/>
        </p:nvSpPr>
        <p:spPr>
          <a:xfrm>
            <a:off x="6959334" y="5476875"/>
            <a:ext cx="255014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) holds the largest single block of value on a</a:t>
            </a:r>
          </a:p>
        </p:txBody>
      </p:sp>
      <p:pic>
        <p:nvPicPr>
          <p:cNvPr id="303" name="Picture 30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457531" y="5467095"/>
            <a:ext cx="128699" cy="187198"/>
          </a:xfrm>
          <a:prstGeom prst="rect">
            <a:avLst/>
          </a:prstGeom>
        </p:spPr>
      </p:pic>
      <p:sp>
        <p:nvSpPr>
          <p:cNvPr id="304" name="TextBox 303"/>
          <p:cNvSpPr txBox="1"/>
          <p:nvPr/>
        </p:nvSpPr>
        <p:spPr>
          <a:xfrm>
            <a:off x="9625026" y="5476875"/>
            <a:ext cx="125983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US$ Mn base; CR4 of</a:t>
            </a:r>
          </a:p>
        </p:txBody>
      </p:sp>
      <p:pic>
        <p:nvPicPr>
          <p:cNvPr id="305" name="Picture 30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832908" y="5467095"/>
            <a:ext cx="128699" cy="187198"/>
          </a:xfrm>
          <a:prstGeom prst="rect">
            <a:avLst/>
          </a:prstGeom>
        </p:spPr>
      </p:pic>
      <p:sp>
        <p:nvSpPr>
          <p:cNvPr id="306" name="TextBox 305"/>
          <p:cNvSpPr txBox="1"/>
          <p:nvPr/>
        </p:nvSpPr>
        <p:spPr>
          <a:xfrm>
            <a:off x="11000404" y="5476875"/>
            <a:ext cx="67865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and HHI of</a:t>
            </a:r>
          </a:p>
        </p:txBody>
      </p:sp>
      <p:pic>
        <p:nvPicPr>
          <p:cNvPr id="307" name="Picture 30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358757" y="5634735"/>
            <a:ext cx="128699" cy="187198"/>
          </a:xfrm>
          <a:prstGeom prst="rect">
            <a:avLst/>
          </a:prstGeom>
        </p:spPr>
      </p:pic>
      <p:sp>
        <p:nvSpPr>
          <p:cNvPr id="308" name="TextBox 307"/>
          <p:cNvSpPr txBox="1"/>
          <p:nvPr/>
        </p:nvSpPr>
        <p:spPr>
          <a:xfrm>
            <a:off x="6526253" y="5644515"/>
            <a:ext cx="203063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classify the market as fragmented.</a:t>
            </a:r>
          </a:p>
        </p:txBody>
      </p:sp>
      <p:sp>
        <p:nvSpPr>
          <p:cNvPr id="309" name="TextBox 308"/>
          <p:cNvSpPr txBox="1"/>
          <p:nvPr/>
        </p:nvSpPr>
        <p:spPr>
          <a:xfrm>
            <a:off x="6372225" y="5857875"/>
            <a:ext cx="133104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Tier 2 grows fastest at</a:t>
            </a:r>
          </a:p>
        </p:txBody>
      </p:sp>
      <p:pic>
        <p:nvPicPr>
          <p:cNvPr id="310" name="Picture 30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651320" y="5848095"/>
            <a:ext cx="128699" cy="187198"/>
          </a:xfrm>
          <a:prstGeom prst="rect">
            <a:avLst/>
          </a:prstGeom>
        </p:spPr>
      </p:pic>
      <p:sp>
        <p:nvSpPr>
          <p:cNvPr id="311" name="TextBox 310"/>
          <p:cNvSpPr txBox="1"/>
          <p:nvPr/>
        </p:nvSpPr>
        <p:spPr>
          <a:xfrm>
            <a:off x="7818816" y="5857875"/>
            <a:ext cx="98286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CAGR, moving +</a:t>
            </a:r>
          </a:p>
        </p:txBody>
      </p:sp>
      <p:pic>
        <p:nvPicPr>
          <p:cNvPr id="312" name="Picture 31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749737" y="5848095"/>
            <a:ext cx="128699" cy="187198"/>
          </a:xfrm>
          <a:prstGeom prst="rect">
            <a:avLst/>
          </a:prstGeom>
        </p:spPr>
      </p:pic>
      <p:sp>
        <p:nvSpPr>
          <p:cNvPr id="313" name="TextBox 312"/>
          <p:cNvSpPr txBox="1"/>
          <p:nvPr/>
        </p:nvSpPr>
        <p:spPr>
          <a:xfrm>
            <a:off x="8917232" y="5857875"/>
            <a:ext cx="123472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pp of share by 2036.</a:t>
            </a:r>
          </a:p>
        </p:txBody>
      </p:sp>
      <p:sp>
        <p:nvSpPr>
          <p:cNvPr id="314" name="TextBox 313"/>
          <p:cNvSpPr txBox="1"/>
          <p:nvPr/>
        </p:nvSpPr>
        <p:spPr>
          <a:xfrm>
            <a:off x="6372225" y="6076950"/>
            <a:ext cx="216160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Tier 3 and the long tail together hold</a:t>
            </a:r>
          </a:p>
        </p:txBody>
      </p:sp>
      <p:pic>
        <p:nvPicPr>
          <p:cNvPr id="315" name="Picture 3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481881" y="6067170"/>
            <a:ext cx="128699" cy="187198"/>
          </a:xfrm>
          <a:prstGeom prst="rect">
            <a:avLst/>
          </a:prstGeom>
        </p:spPr>
      </p:pic>
      <p:sp>
        <p:nvSpPr>
          <p:cNvPr id="316" name="TextBox 315"/>
          <p:cNvSpPr txBox="1"/>
          <p:nvPr/>
        </p:nvSpPr>
        <p:spPr>
          <a:xfrm>
            <a:off x="8649376" y="6076950"/>
            <a:ext cx="21274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of value; the average Tier 3 player is</a:t>
            </a:r>
          </a:p>
        </p:txBody>
      </p:sp>
      <p:pic>
        <p:nvPicPr>
          <p:cNvPr id="317" name="Picture 31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724926" y="6067170"/>
            <a:ext cx="128699" cy="187198"/>
          </a:xfrm>
          <a:prstGeom prst="rect">
            <a:avLst/>
          </a:prstGeom>
        </p:spPr>
      </p:pic>
      <p:sp>
        <p:nvSpPr>
          <p:cNvPr id="318" name="TextBox 317"/>
          <p:cNvSpPr txBox="1"/>
          <p:nvPr/>
        </p:nvSpPr>
        <p:spPr>
          <a:xfrm>
            <a:off x="10892422" y="6076950"/>
            <a:ext cx="87647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x smaller than</a:t>
            </a:r>
          </a:p>
        </p:txBody>
      </p:sp>
      <p:sp>
        <p:nvSpPr>
          <p:cNvPr id="319" name="TextBox 318"/>
          <p:cNvSpPr txBox="1"/>
          <p:nvPr/>
        </p:nvSpPr>
        <p:spPr>
          <a:xfrm>
            <a:off x="6372225" y="6244590"/>
            <a:ext cx="102053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a Tier 1 supplier.</a:t>
            </a:r>
          </a:p>
        </p:txBody>
      </p:sp>
    </p:spTree>
  </p:cSld>
  <p:clrMapOvr>
    <a:masterClrMapping/>
  </p:clrMapOvr>
</p:sld>
</file>

<file path=ppt/slides/slide24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Industry Structure Landscape – Pet Cosmetic Products Market, Europe 2026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Tier ladder, market concentration and tier profile, and the structural shift 2026→2036 shaping the tier structure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47750"/>
            <a:ext cx="11906250" cy="2381250"/>
          </a:xfrm>
          <a:prstGeom prst="roundRect">
            <a:avLst>
              <a:gd name="adj" fmla="val 64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104900"/>
            <a:ext cx="1171575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200" b="1">
                <a:solidFill>
                  <a:srgbClr val="2E2E2E"/>
                </a:solidFill>
                <a:latin typeface="Calibri"/>
              </a:rPr>
              <a:t>Structural Shift, 2026 → 2036 – Tier Migration and Entry / Exit</a:t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257175" y="1390650"/>
            <a:ext cx="1905000" cy="876300"/>
          </a:xfrm>
          <a:prstGeom prst="roundRect">
            <a:avLst>
              <a:gd name="adj" fmla="val 4000"/>
            </a:avLst>
          </a:prstGeom>
          <a:solidFill>
            <a:srgbClr val="1F3A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57175" y="1447800"/>
            <a:ext cx="190500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Tier 1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57175" y="1676400"/>
            <a:ext cx="190500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Top / global players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295275" y="1828800"/>
            <a:ext cx="1828800" cy="4191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2238375" y="1466850"/>
            <a:ext cx="12001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E8C8C"/>
                </a:solidFill>
                <a:latin typeface="Calibri"/>
              </a:rPr>
              <a:t>1 up-tier (M&amp;A)</a:t>
            </a:r>
          </a:p>
        </p:txBody>
      </p:sp>
      <p:cxnSp>
        <p:nvCxnSpPr>
          <p:cNvPr id="17" name="Connector 16"/>
          <p:cNvCxnSpPr/>
          <p:nvPr/>
        </p:nvCxnSpPr>
        <p:spPr>
          <a:xfrm>
            <a:off x="2314575" y="1695450"/>
            <a:ext cx="1123950" cy="0"/>
          </a:xfrm>
          <a:prstGeom prst="line">
            <a:avLst/>
          </a:prstGeom>
          <a:ln w="25400">
            <a:solidFill>
              <a:srgbClr val="0E8C8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2238375" y="1647825"/>
            <a:ext cx="95250" cy="95250"/>
          </a:xfrm>
          <a:custGeom>
            <a:avLst/>
            <a:gdLst/>
            <a:ahLst/>
            <a:cxnLst/>
            <a:rect l="l" t="t" r="r" b="b"/>
            <a:pathLst>
              <a:path w="10" h="10">
                <a:moveTo>
                  <a:pt x="0" y="5"/>
                </a:moveTo>
                <a:lnTo>
                  <a:pt x="10" y="0"/>
                </a:lnTo>
                <a:lnTo>
                  <a:pt x="10" y="10"/>
                </a:lnTo>
                <a:close/>
              </a:path>
            </a:pathLst>
          </a:custGeom>
          <a:solidFill>
            <a:srgbClr val="0E8C8C"/>
          </a:solidFill>
          <a:ln w="9525">
            <a:solidFill>
              <a:srgbClr val="0E8C8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9" name="Connector 18"/>
          <p:cNvCxnSpPr/>
          <p:nvPr/>
        </p:nvCxnSpPr>
        <p:spPr>
          <a:xfrm>
            <a:off x="2238375" y="1962150"/>
            <a:ext cx="1123950" cy="0"/>
          </a:xfrm>
          <a:prstGeom prst="line">
            <a:avLst/>
          </a:prstGeom>
          <a:ln w="25400">
            <a:solidFill>
              <a:srgbClr val="D08C2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" name="Freeform 19"/>
          <p:cNvSpPr/>
          <p:nvPr/>
        </p:nvSpPr>
        <p:spPr>
          <a:xfrm>
            <a:off x="3343275" y="1914525"/>
            <a:ext cx="95250" cy="95250"/>
          </a:xfrm>
          <a:custGeom>
            <a:avLst/>
            <a:gdLst/>
            <a:ahLst/>
            <a:cxnLst/>
            <a:rect l="l" t="t" r="r" b="b"/>
            <a:pathLst>
              <a:path w="10" h="10">
                <a:moveTo>
                  <a:pt x="10" y="5"/>
                </a:moveTo>
                <a:lnTo>
                  <a:pt x="0" y="0"/>
                </a:lnTo>
                <a:lnTo>
                  <a:pt x="0" y="10"/>
                </a:lnTo>
                <a:close/>
              </a:path>
            </a:pathLst>
          </a:custGeom>
          <a:solidFill>
            <a:srgbClr val="D08C2A"/>
          </a:solidFill>
          <a:ln w="9525">
            <a:solidFill>
              <a:srgbClr val="D08C2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2238375" y="2019300"/>
            <a:ext cx="12001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D08C2A"/>
                </a:solidFill>
                <a:latin typeface="Calibri"/>
              </a:rPr>
              <a:t>0 down / exit</a:t>
            </a:r>
          </a:p>
        </p:txBody>
      </p:sp>
      <p:sp>
        <p:nvSpPr>
          <p:cNvPr id="22" name="Rounded Rectangle 21"/>
          <p:cNvSpPr/>
          <p:nvPr/>
        </p:nvSpPr>
        <p:spPr>
          <a:xfrm>
            <a:off x="3514725" y="1390650"/>
            <a:ext cx="1905000" cy="876300"/>
          </a:xfrm>
          <a:prstGeom prst="roundRect">
            <a:avLst>
              <a:gd name="adj" fmla="val 4000"/>
            </a:avLst>
          </a:prstGeom>
          <a:solidFill>
            <a:srgbClr val="2E6DB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3514725" y="1447800"/>
            <a:ext cx="190500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Tier 2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3514725" y="1676400"/>
            <a:ext cx="190500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Mid-sized players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3552825" y="1828800"/>
            <a:ext cx="1828800" cy="4191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5495925" y="1466850"/>
            <a:ext cx="12001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E8C8C"/>
                </a:solidFill>
                <a:latin typeface="Calibri"/>
              </a:rPr>
              <a:t>1 up-tier (M&amp;A)</a:t>
            </a:r>
          </a:p>
        </p:txBody>
      </p:sp>
      <p:cxnSp>
        <p:nvCxnSpPr>
          <p:cNvPr id="27" name="Connector 26"/>
          <p:cNvCxnSpPr/>
          <p:nvPr/>
        </p:nvCxnSpPr>
        <p:spPr>
          <a:xfrm>
            <a:off x="5572125" y="1695450"/>
            <a:ext cx="1123950" cy="0"/>
          </a:xfrm>
          <a:prstGeom prst="line">
            <a:avLst/>
          </a:prstGeom>
          <a:ln w="25400">
            <a:solidFill>
              <a:srgbClr val="0E8C8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8" name="Freeform 27"/>
          <p:cNvSpPr/>
          <p:nvPr/>
        </p:nvSpPr>
        <p:spPr>
          <a:xfrm>
            <a:off x="5495925" y="1647825"/>
            <a:ext cx="95250" cy="95250"/>
          </a:xfrm>
          <a:custGeom>
            <a:avLst/>
            <a:gdLst/>
            <a:ahLst/>
            <a:cxnLst/>
            <a:rect l="l" t="t" r="r" b="b"/>
            <a:pathLst>
              <a:path w="10" h="10">
                <a:moveTo>
                  <a:pt x="0" y="5"/>
                </a:moveTo>
                <a:lnTo>
                  <a:pt x="10" y="0"/>
                </a:lnTo>
                <a:lnTo>
                  <a:pt x="10" y="10"/>
                </a:lnTo>
                <a:close/>
              </a:path>
            </a:pathLst>
          </a:custGeom>
          <a:solidFill>
            <a:srgbClr val="0E8C8C"/>
          </a:solidFill>
          <a:ln w="9525">
            <a:solidFill>
              <a:srgbClr val="0E8C8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495925" y="1962150"/>
            <a:ext cx="1123950" cy="0"/>
          </a:xfrm>
          <a:prstGeom prst="line">
            <a:avLst/>
          </a:prstGeom>
          <a:ln w="25400">
            <a:solidFill>
              <a:srgbClr val="D08C2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0" name="Freeform 29"/>
          <p:cNvSpPr/>
          <p:nvPr/>
        </p:nvSpPr>
        <p:spPr>
          <a:xfrm>
            <a:off x="6600825" y="1914525"/>
            <a:ext cx="95250" cy="95250"/>
          </a:xfrm>
          <a:custGeom>
            <a:avLst/>
            <a:gdLst/>
            <a:ahLst/>
            <a:cxnLst/>
            <a:rect l="l" t="t" r="r" b="b"/>
            <a:pathLst>
              <a:path w="10" h="10">
                <a:moveTo>
                  <a:pt x="10" y="5"/>
                </a:moveTo>
                <a:lnTo>
                  <a:pt x="0" y="0"/>
                </a:lnTo>
                <a:lnTo>
                  <a:pt x="0" y="10"/>
                </a:lnTo>
                <a:close/>
              </a:path>
            </a:pathLst>
          </a:custGeom>
          <a:solidFill>
            <a:srgbClr val="D08C2A"/>
          </a:solidFill>
          <a:ln w="9525">
            <a:solidFill>
              <a:srgbClr val="D08C2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5495925" y="2019300"/>
            <a:ext cx="12001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D08C2A"/>
                </a:solidFill>
                <a:latin typeface="Calibri"/>
              </a:rPr>
              <a:t>0 down / exit</a:t>
            </a:r>
          </a:p>
        </p:txBody>
      </p:sp>
      <p:sp>
        <p:nvSpPr>
          <p:cNvPr id="32" name="Rounded Rectangle 31"/>
          <p:cNvSpPr/>
          <p:nvPr/>
        </p:nvSpPr>
        <p:spPr>
          <a:xfrm>
            <a:off x="6772275" y="1390650"/>
            <a:ext cx="1905000" cy="876300"/>
          </a:xfrm>
          <a:prstGeom prst="roundRect">
            <a:avLst>
              <a:gd name="adj" fmla="val 4000"/>
            </a:avLst>
          </a:prstGeom>
          <a:solidFill>
            <a:srgbClr val="6FA8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TextBox 32"/>
          <p:cNvSpPr txBox="1"/>
          <p:nvPr/>
        </p:nvSpPr>
        <p:spPr>
          <a:xfrm>
            <a:off x="6772275" y="1447800"/>
            <a:ext cx="190500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Tier 3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6772275" y="1676400"/>
            <a:ext cx="190500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Emerging / local players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6810375" y="1828800"/>
            <a:ext cx="1828800" cy="4191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8753475" y="1466850"/>
            <a:ext cx="12001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E8C8C"/>
                </a:solidFill>
                <a:latin typeface="Calibri"/>
              </a:rPr>
              <a:t>2 up-tier (M&amp;A)</a:t>
            </a:r>
          </a:p>
        </p:txBody>
      </p:sp>
      <p:cxnSp>
        <p:nvCxnSpPr>
          <p:cNvPr id="37" name="Connector 36"/>
          <p:cNvCxnSpPr/>
          <p:nvPr/>
        </p:nvCxnSpPr>
        <p:spPr>
          <a:xfrm>
            <a:off x="8829675" y="1695450"/>
            <a:ext cx="1123950" cy="0"/>
          </a:xfrm>
          <a:prstGeom prst="line">
            <a:avLst/>
          </a:prstGeom>
          <a:ln w="25400">
            <a:solidFill>
              <a:srgbClr val="0E8C8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8" name="Freeform 37"/>
          <p:cNvSpPr/>
          <p:nvPr/>
        </p:nvSpPr>
        <p:spPr>
          <a:xfrm>
            <a:off x="8753475" y="1647825"/>
            <a:ext cx="95250" cy="95250"/>
          </a:xfrm>
          <a:custGeom>
            <a:avLst/>
            <a:gdLst/>
            <a:ahLst/>
            <a:cxnLst/>
            <a:rect l="l" t="t" r="r" b="b"/>
            <a:pathLst>
              <a:path w="10" h="10">
                <a:moveTo>
                  <a:pt x="0" y="5"/>
                </a:moveTo>
                <a:lnTo>
                  <a:pt x="10" y="0"/>
                </a:lnTo>
                <a:lnTo>
                  <a:pt x="10" y="10"/>
                </a:lnTo>
                <a:close/>
              </a:path>
            </a:pathLst>
          </a:custGeom>
          <a:solidFill>
            <a:srgbClr val="0E8C8C"/>
          </a:solidFill>
          <a:ln w="9525">
            <a:solidFill>
              <a:srgbClr val="0E8C8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39" name="Connector 38"/>
          <p:cNvCxnSpPr/>
          <p:nvPr/>
        </p:nvCxnSpPr>
        <p:spPr>
          <a:xfrm>
            <a:off x="8753475" y="1962150"/>
            <a:ext cx="1123950" cy="0"/>
          </a:xfrm>
          <a:prstGeom prst="line">
            <a:avLst/>
          </a:prstGeom>
          <a:ln w="25400">
            <a:solidFill>
              <a:srgbClr val="D08C2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0" name="Freeform 39"/>
          <p:cNvSpPr/>
          <p:nvPr/>
        </p:nvSpPr>
        <p:spPr>
          <a:xfrm>
            <a:off x="9858375" y="1914525"/>
            <a:ext cx="95250" cy="95250"/>
          </a:xfrm>
          <a:custGeom>
            <a:avLst/>
            <a:gdLst/>
            <a:ahLst/>
            <a:cxnLst/>
            <a:rect l="l" t="t" r="r" b="b"/>
            <a:pathLst>
              <a:path w="10" h="10">
                <a:moveTo>
                  <a:pt x="10" y="5"/>
                </a:moveTo>
                <a:lnTo>
                  <a:pt x="0" y="0"/>
                </a:lnTo>
                <a:lnTo>
                  <a:pt x="0" y="10"/>
                </a:lnTo>
                <a:close/>
              </a:path>
            </a:pathLst>
          </a:custGeom>
          <a:solidFill>
            <a:srgbClr val="D08C2A"/>
          </a:solidFill>
          <a:ln w="9525">
            <a:solidFill>
              <a:srgbClr val="D08C2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TextBox 40"/>
          <p:cNvSpPr txBox="1"/>
          <p:nvPr/>
        </p:nvSpPr>
        <p:spPr>
          <a:xfrm>
            <a:off x="8753475" y="2019300"/>
            <a:ext cx="12001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D08C2A"/>
                </a:solidFill>
                <a:latin typeface="Calibri"/>
              </a:rPr>
              <a:t>1 down / exit</a:t>
            </a:r>
          </a:p>
        </p:txBody>
      </p:sp>
      <p:sp>
        <p:nvSpPr>
          <p:cNvPr id="42" name="Rounded Rectangle 41"/>
          <p:cNvSpPr/>
          <p:nvPr/>
        </p:nvSpPr>
        <p:spPr>
          <a:xfrm>
            <a:off x="10029825" y="1390650"/>
            <a:ext cx="1905000" cy="876300"/>
          </a:xfrm>
          <a:prstGeom prst="roundRect">
            <a:avLst>
              <a:gd name="adj" fmla="val 4000"/>
            </a:avLst>
          </a:prstGeom>
          <a:solidFill>
            <a:srgbClr val="9FC5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10029825" y="1447800"/>
            <a:ext cx="190500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14213D"/>
                </a:solidFill>
                <a:latin typeface="Calibri"/>
              </a:rPr>
              <a:t>Others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10029825" y="1676400"/>
            <a:ext cx="190500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Long tail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10067925" y="1828800"/>
            <a:ext cx="1828800" cy="4191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/>
            </a:r>
          </a:p>
        </p:txBody>
      </p:sp>
      <p:sp>
        <p:nvSpPr>
          <p:cNvPr id="46" name="Rounded Rectangle 45"/>
          <p:cNvSpPr/>
          <p:nvPr/>
        </p:nvSpPr>
        <p:spPr>
          <a:xfrm>
            <a:off x="257175" y="2400300"/>
            <a:ext cx="2819400" cy="914400"/>
          </a:xfrm>
          <a:prstGeom prst="roundRect">
            <a:avLst>
              <a:gd name="adj" fmla="val 2702"/>
            </a:avLst>
          </a:pr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FMI KPI Value"/>
          <p:cNvSpPr txBox="1"/>
          <p:nvPr/>
        </p:nvSpPr>
        <p:spPr>
          <a:xfrm>
            <a:off x="352425" y="2457450"/>
            <a:ext cx="7620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1F3A6E"/>
                </a:solidFill>
                <a:latin typeface="Calibri"/>
              </a:rPr>
              <a:t> 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1190625" y="2457450"/>
            <a:ext cx="180975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New entrants 2026–2036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1190625" y="2800350"/>
            <a:ext cx="1809750" cy="3810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6B7280"/>
                </a:solidFill>
                <a:latin typeface="Calibri"/>
              </a:rPr>
              <a:t>scaling up from the long tail</a:t>
            </a:r>
          </a:p>
        </p:txBody>
      </p:sp>
      <p:sp>
        <p:nvSpPr>
          <p:cNvPr id="50" name="Rounded Rectangle 49"/>
          <p:cNvSpPr/>
          <p:nvPr/>
        </p:nvSpPr>
        <p:spPr>
          <a:xfrm>
            <a:off x="3209925" y="2400300"/>
            <a:ext cx="2819400" cy="914400"/>
          </a:xfrm>
          <a:prstGeom prst="roundRect">
            <a:avLst>
              <a:gd name="adj" fmla="val 2702"/>
            </a:avLst>
          </a:pr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FMI KPI Value"/>
          <p:cNvSpPr txBox="1"/>
          <p:nvPr/>
        </p:nvSpPr>
        <p:spPr>
          <a:xfrm>
            <a:off x="3305175" y="2457450"/>
            <a:ext cx="7620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1F3A6E"/>
                </a:solidFill>
                <a:latin typeface="Calibri"/>
              </a:rPr>
              <a:t> 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4143375" y="2457450"/>
            <a:ext cx="180975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Exits / acquisitions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4143375" y="2800350"/>
            <a:ext cx="1809750" cy="3810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6B7280"/>
                </a:solidFill>
                <a:latin typeface="Calibri"/>
              </a:rPr>
              <a:t>absorbed mainly by Tier 1–2 acquirers</a:t>
            </a:r>
          </a:p>
        </p:txBody>
      </p:sp>
      <p:sp>
        <p:nvSpPr>
          <p:cNvPr id="54" name="Rounded Rectangle 53"/>
          <p:cNvSpPr/>
          <p:nvPr/>
        </p:nvSpPr>
        <p:spPr>
          <a:xfrm>
            <a:off x="6162675" y="2400300"/>
            <a:ext cx="2819400" cy="914400"/>
          </a:xfrm>
          <a:prstGeom prst="roundRect">
            <a:avLst>
              <a:gd name="adj" fmla="val 2702"/>
            </a:avLst>
          </a:pr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FMI KPI Value"/>
          <p:cNvSpPr txBox="1"/>
          <p:nvPr/>
        </p:nvSpPr>
        <p:spPr>
          <a:xfrm>
            <a:off x="6257925" y="2457450"/>
            <a:ext cx="7620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1F3A6E"/>
                </a:solidFill>
                <a:latin typeface="Calibri"/>
              </a:rPr>
              <a:t> 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7096125" y="2457450"/>
            <a:ext cx="180975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Net change in player count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7096125" y="2800350"/>
            <a:ext cx="1809750" cy="3810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6B7280"/>
                </a:solidFill>
                <a:latin typeface="Calibri"/>
              </a:rPr>
              <a:t>Between 2026 and 2036</a:t>
            </a:r>
          </a:p>
        </p:txBody>
      </p:sp>
      <p:sp>
        <p:nvSpPr>
          <p:cNvPr id="58" name="Rounded Rectangle 57"/>
          <p:cNvSpPr/>
          <p:nvPr/>
        </p:nvSpPr>
        <p:spPr>
          <a:xfrm>
            <a:off x="9115425" y="2400300"/>
            <a:ext cx="2819400" cy="914400"/>
          </a:xfrm>
          <a:prstGeom prst="roundRect">
            <a:avLst>
              <a:gd name="adj" fmla="val 2702"/>
            </a:avLst>
          </a:pr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FMI KPI Value"/>
          <p:cNvSpPr txBox="1"/>
          <p:nvPr/>
        </p:nvSpPr>
        <p:spPr>
          <a:xfrm>
            <a:off x="9210675" y="2457450"/>
            <a:ext cx="7620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1F3A6E"/>
                </a:solidFill>
                <a:latin typeface="Calibri"/>
              </a:rPr>
              <a:t> 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10048875" y="2457450"/>
            <a:ext cx="180975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Share moving between tiers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10048875" y="2800350"/>
            <a:ext cx="1809750" cy="3810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6B7280"/>
                </a:solidFill>
                <a:latin typeface="Calibri"/>
              </a:rPr>
              <a:t>largest transfer: Others → Tier 2</a:t>
            </a:r>
          </a:p>
        </p:txBody>
      </p:sp>
      <p:sp>
        <p:nvSpPr>
          <p:cNvPr id="62" name="Rounded Rectangle 61"/>
          <p:cNvSpPr/>
          <p:nvPr/>
        </p:nvSpPr>
        <p:spPr>
          <a:xfrm>
            <a:off x="142875" y="3543300"/>
            <a:ext cx="7096125" cy="3086100"/>
          </a:xfrm>
          <a:prstGeom prst="roundRect">
            <a:avLst>
              <a:gd name="adj" fmla="val 107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TextBox 62"/>
          <p:cNvSpPr txBox="1"/>
          <p:nvPr/>
        </p:nvSpPr>
        <p:spPr>
          <a:xfrm>
            <a:off x="238125" y="3600450"/>
            <a:ext cx="6905625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200" b="1">
                <a:solidFill>
                  <a:srgbClr val="2E2E2E"/>
                </a:solidFill>
                <a:latin typeface="Calibri"/>
              </a:rPr>
              <a:t>Structural Forces Shaping the Tier Structure (1 = weak, 5 = strong)</a:t>
            </a:r>
          </a:p>
        </p:txBody>
      </p:sp>
      <p:sp>
        <p:nvSpPr>
          <p:cNvPr id="64" name="Rectangle 63"/>
          <p:cNvSpPr/>
          <p:nvPr/>
        </p:nvSpPr>
        <p:spPr>
          <a:xfrm>
            <a:off x="238125" y="3867150"/>
            <a:ext cx="1428750" cy="247650"/>
          </a:xfrm>
          <a:prstGeom prst="rect">
            <a:avLst/>
          </a:prstGeom>
          <a:solidFill>
            <a:srgbClr val="1F3A6E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TextBox 64"/>
          <p:cNvSpPr txBox="1"/>
          <p:nvPr/>
        </p:nvSpPr>
        <p:spPr>
          <a:xfrm>
            <a:off x="295275" y="3867150"/>
            <a:ext cx="135255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Force</a:t>
            </a:r>
          </a:p>
        </p:txBody>
      </p:sp>
      <p:sp>
        <p:nvSpPr>
          <p:cNvPr id="66" name="Rectangle 65"/>
          <p:cNvSpPr/>
          <p:nvPr/>
        </p:nvSpPr>
        <p:spPr>
          <a:xfrm>
            <a:off x="1666875" y="3867150"/>
            <a:ext cx="2333625" cy="247650"/>
          </a:xfrm>
          <a:prstGeom prst="rect">
            <a:avLst/>
          </a:prstGeom>
          <a:solidFill>
            <a:srgbClr val="1F3A6E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TextBox 66"/>
          <p:cNvSpPr txBox="1"/>
          <p:nvPr/>
        </p:nvSpPr>
        <p:spPr>
          <a:xfrm>
            <a:off x="1724025" y="3867150"/>
            <a:ext cx="2257425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Drivers in the market</a:t>
            </a:r>
          </a:p>
        </p:txBody>
      </p:sp>
      <p:sp>
        <p:nvSpPr>
          <p:cNvPr id="68" name="Rectangle 67"/>
          <p:cNvSpPr/>
          <p:nvPr/>
        </p:nvSpPr>
        <p:spPr>
          <a:xfrm>
            <a:off x="4000500" y="3867150"/>
            <a:ext cx="666750" cy="247650"/>
          </a:xfrm>
          <a:prstGeom prst="rect">
            <a:avLst/>
          </a:prstGeom>
          <a:solidFill>
            <a:srgbClr val="1F3A6E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TextBox 68"/>
          <p:cNvSpPr txBox="1"/>
          <p:nvPr/>
        </p:nvSpPr>
        <p:spPr>
          <a:xfrm>
            <a:off x="4057650" y="3867150"/>
            <a:ext cx="59055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Score</a:t>
            </a:r>
          </a:p>
        </p:txBody>
      </p:sp>
      <p:sp>
        <p:nvSpPr>
          <p:cNvPr id="70" name="Rectangle 69"/>
          <p:cNvSpPr/>
          <p:nvPr/>
        </p:nvSpPr>
        <p:spPr>
          <a:xfrm>
            <a:off x="4667250" y="3867150"/>
            <a:ext cx="2476500" cy="247650"/>
          </a:xfrm>
          <a:prstGeom prst="rect">
            <a:avLst/>
          </a:prstGeom>
          <a:solidFill>
            <a:srgbClr val="0E8C8C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TextBox 70"/>
          <p:cNvSpPr txBox="1"/>
          <p:nvPr/>
        </p:nvSpPr>
        <p:spPr>
          <a:xfrm>
            <a:off x="4724400" y="3867150"/>
            <a:ext cx="240030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Effect on tier structure</a:t>
            </a:r>
          </a:p>
        </p:txBody>
      </p:sp>
      <p:sp>
        <p:nvSpPr>
          <p:cNvPr id="72" name="Rectangle 71"/>
          <p:cNvSpPr/>
          <p:nvPr/>
        </p:nvSpPr>
        <p:spPr>
          <a:xfrm>
            <a:off x="238125" y="4114800"/>
            <a:ext cx="1428750" cy="409575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TextBox 72"/>
          <p:cNvSpPr txBox="1"/>
          <p:nvPr/>
        </p:nvSpPr>
        <p:spPr>
          <a:xfrm>
            <a:off x="295275" y="4114800"/>
            <a:ext cx="1333500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Entry barriers</a:t>
            </a:r>
          </a:p>
        </p:txBody>
      </p:sp>
      <p:sp>
        <p:nvSpPr>
          <p:cNvPr id="74" name="Rectangle 73"/>
          <p:cNvSpPr/>
          <p:nvPr/>
        </p:nvSpPr>
        <p:spPr>
          <a:xfrm>
            <a:off x="1666875" y="4114800"/>
            <a:ext cx="2333625" cy="409575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TextBox 74"/>
          <p:cNvSpPr txBox="1"/>
          <p:nvPr/>
        </p:nvSpPr>
        <p:spPr>
          <a:xfrm>
            <a:off x="1724025" y="4114800"/>
            <a:ext cx="2238375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Certification, qualification, scale economics</a:t>
            </a:r>
          </a:p>
        </p:txBody>
      </p:sp>
      <p:sp>
        <p:nvSpPr>
          <p:cNvPr id="76" name="Rectangle 75"/>
          <p:cNvSpPr/>
          <p:nvPr/>
        </p:nvSpPr>
        <p:spPr>
          <a:xfrm>
            <a:off x="4000500" y="4114800"/>
            <a:ext cx="666750" cy="409575"/>
          </a:xfrm>
          <a:prstGeom prst="rect">
            <a:avLst/>
          </a:prstGeom>
          <a:solidFill>
            <a:srgbClr val="E0F3F3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TextBox 76"/>
          <p:cNvSpPr txBox="1"/>
          <p:nvPr/>
        </p:nvSpPr>
        <p:spPr>
          <a:xfrm>
            <a:off x="4057650" y="4114800"/>
            <a:ext cx="571500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78" name="Rectangle 77"/>
          <p:cNvSpPr/>
          <p:nvPr/>
        </p:nvSpPr>
        <p:spPr>
          <a:xfrm>
            <a:off x="4667250" y="4114800"/>
            <a:ext cx="2476500" cy="409575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TextBox 78"/>
          <p:cNvSpPr txBox="1"/>
          <p:nvPr/>
        </p:nvSpPr>
        <p:spPr>
          <a:xfrm>
            <a:off x="4724400" y="4114800"/>
            <a:ext cx="2381250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Protects Tier 1–2; slows new entry</a:t>
            </a:r>
          </a:p>
        </p:txBody>
      </p:sp>
      <p:sp>
        <p:nvSpPr>
          <p:cNvPr id="80" name="Rectangle 79"/>
          <p:cNvSpPr/>
          <p:nvPr/>
        </p:nvSpPr>
        <p:spPr>
          <a:xfrm>
            <a:off x="238125" y="4524375"/>
            <a:ext cx="1428750" cy="409575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TextBox 80"/>
          <p:cNvSpPr txBox="1"/>
          <p:nvPr/>
        </p:nvSpPr>
        <p:spPr>
          <a:xfrm>
            <a:off x="295275" y="4524375"/>
            <a:ext cx="1333500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Buyer power</a:t>
            </a:r>
          </a:p>
        </p:txBody>
      </p:sp>
      <p:sp>
        <p:nvSpPr>
          <p:cNvPr id="82" name="Rectangle 81"/>
          <p:cNvSpPr/>
          <p:nvPr/>
        </p:nvSpPr>
        <p:spPr>
          <a:xfrm>
            <a:off x="1666875" y="4524375"/>
            <a:ext cx="2333625" cy="409575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TextBox 82"/>
          <p:cNvSpPr txBox="1"/>
          <p:nvPr/>
        </p:nvSpPr>
        <p:spPr>
          <a:xfrm>
            <a:off x="1724025" y="4524375"/>
            <a:ext cx="2238375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Key-account purchasing, multi-year supply contracts</a:t>
            </a:r>
          </a:p>
        </p:txBody>
      </p:sp>
      <p:sp>
        <p:nvSpPr>
          <p:cNvPr id="84" name="Rectangle 83"/>
          <p:cNvSpPr/>
          <p:nvPr/>
        </p:nvSpPr>
        <p:spPr>
          <a:xfrm>
            <a:off x="4000500" y="4524375"/>
            <a:ext cx="666750" cy="409575"/>
          </a:xfrm>
          <a:prstGeom prst="rect">
            <a:avLst/>
          </a:prstGeom>
          <a:solidFill>
            <a:srgbClr val="E0F3F3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TextBox 84"/>
          <p:cNvSpPr txBox="1"/>
          <p:nvPr/>
        </p:nvSpPr>
        <p:spPr>
          <a:xfrm>
            <a:off x="4057650" y="4524375"/>
            <a:ext cx="571500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86" name="Rectangle 85"/>
          <p:cNvSpPr/>
          <p:nvPr/>
        </p:nvSpPr>
        <p:spPr>
          <a:xfrm>
            <a:off x="4667250" y="4524375"/>
            <a:ext cx="2476500" cy="409575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TextBox 86"/>
          <p:cNvSpPr txBox="1"/>
          <p:nvPr/>
        </p:nvSpPr>
        <p:spPr>
          <a:xfrm>
            <a:off x="4724400" y="4524375"/>
            <a:ext cx="2381250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Compresses Tier 3 pricing</a:t>
            </a:r>
          </a:p>
        </p:txBody>
      </p:sp>
      <p:sp>
        <p:nvSpPr>
          <p:cNvPr id="88" name="Rectangle 87"/>
          <p:cNvSpPr/>
          <p:nvPr/>
        </p:nvSpPr>
        <p:spPr>
          <a:xfrm>
            <a:off x="238125" y="4933950"/>
            <a:ext cx="1428750" cy="409575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TextBox 88"/>
          <p:cNvSpPr txBox="1"/>
          <p:nvPr/>
        </p:nvSpPr>
        <p:spPr>
          <a:xfrm>
            <a:off x="295275" y="4933950"/>
            <a:ext cx="1333500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Switching costs</a:t>
            </a:r>
          </a:p>
        </p:txBody>
      </p:sp>
      <p:sp>
        <p:nvSpPr>
          <p:cNvPr id="90" name="Rectangle 89"/>
          <p:cNvSpPr/>
          <p:nvPr/>
        </p:nvSpPr>
        <p:spPr>
          <a:xfrm>
            <a:off x="1666875" y="4933950"/>
            <a:ext cx="2333625" cy="409575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TextBox 90"/>
          <p:cNvSpPr txBox="1"/>
          <p:nvPr/>
        </p:nvSpPr>
        <p:spPr>
          <a:xfrm>
            <a:off x="1724025" y="4933950"/>
            <a:ext cx="2238375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Requalification, integration and retraining</a:t>
            </a:r>
          </a:p>
        </p:txBody>
      </p:sp>
      <p:sp>
        <p:nvSpPr>
          <p:cNvPr id="92" name="Rectangle 91"/>
          <p:cNvSpPr/>
          <p:nvPr/>
        </p:nvSpPr>
        <p:spPr>
          <a:xfrm>
            <a:off x="4000500" y="4933950"/>
            <a:ext cx="666750" cy="409575"/>
          </a:xfrm>
          <a:prstGeom prst="rect">
            <a:avLst/>
          </a:prstGeom>
          <a:solidFill>
            <a:srgbClr val="E0F3F3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TextBox 92"/>
          <p:cNvSpPr txBox="1"/>
          <p:nvPr/>
        </p:nvSpPr>
        <p:spPr>
          <a:xfrm>
            <a:off x="4057650" y="4933950"/>
            <a:ext cx="571500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94" name="Rectangle 93"/>
          <p:cNvSpPr/>
          <p:nvPr/>
        </p:nvSpPr>
        <p:spPr>
          <a:xfrm>
            <a:off x="4667250" y="4933950"/>
            <a:ext cx="2476500" cy="409575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TextBox 94"/>
          <p:cNvSpPr txBox="1"/>
          <p:nvPr/>
        </p:nvSpPr>
        <p:spPr>
          <a:xfrm>
            <a:off x="4724400" y="4933950"/>
            <a:ext cx="2381250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Locks in the installed base</a:t>
            </a:r>
          </a:p>
        </p:txBody>
      </p:sp>
      <p:sp>
        <p:nvSpPr>
          <p:cNvPr id="96" name="Rectangle 95"/>
          <p:cNvSpPr/>
          <p:nvPr/>
        </p:nvSpPr>
        <p:spPr>
          <a:xfrm>
            <a:off x="238125" y="5343525"/>
            <a:ext cx="1428750" cy="409575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TextBox 96"/>
          <p:cNvSpPr txBox="1"/>
          <p:nvPr/>
        </p:nvSpPr>
        <p:spPr>
          <a:xfrm>
            <a:off x="295275" y="5343525"/>
            <a:ext cx="1333500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Technology substitution</a:t>
            </a:r>
          </a:p>
        </p:txBody>
      </p:sp>
      <p:sp>
        <p:nvSpPr>
          <p:cNvPr id="98" name="Rectangle 97"/>
          <p:cNvSpPr/>
          <p:nvPr/>
        </p:nvSpPr>
        <p:spPr>
          <a:xfrm>
            <a:off x="1666875" y="5343525"/>
            <a:ext cx="2333625" cy="409575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TextBox 98"/>
          <p:cNvSpPr txBox="1"/>
          <p:nvPr/>
        </p:nvSpPr>
        <p:spPr>
          <a:xfrm>
            <a:off x="1724025" y="5343525"/>
            <a:ext cx="2238375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Alternative materials and next-generation formats</a:t>
            </a:r>
          </a:p>
        </p:txBody>
      </p:sp>
      <p:sp>
        <p:nvSpPr>
          <p:cNvPr id="100" name="Rectangle 99"/>
          <p:cNvSpPr/>
          <p:nvPr/>
        </p:nvSpPr>
        <p:spPr>
          <a:xfrm>
            <a:off x="4000500" y="5343525"/>
            <a:ext cx="666750" cy="409575"/>
          </a:xfrm>
          <a:prstGeom prst="rect">
            <a:avLst/>
          </a:prstGeom>
          <a:solidFill>
            <a:srgbClr val="E0F3F3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TextBox 100"/>
          <p:cNvSpPr txBox="1"/>
          <p:nvPr/>
        </p:nvSpPr>
        <p:spPr>
          <a:xfrm>
            <a:off x="4057650" y="5343525"/>
            <a:ext cx="571500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02" name="Rectangle 101"/>
          <p:cNvSpPr/>
          <p:nvPr/>
        </p:nvSpPr>
        <p:spPr>
          <a:xfrm>
            <a:off x="4667250" y="5343525"/>
            <a:ext cx="2476500" cy="409575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TextBox 102"/>
          <p:cNvSpPr txBox="1"/>
          <p:nvPr/>
        </p:nvSpPr>
        <p:spPr>
          <a:xfrm>
            <a:off x="4724400" y="5343525"/>
            <a:ext cx="2381250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Opens demand to Tier 2–3 innovators</a:t>
            </a:r>
          </a:p>
        </p:txBody>
      </p:sp>
      <p:sp>
        <p:nvSpPr>
          <p:cNvPr id="104" name="Rectangle 103"/>
          <p:cNvSpPr/>
          <p:nvPr/>
        </p:nvSpPr>
        <p:spPr>
          <a:xfrm>
            <a:off x="238125" y="5753100"/>
            <a:ext cx="1428750" cy="409575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TextBox 104"/>
          <p:cNvSpPr txBox="1"/>
          <p:nvPr/>
        </p:nvSpPr>
        <p:spPr>
          <a:xfrm>
            <a:off x="295275" y="5753100"/>
            <a:ext cx="1333500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Supplier power</a:t>
            </a:r>
          </a:p>
        </p:txBody>
      </p:sp>
      <p:sp>
        <p:nvSpPr>
          <p:cNvPr id="106" name="Rectangle 105"/>
          <p:cNvSpPr/>
          <p:nvPr/>
        </p:nvSpPr>
        <p:spPr>
          <a:xfrm>
            <a:off x="1666875" y="5753100"/>
            <a:ext cx="2333625" cy="409575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TextBox 106"/>
          <p:cNvSpPr txBox="1"/>
          <p:nvPr/>
        </p:nvSpPr>
        <p:spPr>
          <a:xfrm>
            <a:off x="1724025" y="5753100"/>
            <a:ext cx="2238375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Few qualified input and component suppliers</a:t>
            </a:r>
          </a:p>
        </p:txBody>
      </p:sp>
      <p:sp>
        <p:nvSpPr>
          <p:cNvPr id="108" name="Rectangle 107"/>
          <p:cNvSpPr/>
          <p:nvPr/>
        </p:nvSpPr>
        <p:spPr>
          <a:xfrm>
            <a:off x="4000500" y="5753100"/>
            <a:ext cx="666750" cy="409575"/>
          </a:xfrm>
          <a:prstGeom prst="rect">
            <a:avLst/>
          </a:prstGeom>
          <a:solidFill>
            <a:srgbClr val="E0F3F3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TextBox 108"/>
          <p:cNvSpPr txBox="1"/>
          <p:nvPr/>
        </p:nvSpPr>
        <p:spPr>
          <a:xfrm>
            <a:off x="4057650" y="5753100"/>
            <a:ext cx="571500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10" name="Rectangle 109"/>
          <p:cNvSpPr/>
          <p:nvPr/>
        </p:nvSpPr>
        <p:spPr>
          <a:xfrm>
            <a:off x="4667250" y="5753100"/>
            <a:ext cx="2476500" cy="409575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TextBox 110"/>
          <p:cNvSpPr txBox="1"/>
          <p:nvPr/>
        </p:nvSpPr>
        <p:spPr>
          <a:xfrm>
            <a:off x="4724400" y="5753100"/>
            <a:ext cx="2381250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Raises input cost for sub-scale players</a:t>
            </a:r>
          </a:p>
        </p:txBody>
      </p:sp>
      <p:sp>
        <p:nvSpPr>
          <p:cNvPr id="112" name="Rectangle 111"/>
          <p:cNvSpPr/>
          <p:nvPr/>
        </p:nvSpPr>
        <p:spPr>
          <a:xfrm>
            <a:off x="238125" y="6162675"/>
            <a:ext cx="1428750" cy="409575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TextBox 112"/>
          <p:cNvSpPr txBox="1"/>
          <p:nvPr/>
        </p:nvSpPr>
        <p:spPr>
          <a:xfrm>
            <a:off x="295275" y="6162675"/>
            <a:ext cx="1333500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Overall structural pressure</a:t>
            </a:r>
          </a:p>
        </p:txBody>
      </p:sp>
      <p:sp>
        <p:nvSpPr>
          <p:cNvPr id="114" name="Rectangle 113"/>
          <p:cNvSpPr/>
          <p:nvPr/>
        </p:nvSpPr>
        <p:spPr>
          <a:xfrm>
            <a:off x="1666875" y="6162675"/>
            <a:ext cx="2333625" cy="409575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TextBox 114"/>
          <p:cNvSpPr txBox="1"/>
          <p:nvPr/>
        </p:nvSpPr>
        <p:spPr>
          <a:xfrm>
            <a:off x="1724025" y="6162675"/>
            <a:ext cx="2238375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Average of the five forces</a:t>
            </a:r>
          </a:p>
        </p:txBody>
      </p:sp>
      <p:sp>
        <p:nvSpPr>
          <p:cNvPr id="116" name="Rectangle 115"/>
          <p:cNvSpPr/>
          <p:nvPr/>
        </p:nvSpPr>
        <p:spPr>
          <a:xfrm>
            <a:off x="4000500" y="6162675"/>
            <a:ext cx="666750" cy="409575"/>
          </a:xfrm>
          <a:prstGeom prst="rect">
            <a:avLst/>
          </a:prstGeom>
          <a:solidFill>
            <a:srgbClr val="E0F3F3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TextBox 116"/>
          <p:cNvSpPr txBox="1"/>
          <p:nvPr/>
        </p:nvSpPr>
        <p:spPr>
          <a:xfrm>
            <a:off x="4057650" y="6162675"/>
            <a:ext cx="571500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18" name="Rectangle 117"/>
          <p:cNvSpPr/>
          <p:nvPr/>
        </p:nvSpPr>
        <p:spPr>
          <a:xfrm>
            <a:off x="4667250" y="6162675"/>
            <a:ext cx="2476500" cy="409575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TextBox 118"/>
          <p:cNvSpPr txBox="1"/>
          <p:nvPr/>
        </p:nvSpPr>
        <p:spPr>
          <a:xfrm>
            <a:off x="4724400" y="6162675"/>
            <a:ext cx="2381250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Consolidation towards Tier 1–2</a:t>
            </a:r>
          </a:p>
        </p:txBody>
      </p:sp>
      <p:sp>
        <p:nvSpPr>
          <p:cNvPr id="120" name="Rounded Rectangle 119"/>
          <p:cNvSpPr/>
          <p:nvPr/>
        </p:nvSpPr>
        <p:spPr>
          <a:xfrm>
            <a:off x="7381875" y="3543300"/>
            <a:ext cx="4667250" cy="3086100"/>
          </a:xfrm>
          <a:prstGeom prst="roundRect">
            <a:avLst>
              <a:gd name="adj" fmla="val 163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TextBox 120"/>
          <p:cNvSpPr txBox="1"/>
          <p:nvPr/>
        </p:nvSpPr>
        <p:spPr>
          <a:xfrm>
            <a:off x="7477125" y="3600450"/>
            <a:ext cx="447675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200" b="1">
                <a:solidFill>
                  <a:srgbClr val="2E2E2E"/>
                </a:solidFill>
                <a:latin typeface="Calibri"/>
              </a:rPr>
              <a:t>Key Takeaways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7496175" y="3848100"/>
            <a:ext cx="114300" cy="161925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1">
                <a:solidFill>
                  <a:srgbClr val="0E72AE"/>
                </a:solidFill>
                <a:latin typeface="Calibri"/>
              </a:rPr>
              <a:t>•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7629525" y="3848100"/>
            <a:ext cx="4305300" cy="695325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/>
            </a:r>
          </a:p>
        </p:txBody>
      </p:sp>
      <p:sp>
        <p:nvSpPr>
          <p:cNvPr id="124" name="TextBox 123"/>
          <p:cNvSpPr txBox="1"/>
          <p:nvPr/>
        </p:nvSpPr>
        <p:spPr>
          <a:xfrm>
            <a:off x="7496175" y="4429125"/>
            <a:ext cx="114300" cy="161925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1">
                <a:solidFill>
                  <a:srgbClr val="0E72AE"/>
                </a:solidFill>
                <a:latin typeface="Calibri"/>
              </a:rPr>
              <a:t>•</a:t>
            </a:r>
          </a:p>
        </p:txBody>
      </p:sp>
      <p:sp>
        <p:nvSpPr>
          <p:cNvPr id="125" name="TextBox 124"/>
          <p:cNvSpPr txBox="1"/>
          <p:nvPr/>
        </p:nvSpPr>
        <p:spPr>
          <a:xfrm>
            <a:off x="7629525" y="4429125"/>
            <a:ext cx="4305300" cy="695325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1 Tier 2 player is positioned to move up-tier by 2036 through M&amp;A and key-account wins – the main structural change of the decade.</a:t>
            </a:r>
          </a:p>
        </p:txBody>
      </p:sp>
      <p:sp>
        <p:nvSpPr>
          <p:cNvPr id="126" name="TextBox 125"/>
          <p:cNvSpPr txBox="1"/>
          <p:nvPr/>
        </p:nvSpPr>
        <p:spPr>
          <a:xfrm>
            <a:off x="7496175" y="5010150"/>
            <a:ext cx="114300" cy="161925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1">
                <a:solidFill>
                  <a:srgbClr val="0E72AE"/>
                </a:solidFill>
                <a:latin typeface="Calibri"/>
              </a:rPr>
              <a:t>•</a:t>
            </a:r>
          </a:p>
        </p:txBody>
      </p:sp>
      <p:sp>
        <p:nvSpPr>
          <p:cNvPr id="127" name="TextBox 126"/>
          <p:cNvSpPr txBox="1"/>
          <p:nvPr/>
        </p:nvSpPr>
        <p:spPr>
          <a:xfrm>
            <a:off x="7629525" y="5010150"/>
            <a:ext cx="4305300" cy="533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/>
            </a:r>
          </a:p>
        </p:txBody>
      </p:sp>
      <p:sp>
        <p:nvSpPr>
          <p:cNvPr id="128" name="TextBox 127"/>
          <p:cNvSpPr txBox="1"/>
          <p:nvPr/>
        </p:nvSpPr>
        <p:spPr>
          <a:xfrm>
            <a:off x="7496175" y="5429250"/>
            <a:ext cx="114300" cy="161925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1">
                <a:solidFill>
                  <a:srgbClr val="0E72AE"/>
                </a:solidFill>
                <a:latin typeface="Calibri"/>
              </a:rPr>
              <a:t>•</a:t>
            </a:r>
          </a:p>
        </p:txBody>
      </p:sp>
      <p:sp>
        <p:nvSpPr>
          <p:cNvPr id="129" name="TextBox 128"/>
          <p:cNvSpPr txBox="1"/>
          <p:nvPr/>
        </p:nvSpPr>
        <p:spPr>
          <a:xfrm>
            <a:off x="7629525" y="5429250"/>
            <a:ext cx="4305300" cy="533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Entry barriers (4 / 5) and buyer power (4 / 5) are the dominant forces shaping the tier structure.</a:t>
            </a:r>
          </a:p>
        </p:txBody>
      </p:sp>
      <p:sp>
        <p:nvSpPr>
          <p:cNvPr id="130" name="TextBox 12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31" name="Picture 13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4726" y="2545080"/>
            <a:ext cx="257397" cy="374396"/>
          </a:xfrm>
          <a:prstGeom prst="rect">
            <a:avLst/>
          </a:prstGeom>
        </p:spPr>
      </p:pic>
      <p:pic>
        <p:nvPicPr>
          <p:cNvPr id="132" name="Picture 1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57476" y="2545080"/>
            <a:ext cx="257397" cy="374396"/>
          </a:xfrm>
          <a:prstGeom prst="rect">
            <a:avLst/>
          </a:prstGeom>
        </p:spPr>
      </p:pic>
      <p:pic>
        <p:nvPicPr>
          <p:cNvPr id="133" name="Picture 13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10226" y="2545080"/>
            <a:ext cx="257397" cy="374396"/>
          </a:xfrm>
          <a:prstGeom prst="rect">
            <a:avLst/>
          </a:prstGeom>
        </p:spPr>
      </p:pic>
      <p:pic>
        <p:nvPicPr>
          <p:cNvPr id="134" name="Picture 13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462976" y="2545080"/>
            <a:ext cx="257397" cy="374396"/>
          </a:xfrm>
          <a:prstGeom prst="rect">
            <a:avLst/>
          </a:prstGeom>
        </p:spPr>
      </p:pic>
      <p:pic>
        <p:nvPicPr>
          <p:cNvPr id="135" name="Picture 1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79050" y="4225988"/>
            <a:ext cx="128699" cy="187198"/>
          </a:xfrm>
          <a:prstGeom prst="rect">
            <a:avLst/>
          </a:prstGeom>
        </p:spPr>
      </p:pic>
      <p:pic>
        <p:nvPicPr>
          <p:cNvPr id="136" name="Picture 1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79050" y="4635563"/>
            <a:ext cx="128699" cy="187198"/>
          </a:xfrm>
          <a:prstGeom prst="rect">
            <a:avLst/>
          </a:prstGeom>
        </p:spPr>
      </p:pic>
      <p:pic>
        <p:nvPicPr>
          <p:cNvPr id="137" name="Picture 1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79050" y="5045138"/>
            <a:ext cx="128699" cy="187198"/>
          </a:xfrm>
          <a:prstGeom prst="rect">
            <a:avLst/>
          </a:prstGeom>
        </p:spPr>
      </p:pic>
      <p:pic>
        <p:nvPicPr>
          <p:cNvPr id="138" name="Picture 13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79050" y="5454713"/>
            <a:ext cx="128699" cy="187198"/>
          </a:xfrm>
          <a:prstGeom prst="rect">
            <a:avLst/>
          </a:prstGeom>
        </p:spPr>
      </p:pic>
      <p:pic>
        <p:nvPicPr>
          <p:cNvPr id="139" name="Picture 13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79050" y="5864288"/>
            <a:ext cx="128699" cy="187198"/>
          </a:xfrm>
          <a:prstGeom prst="rect">
            <a:avLst/>
          </a:prstGeom>
        </p:spPr>
      </p:pic>
      <p:pic>
        <p:nvPicPr>
          <p:cNvPr id="140" name="Picture 13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79050" y="6273863"/>
            <a:ext cx="128699" cy="187198"/>
          </a:xfrm>
          <a:prstGeom prst="rect">
            <a:avLst/>
          </a:prstGeom>
        </p:spPr>
      </p:pic>
      <p:sp>
        <p:nvSpPr>
          <p:cNvPr id="141" name="TextBox 140"/>
          <p:cNvSpPr txBox="1"/>
          <p:nvPr/>
        </p:nvSpPr>
        <p:spPr>
          <a:xfrm>
            <a:off x="547018" y="1870710"/>
            <a:ext cx="92913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FFFFFF"/>
                </a:solidFill>
                <a:latin typeface="Calibri"/>
              </a:rPr>
              <a:t>4 → 5 players ·</a:t>
            </a:r>
          </a:p>
        </p:txBody>
      </p:sp>
      <p:pic>
        <p:nvPicPr>
          <p:cNvPr id="142" name="Picture 14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424204" y="1860931"/>
            <a:ext cx="128699" cy="187198"/>
          </a:xfrm>
          <a:prstGeom prst="rect">
            <a:avLst/>
          </a:prstGeom>
        </p:spPr>
      </p:pic>
      <p:sp>
        <p:nvSpPr>
          <p:cNvPr id="143" name="TextBox 142"/>
          <p:cNvSpPr txBox="1"/>
          <p:nvPr/>
        </p:nvSpPr>
        <p:spPr>
          <a:xfrm>
            <a:off x="1591699" y="1870710"/>
            <a:ext cx="20280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FFFFFF"/>
                </a:solidFill>
                <a:latin typeface="Calibri"/>
              </a:rPr>
              <a:t>→</a:t>
            </a:r>
          </a:p>
        </p:txBody>
      </p:sp>
      <p:pic>
        <p:nvPicPr>
          <p:cNvPr id="144" name="Picture 14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42554" y="1860931"/>
            <a:ext cx="128699" cy="187198"/>
          </a:xfrm>
          <a:prstGeom prst="rect">
            <a:avLst/>
          </a:prstGeom>
        </p:spPr>
      </p:pic>
      <p:sp>
        <p:nvSpPr>
          <p:cNvPr id="145" name="TextBox 144"/>
          <p:cNvSpPr txBox="1"/>
          <p:nvPr/>
        </p:nvSpPr>
        <p:spPr>
          <a:xfrm>
            <a:off x="1049783" y="2038350"/>
            <a:ext cx="39598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FFFFFF"/>
                </a:solidFill>
                <a:latin typeface="Calibri"/>
              </a:rPr>
              <a:t>share</a:t>
            </a:r>
          </a:p>
        </p:txBody>
      </p:sp>
      <p:sp>
        <p:nvSpPr>
          <p:cNvPr id="146" name="TextBox 145"/>
          <p:cNvSpPr txBox="1"/>
          <p:nvPr/>
        </p:nvSpPr>
        <p:spPr>
          <a:xfrm>
            <a:off x="3804568" y="1870710"/>
            <a:ext cx="92913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FFFFFF"/>
                </a:solidFill>
                <a:latin typeface="Calibri"/>
              </a:rPr>
              <a:t>2 → 2 players ·</a:t>
            </a:r>
          </a:p>
        </p:txBody>
      </p:sp>
      <p:pic>
        <p:nvPicPr>
          <p:cNvPr id="147" name="Picture 14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81754" y="1860931"/>
            <a:ext cx="128699" cy="187198"/>
          </a:xfrm>
          <a:prstGeom prst="rect">
            <a:avLst/>
          </a:prstGeom>
        </p:spPr>
      </p:pic>
      <p:sp>
        <p:nvSpPr>
          <p:cNvPr id="148" name="TextBox 147"/>
          <p:cNvSpPr txBox="1"/>
          <p:nvPr/>
        </p:nvSpPr>
        <p:spPr>
          <a:xfrm>
            <a:off x="4849249" y="1870710"/>
            <a:ext cx="20280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FFFFFF"/>
                </a:solidFill>
                <a:latin typeface="Calibri"/>
              </a:rPr>
              <a:t>→</a:t>
            </a:r>
          </a:p>
        </p:txBody>
      </p:sp>
      <p:pic>
        <p:nvPicPr>
          <p:cNvPr id="149" name="Picture 14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000104" y="1860931"/>
            <a:ext cx="128699" cy="187198"/>
          </a:xfrm>
          <a:prstGeom prst="rect">
            <a:avLst/>
          </a:prstGeom>
        </p:spPr>
      </p:pic>
      <p:sp>
        <p:nvSpPr>
          <p:cNvPr id="150" name="TextBox 149"/>
          <p:cNvSpPr txBox="1"/>
          <p:nvPr/>
        </p:nvSpPr>
        <p:spPr>
          <a:xfrm>
            <a:off x="4307333" y="2038350"/>
            <a:ext cx="39598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FFFFFF"/>
                </a:solidFill>
                <a:latin typeface="Calibri"/>
              </a:rPr>
              <a:t>share</a:t>
            </a:r>
          </a:p>
        </p:txBody>
      </p:sp>
      <p:sp>
        <p:nvSpPr>
          <p:cNvPr id="151" name="TextBox 150"/>
          <p:cNvSpPr txBox="1"/>
          <p:nvPr/>
        </p:nvSpPr>
        <p:spPr>
          <a:xfrm>
            <a:off x="7062118" y="1870710"/>
            <a:ext cx="92913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FFFFFF"/>
                </a:solidFill>
                <a:latin typeface="Calibri"/>
              </a:rPr>
              <a:t>4 → 4 players ·</a:t>
            </a:r>
          </a:p>
        </p:txBody>
      </p:sp>
      <p:pic>
        <p:nvPicPr>
          <p:cNvPr id="152" name="Picture 15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939304" y="1860931"/>
            <a:ext cx="128699" cy="187198"/>
          </a:xfrm>
          <a:prstGeom prst="rect">
            <a:avLst/>
          </a:prstGeom>
        </p:spPr>
      </p:pic>
      <p:sp>
        <p:nvSpPr>
          <p:cNvPr id="153" name="TextBox 152"/>
          <p:cNvSpPr txBox="1"/>
          <p:nvPr/>
        </p:nvSpPr>
        <p:spPr>
          <a:xfrm>
            <a:off x="8106799" y="1870710"/>
            <a:ext cx="20280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FFFFFF"/>
                </a:solidFill>
                <a:latin typeface="Calibri"/>
              </a:rPr>
              <a:t>→</a:t>
            </a:r>
          </a:p>
        </p:txBody>
      </p:sp>
      <p:pic>
        <p:nvPicPr>
          <p:cNvPr id="154" name="Picture 15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257654" y="1860931"/>
            <a:ext cx="128699" cy="187198"/>
          </a:xfrm>
          <a:prstGeom prst="rect">
            <a:avLst/>
          </a:prstGeom>
        </p:spPr>
      </p:pic>
      <p:sp>
        <p:nvSpPr>
          <p:cNvPr id="155" name="TextBox 154"/>
          <p:cNvSpPr txBox="1"/>
          <p:nvPr/>
        </p:nvSpPr>
        <p:spPr>
          <a:xfrm>
            <a:off x="7564883" y="2038350"/>
            <a:ext cx="39598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FFFFFF"/>
                </a:solidFill>
                <a:latin typeface="Calibri"/>
              </a:rPr>
              <a:t>share</a:t>
            </a:r>
          </a:p>
        </p:txBody>
      </p:sp>
      <p:sp>
        <p:nvSpPr>
          <p:cNvPr id="156" name="TextBox 155"/>
          <p:cNvSpPr txBox="1"/>
          <p:nvPr/>
        </p:nvSpPr>
        <p:spPr>
          <a:xfrm>
            <a:off x="10286075" y="1954530"/>
            <a:ext cx="63881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14213D"/>
                </a:solidFill>
                <a:latin typeface="Calibri"/>
              </a:rPr>
              <a:t>Long tail ·</a:t>
            </a:r>
          </a:p>
        </p:txBody>
      </p:sp>
      <p:pic>
        <p:nvPicPr>
          <p:cNvPr id="157" name="Picture 15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872946" y="1944751"/>
            <a:ext cx="128699" cy="187198"/>
          </a:xfrm>
          <a:prstGeom prst="rect">
            <a:avLst/>
          </a:prstGeom>
        </p:spPr>
      </p:pic>
      <p:sp>
        <p:nvSpPr>
          <p:cNvPr id="158" name="TextBox 157"/>
          <p:cNvSpPr txBox="1"/>
          <p:nvPr/>
        </p:nvSpPr>
        <p:spPr>
          <a:xfrm>
            <a:off x="11040442" y="1954530"/>
            <a:ext cx="20280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14213D"/>
                </a:solidFill>
                <a:latin typeface="Calibri"/>
              </a:rPr>
              <a:t>→</a:t>
            </a:r>
          </a:p>
        </p:txBody>
      </p:sp>
      <p:pic>
        <p:nvPicPr>
          <p:cNvPr id="159" name="Picture 15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191297" y="1944751"/>
            <a:ext cx="128699" cy="187198"/>
          </a:xfrm>
          <a:prstGeom prst="rect">
            <a:avLst/>
          </a:prstGeom>
        </p:spPr>
      </p:pic>
      <p:sp>
        <p:nvSpPr>
          <p:cNvPr id="160" name="TextBox 159"/>
          <p:cNvSpPr txBox="1"/>
          <p:nvPr/>
        </p:nvSpPr>
        <p:spPr>
          <a:xfrm>
            <a:off x="11358792" y="1954530"/>
            <a:ext cx="39598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14213D"/>
                </a:solidFill>
                <a:latin typeface="Calibri"/>
              </a:rPr>
              <a:t>share</a:t>
            </a:r>
          </a:p>
        </p:txBody>
      </p:sp>
      <p:sp>
        <p:nvSpPr>
          <p:cNvPr id="161" name="TextBox 160"/>
          <p:cNvSpPr txBox="1"/>
          <p:nvPr/>
        </p:nvSpPr>
        <p:spPr>
          <a:xfrm>
            <a:off x="7658100" y="3857625"/>
            <a:ext cx="182817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The market is fragmented (HHI</a:t>
            </a:r>
          </a:p>
        </p:txBody>
      </p:sp>
      <p:pic>
        <p:nvPicPr>
          <p:cNvPr id="162" name="Picture 16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434331" y="3847846"/>
            <a:ext cx="128699" cy="187198"/>
          </a:xfrm>
          <a:prstGeom prst="rect">
            <a:avLst/>
          </a:prstGeom>
        </p:spPr>
      </p:pic>
      <p:sp>
        <p:nvSpPr>
          <p:cNvPr id="163" name="TextBox 162"/>
          <p:cNvSpPr txBox="1"/>
          <p:nvPr/>
        </p:nvSpPr>
        <p:spPr>
          <a:xfrm>
            <a:off x="9601827" y="3857625"/>
            <a:ext cx="206856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); Tier 1 sets pricing and innovation</a:t>
            </a:r>
          </a:p>
        </p:txBody>
      </p:sp>
      <p:sp>
        <p:nvSpPr>
          <p:cNvPr id="164" name="TextBox 163"/>
          <p:cNvSpPr txBox="1"/>
          <p:nvPr/>
        </p:nvSpPr>
        <p:spPr>
          <a:xfrm>
            <a:off x="7658100" y="4025265"/>
            <a:ext cx="21247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benchmarks and is expected to hold</a:t>
            </a:r>
          </a:p>
        </p:txBody>
      </p:sp>
      <p:pic>
        <p:nvPicPr>
          <p:cNvPr id="165" name="Picture 16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730921" y="4015486"/>
            <a:ext cx="128699" cy="187198"/>
          </a:xfrm>
          <a:prstGeom prst="rect">
            <a:avLst/>
          </a:prstGeom>
        </p:spPr>
      </p:pic>
      <p:sp>
        <p:nvSpPr>
          <p:cNvPr id="166" name="TextBox 165"/>
          <p:cNvSpPr txBox="1"/>
          <p:nvPr/>
        </p:nvSpPr>
        <p:spPr>
          <a:xfrm>
            <a:off x="9898416" y="4025265"/>
            <a:ext cx="101699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of value in 2036.</a:t>
            </a:r>
          </a:p>
        </p:txBody>
      </p:sp>
      <p:sp>
        <p:nvSpPr>
          <p:cNvPr id="167" name="TextBox 166"/>
          <p:cNvSpPr txBox="1"/>
          <p:nvPr/>
        </p:nvSpPr>
        <p:spPr>
          <a:xfrm>
            <a:off x="7658100" y="5019675"/>
            <a:ext cx="347101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Tier 3 and the long tail face the highest structural pressure (</a:t>
            </a:r>
          </a:p>
        </p:txBody>
      </p:sp>
      <p:pic>
        <p:nvPicPr>
          <p:cNvPr id="168" name="Picture 16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077170" y="5009895"/>
            <a:ext cx="128699" cy="187198"/>
          </a:xfrm>
          <a:prstGeom prst="rect">
            <a:avLst/>
          </a:prstGeom>
        </p:spPr>
      </p:pic>
      <p:sp>
        <p:nvSpPr>
          <p:cNvPr id="169" name="TextBox 168"/>
          <p:cNvSpPr txBox="1"/>
          <p:nvPr/>
        </p:nvSpPr>
        <p:spPr>
          <a:xfrm>
            <a:off x="11244666" y="5019675"/>
            <a:ext cx="41508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/ 5); 2</a:t>
            </a:r>
          </a:p>
        </p:txBody>
      </p:sp>
      <p:sp>
        <p:nvSpPr>
          <p:cNvPr id="170" name="TextBox 169"/>
          <p:cNvSpPr txBox="1"/>
          <p:nvPr/>
        </p:nvSpPr>
        <p:spPr>
          <a:xfrm>
            <a:off x="7658100" y="5187315"/>
            <a:ext cx="254141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players are expected to exit or be acquired.</a:t>
            </a:r>
          </a:p>
        </p:txBody>
      </p:sp>
    </p:spTree>
  </p:cSld>
  <p:clrMapOvr>
    <a:masterClrMapping/>
  </p:clrMapOvr>
</p:sld>
</file>

<file path=ppt/slides/slide24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Competitive Dashboard View (2026)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Benchmarking of companies on portfolio, coverage, revenue, share, regional presence and strategy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285750" y="970754"/>
            <a:ext cx="10477500" cy="164283"/>
          </a:xfrm>
          <a:prstGeom prst="rect">
            <a:avLst/>
          </a:prstGeom>
          <a:noFill/>
        </p:spPr>
        <p:txBody>
          <a:bodyPr wrap="square" lIns="0" rIns="19050" tIns="0" bIns="0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Intensified competition across the leading players portfolio, revenue, share, regional presence and strategy.  All figures 2026.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33350" y="1153291"/>
            <a:ext cx="11925300" cy="4563424"/>
          </a:xfrm>
          <a:prstGeom prst="roundRect">
            <a:avLst>
              <a:gd name="adj" fmla="val 160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133350" y="1171544"/>
            <a:ext cx="11925300" cy="365074"/>
          </a:xfrm>
          <a:prstGeom prst="rect">
            <a:avLst/>
          </a:prstGeom>
          <a:solidFill>
            <a:srgbClr val="F1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Rectangle 12"/>
          <p:cNvSpPr/>
          <p:nvPr/>
        </p:nvSpPr>
        <p:spPr>
          <a:xfrm>
            <a:off x="133350" y="1171544"/>
            <a:ext cx="1143000" cy="4526917"/>
          </a:xfrm>
          <a:prstGeom prst="rect">
            <a:avLst/>
          </a:prstGeom>
          <a:solidFill>
            <a:srgbClr val="F7FA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4" name="Connector 13"/>
          <p:cNvCxnSpPr/>
          <p:nvPr/>
        </p:nvCxnSpPr>
        <p:spPr>
          <a:xfrm>
            <a:off x="133350" y="1536618"/>
            <a:ext cx="11925300" cy="0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" name="Connector 14"/>
          <p:cNvCxnSpPr/>
          <p:nvPr/>
        </p:nvCxnSpPr>
        <p:spPr>
          <a:xfrm>
            <a:off x="133350" y="1792170"/>
            <a:ext cx="11925300" cy="0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" name="Connector 15"/>
          <p:cNvCxnSpPr/>
          <p:nvPr/>
        </p:nvCxnSpPr>
        <p:spPr>
          <a:xfrm>
            <a:off x="133350" y="2631840"/>
            <a:ext cx="11925300" cy="0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" name="Connector 16"/>
          <p:cNvCxnSpPr/>
          <p:nvPr/>
        </p:nvCxnSpPr>
        <p:spPr>
          <a:xfrm>
            <a:off x="133350" y="2960407"/>
            <a:ext cx="11925300" cy="0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" name="Connector 17"/>
          <p:cNvCxnSpPr/>
          <p:nvPr/>
        </p:nvCxnSpPr>
        <p:spPr>
          <a:xfrm>
            <a:off x="133350" y="3288973"/>
            <a:ext cx="11925300" cy="0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" name="Connector 18"/>
          <p:cNvCxnSpPr/>
          <p:nvPr/>
        </p:nvCxnSpPr>
        <p:spPr>
          <a:xfrm>
            <a:off x="133350" y="4055629"/>
            <a:ext cx="11925300" cy="0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" name="Connector 19"/>
          <p:cNvCxnSpPr/>
          <p:nvPr/>
        </p:nvCxnSpPr>
        <p:spPr>
          <a:xfrm>
            <a:off x="133350" y="5041328"/>
            <a:ext cx="11925300" cy="0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133350" y="1171544"/>
            <a:ext cx="0" cy="4526917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12058650" y="1171544"/>
            <a:ext cx="0" cy="4526917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1295400" y="1171544"/>
            <a:ext cx="0" cy="4526917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2371725" y="1171544"/>
            <a:ext cx="0" cy="4526917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3448050" y="1171544"/>
            <a:ext cx="0" cy="4526917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4524375" y="1171544"/>
            <a:ext cx="0" cy="4526917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7" name="Connector 26"/>
          <p:cNvCxnSpPr/>
          <p:nvPr/>
        </p:nvCxnSpPr>
        <p:spPr>
          <a:xfrm>
            <a:off x="5600700" y="1171544"/>
            <a:ext cx="0" cy="4526917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8" name="Connector 27"/>
          <p:cNvCxnSpPr/>
          <p:nvPr/>
        </p:nvCxnSpPr>
        <p:spPr>
          <a:xfrm>
            <a:off x="6677025" y="1171544"/>
            <a:ext cx="0" cy="4526917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9" name="Connector 28"/>
          <p:cNvCxnSpPr/>
          <p:nvPr/>
        </p:nvCxnSpPr>
        <p:spPr>
          <a:xfrm>
            <a:off x="7753350" y="1171544"/>
            <a:ext cx="0" cy="4526917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8829675" y="1171544"/>
            <a:ext cx="0" cy="4526917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9906000" y="1171544"/>
            <a:ext cx="0" cy="4526917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10982325" y="1171544"/>
            <a:ext cx="0" cy="4526917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12058650" y="1171544"/>
            <a:ext cx="0" cy="4526917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133350" y="5698461"/>
            <a:ext cx="11925300" cy="0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5" name="TextBox 34"/>
          <p:cNvSpPr txBox="1"/>
          <p:nvPr/>
        </p:nvSpPr>
        <p:spPr>
          <a:xfrm>
            <a:off x="171450" y="1536618"/>
            <a:ext cx="1085850" cy="255552"/>
          </a:xfrm>
          <a:prstGeom prst="rect">
            <a:avLst/>
          </a:prstGeom>
          <a:noFill/>
        </p:spPr>
        <p:txBody>
          <a:bodyPr wrap="square" lIns="19050" rIns="19050" tIns="9525" bIns="9525" anchor="ctr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1">
                <a:solidFill>
                  <a:srgbClr val="0B2E4A"/>
                </a:solidFill>
                <a:latin typeface="Calibri"/>
              </a:rPr>
              <a:t>Company / Brand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171450" y="1792170"/>
            <a:ext cx="1085850" cy="839670"/>
          </a:xfrm>
          <a:prstGeom prst="rect">
            <a:avLst/>
          </a:prstGeom>
          <a:noFill/>
        </p:spPr>
        <p:txBody>
          <a:bodyPr wrap="square" lIns="19050" rIns="19050" tIns="9525" bIns="9525" anchor="ctr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1">
                <a:solidFill>
                  <a:srgbClr val="0B2E4A"/>
                </a:solidFill>
                <a:latin typeface="Calibri"/>
              </a:rPr>
              <a:t>Product Portfolio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171450" y="2631840"/>
            <a:ext cx="1085850" cy="328567"/>
          </a:xfrm>
          <a:prstGeom prst="rect">
            <a:avLst/>
          </a:prstGeom>
          <a:noFill/>
        </p:spPr>
        <p:txBody>
          <a:bodyPr wrap="square" lIns="19050" rIns="19050" tIns="9525" bIns="9525" anchor="ctr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1">
                <a:solidFill>
                  <a:srgbClr val="0B2E4A"/>
                </a:solidFill>
                <a:latin typeface="Calibri"/>
              </a:rPr>
              <a:t>Overall Rev (US$ Mn)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171450" y="2960407"/>
            <a:ext cx="1085850" cy="328567"/>
          </a:xfrm>
          <a:prstGeom prst="rect">
            <a:avLst/>
          </a:prstGeom>
          <a:noFill/>
        </p:spPr>
        <p:txBody>
          <a:bodyPr wrap="square" lIns="19050" rIns="19050" tIns="9525" bIns="9525" anchor="ctr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1">
                <a:solidFill>
                  <a:srgbClr val="0B2E4A"/>
                </a:solidFill>
                <a:latin typeface="Calibri"/>
              </a:rPr>
              <a:t>Target Rev (US$ Mn)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171450" y="3288973"/>
            <a:ext cx="1085850" cy="766655"/>
          </a:xfrm>
          <a:prstGeom prst="rect">
            <a:avLst/>
          </a:prstGeom>
          <a:noFill/>
        </p:spPr>
        <p:txBody>
          <a:bodyPr wrap="square" lIns="19050" rIns="19050" tIns="9525" bIns="9525" anchor="ctr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1">
                <a:solidFill>
                  <a:srgbClr val="0B2E4A"/>
                </a:solidFill>
                <a:latin typeface="Calibri"/>
              </a:rPr>
              <a:t>Market Share (%)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171450" y="4055629"/>
            <a:ext cx="1085850" cy="985700"/>
          </a:xfrm>
          <a:prstGeom prst="rect">
            <a:avLst/>
          </a:prstGeom>
          <a:noFill/>
        </p:spPr>
        <p:txBody>
          <a:bodyPr wrap="square" lIns="19050" rIns="19050" tIns="9525" bIns="9525" anchor="ctr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1">
                <a:solidFill>
                  <a:srgbClr val="0B2E4A"/>
                </a:solidFill>
                <a:latin typeface="Calibri"/>
              </a:rPr>
              <a:t>Regional Presence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171450" y="5041328"/>
            <a:ext cx="1085850" cy="657133"/>
          </a:xfrm>
          <a:prstGeom prst="rect">
            <a:avLst/>
          </a:prstGeom>
          <a:noFill/>
        </p:spPr>
        <p:txBody>
          <a:bodyPr wrap="square" lIns="19050" rIns="19050" tIns="9525" bIns="9525" anchor="ctr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1">
                <a:solidFill>
                  <a:srgbClr val="0B2E4A"/>
                </a:solidFill>
                <a:latin typeface="Calibri"/>
              </a:rPr>
              <a:t>Strategies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1323975" y="1189798"/>
            <a:ext cx="1019175" cy="328567"/>
          </a:xfrm>
          <a:prstGeom prst="rect">
            <a:avLst/>
          </a:prstGeom>
          <a:noFill/>
        </p:spPr>
        <p:txBody>
          <a:bodyPr wrap="square" lIns="9525" rIns="9525" tIns="9525" bIns="9525" anchor="ctr">
            <a:spAutoFit/>
          </a:bodyPr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2E2E2E"/>
                </a:solidFill>
                <a:latin typeface="Calibri"/>
              </a:rPr>
              <a:t>Beaphar</a:t>
            </a:r>
          </a:p>
        </p:txBody>
      </p:sp>
      <p:cxnSp>
        <p:nvCxnSpPr>
          <p:cNvPr id="43" name="Connector 42"/>
          <p:cNvCxnSpPr/>
          <p:nvPr/>
        </p:nvCxnSpPr>
        <p:spPr>
          <a:xfrm>
            <a:off x="1604962" y="1509238"/>
            <a:ext cx="457200" cy="0"/>
          </a:xfrm>
          <a:prstGeom prst="line">
            <a:avLst/>
          </a:prstGeom>
          <a:ln w="1905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4" name="TextBox 43"/>
          <p:cNvSpPr txBox="1"/>
          <p:nvPr/>
        </p:nvSpPr>
        <p:spPr>
          <a:xfrm>
            <a:off x="1323975" y="1536618"/>
            <a:ext cx="1019175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AFB4B9"/>
                </a:solidFill>
                <a:latin typeface="Calibri"/>
              </a:rPr>
              <a:t>Brand A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1314450" y="1828677"/>
            <a:ext cx="1038225" cy="200791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ctr"/>
            <a:r>
              <a:rPr sz="1300" b="0">
                <a:solidFill>
                  <a:srgbClr val="0B2E4A"/>
                </a:solidFill>
                <a:latin typeface="Calibri"/>
              </a:rPr>
              <a:t>✦ </a:t>
            </a:r>
            <a:r>
              <a:rPr sz="1300" b="0">
                <a:solidFill>
                  <a:srgbClr val="69B1E0"/>
                </a:solidFill>
                <a:latin typeface="Calibri"/>
              </a:rPr>
              <a:t>✦ </a:t>
            </a:r>
            <a:r>
              <a:rPr sz="1300" b="0">
                <a:solidFill>
                  <a:srgbClr val="D4D7DA"/>
                </a:solidFill>
                <a:latin typeface="Calibri"/>
              </a:rPr>
              <a:t>✦ </a:t>
            </a:r>
            <a:r>
              <a:rPr sz="1300" b="0">
                <a:solidFill>
                  <a:srgbClr val="D4D7DA"/>
                </a:solidFill>
                <a:latin typeface="Calibri"/>
              </a:rPr>
              <a:t>✦ 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1314450" y="2047722"/>
            <a:ext cx="10382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  <a:r>
              <a:rPr sz="1100" b="1">
                <a:solidFill>
                  <a:srgbClr val="E44D3A"/>
                </a:solidFill>
                <a:latin typeface="Calibri"/>
              </a:rPr>
              <a:t>✘ </a:t>
            </a:r>
          </a:p>
        </p:txBody>
      </p:sp>
      <p:sp>
        <p:nvSpPr>
          <p:cNvPr id="47" name="Rectangle 46"/>
          <p:cNvSpPr/>
          <p:nvPr/>
        </p:nvSpPr>
        <p:spPr>
          <a:xfrm>
            <a:off x="1604962" y="2303274"/>
            <a:ext cx="114300" cy="109522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Rectangle 47"/>
          <p:cNvSpPr/>
          <p:nvPr/>
        </p:nvSpPr>
        <p:spPr>
          <a:xfrm>
            <a:off x="1776412" y="2303274"/>
            <a:ext cx="114300" cy="109522"/>
          </a:xfrm>
          <a:prstGeom prst="rect">
            <a:avLst/>
          </a:prstGeom>
          <a:solidFill>
            <a:srgbClr val="79C3E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Rectangle 48"/>
          <p:cNvSpPr/>
          <p:nvPr/>
        </p:nvSpPr>
        <p:spPr>
          <a:xfrm>
            <a:off x="1947862" y="2303274"/>
            <a:ext cx="114300" cy="109522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1323975" y="2631840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1323975" y="2960407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52" name="Oval 51"/>
          <p:cNvSpPr/>
          <p:nvPr/>
        </p:nvSpPr>
        <p:spPr>
          <a:xfrm>
            <a:off x="1585912" y="3416749"/>
            <a:ext cx="495300" cy="474596"/>
          </a:xfrm>
          <a:prstGeom prst="ellipse">
            <a:avLst/>
          </a:prstGeom>
          <a:solidFill>
            <a:srgbClr val="E4E9E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Freeform 52"/>
          <p:cNvSpPr/>
          <p:nvPr/>
        </p:nvSpPr>
        <p:spPr>
          <a:xfrm>
            <a:off x="1581150" y="3416749"/>
            <a:ext cx="495300" cy="474596"/>
          </a:xfrm>
          <a:custGeom>
            <a:avLst/>
            <a:gdLst/>
            <a:ahLst/>
            <a:cxnLst/>
            <a:rect l="l" t="t" r="r" b="b"/>
            <a:pathLst>
              <a:path w="52" h="52">
                <a:moveTo>
                  <a:pt x="26" y="26"/>
                </a:moveTo>
                <a:lnTo>
                  <a:pt x="26" y="0"/>
                </a:lnTo>
                <a:lnTo>
                  <a:pt x="30" y="0"/>
                </a:lnTo>
                <a:lnTo>
                  <a:pt x="33" y="1"/>
                </a:lnTo>
                <a:lnTo>
                  <a:pt x="36" y="2"/>
                </a:lnTo>
                <a:lnTo>
                  <a:pt x="40" y="3"/>
                </a:lnTo>
                <a:lnTo>
                  <a:pt x="42" y="5"/>
                </a:lnTo>
                <a:lnTo>
                  <a:pt x="45" y="8"/>
                </a:lnTo>
                <a:lnTo>
                  <a:pt x="47" y="10"/>
                </a:lnTo>
                <a:lnTo>
                  <a:pt x="49" y="13"/>
                </a:lnTo>
                <a:lnTo>
                  <a:pt x="51" y="16"/>
                </a:lnTo>
                <a:lnTo>
                  <a:pt x="52" y="19"/>
                </a:lnTo>
                <a:lnTo>
                  <a:pt x="52" y="23"/>
                </a:lnTo>
                <a:lnTo>
                  <a:pt x="52" y="26"/>
                </a:lnTo>
                <a:lnTo>
                  <a:pt x="52" y="29"/>
                </a:lnTo>
                <a:lnTo>
                  <a:pt x="52" y="33"/>
                </a:lnTo>
                <a:lnTo>
                  <a:pt x="51" y="36"/>
                </a:lnTo>
                <a:lnTo>
                  <a:pt x="49" y="39"/>
                </a:lnTo>
                <a:lnTo>
                  <a:pt x="47" y="42"/>
                </a:lnTo>
                <a:lnTo>
                  <a:pt x="45" y="44"/>
                </a:lnTo>
                <a:lnTo>
                  <a:pt x="42" y="47"/>
                </a:lnTo>
                <a:lnTo>
                  <a:pt x="40" y="49"/>
                </a:lnTo>
                <a:lnTo>
                  <a:pt x="36" y="50"/>
                </a:lnTo>
                <a:lnTo>
                  <a:pt x="33" y="51"/>
                </a:lnTo>
                <a:lnTo>
                  <a:pt x="30" y="52"/>
                </a:lnTo>
                <a:lnTo>
                  <a:pt x="26" y="52"/>
                </a:lnTo>
                <a:lnTo>
                  <a:pt x="23" y="52"/>
                </a:lnTo>
                <a:lnTo>
                  <a:pt x="20" y="51"/>
                </a:lnTo>
                <a:lnTo>
                  <a:pt x="17" y="50"/>
                </a:lnTo>
                <a:lnTo>
                  <a:pt x="14" y="49"/>
                </a:lnTo>
                <a:lnTo>
                  <a:pt x="11" y="47"/>
                </a:lnTo>
                <a:lnTo>
                  <a:pt x="8" y="44"/>
                </a:lnTo>
                <a:lnTo>
                  <a:pt x="6" y="42"/>
                </a:lnTo>
                <a:lnTo>
                  <a:pt x="4" y="39"/>
                </a:lnTo>
                <a:lnTo>
                  <a:pt x="2" y="36"/>
                </a:lnTo>
                <a:lnTo>
                  <a:pt x="1" y="33"/>
                </a:lnTo>
                <a:lnTo>
                  <a:pt x="1" y="29"/>
                </a:lnTo>
                <a:lnTo>
                  <a:pt x="0" y="26"/>
                </a:lnTo>
                <a:lnTo>
                  <a:pt x="1" y="23"/>
                </a:lnTo>
                <a:lnTo>
                  <a:pt x="1" y="19"/>
                </a:lnTo>
                <a:lnTo>
                  <a:pt x="2" y="16"/>
                </a:lnTo>
                <a:lnTo>
                  <a:pt x="4" y="13"/>
                </a:lnTo>
                <a:lnTo>
                  <a:pt x="6" y="10"/>
                </a:lnTo>
                <a:lnTo>
                  <a:pt x="8" y="8"/>
                </a:lnTo>
                <a:lnTo>
                  <a:pt x="11" y="5"/>
                </a:lnTo>
                <a:lnTo>
                  <a:pt x="14" y="3"/>
                </a:lnTo>
                <a:lnTo>
                  <a:pt x="17" y="2"/>
                </a:lnTo>
                <a:lnTo>
                  <a:pt x="20" y="1"/>
                </a:lnTo>
                <a:lnTo>
                  <a:pt x="23" y="0"/>
                </a:lnTo>
                <a:lnTo>
                  <a:pt x="26" y="0"/>
                </a:lnTo>
                <a:close/>
              </a:path>
            </a:pathLst>
          </a:cu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Oval 53"/>
          <p:cNvSpPr/>
          <p:nvPr/>
        </p:nvSpPr>
        <p:spPr>
          <a:xfrm>
            <a:off x="1694878" y="3521160"/>
            <a:ext cx="277368" cy="265774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TextBox 54"/>
          <p:cNvSpPr txBox="1"/>
          <p:nvPr/>
        </p:nvSpPr>
        <p:spPr>
          <a:xfrm>
            <a:off x="1585912" y="3590159"/>
            <a:ext cx="495300" cy="12777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1343025" y="4092136"/>
            <a:ext cx="990600" cy="91268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Europe  </a:t>
            </a:r>
            <a:r>
              <a:rPr sz="1100" b="1">
                <a:solidFill>
                  <a:srgbClr val="0E72AE"/>
                </a:solidFill>
                <a:latin typeface="Calibri"/>
              </a:rPr>
              <a:t>▲</a:t>
            </a:r>
          </a:p>
        </p:txBody>
      </p:sp>
      <p:sp>
        <p:nvSpPr>
          <p:cNvPr id="57" name="Oval 56"/>
          <p:cNvSpPr/>
          <p:nvPr/>
        </p:nvSpPr>
        <p:spPr>
          <a:xfrm>
            <a:off x="142875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42875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</a:t>
            </a:r>
          </a:p>
        </p:txBody>
      </p:sp>
      <p:sp>
        <p:nvSpPr>
          <p:cNvPr id="59" name="Oval 58"/>
          <p:cNvSpPr/>
          <p:nvPr/>
        </p:nvSpPr>
        <p:spPr>
          <a:xfrm>
            <a:off x="163830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163830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</a:t>
            </a:r>
          </a:p>
        </p:txBody>
      </p:sp>
      <p:sp>
        <p:nvSpPr>
          <p:cNvPr id="61" name="Oval 60"/>
          <p:cNvSpPr/>
          <p:nvPr/>
        </p:nvSpPr>
        <p:spPr>
          <a:xfrm>
            <a:off x="184785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184785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</a:t>
            </a:r>
          </a:p>
        </p:txBody>
      </p:sp>
      <p:sp>
        <p:nvSpPr>
          <p:cNvPr id="63" name="Oval 62"/>
          <p:cNvSpPr/>
          <p:nvPr/>
        </p:nvSpPr>
        <p:spPr>
          <a:xfrm>
            <a:off x="2057400" y="5173667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05740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</a:t>
            </a:r>
          </a:p>
        </p:txBody>
      </p:sp>
      <p:sp>
        <p:nvSpPr>
          <p:cNvPr id="65" name="Oval 64"/>
          <p:cNvSpPr/>
          <p:nvPr/>
        </p:nvSpPr>
        <p:spPr>
          <a:xfrm>
            <a:off x="1533525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1533525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</a:t>
            </a:r>
          </a:p>
        </p:txBody>
      </p:sp>
      <p:sp>
        <p:nvSpPr>
          <p:cNvPr id="67" name="Oval 66"/>
          <p:cNvSpPr/>
          <p:nvPr/>
        </p:nvSpPr>
        <p:spPr>
          <a:xfrm>
            <a:off x="1743075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1743075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</a:t>
            </a:r>
          </a:p>
        </p:txBody>
      </p:sp>
      <p:sp>
        <p:nvSpPr>
          <p:cNvPr id="69" name="Oval 68"/>
          <p:cNvSpPr/>
          <p:nvPr/>
        </p:nvSpPr>
        <p:spPr>
          <a:xfrm>
            <a:off x="1952625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1952625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2400300" y="1189798"/>
            <a:ext cx="1019175" cy="328567"/>
          </a:xfrm>
          <a:prstGeom prst="rect">
            <a:avLst/>
          </a:prstGeom>
          <a:noFill/>
        </p:spPr>
        <p:txBody>
          <a:bodyPr wrap="square" lIns="9525" rIns="9525" tIns="9525" bIns="9525" anchor="ctr">
            <a:spAutoFit/>
          </a:bodyPr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2E2E2E"/>
                </a:solidFill>
                <a:latin typeface="Calibri"/>
              </a:rPr>
              <a:t>Laboratoire Biogance</a:t>
            </a:r>
          </a:p>
        </p:txBody>
      </p:sp>
      <p:cxnSp>
        <p:nvCxnSpPr>
          <p:cNvPr id="72" name="Connector 71"/>
          <p:cNvCxnSpPr/>
          <p:nvPr/>
        </p:nvCxnSpPr>
        <p:spPr>
          <a:xfrm>
            <a:off x="2681288" y="1509238"/>
            <a:ext cx="457200" cy="0"/>
          </a:xfrm>
          <a:prstGeom prst="line">
            <a:avLst/>
          </a:prstGeom>
          <a:ln w="1905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3" name="TextBox 72"/>
          <p:cNvSpPr txBox="1"/>
          <p:nvPr/>
        </p:nvSpPr>
        <p:spPr>
          <a:xfrm>
            <a:off x="2400300" y="1536618"/>
            <a:ext cx="1019175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AFB4B9"/>
                </a:solidFill>
                <a:latin typeface="Calibri"/>
              </a:rPr>
              <a:t>Brand B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2390775" y="1828677"/>
            <a:ext cx="1038225" cy="200791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ctr"/>
            <a:r>
              <a:rPr sz="1300" b="0">
                <a:solidFill>
                  <a:srgbClr val="0B2E4A"/>
                </a:solidFill>
                <a:latin typeface="Calibri"/>
              </a:rPr>
              <a:t>✦ </a:t>
            </a:r>
            <a:r>
              <a:rPr sz="1300" b="0">
                <a:solidFill>
                  <a:srgbClr val="69B1E0"/>
                </a:solidFill>
                <a:latin typeface="Calibri"/>
              </a:rPr>
              <a:t>✦ </a:t>
            </a:r>
            <a:r>
              <a:rPr sz="1300" b="0">
                <a:solidFill>
                  <a:srgbClr val="A86F00"/>
                </a:solidFill>
                <a:latin typeface="Calibri"/>
              </a:rPr>
              <a:t>✦ </a:t>
            </a:r>
            <a:r>
              <a:rPr sz="1300" b="0">
                <a:solidFill>
                  <a:srgbClr val="D4D7DA"/>
                </a:solidFill>
                <a:latin typeface="Calibri"/>
              </a:rPr>
              <a:t>✦ </a:t>
            </a:r>
          </a:p>
        </p:txBody>
      </p:sp>
      <p:sp>
        <p:nvSpPr>
          <p:cNvPr id="75" name="TextBox 74"/>
          <p:cNvSpPr txBox="1"/>
          <p:nvPr/>
        </p:nvSpPr>
        <p:spPr>
          <a:xfrm>
            <a:off x="2390775" y="2047722"/>
            <a:ext cx="10382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  <a:r>
              <a:rPr sz="1100" b="1">
                <a:solidFill>
                  <a:srgbClr val="E44D3A"/>
                </a:solidFill>
                <a:latin typeface="Calibri"/>
              </a:rPr>
              <a:t>✘ </a:t>
            </a:r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</a:p>
        </p:txBody>
      </p:sp>
      <p:sp>
        <p:nvSpPr>
          <p:cNvPr id="76" name="Rectangle 75"/>
          <p:cNvSpPr/>
          <p:nvPr/>
        </p:nvSpPr>
        <p:spPr>
          <a:xfrm>
            <a:off x="2681288" y="2303274"/>
            <a:ext cx="114300" cy="109522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2852738" y="2303274"/>
            <a:ext cx="114300" cy="109522"/>
          </a:xfrm>
          <a:prstGeom prst="rect">
            <a:avLst/>
          </a:prstGeom>
          <a:solidFill>
            <a:srgbClr val="79C3E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3024188" y="2303274"/>
            <a:ext cx="114300" cy="109522"/>
          </a:xfrm>
          <a:prstGeom prst="rect">
            <a:avLst/>
          </a:prstGeom>
          <a:solidFill>
            <a:srgbClr val="FFFFFF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TextBox 78"/>
          <p:cNvSpPr txBox="1"/>
          <p:nvPr/>
        </p:nvSpPr>
        <p:spPr>
          <a:xfrm>
            <a:off x="2400300" y="2631840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2400300" y="2960407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81" name="Oval 80"/>
          <p:cNvSpPr/>
          <p:nvPr/>
        </p:nvSpPr>
        <p:spPr>
          <a:xfrm>
            <a:off x="2662238" y="3416749"/>
            <a:ext cx="495300" cy="474596"/>
          </a:xfrm>
          <a:prstGeom prst="ellipse">
            <a:avLst/>
          </a:prstGeom>
          <a:solidFill>
            <a:srgbClr val="E4E9E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Freeform 81"/>
          <p:cNvSpPr/>
          <p:nvPr/>
        </p:nvSpPr>
        <p:spPr>
          <a:xfrm>
            <a:off x="2667000" y="3416749"/>
            <a:ext cx="485775" cy="474596"/>
          </a:xfrm>
          <a:custGeom>
            <a:avLst/>
            <a:gdLst/>
            <a:ahLst/>
            <a:cxnLst/>
            <a:rect l="l" t="t" r="r" b="b"/>
            <a:pathLst>
              <a:path w="51" h="52">
                <a:moveTo>
                  <a:pt x="26" y="26"/>
                </a:moveTo>
                <a:lnTo>
                  <a:pt x="26" y="0"/>
                </a:lnTo>
                <a:lnTo>
                  <a:pt x="29" y="0"/>
                </a:lnTo>
                <a:lnTo>
                  <a:pt x="32" y="1"/>
                </a:lnTo>
                <a:lnTo>
                  <a:pt x="35" y="2"/>
                </a:lnTo>
                <a:lnTo>
                  <a:pt x="39" y="3"/>
                </a:lnTo>
                <a:lnTo>
                  <a:pt x="41" y="5"/>
                </a:lnTo>
                <a:lnTo>
                  <a:pt x="44" y="8"/>
                </a:lnTo>
                <a:lnTo>
                  <a:pt x="46" y="10"/>
                </a:lnTo>
                <a:lnTo>
                  <a:pt x="48" y="13"/>
                </a:lnTo>
                <a:lnTo>
                  <a:pt x="50" y="16"/>
                </a:lnTo>
                <a:lnTo>
                  <a:pt x="51" y="19"/>
                </a:lnTo>
                <a:lnTo>
                  <a:pt x="51" y="23"/>
                </a:lnTo>
                <a:lnTo>
                  <a:pt x="51" y="26"/>
                </a:lnTo>
                <a:lnTo>
                  <a:pt x="51" y="29"/>
                </a:lnTo>
                <a:lnTo>
                  <a:pt x="51" y="33"/>
                </a:lnTo>
                <a:lnTo>
                  <a:pt x="50" y="36"/>
                </a:lnTo>
                <a:lnTo>
                  <a:pt x="48" y="39"/>
                </a:lnTo>
                <a:lnTo>
                  <a:pt x="46" y="42"/>
                </a:lnTo>
                <a:lnTo>
                  <a:pt x="44" y="44"/>
                </a:lnTo>
                <a:lnTo>
                  <a:pt x="41" y="47"/>
                </a:lnTo>
                <a:lnTo>
                  <a:pt x="38" y="49"/>
                </a:lnTo>
                <a:lnTo>
                  <a:pt x="35" y="50"/>
                </a:lnTo>
                <a:lnTo>
                  <a:pt x="32" y="51"/>
                </a:lnTo>
                <a:lnTo>
                  <a:pt x="29" y="52"/>
                </a:lnTo>
                <a:lnTo>
                  <a:pt x="25" y="52"/>
                </a:lnTo>
                <a:lnTo>
                  <a:pt x="22" y="52"/>
                </a:lnTo>
                <a:lnTo>
                  <a:pt x="19" y="51"/>
                </a:lnTo>
                <a:lnTo>
                  <a:pt x="16" y="50"/>
                </a:lnTo>
                <a:lnTo>
                  <a:pt x="12" y="48"/>
                </a:lnTo>
                <a:lnTo>
                  <a:pt x="10" y="47"/>
                </a:lnTo>
                <a:lnTo>
                  <a:pt x="7" y="44"/>
                </a:lnTo>
                <a:lnTo>
                  <a:pt x="5" y="42"/>
                </a:lnTo>
                <a:lnTo>
                  <a:pt x="3" y="39"/>
                </a:lnTo>
                <a:lnTo>
                  <a:pt x="1" y="36"/>
                </a:lnTo>
                <a:lnTo>
                  <a:pt x="0" y="33"/>
                </a:lnTo>
                <a:lnTo>
                  <a:pt x="0" y="29"/>
                </a:lnTo>
                <a:lnTo>
                  <a:pt x="0" y="26"/>
                </a:lnTo>
                <a:lnTo>
                  <a:pt x="0" y="23"/>
                </a:lnTo>
                <a:lnTo>
                  <a:pt x="0" y="19"/>
                </a:lnTo>
                <a:lnTo>
                  <a:pt x="2" y="16"/>
                </a:lnTo>
                <a:lnTo>
                  <a:pt x="3" y="13"/>
                </a:lnTo>
                <a:lnTo>
                  <a:pt x="5" y="10"/>
                </a:lnTo>
                <a:lnTo>
                  <a:pt x="7" y="8"/>
                </a:lnTo>
                <a:close/>
              </a:path>
            </a:pathLst>
          </a:cu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Oval 82"/>
          <p:cNvSpPr/>
          <p:nvPr/>
        </p:nvSpPr>
        <p:spPr>
          <a:xfrm>
            <a:off x="2771204" y="3521160"/>
            <a:ext cx="277368" cy="265774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2662238" y="3590159"/>
            <a:ext cx="495300" cy="12777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85" name="TextBox 84"/>
          <p:cNvSpPr txBox="1"/>
          <p:nvPr/>
        </p:nvSpPr>
        <p:spPr>
          <a:xfrm>
            <a:off x="2419350" y="4092136"/>
            <a:ext cx="990600" cy="91268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Europe  </a:t>
            </a:r>
            <a:r>
              <a:rPr sz="1100" b="1">
                <a:solidFill>
                  <a:srgbClr val="0E72AE"/>
                </a:solidFill>
                <a:latin typeface="Calibri"/>
              </a:rPr>
              <a:t>▲</a:t>
            </a:r>
          </a:p>
        </p:txBody>
      </p:sp>
      <p:sp>
        <p:nvSpPr>
          <p:cNvPr id="86" name="Oval 85"/>
          <p:cNvSpPr/>
          <p:nvPr/>
        </p:nvSpPr>
        <p:spPr>
          <a:xfrm>
            <a:off x="250507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TextBox 86"/>
          <p:cNvSpPr txBox="1"/>
          <p:nvPr/>
        </p:nvSpPr>
        <p:spPr>
          <a:xfrm>
            <a:off x="250507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</a:t>
            </a:r>
          </a:p>
        </p:txBody>
      </p:sp>
      <p:sp>
        <p:nvSpPr>
          <p:cNvPr id="88" name="Oval 87"/>
          <p:cNvSpPr/>
          <p:nvPr/>
        </p:nvSpPr>
        <p:spPr>
          <a:xfrm>
            <a:off x="271462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TextBox 88"/>
          <p:cNvSpPr txBox="1"/>
          <p:nvPr/>
        </p:nvSpPr>
        <p:spPr>
          <a:xfrm>
            <a:off x="271462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</a:t>
            </a:r>
          </a:p>
        </p:txBody>
      </p:sp>
      <p:sp>
        <p:nvSpPr>
          <p:cNvPr id="90" name="Oval 89"/>
          <p:cNvSpPr/>
          <p:nvPr/>
        </p:nvSpPr>
        <p:spPr>
          <a:xfrm>
            <a:off x="292417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TextBox 90"/>
          <p:cNvSpPr txBox="1"/>
          <p:nvPr/>
        </p:nvSpPr>
        <p:spPr>
          <a:xfrm>
            <a:off x="292417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</a:t>
            </a:r>
          </a:p>
        </p:txBody>
      </p:sp>
      <p:sp>
        <p:nvSpPr>
          <p:cNvPr id="92" name="Oval 91"/>
          <p:cNvSpPr/>
          <p:nvPr/>
        </p:nvSpPr>
        <p:spPr>
          <a:xfrm>
            <a:off x="313372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TextBox 92"/>
          <p:cNvSpPr txBox="1"/>
          <p:nvPr/>
        </p:nvSpPr>
        <p:spPr>
          <a:xfrm>
            <a:off x="313372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</a:t>
            </a:r>
          </a:p>
        </p:txBody>
      </p:sp>
      <p:sp>
        <p:nvSpPr>
          <p:cNvPr id="94" name="Oval 93"/>
          <p:cNvSpPr/>
          <p:nvPr/>
        </p:nvSpPr>
        <p:spPr>
          <a:xfrm>
            <a:off x="2609850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TextBox 94"/>
          <p:cNvSpPr txBox="1"/>
          <p:nvPr/>
        </p:nvSpPr>
        <p:spPr>
          <a:xfrm>
            <a:off x="2609850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</a:t>
            </a:r>
          </a:p>
        </p:txBody>
      </p:sp>
      <p:sp>
        <p:nvSpPr>
          <p:cNvPr id="96" name="Oval 95"/>
          <p:cNvSpPr/>
          <p:nvPr/>
        </p:nvSpPr>
        <p:spPr>
          <a:xfrm>
            <a:off x="2819400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TextBox 96"/>
          <p:cNvSpPr txBox="1"/>
          <p:nvPr/>
        </p:nvSpPr>
        <p:spPr>
          <a:xfrm>
            <a:off x="2819400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</a:t>
            </a:r>
          </a:p>
        </p:txBody>
      </p:sp>
      <p:sp>
        <p:nvSpPr>
          <p:cNvPr id="98" name="Oval 97"/>
          <p:cNvSpPr/>
          <p:nvPr/>
        </p:nvSpPr>
        <p:spPr>
          <a:xfrm>
            <a:off x="3028950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TextBox 98"/>
          <p:cNvSpPr txBox="1"/>
          <p:nvPr/>
        </p:nvSpPr>
        <p:spPr>
          <a:xfrm>
            <a:off x="3028950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</a:t>
            </a:r>
          </a:p>
        </p:txBody>
      </p:sp>
      <p:sp>
        <p:nvSpPr>
          <p:cNvPr id="100" name="TextBox 99"/>
          <p:cNvSpPr txBox="1"/>
          <p:nvPr/>
        </p:nvSpPr>
        <p:spPr>
          <a:xfrm>
            <a:off x="3476625" y="1189798"/>
            <a:ext cx="1019175" cy="328567"/>
          </a:xfrm>
          <a:prstGeom prst="rect">
            <a:avLst/>
          </a:prstGeom>
          <a:noFill/>
        </p:spPr>
        <p:txBody>
          <a:bodyPr wrap="square" lIns="9525" rIns="9525" tIns="9525" bIns="9525" anchor="ctr">
            <a:spAutoFit/>
          </a:bodyPr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2E2E2E"/>
                </a:solidFill>
                <a:latin typeface="Calibri"/>
              </a:rPr>
              <a:t>Laboratoire Francodex</a:t>
            </a:r>
          </a:p>
        </p:txBody>
      </p:sp>
      <p:cxnSp>
        <p:nvCxnSpPr>
          <p:cNvPr id="101" name="Connector 100"/>
          <p:cNvCxnSpPr/>
          <p:nvPr/>
        </p:nvCxnSpPr>
        <p:spPr>
          <a:xfrm>
            <a:off x="3757612" y="1509238"/>
            <a:ext cx="457200" cy="0"/>
          </a:xfrm>
          <a:prstGeom prst="line">
            <a:avLst/>
          </a:prstGeom>
          <a:ln w="1905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2" name="TextBox 101"/>
          <p:cNvSpPr txBox="1"/>
          <p:nvPr/>
        </p:nvSpPr>
        <p:spPr>
          <a:xfrm>
            <a:off x="3476625" y="1536618"/>
            <a:ext cx="1019175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AFB4B9"/>
                </a:solidFill>
                <a:latin typeface="Calibri"/>
              </a:rPr>
              <a:t>Brand C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3467100" y="1828677"/>
            <a:ext cx="1038225" cy="200791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ctr"/>
            <a:r>
              <a:rPr sz="1300" b="0">
                <a:solidFill>
                  <a:srgbClr val="0B2E4A"/>
                </a:solidFill>
                <a:latin typeface="Calibri"/>
              </a:rPr>
              <a:t>✦ </a:t>
            </a:r>
            <a:r>
              <a:rPr sz="1300" b="0">
                <a:solidFill>
                  <a:srgbClr val="69B1E0"/>
                </a:solidFill>
                <a:latin typeface="Calibri"/>
              </a:rPr>
              <a:t>✦ </a:t>
            </a:r>
            <a:r>
              <a:rPr sz="1300" b="0">
                <a:solidFill>
                  <a:srgbClr val="A86F00"/>
                </a:solidFill>
                <a:latin typeface="Calibri"/>
              </a:rPr>
              <a:t>✦ </a:t>
            </a:r>
            <a:r>
              <a:rPr sz="1300" b="0">
                <a:solidFill>
                  <a:srgbClr val="79C3EC"/>
                </a:solidFill>
                <a:latin typeface="Calibri"/>
              </a:rPr>
              <a:t>✦ </a:t>
            </a:r>
          </a:p>
        </p:txBody>
      </p:sp>
      <p:sp>
        <p:nvSpPr>
          <p:cNvPr id="104" name="TextBox 103"/>
          <p:cNvSpPr txBox="1"/>
          <p:nvPr/>
        </p:nvSpPr>
        <p:spPr>
          <a:xfrm>
            <a:off x="3467100" y="2047722"/>
            <a:ext cx="10382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E44D3A"/>
                </a:solidFill>
                <a:latin typeface="Calibri"/>
              </a:rPr>
              <a:t>✘ </a:t>
            </a:r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3757612" y="2303274"/>
            <a:ext cx="114300" cy="109522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3929062" y="2303274"/>
            <a:ext cx="114300" cy="109522"/>
          </a:xfrm>
          <a:prstGeom prst="rect">
            <a:avLst/>
          </a:prstGeom>
          <a:solidFill>
            <a:srgbClr val="FFFFFF"/>
          </a:solidFill>
          <a:ln w="12700">
            <a:solidFill>
              <a:srgbClr val="79C3E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4100512" y="2303274"/>
            <a:ext cx="114300" cy="109522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3476625" y="2631840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3476625" y="2960407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10" name="Oval 109"/>
          <p:cNvSpPr/>
          <p:nvPr/>
        </p:nvSpPr>
        <p:spPr>
          <a:xfrm>
            <a:off x="3738562" y="3416749"/>
            <a:ext cx="495300" cy="474596"/>
          </a:xfrm>
          <a:prstGeom prst="ellipse">
            <a:avLst/>
          </a:prstGeom>
          <a:solidFill>
            <a:srgbClr val="E4E9E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Freeform 110"/>
          <p:cNvSpPr/>
          <p:nvPr/>
        </p:nvSpPr>
        <p:spPr>
          <a:xfrm>
            <a:off x="3838575" y="3416749"/>
            <a:ext cx="390525" cy="474596"/>
          </a:xfrm>
          <a:custGeom>
            <a:avLst/>
            <a:gdLst/>
            <a:ahLst/>
            <a:cxnLst/>
            <a:rect l="l" t="t" r="r" b="b"/>
            <a:pathLst>
              <a:path w="41" h="52">
                <a:moveTo>
                  <a:pt x="15" y="26"/>
                </a:moveTo>
                <a:lnTo>
                  <a:pt x="15" y="0"/>
                </a:lnTo>
                <a:lnTo>
                  <a:pt x="19" y="0"/>
                </a:lnTo>
                <a:lnTo>
                  <a:pt x="22" y="1"/>
                </a:lnTo>
                <a:lnTo>
                  <a:pt x="26" y="2"/>
                </a:lnTo>
                <a:lnTo>
                  <a:pt x="29" y="4"/>
                </a:lnTo>
                <a:lnTo>
                  <a:pt x="32" y="6"/>
                </a:lnTo>
                <a:lnTo>
                  <a:pt x="34" y="8"/>
                </a:lnTo>
                <a:lnTo>
                  <a:pt x="37" y="11"/>
                </a:lnTo>
                <a:lnTo>
                  <a:pt x="38" y="14"/>
                </a:lnTo>
                <a:lnTo>
                  <a:pt x="40" y="17"/>
                </a:lnTo>
                <a:lnTo>
                  <a:pt x="41" y="20"/>
                </a:lnTo>
                <a:lnTo>
                  <a:pt x="41" y="24"/>
                </a:lnTo>
                <a:lnTo>
                  <a:pt x="41" y="27"/>
                </a:lnTo>
                <a:lnTo>
                  <a:pt x="41" y="31"/>
                </a:lnTo>
                <a:lnTo>
                  <a:pt x="40" y="34"/>
                </a:lnTo>
                <a:lnTo>
                  <a:pt x="39" y="38"/>
                </a:lnTo>
                <a:lnTo>
                  <a:pt x="37" y="41"/>
                </a:lnTo>
                <a:lnTo>
                  <a:pt x="35" y="43"/>
                </a:lnTo>
                <a:lnTo>
                  <a:pt x="32" y="46"/>
                </a:lnTo>
                <a:lnTo>
                  <a:pt x="29" y="48"/>
                </a:lnTo>
                <a:lnTo>
                  <a:pt x="26" y="50"/>
                </a:lnTo>
                <a:lnTo>
                  <a:pt x="23" y="51"/>
                </a:lnTo>
                <a:lnTo>
                  <a:pt x="20" y="52"/>
                </a:lnTo>
                <a:lnTo>
                  <a:pt x="16" y="52"/>
                </a:lnTo>
                <a:lnTo>
                  <a:pt x="13" y="52"/>
                </a:lnTo>
                <a:lnTo>
                  <a:pt x="9" y="51"/>
                </a:lnTo>
                <a:lnTo>
                  <a:pt x="6" y="50"/>
                </a:lnTo>
                <a:lnTo>
                  <a:pt x="3" y="49"/>
                </a:lnTo>
                <a:lnTo>
                  <a:pt x="0" y="47"/>
                </a:lnTo>
                <a:close/>
              </a:path>
            </a:pathLst>
          </a:cu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Oval 111"/>
          <p:cNvSpPr/>
          <p:nvPr/>
        </p:nvSpPr>
        <p:spPr>
          <a:xfrm>
            <a:off x="3847528" y="3521160"/>
            <a:ext cx="277368" cy="265774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TextBox 112"/>
          <p:cNvSpPr txBox="1"/>
          <p:nvPr/>
        </p:nvSpPr>
        <p:spPr>
          <a:xfrm>
            <a:off x="3738562" y="3590159"/>
            <a:ext cx="495300" cy="127776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3495675" y="4092136"/>
            <a:ext cx="990600" cy="91268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Europe  </a:t>
            </a:r>
            <a:r>
              <a:rPr sz="1100" b="1">
                <a:solidFill>
                  <a:srgbClr val="0E72AE"/>
                </a:solidFill>
                <a:latin typeface="Calibri"/>
              </a:rPr>
              <a:t>▲</a:t>
            </a:r>
          </a:p>
        </p:txBody>
      </p:sp>
      <p:sp>
        <p:nvSpPr>
          <p:cNvPr id="115" name="Oval 114"/>
          <p:cNvSpPr/>
          <p:nvPr/>
        </p:nvSpPr>
        <p:spPr>
          <a:xfrm>
            <a:off x="358140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358140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</a:t>
            </a:r>
          </a:p>
        </p:txBody>
      </p:sp>
      <p:sp>
        <p:nvSpPr>
          <p:cNvPr id="117" name="Oval 116"/>
          <p:cNvSpPr/>
          <p:nvPr/>
        </p:nvSpPr>
        <p:spPr>
          <a:xfrm>
            <a:off x="379095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379095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</a:t>
            </a:r>
          </a:p>
        </p:txBody>
      </p:sp>
      <p:sp>
        <p:nvSpPr>
          <p:cNvPr id="119" name="Oval 118"/>
          <p:cNvSpPr/>
          <p:nvPr/>
        </p:nvSpPr>
        <p:spPr>
          <a:xfrm>
            <a:off x="400050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400050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</a:t>
            </a:r>
          </a:p>
        </p:txBody>
      </p:sp>
      <p:sp>
        <p:nvSpPr>
          <p:cNvPr id="121" name="Oval 120"/>
          <p:cNvSpPr/>
          <p:nvPr/>
        </p:nvSpPr>
        <p:spPr>
          <a:xfrm>
            <a:off x="4210050" y="5173667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421005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</a:t>
            </a:r>
          </a:p>
        </p:txBody>
      </p:sp>
      <p:sp>
        <p:nvSpPr>
          <p:cNvPr id="123" name="Oval 122"/>
          <p:cNvSpPr/>
          <p:nvPr/>
        </p:nvSpPr>
        <p:spPr>
          <a:xfrm>
            <a:off x="3686175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3686175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</a:t>
            </a:r>
          </a:p>
        </p:txBody>
      </p:sp>
      <p:sp>
        <p:nvSpPr>
          <p:cNvPr id="125" name="Oval 124"/>
          <p:cNvSpPr/>
          <p:nvPr/>
        </p:nvSpPr>
        <p:spPr>
          <a:xfrm>
            <a:off x="3895725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3895725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</a:t>
            </a:r>
          </a:p>
        </p:txBody>
      </p:sp>
      <p:sp>
        <p:nvSpPr>
          <p:cNvPr id="127" name="Oval 126"/>
          <p:cNvSpPr/>
          <p:nvPr/>
        </p:nvSpPr>
        <p:spPr>
          <a:xfrm>
            <a:off x="4105275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4105275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</a:t>
            </a:r>
          </a:p>
        </p:txBody>
      </p:sp>
      <p:sp>
        <p:nvSpPr>
          <p:cNvPr id="129" name="TextBox 128"/>
          <p:cNvSpPr txBox="1"/>
          <p:nvPr/>
        </p:nvSpPr>
        <p:spPr>
          <a:xfrm>
            <a:off x="4552950" y="1189798"/>
            <a:ext cx="1019175" cy="328567"/>
          </a:xfrm>
          <a:prstGeom prst="rect">
            <a:avLst/>
          </a:prstGeom>
          <a:noFill/>
        </p:spPr>
        <p:txBody>
          <a:bodyPr wrap="square" lIns="9525" rIns="9525" tIns="9525" bIns="9525" anchor="ctr">
            <a:spAutoFit/>
          </a:bodyPr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2E2E2E"/>
                </a:solidFill>
                <a:latin typeface="Calibri"/>
              </a:rPr>
              <a:t>Group55</a:t>
            </a:r>
          </a:p>
        </p:txBody>
      </p:sp>
      <p:cxnSp>
        <p:nvCxnSpPr>
          <p:cNvPr id="130" name="Connector 129"/>
          <p:cNvCxnSpPr/>
          <p:nvPr/>
        </p:nvCxnSpPr>
        <p:spPr>
          <a:xfrm>
            <a:off x="4833938" y="1509238"/>
            <a:ext cx="457200" cy="0"/>
          </a:xfrm>
          <a:prstGeom prst="line">
            <a:avLst/>
          </a:prstGeom>
          <a:ln w="1905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1" name="TextBox 130"/>
          <p:cNvSpPr txBox="1"/>
          <p:nvPr/>
        </p:nvSpPr>
        <p:spPr>
          <a:xfrm>
            <a:off x="4552950" y="1536618"/>
            <a:ext cx="1019175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AFB4B9"/>
                </a:solidFill>
                <a:latin typeface="Calibri"/>
              </a:rPr>
              <a:t>Brand D</a:t>
            </a:r>
          </a:p>
        </p:txBody>
      </p:sp>
      <p:sp>
        <p:nvSpPr>
          <p:cNvPr id="132" name="TextBox 131"/>
          <p:cNvSpPr txBox="1"/>
          <p:nvPr/>
        </p:nvSpPr>
        <p:spPr>
          <a:xfrm>
            <a:off x="4543425" y="1828677"/>
            <a:ext cx="1038225" cy="200791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ctr"/>
            <a:r>
              <a:rPr sz="1300" b="0">
                <a:solidFill>
                  <a:srgbClr val="0B2E4A"/>
                </a:solidFill>
                <a:latin typeface="Calibri"/>
              </a:rPr>
              <a:t>✦ </a:t>
            </a:r>
            <a:r>
              <a:rPr sz="1300" b="0">
                <a:solidFill>
                  <a:srgbClr val="69B1E0"/>
                </a:solidFill>
                <a:latin typeface="Calibri"/>
              </a:rPr>
              <a:t>✦ </a:t>
            </a:r>
            <a:r>
              <a:rPr sz="1300" b="0">
                <a:solidFill>
                  <a:srgbClr val="D4D7DA"/>
                </a:solidFill>
                <a:latin typeface="Calibri"/>
              </a:rPr>
              <a:t>✦ </a:t>
            </a:r>
            <a:r>
              <a:rPr sz="1300" b="0">
                <a:solidFill>
                  <a:srgbClr val="D4D7DA"/>
                </a:solidFill>
                <a:latin typeface="Calibri"/>
              </a:rPr>
              <a:t>✦ </a:t>
            </a:r>
          </a:p>
        </p:txBody>
      </p:sp>
      <p:sp>
        <p:nvSpPr>
          <p:cNvPr id="133" name="TextBox 132"/>
          <p:cNvSpPr txBox="1"/>
          <p:nvPr/>
        </p:nvSpPr>
        <p:spPr>
          <a:xfrm>
            <a:off x="4543425" y="2047722"/>
            <a:ext cx="10382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  <a:r>
              <a:rPr sz="1100" b="1">
                <a:solidFill>
                  <a:srgbClr val="E44D3A"/>
                </a:solidFill>
                <a:latin typeface="Calibri"/>
              </a:rPr>
              <a:t>✘ </a:t>
            </a:r>
          </a:p>
        </p:txBody>
      </p:sp>
      <p:sp>
        <p:nvSpPr>
          <p:cNvPr id="134" name="Rectangle 133"/>
          <p:cNvSpPr/>
          <p:nvPr/>
        </p:nvSpPr>
        <p:spPr>
          <a:xfrm>
            <a:off x="4833938" y="2303274"/>
            <a:ext cx="114300" cy="109522"/>
          </a:xfrm>
          <a:prstGeom prst="rect">
            <a:avLst/>
          </a:prstGeom>
          <a:solidFill>
            <a:srgbClr val="FFFFFF"/>
          </a:solidFill>
          <a:ln w="12700">
            <a:solidFill>
              <a:srgbClr val="A86F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5005388" y="2303274"/>
            <a:ext cx="114300" cy="109522"/>
          </a:xfrm>
          <a:prstGeom prst="rect">
            <a:avLst/>
          </a:prstGeom>
          <a:solidFill>
            <a:srgbClr val="79C3E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5176838" y="2303274"/>
            <a:ext cx="114300" cy="109522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TextBox 136"/>
          <p:cNvSpPr txBox="1"/>
          <p:nvPr/>
        </p:nvSpPr>
        <p:spPr>
          <a:xfrm>
            <a:off x="4552950" y="2631840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4552950" y="2960407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39" name="Oval 138"/>
          <p:cNvSpPr/>
          <p:nvPr/>
        </p:nvSpPr>
        <p:spPr>
          <a:xfrm>
            <a:off x="4814888" y="3416749"/>
            <a:ext cx="495300" cy="474596"/>
          </a:xfrm>
          <a:prstGeom prst="ellipse">
            <a:avLst/>
          </a:prstGeom>
          <a:solidFill>
            <a:srgbClr val="E4E9E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Freeform 139"/>
          <p:cNvSpPr/>
          <p:nvPr/>
        </p:nvSpPr>
        <p:spPr>
          <a:xfrm>
            <a:off x="5067300" y="3416749"/>
            <a:ext cx="238125" cy="447216"/>
          </a:xfrm>
          <a:custGeom>
            <a:avLst/>
            <a:gdLst/>
            <a:ahLst/>
            <a:cxnLst/>
            <a:rect l="l" t="t" r="r" b="b"/>
            <a:pathLst>
              <a:path w="25" h="49">
                <a:moveTo>
                  <a:pt x="0" y="26"/>
                </a:moveTo>
                <a:lnTo>
                  <a:pt x="0" y="0"/>
                </a:lnTo>
                <a:lnTo>
                  <a:pt x="3" y="0"/>
                </a:lnTo>
                <a:lnTo>
                  <a:pt x="6" y="1"/>
                </a:lnTo>
                <a:lnTo>
                  <a:pt x="10" y="2"/>
                </a:lnTo>
                <a:lnTo>
                  <a:pt x="13" y="4"/>
                </a:lnTo>
                <a:lnTo>
                  <a:pt x="16" y="6"/>
                </a:lnTo>
                <a:lnTo>
                  <a:pt x="18" y="8"/>
                </a:lnTo>
                <a:lnTo>
                  <a:pt x="20" y="11"/>
                </a:lnTo>
                <a:lnTo>
                  <a:pt x="22" y="13"/>
                </a:lnTo>
                <a:lnTo>
                  <a:pt x="24" y="17"/>
                </a:lnTo>
                <a:lnTo>
                  <a:pt x="25" y="20"/>
                </a:lnTo>
                <a:lnTo>
                  <a:pt x="25" y="23"/>
                </a:lnTo>
                <a:lnTo>
                  <a:pt x="25" y="27"/>
                </a:lnTo>
                <a:lnTo>
                  <a:pt x="25" y="30"/>
                </a:lnTo>
                <a:lnTo>
                  <a:pt x="24" y="34"/>
                </a:lnTo>
                <a:lnTo>
                  <a:pt x="23" y="37"/>
                </a:lnTo>
                <a:lnTo>
                  <a:pt x="22" y="40"/>
                </a:lnTo>
                <a:lnTo>
                  <a:pt x="19" y="43"/>
                </a:lnTo>
                <a:lnTo>
                  <a:pt x="17" y="45"/>
                </a:lnTo>
                <a:lnTo>
                  <a:pt x="14" y="47"/>
                </a:lnTo>
                <a:lnTo>
                  <a:pt x="11" y="49"/>
                </a:lnTo>
                <a:close/>
              </a:path>
            </a:pathLst>
          </a:cu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Oval 140"/>
          <p:cNvSpPr/>
          <p:nvPr/>
        </p:nvSpPr>
        <p:spPr>
          <a:xfrm>
            <a:off x="4923854" y="3521160"/>
            <a:ext cx="277368" cy="265774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4814888" y="3590159"/>
            <a:ext cx="495300" cy="127776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143" name="TextBox 142"/>
          <p:cNvSpPr txBox="1"/>
          <p:nvPr/>
        </p:nvSpPr>
        <p:spPr>
          <a:xfrm>
            <a:off x="4572000" y="4092136"/>
            <a:ext cx="990600" cy="91268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Europe  </a:t>
            </a:r>
            <a:r>
              <a:rPr sz="1100" b="1">
                <a:solidFill>
                  <a:srgbClr val="0E72AE"/>
                </a:solidFill>
                <a:latin typeface="Calibri"/>
              </a:rPr>
              <a:t>▲</a:t>
            </a:r>
          </a:p>
        </p:txBody>
      </p:sp>
      <p:sp>
        <p:nvSpPr>
          <p:cNvPr id="144" name="Oval 143"/>
          <p:cNvSpPr/>
          <p:nvPr/>
        </p:nvSpPr>
        <p:spPr>
          <a:xfrm>
            <a:off x="465772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5" name="TextBox 144"/>
          <p:cNvSpPr txBox="1"/>
          <p:nvPr/>
        </p:nvSpPr>
        <p:spPr>
          <a:xfrm>
            <a:off x="465772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</a:t>
            </a:r>
          </a:p>
        </p:txBody>
      </p:sp>
      <p:sp>
        <p:nvSpPr>
          <p:cNvPr id="146" name="Oval 145"/>
          <p:cNvSpPr/>
          <p:nvPr/>
        </p:nvSpPr>
        <p:spPr>
          <a:xfrm>
            <a:off x="486727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TextBox 146"/>
          <p:cNvSpPr txBox="1"/>
          <p:nvPr/>
        </p:nvSpPr>
        <p:spPr>
          <a:xfrm>
            <a:off x="486727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</a:t>
            </a:r>
          </a:p>
        </p:txBody>
      </p:sp>
      <p:sp>
        <p:nvSpPr>
          <p:cNvPr id="148" name="Oval 147"/>
          <p:cNvSpPr/>
          <p:nvPr/>
        </p:nvSpPr>
        <p:spPr>
          <a:xfrm>
            <a:off x="507682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TextBox 148"/>
          <p:cNvSpPr txBox="1"/>
          <p:nvPr/>
        </p:nvSpPr>
        <p:spPr>
          <a:xfrm>
            <a:off x="507682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</a:t>
            </a:r>
          </a:p>
        </p:txBody>
      </p:sp>
      <p:sp>
        <p:nvSpPr>
          <p:cNvPr id="150" name="Oval 149"/>
          <p:cNvSpPr/>
          <p:nvPr/>
        </p:nvSpPr>
        <p:spPr>
          <a:xfrm>
            <a:off x="528637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TextBox 150"/>
          <p:cNvSpPr txBox="1"/>
          <p:nvPr/>
        </p:nvSpPr>
        <p:spPr>
          <a:xfrm>
            <a:off x="528637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</a:t>
            </a:r>
          </a:p>
        </p:txBody>
      </p:sp>
      <p:sp>
        <p:nvSpPr>
          <p:cNvPr id="152" name="Oval 151"/>
          <p:cNvSpPr/>
          <p:nvPr/>
        </p:nvSpPr>
        <p:spPr>
          <a:xfrm>
            <a:off x="4762500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TextBox 152"/>
          <p:cNvSpPr txBox="1"/>
          <p:nvPr/>
        </p:nvSpPr>
        <p:spPr>
          <a:xfrm>
            <a:off x="4762500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</a:t>
            </a:r>
          </a:p>
        </p:txBody>
      </p:sp>
      <p:sp>
        <p:nvSpPr>
          <p:cNvPr id="154" name="Oval 153"/>
          <p:cNvSpPr/>
          <p:nvPr/>
        </p:nvSpPr>
        <p:spPr>
          <a:xfrm>
            <a:off x="4972050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5" name="TextBox 154"/>
          <p:cNvSpPr txBox="1"/>
          <p:nvPr/>
        </p:nvSpPr>
        <p:spPr>
          <a:xfrm>
            <a:off x="4972050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</a:t>
            </a:r>
          </a:p>
        </p:txBody>
      </p:sp>
      <p:sp>
        <p:nvSpPr>
          <p:cNvPr id="156" name="Oval 155"/>
          <p:cNvSpPr/>
          <p:nvPr/>
        </p:nvSpPr>
        <p:spPr>
          <a:xfrm>
            <a:off x="5181600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TextBox 156"/>
          <p:cNvSpPr txBox="1"/>
          <p:nvPr/>
        </p:nvSpPr>
        <p:spPr>
          <a:xfrm>
            <a:off x="5181600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</a:t>
            </a:r>
          </a:p>
        </p:txBody>
      </p:sp>
      <p:sp>
        <p:nvSpPr>
          <p:cNvPr id="158" name="TextBox 157"/>
          <p:cNvSpPr txBox="1"/>
          <p:nvPr/>
        </p:nvSpPr>
        <p:spPr>
          <a:xfrm>
            <a:off x="5629275" y="1189798"/>
            <a:ext cx="1019175" cy="328567"/>
          </a:xfrm>
          <a:prstGeom prst="rect">
            <a:avLst/>
          </a:prstGeom>
          <a:noFill/>
        </p:spPr>
        <p:txBody>
          <a:bodyPr wrap="square" lIns="9525" rIns="9525" tIns="9525" bIns="9525" anchor="ctr">
            <a:spAutoFit/>
          </a:bodyPr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2E2E2E"/>
                </a:solidFill>
                <a:latin typeface="Calibri"/>
              </a:rPr>
              <a:t>Lakeland Cosmetics</a:t>
            </a:r>
          </a:p>
        </p:txBody>
      </p:sp>
      <p:cxnSp>
        <p:nvCxnSpPr>
          <p:cNvPr id="159" name="Connector 158"/>
          <p:cNvCxnSpPr/>
          <p:nvPr/>
        </p:nvCxnSpPr>
        <p:spPr>
          <a:xfrm>
            <a:off x="5910262" y="1509238"/>
            <a:ext cx="457200" cy="0"/>
          </a:xfrm>
          <a:prstGeom prst="line">
            <a:avLst/>
          </a:prstGeom>
          <a:ln w="1905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0" name="TextBox 159"/>
          <p:cNvSpPr txBox="1"/>
          <p:nvPr/>
        </p:nvSpPr>
        <p:spPr>
          <a:xfrm>
            <a:off x="5629275" y="1536618"/>
            <a:ext cx="1019175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AFB4B9"/>
                </a:solidFill>
                <a:latin typeface="Calibri"/>
              </a:rPr>
              <a:t>Brand E</a:t>
            </a:r>
          </a:p>
        </p:txBody>
      </p:sp>
      <p:sp>
        <p:nvSpPr>
          <p:cNvPr id="161" name="TextBox 160"/>
          <p:cNvSpPr txBox="1"/>
          <p:nvPr/>
        </p:nvSpPr>
        <p:spPr>
          <a:xfrm>
            <a:off x="5619750" y="1828677"/>
            <a:ext cx="1038225" cy="200791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ctr"/>
            <a:r>
              <a:rPr sz="1300" b="0">
                <a:solidFill>
                  <a:srgbClr val="0B2E4A"/>
                </a:solidFill>
                <a:latin typeface="Calibri"/>
              </a:rPr>
              <a:t>✦ </a:t>
            </a:r>
            <a:r>
              <a:rPr sz="1300" b="0">
                <a:solidFill>
                  <a:srgbClr val="69B1E0"/>
                </a:solidFill>
                <a:latin typeface="Calibri"/>
              </a:rPr>
              <a:t>✦ </a:t>
            </a:r>
            <a:r>
              <a:rPr sz="1300" b="0">
                <a:solidFill>
                  <a:srgbClr val="A86F00"/>
                </a:solidFill>
                <a:latin typeface="Calibri"/>
              </a:rPr>
              <a:t>✦ </a:t>
            </a:r>
            <a:r>
              <a:rPr sz="1300" b="0">
                <a:solidFill>
                  <a:srgbClr val="D4D7DA"/>
                </a:solidFill>
                <a:latin typeface="Calibri"/>
              </a:rPr>
              <a:t>✦ </a:t>
            </a:r>
          </a:p>
        </p:txBody>
      </p:sp>
      <p:sp>
        <p:nvSpPr>
          <p:cNvPr id="162" name="TextBox 161"/>
          <p:cNvSpPr txBox="1"/>
          <p:nvPr/>
        </p:nvSpPr>
        <p:spPr>
          <a:xfrm>
            <a:off x="5619750" y="2047722"/>
            <a:ext cx="10382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  <a:r>
              <a:rPr sz="1100" b="1">
                <a:solidFill>
                  <a:srgbClr val="E44D3A"/>
                </a:solidFill>
                <a:latin typeface="Calibri"/>
              </a:rPr>
              <a:t>✘ </a:t>
            </a:r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5910262" y="2303274"/>
            <a:ext cx="114300" cy="109522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Rectangle 163"/>
          <p:cNvSpPr/>
          <p:nvPr/>
        </p:nvSpPr>
        <p:spPr>
          <a:xfrm>
            <a:off x="6081712" y="2303274"/>
            <a:ext cx="114300" cy="109522"/>
          </a:xfrm>
          <a:prstGeom prst="rect">
            <a:avLst/>
          </a:prstGeom>
          <a:solidFill>
            <a:srgbClr val="79C3E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5" name="Rectangle 164"/>
          <p:cNvSpPr/>
          <p:nvPr/>
        </p:nvSpPr>
        <p:spPr>
          <a:xfrm>
            <a:off x="6253162" y="2303274"/>
            <a:ext cx="114300" cy="109522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5629275" y="2631840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67" name="TextBox 166"/>
          <p:cNvSpPr txBox="1"/>
          <p:nvPr/>
        </p:nvSpPr>
        <p:spPr>
          <a:xfrm>
            <a:off x="5629275" y="2960407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68" name="Oval 167"/>
          <p:cNvSpPr/>
          <p:nvPr/>
        </p:nvSpPr>
        <p:spPr>
          <a:xfrm>
            <a:off x="5891212" y="3416749"/>
            <a:ext cx="495300" cy="474596"/>
          </a:xfrm>
          <a:prstGeom prst="ellipse">
            <a:avLst/>
          </a:prstGeom>
          <a:solidFill>
            <a:srgbClr val="E4E9E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Freeform 168"/>
          <p:cNvSpPr/>
          <p:nvPr/>
        </p:nvSpPr>
        <p:spPr>
          <a:xfrm>
            <a:off x="6134100" y="3416749"/>
            <a:ext cx="247650" cy="447216"/>
          </a:xfrm>
          <a:custGeom>
            <a:avLst/>
            <a:gdLst/>
            <a:ahLst/>
            <a:cxnLst/>
            <a:rect l="l" t="t" r="r" b="b"/>
            <a:pathLst>
              <a:path w="26" h="49">
                <a:moveTo>
                  <a:pt x="0" y="26"/>
                </a:moveTo>
                <a:lnTo>
                  <a:pt x="0" y="0"/>
                </a:lnTo>
                <a:lnTo>
                  <a:pt x="4" y="0"/>
                </a:lnTo>
                <a:lnTo>
                  <a:pt x="7" y="1"/>
                </a:lnTo>
                <a:lnTo>
                  <a:pt x="11" y="2"/>
                </a:lnTo>
                <a:lnTo>
                  <a:pt x="14" y="4"/>
                </a:lnTo>
                <a:lnTo>
                  <a:pt x="16" y="5"/>
                </a:lnTo>
                <a:lnTo>
                  <a:pt x="19" y="8"/>
                </a:lnTo>
                <a:lnTo>
                  <a:pt x="21" y="10"/>
                </a:lnTo>
                <a:lnTo>
                  <a:pt x="23" y="13"/>
                </a:lnTo>
                <a:lnTo>
                  <a:pt x="25" y="16"/>
                </a:lnTo>
                <a:lnTo>
                  <a:pt x="26" y="20"/>
                </a:lnTo>
                <a:lnTo>
                  <a:pt x="26" y="23"/>
                </a:lnTo>
                <a:lnTo>
                  <a:pt x="26" y="26"/>
                </a:lnTo>
                <a:lnTo>
                  <a:pt x="26" y="30"/>
                </a:lnTo>
                <a:lnTo>
                  <a:pt x="26" y="33"/>
                </a:lnTo>
                <a:lnTo>
                  <a:pt x="24" y="36"/>
                </a:lnTo>
                <a:lnTo>
                  <a:pt x="23" y="39"/>
                </a:lnTo>
                <a:lnTo>
                  <a:pt x="21" y="42"/>
                </a:lnTo>
                <a:lnTo>
                  <a:pt x="19" y="45"/>
                </a:lnTo>
                <a:lnTo>
                  <a:pt x="16" y="47"/>
                </a:lnTo>
                <a:lnTo>
                  <a:pt x="13" y="49"/>
                </a:lnTo>
                <a:close/>
              </a:path>
            </a:pathLst>
          </a:cu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Oval 169"/>
          <p:cNvSpPr/>
          <p:nvPr/>
        </p:nvSpPr>
        <p:spPr>
          <a:xfrm>
            <a:off x="6000179" y="3521160"/>
            <a:ext cx="277368" cy="265774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1" name="TextBox 170"/>
          <p:cNvSpPr txBox="1"/>
          <p:nvPr/>
        </p:nvSpPr>
        <p:spPr>
          <a:xfrm>
            <a:off x="5891212" y="3590159"/>
            <a:ext cx="495300" cy="127776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172" name="TextBox 171"/>
          <p:cNvSpPr txBox="1"/>
          <p:nvPr/>
        </p:nvSpPr>
        <p:spPr>
          <a:xfrm>
            <a:off x="5648325" y="4092136"/>
            <a:ext cx="990600" cy="91268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Europe  </a:t>
            </a:r>
            <a:r>
              <a:rPr sz="1100" b="1">
                <a:solidFill>
                  <a:srgbClr val="0E72AE"/>
                </a:solidFill>
                <a:latin typeface="Calibri"/>
              </a:rPr>
              <a:t>▲</a:t>
            </a:r>
          </a:p>
        </p:txBody>
      </p:sp>
      <p:sp>
        <p:nvSpPr>
          <p:cNvPr id="173" name="Oval 172"/>
          <p:cNvSpPr/>
          <p:nvPr/>
        </p:nvSpPr>
        <p:spPr>
          <a:xfrm>
            <a:off x="573405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573405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</a:t>
            </a:r>
          </a:p>
        </p:txBody>
      </p:sp>
      <p:sp>
        <p:nvSpPr>
          <p:cNvPr id="175" name="Oval 174"/>
          <p:cNvSpPr/>
          <p:nvPr/>
        </p:nvSpPr>
        <p:spPr>
          <a:xfrm>
            <a:off x="594360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594360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</a:t>
            </a:r>
          </a:p>
        </p:txBody>
      </p:sp>
      <p:sp>
        <p:nvSpPr>
          <p:cNvPr id="177" name="Oval 176"/>
          <p:cNvSpPr/>
          <p:nvPr/>
        </p:nvSpPr>
        <p:spPr>
          <a:xfrm>
            <a:off x="615315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615315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</a:t>
            </a:r>
          </a:p>
        </p:txBody>
      </p:sp>
      <p:sp>
        <p:nvSpPr>
          <p:cNvPr id="179" name="Oval 178"/>
          <p:cNvSpPr/>
          <p:nvPr/>
        </p:nvSpPr>
        <p:spPr>
          <a:xfrm>
            <a:off x="6362700" y="5173667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636270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</a:t>
            </a:r>
          </a:p>
        </p:txBody>
      </p:sp>
      <p:sp>
        <p:nvSpPr>
          <p:cNvPr id="181" name="Oval 180"/>
          <p:cNvSpPr/>
          <p:nvPr/>
        </p:nvSpPr>
        <p:spPr>
          <a:xfrm>
            <a:off x="5838825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5838825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</a:t>
            </a:r>
          </a:p>
        </p:txBody>
      </p:sp>
      <p:sp>
        <p:nvSpPr>
          <p:cNvPr id="183" name="Oval 182"/>
          <p:cNvSpPr/>
          <p:nvPr/>
        </p:nvSpPr>
        <p:spPr>
          <a:xfrm>
            <a:off x="6048375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6048375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</a:t>
            </a:r>
          </a:p>
        </p:txBody>
      </p:sp>
      <p:sp>
        <p:nvSpPr>
          <p:cNvPr id="185" name="Oval 184"/>
          <p:cNvSpPr/>
          <p:nvPr/>
        </p:nvSpPr>
        <p:spPr>
          <a:xfrm>
            <a:off x="6257925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6257925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</a:t>
            </a:r>
          </a:p>
        </p:txBody>
      </p:sp>
      <p:sp>
        <p:nvSpPr>
          <p:cNvPr id="187" name="TextBox 186"/>
          <p:cNvSpPr txBox="1"/>
          <p:nvPr/>
        </p:nvSpPr>
        <p:spPr>
          <a:xfrm>
            <a:off x="6705600" y="1189798"/>
            <a:ext cx="1019175" cy="328567"/>
          </a:xfrm>
          <a:prstGeom prst="rect">
            <a:avLst/>
          </a:prstGeom>
          <a:noFill/>
        </p:spPr>
        <p:txBody>
          <a:bodyPr wrap="square" lIns="9525" rIns="9525" tIns="9525" bIns="9525" anchor="ctr">
            <a:spAutoFit/>
          </a:bodyPr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2E2E2E"/>
                </a:solidFill>
                <a:latin typeface="Calibri"/>
              </a:rPr>
              <a:t>Laboratorios Bilper</a:t>
            </a:r>
          </a:p>
        </p:txBody>
      </p:sp>
      <p:cxnSp>
        <p:nvCxnSpPr>
          <p:cNvPr id="188" name="Connector 187"/>
          <p:cNvCxnSpPr/>
          <p:nvPr/>
        </p:nvCxnSpPr>
        <p:spPr>
          <a:xfrm>
            <a:off x="6986588" y="1509238"/>
            <a:ext cx="457200" cy="0"/>
          </a:xfrm>
          <a:prstGeom prst="line">
            <a:avLst/>
          </a:prstGeom>
          <a:ln w="1905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9" name="TextBox 188"/>
          <p:cNvSpPr txBox="1"/>
          <p:nvPr/>
        </p:nvSpPr>
        <p:spPr>
          <a:xfrm>
            <a:off x="6705600" y="1536618"/>
            <a:ext cx="1019175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AFB4B9"/>
                </a:solidFill>
                <a:latin typeface="Calibri"/>
              </a:rPr>
              <a:t>Brand F</a:t>
            </a:r>
          </a:p>
        </p:txBody>
      </p:sp>
      <p:sp>
        <p:nvSpPr>
          <p:cNvPr id="190" name="TextBox 189"/>
          <p:cNvSpPr txBox="1"/>
          <p:nvPr/>
        </p:nvSpPr>
        <p:spPr>
          <a:xfrm>
            <a:off x="6696075" y="1828677"/>
            <a:ext cx="1038225" cy="200791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ctr"/>
            <a:r>
              <a:rPr sz="1300" b="0">
                <a:solidFill>
                  <a:srgbClr val="0B2E4A"/>
                </a:solidFill>
                <a:latin typeface="Calibri"/>
              </a:rPr>
              <a:t>✦ </a:t>
            </a:r>
            <a:r>
              <a:rPr sz="1300" b="0">
                <a:solidFill>
                  <a:srgbClr val="69B1E0"/>
                </a:solidFill>
                <a:latin typeface="Calibri"/>
              </a:rPr>
              <a:t>✦ </a:t>
            </a:r>
            <a:r>
              <a:rPr sz="1300" b="0">
                <a:solidFill>
                  <a:srgbClr val="A86F00"/>
                </a:solidFill>
                <a:latin typeface="Calibri"/>
              </a:rPr>
              <a:t>✦ </a:t>
            </a:r>
            <a:r>
              <a:rPr sz="1300" b="0">
                <a:solidFill>
                  <a:srgbClr val="79C3EC"/>
                </a:solidFill>
                <a:latin typeface="Calibri"/>
              </a:rPr>
              <a:t>✦ </a:t>
            </a:r>
          </a:p>
        </p:txBody>
      </p:sp>
      <p:sp>
        <p:nvSpPr>
          <p:cNvPr id="191" name="TextBox 190"/>
          <p:cNvSpPr txBox="1"/>
          <p:nvPr/>
        </p:nvSpPr>
        <p:spPr>
          <a:xfrm>
            <a:off x="6696075" y="2047722"/>
            <a:ext cx="10382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E44D3A"/>
                </a:solidFill>
                <a:latin typeface="Calibri"/>
              </a:rPr>
              <a:t>✘ </a:t>
            </a:r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</a:p>
        </p:txBody>
      </p:sp>
      <p:sp>
        <p:nvSpPr>
          <p:cNvPr id="192" name="Rectangle 191"/>
          <p:cNvSpPr/>
          <p:nvPr/>
        </p:nvSpPr>
        <p:spPr>
          <a:xfrm>
            <a:off x="6986588" y="2303274"/>
            <a:ext cx="114300" cy="109522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3" name="Rectangle 192"/>
          <p:cNvSpPr/>
          <p:nvPr/>
        </p:nvSpPr>
        <p:spPr>
          <a:xfrm>
            <a:off x="7158038" y="2303274"/>
            <a:ext cx="114300" cy="109522"/>
          </a:xfrm>
          <a:prstGeom prst="rect">
            <a:avLst/>
          </a:prstGeom>
          <a:solidFill>
            <a:srgbClr val="79C3E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Rectangle 193"/>
          <p:cNvSpPr/>
          <p:nvPr/>
        </p:nvSpPr>
        <p:spPr>
          <a:xfrm>
            <a:off x="7329488" y="2303274"/>
            <a:ext cx="114300" cy="109522"/>
          </a:xfrm>
          <a:prstGeom prst="rect">
            <a:avLst/>
          </a:prstGeom>
          <a:solidFill>
            <a:srgbClr val="FFFFFF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5" name="TextBox 194"/>
          <p:cNvSpPr txBox="1"/>
          <p:nvPr/>
        </p:nvSpPr>
        <p:spPr>
          <a:xfrm>
            <a:off x="6705600" y="2631840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96" name="TextBox 195"/>
          <p:cNvSpPr txBox="1"/>
          <p:nvPr/>
        </p:nvSpPr>
        <p:spPr>
          <a:xfrm>
            <a:off x="6705600" y="2960407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97" name="Oval 196"/>
          <p:cNvSpPr/>
          <p:nvPr/>
        </p:nvSpPr>
        <p:spPr>
          <a:xfrm>
            <a:off x="6967538" y="3416749"/>
            <a:ext cx="495300" cy="474596"/>
          </a:xfrm>
          <a:prstGeom prst="ellipse">
            <a:avLst/>
          </a:prstGeom>
          <a:solidFill>
            <a:srgbClr val="E4E9E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Freeform 197"/>
          <p:cNvSpPr/>
          <p:nvPr/>
        </p:nvSpPr>
        <p:spPr>
          <a:xfrm>
            <a:off x="7219950" y="3416749"/>
            <a:ext cx="238125" cy="447216"/>
          </a:xfrm>
          <a:custGeom>
            <a:avLst/>
            <a:gdLst/>
            <a:ahLst/>
            <a:cxnLst/>
            <a:rect l="l" t="t" r="r" b="b"/>
            <a:pathLst>
              <a:path w="25" h="49">
                <a:moveTo>
                  <a:pt x="0" y="26"/>
                </a:moveTo>
                <a:lnTo>
                  <a:pt x="0" y="0"/>
                </a:lnTo>
                <a:lnTo>
                  <a:pt x="3" y="0"/>
                </a:lnTo>
                <a:lnTo>
                  <a:pt x="6" y="1"/>
                </a:lnTo>
                <a:lnTo>
                  <a:pt x="9" y="2"/>
                </a:lnTo>
                <a:lnTo>
                  <a:pt x="13" y="4"/>
                </a:lnTo>
                <a:lnTo>
                  <a:pt x="15" y="5"/>
                </a:lnTo>
                <a:lnTo>
                  <a:pt x="18" y="8"/>
                </a:lnTo>
                <a:lnTo>
                  <a:pt x="20" y="10"/>
                </a:lnTo>
                <a:lnTo>
                  <a:pt x="22" y="13"/>
                </a:lnTo>
                <a:lnTo>
                  <a:pt x="24" y="16"/>
                </a:lnTo>
                <a:lnTo>
                  <a:pt x="25" y="19"/>
                </a:lnTo>
                <a:lnTo>
                  <a:pt x="25" y="23"/>
                </a:lnTo>
                <a:lnTo>
                  <a:pt x="25" y="26"/>
                </a:lnTo>
                <a:lnTo>
                  <a:pt x="25" y="30"/>
                </a:lnTo>
                <a:lnTo>
                  <a:pt x="25" y="33"/>
                </a:lnTo>
                <a:lnTo>
                  <a:pt x="23" y="36"/>
                </a:lnTo>
                <a:lnTo>
                  <a:pt x="22" y="39"/>
                </a:lnTo>
                <a:lnTo>
                  <a:pt x="20" y="42"/>
                </a:lnTo>
                <a:lnTo>
                  <a:pt x="18" y="44"/>
                </a:lnTo>
                <a:lnTo>
                  <a:pt x="15" y="47"/>
                </a:lnTo>
                <a:lnTo>
                  <a:pt x="12" y="49"/>
                </a:lnTo>
                <a:close/>
              </a:path>
            </a:pathLst>
          </a:cu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9" name="Oval 198"/>
          <p:cNvSpPr/>
          <p:nvPr/>
        </p:nvSpPr>
        <p:spPr>
          <a:xfrm>
            <a:off x="7076504" y="3521160"/>
            <a:ext cx="277368" cy="265774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6967538" y="3590159"/>
            <a:ext cx="495300" cy="127776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201" name="TextBox 200"/>
          <p:cNvSpPr txBox="1"/>
          <p:nvPr/>
        </p:nvSpPr>
        <p:spPr>
          <a:xfrm>
            <a:off x="6724650" y="4092136"/>
            <a:ext cx="990600" cy="91268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Europe  </a:t>
            </a:r>
            <a:r>
              <a:rPr sz="1100" b="1">
                <a:solidFill>
                  <a:srgbClr val="0E72AE"/>
                </a:solidFill>
                <a:latin typeface="Calibri"/>
              </a:rPr>
              <a:t>▲</a:t>
            </a:r>
          </a:p>
        </p:txBody>
      </p:sp>
      <p:sp>
        <p:nvSpPr>
          <p:cNvPr id="202" name="Oval 201"/>
          <p:cNvSpPr/>
          <p:nvPr/>
        </p:nvSpPr>
        <p:spPr>
          <a:xfrm>
            <a:off x="681037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3" name="TextBox 202"/>
          <p:cNvSpPr txBox="1"/>
          <p:nvPr/>
        </p:nvSpPr>
        <p:spPr>
          <a:xfrm>
            <a:off x="681037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</a:t>
            </a:r>
          </a:p>
        </p:txBody>
      </p:sp>
      <p:sp>
        <p:nvSpPr>
          <p:cNvPr id="204" name="Oval 203"/>
          <p:cNvSpPr/>
          <p:nvPr/>
        </p:nvSpPr>
        <p:spPr>
          <a:xfrm>
            <a:off x="701992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5" name="TextBox 204"/>
          <p:cNvSpPr txBox="1"/>
          <p:nvPr/>
        </p:nvSpPr>
        <p:spPr>
          <a:xfrm>
            <a:off x="701992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</a:t>
            </a:r>
          </a:p>
        </p:txBody>
      </p:sp>
      <p:sp>
        <p:nvSpPr>
          <p:cNvPr id="206" name="Oval 205"/>
          <p:cNvSpPr/>
          <p:nvPr/>
        </p:nvSpPr>
        <p:spPr>
          <a:xfrm>
            <a:off x="722947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7" name="TextBox 206"/>
          <p:cNvSpPr txBox="1"/>
          <p:nvPr/>
        </p:nvSpPr>
        <p:spPr>
          <a:xfrm>
            <a:off x="722947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</a:t>
            </a:r>
          </a:p>
        </p:txBody>
      </p:sp>
      <p:sp>
        <p:nvSpPr>
          <p:cNvPr id="208" name="Oval 207"/>
          <p:cNvSpPr/>
          <p:nvPr/>
        </p:nvSpPr>
        <p:spPr>
          <a:xfrm>
            <a:off x="743902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9" name="TextBox 208"/>
          <p:cNvSpPr txBox="1"/>
          <p:nvPr/>
        </p:nvSpPr>
        <p:spPr>
          <a:xfrm>
            <a:off x="743902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</a:t>
            </a:r>
          </a:p>
        </p:txBody>
      </p:sp>
      <p:sp>
        <p:nvSpPr>
          <p:cNvPr id="210" name="Oval 209"/>
          <p:cNvSpPr/>
          <p:nvPr/>
        </p:nvSpPr>
        <p:spPr>
          <a:xfrm>
            <a:off x="6915150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1" name="TextBox 210"/>
          <p:cNvSpPr txBox="1"/>
          <p:nvPr/>
        </p:nvSpPr>
        <p:spPr>
          <a:xfrm>
            <a:off x="6915150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</a:t>
            </a:r>
          </a:p>
        </p:txBody>
      </p:sp>
      <p:sp>
        <p:nvSpPr>
          <p:cNvPr id="212" name="Oval 211"/>
          <p:cNvSpPr/>
          <p:nvPr/>
        </p:nvSpPr>
        <p:spPr>
          <a:xfrm>
            <a:off x="7124700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3" name="TextBox 212"/>
          <p:cNvSpPr txBox="1"/>
          <p:nvPr/>
        </p:nvSpPr>
        <p:spPr>
          <a:xfrm>
            <a:off x="7124700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</a:t>
            </a:r>
          </a:p>
        </p:txBody>
      </p:sp>
      <p:sp>
        <p:nvSpPr>
          <p:cNvPr id="214" name="Oval 213"/>
          <p:cNvSpPr/>
          <p:nvPr/>
        </p:nvSpPr>
        <p:spPr>
          <a:xfrm>
            <a:off x="7334250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5" name="TextBox 214"/>
          <p:cNvSpPr txBox="1"/>
          <p:nvPr/>
        </p:nvSpPr>
        <p:spPr>
          <a:xfrm>
            <a:off x="7334250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</a:t>
            </a:r>
          </a:p>
        </p:txBody>
      </p:sp>
      <p:sp>
        <p:nvSpPr>
          <p:cNvPr id="216" name="TextBox 215"/>
          <p:cNvSpPr txBox="1"/>
          <p:nvPr/>
        </p:nvSpPr>
        <p:spPr>
          <a:xfrm>
            <a:off x="7781925" y="1189798"/>
            <a:ext cx="1019175" cy="328567"/>
          </a:xfrm>
          <a:prstGeom prst="rect">
            <a:avLst/>
          </a:prstGeom>
          <a:noFill/>
        </p:spPr>
        <p:txBody>
          <a:bodyPr wrap="square" lIns="9525" rIns="9525" tIns="9525" bIns="9525" anchor="ctr">
            <a:spAutoFit/>
          </a:bodyPr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2E2E2E"/>
                </a:solidFill>
                <a:latin typeface="Calibri"/>
              </a:rPr>
              <a:t>Artero</a:t>
            </a:r>
          </a:p>
        </p:txBody>
      </p:sp>
      <p:cxnSp>
        <p:nvCxnSpPr>
          <p:cNvPr id="217" name="Connector 216"/>
          <p:cNvCxnSpPr/>
          <p:nvPr/>
        </p:nvCxnSpPr>
        <p:spPr>
          <a:xfrm>
            <a:off x="8062912" y="1509238"/>
            <a:ext cx="457200" cy="0"/>
          </a:xfrm>
          <a:prstGeom prst="line">
            <a:avLst/>
          </a:prstGeom>
          <a:ln w="1905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8" name="TextBox 217"/>
          <p:cNvSpPr txBox="1"/>
          <p:nvPr/>
        </p:nvSpPr>
        <p:spPr>
          <a:xfrm>
            <a:off x="7781925" y="1536618"/>
            <a:ext cx="1019175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AFB4B9"/>
                </a:solidFill>
                <a:latin typeface="Calibri"/>
              </a:rPr>
              <a:t>Brand G</a:t>
            </a:r>
          </a:p>
        </p:txBody>
      </p:sp>
      <p:sp>
        <p:nvSpPr>
          <p:cNvPr id="219" name="TextBox 218"/>
          <p:cNvSpPr txBox="1"/>
          <p:nvPr/>
        </p:nvSpPr>
        <p:spPr>
          <a:xfrm>
            <a:off x="7772400" y="1828677"/>
            <a:ext cx="1038225" cy="200791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ctr"/>
            <a:r>
              <a:rPr sz="1300" b="0">
                <a:solidFill>
                  <a:srgbClr val="0B2E4A"/>
                </a:solidFill>
                <a:latin typeface="Calibri"/>
              </a:rPr>
              <a:t>✦ </a:t>
            </a:r>
            <a:r>
              <a:rPr sz="1300" b="0">
                <a:solidFill>
                  <a:srgbClr val="69B1E0"/>
                </a:solidFill>
                <a:latin typeface="Calibri"/>
              </a:rPr>
              <a:t>✦ </a:t>
            </a:r>
            <a:r>
              <a:rPr sz="1300" b="0">
                <a:solidFill>
                  <a:srgbClr val="D4D7DA"/>
                </a:solidFill>
                <a:latin typeface="Calibri"/>
              </a:rPr>
              <a:t>✦ </a:t>
            </a:r>
            <a:r>
              <a:rPr sz="1300" b="0">
                <a:solidFill>
                  <a:srgbClr val="D4D7DA"/>
                </a:solidFill>
                <a:latin typeface="Calibri"/>
              </a:rPr>
              <a:t>✦ </a:t>
            </a:r>
          </a:p>
        </p:txBody>
      </p:sp>
      <p:sp>
        <p:nvSpPr>
          <p:cNvPr id="220" name="TextBox 219"/>
          <p:cNvSpPr txBox="1"/>
          <p:nvPr/>
        </p:nvSpPr>
        <p:spPr>
          <a:xfrm>
            <a:off x="7772400" y="2047722"/>
            <a:ext cx="10382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  <a:r>
              <a:rPr sz="1100" b="1">
                <a:solidFill>
                  <a:srgbClr val="E44D3A"/>
                </a:solidFill>
                <a:latin typeface="Calibri"/>
              </a:rPr>
              <a:t>✘ 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8062912" y="2303274"/>
            <a:ext cx="114300" cy="109522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Rectangle 221"/>
          <p:cNvSpPr/>
          <p:nvPr/>
        </p:nvSpPr>
        <p:spPr>
          <a:xfrm>
            <a:off x="8234362" y="2303274"/>
            <a:ext cx="114300" cy="109522"/>
          </a:xfrm>
          <a:prstGeom prst="rect">
            <a:avLst/>
          </a:prstGeom>
          <a:solidFill>
            <a:srgbClr val="FFFFFF"/>
          </a:solidFill>
          <a:ln w="12700">
            <a:solidFill>
              <a:srgbClr val="79C3E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3" name="Rectangle 222"/>
          <p:cNvSpPr/>
          <p:nvPr/>
        </p:nvSpPr>
        <p:spPr>
          <a:xfrm>
            <a:off x="8405812" y="2303274"/>
            <a:ext cx="114300" cy="109522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7781925" y="2631840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225" name="TextBox 224"/>
          <p:cNvSpPr txBox="1"/>
          <p:nvPr/>
        </p:nvSpPr>
        <p:spPr>
          <a:xfrm>
            <a:off x="7781925" y="2960407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226" name="Oval 225"/>
          <p:cNvSpPr/>
          <p:nvPr/>
        </p:nvSpPr>
        <p:spPr>
          <a:xfrm>
            <a:off x="8043862" y="3416749"/>
            <a:ext cx="495300" cy="474596"/>
          </a:xfrm>
          <a:prstGeom prst="ellipse">
            <a:avLst/>
          </a:prstGeom>
          <a:solidFill>
            <a:srgbClr val="E4E9E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7" name="Freeform 226"/>
          <p:cNvSpPr/>
          <p:nvPr/>
        </p:nvSpPr>
        <p:spPr>
          <a:xfrm>
            <a:off x="8286750" y="3416749"/>
            <a:ext cx="247650" cy="355947"/>
          </a:xfrm>
          <a:custGeom>
            <a:avLst/>
            <a:gdLst/>
            <a:ahLst/>
            <a:cxnLst/>
            <a:rect l="l" t="t" r="r" b="b"/>
            <a:pathLst>
              <a:path w="26" h="39">
                <a:moveTo>
                  <a:pt x="0" y="26"/>
                </a:moveTo>
                <a:lnTo>
                  <a:pt x="0" y="0"/>
                </a:lnTo>
                <a:lnTo>
                  <a:pt x="4" y="0"/>
                </a:lnTo>
                <a:lnTo>
                  <a:pt x="7" y="1"/>
                </a:lnTo>
                <a:lnTo>
                  <a:pt x="10" y="2"/>
                </a:lnTo>
                <a:lnTo>
                  <a:pt x="14" y="4"/>
                </a:lnTo>
                <a:lnTo>
                  <a:pt x="16" y="5"/>
                </a:lnTo>
                <a:lnTo>
                  <a:pt x="19" y="8"/>
                </a:lnTo>
                <a:lnTo>
                  <a:pt x="21" y="10"/>
                </a:lnTo>
                <a:lnTo>
                  <a:pt x="23" y="13"/>
                </a:lnTo>
                <a:lnTo>
                  <a:pt x="25" y="16"/>
                </a:lnTo>
                <a:lnTo>
                  <a:pt x="26" y="19"/>
                </a:lnTo>
                <a:lnTo>
                  <a:pt x="26" y="23"/>
                </a:lnTo>
                <a:lnTo>
                  <a:pt x="26" y="26"/>
                </a:lnTo>
                <a:lnTo>
                  <a:pt x="26" y="30"/>
                </a:lnTo>
                <a:lnTo>
                  <a:pt x="26" y="33"/>
                </a:lnTo>
                <a:lnTo>
                  <a:pt x="24" y="36"/>
                </a:lnTo>
                <a:lnTo>
                  <a:pt x="23" y="39"/>
                </a:lnTo>
                <a:close/>
              </a:path>
            </a:pathLst>
          </a:cu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Oval 227"/>
          <p:cNvSpPr/>
          <p:nvPr/>
        </p:nvSpPr>
        <p:spPr>
          <a:xfrm>
            <a:off x="8152829" y="3521160"/>
            <a:ext cx="277368" cy="265774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9" name="TextBox 228"/>
          <p:cNvSpPr txBox="1"/>
          <p:nvPr/>
        </p:nvSpPr>
        <p:spPr>
          <a:xfrm>
            <a:off x="8043862" y="3590159"/>
            <a:ext cx="495300" cy="127776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230" name="TextBox 229"/>
          <p:cNvSpPr txBox="1"/>
          <p:nvPr/>
        </p:nvSpPr>
        <p:spPr>
          <a:xfrm>
            <a:off x="7800975" y="4092136"/>
            <a:ext cx="990600" cy="91268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Europe  </a:t>
            </a:r>
            <a:r>
              <a:rPr sz="1100" b="1">
                <a:solidFill>
                  <a:srgbClr val="0E72AE"/>
                </a:solidFill>
                <a:latin typeface="Calibri"/>
              </a:rPr>
              <a:t>▲</a:t>
            </a:r>
          </a:p>
        </p:txBody>
      </p:sp>
      <p:sp>
        <p:nvSpPr>
          <p:cNvPr id="231" name="Oval 230"/>
          <p:cNvSpPr/>
          <p:nvPr/>
        </p:nvSpPr>
        <p:spPr>
          <a:xfrm>
            <a:off x="788670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788670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</a:t>
            </a:r>
          </a:p>
        </p:txBody>
      </p:sp>
      <p:sp>
        <p:nvSpPr>
          <p:cNvPr id="233" name="Oval 232"/>
          <p:cNvSpPr/>
          <p:nvPr/>
        </p:nvSpPr>
        <p:spPr>
          <a:xfrm>
            <a:off x="809625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809625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</a:t>
            </a:r>
          </a:p>
        </p:txBody>
      </p:sp>
      <p:sp>
        <p:nvSpPr>
          <p:cNvPr id="235" name="Oval 234"/>
          <p:cNvSpPr/>
          <p:nvPr/>
        </p:nvSpPr>
        <p:spPr>
          <a:xfrm>
            <a:off x="830580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830580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</a:t>
            </a:r>
          </a:p>
        </p:txBody>
      </p:sp>
      <p:sp>
        <p:nvSpPr>
          <p:cNvPr id="237" name="Oval 236"/>
          <p:cNvSpPr/>
          <p:nvPr/>
        </p:nvSpPr>
        <p:spPr>
          <a:xfrm>
            <a:off x="8515350" y="5173667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851535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</a:t>
            </a:r>
          </a:p>
        </p:txBody>
      </p:sp>
      <p:sp>
        <p:nvSpPr>
          <p:cNvPr id="239" name="Oval 238"/>
          <p:cNvSpPr/>
          <p:nvPr/>
        </p:nvSpPr>
        <p:spPr>
          <a:xfrm>
            <a:off x="7991475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7991475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</a:t>
            </a:r>
          </a:p>
        </p:txBody>
      </p:sp>
      <p:sp>
        <p:nvSpPr>
          <p:cNvPr id="241" name="Oval 240"/>
          <p:cNvSpPr/>
          <p:nvPr/>
        </p:nvSpPr>
        <p:spPr>
          <a:xfrm>
            <a:off x="8201025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8201025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</a:t>
            </a:r>
          </a:p>
        </p:txBody>
      </p:sp>
      <p:sp>
        <p:nvSpPr>
          <p:cNvPr id="243" name="Oval 242"/>
          <p:cNvSpPr/>
          <p:nvPr/>
        </p:nvSpPr>
        <p:spPr>
          <a:xfrm>
            <a:off x="8410575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8410575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</a:t>
            </a:r>
          </a:p>
        </p:txBody>
      </p:sp>
      <p:sp>
        <p:nvSpPr>
          <p:cNvPr id="245" name="TextBox 244"/>
          <p:cNvSpPr txBox="1"/>
          <p:nvPr/>
        </p:nvSpPr>
        <p:spPr>
          <a:xfrm>
            <a:off x="8858250" y="1189798"/>
            <a:ext cx="1019175" cy="328567"/>
          </a:xfrm>
          <a:prstGeom prst="rect">
            <a:avLst/>
          </a:prstGeom>
          <a:noFill/>
        </p:spPr>
        <p:txBody>
          <a:bodyPr wrap="square" lIns="9525" rIns="9525" tIns="9525" bIns="9525" anchor="ctr">
            <a:spAutoFit/>
          </a:bodyPr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2E2E2E"/>
                </a:solidFill>
                <a:latin typeface="Calibri"/>
              </a:rPr>
              <a:t>Iv San Bernard</a:t>
            </a:r>
          </a:p>
        </p:txBody>
      </p:sp>
      <p:cxnSp>
        <p:nvCxnSpPr>
          <p:cNvPr id="246" name="Connector 245"/>
          <p:cNvCxnSpPr/>
          <p:nvPr/>
        </p:nvCxnSpPr>
        <p:spPr>
          <a:xfrm>
            <a:off x="9139238" y="1509238"/>
            <a:ext cx="457200" cy="0"/>
          </a:xfrm>
          <a:prstGeom prst="line">
            <a:avLst/>
          </a:prstGeom>
          <a:ln w="1905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47" name="TextBox 246"/>
          <p:cNvSpPr txBox="1"/>
          <p:nvPr/>
        </p:nvSpPr>
        <p:spPr>
          <a:xfrm>
            <a:off x="8858250" y="1536618"/>
            <a:ext cx="1019175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AFB4B9"/>
                </a:solidFill>
                <a:latin typeface="Calibri"/>
              </a:rPr>
              <a:t>Brand H</a:t>
            </a:r>
          </a:p>
        </p:txBody>
      </p:sp>
      <p:sp>
        <p:nvSpPr>
          <p:cNvPr id="248" name="TextBox 247"/>
          <p:cNvSpPr txBox="1"/>
          <p:nvPr/>
        </p:nvSpPr>
        <p:spPr>
          <a:xfrm>
            <a:off x="8848725" y="1828677"/>
            <a:ext cx="1038225" cy="200791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ctr"/>
            <a:r>
              <a:rPr sz="1300" b="0">
                <a:solidFill>
                  <a:srgbClr val="0B2E4A"/>
                </a:solidFill>
                <a:latin typeface="Calibri"/>
              </a:rPr>
              <a:t>✦ </a:t>
            </a:r>
            <a:r>
              <a:rPr sz="1300" b="0">
                <a:solidFill>
                  <a:srgbClr val="69B1E0"/>
                </a:solidFill>
                <a:latin typeface="Calibri"/>
              </a:rPr>
              <a:t>✦ </a:t>
            </a:r>
            <a:r>
              <a:rPr sz="1300" b="0">
                <a:solidFill>
                  <a:srgbClr val="A86F00"/>
                </a:solidFill>
                <a:latin typeface="Calibri"/>
              </a:rPr>
              <a:t>✦ </a:t>
            </a:r>
            <a:r>
              <a:rPr sz="1300" b="0">
                <a:solidFill>
                  <a:srgbClr val="D4D7DA"/>
                </a:solidFill>
                <a:latin typeface="Calibri"/>
              </a:rPr>
              <a:t>✦ </a:t>
            </a:r>
          </a:p>
        </p:txBody>
      </p:sp>
      <p:sp>
        <p:nvSpPr>
          <p:cNvPr id="249" name="TextBox 248"/>
          <p:cNvSpPr txBox="1"/>
          <p:nvPr/>
        </p:nvSpPr>
        <p:spPr>
          <a:xfrm>
            <a:off x="8848725" y="2047722"/>
            <a:ext cx="10382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  <a:r>
              <a:rPr sz="1100" b="1">
                <a:solidFill>
                  <a:srgbClr val="E44D3A"/>
                </a:solidFill>
                <a:latin typeface="Calibri"/>
              </a:rPr>
              <a:t>✘ </a:t>
            </a:r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</a:p>
        </p:txBody>
      </p:sp>
      <p:sp>
        <p:nvSpPr>
          <p:cNvPr id="250" name="Rectangle 249"/>
          <p:cNvSpPr/>
          <p:nvPr/>
        </p:nvSpPr>
        <p:spPr>
          <a:xfrm>
            <a:off x="9139238" y="2303274"/>
            <a:ext cx="114300" cy="109522"/>
          </a:xfrm>
          <a:prstGeom prst="rect">
            <a:avLst/>
          </a:prstGeom>
          <a:solidFill>
            <a:srgbClr val="FFFFFF"/>
          </a:solidFill>
          <a:ln w="12700">
            <a:solidFill>
              <a:srgbClr val="A86F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1" name="Rectangle 250"/>
          <p:cNvSpPr/>
          <p:nvPr/>
        </p:nvSpPr>
        <p:spPr>
          <a:xfrm>
            <a:off x="9310688" y="2303274"/>
            <a:ext cx="114300" cy="109522"/>
          </a:xfrm>
          <a:prstGeom prst="rect">
            <a:avLst/>
          </a:prstGeom>
          <a:solidFill>
            <a:srgbClr val="79C3E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Rectangle 251"/>
          <p:cNvSpPr/>
          <p:nvPr/>
        </p:nvSpPr>
        <p:spPr>
          <a:xfrm>
            <a:off x="9482138" y="2303274"/>
            <a:ext cx="114300" cy="109522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3" name="TextBox 252"/>
          <p:cNvSpPr txBox="1"/>
          <p:nvPr/>
        </p:nvSpPr>
        <p:spPr>
          <a:xfrm>
            <a:off x="8858250" y="2631840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254" name="TextBox 253"/>
          <p:cNvSpPr txBox="1"/>
          <p:nvPr/>
        </p:nvSpPr>
        <p:spPr>
          <a:xfrm>
            <a:off x="8858250" y="2960407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255" name="Oval 254"/>
          <p:cNvSpPr/>
          <p:nvPr/>
        </p:nvSpPr>
        <p:spPr>
          <a:xfrm>
            <a:off x="9120188" y="3416749"/>
            <a:ext cx="495300" cy="474596"/>
          </a:xfrm>
          <a:prstGeom prst="ellipse">
            <a:avLst/>
          </a:prstGeom>
          <a:solidFill>
            <a:srgbClr val="E4E9E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Freeform 255"/>
          <p:cNvSpPr/>
          <p:nvPr/>
        </p:nvSpPr>
        <p:spPr>
          <a:xfrm>
            <a:off x="9372600" y="3416749"/>
            <a:ext cx="228600" cy="237298"/>
          </a:xfrm>
          <a:custGeom>
            <a:avLst/>
            <a:gdLst/>
            <a:ahLst/>
            <a:cxnLst/>
            <a:rect l="l" t="t" r="r" b="b"/>
            <a:pathLst>
              <a:path w="24" h="26">
                <a:moveTo>
                  <a:pt x="0" y="26"/>
                </a:moveTo>
                <a:lnTo>
                  <a:pt x="0" y="0"/>
                </a:lnTo>
                <a:lnTo>
                  <a:pt x="3" y="0"/>
                </a:lnTo>
                <a:lnTo>
                  <a:pt x="7" y="1"/>
                </a:lnTo>
                <a:lnTo>
                  <a:pt x="10" y="2"/>
                </a:lnTo>
                <a:lnTo>
                  <a:pt x="13" y="4"/>
                </a:lnTo>
                <a:lnTo>
                  <a:pt x="16" y="6"/>
                </a:lnTo>
                <a:lnTo>
                  <a:pt x="19" y="9"/>
                </a:lnTo>
                <a:lnTo>
                  <a:pt x="21" y="12"/>
                </a:lnTo>
                <a:lnTo>
                  <a:pt x="23" y="15"/>
                </a:lnTo>
                <a:lnTo>
                  <a:pt x="24" y="18"/>
                </a:lnTo>
                <a:close/>
              </a:path>
            </a:pathLst>
          </a:cu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7" name="Oval 256"/>
          <p:cNvSpPr/>
          <p:nvPr/>
        </p:nvSpPr>
        <p:spPr>
          <a:xfrm>
            <a:off x="9229154" y="3521160"/>
            <a:ext cx="277368" cy="265774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TextBox 257"/>
          <p:cNvSpPr txBox="1"/>
          <p:nvPr/>
        </p:nvSpPr>
        <p:spPr>
          <a:xfrm>
            <a:off x="9120188" y="3590159"/>
            <a:ext cx="495300" cy="127776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259" name="TextBox 258"/>
          <p:cNvSpPr txBox="1"/>
          <p:nvPr/>
        </p:nvSpPr>
        <p:spPr>
          <a:xfrm>
            <a:off x="8877300" y="4092136"/>
            <a:ext cx="990600" cy="91268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Europe  </a:t>
            </a:r>
            <a:r>
              <a:rPr sz="1100" b="1">
                <a:solidFill>
                  <a:srgbClr val="0E72AE"/>
                </a:solidFill>
                <a:latin typeface="Calibri"/>
              </a:rPr>
              <a:t>▲</a:t>
            </a:r>
          </a:p>
        </p:txBody>
      </p:sp>
      <p:sp>
        <p:nvSpPr>
          <p:cNvPr id="260" name="Oval 259"/>
          <p:cNvSpPr/>
          <p:nvPr/>
        </p:nvSpPr>
        <p:spPr>
          <a:xfrm>
            <a:off x="896302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1" name="TextBox 260"/>
          <p:cNvSpPr txBox="1"/>
          <p:nvPr/>
        </p:nvSpPr>
        <p:spPr>
          <a:xfrm>
            <a:off x="896302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</a:t>
            </a:r>
          </a:p>
        </p:txBody>
      </p:sp>
      <p:sp>
        <p:nvSpPr>
          <p:cNvPr id="262" name="Oval 261"/>
          <p:cNvSpPr/>
          <p:nvPr/>
        </p:nvSpPr>
        <p:spPr>
          <a:xfrm>
            <a:off x="917257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3" name="TextBox 262"/>
          <p:cNvSpPr txBox="1"/>
          <p:nvPr/>
        </p:nvSpPr>
        <p:spPr>
          <a:xfrm>
            <a:off x="917257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</a:t>
            </a:r>
          </a:p>
        </p:txBody>
      </p:sp>
      <p:sp>
        <p:nvSpPr>
          <p:cNvPr id="264" name="Oval 263"/>
          <p:cNvSpPr/>
          <p:nvPr/>
        </p:nvSpPr>
        <p:spPr>
          <a:xfrm>
            <a:off x="938212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5" name="TextBox 264"/>
          <p:cNvSpPr txBox="1"/>
          <p:nvPr/>
        </p:nvSpPr>
        <p:spPr>
          <a:xfrm>
            <a:off x="938212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</a:t>
            </a:r>
          </a:p>
        </p:txBody>
      </p:sp>
      <p:sp>
        <p:nvSpPr>
          <p:cNvPr id="266" name="Oval 265"/>
          <p:cNvSpPr/>
          <p:nvPr/>
        </p:nvSpPr>
        <p:spPr>
          <a:xfrm>
            <a:off x="959167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7" name="TextBox 266"/>
          <p:cNvSpPr txBox="1"/>
          <p:nvPr/>
        </p:nvSpPr>
        <p:spPr>
          <a:xfrm>
            <a:off x="959167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</a:t>
            </a:r>
          </a:p>
        </p:txBody>
      </p:sp>
      <p:sp>
        <p:nvSpPr>
          <p:cNvPr id="268" name="Oval 267"/>
          <p:cNvSpPr/>
          <p:nvPr/>
        </p:nvSpPr>
        <p:spPr>
          <a:xfrm>
            <a:off x="9067800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9" name="TextBox 268"/>
          <p:cNvSpPr txBox="1"/>
          <p:nvPr/>
        </p:nvSpPr>
        <p:spPr>
          <a:xfrm>
            <a:off x="9067800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</a:t>
            </a:r>
          </a:p>
        </p:txBody>
      </p:sp>
      <p:sp>
        <p:nvSpPr>
          <p:cNvPr id="270" name="Oval 269"/>
          <p:cNvSpPr/>
          <p:nvPr/>
        </p:nvSpPr>
        <p:spPr>
          <a:xfrm>
            <a:off x="9277350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1" name="TextBox 270"/>
          <p:cNvSpPr txBox="1"/>
          <p:nvPr/>
        </p:nvSpPr>
        <p:spPr>
          <a:xfrm>
            <a:off x="9277350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</a:t>
            </a:r>
          </a:p>
        </p:txBody>
      </p:sp>
      <p:sp>
        <p:nvSpPr>
          <p:cNvPr id="272" name="Oval 271"/>
          <p:cNvSpPr/>
          <p:nvPr/>
        </p:nvSpPr>
        <p:spPr>
          <a:xfrm>
            <a:off x="9486900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3" name="TextBox 272"/>
          <p:cNvSpPr txBox="1"/>
          <p:nvPr/>
        </p:nvSpPr>
        <p:spPr>
          <a:xfrm>
            <a:off x="9486900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</a:t>
            </a:r>
          </a:p>
        </p:txBody>
      </p:sp>
      <p:sp>
        <p:nvSpPr>
          <p:cNvPr id="274" name="TextBox 273"/>
          <p:cNvSpPr txBox="1"/>
          <p:nvPr/>
        </p:nvSpPr>
        <p:spPr>
          <a:xfrm>
            <a:off x="9934575" y="1189798"/>
            <a:ext cx="1019175" cy="328567"/>
          </a:xfrm>
          <a:prstGeom prst="rect">
            <a:avLst/>
          </a:prstGeom>
          <a:noFill/>
        </p:spPr>
        <p:txBody>
          <a:bodyPr wrap="square" lIns="9525" rIns="9525" tIns="9525" bIns="9525" anchor="ctr">
            <a:spAutoFit/>
          </a:bodyPr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2E2E2E"/>
                </a:solidFill>
                <a:latin typeface="Calibri"/>
              </a:rPr>
              <a:t>Cosmetica Veneta</a:t>
            </a:r>
          </a:p>
        </p:txBody>
      </p:sp>
      <p:cxnSp>
        <p:nvCxnSpPr>
          <p:cNvPr id="275" name="Connector 274"/>
          <p:cNvCxnSpPr/>
          <p:nvPr/>
        </p:nvCxnSpPr>
        <p:spPr>
          <a:xfrm>
            <a:off x="10215562" y="1509238"/>
            <a:ext cx="457200" cy="0"/>
          </a:xfrm>
          <a:prstGeom prst="line">
            <a:avLst/>
          </a:prstGeom>
          <a:ln w="1905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6" name="TextBox 275"/>
          <p:cNvSpPr txBox="1"/>
          <p:nvPr/>
        </p:nvSpPr>
        <p:spPr>
          <a:xfrm>
            <a:off x="9934575" y="1536618"/>
            <a:ext cx="1019175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AFB4B9"/>
                </a:solidFill>
                <a:latin typeface="Calibri"/>
              </a:rPr>
              <a:t>Brand I</a:t>
            </a:r>
          </a:p>
        </p:txBody>
      </p:sp>
      <p:sp>
        <p:nvSpPr>
          <p:cNvPr id="277" name="TextBox 276"/>
          <p:cNvSpPr txBox="1"/>
          <p:nvPr/>
        </p:nvSpPr>
        <p:spPr>
          <a:xfrm>
            <a:off x="9925050" y="1828677"/>
            <a:ext cx="1038225" cy="200791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ctr"/>
            <a:r>
              <a:rPr sz="1300" b="0">
                <a:solidFill>
                  <a:srgbClr val="0B2E4A"/>
                </a:solidFill>
                <a:latin typeface="Calibri"/>
              </a:rPr>
              <a:t>✦ </a:t>
            </a:r>
            <a:r>
              <a:rPr sz="1300" b="0">
                <a:solidFill>
                  <a:srgbClr val="69B1E0"/>
                </a:solidFill>
                <a:latin typeface="Calibri"/>
              </a:rPr>
              <a:t>✦ </a:t>
            </a:r>
            <a:r>
              <a:rPr sz="1300" b="0">
                <a:solidFill>
                  <a:srgbClr val="A86F00"/>
                </a:solidFill>
                <a:latin typeface="Calibri"/>
              </a:rPr>
              <a:t>✦ </a:t>
            </a:r>
            <a:r>
              <a:rPr sz="1300" b="0">
                <a:solidFill>
                  <a:srgbClr val="79C3EC"/>
                </a:solidFill>
                <a:latin typeface="Calibri"/>
              </a:rPr>
              <a:t>✦ </a:t>
            </a:r>
          </a:p>
        </p:txBody>
      </p:sp>
      <p:sp>
        <p:nvSpPr>
          <p:cNvPr id="278" name="TextBox 277"/>
          <p:cNvSpPr txBox="1"/>
          <p:nvPr/>
        </p:nvSpPr>
        <p:spPr>
          <a:xfrm>
            <a:off x="9925050" y="2047722"/>
            <a:ext cx="10382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E44D3A"/>
                </a:solidFill>
                <a:latin typeface="Calibri"/>
              </a:rPr>
              <a:t>✘ </a:t>
            </a:r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</a:p>
        </p:txBody>
      </p:sp>
      <p:sp>
        <p:nvSpPr>
          <p:cNvPr id="279" name="Rectangle 278"/>
          <p:cNvSpPr/>
          <p:nvPr/>
        </p:nvSpPr>
        <p:spPr>
          <a:xfrm>
            <a:off x="10215562" y="2303274"/>
            <a:ext cx="114300" cy="109522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0" name="Rectangle 279"/>
          <p:cNvSpPr/>
          <p:nvPr/>
        </p:nvSpPr>
        <p:spPr>
          <a:xfrm>
            <a:off x="10387012" y="2303274"/>
            <a:ext cx="114300" cy="109522"/>
          </a:xfrm>
          <a:prstGeom prst="rect">
            <a:avLst/>
          </a:prstGeom>
          <a:solidFill>
            <a:srgbClr val="79C3E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1" name="Rectangle 280"/>
          <p:cNvSpPr/>
          <p:nvPr/>
        </p:nvSpPr>
        <p:spPr>
          <a:xfrm>
            <a:off x="10558462" y="2303274"/>
            <a:ext cx="114300" cy="109522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2" name="TextBox 281"/>
          <p:cNvSpPr txBox="1"/>
          <p:nvPr/>
        </p:nvSpPr>
        <p:spPr>
          <a:xfrm>
            <a:off x="9934575" y="2631840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283" name="TextBox 282"/>
          <p:cNvSpPr txBox="1"/>
          <p:nvPr/>
        </p:nvSpPr>
        <p:spPr>
          <a:xfrm>
            <a:off x="9934575" y="2960407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284" name="Oval 283"/>
          <p:cNvSpPr/>
          <p:nvPr/>
        </p:nvSpPr>
        <p:spPr>
          <a:xfrm>
            <a:off x="10196512" y="3416749"/>
            <a:ext cx="495300" cy="474596"/>
          </a:xfrm>
          <a:prstGeom prst="ellipse">
            <a:avLst/>
          </a:prstGeom>
          <a:solidFill>
            <a:srgbClr val="E4E9E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5" name="Freeform 284"/>
          <p:cNvSpPr/>
          <p:nvPr/>
        </p:nvSpPr>
        <p:spPr>
          <a:xfrm>
            <a:off x="10439400" y="3416749"/>
            <a:ext cx="200025" cy="237298"/>
          </a:xfrm>
          <a:custGeom>
            <a:avLst/>
            <a:gdLst/>
            <a:ahLst/>
            <a:cxnLst/>
            <a:rect l="l" t="t" r="r" b="b"/>
            <a:pathLst>
              <a:path w="21" h="26">
                <a:moveTo>
                  <a:pt x="0" y="26"/>
                </a:moveTo>
                <a:lnTo>
                  <a:pt x="0" y="0"/>
                </a:lnTo>
                <a:lnTo>
                  <a:pt x="4" y="0"/>
                </a:lnTo>
                <a:lnTo>
                  <a:pt x="8" y="1"/>
                </a:lnTo>
                <a:lnTo>
                  <a:pt x="12" y="2"/>
                </a:lnTo>
                <a:lnTo>
                  <a:pt x="15" y="4"/>
                </a:lnTo>
                <a:lnTo>
                  <a:pt x="18" y="7"/>
                </a:lnTo>
                <a:lnTo>
                  <a:pt x="21" y="9"/>
                </a:lnTo>
                <a:close/>
              </a:path>
            </a:pathLst>
          </a:cu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6" name="Oval 285"/>
          <p:cNvSpPr/>
          <p:nvPr/>
        </p:nvSpPr>
        <p:spPr>
          <a:xfrm>
            <a:off x="10305478" y="3521160"/>
            <a:ext cx="277368" cy="265774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7" name="TextBox 286"/>
          <p:cNvSpPr txBox="1"/>
          <p:nvPr/>
        </p:nvSpPr>
        <p:spPr>
          <a:xfrm>
            <a:off x="10196512" y="3590159"/>
            <a:ext cx="495300" cy="127776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288" name="TextBox 287"/>
          <p:cNvSpPr txBox="1"/>
          <p:nvPr/>
        </p:nvSpPr>
        <p:spPr>
          <a:xfrm>
            <a:off x="9953625" y="4092136"/>
            <a:ext cx="990600" cy="91268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Europe  </a:t>
            </a:r>
            <a:r>
              <a:rPr sz="1100" b="1">
                <a:solidFill>
                  <a:srgbClr val="0E72AE"/>
                </a:solidFill>
                <a:latin typeface="Calibri"/>
              </a:rPr>
              <a:t>▲</a:t>
            </a:r>
          </a:p>
        </p:txBody>
      </p:sp>
      <p:sp>
        <p:nvSpPr>
          <p:cNvPr id="289" name="Oval 288"/>
          <p:cNvSpPr/>
          <p:nvPr/>
        </p:nvSpPr>
        <p:spPr>
          <a:xfrm>
            <a:off x="1003935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0" name="TextBox 289"/>
          <p:cNvSpPr txBox="1"/>
          <p:nvPr/>
        </p:nvSpPr>
        <p:spPr>
          <a:xfrm>
            <a:off x="1003935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</a:t>
            </a:r>
          </a:p>
        </p:txBody>
      </p:sp>
      <p:sp>
        <p:nvSpPr>
          <p:cNvPr id="291" name="Oval 290"/>
          <p:cNvSpPr/>
          <p:nvPr/>
        </p:nvSpPr>
        <p:spPr>
          <a:xfrm>
            <a:off x="1024890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2" name="TextBox 291"/>
          <p:cNvSpPr txBox="1"/>
          <p:nvPr/>
        </p:nvSpPr>
        <p:spPr>
          <a:xfrm>
            <a:off x="1024890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</a:t>
            </a:r>
          </a:p>
        </p:txBody>
      </p:sp>
      <p:sp>
        <p:nvSpPr>
          <p:cNvPr id="293" name="Oval 292"/>
          <p:cNvSpPr/>
          <p:nvPr/>
        </p:nvSpPr>
        <p:spPr>
          <a:xfrm>
            <a:off x="1045845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4" name="TextBox 293"/>
          <p:cNvSpPr txBox="1"/>
          <p:nvPr/>
        </p:nvSpPr>
        <p:spPr>
          <a:xfrm>
            <a:off x="1045845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</a:t>
            </a:r>
          </a:p>
        </p:txBody>
      </p:sp>
      <p:sp>
        <p:nvSpPr>
          <p:cNvPr id="295" name="Oval 294"/>
          <p:cNvSpPr/>
          <p:nvPr/>
        </p:nvSpPr>
        <p:spPr>
          <a:xfrm>
            <a:off x="10668000" y="5173667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6" name="TextBox 295"/>
          <p:cNvSpPr txBox="1"/>
          <p:nvPr/>
        </p:nvSpPr>
        <p:spPr>
          <a:xfrm>
            <a:off x="1066800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</a:t>
            </a:r>
          </a:p>
        </p:txBody>
      </p:sp>
      <p:sp>
        <p:nvSpPr>
          <p:cNvPr id="297" name="Oval 296"/>
          <p:cNvSpPr/>
          <p:nvPr/>
        </p:nvSpPr>
        <p:spPr>
          <a:xfrm>
            <a:off x="10144125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8" name="TextBox 297"/>
          <p:cNvSpPr txBox="1"/>
          <p:nvPr/>
        </p:nvSpPr>
        <p:spPr>
          <a:xfrm>
            <a:off x="10144125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</a:t>
            </a:r>
          </a:p>
        </p:txBody>
      </p:sp>
      <p:sp>
        <p:nvSpPr>
          <p:cNvPr id="299" name="Oval 298"/>
          <p:cNvSpPr/>
          <p:nvPr/>
        </p:nvSpPr>
        <p:spPr>
          <a:xfrm>
            <a:off x="10353675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0" name="TextBox 299"/>
          <p:cNvSpPr txBox="1"/>
          <p:nvPr/>
        </p:nvSpPr>
        <p:spPr>
          <a:xfrm>
            <a:off x="10353675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</a:t>
            </a:r>
          </a:p>
        </p:txBody>
      </p:sp>
      <p:sp>
        <p:nvSpPr>
          <p:cNvPr id="301" name="Oval 300"/>
          <p:cNvSpPr/>
          <p:nvPr/>
        </p:nvSpPr>
        <p:spPr>
          <a:xfrm>
            <a:off x="10563225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2" name="TextBox 301"/>
          <p:cNvSpPr txBox="1"/>
          <p:nvPr/>
        </p:nvSpPr>
        <p:spPr>
          <a:xfrm>
            <a:off x="10563225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</a:t>
            </a:r>
          </a:p>
        </p:txBody>
      </p:sp>
      <p:sp>
        <p:nvSpPr>
          <p:cNvPr id="303" name="TextBox 302"/>
          <p:cNvSpPr txBox="1"/>
          <p:nvPr/>
        </p:nvSpPr>
        <p:spPr>
          <a:xfrm>
            <a:off x="11010900" y="1189798"/>
            <a:ext cx="1019175" cy="328567"/>
          </a:xfrm>
          <a:prstGeom prst="rect">
            <a:avLst/>
          </a:prstGeom>
          <a:noFill/>
        </p:spPr>
        <p:txBody>
          <a:bodyPr wrap="square" lIns="9525" rIns="9525" tIns="9525" bIns="9525" anchor="ctr">
            <a:spAutoFit/>
          </a:bodyPr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2E2E2E"/>
                </a:solidFill>
                <a:latin typeface="Calibri"/>
              </a:rPr>
              <a:t>K9 Competition</a:t>
            </a:r>
          </a:p>
        </p:txBody>
      </p:sp>
      <p:cxnSp>
        <p:nvCxnSpPr>
          <p:cNvPr id="304" name="Connector 303"/>
          <p:cNvCxnSpPr/>
          <p:nvPr/>
        </p:nvCxnSpPr>
        <p:spPr>
          <a:xfrm>
            <a:off x="11291888" y="1509238"/>
            <a:ext cx="457200" cy="0"/>
          </a:xfrm>
          <a:prstGeom prst="line">
            <a:avLst/>
          </a:prstGeom>
          <a:ln w="1905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05" name="TextBox 304"/>
          <p:cNvSpPr txBox="1"/>
          <p:nvPr/>
        </p:nvSpPr>
        <p:spPr>
          <a:xfrm>
            <a:off x="11010900" y="1536618"/>
            <a:ext cx="1019175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AFB4B9"/>
                </a:solidFill>
                <a:latin typeface="Calibri"/>
              </a:rPr>
              <a:t>Brand J</a:t>
            </a:r>
          </a:p>
        </p:txBody>
      </p:sp>
      <p:sp>
        <p:nvSpPr>
          <p:cNvPr id="306" name="TextBox 305"/>
          <p:cNvSpPr txBox="1"/>
          <p:nvPr/>
        </p:nvSpPr>
        <p:spPr>
          <a:xfrm>
            <a:off x="11001375" y="1828677"/>
            <a:ext cx="1038225" cy="200791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ctr"/>
            <a:r>
              <a:rPr sz="1300" b="0">
                <a:solidFill>
                  <a:srgbClr val="0B2E4A"/>
                </a:solidFill>
                <a:latin typeface="Calibri"/>
              </a:rPr>
              <a:t>✦ </a:t>
            </a:r>
            <a:r>
              <a:rPr sz="1300" b="0">
                <a:solidFill>
                  <a:srgbClr val="69B1E0"/>
                </a:solidFill>
                <a:latin typeface="Calibri"/>
              </a:rPr>
              <a:t>✦ </a:t>
            </a:r>
            <a:r>
              <a:rPr sz="1300" b="0">
                <a:solidFill>
                  <a:srgbClr val="D4D7DA"/>
                </a:solidFill>
                <a:latin typeface="Calibri"/>
              </a:rPr>
              <a:t>✦ </a:t>
            </a:r>
            <a:r>
              <a:rPr sz="1300" b="0">
                <a:solidFill>
                  <a:srgbClr val="D4D7DA"/>
                </a:solidFill>
                <a:latin typeface="Calibri"/>
              </a:rPr>
              <a:t>✦ </a:t>
            </a:r>
          </a:p>
        </p:txBody>
      </p:sp>
      <p:sp>
        <p:nvSpPr>
          <p:cNvPr id="307" name="TextBox 306"/>
          <p:cNvSpPr txBox="1"/>
          <p:nvPr/>
        </p:nvSpPr>
        <p:spPr>
          <a:xfrm>
            <a:off x="11001375" y="2047722"/>
            <a:ext cx="10382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  <a:r>
              <a:rPr sz="1100" b="1">
                <a:solidFill>
                  <a:srgbClr val="E44D3A"/>
                </a:solidFill>
                <a:latin typeface="Calibri"/>
              </a:rPr>
              <a:t>✘ </a:t>
            </a:r>
          </a:p>
        </p:txBody>
      </p:sp>
      <p:sp>
        <p:nvSpPr>
          <p:cNvPr id="308" name="Rectangle 307"/>
          <p:cNvSpPr/>
          <p:nvPr/>
        </p:nvSpPr>
        <p:spPr>
          <a:xfrm>
            <a:off x="11291888" y="2303274"/>
            <a:ext cx="114300" cy="109522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9" name="Rectangle 308"/>
          <p:cNvSpPr/>
          <p:nvPr/>
        </p:nvSpPr>
        <p:spPr>
          <a:xfrm>
            <a:off x="11463338" y="2303274"/>
            <a:ext cx="114300" cy="109522"/>
          </a:xfrm>
          <a:prstGeom prst="rect">
            <a:avLst/>
          </a:prstGeom>
          <a:solidFill>
            <a:srgbClr val="79C3E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0" name="Rectangle 309"/>
          <p:cNvSpPr/>
          <p:nvPr/>
        </p:nvSpPr>
        <p:spPr>
          <a:xfrm>
            <a:off x="11634788" y="2303274"/>
            <a:ext cx="114300" cy="109522"/>
          </a:xfrm>
          <a:prstGeom prst="rect">
            <a:avLst/>
          </a:prstGeom>
          <a:solidFill>
            <a:srgbClr val="FFFFFF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1" name="TextBox 310"/>
          <p:cNvSpPr txBox="1"/>
          <p:nvPr/>
        </p:nvSpPr>
        <p:spPr>
          <a:xfrm>
            <a:off x="11010900" y="2631840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312" name="TextBox 311"/>
          <p:cNvSpPr txBox="1"/>
          <p:nvPr/>
        </p:nvSpPr>
        <p:spPr>
          <a:xfrm>
            <a:off x="11010900" y="2960407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313" name="Oval 312"/>
          <p:cNvSpPr/>
          <p:nvPr/>
        </p:nvSpPr>
        <p:spPr>
          <a:xfrm>
            <a:off x="11272838" y="3416749"/>
            <a:ext cx="495300" cy="474596"/>
          </a:xfrm>
          <a:prstGeom prst="ellipse">
            <a:avLst/>
          </a:prstGeom>
          <a:solidFill>
            <a:srgbClr val="E4E9E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4" name="Freeform 313"/>
          <p:cNvSpPr/>
          <p:nvPr/>
        </p:nvSpPr>
        <p:spPr>
          <a:xfrm>
            <a:off x="11525250" y="3416749"/>
            <a:ext cx="180975" cy="237298"/>
          </a:xfrm>
          <a:custGeom>
            <a:avLst/>
            <a:gdLst/>
            <a:ahLst/>
            <a:cxnLst/>
            <a:rect l="l" t="t" r="r" b="b"/>
            <a:pathLst>
              <a:path w="19" h="26">
                <a:moveTo>
                  <a:pt x="0" y="26"/>
                </a:moveTo>
                <a:lnTo>
                  <a:pt x="0" y="0"/>
                </a:lnTo>
                <a:lnTo>
                  <a:pt x="3" y="0"/>
                </a:lnTo>
                <a:lnTo>
                  <a:pt x="7" y="1"/>
                </a:lnTo>
                <a:lnTo>
                  <a:pt x="10" y="2"/>
                </a:lnTo>
                <a:lnTo>
                  <a:pt x="14" y="4"/>
                </a:lnTo>
                <a:lnTo>
                  <a:pt x="17" y="7"/>
                </a:lnTo>
                <a:lnTo>
                  <a:pt x="19" y="9"/>
                </a:lnTo>
                <a:close/>
              </a:path>
            </a:pathLst>
          </a:cu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5" name="Oval 314"/>
          <p:cNvSpPr/>
          <p:nvPr/>
        </p:nvSpPr>
        <p:spPr>
          <a:xfrm>
            <a:off x="11381804" y="3521160"/>
            <a:ext cx="277368" cy="265774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6" name="TextBox 315"/>
          <p:cNvSpPr txBox="1"/>
          <p:nvPr/>
        </p:nvSpPr>
        <p:spPr>
          <a:xfrm>
            <a:off x="11272838" y="3590159"/>
            <a:ext cx="495300" cy="127776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317" name="TextBox 316"/>
          <p:cNvSpPr txBox="1"/>
          <p:nvPr/>
        </p:nvSpPr>
        <p:spPr>
          <a:xfrm>
            <a:off x="11029950" y="4092136"/>
            <a:ext cx="990600" cy="91268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Europe  </a:t>
            </a:r>
            <a:r>
              <a:rPr sz="1100" b="1">
                <a:solidFill>
                  <a:srgbClr val="0E72AE"/>
                </a:solidFill>
                <a:latin typeface="Calibri"/>
              </a:rPr>
              <a:t>▲</a:t>
            </a:r>
          </a:p>
        </p:txBody>
      </p:sp>
      <p:sp>
        <p:nvSpPr>
          <p:cNvPr id="318" name="Oval 317"/>
          <p:cNvSpPr/>
          <p:nvPr/>
        </p:nvSpPr>
        <p:spPr>
          <a:xfrm>
            <a:off x="1111567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9" name="TextBox 318"/>
          <p:cNvSpPr txBox="1"/>
          <p:nvPr/>
        </p:nvSpPr>
        <p:spPr>
          <a:xfrm>
            <a:off x="1111567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</a:t>
            </a:r>
          </a:p>
        </p:txBody>
      </p:sp>
      <p:sp>
        <p:nvSpPr>
          <p:cNvPr id="320" name="Oval 319"/>
          <p:cNvSpPr/>
          <p:nvPr/>
        </p:nvSpPr>
        <p:spPr>
          <a:xfrm>
            <a:off x="1132522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1" name="TextBox 320"/>
          <p:cNvSpPr txBox="1"/>
          <p:nvPr/>
        </p:nvSpPr>
        <p:spPr>
          <a:xfrm>
            <a:off x="1132522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</a:t>
            </a:r>
          </a:p>
        </p:txBody>
      </p:sp>
      <p:sp>
        <p:nvSpPr>
          <p:cNvPr id="322" name="Oval 321"/>
          <p:cNvSpPr/>
          <p:nvPr/>
        </p:nvSpPr>
        <p:spPr>
          <a:xfrm>
            <a:off x="1153477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3" name="TextBox 322"/>
          <p:cNvSpPr txBox="1"/>
          <p:nvPr/>
        </p:nvSpPr>
        <p:spPr>
          <a:xfrm>
            <a:off x="1153477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</a:t>
            </a:r>
          </a:p>
        </p:txBody>
      </p:sp>
      <p:sp>
        <p:nvSpPr>
          <p:cNvPr id="324" name="Oval 323"/>
          <p:cNvSpPr/>
          <p:nvPr/>
        </p:nvSpPr>
        <p:spPr>
          <a:xfrm>
            <a:off x="1174432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5" name="TextBox 324"/>
          <p:cNvSpPr txBox="1"/>
          <p:nvPr/>
        </p:nvSpPr>
        <p:spPr>
          <a:xfrm>
            <a:off x="1174432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</a:t>
            </a:r>
          </a:p>
        </p:txBody>
      </p:sp>
      <p:sp>
        <p:nvSpPr>
          <p:cNvPr id="326" name="Oval 325"/>
          <p:cNvSpPr/>
          <p:nvPr/>
        </p:nvSpPr>
        <p:spPr>
          <a:xfrm>
            <a:off x="11220450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7" name="TextBox 326"/>
          <p:cNvSpPr txBox="1"/>
          <p:nvPr/>
        </p:nvSpPr>
        <p:spPr>
          <a:xfrm>
            <a:off x="11220450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</a:t>
            </a:r>
          </a:p>
        </p:txBody>
      </p:sp>
      <p:sp>
        <p:nvSpPr>
          <p:cNvPr id="328" name="Oval 327"/>
          <p:cNvSpPr/>
          <p:nvPr/>
        </p:nvSpPr>
        <p:spPr>
          <a:xfrm>
            <a:off x="11430000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9" name="TextBox 328"/>
          <p:cNvSpPr txBox="1"/>
          <p:nvPr/>
        </p:nvSpPr>
        <p:spPr>
          <a:xfrm>
            <a:off x="11430000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</a:t>
            </a:r>
          </a:p>
        </p:txBody>
      </p:sp>
      <p:sp>
        <p:nvSpPr>
          <p:cNvPr id="330" name="Oval 329"/>
          <p:cNvSpPr/>
          <p:nvPr/>
        </p:nvSpPr>
        <p:spPr>
          <a:xfrm>
            <a:off x="11639550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1" name="TextBox 330"/>
          <p:cNvSpPr txBox="1"/>
          <p:nvPr/>
        </p:nvSpPr>
        <p:spPr>
          <a:xfrm>
            <a:off x="11639550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</a:t>
            </a:r>
          </a:p>
        </p:txBody>
      </p:sp>
      <p:sp>
        <p:nvSpPr>
          <p:cNvPr id="332" name="TextBox 331"/>
          <p:cNvSpPr txBox="1"/>
          <p:nvPr/>
        </p:nvSpPr>
        <p:spPr>
          <a:xfrm>
            <a:off x="285750" y="5716715"/>
            <a:ext cx="1116806" cy="164283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Product Portfolio:</a:t>
            </a:r>
          </a:p>
        </p:txBody>
      </p:sp>
      <p:sp>
        <p:nvSpPr>
          <p:cNvPr id="333" name="Rectangle 332"/>
          <p:cNvSpPr/>
          <p:nvPr/>
        </p:nvSpPr>
        <p:spPr>
          <a:xfrm>
            <a:off x="1383506" y="5744096"/>
            <a:ext cx="114300" cy="109522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4" name="TextBox 333"/>
          <p:cNvSpPr txBox="1"/>
          <p:nvPr/>
        </p:nvSpPr>
        <p:spPr>
          <a:xfrm>
            <a:off x="1535906" y="5716715"/>
            <a:ext cx="1907381" cy="164283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Shampoos &amp; Cleansing Products</a:t>
            </a:r>
          </a:p>
        </p:txBody>
      </p:sp>
      <p:sp>
        <p:nvSpPr>
          <p:cNvPr id="335" name="Rectangle 334"/>
          <p:cNvSpPr/>
          <p:nvPr/>
        </p:nvSpPr>
        <p:spPr>
          <a:xfrm>
            <a:off x="3500438" y="5744096"/>
            <a:ext cx="114300" cy="109522"/>
          </a:xfrm>
          <a:prstGeom prst="rect">
            <a:avLst/>
          </a:prstGeom>
          <a:solidFill>
            <a:srgbClr val="79C3E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6" name="TextBox 335"/>
          <p:cNvSpPr txBox="1"/>
          <p:nvPr/>
        </p:nvSpPr>
        <p:spPr>
          <a:xfrm>
            <a:off x="3652838" y="5716715"/>
            <a:ext cx="2364581" cy="164283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Coat Conditioning &amp; Grooming Products</a:t>
            </a:r>
          </a:p>
        </p:txBody>
      </p:sp>
      <p:sp>
        <p:nvSpPr>
          <p:cNvPr id="337" name="Rectangle 336"/>
          <p:cNvSpPr/>
          <p:nvPr/>
        </p:nvSpPr>
        <p:spPr>
          <a:xfrm>
            <a:off x="6074569" y="5744096"/>
            <a:ext cx="114300" cy="109522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8" name="TextBox 337"/>
          <p:cNvSpPr txBox="1"/>
          <p:nvPr/>
        </p:nvSpPr>
        <p:spPr>
          <a:xfrm>
            <a:off x="6226969" y="5716715"/>
            <a:ext cx="1888331" cy="164283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Skin, Paw &amp; Nose Care Products</a:t>
            </a:r>
          </a:p>
        </p:txBody>
      </p:sp>
      <p:sp>
        <p:nvSpPr>
          <p:cNvPr id="339" name="Rectangle 338"/>
          <p:cNvSpPr/>
          <p:nvPr/>
        </p:nvSpPr>
        <p:spPr>
          <a:xfrm>
            <a:off x="8172450" y="5744096"/>
            <a:ext cx="114300" cy="109522"/>
          </a:xfrm>
          <a:prstGeom prst="rect">
            <a:avLst/>
          </a:prstGeom>
          <a:solidFill>
            <a:srgbClr val="FFFFFF"/>
          </a:solidFill>
          <a:ln w="12700">
            <a:solidFill>
              <a:srgbClr val="6C7A8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0" name="TextBox 339"/>
          <p:cNvSpPr txBox="1"/>
          <p:nvPr/>
        </p:nvSpPr>
        <p:spPr>
          <a:xfrm>
            <a:off x="8324850" y="5716715"/>
            <a:ext cx="740569" cy="164283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Not offered</a:t>
            </a:r>
          </a:p>
        </p:txBody>
      </p:sp>
      <p:sp>
        <p:nvSpPr>
          <p:cNvPr id="341" name="TextBox 340"/>
          <p:cNvSpPr txBox="1"/>
          <p:nvPr/>
        </p:nvSpPr>
        <p:spPr>
          <a:xfrm>
            <a:off x="285750" y="5890125"/>
            <a:ext cx="208915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008189"/>
                </a:solidFill>
                <a:latin typeface="Calibri"/>
              </a:rPr>
              <a:t>✔</a:t>
            </a:r>
          </a:p>
        </p:txBody>
      </p:sp>
      <p:sp>
        <p:nvSpPr>
          <p:cNvPr id="342" name="TextBox 341"/>
          <p:cNvSpPr txBox="1"/>
          <p:nvPr/>
        </p:nvSpPr>
        <p:spPr>
          <a:xfrm>
            <a:off x="475615" y="5890125"/>
            <a:ext cx="457200" cy="164283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served</a:t>
            </a:r>
          </a:p>
        </p:txBody>
      </p:sp>
      <p:sp>
        <p:nvSpPr>
          <p:cNvPr id="343" name="TextBox 342"/>
          <p:cNvSpPr txBox="1"/>
          <p:nvPr/>
        </p:nvSpPr>
        <p:spPr>
          <a:xfrm>
            <a:off x="913765" y="5890125"/>
            <a:ext cx="208915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E44D3A"/>
                </a:solidFill>
                <a:latin typeface="Calibri"/>
              </a:rPr>
              <a:t>✘</a:t>
            </a:r>
          </a:p>
        </p:txBody>
      </p:sp>
      <p:sp>
        <p:nvSpPr>
          <p:cNvPr id="344" name="TextBox 343"/>
          <p:cNvSpPr txBox="1"/>
          <p:nvPr/>
        </p:nvSpPr>
        <p:spPr>
          <a:xfrm>
            <a:off x="1103630" y="5890125"/>
            <a:ext cx="683419" cy="164283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not served</a:t>
            </a:r>
          </a:p>
        </p:txBody>
      </p:sp>
      <p:sp>
        <p:nvSpPr>
          <p:cNvPr id="345" name="TextBox 344"/>
          <p:cNvSpPr txBox="1"/>
          <p:nvPr/>
        </p:nvSpPr>
        <p:spPr>
          <a:xfrm>
            <a:off x="1939449" y="5890125"/>
            <a:ext cx="1183481" cy="164283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Regional presence:</a:t>
            </a:r>
          </a:p>
        </p:txBody>
      </p:sp>
      <p:sp>
        <p:nvSpPr>
          <p:cNvPr id="346" name="TextBox 345"/>
          <p:cNvSpPr txBox="1"/>
          <p:nvPr/>
        </p:nvSpPr>
        <p:spPr>
          <a:xfrm>
            <a:off x="3103880" y="5890125"/>
            <a:ext cx="208915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0E72AE"/>
                </a:solidFill>
                <a:latin typeface="Calibri"/>
              </a:rPr>
              <a:t>▲</a:t>
            </a:r>
          </a:p>
        </p:txBody>
      </p:sp>
      <p:sp>
        <p:nvSpPr>
          <p:cNvPr id="347" name="TextBox 346"/>
          <p:cNvSpPr txBox="1"/>
          <p:nvPr/>
        </p:nvSpPr>
        <p:spPr>
          <a:xfrm>
            <a:off x="3293745" y="5890125"/>
            <a:ext cx="338138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High</a:t>
            </a:r>
          </a:p>
        </p:txBody>
      </p:sp>
      <p:sp>
        <p:nvSpPr>
          <p:cNvPr id="348" name="TextBox 347"/>
          <p:cNvSpPr txBox="1"/>
          <p:nvPr/>
        </p:nvSpPr>
        <p:spPr>
          <a:xfrm>
            <a:off x="3612832" y="5890125"/>
            <a:ext cx="208915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A86F00"/>
                </a:solidFill>
                <a:latin typeface="Calibri"/>
              </a:rPr>
              <a:t>▲</a:t>
            </a:r>
          </a:p>
        </p:txBody>
      </p:sp>
      <p:sp>
        <p:nvSpPr>
          <p:cNvPr id="349" name="TextBox 348"/>
          <p:cNvSpPr txBox="1"/>
          <p:nvPr/>
        </p:nvSpPr>
        <p:spPr>
          <a:xfrm>
            <a:off x="3802698" y="5890125"/>
            <a:ext cx="576262" cy="164283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Medium</a:t>
            </a:r>
          </a:p>
        </p:txBody>
      </p:sp>
      <p:sp>
        <p:nvSpPr>
          <p:cNvPr id="350" name="TextBox 349"/>
          <p:cNvSpPr txBox="1"/>
          <p:nvPr/>
        </p:nvSpPr>
        <p:spPr>
          <a:xfrm>
            <a:off x="4340860" y="5890125"/>
            <a:ext cx="208915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9AA3A8"/>
                </a:solidFill>
                <a:latin typeface="Calibri"/>
              </a:rPr>
              <a:t>▲</a:t>
            </a:r>
          </a:p>
        </p:txBody>
      </p:sp>
      <p:sp>
        <p:nvSpPr>
          <p:cNvPr id="351" name="TextBox 350"/>
          <p:cNvSpPr txBox="1"/>
          <p:nvPr/>
        </p:nvSpPr>
        <p:spPr>
          <a:xfrm>
            <a:off x="4530725" y="5890125"/>
            <a:ext cx="309562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Low</a:t>
            </a:r>
          </a:p>
        </p:txBody>
      </p:sp>
      <p:sp>
        <p:nvSpPr>
          <p:cNvPr id="352" name="Oval 351"/>
          <p:cNvSpPr/>
          <p:nvPr/>
        </p:nvSpPr>
        <p:spPr>
          <a:xfrm>
            <a:off x="285750" y="6081789"/>
            <a:ext cx="171450" cy="164283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3" name="TextBox 352"/>
          <p:cNvSpPr txBox="1"/>
          <p:nvPr/>
        </p:nvSpPr>
        <p:spPr>
          <a:xfrm>
            <a:off x="285750" y="6081789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</a:t>
            </a:r>
          </a:p>
        </p:txBody>
      </p:sp>
      <p:sp>
        <p:nvSpPr>
          <p:cNvPr id="354" name="TextBox 353"/>
          <p:cNvSpPr txBox="1"/>
          <p:nvPr/>
        </p:nvSpPr>
        <p:spPr>
          <a:xfrm>
            <a:off x="495300" y="6072662"/>
            <a:ext cx="657225" cy="182537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Expansion</a:t>
            </a:r>
          </a:p>
        </p:txBody>
      </p:sp>
      <p:sp>
        <p:nvSpPr>
          <p:cNvPr id="355" name="Oval 354"/>
          <p:cNvSpPr/>
          <p:nvPr/>
        </p:nvSpPr>
        <p:spPr>
          <a:xfrm>
            <a:off x="1247775" y="6081789"/>
            <a:ext cx="171450" cy="164283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6" name="TextBox 355"/>
          <p:cNvSpPr txBox="1"/>
          <p:nvPr/>
        </p:nvSpPr>
        <p:spPr>
          <a:xfrm>
            <a:off x="1247775" y="6081789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</a:t>
            </a:r>
          </a:p>
        </p:txBody>
      </p:sp>
      <p:sp>
        <p:nvSpPr>
          <p:cNvPr id="357" name="TextBox 356"/>
          <p:cNvSpPr txBox="1"/>
          <p:nvPr/>
        </p:nvSpPr>
        <p:spPr>
          <a:xfrm>
            <a:off x="1457325" y="6072662"/>
            <a:ext cx="1012031" cy="182537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R&amp;D Investment</a:t>
            </a:r>
          </a:p>
        </p:txBody>
      </p:sp>
      <p:sp>
        <p:nvSpPr>
          <p:cNvPr id="358" name="Oval 357"/>
          <p:cNvSpPr/>
          <p:nvPr/>
        </p:nvSpPr>
        <p:spPr>
          <a:xfrm>
            <a:off x="2564606" y="6081789"/>
            <a:ext cx="171450" cy="164283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9" name="TextBox 358"/>
          <p:cNvSpPr txBox="1"/>
          <p:nvPr/>
        </p:nvSpPr>
        <p:spPr>
          <a:xfrm>
            <a:off x="2564606" y="6081789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</a:t>
            </a:r>
          </a:p>
        </p:txBody>
      </p:sp>
      <p:sp>
        <p:nvSpPr>
          <p:cNvPr id="360" name="TextBox 359"/>
          <p:cNvSpPr txBox="1"/>
          <p:nvPr/>
        </p:nvSpPr>
        <p:spPr>
          <a:xfrm>
            <a:off x="2774156" y="6072662"/>
            <a:ext cx="800100" cy="182537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Financial Aid</a:t>
            </a:r>
          </a:p>
        </p:txBody>
      </p:sp>
      <p:sp>
        <p:nvSpPr>
          <p:cNvPr id="361" name="Oval 360"/>
          <p:cNvSpPr/>
          <p:nvPr/>
        </p:nvSpPr>
        <p:spPr>
          <a:xfrm>
            <a:off x="3669506" y="6081789"/>
            <a:ext cx="171450" cy="164283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2" name="TextBox 361"/>
          <p:cNvSpPr txBox="1"/>
          <p:nvPr/>
        </p:nvSpPr>
        <p:spPr>
          <a:xfrm>
            <a:off x="3669506" y="6081789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</a:t>
            </a:r>
          </a:p>
        </p:txBody>
      </p:sp>
      <p:sp>
        <p:nvSpPr>
          <p:cNvPr id="363" name="TextBox 362"/>
          <p:cNvSpPr txBox="1"/>
          <p:nvPr/>
        </p:nvSpPr>
        <p:spPr>
          <a:xfrm>
            <a:off x="3879056" y="6072662"/>
            <a:ext cx="1328738" cy="182537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Product Development</a:t>
            </a:r>
          </a:p>
        </p:txBody>
      </p:sp>
      <p:sp>
        <p:nvSpPr>
          <p:cNvPr id="364" name="Oval 363"/>
          <p:cNvSpPr/>
          <p:nvPr/>
        </p:nvSpPr>
        <p:spPr>
          <a:xfrm>
            <a:off x="5303044" y="6081789"/>
            <a:ext cx="171450" cy="164283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5" name="TextBox 364"/>
          <p:cNvSpPr txBox="1"/>
          <p:nvPr/>
        </p:nvSpPr>
        <p:spPr>
          <a:xfrm>
            <a:off x="5303044" y="6081789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</a:t>
            </a:r>
          </a:p>
        </p:txBody>
      </p:sp>
      <p:sp>
        <p:nvSpPr>
          <p:cNvPr id="366" name="TextBox 365"/>
          <p:cNvSpPr txBox="1"/>
          <p:nvPr/>
        </p:nvSpPr>
        <p:spPr>
          <a:xfrm>
            <a:off x="5512594" y="6072662"/>
            <a:ext cx="714375" cy="182537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Acquisition</a:t>
            </a:r>
          </a:p>
        </p:txBody>
      </p:sp>
      <p:sp>
        <p:nvSpPr>
          <p:cNvPr id="367" name="Oval 366"/>
          <p:cNvSpPr/>
          <p:nvPr/>
        </p:nvSpPr>
        <p:spPr>
          <a:xfrm>
            <a:off x="6322219" y="6081789"/>
            <a:ext cx="171450" cy="164283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8" name="TextBox 367"/>
          <p:cNvSpPr txBox="1"/>
          <p:nvPr/>
        </p:nvSpPr>
        <p:spPr>
          <a:xfrm>
            <a:off x="6322219" y="6081789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</a:t>
            </a:r>
          </a:p>
        </p:txBody>
      </p:sp>
      <p:sp>
        <p:nvSpPr>
          <p:cNvPr id="369" name="TextBox 368"/>
          <p:cNvSpPr txBox="1"/>
          <p:nvPr/>
        </p:nvSpPr>
        <p:spPr>
          <a:xfrm>
            <a:off x="6531769" y="6072662"/>
            <a:ext cx="964406" cy="182537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Product Launch</a:t>
            </a:r>
          </a:p>
        </p:txBody>
      </p:sp>
      <p:sp>
        <p:nvSpPr>
          <p:cNvPr id="370" name="Oval 369"/>
          <p:cNvSpPr/>
          <p:nvPr/>
        </p:nvSpPr>
        <p:spPr>
          <a:xfrm>
            <a:off x="7591425" y="6081789"/>
            <a:ext cx="171450" cy="164283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1" name="TextBox 370"/>
          <p:cNvSpPr txBox="1"/>
          <p:nvPr/>
        </p:nvSpPr>
        <p:spPr>
          <a:xfrm>
            <a:off x="7591425" y="6081789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</a:t>
            </a:r>
          </a:p>
        </p:txBody>
      </p:sp>
      <p:sp>
        <p:nvSpPr>
          <p:cNvPr id="372" name="TextBox 371"/>
          <p:cNvSpPr txBox="1"/>
          <p:nvPr/>
        </p:nvSpPr>
        <p:spPr>
          <a:xfrm>
            <a:off x="7800975" y="6072662"/>
            <a:ext cx="781050" cy="182537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Certification</a:t>
            </a:r>
          </a:p>
        </p:txBody>
      </p:sp>
      <p:sp>
        <p:nvSpPr>
          <p:cNvPr id="373" name="TextBox 372"/>
          <p:cNvSpPr txBox="1"/>
          <p:nvPr/>
        </p:nvSpPr>
        <p:spPr>
          <a:xfrm>
            <a:off x="285750" y="6273453"/>
            <a:ext cx="11620500" cy="155156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algn="l"/>
            <a:r>
              <a:rPr sz="1100" b="1">
                <a:solidFill>
                  <a:srgbClr val="A35313"/>
                </a:solidFill>
                <a:latin typeface="Calibri"/>
              </a:rPr>
              <a:t>Note: Market Share indicates the contribution of target revenue in Market</a:t>
            </a:r>
          </a:p>
        </p:txBody>
      </p:sp>
      <p:sp>
        <p:nvSpPr>
          <p:cNvPr id="374" name="TextBox 373"/>
          <p:cNvSpPr txBox="1"/>
          <p:nvPr/>
        </p:nvSpPr>
        <p:spPr>
          <a:xfrm>
            <a:off x="285750" y="6428609"/>
            <a:ext cx="11620500" cy="155156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algn="l"/>
            <a:r>
              <a:rPr sz="1100" b="1">
                <a:solidFill>
                  <a:srgbClr val="A35313"/>
                </a:solidFill>
                <a:latin typeface="Calibri"/>
              </a:rPr>
              <a:t>Revenue represents sales of the company from target market</a:t>
            </a:r>
          </a:p>
        </p:txBody>
      </p:sp>
      <p:sp>
        <p:nvSpPr>
          <p:cNvPr id="375" name="TextBox 37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76" name="Picture 37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69213" y="2702524"/>
            <a:ext cx="128699" cy="187198"/>
          </a:xfrm>
          <a:prstGeom prst="rect">
            <a:avLst/>
          </a:prstGeom>
        </p:spPr>
      </p:pic>
      <p:pic>
        <p:nvPicPr>
          <p:cNvPr id="377" name="Picture 37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69213" y="3031091"/>
            <a:ext cx="128699" cy="187198"/>
          </a:xfrm>
          <a:prstGeom prst="rect">
            <a:avLst/>
          </a:prstGeom>
        </p:spPr>
      </p:pic>
      <p:pic>
        <p:nvPicPr>
          <p:cNvPr id="378" name="Picture 37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69212" y="3560448"/>
            <a:ext cx="128699" cy="187198"/>
          </a:xfrm>
          <a:prstGeom prst="rect">
            <a:avLst/>
          </a:prstGeom>
        </p:spPr>
      </p:pic>
      <p:pic>
        <p:nvPicPr>
          <p:cNvPr id="379" name="Picture 37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45538" y="2702524"/>
            <a:ext cx="128699" cy="187198"/>
          </a:xfrm>
          <a:prstGeom prst="rect">
            <a:avLst/>
          </a:prstGeom>
        </p:spPr>
      </p:pic>
      <p:pic>
        <p:nvPicPr>
          <p:cNvPr id="380" name="Picture 37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45538" y="3031091"/>
            <a:ext cx="128699" cy="187198"/>
          </a:xfrm>
          <a:prstGeom prst="rect">
            <a:avLst/>
          </a:prstGeom>
        </p:spPr>
      </p:pic>
      <p:pic>
        <p:nvPicPr>
          <p:cNvPr id="381" name="Picture 38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45538" y="3560448"/>
            <a:ext cx="128699" cy="187198"/>
          </a:xfrm>
          <a:prstGeom prst="rect">
            <a:avLst/>
          </a:prstGeom>
        </p:spPr>
      </p:pic>
      <p:pic>
        <p:nvPicPr>
          <p:cNvPr id="382" name="Picture 38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921863" y="2702524"/>
            <a:ext cx="128699" cy="187198"/>
          </a:xfrm>
          <a:prstGeom prst="rect">
            <a:avLst/>
          </a:prstGeom>
        </p:spPr>
      </p:pic>
      <p:pic>
        <p:nvPicPr>
          <p:cNvPr id="383" name="Picture 38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921863" y="3031091"/>
            <a:ext cx="128699" cy="187198"/>
          </a:xfrm>
          <a:prstGeom prst="rect">
            <a:avLst/>
          </a:prstGeom>
        </p:spPr>
      </p:pic>
      <p:pic>
        <p:nvPicPr>
          <p:cNvPr id="384" name="Picture 38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921862" y="3560448"/>
            <a:ext cx="128699" cy="187198"/>
          </a:xfrm>
          <a:prstGeom prst="rect">
            <a:avLst/>
          </a:prstGeom>
        </p:spPr>
      </p:pic>
      <p:pic>
        <p:nvPicPr>
          <p:cNvPr id="385" name="Picture 38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998188" y="2702524"/>
            <a:ext cx="128699" cy="187198"/>
          </a:xfrm>
          <a:prstGeom prst="rect">
            <a:avLst/>
          </a:prstGeom>
        </p:spPr>
      </p:pic>
      <p:pic>
        <p:nvPicPr>
          <p:cNvPr id="386" name="Picture 38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998188" y="3031091"/>
            <a:ext cx="128699" cy="187198"/>
          </a:xfrm>
          <a:prstGeom prst="rect">
            <a:avLst/>
          </a:prstGeom>
        </p:spPr>
      </p:pic>
      <p:pic>
        <p:nvPicPr>
          <p:cNvPr id="387" name="Picture 38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998188" y="3560448"/>
            <a:ext cx="128699" cy="187198"/>
          </a:xfrm>
          <a:prstGeom prst="rect">
            <a:avLst/>
          </a:prstGeom>
        </p:spPr>
      </p:pic>
      <p:pic>
        <p:nvPicPr>
          <p:cNvPr id="388" name="Picture 38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74513" y="2702524"/>
            <a:ext cx="128699" cy="187198"/>
          </a:xfrm>
          <a:prstGeom prst="rect">
            <a:avLst/>
          </a:prstGeom>
        </p:spPr>
      </p:pic>
      <p:pic>
        <p:nvPicPr>
          <p:cNvPr id="389" name="Picture 38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74513" y="3031091"/>
            <a:ext cx="128699" cy="187198"/>
          </a:xfrm>
          <a:prstGeom prst="rect">
            <a:avLst/>
          </a:prstGeom>
        </p:spPr>
      </p:pic>
      <p:pic>
        <p:nvPicPr>
          <p:cNvPr id="390" name="Picture 38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74512" y="3560448"/>
            <a:ext cx="128699" cy="187198"/>
          </a:xfrm>
          <a:prstGeom prst="rect">
            <a:avLst/>
          </a:prstGeom>
        </p:spPr>
      </p:pic>
      <p:pic>
        <p:nvPicPr>
          <p:cNvPr id="391" name="Picture 39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50838" y="2702524"/>
            <a:ext cx="128699" cy="187198"/>
          </a:xfrm>
          <a:prstGeom prst="rect">
            <a:avLst/>
          </a:prstGeom>
        </p:spPr>
      </p:pic>
      <p:pic>
        <p:nvPicPr>
          <p:cNvPr id="392" name="Picture 39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50838" y="3031091"/>
            <a:ext cx="128699" cy="187198"/>
          </a:xfrm>
          <a:prstGeom prst="rect">
            <a:avLst/>
          </a:prstGeom>
        </p:spPr>
      </p:pic>
      <p:pic>
        <p:nvPicPr>
          <p:cNvPr id="393" name="Picture 39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50838" y="3560448"/>
            <a:ext cx="128699" cy="187198"/>
          </a:xfrm>
          <a:prstGeom prst="rect">
            <a:avLst/>
          </a:prstGeom>
        </p:spPr>
      </p:pic>
      <p:pic>
        <p:nvPicPr>
          <p:cNvPr id="394" name="Picture 39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227163" y="2702524"/>
            <a:ext cx="128699" cy="187198"/>
          </a:xfrm>
          <a:prstGeom prst="rect">
            <a:avLst/>
          </a:prstGeom>
        </p:spPr>
      </p:pic>
      <p:pic>
        <p:nvPicPr>
          <p:cNvPr id="395" name="Picture 39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227163" y="3031091"/>
            <a:ext cx="128699" cy="187198"/>
          </a:xfrm>
          <a:prstGeom prst="rect">
            <a:avLst/>
          </a:prstGeom>
        </p:spPr>
      </p:pic>
      <p:pic>
        <p:nvPicPr>
          <p:cNvPr id="396" name="Picture 39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227162" y="3560448"/>
            <a:ext cx="128699" cy="187198"/>
          </a:xfrm>
          <a:prstGeom prst="rect">
            <a:avLst/>
          </a:prstGeom>
        </p:spPr>
      </p:pic>
      <p:pic>
        <p:nvPicPr>
          <p:cNvPr id="397" name="Picture 39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303488" y="2702524"/>
            <a:ext cx="128699" cy="187198"/>
          </a:xfrm>
          <a:prstGeom prst="rect">
            <a:avLst/>
          </a:prstGeom>
        </p:spPr>
      </p:pic>
      <p:pic>
        <p:nvPicPr>
          <p:cNvPr id="398" name="Picture 39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303488" y="3031091"/>
            <a:ext cx="128699" cy="187198"/>
          </a:xfrm>
          <a:prstGeom prst="rect">
            <a:avLst/>
          </a:prstGeom>
        </p:spPr>
      </p:pic>
      <p:pic>
        <p:nvPicPr>
          <p:cNvPr id="399" name="Picture 39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303488" y="3560448"/>
            <a:ext cx="128699" cy="187198"/>
          </a:xfrm>
          <a:prstGeom prst="rect">
            <a:avLst/>
          </a:prstGeom>
        </p:spPr>
      </p:pic>
      <p:pic>
        <p:nvPicPr>
          <p:cNvPr id="400" name="Picture 39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379813" y="2702524"/>
            <a:ext cx="128699" cy="187198"/>
          </a:xfrm>
          <a:prstGeom prst="rect">
            <a:avLst/>
          </a:prstGeom>
        </p:spPr>
      </p:pic>
      <p:pic>
        <p:nvPicPr>
          <p:cNvPr id="401" name="Picture 40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379813" y="3031091"/>
            <a:ext cx="128699" cy="187198"/>
          </a:xfrm>
          <a:prstGeom prst="rect">
            <a:avLst/>
          </a:prstGeom>
        </p:spPr>
      </p:pic>
      <p:pic>
        <p:nvPicPr>
          <p:cNvPr id="402" name="Picture 40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379812" y="3560448"/>
            <a:ext cx="128699" cy="187198"/>
          </a:xfrm>
          <a:prstGeom prst="rect">
            <a:avLst/>
          </a:prstGeom>
        </p:spPr>
      </p:pic>
      <p:pic>
        <p:nvPicPr>
          <p:cNvPr id="403" name="Picture 40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56138" y="2702524"/>
            <a:ext cx="128699" cy="187198"/>
          </a:xfrm>
          <a:prstGeom prst="rect">
            <a:avLst/>
          </a:prstGeom>
        </p:spPr>
      </p:pic>
      <p:pic>
        <p:nvPicPr>
          <p:cNvPr id="404" name="Picture 40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56138" y="3031091"/>
            <a:ext cx="128699" cy="187198"/>
          </a:xfrm>
          <a:prstGeom prst="rect">
            <a:avLst/>
          </a:prstGeom>
        </p:spPr>
      </p:pic>
      <p:pic>
        <p:nvPicPr>
          <p:cNvPr id="405" name="Picture 40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56138" y="3560448"/>
            <a:ext cx="128699" cy="187198"/>
          </a:xfrm>
          <a:prstGeom prst="rect">
            <a:avLst/>
          </a:prstGeom>
        </p:spPr>
      </p:pic>
    </p:spTree>
  </p:cSld>
  <p:clrMapOvr>
    <a:masterClrMapping/>
  </p:clrMapOvr>
</p:sld>
</file>

<file path=ppt/slides/slide24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16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Market Share by Leading Players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Advice for Vendors &amp; Suppliers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Company Value Share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Company Share by Product Type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Company Share by Region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Who Shaped Growth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4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Advice for Market Vendors / Suppliers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Strategic advice for vendors and suppliers on pricing, product, geography, channel and competitive risk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73805"/>
          </a:xfrm>
          <a:prstGeom prst="roundRect">
            <a:avLst>
              <a:gd name="adj" fmla="val 2782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Strategic advice for vendors and suppliers where to compete, how to price, and which risks to manage across the Pet Cosmetic Products Market.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54081"/>
            <a:ext cx="5857875" cy="2601152"/>
          </a:xfrm>
          <a:prstGeom prst="roundRect">
            <a:avLst>
              <a:gd name="adj" fmla="val 292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76225" y="1439806"/>
            <a:ext cx="559117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Pricing &amp; Margin Strategy</a:t>
            </a:r>
          </a:p>
        </p:txBody>
      </p:sp>
      <p:sp>
        <p:nvSpPr>
          <p:cNvPr id="13" name="Rectangle 12"/>
          <p:cNvSpPr/>
          <p:nvPr/>
        </p:nvSpPr>
        <p:spPr>
          <a:xfrm>
            <a:off x="276225" y="1677931"/>
            <a:ext cx="559117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276225" y="1763656"/>
            <a:ext cx="5591175" cy="2115377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6191250" y="1354081"/>
            <a:ext cx="5857875" cy="2601152"/>
          </a:xfrm>
          <a:prstGeom prst="roundRect">
            <a:avLst>
              <a:gd name="adj" fmla="val 292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6324600" y="1439806"/>
            <a:ext cx="559117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Product &amp; Innovation</a:t>
            </a:r>
          </a:p>
        </p:txBody>
      </p:sp>
      <p:sp>
        <p:nvSpPr>
          <p:cNvPr id="17" name="Rectangle 16"/>
          <p:cNvSpPr/>
          <p:nvPr/>
        </p:nvSpPr>
        <p:spPr>
          <a:xfrm>
            <a:off x="6324600" y="1677931"/>
            <a:ext cx="559117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6324600" y="1763656"/>
            <a:ext cx="5591175" cy="2115377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142875" y="4046502"/>
            <a:ext cx="5857875" cy="2509883"/>
          </a:xfrm>
          <a:prstGeom prst="roundRect">
            <a:avLst>
              <a:gd name="adj" fmla="val 303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276225" y="4132227"/>
            <a:ext cx="559117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Geographic &amp; Channel Expansion</a:t>
            </a:r>
          </a:p>
        </p:txBody>
      </p:sp>
      <p:sp>
        <p:nvSpPr>
          <p:cNvPr id="21" name="Rectangle 20"/>
          <p:cNvSpPr/>
          <p:nvPr/>
        </p:nvSpPr>
        <p:spPr>
          <a:xfrm>
            <a:off x="276225" y="4370352"/>
            <a:ext cx="559117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276225" y="4456077"/>
            <a:ext cx="5591175" cy="2024108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Expand selectively into under-penetrated regions where the leaders are thin, rather than head-on in saturated markets.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Balance retail, hospital/clinic and online channels online is the fastest-shifting route to end customers.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Build reliable distribution and logistics partnerships to convert demand into fulfilled volume.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6191250" y="4046502"/>
            <a:ext cx="5857875" cy="2509883"/>
          </a:xfrm>
          <a:prstGeom prst="roundRect">
            <a:avLst>
              <a:gd name="adj" fmla="val 303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6324600" y="4132227"/>
            <a:ext cx="559117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Competitive &amp; Risk Positioning</a:t>
            </a:r>
          </a:p>
        </p:txBody>
      </p:sp>
      <p:sp>
        <p:nvSpPr>
          <p:cNvPr id="25" name="Rectangle 24"/>
          <p:cNvSpPr/>
          <p:nvPr/>
        </p:nvSpPr>
        <p:spPr>
          <a:xfrm>
            <a:off x="6324600" y="4370352"/>
            <a:ext cx="559117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6324600" y="4456077"/>
            <a:ext cx="5591175" cy="2024108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276225" y="1773181"/>
            <a:ext cx="323538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Hold price discipline: with the top three players at ~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460765" y="1762957"/>
            <a:ext cx="134549" cy="195707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3635875" y="1773181"/>
            <a:ext cx="185989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share, avoid value-destructive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276225" y="1948441"/>
            <a:ext cx="364672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discounting compete on mix and service, not headline price.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76225" y="2176279"/>
            <a:ext cx="55721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Premiumise toward higher-value formulations (e.g. 'Shampoos &amp; Cleansing Products') to lift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276225" y="2351539"/>
            <a:ext cx="322540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blended ASP and defend margin as input costs move.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2579377"/>
            <a:ext cx="481626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Set transparent, corridor-based regional pricing to limit grey-market arbitrage.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6324600" y="1773181"/>
            <a:ext cx="549545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Prioritise R&amp;D in the fastest-growing formulations a differentiated portfolio is the clearest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6324600" y="1948441"/>
            <a:ext cx="16605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route to out-growing the ~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934254" y="1938217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8109363" y="1948441"/>
            <a:ext cx="9057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market CAGR.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6324600" y="2176279"/>
            <a:ext cx="53839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Pursue certification and clinical validation to build switching costs and support premium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6324600" y="2351539"/>
            <a:ext cx="77307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positioning.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6324600" y="2579377"/>
            <a:ext cx="393140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Localise formats and pack sizes to each channel and geography.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6324600" y="4465602"/>
            <a:ext cx="27444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Benchmark relentlessly against 'Beaphar' (~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018218" y="4455378"/>
            <a:ext cx="134549" cy="195707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9193328" y="4465602"/>
            <a:ext cx="22195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share) match on service and lead on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6324600" y="4640861"/>
            <a:ext cx="156037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innovation to take share.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6324600" y="4868699"/>
            <a:ext cx="545551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Diversify the customer base to cut dependence on a few large accounts and single-region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6324600" y="5043959"/>
            <a:ext cx="6604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exposure.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6324600" y="5271797"/>
            <a:ext cx="523016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Stress-test for regulatory, currency and supply shocks; keep flexible capacity and dual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6324600" y="5447057"/>
            <a:ext cx="6159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sourcing.</a:t>
            </a:r>
          </a:p>
        </p:txBody>
      </p:sp>
    </p:spTree>
  </p:cSld>
  <p:clrMapOvr>
    <a:masterClrMapping/>
  </p:clrMapOvr>
</p:sld>
</file>

<file path=ppt/slides/slide24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Company Value Share (Europe)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value share by company in the Europe market, 2025, highlighting leadership and the long tail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007261"/>
            <a:ext cx="11906250" cy="273805"/>
          </a:xfrm>
          <a:prstGeom prst="roundRect">
            <a:avLst>
              <a:gd name="adj" fmla="val 2782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Target market value share by key companies leadership, concentration and how the competitive mix shifts by region.</a:t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142875" y="1354081"/>
            <a:ext cx="7543800" cy="5220558"/>
          </a:xfrm>
          <a:prstGeom prst="roundRect">
            <a:avLst>
              <a:gd name="adj" fmla="val 145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38125" y="1411231"/>
            <a:ext cx="73533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Share by Key Company (US$ Mn, 2026)</a:t>
            </a:r>
          </a:p>
        </p:txBody>
      </p:sp>
      <p:graphicFrame>
        <p:nvGraphicFramePr>
          <p:cNvPr id="14" name="Chart 13"/>
          <p:cNvGraphicFramePr>
            <a:graphicFrameLocks noGrp="1"/>
          </p:cNvGraphicFramePr>
          <p:nvPr/>
        </p:nvGraphicFramePr>
        <p:xfrm>
          <a:off x="238125" y="1639831"/>
          <a:ext cx="7353300" cy="4877658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5" name="TextBox 14"/>
          <p:cNvSpPr txBox="1"/>
          <p:nvPr/>
        </p:nvSpPr>
        <p:spPr>
          <a:xfrm>
            <a:off x="2049780" y="3878635"/>
            <a:ext cx="1524000" cy="4000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2E2E2E"/>
                </a:solidFill>
                <a:latin typeface="Calibri"/>
              </a:rPr>
              <a:t/>
            </a:r>
          </a:p>
          <a:p>
            <a:pPr algn="ctr"/>
            <a:r>
              <a:rPr sz="1300" b="1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6" name="Rounded Rectangle 15"/>
          <p:cNvSpPr/>
          <p:nvPr/>
        </p:nvSpPr>
        <p:spPr>
          <a:xfrm>
            <a:off x="7800975" y="1354081"/>
            <a:ext cx="4248150" cy="5220558"/>
          </a:xfrm>
          <a:prstGeom prst="roundRect">
            <a:avLst>
              <a:gd name="adj" fmla="val 179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7934325" y="1439806"/>
            <a:ext cx="39814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Takeaways</a:t>
            </a:r>
          </a:p>
        </p:txBody>
      </p:sp>
      <p:sp>
        <p:nvSpPr>
          <p:cNvPr id="18" name="Rectangle 17"/>
          <p:cNvSpPr/>
          <p:nvPr/>
        </p:nvSpPr>
        <p:spPr>
          <a:xfrm>
            <a:off x="7934325" y="1677931"/>
            <a:ext cx="39814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7934325" y="1763656"/>
            <a:ext cx="3981450" cy="4734783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33173" y="3678610"/>
            <a:ext cx="523875" cy="762000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2634865" y="3914616"/>
            <a:ext cx="430029" cy="161696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935" b="1">
                <a:solidFill>
                  <a:srgbClr val="2E2E2E"/>
                </a:solidFill>
                <a:latin typeface="Calibri"/>
              </a:rPr>
              <a:t>100% =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40344" y="4091735"/>
            <a:ext cx="109510" cy="159288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2682868" y="4100056"/>
            <a:ext cx="465087" cy="161696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935" b="1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934325" y="1773181"/>
            <a:ext cx="39624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The Pet Cosmetic Products Market is moderately consolidated in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934325" y="1948441"/>
            <a:ext cx="222729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Europe: the top three players hold ~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110778" y="1938217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10285887" y="1948441"/>
            <a:ext cx="155210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value, while a long tail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7934325" y="2123701"/>
            <a:ext cx="150731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('Others') accounts for ~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90797" y="2113477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9565907" y="2123701"/>
            <a:ext cx="1129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7934325" y="2351539"/>
            <a:ext cx="146795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'Beaphar' leads with ~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51432" y="2341315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9526542" y="2351539"/>
            <a:ext cx="235423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share, ahead of 'Laboratoire Biogance'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7934325" y="2526799"/>
            <a:ext cx="3009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at ~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184459" y="2516575"/>
            <a:ext cx="134549" cy="195707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8359568" y="2526799"/>
            <a:ext cx="33238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the two set the competitive benchmark for pricing and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7934325" y="2702058"/>
            <a:ext cx="74939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innovation.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7934325" y="2929896"/>
            <a:ext cx="238704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Tier 1 players collectively command ~</a:t>
            </a:r>
          </a:p>
        </p:txBody>
      </p:sp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270520" y="2919673"/>
            <a:ext cx="134549" cy="195707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10445630" y="2929896"/>
            <a:ext cx="92483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market,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7934325" y="3105156"/>
            <a:ext cx="249772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underlining meaningful barriers to entry.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7934325" y="3332994"/>
            <a:ext cx="377679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Regional share differs from the overall picture use the region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7934325" y="3508254"/>
            <a:ext cx="344476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selector to see how leadership shifts across geographies.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7934325" y="3736092"/>
            <a:ext cx="380988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gains in Europe are being driven by capacity expansion,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7934325" y="3911352"/>
            <a:ext cx="365927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product development and selective M&amp;A among the leading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7934325" y="4086612"/>
            <a:ext cx="54030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players.</a:t>
            </a:r>
          </a:p>
        </p:txBody>
      </p:sp>
      <p:sp>
        <p:nvSpPr>
          <p:cNvPr id="48" name="lockshield_14"/>
          <p:cNvSpPr/>
          <p:nvPr/>
        </p:nvSpPr>
        <p:spPr>
          <a:xfrm>
            <a:off x="238125" y="1639831"/>
            <a:ext cx="7353300" cy="4877658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24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Company Share by Product Type (Top 3)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company value share within each leading product type, highlighting where leadership differs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55552"/>
          </a:xfrm>
          <a:prstGeom prst="roundRect">
            <a:avLst>
              <a:gd name="adj" fmla="val 2981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Company value share within each of the leading product types where each player concentrates, and how leadership varies by formulation.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299320"/>
            <a:ext cx="3829050" cy="3212651"/>
          </a:xfrm>
          <a:prstGeom prst="roundRect">
            <a:avLst>
              <a:gd name="adj" fmla="val 237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356470"/>
            <a:ext cx="3638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Shampoos &amp; Cleansing Products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5070"/>
          <a:ext cx="3638550" cy="2869751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4124325" y="1299320"/>
            <a:ext cx="3829050" cy="3212651"/>
          </a:xfrm>
          <a:prstGeom prst="roundRect">
            <a:avLst>
              <a:gd name="adj" fmla="val 237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219575" y="1356470"/>
            <a:ext cx="3638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Coat Conditioning &amp; Grooming Products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4219575" y="1585070"/>
          <a:ext cx="3638550" cy="2869751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8105775" y="1299320"/>
            <a:ext cx="3943350" cy="3212651"/>
          </a:xfrm>
          <a:prstGeom prst="roundRect">
            <a:avLst>
              <a:gd name="adj" fmla="val 237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8201025" y="1356470"/>
            <a:ext cx="37528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Skin, Paw &amp; Nose Care Products</a:t>
            </a:r>
          </a:p>
        </p:txBody>
      </p:sp>
      <p:graphicFrame>
        <p:nvGraphicFramePr>
          <p:cNvPr id="19" name="Chart 18"/>
          <p:cNvGraphicFramePr>
            <a:graphicFrameLocks noGrp="1"/>
          </p:cNvGraphicFramePr>
          <p:nvPr/>
        </p:nvGraphicFramePr>
        <p:xfrm>
          <a:off x="8201025" y="1585070"/>
          <a:ext cx="3752850" cy="2869751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0" name="Rounded Rectangle 19"/>
          <p:cNvSpPr/>
          <p:nvPr/>
        </p:nvSpPr>
        <p:spPr>
          <a:xfrm>
            <a:off x="142875" y="4603240"/>
            <a:ext cx="11906250" cy="1971399"/>
          </a:xfrm>
          <a:prstGeom prst="roundRect">
            <a:avLst>
              <a:gd name="adj" fmla="val 386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276225" y="468896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Company Share Key Takeaways</a:t>
            </a:r>
          </a:p>
        </p:txBody>
      </p:sp>
      <p:sp>
        <p:nvSpPr>
          <p:cNvPr id="22" name="Rectangle 21"/>
          <p:cNvSpPr/>
          <p:nvPr/>
        </p:nvSpPr>
        <p:spPr>
          <a:xfrm>
            <a:off x="276225" y="492709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276225" y="5012815"/>
            <a:ext cx="11639550" cy="1485624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233011" y="2619895"/>
            <a:ext cx="523875" cy="762000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214461" y="2619895"/>
            <a:ext cx="523875" cy="762000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235916" y="2619895"/>
            <a:ext cx="523875" cy="762000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76225" y="5022340"/>
            <a:ext cx="316406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Shampoos &amp; Cleansing Products: 'Beaphar' leads at ~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388337" y="5012560"/>
            <a:ext cx="128699" cy="187198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3555833" y="5022340"/>
            <a:ext cx="137688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, ahead of 'Group55' (~</a:t>
            </a:r>
          </a:p>
        </p:txBody>
      </p:sp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880768" y="5012560"/>
            <a:ext cx="128699" cy="187198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5048264" y="5022340"/>
            <a:ext cx="132858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); the top three hold ~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324904" y="5012560"/>
            <a:ext cx="128699" cy="187198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6492400" y="5022340"/>
            <a:ext cx="153977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and a long tail ('Others') ~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7980227" y="5012560"/>
            <a:ext cx="128699" cy="187198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8147723" y="5022340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276225" y="5240272"/>
            <a:ext cx="442163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Coat Conditioning &amp; Grooming Products: 'Laboratoire Francodex' leads at ~</a:t>
            </a:r>
          </a:p>
        </p:txBody>
      </p:sp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645910" y="5230492"/>
            <a:ext cx="128699" cy="187198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4813406" y="5240272"/>
            <a:ext cx="208547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, ahead of 'Laboratoire Biogance' (~</a:t>
            </a:r>
          </a:p>
        </p:txBody>
      </p:sp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846936" y="5230492"/>
            <a:ext cx="128699" cy="187198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7014432" y="5240272"/>
            <a:ext cx="132858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); the top three hold ~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291072" y="5230492"/>
            <a:ext cx="128699" cy="187198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8458568" y="5240272"/>
            <a:ext cx="153977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and a long tail ('Others') ~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946396" y="5230492"/>
            <a:ext cx="128699" cy="187198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10113892" y="5240272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276225" y="5458204"/>
            <a:ext cx="314878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Skin, Paw &amp; Nose Care Products: 'Beaphar' leads at ~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373058" y="5448424"/>
            <a:ext cx="128699" cy="187198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3540553" y="5458204"/>
            <a:ext cx="208547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, ahead of 'Laboratoire Biogance' (~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574084" y="5448424"/>
            <a:ext cx="128699" cy="187198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5741580" y="5458204"/>
            <a:ext cx="132858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); the top three hold ~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7018220" y="5448424"/>
            <a:ext cx="128699" cy="187198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7185716" y="5458204"/>
            <a:ext cx="153977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and a long tail ('Others') ~</a:t>
            </a:r>
          </a:p>
        </p:txBody>
      </p:sp>
      <p:pic>
        <p:nvPicPr>
          <p:cNvPr id="53" name="Picture 52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673543" y="5448424"/>
            <a:ext cx="128699" cy="187198"/>
          </a:xfrm>
          <a:prstGeom prst="rect">
            <a:avLst/>
          </a:prstGeom>
        </p:spPr>
      </p:pic>
      <p:sp>
        <p:nvSpPr>
          <p:cNvPr id="54" name="TextBox 53"/>
          <p:cNvSpPr txBox="1"/>
          <p:nvPr/>
        </p:nvSpPr>
        <p:spPr>
          <a:xfrm>
            <a:off x="8841039" y="5458204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276225" y="5676136"/>
            <a:ext cx="852450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Leadership shifts across formulations a strong position in one product type does not carry over to the others, so product-level targeting is essential.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276225" y="5894068"/>
            <a:ext cx="690840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Note: competitor figures are indicative derived from market modelling and expert validation, not company disclosures.</a:t>
            </a:r>
          </a:p>
        </p:txBody>
      </p:sp>
      <p:sp>
        <p:nvSpPr>
          <p:cNvPr id="57" name="lockshield_13"/>
          <p:cNvSpPr/>
          <p:nvPr/>
        </p:nvSpPr>
        <p:spPr>
          <a:xfrm>
            <a:off x="238125" y="1585070"/>
            <a:ext cx="3638550" cy="2869751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lockshield_16"/>
          <p:cNvSpPr/>
          <p:nvPr/>
        </p:nvSpPr>
        <p:spPr>
          <a:xfrm>
            <a:off x="4219575" y="1585070"/>
            <a:ext cx="3638550" cy="2869751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lockshield_19"/>
          <p:cNvSpPr/>
          <p:nvPr/>
        </p:nvSpPr>
        <p:spPr>
          <a:xfrm>
            <a:off x="8201025" y="1585070"/>
            <a:ext cx="3752850" cy="2869751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24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Company Share by Region (Top 1)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Company value share within the largest regions, highlighting where leadership shifts across geographies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55552"/>
          </a:xfrm>
          <a:prstGeom prst="roundRect">
            <a:avLst>
              <a:gd name="adj" fmla="val 2981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Company value share within each of the largest regions where each player concentrates, and how leadership varies by geography.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299320"/>
            <a:ext cx="3829050" cy="3212651"/>
          </a:xfrm>
          <a:prstGeom prst="roundRect">
            <a:avLst>
              <a:gd name="adj" fmla="val 237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356470"/>
            <a:ext cx="3638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5070"/>
          <a:ext cx="3638550" cy="2869751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142875" y="4603240"/>
            <a:ext cx="11906250" cy="1971399"/>
          </a:xfrm>
          <a:prstGeom prst="roundRect">
            <a:avLst>
              <a:gd name="adj" fmla="val 386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276225" y="468896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Company Share Key Takeaways</a:t>
            </a:r>
          </a:p>
        </p:txBody>
      </p:sp>
      <p:sp>
        <p:nvSpPr>
          <p:cNvPr id="16" name="Rectangle 15"/>
          <p:cNvSpPr/>
          <p:nvPr/>
        </p:nvSpPr>
        <p:spPr>
          <a:xfrm>
            <a:off x="276225" y="492709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76225" y="5012815"/>
            <a:ext cx="11639550" cy="1485624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233011" y="2619895"/>
            <a:ext cx="523875" cy="76200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276225" y="5022340"/>
            <a:ext cx="18208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Europe: 'Beaphar' leads at ~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046191" y="5012116"/>
            <a:ext cx="134549" cy="195707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2221301" y="5022340"/>
            <a:ext cx="217680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, ahead of 'Laboratoire Biogance' (~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4347264" y="5012116"/>
            <a:ext cx="134549" cy="195707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4522374" y="5022340"/>
            <a:ext cx="13855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); the top three hold ~</a:t>
            </a:r>
          </a:p>
        </p:txBody>
      </p:sp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5857043" y="5012116"/>
            <a:ext cx="134549" cy="195707"/>
          </a:xfrm>
          <a:prstGeom prst="rect">
            <a:avLst/>
          </a:prstGeom>
        </p:spPr>
      </p:pic>
      <p:sp>
        <p:nvSpPr>
          <p:cNvPr id="26" name="TextBox 25"/>
          <p:cNvSpPr txBox="1"/>
          <p:nvPr/>
        </p:nvSpPr>
        <p:spPr>
          <a:xfrm>
            <a:off x="6032152" y="5022340"/>
            <a:ext cx="160630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and a long tail ('Others') ~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587608" y="5012116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7762717" y="5022340"/>
            <a:ext cx="1129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5250177"/>
            <a:ext cx="970580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Leadership is not uniform across geographies a strong position in one region does not carry over to the others, so region-level go-to-market planning is essential.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276225" y="5478015"/>
            <a:ext cx="721895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Note: competitor figures are indicative derived from market modelling and expert validation, not company disclosures.</a:t>
            </a:r>
          </a:p>
        </p:txBody>
      </p:sp>
      <p:sp>
        <p:nvSpPr>
          <p:cNvPr id="31" name="lockshield_13"/>
          <p:cNvSpPr/>
          <p:nvPr/>
        </p:nvSpPr>
        <p:spPr>
          <a:xfrm>
            <a:off x="238125" y="1585070"/>
            <a:ext cx="3638550" cy="2869751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24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Who Shaped Growth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Ranking of the players that shaped growth, by value share, growth role and signature move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42875" y="970754"/>
            <a:ext cx="11906250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A framework to identify the companies that most influenced annual Pet Cosmetic Products Market growth, ranked by growth-shaping impact.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3619500" y="1189798"/>
            <a:ext cx="4953000" cy="419835"/>
          </a:xfrm>
          <a:prstGeom prst="roundRect">
            <a:avLst>
              <a:gd name="adj" fmla="val 1538"/>
            </a:avLst>
          </a:prstGeom>
          <a:solidFill>
            <a:srgbClr val="F4F8FB"/>
          </a:solidFill>
          <a:ln w="12700">
            <a:solidFill>
              <a:srgbClr val="CFE0E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3733800" y="1226305"/>
            <a:ext cx="4724400" cy="17341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RANKED BY GROWTH-SHAPING IMPACT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3733800" y="1399716"/>
            <a:ext cx="4724400" cy="17341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Ranked by overall contribution to category growth, not share alone.</a:t>
            </a:r>
          </a:p>
        </p:txBody>
      </p:sp>
      <p:cxnSp>
        <p:nvCxnSpPr>
          <p:cNvPr id="14" name="Connector 13"/>
          <p:cNvCxnSpPr/>
          <p:nvPr/>
        </p:nvCxnSpPr>
        <p:spPr>
          <a:xfrm>
            <a:off x="428625" y="1399716"/>
            <a:ext cx="3019425" cy="0"/>
          </a:xfrm>
          <a:prstGeom prst="line">
            <a:avLst/>
          </a:prstGeom>
          <a:ln w="12700">
            <a:solidFill>
              <a:srgbClr val="C4D0D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" name="Connector 14"/>
          <p:cNvCxnSpPr/>
          <p:nvPr/>
        </p:nvCxnSpPr>
        <p:spPr>
          <a:xfrm>
            <a:off x="8743950" y="1399716"/>
            <a:ext cx="3019425" cy="0"/>
          </a:xfrm>
          <a:prstGeom prst="line">
            <a:avLst/>
          </a:prstGeom>
          <a:ln w="12700">
            <a:solidFill>
              <a:srgbClr val="C4D0D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" name="Connector 15"/>
          <p:cNvCxnSpPr/>
          <p:nvPr/>
        </p:nvCxnSpPr>
        <p:spPr>
          <a:xfrm>
            <a:off x="523875" y="1792170"/>
            <a:ext cx="11106150" cy="0"/>
          </a:xfrm>
          <a:prstGeom prst="line">
            <a:avLst/>
          </a:prstGeom>
          <a:ln w="25400">
            <a:solidFill>
              <a:srgbClr val="0B2E4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" name="Freeform 16"/>
          <p:cNvSpPr/>
          <p:nvPr/>
        </p:nvSpPr>
        <p:spPr>
          <a:xfrm>
            <a:off x="11630025" y="1728282"/>
            <a:ext cx="171450" cy="127776"/>
          </a:xfrm>
          <a:custGeom>
            <a:avLst/>
            <a:gdLst/>
            <a:ahLst/>
            <a:cxnLst/>
            <a:rect l="l" t="t" r="r" b="b"/>
            <a:pathLst>
              <a:path w="18" h="14">
                <a:moveTo>
                  <a:pt x="0" y="0"/>
                </a:moveTo>
                <a:lnTo>
                  <a:pt x="18" y="7"/>
                </a:lnTo>
                <a:lnTo>
                  <a:pt x="0" y="14"/>
                </a:lnTo>
                <a:close/>
              </a:path>
            </a:pathLst>
          </a:cu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Oval 17"/>
          <p:cNvSpPr/>
          <p:nvPr/>
        </p:nvSpPr>
        <p:spPr>
          <a:xfrm>
            <a:off x="1152525" y="1655267"/>
            <a:ext cx="285750" cy="273805"/>
          </a:xfrm>
          <a:prstGeom prst="ellipse">
            <a:avLst/>
          </a:prstGeom>
          <a:solidFill>
            <a:srgbClr val="0E72A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1152525" y="1710028"/>
            <a:ext cx="2857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42875" y="1992961"/>
            <a:ext cx="2305050" cy="2135683"/>
          </a:xfrm>
          <a:prstGeom prst="roundRect">
            <a:avLst>
              <a:gd name="adj" fmla="val 3719"/>
            </a:avLst>
          </a:prstGeom>
          <a:solidFill>
            <a:srgbClr val="FFFFFF"/>
          </a:solidFill>
          <a:ln w="20320">
            <a:solidFill>
              <a:srgbClr val="0E72A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Rounded Rectangle 20"/>
          <p:cNvSpPr/>
          <p:nvPr/>
        </p:nvSpPr>
        <p:spPr>
          <a:xfrm>
            <a:off x="142875" y="1992961"/>
            <a:ext cx="2305050" cy="310313"/>
          </a:xfrm>
          <a:prstGeom prst="roundRect">
            <a:avLst>
              <a:gd name="adj" fmla="val 3719"/>
            </a:avLst>
          </a:prstGeom>
          <a:solidFill>
            <a:srgbClr val="0E72AE"/>
          </a:solidFill>
          <a:ln w="12700">
            <a:solidFill>
              <a:srgbClr val="0E72A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Oval 21"/>
          <p:cNvSpPr/>
          <p:nvPr/>
        </p:nvSpPr>
        <p:spPr>
          <a:xfrm>
            <a:off x="257175" y="2038595"/>
            <a:ext cx="228600" cy="219044"/>
          </a:xfrm>
          <a:prstGeom prst="ellipse">
            <a:avLst/>
          </a:prstGeom>
          <a:solidFill>
            <a:srgbClr val="FFFFFF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257175" y="2065976"/>
            <a:ext cx="22860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🏆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523875" y="2065976"/>
            <a:ext cx="1828800" cy="17341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Beaphar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38125" y="2376288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📊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428625" y="2376288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/>
            </a:r>
          </a:p>
        </p:txBody>
      </p:sp>
      <p:cxnSp>
        <p:nvCxnSpPr>
          <p:cNvPr id="27" name="Connector 26"/>
          <p:cNvCxnSpPr/>
          <p:nvPr/>
        </p:nvCxnSpPr>
        <p:spPr>
          <a:xfrm>
            <a:off x="238125" y="2595333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8" name="TextBox 27"/>
          <p:cNvSpPr txBox="1"/>
          <p:nvPr/>
        </p:nvSpPr>
        <p:spPr>
          <a:xfrm>
            <a:off x="238125" y="2723109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👤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428625" y="2640967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Growth role: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428625" y="2805250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E72AE"/>
                </a:solidFill>
                <a:latin typeface="Calibri"/>
              </a:rPr>
              <a:t>Market leader</a:t>
            </a:r>
          </a:p>
        </p:txBody>
      </p:sp>
      <p:cxnSp>
        <p:nvCxnSpPr>
          <p:cNvPr id="31" name="Connector 30"/>
          <p:cNvCxnSpPr/>
          <p:nvPr/>
        </p:nvCxnSpPr>
        <p:spPr>
          <a:xfrm>
            <a:off x="238125" y="3015168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2" name="TextBox 31"/>
          <p:cNvSpPr txBox="1"/>
          <p:nvPr/>
        </p:nvSpPr>
        <p:spPr>
          <a:xfrm>
            <a:off x="238125" y="3124690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🎯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428625" y="3060802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Why it shaped growth: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428625" y="3225085"/>
            <a:ext cx="1924050" cy="38332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Expanded reach across its core segment</a:t>
            </a:r>
          </a:p>
        </p:txBody>
      </p:sp>
      <p:cxnSp>
        <p:nvCxnSpPr>
          <p:cNvPr id="35" name="Connector 34"/>
          <p:cNvCxnSpPr/>
          <p:nvPr/>
        </p:nvCxnSpPr>
        <p:spPr>
          <a:xfrm>
            <a:off x="238125" y="3654047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TextBox 35"/>
          <p:cNvSpPr txBox="1"/>
          <p:nvPr/>
        </p:nvSpPr>
        <p:spPr>
          <a:xfrm>
            <a:off x="238125" y="3763569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🚀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428625" y="3699682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Signature move: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428625" y="3863965"/>
            <a:ext cx="1924050" cy="21904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New launch</a:t>
            </a:r>
          </a:p>
        </p:txBody>
      </p:sp>
      <p:sp>
        <p:nvSpPr>
          <p:cNvPr id="39" name="Oval 38"/>
          <p:cNvSpPr/>
          <p:nvPr/>
        </p:nvSpPr>
        <p:spPr>
          <a:xfrm>
            <a:off x="3552825" y="1655267"/>
            <a:ext cx="285750" cy="273805"/>
          </a:xfrm>
          <a:prstGeom prst="ellipse">
            <a:avLst/>
          </a:prstGeom>
          <a:solidFill>
            <a:srgbClr val="A35313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3552825" y="1710028"/>
            <a:ext cx="2857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41" name="Rounded Rectangle 40"/>
          <p:cNvSpPr/>
          <p:nvPr/>
        </p:nvSpPr>
        <p:spPr>
          <a:xfrm>
            <a:off x="2543175" y="1992961"/>
            <a:ext cx="2305050" cy="2135683"/>
          </a:xfrm>
          <a:prstGeom prst="roundRect">
            <a:avLst>
              <a:gd name="adj" fmla="val 3719"/>
            </a:avLst>
          </a:prstGeom>
          <a:solidFill>
            <a:srgbClr val="FFFFFF"/>
          </a:solidFill>
          <a:ln w="20320">
            <a:solidFill>
              <a:srgbClr val="A3531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ounded Rectangle 41"/>
          <p:cNvSpPr/>
          <p:nvPr/>
        </p:nvSpPr>
        <p:spPr>
          <a:xfrm>
            <a:off x="2543175" y="1992961"/>
            <a:ext cx="2305050" cy="310313"/>
          </a:xfrm>
          <a:prstGeom prst="roundRect">
            <a:avLst>
              <a:gd name="adj" fmla="val 3719"/>
            </a:avLst>
          </a:prstGeom>
          <a:solidFill>
            <a:srgbClr val="A35313"/>
          </a:solidFill>
          <a:ln w="12700">
            <a:solidFill>
              <a:srgbClr val="A3531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Oval 42"/>
          <p:cNvSpPr/>
          <p:nvPr/>
        </p:nvSpPr>
        <p:spPr>
          <a:xfrm>
            <a:off x="2657475" y="2038595"/>
            <a:ext cx="228600" cy="219044"/>
          </a:xfrm>
          <a:prstGeom prst="ellipse">
            <a:avLst/>
          </a:prstGeom>
          <a:solidFill>
            <a:srgbClr val="FFFFFF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2657475" y="2065976"/>
            <a:ext cx="22860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📈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2924175" y="2065976"/>
            <a:ext cx="1828800" cy="17341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Laboratoire Biogance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2638425" y="2376288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📊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2828925" y="2376288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/>
            </a:r>
          </a:p>
        </p:txBody>
      </p:sp>
      <p:cxnSp>
        <p:nvCxnSpPr>
          <p:cNvPr id="48" name="Connector 47"/>
          <p:cNvCxnSpPr/>
          <p:nvPr/>
        </p:nvCxnSpPr>
        <p:spPr>
          <a:xfrm>
            <a:off x="2638425" y="2595333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9" name="TextBox 48"/>
          <p:cNvSpPr txBox="1"/>
          <p:nvPr/>
        </p:nvSpPr>
        <p:spPr>
          <a:xfrm>
            <a:off x="2638425" y="2723109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👤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2828925" y="2640967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Growth role: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2828925" y="2805250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A35313"/>
                </a:solidFill>
                <a:latin typeface="Calibri"/>
              </a:rPr>
              <a:t>Portfolio expander</a:t>
            </a:r>
          </a:p>
        </p:txBody>
      </p:sp>
      <p:cxnSp>
        <p:nvCxnSpPr>
          <p:cNvPr id="52" name="Connector 51"/>
          <p:cNvCxnSpPr/>
          <p:nvPr/>
        </p:nvCxnSpPr>
        <p:spPr>
          <a:xfrm>
            <a:off x="2638425" y="3015168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3" name="TextBox 52"/>
          <p:cNvSpPr txBox="1"/>
          <p:nvPr/>
        </p:nvSpPr>
        <p:spPr>
          <a:xfrm>
            <a:off x="2638425" y="3124690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🎯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2828925" y="3060802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Why it shaped growth: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2828925" y="3225085"/>
            <a:ext cx="1924050" cy="38332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Drove new customer adoption</a:t>
            </a:r>
          </a:p>
        </p:txBody>
      </p:sp>
      <p:cxnSp>
        <p:nvCxnSpPr>
          <p:cNvPr id="56" name="Connector 55"/>
          <p:cNvCxnSpPr/>
          <p:nvPr/>
        </p:nvCxnSpPr>
        <p:spPr>
          <a:xfrm>
            <a:off x="2638425" y="3654047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7" name="TextBox 56"/>
          <p:cNvSpPr txBox="1"/>
          <p:nvPr/>
        </p:nvSpPr>
        <p:spPr>
          <a:xfrm>
            <a:off x="2638425" y="3763569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🚀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2828925" y="3699682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Signature move: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2828925" y="3863965"/>
            <a:ext cx="1924050" cy="21904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Channel expansion</a:t>
            </a:r>
          </a:p>
        </p:txBody>
      </p:sp>
      <p:sp>
        <p:nvSpPr>
          <p:cNvPr id="60" name="Oval 59"/>
          <p:cNvSpPr/>
          <p:nvPr/>
        </p:nvSpPr>
        <p:spPr>
          <a:xfrm>
            <a:off x="5953125" y="1655267"/>
            <a:ext cx="285750" cy="273805"/>
          </a:xfrm>
          <a:prstGeom prst="ellipse">
            <a:avLst/>
          </a:prstGeom>
          <a:solidFill>
            <a:srgbClr val="69B1E0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TextBox 60"/>
          <p:cNvSpPr txBox="1"/>
          <p:nvPr/>
        </p:nvSpPr>
        <p:spPr>
          <a:xfrm>
            <a:off x="5953125" y="1710028"/>
            <a:ext cx="2857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62" name="Rounded Rectangle 61"/>
          <p:cNvSpPr/>
          <p:nvPr/>
        </p:nvSpPr>
        <p:spPr>
          <a:xfrm>
            <a:off x="4943475" y="1992961"/>
            <a:ext cx="2305050" cy="2135683"/>
          </a:xfrm>
          <a:prstGeom prst="roundRect">
            <a:avLst>
              <a:gd name="adj" fmla="val 3719"/>
            </a:avLst>
          </a:prstGeom>
          <a:solidFill>
            <a:srgbClr val="FFFFFF"/>
          </a:solidFill>
          <a:ln w="2032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ounded Rectangle 62"/>
          <p:cNvSpPr/>
          <p:nvPr/>
        </p:nvSpPr>
        <p:spPr>
          <a:xfrm>
            <a:off x="4943475" y="1992961"/>
            <a:ext cx="2305050" cy="310313"/>
          </a:xfrm>
          <a:prstGeom prst="roundRect">
            <a:avLst>
              <a:gd name="adj" fmla="val 3719"/>
            </a:avLst>
          </a:prstGeom>
          <a:solidFill>
            <a:srgbClr val="69B1E0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Oval 63"/>
          <p:cNvSpPr/>
          <p:nvPr/>
        </p:nvSpPr>
        <p:spPr>
          <a:xfrm>
            <a:off x="5057775" y="2038595"/>
            <a:ext cx="228600" cy="219044"/>
          </a:xfrm>
          <a:prstGeom prst="ellipse">
            <a:avLst/>
          </a:prstGeom>
          <a:solidFill>
            <a:srgbClr val="FFFFFF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TextBox 64"/>
          <p:cNvSpPr txBox="1"/>
          <p:nvPr/>
        </p:nvSpPr>
        <p:spPr>
          <a:xfrm>
            <a:off x="5057775" y="2065976"/>
            <a:ext cx="22860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👥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5324475" y="2065976"/>
            <a:ext cx="1828800" cy="17341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Laboratoire Francodex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5038725" y="2376288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📊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5229225" y="2376288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/>
            </a:r>
          </a:p>
        </p:txBody>
      </p:sp>
      <p:cxnSp>
        <p:nvCxnSpPr>
          <p:cNvPr id="69" name="Connector 68"/>
          <p:cNvCxnSpPr/>
          <p:nvPr/>
        </p:nvCxnSpPr>
        <p:spPr>
          <a:xfrm>
            <a:off x="5038725" y="2595333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0" name="TextBox 69"/>
          <p:cNvSpPr txBox="1"/>
          <p:nvPr/>
        </p:nvSpPr>
        <p:spPr>
          <a:xfrm>
            <a:off x="5038725" y="2723109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👤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5229225" y="2640967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Growth role: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5229225" y="2805250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69B1E0"/>
                </a:solidFill>
                <a:latin typeface="Calibri"/>
              </a:rPr>
              <a:t>Access builder</a:t>
            </a:r>
          </a:p>
        </p:txBody>
      </p:sp>
      <p:cxnSp>
        <p:nvCxnSpPr>
          <p:cNvPr id="73" name="Connector 72"/>
          <p:cNvCxnSpPr/>
          <p:nvPr/>
        </p:nvCxnSpPr>
        <p:spPr>
          <a:xfrm>
            <a:off x="5038725" y="3015168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4" name="TextBox 73"/>
          <p:cNvSpPr txBox="1"/>
          <p:nvPr/>
        </p:nvSpPr>
        <p:spPr>
          <a:xfrm>
            <a:off x="5038725" y="3124690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🎯</a:t>
            </a:r>
          </a:p>
        </p:txBody>
      </p:sp>
      <p:sp>
        <p:nvSpPr>
          <p:cNvPr id="75" name="TextBox 74"/>
          <p:cNvSpPr txBox="1"/>
          <p:nvPr/>
        </p:nvSpPr>
        <p:spPr>
          <a:xfrm>
            <a:off x="5229225" y="3060802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Why it shaped growth: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5229225" y="3225085"/>
            <a:ext cx="1924050" cy="38332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Won through wider channel availability</a:t>
            </a:r>
          </a:p>
        </p:txBody>
      </p:sp>
      <p:cxnSp>
        <p:nvCxnSpPr>
          <p:cNvPr id="77" name="Connector 76"/>
          <p:cNvCxnSpPr/>
          <p:nvPr/>
        </p:nvCxnSpPr>
        <p:spPr>
          <a:xfrm>
            <a:off x="5038725" y="3654047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8" name="TextBox 77"/>
          <p:cNvSpPr txBox="1"/>
          <p:nvPr/>
        </p:nvSpPr>
        <p:spPr>
          <a:xfrm>
            <a:off x="5038725" y="3763569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🚀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5229225" y="3699682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Signature move: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5229225" y="3863965"/>
            <a:ext cx="1924050" cy="21904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Pricing strategy</a:t>
            </a:r>
          </a:p>
        </p:txBody>
      </p:sp>
      <p:sp>
        <p:nvSpPr>
          <p:cNvPr id="81" name="Oval 80"/>
          <p:cNvSpPr/>
          <p:nvPr/>
        </p:nvSpPr>
        <p:spPr>
          <a:xfrm>
            <a:off x="8353425" y="1655267"/>
            <a:ext cx="285750" cy="273805"/>
          </a:xfrm>
          <a:prstGeom prst="ellipse">
            <a:avLst/>
          </a:prstGeom>
          <a:solidFill>
            <a:srgbClr val="6F3CC2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8353425" y="1710028"/>
            <a:ext cx="2857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4</a:t>
            </a:r>
          </a:p>
        </p:txBody>
      </p:sp>
      <p:sp>
        <p:nvSpPr>
          <p:cNvPr id="83" name="Rounded Rectangle 82"/>
          <p:cNvSpPr/>
          <p:nvPr/>
        </p:nvSpPr>
        <p:spPr>
          <a:xfrm>
            <a:off x="7343775" y="1992961"/>
            <a:ext cx="2305050" cy="2135683"/>
          </a:xfrm>
          <a:prstGeom prst="roundRect">
            <a:avLst>
              <a:gd name="adj" fmla="val 3719"/>
            </a:avLst>
          </a:prstGeom>
          <a:solidFill>
            <a:srgbClr val="FFFFFF"/>
          </a:solidFill>
          <a:ln w="20320">
            <a:solidFill>
              <a:srgbClr val="6F3CC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ounded Rectangle 83"/>
          <p:cNvSpPr/>
          <p:nvPr/>
        </p:nvSpPr>
        <p:spPr>
          <a:xfrm>
            <a:off x="7343775" y="1992961"/>
            <a:ext cx="2305050" cy="310313"/>
          </a:xfrm>
          <a:prstGeom prst="roundRect">
            <a:avLst>
              <a:gd name="adj" fmla="val 3719"/>
            </a:avLst>
          </a:prstGeom>
          <a:solidFill>
            <a:srgbClr val="6F3CC2"/>
          </a:solidFill>
          <a:ln w="12700">
            <a:solidFill>
              <a:srgbClr val="6F3CC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Oval 84"/>
          <p:cNvSpPr/>
          <p:nvPr/>
        </p:nvSpPr>
        <p:spPr>
          <a:xfrm>
            <a:off x="7458075" y="2038595"/>
            <a:ext cx="228600" cy="219044"/>
          </a:xfrm>
          <a:prstGeom prst="ellipse">
            <a:avLst/>
          </a:prstGeom>
          <a:solidFill>
            <a:srgbClr val="FFFFFF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7458075" y="2065976"/>
            <a:ext cx="22860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💎</a:t>
            </a:r>
          </a:p>
        </p:txBody>
      </p:sp>
      <p:sp>
        <p:nvSpPr>
          <p:cNvPr id="87" name="TextBox 86"/>
          <p:cNvSpPr txBox="1"/>
          <p:nvPr/>
        </p:nvSpPr>
        <p:spPr>
          <a:xfrm>
            <a:off x="7724775" y="2065976"/>
            <a:ext cx="1828800" cy="17341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Group55</a:t>
            </a:r>
          </a:p>
        </p:txBody>
      </p:sp>
      <p:sp>
        <p:nvSpPr>
          <p:cNvPr id="88" name="TextBox 87"/>
          <p:cNvSpPr txBox="1"/>
          <p:nvPr/>
        </p:nvSpPr>
        <p:spPr>
          <a:xfrm>
            <a:off x="7439025" y="2376288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📊</a:t>
            </a:r>
          </a:p>
        </p:txBody>
      </p:sp>
      <p:sp>
        <p:nvSpPr>
          <p:cNvPr id="89" name="TextBox 88"/>
          <p:cNvSpPr txBox="1"/>
          <p:nvPr/>
        </p:nvSpPr>
        <p:spPr>
          <a:xfrm>
            <a:off x="7629525" y="2376288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/>
            </a:r>
          </a:p>
        </p:txBody>
      </p:sp>
      <p:cxnSp>
        <p:nvCxnSpPr>
          <p:cNvPr id="90" name="Connector 89"/>
          <p:cNvCxnSpPr/>
          <p:nvPr/>
        </p:nvCxnSpPr>
        <p:spPr>
          <a:xfrm>
            <a:off x="7439025" y="2595333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1" name="TextBox 90"/>
          <p:cNvSpPr txBox="1"/>
          <p:nvPr/>
        </p:nvSpPr>
        <p:spPr>
          <a:xfrm>
            <a:off x="7439025" y="2723109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👤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7629525" y="2640967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Growth role:</a:t>
            </a:r>
          </a:p>
        </p:txBody>
      </p:sp>
      <p:sp>
        <p:nvSpPr>
          <p:cNvPr id="93" name="TextBox 92"/>
          <p:cNvSpPr txBox="1"/>
          <p:nvPr/>
        </p:nvSpPr>
        <p:spPr>
          <a:xfrm>
            <a:off x="7629525" y="2805250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6F3CC2"/>
                </a:solidFill>
                <a:latin typeface="Calibri"/>
              </a:rPr>
              <a:t>Premiumiser</a:t>
            </a:r>
          </a:p>
        </p:txBody>
      </p:sp>
      <p:cxnSp>
        <p:nvCxnSpPr>
          <p:cNvPr id="94" name="Connector 93"/>
          <p:cNvCxnSpPr/>
          <p:nvPr/>
        </p:nvCxnSpPr>
        <p:spPr>
          <a:xfrm>
            <a:off x="7439025" y="3015168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5" name="TextBox 94"/>
          <p:cNvSpPr txBox="1"/>
          <p:nvPr/>
        </p:nvSpPr>
        <p:spPr>
          <a:xfrm>
            <a:off x="7439025" y="3124690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🎯</a:t>
            </a:r>
          </a:p>
        </p:txBody>
      </p:sp>
      <p:sp>
        <p:nvSpPr>
          <p:cNvPr id="96" name="TextBox 95"/>
          <p:cNvSpPr txBox="1"/>
          <p:nvPr/>
        </p:nvSpPr>
        <p:spPr>
          <a:xfrm>
            <a:off x="7629525" y="3060802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Why it shaped growth: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7629525" y="3225085"/>
            <a:ext cx="1924050" cy="38332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Supported premium SKU growth</a:t>
            </a:r>
          </a:p>
        </p:txBody>
      </p:sp>
      <p:cxnSp>
        <p:nvCxnSpPr>
          <p:cNvPr id="98" name="Connector 97"/>
          <p:cNvCxnSpPr/>
          <p:nvPr/>
        </p:nvCxnSpPr>
        <p:spPr>
          <a:xfrm>
            <a:off x="7439025" y="3654047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9" name="TextBox 98"/>
          <p:cNvSpPr txBox="1"/>
          <p:nvPr/>
        </p:nvSpPr>
        <p:spPr>
          <a:xfrm>
            <a:off x="7439025" y="3763569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🚀</a:t>
            </a:r>
          </a:p>
        </p:txBody>
      </p:sp>
      <p:sp>
        <p:nvSpPr>
          <p:cNvPr id="100" name="TextBox 99"/>
          <p:cNvSpPr txBox="1"/>
          <p:nvPr/>
        </p:nvSpPr>
        <p:spPr>
          <a:xfrm>
            <a:off x="7629525" y="3699682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Signature move:</a:t>
            </a:r>
          </a:p>
        </p:txBody>
      </p:sp>
      <p:sp>
        <p:nvSpPr>
          <p:cNvPr id="101" name="TextBox 100"/>
          <p:cNvSpPr txBox="1"/>
          <p:nvPr/>
        </p:nvSpPr>
        <p:spPr>
          <a:xfrm>
            <a:off x="7629525" y="3863965"/>
            <a:ext cx="1924050" cy="21904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Portfolio/brand investment</a:t>
            </a:r>
          </a:p>
        </p:txBody>
      </p:sp>
      <p:sp>
        <p:nvSpPr>
          <p:cNvPr id="102" name="Oval 101"/>
          <p:cNvSpPr/>
          <p:nvPr/>
        </p:nvSpPr>
        <p:spPr>
          <a:xfrm>
            <a:off x="10753725" y="1655267"/>
            <a:ext cx="285750" cy="273805"/>
          </a:xfrm>
          <a:prstGeom prst="ellipse">
            <a:avLst/>
          </a:prstGeom>
          <a:solidFill>
            <a:srgbClr val="A86F00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TextBox 102"/>
          <p:cNvSpPr txBox="1"/>
          <p:nvPr/>
        </p:nvSpPr>
        <p:spPr>
          <a:xfrm>
            <a:off x="10753725" y="1710028"/>
            <a:ext cx="2857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5</a:t>
            </a:r>
          </a:p>
        </p:txBody>
      </p:sp>
      <p:sp>
        <p:nvSpPr>
          <p:cNvPr id="104" name="Rounded Rectangle 103"/>
          <p:cNvSpPr/>
          <p:nvPr/>
        </p:nvSpPr>
        <p:spPr>
          <a:xfrm>
            <a:off x="9744075" y="1992961"/>
            <a:ext cx="2305050" cy="2135683"/>
          </a:xfrm>
          <a:prstGeom prst="roundRect">
            <a:avLst>
              <a:gd name="adj" fmla="val 3719"/>
            </a:avLst>
          </a:prstGeom>
          <a:solidFill>
            <a:srgbClr val="FFFFFF"/>
          </a:solidFill>
          <a:ln w="20320">
            <a:solidFill>
              <a:srgbClr val="A86F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ounded Rectangle 104"/>
          <p:cNvSpPr/>
          <p:nvPr/>
        </p:nvSpPr>
        <p:spPr>
          <a:xfrm>
            <a:off x="9744075" y="1992961"/>
            <a:ext cx="2305050" cy="310313"/>
          </a:xfrm>
          <a:prstGeom prst="roundRect">
            <a:avLst>
              <a:gd name="adj" fmla="val 3719"/>
            </a:avLst>
          </a:prstGeom>
          <a:solidFill>
            <a:srgbClr val="A86F00"/>
          </a:solidFill>
          <a:ln w="12700">
            <a:solidFill>
              <a:srgbClr val="A86F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Oval 105"/>
          <p:cNvSpPr/>
          <p:nvPr/>
        </p:nvSpPr>
        <p:spPr>
          <a:xfrm>
            <a:off x="9858375" y="2038595"/>
            <a:ext cx="228600" cy="219044"/>
          </a:xfrm>
          <a:prstGeom prst="ellipse">
            <a:avLst/>
          </a:prstGeom>
          <a:solidFill>
            <a:srgbClr val="FFFFFF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TextBox 106"/>
          <p:cNvSpPr txBox="1"/>
          <p:nvPr/>
        </p:nvSpPr>
        <p:spPr>
          <a:xfrm>
            <a:off x="9858375" y="2065976"/>
            <a:ext cx="22860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⚡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10125075" y="2065976"/>
            <a:ext cx="1828800" cy="17341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Lakeland Cosmetics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9839325" y="2376288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📊</a:t>
            </a:r>
          </a:p>
        </p:txBody>
      </p:sp>
      <p:sp>
        <p:nvSpPr>
          <p:cNvPr id="110" name="TextBox 109"/>
          <p:cNvSpPr txBox="1"/>
          <p:nvPr/>
        </p:nvSpPr>
        <p:spPr>
          <a:xfrm>
            <a:off x="10029825" y="2376288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/>
            </a:r>
          </a:p>
        </p:txBody>
      </p:sp>
      <p:cxnSp>
        <p:nvCxnSpPr>
          <p:cNvPr id="111" name="Connector 110"/>
          <p:cNvCxnSpPr/>
          <p:nvPr/>
        </p:nvCxnSpPr>
        <p:spPr>
          <a:xfrm>
            <a:off x="9839325" y="2595333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2" name="TextBox 111"/>
          <p:cNvSpPr txBox="1"/>
          <p:nvPr/>
        </p:nvSpPr>
        <p:spPr>
          <a:xfrm>
            <a:off x="9839325" y="2723109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👤</a:t>
            </a:r>
          </a:p>
        </p:txBody>
      </p:sp>
      <p:sp>
        <p:nvSpPr>
          <p:cNvPr id="113" name="TextBox 112"/>
          <p:cNvSpPr txBox="1"/>
          <p:nvPr/>
        </p:nvSpPr>
        <p:spPr>
          <a:xfrm>
            <a:off x="10029825" y="2640967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Growth role: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10029825" y="2805250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A86F00"/>
                </a:solidFill>
                <a:latin typeface="Calibri"/>
              </a:rPr>
              <a:t>Disruptor</a:t>
            </a:r>
          </a:p>
        </p:txBody>
      </p:sp>
      <p:cxnSp>
        <p:nvCxnSpPr>
          <p:cNvPr id="115" name="Connector 114"/>
          <p:cNvCxnSpPr/>
          <p:nvPr/>
        </p:nvCxnSpPr>
        <p:spPr>
          <a:xfrm>
            <a:off x="9839325" y="3015168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6" name="TextBox 115"/>
          <p:cNvSpPr txBox="1"/>
          <p:nvPr/>
        </p:nvSpPr>
        <p:spPr>
          <a:xfrm>
            <a:off x="9839325" y="3124690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🎯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10029825" y="3060802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Why it shaped growth:</a:t>
            </a:r>
          </a:p>
        </p:txBody>
      </p:sp>
      <p:sp>
        <p:nvSpPr>
          <p:cNvPr id="118" name="TextBox 117"/>
          <p:cNvSpPr txBox="1"/>
          <p:nvPr/>
        </p:nvSpPr>
        <p:spPr>
          <a:xfrm>
            <a:off x="10029825" y="3225085"/>
            <a:ext cx="1924050" cy="38332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Strengthened end-user and specifier pull</a:t>
            </a:r>
          </a:p>
        </p:txBody>
      </p:sp>
      <p:cxnSp>
        <p:nvCxnSpPr>
          <p:cNvPr id="119" name="Connector 118"/>
          <p:cNvCxnSpPr/>
          <p:nvPr/>
        </p:nvCxnSpPr>
        <p:spPr>
          <a:xfrm>
            <a:off x="9839325" y="3654047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0" name="TextBox 119"/>
          <p:cNvSpPr txBox="1"/>
          <p:nvPr/>
        </p:nvSpPr>
        <p:spPr>
          <a:xfrm>
            <a:off x="9839325" y="3763569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🚀</a:t>
            </a:r>
          </a:p>
        </p:txBody>
      </p:sp>
      <p:sp>
        <p:nvSpPr>
          <p:cNvPr id="121" name="TextBox 120"/>
          <p:cNvSpPr txBox="1"/>
          <p:nvPr/>
        </p:nvSpPr>
        <p:spPr>
          <a:xfrm>
            <a:off x="10029825" y="3699682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Signature move: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10029825" y="3863965"/>
            <a:ext cx="1924050" cy="21904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Partnership / acquisition</a:t>
            </a:r>
          </a:p>
        </p:txBody>
      </p:sp>
      <p:sp>
        <p:nvSpPr>
          <p:cNvPr id="123" name="Rounded Rectangle 122"/>
          <p:cNvSpPr/>
          <p:nvPr/>
        </p:nvSpPr>
        <p:spPr>
          <a:xfrm>
            <a:off x="142875" y="4238166"/>
            <a:ext cx="7886700" cy="2391234"/>
          </a:xfrm>
          <a:prstGeom prst="roundRect">
            <a:avLst>
              <a:gd name="adj" fmla="val 1086"/>
            </a:avLst>
          </a:prstGeom>
          <a:solidFill>
            <a:srgbClr val="F7FAFC"/>
          </a:solidFill>
          <a:ln w="12700">
            <a:solidFill>
              <a:srgbClr val="DCE6E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142875" y="4311180"/>
            <a:ext cx="7886700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HOW TO DECIDE WHO SHAPED GROWTH</a:t>
            </a:r>
          </a:p>
        </p:txBody>
      </p:sp>
      <p:sp>
        <p:nvSpPr>
          <p:cNvPr id="125" name="Oval 124"/>
          <p:cNvSpPr/>
          <p:nvPr/>
        </p:nvSpPr>
        <p:spPr>
          <a:xfrm>
            <a:off x="815340" y="4539352"/>
            <a:ext cx="400050" cy="383328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E72A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815340" y="4630620"/>
            <a:ext cx="400050" cy="200791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500" b="0">
                <a:solidFill>
                  <a:srgbClr val="2E2E2E"/>
                </a:solidFill>
                <a:latin typeface="Calibri"/>
              </a:rPr>
              <a:t>📊</a:t>
            </a:r>
          </a:p>
        </p:txBody>
      </p:sp>
      <p:sp>
        <p:nvSpPr>
          <p:cNvPr id="127" name="TextBox 126"/>
          <p:cNvSpPr txBox="1"/>
          <p:nvPr/>
        </p:nvSpPr>
        <p:spPr>
          <a:xfrm>
            <a:off x="276225" y="4968314"/>
            <a:ext cx="1478280" cy="34682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0E72AE"/>
                </a:solidFill>
                <a:latin typeface="Calibri"/>
              </a:rPr>
              <a:t>1. SHARE GAIN</a:t>
            </a:r>
          </a:p>
        </p:txBody>
      </p:sp>
      <p:sp>
        <p:nvSpPr>
          <p:cNvPr id="128" name="TextBox 127"/>
          <p:cNvSpPr txBox="1"/>
          <p:nvPr/>
        </p:nvSpPr>
        <p:spPr>
          <a:xfrm>
            <a:off x="276225" y="5333387"/>
            <a:ext cx="1478280" cy="60237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Company gained value or volume share</a:t>
            </a:r>
          </a:p>
        </p:txBody>
      </p:sp>
      <p:sp>
        <p:nvSpPr>
          <p:cNvPr id="129" name="Rounded Rectangle 128"/>
          <p:cNvSpPr/>
          <p:nvPr/>
        </p:nvSpPr>
        <p:spPr>
          <a:xfrm>
            <a:off x="520065" y="6027028"/>
            <a:ext cx="990600" cy="237298"/>
          </a:xfrm>
          <a:prstGeom prst="roundRect">
            <a:avLst>
              <a:gd name="adj" fmla="val 11538"/>
            </a:avLst>
          </a:prstGeom>
          <a:solidFill>
            <a:srgbClr val="FFFFFF"/>
          </a:solidFill>
          <a:ln w="15240">
            <a:solidFill>
              <a:srgbClr val="0E72A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520065" y="6036155"/>
            <a:ext cx="990600" cy="21904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31" name="TextBox 130"/>
          <p:cNvSpPr txBox="1"/>
          <p:nvPr/>
        </p:nvSpPr>
        <p:spPr>
          <a:xfrm>
            <a:off x="1754505" y="4648874"/>
            <a:ext cx="571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+</a:t>
            </a:r>
          </a:p>
        </p:txBody>
      </p:sp>
      <p:sp>
        <p:nvSpPr>
          <p:cNvPr id="132" name="Oval 131"/>
          <p:cNvSpPr/>
          <p:nvPr/>
        </p:nvSpPr>
        <p:spPr>
          <a:xfrm>
            <a:off x="2350770" y="4539352"/>
            <a:ext cx="400050" cy="383328"/>
          </a:xfrm>
          <a:prstGeom prst="ellipse">
            <a:avLst/>
          </a:prstGeom>
          <a:solidFill>
            <a:srgbClr val="FFFFFF"/>
          </a:solidFill>
          <a:ln w="12700">
            <a:solidFill>
              <a:srgbClr val="A3531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TextBox 132"/>
          <p:cNvSpPr txBox="1"/>
          <p:nvPr/>
        </p:nvSpPr>
        <p:spPr>
          <a:xfrm>
            <a:off x="2350770" y="4630620"/>
            <a:ext cx="400050" cy="200791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500" b="0">
                <a:solidFill>
                  <a:srgbClr val="2E2E2E"/>
                </a:solidFill>
                <a:latin typeface="Calibri"/>
              </a:rPr>
              <a:t>🏪</a:t>
            </a:r>
          </a:p>
        </p:txBody>
      </p:sp>
      <p:sp>
        <p:nvSpPr>
          <p:cNvPr id="134" name="TextBox 133"/>
          <p:cNvSpPr txBox="1"/>
          <p:nvPr/>
        </p:nvSpPr>
        <p:spPr>
          <a:xfrm>
            <a:off x="1811655" y="4968314"/>
            <a:ext cx="1478280" cy="34682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A35313"/>
                </a:solidFill>
                <a:latin typeface="Calibri"/>
              </a:rPr>
              <a:t>2. DISTRIBUTION EXPANSION</a:t>
            </a:r>
          </a:p>
        </p:txBody>
      </p:sp>
      <p:sp>
        <p:nvSpPr>
          <p:cNvPr id="135" name="TextBox 134"/>
          <p:cNvSpPr txBox="1"/>
          <p:nvPr/>
        </p:nvSpPr>
        <p:spPr>
          <a:xfrm>
            <a:off x="1811655" y="5333387"/>
            <a:ext cx="1478280" cy="60237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Expanded channel, retail or e-commerce reach</a:t>
            </a:r>
          </a:p>
        </p:txBody>
      </p:sp>
      <p:sp>
        <p:nvSpPr>
          <p:cNvPr id="136" name="Rounded Rectangle 135"/>
          <p:cNvSpPr/>
          <p:nvPr/>
        </p:nvSpPr>
        <p:spPr>
          <a:xfrm>
            <a:off x="2055495" y="6027028"/>
            <a:ext cx="990600" cy="237298"/>
          </a:xfrm>
          <a:prstGeom prst="roundRect">
            <a:avLst>
              <a:gd name="adj" fmla="val 11538"/>
            </a:avLst>
          </a:prstGeom>
          <a:solidFill>
            <a:srgbClr val="FFFFFF"/>
          </a:solidFill>
          <a:ln w="15240">
            <a:solidFill>
              <a:srgbClr val="A3531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TextBox 136"/>
          <p:cNvSpPr txBox="1"/>
          <p:nvPr/>
        </p:nvSpPr>
        <p:spPr>
          <a:xfrm>
            <a:off x="2055495" y="6036155"/>
            <a:ext cx="990600" cy="21904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A35313"/>
                </a:solidFill>
                <a:latin typeface="Calibri"/>
              </a:rPr>
              <a:t> 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3289935" y="4648874"/>
            <a:ext cx="571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+</a:t>
            </a:r>
          </a:p>
        </p:txBody>
      </p:sp>
      <p:sp>
        <p:nvSpPr>
          <p:cNvPr id="139" name="Oval 138"/>
          <p:cNvSpPr/>
          <p:nvPr/>
        </p:nvSpPr>
        <p:spPr>
          <a:xfrm>
            <a:off x="3886200" y="4539352"/>
            <a:ext cx="400050" cy="383328"/>
          </a:xfrm>
          <a:prstGeom prst="ellipse">
            <a:avLst/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3886200" y="4630620"/>
            <a:ext cx="400050" cy="200791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500" b="0">
                <a:solidFill>
                  <a:srgbClr val="2E2E2E"/>
                </a:solidFill>
                <a:latin typeface="Calibri"/>
              </a:rPr>
              <a:t>💡</a:t>
            </a:r>
          </a:p>
        </p:txBody>
      </p:sp>
      <p:sp>
        <p:nvSpPr>
          <p:cNvPr id="141" name="TextBox 140"/>
          <p:cNvSpPr txBox="1"/>
          <p:nvPr/>
        </p:nvSpPr>
        <p:spPr>
          <a:xfrm>
            <a:off x="3347085" y="4968314"/>
            <a:ext cx="1478280" cy="34682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69B1E0"/>
                </a:solidFill>
                <a:latin typeface="Calibri"/>
              </a:rPr>
              <a:t>3. INNOVATION / LAUNCHES</a:t>
            </a:r>
          </a:p>
        </p:txBody>
      </p:sp>
      <p:sp>
        <p:nvSpPr>
          <p:cNvPr id="142" name="TextBox 141"/>
          <p:cNvSpPr txBox="1"/>
          <p:nvPr/>
        </p:nvSpPr>
        <p:spPr>
          <a:xfrm>
            <a:off x="3347085" y="5333387"/>
            <a:ext cx="1478280" cy="60237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New SKUs, pack sizes or product improvements</a:t>
            </a:r>
          </a:p>
        </p:txBody>
      </p:sp>
      <p:sp>
        <p:nvSpPr>
          <p:cNvPr id="143" name="Rounded Rectangle 142"/>
          <p:cNvSpPr/>
          <p:nvPr/>
        </p:nvSpPr>
        <p:spPr>
          <a:xfrm>
            <a:off x="3590925" y="6027028"/>
            <a:ext cx="990600" cy="237298"/>
          </a:xfrm>
          <a:prstGeom prst="roundRect">
            <a:avLst>
              <a:gd name="adj" fmla="val 11538"/>
            </a:avLst>
          </a:prstGeom>
          <a:solidFill>
            <a:srgbClr val="FFFFFF"/>
          </a:solidFill>
          <a:ln w="1524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3590925" y="6036155"/>
            <a:ext cx="990600" cy="21904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9B1E0"/>
                </a:solidFill>
                <a:latin typeface="Calibri"/>
              </a:rPr>
              <a:t> </a:t>
            </a:r>
          </a:p>
        </p:txBody>
      </p:sp>
      <p:sp>
        <p:nvSpPr>
          <p:cNvPr id="145" name="TextBox 144"/>
          <p:cNvSpPr txBox="1"/>
          <p:nvPr/>
        </p:nvSpPr>
        <p:spPr>
          <a:xfrm>
            <a:off x="4825365" y="4648874"/>
            <a:ext cx="571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+</a:t>
            </a:r>
          </a:p>
        </p:txBody>
      </p:sp>
      <p:sp>
        <p:nvSpPr>
          <p:cNvPr id="146" name="Oval 145"/>
          <p:cNvSpPr/>
          <p:nvPr/>
        </p:nvSpPr>
        <p:spPr>
          <a:xfrm>
            <a:off x="5421630" y="4539352"/>
            <a:ext cx="400050" cy="383328"/>
          </a:xfrm>
          <a:prstGeom prst="ellipse">
            <a:avLst/>
          </a:prstGeom>
          <a:solidFill>
            <a:srgbClr val="FFFFFF"/>
          </a:solidFill>
          <a:ln w="12700">
            <a:solidFill>
              <a:srgbClr val="6F3CC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TextBox 146"/>
          <p:cNvSpPr txBox="1"/>
          <p:nvPr/>
        </p:nvSpPr>
        <p:spPr>
          <a:xfrm>
            <a:off x="5421630" y="4630620"/>
            <a:ext cx="400050" cy="200791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500" b="0">
                <a:solidFill>
                  <a:srgbClr val="2E2E2E"/>
                </a:solidFill>
                <a:latin typeface="Calibri"/>
              </a:rPr>
              <a:t>🤝</a:t>
            </a:r>
          </a:p>
        </p:txBody>
      </p:sp>
      <p:sp>
        <p:nvSpPr>
          <p:cNvPr id="148" name="TextBox 147"/>
          <p:cNvSpPr txBox="1"/>
          <p:nvPr/>
        </p:nvSpPr>
        <p:spPr>
          <a:xfrm>
            <a:off x="4882515" y="4968314"/>
            <a:ext cx="1478280" cy="34682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6F3CC2"/>
                </a:solidFill>
                <a:latin typeface="Calibri"/>
              </a:rPr>
              <a:t>4. BUYER INFLUENCE</a:t>
            </a:r>
          </a:p>
        </p:txBody>
      </p:sp>
      <p:sp>
        <p:nvSpPr>
          <p:cNvPr id="149" name="TextBox 148"/>
          <p:cNvSpPr txBox="1"/>
          <p:nvPr/>
        </p:nvSpPr>
        <p:spPr>
          <a:xfrm>
            <a:off x="4882515" y="5333387"/>
            <a:ext cx="1478280" cy="60237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Stronger specifier, channel or end-user pull</a:t>
            </a:r>
          </a:p>
        </p:txBody>
      </p:sp>
      <p:sp>
        <p:nvSpPr>
          <p:cNvPr id="150" name="Rounded Rectangle 149"/>
          <p:cNvSpPr/>
          <p:nvPr/>
        </p:nvSpPr>
        <p:spPr>
          <a:xfrm>
            <a:off x="5126355" y="6027028"/>
            <a:ext cx="990600" cy="237298"/>
          </a:xfrm>
          <a:prstGeom prst="roundRect">
            <a:avLst>
              <a:gd name="adj" fmla="val 11538"/>
            </a:avLst>
          </a:prstGeom>
          <a:solidFill>
            <a:srgbClr val="FFFFFF"/>
          </a:solidFill>
          <a:ln w="15240">
            <a:solidFill>
              <a:srgbClr val="6F3CC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TextBox 150"/>
          <p:cNvSpPr txBox="1"/>
          <p:nvPr/>
        </p:nvSpPr>
        <p:spPr>
          <a:xfrm>
            <a:off x="5126355" y="6036155"/>
            <a:ext cx="990600" cy="21904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F3CC2"/>
                </a:solidFill>
                <a:latin typeface="Calibri"/>
              </a:rPr>
              <a:t> </a:t>
            </a:r>
          </a:p>
        </p:txBody>
      </p:sp>
      <p:sp>
        <p:nvSpPr>
          <p:cNvPr id="152" name="TextBox 151"/>
          <p:cNvSpPr txBox="1"/>
          <p:nvPr/>
        </p:nvSpPr>
        <p:spPr>
          <a:xfrm>
            <a:off x="6360795" y="4648874"/>
            <a:ext cx="571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+</a:t>
            </a:r>
          </a:p>
        </p:txBody>
      </p:sp>
      <p:sp>
        <p:nvSpPr>
          <p:cNvPr id="153" name="Oval 152"/>
          <p:cNvSpPr/>
          <p:nvPr/>
        </p:nvSpPr>
        <p:spPr>
          <a:xfrm>
            <a:off x="6957060" y="4539352"/>
            <a:ext cx="400050" cy="383328"/>
          </a:xfrm>
          <a:prstGeom prst="ellipse">
            <a:avLst/>
          </a:prstGeom>
          <a:solidFill>
            <a:srgbClr val="FFFFFF"/>
          </a:solidFill>
          <a:ln w="12700">
            <a:solidFill>
              <a:srgbClr val="A86F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6957060" y="4630620"/>
            <a:ext cx="400050" cy="200791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500" b="0">
                <a:solidFill>
                  <a:srgbClr val="2E2E2E"/>
                </a:solidFill>
                <a:latin typeface="Calibri"/>
              </a:rPr>
              <a:t>💲</a:t>
            </a:r>
          </a:p>
        </p:txBody>
      </p:sp>
      <p:sp>
        <p:nvSpPr>
          <p:cNvPr id="155" name="TextBox 154"/>
          <p:cNvSpPr txBox="1"/>
          <p:nvPr/>
        </p:nvSpPr>
        <p:spPr>
          <a:xfrm>
            <a:off x="6417945" y="4968314"/>
            <a:ext cx="1478280" cy="34682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A86F00"/>
                </a:solidFill>
                <a:latin typeface="Calibri"/>
              </a:rPr>
              <a:t>5. BRAND / PRICING POWER</a:t>
            </a:r>
          </a:p>
        </p:txBody>
      </p:sp>
      <p:sp>
        <p:nvSpPr>
          <p:cNvPr id="156" name="TextBox 155"/>
          <p:cNvSpPr txBox="1"/>
          <p:nvPr/>
        </p:nvSpPr>
        <p:spPr>
          <a:xfrm>
            <a:off x="6417945" y="5333387"/>
            <a:ext cx="1478280" cy="60237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Premiumisation, positioning or pricing execution</a:t>
            </a:r>
          </a:p>
        </p:txBody>
      </p:sp>
      <p:sp>
        <p:nvSpPr>
          <p:cNvPr id="157" name="Rounded Rectangle 156"/>
          <p:cNvSpPr/>
          <p:nvPr/>
        </p:nvSpPr>
        <p:spPr>
          <a:xfrm>
            <a:off x="6661785" y="6027028"/>
            <a:ext cx="990600" cy="237298"/>
          </a:xfrm>
          <a:prstGeom prst="roundRect">
            <a:avLst>
              <a:gd name="adj" fmla="val 11538"/>
            </a:avLst>
          </a:prstGeom>
          <a:solidFill>
            <a:srgbClr val="FFFFFF"/>
          </a:solidFill>
          <a:ln w="15240">
            <a:solidFill>
              <a:srgbClr val="A86F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6661785" y="6036155"/>
            <a:ext cx="990600" cy="21904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A86F00"/>
                </a:solidFill>
                <a:latin typeface="Calibri"/>
              </a:rPr>
              <a:t> </a:t>
            </a:r>
          </a:p>
        </p:txBody>
      </p:sp>
      <p:sp>
        <p:nvSpPr>
          <p:cNvPr id="159" name="Rounded Rectangle 158"/>
          <p:cNvSpPr/>
          <p:nvPr/>
        </p:nvSpPr>
        <p:spPr>
          <a:xfrm>
            <a:off x="8191500" y="4238166"/>
            <a:ext cx="3857625" cy="2391234"/>
          </a:xfrm>
          <a:prstGeom prst="roundRect">
            <a:avLst>
              <a:gd name="adj" fmla="val 2222"/>
            </a:avLst>
          </a:prstGeom>
          <a:solidFill>
            <a:srgbClr val="F4FAF9"/>
          </a:solidFill>
          <a:ln w="12700">
            <a:solidFill>
              <a:srgbClr val="CFE3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8191500" y="4311180"/>
            <a:ext cx="38576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1F6F63"/>
                </a:solidFill>
                <a:latin typeface="Calibri"/>
              </a:rPr>
              <a:t>BEST WAY TO USE THIS SLIDE</a:t>
            </a:r>
          </a:p>
        </p:txBody>
      </p:sp>
      <p:cxnSp>
        <p:nvCxnSpPr>
          <p:cNvPr id="161" name="Connector 160"/>
          <p:cNvCxnSpPr/>
          <p:nvPr/>
        </p:nvCxnSpPr>
        <p:spPr>
          <a:xfrm>
            <a:off x="8343900" y="4548478"/>
            <a:ext cx="3552825" cy="0"/>
          </a:xfrm>
          <a:prstGeom prst="line">
            <a:avLst/>
          </a:prstGeom>
          <a:ln w="12700">
            <a:solidFill>
              <a:srgbClr val="CFE3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2" name="Oval 161"/>
          <p:cNvSpPr/>
          <p:nvPr/>
        </p:nvSpPr>
        <p:spPr>
          <a:xfrm>
            <a:off x="8372475" y="4721889"/>
            <a:ext cx="285750" cy="273805"/>
          </a:xfrm>
          <a:prstGeom prst="ellipse">
            <a:avLst/>
          </a:prstGeom>
          <a:solidFill>
            <a:srgbClr val="FFFFFF"/>
          </a:solidFill>
          <a:ln w="12700">
            <a:solidFill>
              <a:srgbClr val="1F6F6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3" name="TextBox 162"/>
          <p:cNvSpPr txBox="1"/>
          <p:nvPr/>
        </p:nvSpPr>
        <p:spPr>
          <a:xfrm>
            <a:off x="8372475" y="4767523"/>
            <a:ext cx="285750" cy="182537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200" b="0">
                <a:solidFill>
                  <a:srgbClr val="2E2E2E"/>
                </a:solidFill>
                <a:latin typeface="Calibri"/>
              </a:rPr>
              <a:t>📈</a:t>
            </a:r>
          </a:p>
        </p:txBody>
      </p:sp>
      <p:sp>
        <p:nvSpPr>
          <p:cNvPr id="164" name="TextBox 163"/>
          <p:cNvSpPr txBox="1"/>
          <p:nvPr/>
        </p:nvSpPr>
        <p:spPr>
          <a:xfrm>
            <a:off x="8743950" y="4694508"/>
            <a:ext cx="3152775" cy="401581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Rank companies by impact on category growth</a:t>
            </a:r>
          </a:p>
        </p:txBody>
      </p:sp>
      <p:sp>
        <p:nvSpPr>
          <p:cNvPr id="165" name="Oval 164"/>
          <p:cNvSpPr/>
          <p:nvPr/>
        </p:nvSpPr>
        <p:spPr>
          <a:xfrm>
            <a:off x="8372475" y="5360768"/>
            <a:ext cx="285750" cy="273805"/>
          </a:xfrm>
          <a:prstGeom prst="ellipse">
            <a:avLst/>
          </a:prstGeom>
          <a:solidFill>
            <a:srgbClr val="FFFFFF"/>
          </a:solidFill>
          <a:ln w="12700">
            <a:solidFill>
              <a:srgbClr val="1F6F6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8372475" y="5406402"/>
            <a:ext cx="285750" cy="182537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200" b="0">
                <a:solidFill>
                  <a:srgbClr val="2E2E2E"/>
                </a:solidFill>
                <a:latin typeface="Calibri"/>
              </a:rPr>
              <a:t>📄</a:t>
            </a:r>
          </a:p>
        </p:txBody>
      </p:sp>
      <p:sp>
        <p:nvSpPr>
          <p:cNvPr id="167" name="TextBox 166"/>
          <p:cNvSpPr txBox="1"/>
          <p:nvPr/>
        </p:nvSpPr>
        <p:spPr>
          <a:xfrm>
            <a:off x="8743950" y="5333387"/>
            <a:ext cx="3152775" cy="401581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Mention the one move that explains their impact</a:t>
            </a:r>
          </a:p>
        </p:txBody>
      </p:sp>
      <p:sp>
        <p:nvSpPr>
          <p:cNvPr id="168" name="Oval 167"/>
          <p:cNvSpPr/>
          <p:nvPr/>
        </p:nvSpPr>
        <p:spPr>
          <a:xfrm>
            <a:off x="8372475" y="5999647"/>
            <a:ext cx="285750" cy="273805"/>
          </a:xfrm>
          <a:prstGeom prst="ellipse">
            <a:avLst/>
          </a:prstGeom>
          <a:solidFill>
            <a:srgbClr val="FFFFFF"/>
          </a:solidFill>
          <a:ln w="12700">
            <a:solidFill>
              <a:srgbClr val="1F6F6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TextBox 168"/>
          <p:cNvSpPr txBox="1"/>
          <p:nvPr/>
        </p:nvSpPr>
        <p:spPr>
          <a:xfrm>
            <a:off x="8372475" y="6045282"/>
            <a:ext cx="285750" cy="182537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200" b="0">
                <a:solidFill>
                  <a:srgbClr val="2E2E2E"/>
                </a:solidFill>
                <a:latin typeface="Calibri"/>
              </a:rPr>
              <a:t>🚫</a:t>
            </a:r>
          </a:p>
        </p:txBody>
      </p:sp>
      <p:sp>
        <p:nvSpPr>
          <p:cNvPr id="170" name="TextBox 169"/>
          <p:cNvSpPr txBox="1"/>
          <p:nvPr/>
        </p:nvSpPr>
        <p:spPr>
          <a:xfrm>
            <a:off x="8743950" y="5972267"/>
            <a:ext cx="3152775" cy="401581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Do not rely on market share alone</a:t>
            </a:r>
          </a:p>
        </p:txBody>
      </p:sp>
      <p:sp>
        <p:nvSpPr>
          <p:cNvPr id="171" name="TextBox 17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72" name="Picture 17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51015" y="6052078"/>
            <a:ext cx="128699" cy="187198"/>
          </a:xfrm>
          <a:prstGeom prst="rect">
            <a:avLst/>
          </a:prstGeom>
        </p:spPr>
      </p:pic>
      <p:pic>
        <p:nvPicPr>
          <p:cNvPr id="173" name="Picture 17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86445" y="6052078"/>
            <a:ext cx="128699" cy="187198"/>
          </a:xfrm>
          <a:prstGeom prst="rect">
            <a:avLst/>
          </a:prstGeom>
        </p:spPr>
      </p:pic>
      <p:pic>
        <p:nvPicPr>
          <p:cNvPr id="174" name="Picture 17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021875" y="6052078"/>
            <a:ext cx="128699" cy="187198"/>
          </a:xfrm>
          <a:prstGeom prst="rect">
            <a:avLst/>
          </a:prstGeom>
        </p:spPr>
      </p:pic>
      <p:pic>
        <p:nvPicPr>
          <p:cNvPr id="175" name="Picture 17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557305" y="6052078"/>
            <a:ext cx="128699" cy="187198"/>
          </a:xfrm>
          <a:prstGeom prst="rect">
            <a:avLst/>
          </a:prstGeom>
        </p:spPr>
      </p:pic>
      <p:pic>
        <p:nvPicPr>
          <p:cNvPr id="176" name="Picture 17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92735" y="6052078"/>
            <a:ext cx="128699" cy="187198"/>
          </a:xfrm>
          <a:prstGeom prst="rect">
            <a:avLst/>
          </a:prstGeom>
        </p:spPr>
      </p:pic>
      <p:sp>
        <p:nvSpPr>
          <p:cNvPr id="177" name="TextBox 176"/>
          <p:cNvSpPr txBox="1"/>
          <p:nvPr/>
        </p:nvSpPr>
        <p:spPr>
          <a:xfrm>
            <a:off x="457200" y="2398079"/>
            <a:ext cx="595622" cy="13975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Value share:</a:t>
            </a:r>
          </a:p>
        </p:txBody>
      </p:sp>
      <p:pic>
        <p:nvPicPr>
          <p:cNvPr id="178" name="Picture 17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94083" y="2391038"/>
            <a:ext cx="92663" cy="134782"/>
          </a:xfrm>
          <a:prstGeom prst="rect">
            <a:avLst/>
          </a:prstGeom>
        </p:spPr>
      </p:pic>
      <p:sp>
        <p:nvSpPr>
          <p:cNvPr id="179" name="TextBox 178"/>
          <p:cNvSpPr txBox="1"/>
          <p:nvPr/>
        </p:nvSpPr>
        <p:spPr>
          <a:xfrm>
            <a:off x="2857500" y="2398079"/>
            <a:ext cx="595622" cy="13975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Value share:</a:t>
            </a:r>
          </a:p>
        </p:txBody>
      </p:sp>
      <p:pic>
        <p:nvPicPr>
          <p:cNvPr id="180" name="Picture 17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394383" y="2391038"/>
            <a:ext cx="92663" cy="134782"/>
          </a:xfrm>
          <a:prstGeom prst="rect">
            <a:avLst/>
          </a:prstGeom>
        </p:spPr>
      </p:pic>
      <p:sp>
        <p:nvSpPr>
          <p:cNvPr id="181" name="TextBox 180"/>
          <p:cNvSpPr txBox="1"/>
          <p:nvPr/>
        </p:nvSpPr>
        <p:spPr>
          <a:xfrm>
            <a:off x="5257800" y="2398079"/>
            <a:ext cx="595622" cy="13975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Value share:</a:t>
            </a:r>
          </a:p>
        </p:txBody>
      </p:sp>
      <p:pic>
        <p:nvPicPr>
          <p:cNvPr id="182" name="Picture 18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794683" y="2391038"/>
            <a:ext cx="92663" cy="134782"/>
          </a:xfrm>
          <a:prstGeom prst="rect">
            <a:avLst/>
          </a:prstGeom>
        </p:spPr>
      </p:pic>
      <p:sp>
        <p:nvSpPr>
          <p:cNvPr id="183" name="TextBox 182"/>
          <p:cNvSpPr txBox="1"/>
          <p:nvPr/>
        </p:nvSpPr>
        <p:spPr>
          <a:xfrm>
            <a:off x="7658100" y="2398079"/>
            <a:ext cx="595622" cy="13975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Value share:</a:t>
            </a:r>
          </a:p>
        </p:txBody>
      </p:sp>
      <p:pic>
        <p:nvPicPr>
          <p:cNvPr id="184" name="Picture 18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194983" y="2391038"/>
            <a:ext cx="92663" cy="134782"/>
          </a:xfrm>
          <a:prstGeom prst="rect">
            <a:avLst/>
          </a:prstGeom>
        </p:spPr>
      </p:pic>
      <p:sp>
        <p:nvSpPr>
          <p:cNvPr id="185" name="TextBox 184"/>
          <p:cNvSpPr txBox="1"/>
          <p:nvPr/>
        </p:nvSpPr>
        <p:spPr>
          <a:xfrm>
            <a:off x="10058400" y="2398079"/>
            <a:ext cx="595622" cy="13975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Value share:</a:t>
            </a:r>
          </a:p>
        </p:txBody>
      </p:sp>
      <p:pic>
        <p:nvPicPr>
          <p:cNvPr id="186" name="Picture 18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595283" y="2391038"/>
            <a:ext cx="92663" cy="134782"/>
          </a:xfrm>
          <a:prstGeom prst="rect">
            <a:avLst/>
          </a:prstGeom>
        </p:spPr>
      </p:pic>
    </p:spTree>
  </p:cSld>
  <p:clrMapOvr>
    <a:masterClrMapping/>
  </p:clrMapOvr>
</p:sld>
</file>

<file path=ppt/slides/slide24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17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Company Profiles &amp; Strategic Benchmarking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Beaphar Snapshot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Beaphar Penetration &amp; Win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Beaphar SWOT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Beaphar Key Financials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Beaphar Strategy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5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Beaphar Executive Market Snapshot (1/5)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Overview of total market, addressable opportunity and share of market by end-market, region and product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73805"/>
          </a:xfrm>
          <a:prstGeom prst="roundRect">
            <a:avLst>
              <a:gd name="adj" fmla="val 2782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Executive snapshot and strategic positioning Beaphar: market, addressable opportunity and SOM splits by end-market, region and product.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35828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TAM (US$ MN)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Total market</a:t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2543175" y="1335828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SAM (US$ MN)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Addressable</a:t>
            </a:r>
          </a:p>
        </p:txBody>
      </p:sp>
      <p:sp>
        <p:nvSpPr>
          <p:cNvPr id="13" name="Rounded Rectangle 12"/>
          <p:cNvSpPr/>
          <p:nvPr/>
        </p:nvSpPr>
        <p:spPr>
          <a:xfrm>
            <a:off x="4953000" y="1335828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/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7353300" y="1335828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BOOK-TO-BILL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Order momentum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9763125" y="1335828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EBITDA MARGIN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Profitability</a:t>
            </a:r>
          </a:p>
        </p:txBody>
      </p:sp>
      <p:sp>
        <p:nvSpPr>
          <p:cNvPr id="16" name="Rounded Rectangle 15"/>
          <p:cNvSpPr/>
          <p:nvPr/>
        </p:nvSpPr>
        <p:spPr>
          <a:xfrm>
            <a:off x="142875" y="2065976"/>
            <a:ext cx="3829050" cy="2610279"/>
          </a:xfrm>
          <a:prstGeom prst="roundRect">
            <a:avLst>
              <a:gd name="adj" fmla="val 291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38125" y="2123126"/>
            <a:ext cx="3638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SOM by End-Market (US$ Mn)</a:t>
            </a:r>
          </a:p>
        </p:txBody>
      </p:sp>
      <p:graphicFrame>
        <p:nvGraphicFramePr>
          <p:cNvPr id="18" name="Chart 17"/>
          <p:cNvGraphicFramePr>
            <a:graphicFrameLocks noGrp="1"/>
          </p:cNvGraphicFramePr>
          <p:nvPr/>
        </p:nvGraphicFramePr>
        <p:xfrm>
          <a:off x="238125" y="2351726"/>
          <a:ext cx="3638550" cy="2267379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9" name="Rounded Rectangle 18"/>
          <p:cNvSpPr/>
          <p:nvPr/>
        </p:nvSpPr>
        <p:spPr>
          <a:xfrm>
            <a:off x="4124325" y="2065976"/>
            <a:ext cx="3829050" cy="2610279"/>
          </a:xfrm>
          <a:prstGeom prst="roundRect">
            <a:avLst>
              <a:gd name="adj" fmla="val 291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4219575" y="2123126"/>
            <a:ext cx="3638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SOM by Region (US$ Mn)</a:t>
            </a:r>
          </a:p>
        </p:txBody>
      </p:sp>
      <p:graphicFrame>
        <p:nvGraphicFramePr>
          <p:cNvPr id="21" name="Chart 20"/>
          <p:cNvGraphicFramePr>
            <a:graphicFrameLocks noGrp="1"/>
          </p:cNvGraphicFramePr>
          <p:nvPr/>
        </p:nvGraphicFramePr>
        <p:xfrm>
          <a:off x="4219575" y="2351726"/>
          <a:ext cx="3638550" cy="2267379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2" name="Rounded Rectangle 21"/>
          <p:cNvSpPr/>
          <p:nvPr/>
        </p:nvSpPr>
        <p:spPr>
          <a:xfrm>
            <a:off x="8105775" y="2065976"/>
            <a:ext cx="3943350" cy="2610279"/>
          </a:xfrm>
          <a:prstGeom prst="roundRect">
            <a:avLst>
              <a:gd name="adj" fmla="val 291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8201025" y="2123126"/>
            <a:ext cx="37528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SOM by Product Line (US$ Mn)</a:t>
            </a:r>
          </a:p>
        </p:txBody>
      </p:sp>
      <p:graphicFrame>
        <p:nvGraphicFramePr>
          <p:cNvPr id="24" name="Chart 23"/>
          <p:cNvGraphicFramePr>
            <a:graphicFrameLocks noGrp="1"/>
          </p:cNvGraphicFramePr>
          <p:nvPr/>
        </p:nvGraphicFramePr>
        <p:xfrm>
          <a:off x="8201025" y="2351726"/>
          <a:ext cx="3752850" cy="2267379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5" name="Rounded Rectangle 24"/>
          <p:cNvSpPr/>
          <p:nvPr/>
        </p:nvSpPr>
        <p:spPr>
          <a:xfrm>
            <a:off x="142875" y="4785777"/>
            <a:ext cx="11906250" cy="1807116"/>
          </a:xfrm>
          <a:prstGeom prst="roundRect">
            <a:avLst>
              <a:gd name="adj" fmla="val 421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276225" y="4871502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Takeaways</a:t>
            </a:r>
          </a:p>
        </p:txBody>
      </p:sp>
      <p:sp>
        <p:nvSpPr>
          <p:cNvPr id="27" name="Rectangle 26"/>
          <p:cNvSpPr/>
          <p:nvPr/>
        </p:nvSpPr>
        <p:spPr>
          <a:xfrm>
            <a:off x="276225" y="5109627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276225" y="5195352"/>
            <a:ext cx="11639550" cy="1321341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202531" y="1522714"/>
            <a:ext cx="157162" cy="228600"/>
          </a:xfrm>
          <a:prstGeom prst="rect">
            <a:avLst/>
          </a:prstGeom>
        </p:spPr>
      </p:pic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602831" y="1522714"/>
            <a:ext cx="157162" cy="228600"/>
          </a:xfrm>
          <a:prstGeom prst="rect">
            <a:avLst/>
          </a:prstGeom>
        </p:spPr>
      </p:pic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412956" y="1522714"/>
            <a:ext cx="157162" cy="228600"/>
          </a:xfrm>
          <a:prstGeom prst="rect">
            <a:avLst/>
          </a:prstGeom>
        </p:spPr>
      </p:pic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0822781" y="1522714"/>
            <a:ext cx="157162" cy="228600"/>
          </a:xfrm>
          <a:prstGeom prst="rect">
            <a:avLst/>
          </a:prstGeom>
        </p:spPr>
      </p:pic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2104623" y="3299104"/>
            <a:ext cx="197242" cy="286897"/>
          </a:xfrm>
          <a:prstGeom prst="rect">
            <a:avLst/>
          </a:prstGeom>
        </p:spPr>
      </p:pic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278088" y="3145920"/>
            <a:ext cx="444576" cy="646656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5758516" y="1377568"/>
            <a:ext cx="741641" cy="146456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835" b="1">
                <a:solidFill>
                  <a:srgbClr val="6C7A89"/>
                </a:solidFill>
                <a:latin typeface="Calibri"/>
              </a:rPr>
              <a:t>SOM (US$ MN)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017010" y="1533061"/>
            <a:ext cx="133378" cy="194005"/>
          </a:xfrm>
          <a:prstGeom prst="rect">
            <a:avLst/>
          </a:prstGeom>
        </p:spPr>
      </p:pic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865805" y="1761621"/>
            <a:ext cx="97811" cy="142270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5993102" y="1769053"/>
            <a:ext cx="389531" cy="146456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835" b="0">
                <a:solidFill>
                  <a:srgbClr val="6C7A89"/>
                </a:solidFill>
                <a:latin typeface="Calibri"/>
              </a:rPr>
              <a:t>of SAM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276225" y="5204877"/>
            <a:ext cx="233084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Market Position: Beaphar captures ~</a:t>
            </a:r>
          </a:p>
        </p:txBody>
      </p:sp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2556225" y="5194653"/>
            <a:ext cx="134549" cy="195707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2731335" y="5204877"/>
            <a:ext cx="40592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a US$ Mn SAM, with its strongest end-market in 'General Retail'.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276225" y="5432715"/>
            <a:ext cx="62918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Geographic Balance: 'Europe' is the largest SOM region; 'Europe' shows the highest SAM penetration (~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517261" y="5422491"/>
            <a:ext cx="134549" cy="195707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6692370" y="5432715"/>
            <a:ext cx="1572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276225" y="5660552"/>
            <a:ext cx="139179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Growth Trajectory: a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617169" y="5650329"/>
            <a:ext cx="134549" cy="195707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1792279" y="5660552"/>
            <a:ext cx="112907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book-to-bill and ~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2870505" y="5650329"/>
            <a:ext cx="134549" cy="195707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3045614" y="5660552"/>
            <a:ext cx="450359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EBITDA margin point to a path to capture more of the addressable market.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276225" y="5888390"/>
            <a:ext cx="135353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Competitive Edge: ~</a:t>
            </a:r>
          </a:p>
        </p:txBody>
      </p:sp>
      <p:pic>
        <p:nvPicPr>
          <p:cNvPr id="52" name="Picture 51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578914" y="5878167"/>
            <a:ext cx="134549" cy="195707"/>
          </a:xfrm>
          <a:prstGeom prst="rect">
            <a:avLst/>
          </a:prstGeom>
        </p:spPr>
      </p:pic>
      <p:sp>
        <p:nvSpPr>
          <p:cNvPr id="53" name="TextBox 52"/>
          <p:cNvSpPr txBox="1"/>
          <p:nvPr/>
        </p:nvSpPr>
        <p:spPr>
          <a:xfrm>
            <a:off x="1754024" y="5888390"/>
            <a:ext cx="107259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win rate with a +</a:t>
            </a:r>
          </a:p>
        </p:txBody>
      </p:sp>
      <p:pic>
        <p:nvPicPr>
          <p:cNvPr id="54" name="Picture 53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2775769" y="5878167"/>
            <a:ext cx="134549" cy="195707"/>
          </a:xfrm>
          <a:prstGeom prst="rect">
            <a:avLst/>
          </a:prstGeom>
        </p:spPr>
      </p:pic>
      <p:sp>
        <p:nvSpPr>
          <p:cNvPr id="55" name="TextBox 54"/>
          <p:cNvSpPr txBox="1"/>
          <p:nvPr/>
        </p:nvSpPr>
        <p:spPr>
          <a:xfrm>
            <a:off x="2950879" y="5888390"/>
            <a:ext cx="113705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ASP premium and</a:t>
            </a:r>
          </a:p>
        </p:txBody>
      </p:sp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037092" y="5878167"/>
            <a:ext cx="134549" cy="195707"/>
          </a:xfrm>
          <a:prstGeom prst="rect">
            <a:avLst/>
          </a:prstGeom>
        </p:spPr>
      </p:pic>
      <p:sp>
        <p:nvSpPr>
          <p:cNvPr id="57" name="TextBox 56"/>
          <p:cNvSpPr txBox="1"/>
          <p:nvPr/>
        </p:nvSpPr>
        <p:spPr>
          <a:xfrm>
            <a:off x="4212201" y="5888390"/>
            <a:ext cx="12591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x pipeline coverage.</a:t>
            </a:r>
          </a:p>
        </p:txBody>
      </p:sp>
      <p:sp>
        <p:nvSpPr>
          <p:cNvPr id="58" name="lockshield_18"/>
          <p:cNvSpPr/>
          <p:nvPr/>
        </p:nvSpPr>
        <p:spPr>
          <a:xfrm>
            <a:off x="238125" y="2351726"/>
            <a:ext cx="3638550" cy="2267379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lockshield_21"/>
          <p:cNvSpPr/>
          <p:nvPr/>
        </p:nvSpPr>
        <p:spPr>
          <a:xfrm>
            <a:off x="4219575" y="2351726"/>
            <a:ext cx="3638550" cy="2267379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lockshield_24"/>
          <p:cNvSpPr/>
          <p:nvPr/>
        </p:nvSpPr>
        <p:spPr>
          <a:xfrm>
            <a:off x="8201025" y="2351726"/>
            <a:ext cx="3752850" cy="2267379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25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Beaphar Regional Penetration &amp; Win Position (2/5)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Regional penetration and competitive positioning highlighting growth potential, win rates and sales efficiency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55552"/>
          </a:xfrm>
          <a:prstGeom prst="roundRect">
            <a:avLst>
              <a:gd name="adj" fmla="val 2981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Regional penetration and competitive positioning Beaphar: SOM vs SAM by region, win position, TAM/SAM/SOM and go-to-market benchmarks.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299320"/>
            <a:ext cx="5905500" cy="2263459"/>
          </a:xfrm>
          <a:prstGeom prst="roundRect">
            <a:avLst>
              <a:gd name="adj" fmla="val 336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356470"/>
            <a:ext cx="5715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SOM vs SAM Penetration by Region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5070"/>
          <a:ext cx="5715000" cy="1920559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62675" y="1299320"/>
            <a:ext cx="5886450" cy="2263459"/>
          </a:xfrm>
          <a:prstGeom prst="roundRect">
            <a:avLst>
              <a:gd name="adj" fmla="val 336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57925" y="1356470"/>
            <a:ext cx="56959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Competitive Win Position</a:t>
            </a:r>
          </a:p>
        </p:txBody>
      </p:sp>
      <p:cxnSp>
        <p:nvCxnSpPr>
          <p:cNvPr id="16" name="Connector 15"/>
          <p:cNvCxnSpPr/>
          <p:nvPr/>
        </p:nvCxnSpPr>
        <p:spPr>
          <a:xfrm>
            <a:off x="6581775" y="3219879"/>
            <a:ext cx="5257800" cy="0"/>
          </a:xfrm>
          <a:prstGeom prst="line">
            <a:avLst/>
          </a:prstGeom>
          <a:ln w="12700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" name="Connector 16"/>
          <p:cNvCxnSpPr/>
          <p:nvPr/>
        </p:nvCxnSpPr>
        <p:spPr>
          <a:xfrm>
            <a:off x="6581775" y="1680320"/>
            <a:ext cx="0" cy="1539559"/>
          </a:xfrm>
          <a:prstGeom prst="line">
            <a:avLst/>
          </a:prstGeom>
          <a:ln w="12700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TextBox 17"/>
          <p:cNvSpPr txBox="1"/>
          <p:nvPr/>
        </p:nvSpPr>
        <p:spPr>
          <a:xfrm>
            <a:off x="6467475" y="3238929"/>
            <a:ext cx="228600" cy="11430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0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7969704" y="3238929"/>
            <a:ext cx="228600" cy="11430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1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9471932" y="3238929"/>
            <a:ext cx="228600" cy="11430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2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10974161" y="3238929"/>
            <a:ext cx="228600" cy="11430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3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6581775" y="3353229"/>
            <a:ext cx="5257800" cy="11430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Win Rate %</a:t>
            </a:r>
          </a:p>
        </p:txBody>
      </p:sp>
      <p:sp>
        <p:nvSpPr>
          <p:cNvPr id="23" name="TextBox 22"/>
          <p:cNvSpPr txBox="1"/>
          <p:nvPr/>
        </p:nvSpPr>
        <p:spPr>
          <a:xfrm rot="16200000">
            <a:off x="6029325" y="2373900"/>
            <a:ext cx="571500" cy="15240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ASP vs Peer</a:t>
            </a:r>
          </a:p>
        </p:txBody>
      </p:sp>
      <p:sp>
        <p:nvSpPr>
          <p:cNvPr id="24" name="Oval 23"/>
          <p:cNvSpPr/>
          <p:nvPr/>
        </p:nvSpPr>
        <p:spPr>
          <a:xfrm>
            <a:off x="7359287" y="1979874"/>
            <a:ext cx="247650" cy="247650"/>
          </a:xfrm>
          <a:prstGeom prst="ellipse">
            <a:avLst/>
          </a:prstGeom>
          <a:solidFill>
            <a:srgbClr val="29ABE2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7645037" y="2017974"/>
            <a:ext cx="14287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Beaphar</a:t>
            </a:r>
          </a:p>
        </p:txBody>
      </p:sp>
      <p:sp>
        <p:nvSpPr>
          <p:cNvPr id="26" name="Oval 25"/>
          <p:cNvSpPr/>
          <p:nvPr/>
        </p:nvSpPr>
        <p:spPr>
          <a:xfrm>
            <a:off x="9283609" y="1912810"/>
            <a:ext cx="304800" cy="304800"/>
          </a:xfrm>
          <a:prstGeom prst="ellipse">
            <a:avLst/>
          </a:prstGeom>
          <a:solidFill>
            <a:srgbClr val="8C8C8C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TextBox 26"/>
          <p:cNvSpPr txBox="1"/>
          <p:nvPr/>
        </p:nvSpPr>
        <p:spPr>
          <a:xfrm>
            <a:off x="9626509" y="1979485"/>
            <a:ext cx="14287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Industry Avg.</a:t>
            </a:r>
          </a:p>
        </p:txBody>
      </p:sp>
      <p:sp>
        <p:nvSpPr>
          <p:cNvPr id="28" name="Oval 27"/>
          <p:cNvSpPr/>
          <p:nvPr/>
        </p:nvSpPr>
        <p:spPr>
          <a:xfrm>
            <a:off x="10513967" y="2711164"/>
            <a:ext cx="247650" cy="247650"/>
          </a:xfrm>
          <a:prstGeom prst="ellipse">
            <a:avLst/>
          </a:prstGeom>
          <a:solidFill>
            <a:srgbClr val="0E72AE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10706100" y="2749264"/>
            <a:ext cx="14287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Market Leader</a:t>
            </a:r>
          </a:p>
        </p:txBody>
      </p:sp>
      <p:sp>
        <p:nvSpPr>
          <p:cNvPr id="30" name="Rounded Rectangle 29"/>
          <p:cNvSpPr/>
          <p:nvPr/>
        </p:nvSpPr>
        <p:spPr>
          <a:xfrm>
            <a:off x="142875" y="3635794"/>
            <a:ext cx="5905500" cy="1661086"/>
          </a:xfrm>
          <a:prstGeom prst="roundRect">
            <a:avLst>
              <a:gd name="adj" fmla="val 458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238125" y="3692944"/>
            <a:ext cx="5715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TAM · SAM · SOM (US$ Mn)</a:t>
            </a:r>
          </a:p>
        </p:txBody>
      </p:sp>
      <p:sp>
        <p:nvSpPr>
          <p:cNvPr id="32" name="Rectangle 31"/>
          <p:cNvSpPr/>
          <p:nvPr/>
        </p:nvSpPr>
        <p:spPr>
          <a:xfrm>
            <a:off x="238125" y="3921544"/>
            <a:ext cx="5715000" cy="363195"/>
          </a:xfrm>
          <a:prstGeom prst="rect">
            <a:avLst/>
          </a:prstGeom>
          <a:solidFill>
            <a:srgbClr val="0A2E4D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57150" tIns="19050" bIns="19050"/>
          <a:lstStyle/>
          <a:p>
            <a:pPr algn="l"/>
            <a:r>
              <a:rPr sz="1150" b="1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33" name="Rectangle 32"/>
          <p:cNvSpPr/>
          <p:nvPr/>
        </p:nvSpPr>
        <p:spPr>
          <a:xfrm>
            <a:off x="238125" y="4399039"/>
            <a:ext cx="4400550" cy="363195"/>
          </a:xfrm>
          <a:prstGeom prst="rect">
            <a:avLst/>
          </a:prstGeom>
          <a:solidFill>
            <a:srgbClr val="1668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57150" tIns="19050" bIns="19050"/>
          <a:lstStyle/>
          <a:p>
            <a:pPr algn="l"/>
            <a:r>
              <a:rPr sz="1150" b="1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34" name="Rectangle 33"/>
          <p:cNvSpPr/>
          <p:nvPr/>
        </p:nvSpPr>
        <p:spPr>
          <a:xfrm>
            <a:off x="238125" y="4876535"/>
            <a:ext cx="3086100" cy="363195"/>
          </a:xfrm>
          <a:prstGeom prst="rect">
            <a:avLst/>
          </a:prstGeom>
          <a:solidFill>
            <a:srgbClr val="29ABE2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57150" tIns="19050" bIns="19050"/>
          <a:lstStyle/>
          <a:p>
            <a:pPr algn="l"/>
            <a:r>
              <a:rPr sz="1150" b="1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35" name="Rounded Rectangle 34"/>
          <p:cNvSpPr/>
          <p:nvPr/>
        </p:nvSpPr>
        <p:spPr>
          <a:xfrm>
            <a:off x="6162675" y="3635794"/>
            <a:ext cx="5886450" cy="1661086"/>
          </a:xfrm>
          <a:prstGeom prst="roundRect">
            <a:avLst>
              <a:gd name="adj" fmla="val 458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6257925" y="3692944"/>
            <a:ext cx="56959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Go-to-Market Benchmarks (Target vs Actual)</a:t>
            </a:r>
          </a:p>
        </p:txBody>
      </p:sp>
      <p:sp>
        <p:nvSpPr>
          <p:cNvPr id="37" name="Rectangle 36"/>
          <p:cNvSpPr/>
          <p:nvPr/>
        </p:nvSpPr>
        <p:spPr>
          <a:xfrm>
            <a:off x="10391775" y="3940594"/>
            <a:ext cx="95250" cy="95250"/>
          </a:xfrm>
          <a:prstGeom prst="rect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10506075" y="3912019"/>
            <a:ext cx="5715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Target</a:t>
            </a:r>
          </a:p>
        </p:txBody>
      </p:sp>
      <p:sp>
        <p:nvSpPr>
          <p:cNvPr id="39" name="Rectangle 38"/>
          <p:cNvSpPr/>
          <p:nvPr/>
        </p:nvSpPr>
        <p:spPr>
          <a:xfrm>
            <a:off x="11134725" y="3940594"/>
            <a:ext cx="95250" cy="95250"/>
          </a:xfrm>
          <a:prstGeom prst="rect">
            <a:avLst/>
          </a:prstGeom>
          <a:solidFill>
            <a:srgbClr val="69B1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11249025" y="3912019"/>
            <a:ext cx="5715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Actual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6276975" y="4153941"/>
            <a:ext cx="10668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Conversion (%)</a:t>
            </a:r>
          </a:p>
        </p:txBody>
      </p:sp>
      <p:sp>
        <p:nvSpPr>
          <p:cNvPr id="42" name="Rectangle 41"/>
          <p:cNvSpPr/>
          <p:nvPr/>
        </p:nvSpPr>
        <p:spPr>
          <a:xfrm>
            <a:off x="7381875" y="4164998"/>
            <a:ext cx="1597914" cy="93719"/>
          </a:xfrm>
          <a:prstGeom prst="rect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7381875" y="4277766"/>
            <a:ext cx="3018282" cy="93719"/>
          </a:xfrm>
          <a:prstGeom prst="rect">
            <a:avLst/>
          </a:prstGeom>
          <a:solidFill>
            <a:srgbClr val="69B1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6276975" y="4466337"/>
            <a:ext cx="10668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Sales Cycle (Days)</a:t>
            </a:r>
          </a:p>
        </p:txBody>
      </p:sp>
      <p:sp>
        <p:nvSpPr>
          <p:cNvPr id="45" name="Rectangle 44"/>
          <p:cNvSpPr/>
          <p:nvPr/>
        </p:nvSpPr>
        <p:spPr>
          <a:xfrm>
            <a:off x="7381875" y="4477393"/>
            <a:ext cx="3817239" cy="93719"/>
          </a:xfrm>
          <a:prstGeom prst="rect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7381875" y="4590162"/>
            <a:ext cx="2219325" cy="93719"/>
          </a:xfrm>
          <a:prstGeom prst="rect">
            <a:avLst/>
          </a:prstGeom>
          <a:solidFill>
            <a:srgbClr val="69B1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TextBox 46"/>
          <p:cNvSpPr txBox="1"/>
          <p:nvPr/>
        </p:nvSpPr>
        <p:spPr>
          <a:xfrm>
            <a:off x="6276975" y="4778732"/>
            <a:ext cx="10668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Pipeline Coverage</a:t>
            </a:r>
          </a:p>
        </p:txBody>
      </p:sp>
      <p:sp>
        <p:nvSpPr>
          <p:cNvPr id="48" name="Rectangle 47"/>
          <p:cNvSpPr/>
          <p:nvPr/>
        </p:nvSpPr>
        <p:spPr>
          <a:xfrm>
            <a:off x="7381875" y="4789789"/>
            <a:ext cx="2130552" cy="93719"/>
          </a:xfrm>
          <a:prstGeom prst="rect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Rectangle 48"/>
          <p:cNvSpPr/>
          <p:nvPr/>
        </p:nvSpPr>
        <p:spPr>
          <a:xfrm>
            <a:off x="7381875" y="4902557"/>
            <a:ext cx="3906012" cy="93719"/>
          </a:xfrm>
          <a:prstGeom prst="rect">
            <a:avLst/>
          </a:prstGeom>
          <a:solidFill>
            <a:srgbClr val="69B1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ounded Rectangle 49"/>
          <p:cNvSpPr/>
          <p:nvPr/>
        </p:nvSpPr>
        <p:spPr>
          <a:xfrm>
            <a:off x="142875" y="5369895"/>
            <a:ext cx="11906250" cy="1259505"/>
          </a:xfrm>
          <a:prstGeom prst="roundRect">
            <a:avLst>
              <a:gd name="adj" fmla="val 60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TextBox 50"/>
          <p:cNvSpPr txBox="1"/>
          <p:nvPr/>
        </p:nvSpPr>
        <p:spPr>
          <a:xfrm>
            <a:off x="276225" y="545562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Takeaways</a:t>
            </a:r>
          </a:p>
        </p:txBody>
      </p:sp>
      <p:sp>
        <p:nvSpPr>
          <p:cNvPr id="52" name="Rectangle 51"/>
          <p:cNvSpPr/>
          <p:nvPr/>
        </p:nvSpPr>
        <p:spPr>
          <a:xfrm>
            <a:off x="276225" y="569374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TextBox 52"/>
          <p:cNvSpPr txBox="1"/>
          <p:nvPr/>
        </p:nvSpPr>
        <p:spPr>
          <a:xfrm>
            <a:off x="276225" y="5779470"/>
            <a:ext cx="11639550" cy="77373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352425" y="4015511"/>
            <a:ext cx="87120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TAM · 100% ·</a:t>
            </a:r>
          </a:p>
        </p:txBody>
      </p:sp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72781" y="4005288"/>
            <a:ext cx="134549" cy="195707"/>
          </a:xfrm>
          <a:prstGeom prst="rect">
            <a:avLst/>
          </a:prstGeom>
        </p:spPr>
      </p:pic>
      <p:sp>
        <p:nvSpPr>
          <p:cNvPr id="57" name="TextBox 56"/>
          <p:cNvSpPr txBox="1"/>
          <p:nvPr/>
        </p:nvSpPr>
        <p:spPr>
          <a:xfrm>
            <a:off x="1347890" y="4015511"/>
            <a:ext cx="5540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US$ Mn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352425" y="4493006"/>
            <a:ext cx="43362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SAM ·</a:t>
            </a:r>
          </a:p>
        </p:txBody>
      </p:sp>
      <p:pic>
        <p:nvPicPr>
          <p:cNvPr id="59" name="Picture 5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35202" y="4482783"/>
            <a:ext cx="134549" cy="195707"/>
          </a:xfrm>
          <a:prstGeom prst="rect">
            <a:avLst/>
          </a:prstGeom>
        </p:spPr>
      </p:pic>
      <p:sp>
        <p:nvSpPr>
          <p:cNvPr id="60" name="TextBox 59"/>
          <p:cNvSpPr txBox="1"/>
          <p:nvPr/>
        </p:nvSpPr>
        <p:spPr>
          <a:xfrm>
            <a:off x="910311" y="4493006"/>
            <a:ext cx="59479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of TAM ·</a:t>
            </a:r>
          </a:p>
        </p:txBody>
      </p:sp>
      <p:pic>
        <p:nvPicPr>
          <p:cNvPr id="61" name="Picture 6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454256" y="4482783"/>
            <a:ext cx="134549" cy="195707"/>
          </a:xfrm>
          <a:prstGeom prst="rect">
            <a:avLst/>
          </a:prstGeom>
        </p:spPr>
      </p:pic>
      <p:sp>
        <p:nvSpPr>
          <p:cNvPr id="62" name="TextBox 61"/>
          <p:cNvSpPr txBox="1"/>
          <p:nvPr/>
        </p:nvSpPr>
        <p:spPr>
          <a:xfrm>
            <a:off x="1629366" y="4493006"/>
            <a:ext cx="5540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US$ Mn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352425" y="4970502"/>
            <a:ext cx="44389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SOM ·</a:t>
            </a:r>
          </a:p>
        </p:txBody>
      </p:sp>
      <p:pic>
        <p:nvPicPr>
          <p:cNvPr id="64" name="Picture 6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45471" y="4960279"/>
            <a:ext cx="134549" cy="195707"/>
          </a:xfrm>
          <a:prstGeom prst="rect">
            <a:avLst/>
          </a:prstGeom>
        </p:spPr>
      </p:pic>
      <p:sp>
        <p:nvSpPr>
          <p:cNvPr id="65" name="TextBox 64"/>
          <p:cNvSpPr txBox="1"/>
          <p:nvPr/>
        </p:nvSpPr>
        <p:spPr>
          <a:xfrm>
            <a:off x="920580" y="4970502"/>
            <a:ext cx="59136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of SAM ·</a:t>
            </a:r>
          </a:p>
        </p:txBody>
      </p:sp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461102" y="4960279"/>
            <a:ext cx="134549" cy="195707"/>
          </a:xfrm>
          <a:prstGeom prst="rect">
            <a:avLst/>
          </a:prstGeom>
        </p:spPr>
      </p:pic>
      <p:sp>
        <p:nvSpPr>
          <p:cNvPr id="67" name="TextBox 66"/>
          <p:cNvSpPr txBox="1"/>
          <p:nvPr/>
        </p:nvSpPr>
        <p:spPr>
          <a:xfrm>
            <a:off x="1636212" y="4970502"/>
            <a:ext cx="5540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US$ Mn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276225" y="5788995"/>
            <a:ext cx="707020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Regional Opportunity: 'Europe' shows the highest SAM penetration; lower-penetration regions are the growth headroom.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276225" y="6006927"/>
            <a:ext cx="129799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Competitive Edge: ~</a:t>
            </a:r>
          </a:p>
        </p:txBody>
      </p:sp>
      <p:pic>
        <p:nvPicPr>
          <p:cNvPr id="70" name="Picture 69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522276" y="5997147"/>
            <a:ext cx="128699" cy="187198"/>
          </a:xfrm>
          <a:prstGeom prst="rect">
            <a:avLst/>
          </a:prstGeom>
        </p:spPr>
      </p:pic>
      <p:sp>
        <p:nvSpPr>
          <p:cNvPr id="71" name="TextBox 70"/>
          <p:cNvSpPr txBox="1"/>
          <p:nvPr/>
        </p:nvSpPr>
        <p:spPr>
          <a:xfrm>
            <a:off x="1689771" y="6006927"/>
            <a:ext cx="102927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win rate with a +</a:t>
            </a:r>
          </a:p>
        </p:txBody>
      </p:sp>
      <p:pic>
        <p:nvPicPr>
          <p:cNvPr id="72" name="Picture 7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667093" y="5997147"/>
            <a:ext cx="128699" cy="187198"/>
          </a:xfrm>
          <a:prstGeom prst="rect">
            <a:avLst/>
          </a:prstGeom>
        </p:spPr>
      </p:pic>
      <p:sp>
        <p:nvSpPr>
          <p:cNvPr id="73" name="TextBox 72"/>
          <p:cNvSpPr txBox="1"/>
          <p:nvPr/>
        </p:nvSpPr>
        <p:spPr>
          <a:xfrm>
            <a:off x="2834589" y="6006927"/>
            <a:ext cx="23114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ASP premium signals value recognition;</a:t>
            </a:r>
          </a:p>
        </p:txBody>
      </p:sp>
      <p:pic>
        <p:nvPicPr>
          <p:cNvPr id="74" name="Picture 7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5094041" y="5997147"/>
            <a:ext cx="128699" cy="187198"/>
          </a:xfrm>
          <a:prstGeom prst="rect">
            <a:avLst/>
          </a:prstGeom>
        </p:spPr>
      </p:pic>
      <p:sp>
        <p:nvSpPr>
          <p:cNvPr id="75" name="TextBox 74"/>
          <p:cNvSpPr txBox="1"/>
          <p:nvPr/>
        </p:nvSpPr>
        <p:spPr>
          <a:xfrm>
            <a:off x="5261537" y="6006927"/>
            <a:ext cx="225164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x pipeline coverage underpins growth.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276225" y="6224859"/>
            <a:ext cx="261501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Sales Efficiency: a ~95-day sales cycle and ~</a:t>
            </a:r>
          </a:p>
        </p:txBody>
      </p:sp>
      <p:pic>
        <p:nvPicPr>
          <p:cNvPr id="77" name="Picture 7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839292" y="6215079"/>
            <a:ext cx="128699" cy="187198"/>
          </a:xfrm>
          <a:prstGeom prst="rect">
            <a:avLst/>
          </a:prstGeom>
        </p:spPr>
      </p:pic>
      <p:sp>
        <p:nvSpPr>
          <p:cNvPr id="78" name="TextBox 77"/>
          <p:cNvSpPr txBox="1"/>
          <p:nvPr/>
        </p:nvSpPr>
        <p:spPr>
          <a:xfrm>
            <a:off x="3006787" y="6224859"/>
            <a:ext cx="23845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conversion support faster share capture.</a:t>
            </a:r>
          </a:p>
        </p:txBody>
      </p:sp>
      <p:sp>
        <p:nvSpPr>
          <p:cNvPr id="79" name="lockshield_13"/>
          <p:cNvSpPr/>
          <p:nvPr/>
        </p:nvSpPr>
        <p:spPr>
          <a:xfrm>
            <a:off x="238125" y="1585070"/>
            <a:ext cx="5715000" cy="1920559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25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Beaphar SWOT Analysis (3/5)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SWOT assessment of Beaphar: strengths, weaknesses, opportunities and threats shaping its competitive position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42875" y="1007261"/>
            <a:ext cx="119062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SWOT assessment Beaphar: strengths, weaknesses, opportunities and threats (indicative).</a:t>
            </a:r>
          </a:p>
        </p:txBody>
      </p:sp>
      <p:cxnSp>
        <p:nvCxnSpPr>
          <p:cNvPr id="11" name="Connector 10"/>
          <p:cNvCxnSpPr/>
          <p:nvPr/>
        </p:nvCxnSpPr>
        <p:spPr>
          <a:xfrm>
            <a:off x="3810000" y="3891345"/>
            <a:ext cx="4572000" cy="0"/>
          </a:xfrm>
          <a:prstGeom prst="line">
            <a:avLst/>
          </a:prstGeom>
          <a:ln w="17780">
            <a:solidFill>
              <a:srgbClr val="B9C4C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6096000" y="1919946"/>
            <a:ext cx="0" cy="3942799"/>
          </a:xfrm>
          <a:prstGeom prst="line">
            <a:avLst/>
          </a:prstGeom>
          <a:ln w="17780">
            <a:solidFill>
              <a:srgbClr val="B9C4C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" name="Oval 12"/>
          <p:cNvSpPr/>
          <p:nvPr/>
        </p:nvSpPr>
        <p:spPr>
          <a:xfrm>
            <a:off x="3757612" y="3841147"/>
            <a:ext cx="104775" cy="100395"/>
          </a:xfrm>
          <a:prstGeom prst="ellipse">
            <a:avLst/>
          </a:prstGeom>
          <a:solidFill>
            <a:srgbClr val="B9C4CE"/>
          </a:solidFill>
          <a:ln w="12700">
            <a:solidFill>
              <a:srgbClr val="B9C4C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Oval 13"/>
          <p:cNvSpPr/>
          <p:nvPr/>
        </p:nvSpPr>
        <p:spPr>
          <a:xfrm>
            <a:off x="8329612" y="3841147"/>
            <a:ext cx="104775" cy="100395"/>
          </a:xfrm>
          <a:prstGeom prst="ellipse">
            <a:avLst/>
          </a:prstGeom>
          <a:solidFill>
            <a:srgbClr val="B9C4CE"/>
          </a:solidFill>
          <a:ln w="12700">
            <a:solidFill>
              <a:srgbClr val="B9C4C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Oval 14"/>
          <p:cNvSpPr/>
          <p:nvPr/>
        </p:nvSpPr>
        <p:spPr>
          <a:xfrm>
            <a:off x="6043612" y="1869748"/>
            <a:ext cx="104775" cy="100395"/>
          </a:xfrm>
          <a:prstGeom prst="ellipse">
            <a:avLst/>
          </a:prstGeom>
          <a:solidFill>
            <a:srgbClr val="B9C4CE"/>
          </a:solidFill>
          <a:ln w="12700">
            <a:solidFill>
              <a:srgbClr val="B9C4C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Oval 15"/>
          <p:cNvSpPr/>
          <p:nvPr/>
        </p:nvSpPr>
        <p:spPr>
          <a:xfrm>
            <a:off x="6043612" y="5812547"/>
            <a:ext cx="104775" cy="100395"/>
          </a:xfrm>
          <a:prstGeom prst="ellipse">
            <a:avLst/>
          </a:prstGeom>
          <a:solidFill>
            <a:srgbClr val="B9C4CE"/>
          </a:solidFill>
          <a:ln w="12700">
            <a:solidFill>
              <a:srgbClr val="B9C4C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Rounded Rectangle 16"/>
          <p:cNvSpPr/>
          <p:nvPr/>
        </p:nvSpPr>
        <p:spPr>
          <a:xfrm>
            <a:off x="4724400" y="2577079"/>
            <a:ext cx="1257300" cy="1204744"/>
          </a:xfrm>
          <a:prstGeom prst="roundRect">
            <a:avLst>
              <a:gd name="adj" fmla="val 12121"/>
            </a:avLst>
          </a:prstGeom>
          <a:noFill/>
          <a:ln w="19050">
            <a:solidFill>
              <a:srgbClr val="69B1E0"/>
            </a:solidFill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Rounded Rectangle 17"/>
          <p:cNvSpPr/>
          <p:nvPr/>
        </p:nvSpPr>
        <p:spPr>
          <a:xfrm>
            <a:off x="6210300" y="2577079"/>
            <a:ext cx="1257300" cy="1204744"/>
          </a:xfrm>
          <a:prstGeom prst="roundRect">
            <a:avLst>
              <a:gd name="adj" fmla="val 12121"/>
            </a:avLst>
          </a:prstGeom>
          <a:noFill/>
          <a:ln w="19050">
            <a:solidFill>
              <a:srgbClr val="0B2E4A"/>
            </a:solidFill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Rounded Rectangle 18"/>
          <p:cNvSpPr/>
          <p:nvPr/>
        </p:nvSpPr>
        <p:spPr>
          <a:xfrm>
            <a:off x="4724400" y="4000868"/>
            <a:ext cx="1257300" cy="1204744"/>
          </a:xfrm>
          <a:prstGeom prst="roundRect">
            <a:avLst>
              <a:gd name="adj" fmla="val 12121"/>
            </a:avLst>
          </a:prstGeom>
          <a:noFill/>
          <a:ln w="19050">
            <a:solidFill>
              <a:srgbClr val="A35313"/>
            </a:solidFill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ounded Rectangle 19"/>
          <p:cNvSpPr/>
          <p:nvPr/>
        </p:nvSpPr>
        <p:spPr>
          <a:xfrm>
            <a:off x="6210300" y="4000868"/>
            <a:ext cx="1257300" cy="1204744"/>
          </a:xfrm>
          <a:prstGeom prst="roundRect">
            <a:avLst>
              <a:gd name="adj" fmla="val 12121"/>
            </a:avLst>
          </a:prstGeom>
          <a:noFill/>
          <a:ln w="19050">
            <a:solidFill>
              <a:srgbClr val="A86F00"/>
            </a:solidFill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Freeform 20"/>
          <p:cNvSpPr/>
          <p:nvPr/>
        </p:nvSpPr>
        <p:spPr>
          <a:xfrm>
            <a:off x="5524500" y="2978660"/>
            <a:ext cx="1143000" cy="803163"/>
          </a:xfrm>
          <a:custGeom>
            <a:avLst/>
            <a:gdLst/>
            <a:ahLst/>
            <a:cxnLst/>
            <a:rect l="l" t="t" r="r" b="b"/>
            <a:pathLst>
              <a:path w="120" h="88">
                <a:moveTo>
                  <a:pt x="0" y="0"/>
                </a:moveTo>
                <a:lnTo>
                  <a:pt x="120" y="0"/>
                </a:lnTo>
                <a:lnTo>
                  <a:pt x="60" y="88"/>
                </a:lnTo>
                <a:close/>
              </a:path>
            </a:pathLst>
          </a:custGeom>
          <a:solidFill>
            <a:srgbClr val="69B1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Freeform 21"/>
          <p:cNvSpPr/>
          <p:nvPr/>
        </p:nvSpPr>
        <p:spPr>
          <a:xfrm>
            <a:off x="5524500" y="4000868"/>
            <a:ext cx="1143000" cy="803163"/>
          </a:xfrm>
          <a:custGeom>
            <a:avLst/>
            <a:gdLst/>
            <a:ahLst/>
            <a:cxnLst/>
            <a:rect l="l" t="t" r="r" b="b"/>
            <a:pathLst>
              <a:path w="120" h="88">
                <a:moveTo>
                  <a:pt x="0" y="88"/>
                </a:moveTo>
                <a:lnTo>
                  <a:pt x="120" y="88"/>
                </a:lnTo>
                <a:lnTo>
                  <a:pt x="60" y="0"/>
                </a:lnTo>
                <a:close/>
              </a:path>
            </a:pathLst>
          </a:cu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Freeform 22"/>
          <p:cNvSpPr/>
          <p:nvPr/>
        </p:nvSpPr>
        <p:spPr>
          <a:xfrm>
            <a:off x="5143500" y="3343734"/>
            <a:ext cx="838200" cy="1095222"/>
          </a:xfrm>
          <a:custGeom>
            <a:avLst/>
            <a:gdLst/>
            <a:ahLst/>
            <a:cxnLst/>
            <a:rect l="l" t="t" r="r" b="b"/>
            <a:pathLst>
              <a:path w="88" h="120">
                <a:moveTo>
                  <a:pt x="0" y="0"/>
                </a:moveTo>
                <a:lnTo>
                  <a:pt x="0" y="120"/>
                </a:lnTo>
                <a:lnTo>
                  <a:pt x="88" y="60"/>
                </a:lnTo>
                <a:close/>
              </a:path>
            </a:pathLst>
          </a:cu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Freeform 23"/>
          <p:cNvSpPr/>
          <p:nvPr/>
        </p:nvSpPr>
        <p:spPr>
          <a:xfrm>
            <a:off x="6210300" y="3343734"/>
            <a:ext cx="838200" cy="1095222"/>
          </a:xfrm>
          <a:custGeom>
            <a:avLst/>
            <a:gdLst/>
            <a:ahLst/>
            <a:cxnLst/>
            <a:rect l="l" t="t" r="r" b="b"/>
            <a:pathLst>
              <a:path w="88" h="120">
                <a:moveTo>
                  <a:pt x="88" y="0"/>
                </a:moveTo>
                <a:lnTo>
                  <a:pt x="88" y="120"/>
                </a:lnTo>
                <a:lnTo>
                  <a:pt x="0" y="60"/>
                </a:lnTo>
                <a:close/>
              </a:path>
            </a:pathLst>
          </a:cu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5886450" y="3243339"/>
            <a:ext cx="419100" cy="27380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2100" b="1">
                <a:solidFill>
                  <a:srgbClr val="1F2933"/>
                </a:solidFill>
                <a:latin typeface="Calibri"/>
              </a:rPr>
              <a:t>S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5886450" y="4265546"/>
            <a:ext cx="419100" cy="27380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2100" b="1">
                <a:solidFill>
                  <a:srgbClr val="FFFFFF"/>
                </a:solidFill>
                <a:latin typeface="Calibri"/>
              </a:rPr>
              <a:t>O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5353050" y="3754443"/>
            <a:ext cx="419100" cy="27380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2100" b="1">
                <a:solidFill>
                  <a:srgbClr val="FFFFFF"/>
                </a:solidFill>
                <a:latin typeface="Calibri"/>
              </a:rPr>
              <a:t>T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6419850" y="3754443"/>
            <a:ext cx="419100" cy="27380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2100" b="1">
                <a:solidFill>
                  <a:srgbClr val="FFFFFF"/>
                </a:solidFill>
                <a:latin typeface="Calibri"/>
              </a:rPr>
              <a:t>W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190500" y="1299320"/>
            <a:ext cx="36671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350" b="1">
                <a:solidFill>
                  <a:srgbClr val="0B2E4A"/>
                </a:solidFill>
                <a:latin typeface="Calibri"/>
              </a:rPr>
              <a:t>Strengths</a:t>
            </a:r>
          </a:p>
        </p:txBody>
      </p:sp>
      <p:sp>
        <p:nvSpPr>
          <p:cNvPr id="30" name="Rectangle 29"/>
          <p:cNvSpPr/>
          <p:nvPr/>
        </p:nvSpPr>
        <p:spPr>
          <a:xfrm>
            <a:off x="190500" y="1500111"/>
            <a:ext cx="1428750" cy="1825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Oval 30"/>
          <p:cNvSpPr/>
          <p:nvPr/>
        </p:nvSpPr>
        <p:spPr>
          <a:xfrm>
            <a:off x="204788" y="1605070"/>
            <a:ext cx="66675" cy="63888"/>
          </a:xfrm>
          <a:prstGeom prst="ellipse">
            <a:avLst/>
          </a:prstGeom>
          <a:solidFill>
            <a:srgbClr val="0B2E4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333375" y="1573126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204788" y="2116174"/>
            <a:ext cx="66675" cy="63888"/>
          </a:xfrm>
          <a:prstGeom prst="ellipse">
            <a:avLst/>
          </a:prstGeom>
          <a:solidFill>
            <a:srgbClr val="0B2E4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333375" y="2084229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Balanced SOM across regions and end-markets; strongest in 'Europe'.</a:t>
            </a:r>
          </a:p>
        </p:txBody>
      </p:sp>
      <p:sp>
        <p:nvSpPr>
          <p:cNvPr id="35" name="Oval 34"/>
          <p:cNvSpPr/>
          <p:nvPr/>
        </p:nvSpPr>
        <p:spPr>
          <a:xfrm>
            <a:off x="204788" y="2627277"/>
            <a:ext cx="66675" cy="63888"/>
          </a:xfrm>
          <a:prstGeom prst="ellipse">
            <a:avLst/>
          </a:prstGeom>
          <a:solidFill>
            <a:srgbClr val="0B2E4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333375" y="2595333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8334375" y="1299320"/>
            <a:ext cx="36671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350" b="1">
                <a:solidFill>
                  <a:srgbClr val="082238"/>
                </a:solidFill>
                <a:latin typeface="Calibri"/>
              </a:rPr>
              <a:t>Weaknesses</a:t>
            </a:r>
          </a:p>
        </p:txBody>
      </p:sp>
      <p:sp>
        <p:nvSpPr>
          <p:cNvPr id="38" name="Rectangle 37"/>
          <p:cNvSpPr/>
          <p:nvPr/>
        </p:nvSpPr>
        <p:spPr>
          <a:xfrm>
            <a:off x="8334375" y="1500111"/>
            <a:ext cx="1428750" cy="18254"/>
          </a:xfrm>
          <a:prstGeom prst="rect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Oval 38"/>
          <p:cNvSpPr/>
          <p:nvPr/>
        </p:nvSpPr>
        <p:spPr>
          <a:xfrm>
            <a:off x="8348662" y="1605070"/>
            <a:ext cx="66675" cy="63888"/>
          </a:xfrm>
          <a:prstGeom prst="ellipse">
            <a:avLst/>
          </a:prstGeom>
          <a:solidFill>
            <a:srgbClr val="082238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8477250" y="1573126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1" name="Oval 40"/>
          <p:cNvSpPr/>
          <p:nvPr/>
        </p:nvSpPr>
        <p:spPr>
          <a:xfrm>
            <a:off x="8348662" y="2116174"/>
            <a:ext cx="66675" cy="63888"/>
          </a:xfrm>
          <a:prstGeom prst="ellipse">
            <a:avLst/>
          </a:prstGeom>
          <a:solidFill>
            <a:srgbClr val="082238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8477250" y="2084229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Uneven SAM penetration strong in 'Europe', thin elsewhere.</a:t>
            </a:r>
          </a:p>
        </p:txBody>
      </p:sp>
      <p:sp>
        <p:nvSpPr>
          <p:cNvPr id="43" name="Oval 42"/>
          <p:cNvSpPr/>
          <p:nvPr/>
        </p:nvSpPr>
        <p:spPr>
          <a:xfrm>
            <a:off x="8348662" y="2627277"/>
            <a:ext cx="66675" cy="63888"/>
          </a:xfrm>
          <a:prstGeom prst="ellipse">
            <a:avLst/>
          </a:prstGeom>
          <a:solidFill>
            <a:srgbClr val="082238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8477250" y="2595333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Reliance on a few large accounts/regions raises concentration risk.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190500" y="4055629"/>
            <a:ext cx="36671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350" b="1">
                <a:solidFill>
                  <a:srgbClr val="A35313"/>
                </a:solidFill>
                <a:latin typeface="Calibri"/>
              </a:rPr>
              <a:t>Threats</a:t>
            </a:r>
          </a:p>
        </p:txBody>
      </p:sp>
      <p:sp>
        <p:nvSpPr>
          <p:cNvPr id="46" name="Rectangle 45"/>
          <p:cNvSpPr/>
          <p:nvPr/>
        </p:nvSpPr>
        <p:spPr>
          <a:xfrm>
            <a:off x="190500" y="4256419"/>
            <a:ext cx="1428750" cy="18254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Oval 46"/>
          <p:cNvSpPr/>
          <p:nvPr/>
        </p:nvSpPr>
        <p:spPr>
          <a:xfrm>
            <a:off x="204788" y="4361379"/>
            <a:ext cx="66675" cy="63888"/>
          </a:xfrm>
          <a:prstGeom prst="ellipse">
            <a:avLst/>
          </a:prstGeom>
          <a:solidFill>
            <a:srgbClr val="A35313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333375" y="4329434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9" name="Oval 48"/>
          <p:cNvSpPr/>
          <p:nvPr/>
        </p:nvSpPr>
        <p:spPr>
          <a:xfrm>
            <a:off x="204788" y="4872482"/>
            <a:ext cx="66675" cy="63888"/>
          </a:xfrm>
          <a:prstGeom prst="ellipse">
            <a:avLst/>
          </a:prstGeom>
          <a:solidFill>
            <a:srgbClr val="A35313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333375" y="4840538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Input-cost inflation and price pressure can squeeze margin.</a:t>
            </a:r>
          </a:p>
        </p:txBody>
      </p:sp>
      <p:sp>
        <p:nvSpPr>
          <p:cNvPr id="51" name="Oval 50"/>
          <p:cNvSpPr/>
          <p:nvPr/>
        </p:nvSpPr>
        <p:spPr>
          <a:xfrm>
            <a:off x="204788" y="5383586"/>
            <a:ext cx="66675" cy="63888"/>
          </a:xfrm>
          <a:prstGeom prst="ellipse">
            <a:avLst/>
          </a:prstGeom>
          <a:solidFill>
            <a:srgbClr val="A35313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333375" y="5351641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Tier-1 incumbents and regulation raise barriers and switching friction.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8334375" y="4055629"/>
            <a:ext cx="36671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350" b="1">
                <a:solidFill>
                  <a:srgbClr val="A86F00"/>
                </a:solidFill>
                <a:latin typeface="Calibri"/>
              </a:rPr>
              <a:t>Opportunities</a:t>
            </a:r>
          </a:p>
        </p:txBody>
      </p:sp>
      <p:sp>
        <p:nvSpPr>
          <p:cNvPr id="54" name="Rectangle 53"/>
          <p:cNvSpPr/>
          <p:nvPr/>
        </p:nvSpPr>
        <p:spPr>
          <a:xfrm>
            <a:off x="8334375" y="4256419"/>
            <a:ext cx="1428750" cy="18254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Oval 54"/>
          <p:cNvSpPr/>
          <p:nvPr/>
        </p:nvSpPr>
        <p:spPr>
          <a:xfrm>
            <a:off x="8348662" y="4361379"/>
            <a:ext cx="66675" cy="63888"/>
          </a:xfrm>
          <a:prstGeom prst="ellipse">
            <a:avLst/>
          </a:prstGeom>
          <a:solidFill>
            <a:srgbClr val="A86F00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8477250" y="4329434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Premiumisation headroom in 'Shampoos &amp; Cleansing Products' and adjacent high-value lines.</a:t>
            </a:r>
          </a:p>
        </p:txBody>
      </p:sp>
      <p:sp>
        <p:nvSpPr>
          <p:cNvPr id="57" name="Oval 56"/>
          <p:cNvSpPr/>
          <p:nvPr/>
        </p:nvSpPr>
        <p:spPr>
          <a:xfrm>
            <a:off x="8348662" y="4872482"/>
            <a:ext cx="66675" cy="63888"/>
          </a:xfrm>
          <a:prstGeom prst="ellipse">
            <a:avLst/>
          </a:prstGeom>
          <a:solidFill>
            <a:srgbClr val="A86F00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8477250" y="4840538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Under-penetrated regions offer share-capture runway.</a:t>
            </a:r>
          </a:p>
        </p:txBody>
      </p:sp>
      <p:sp>
        <p:nvSpPr>
          <p:cNvPr id="59" name="Oval 58"/>
          <p:cNvSpPr/>
          <p:nvPr/>
        </p:nvSpPr>
        <p:spPr>
          <a:xfrm>
            <a:off x="8348662" y="5383586"/>
            <a:ext cx="66675" cy="63888"/>
          </a:xfrm>
          <a:prstGeom prst="ellipse">
            <a:avLst/>
          </a:prstGeom>
          <a:solidFill>
            <a:srgbClr val="A86F00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8477250" y="5351641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Channel shift to online and clinics opens new demand pools.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2857500" y="6428609"/>
            <a:ext cx="91916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C0392B"/>
                </a:solidFill>
                <a:latin typeface="Calibri"/>
              </a:rPr>
              <a:t>Note: competitor figures are indicative derived from market modelling and expert validation, not company disclosures.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361950" y="1642784"/>
            <a:ext cx="14577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~</a:t>
            </a:r>
          </a:p>
        </p:txBody>
      </p:sp>
      <p:pic>
        <p:nvPicPr>
          <p:cNvPr id="64" name="Picture 6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5778" y="1633005"/>
            <a:ext cx="128699" cy="187198"/>
          </a:xfrm>
          <a:prstGeom prst="rect">
            <a:avLst/>
          </a:prstGeom>
        </p:spPr>
      </p:pic>
      <p:sp>
        <p:nvSpPr>
          <p:cNvPr id="65" name="TextBox 64"/>
          <p:cNvSpPr txBox="1"/>
          <p:nvPr/>
        </p:nvSpPr>
        <p:spPr>
          <a:xfrm>
            <a:off x="623274" y="1642784"/>
            <a:ext cx="102927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win rate with a +</a:t>
            </a:r>
          </a:p>
        </p:txBody>
      </p:sp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00596" y="1633005"/>
            <a:ext cx="128699" cy="187198"/>
          </a:xfrm>
          <a:prstGeom prst="rect">
            <a:avLst/>
          </a:prstGeom>
        </p:spPr>
      </p:pic>
      <p:sp>
        <p:nvSpPr>
          <p:cNvPr id="67" name="TextBox 66"/>
          <p:cNvSpPr txBox="1"/>
          <p:nvPr/>
        </p:nvSpPr>
        <p:spPr>
          <a:xfrm>
            <a:off x="1768092" y="1642784"/>
            <a:ext cx="149066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ASP premium clear value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361950" y="1810424"/>
            <a:ext cx="76023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recognition.</a:t>
            </a:r>
          </a:p>
        </p:txBody>
      </p:sp>
      <p:pic>
        <p:nvPicPr>
          <p:cNvPr id="69" name="Picture 6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48482" y="2655212"/>
            <a:ext cx="128699" cy="187198"/>
          </a:xfrm>
          <a:prstGeom prst="rect">
            <a:avLst/>
          </a:prstGeom>
        </p:spPr>
      </p:pic>
      <p:sp>
        <p:nvSpPr>
          <p:cNvPr id="70" name="TextBox 69"/>
          <p:cNvSpPr txBox="1"/>
          <p:nvPr/>
        </p:nvSpPr>
        <p:spPr>
          <a:xfrm>
            <a:off x="515978" y="2664991"/>
            <a:ext cx="108329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book-to-bill and ~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547325" y="2655212"/>
            <a:ext cx="128699" cy="187198"/>
          </a:xfrm>
          <a:prstGeom prst="rect">
            <a:avLst/>
          </a:prstGeom>
        </p:spPr>
      </p:pic>
      <p:sp>
        <p:nvSpPr>
          <p:cNvPr id="72" name="TextBox 71"/>
          <p:cNvSpPr txBox="1"/>
          <p:nvPr/>
        </p:nvSpPr>
        <p:spPr>
          <a:xfrm>
            <a:off x="1714820" y="2664991"/>
            <a:ext cx="130454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EBITDA signal healthy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361950" y="2832631"/>
            <a:ext cx="7831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momentum.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8505825" y="1726603"/>
            <a:ext cx="14577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~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599653" y="1716825"/>
            <a:ext cx="128699" cy="187198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8767149" y="1726603"/>
            <a:ext cx="291058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 leaves a scale gap versus the market leader.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361950" y="4482912"/>
            <a:ext cx="132449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Intense competition ~</a:t>
            </a:r>
          </a:p>
        </p:txBody>
      </p:sp>
      <p:pic>
        <p:nvPicPr>
          <p:cNvPr id="78" name="Picture 7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34497" y="4473133"/>
            <a:ext cx="128699" cy="187198"/>
          </a:xfrm>
          <a:prstGeom prst="rect">
            <a:avLst/>
          </a:prstGeom>
        </p:spPr>
      </p:pic>
      <p:sp>
        <p:nvSpPr>
          <p:cNvPr id="79" name="TextBox 78"/>
          <p:cNvSpPr txBox="1"/>
          <p:nvPr/>
        </p:nvSpPr>
        <p:spPr>
          <a:xfrm>
            <a:off x="1801993" y="4482912"/>
            <a:ext cx="173868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x pipeline needed to convert.</a:t>
            </a:r>
          </a:p>
        </p:txBody>
      </p:sp>
    </p:spTree>
  </p:cSld>
  <p:clrMapOvr>
    <a:masterClrMapping/>
  </p:clrMapOvr>
</p:sld>
</file>

<file path=ppt/slides/slide25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Beaphar Key Financials (4/5)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Beaphar's financial performance, key ratios and pricing, highlighting margin and momentum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73805"/>
          </a:xfrm>
          <a:prstGeom prst="roundRect">
            <a:avLst>
              <a:gd name="adj" fmla="val 2782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Key financials and pricing Beaphar (all figures indicative, USD Mn unless noted).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54081"/>
            <a:ext cx="5905500" cy="1916638"/>
          </a:xfrm>
          <a:prstGeom prst="roundRect">
            <a:avLst>
              <a:gd name="adj" fmla="val 397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411231"/>
            <a:ext cx="5715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Beaphar Financial Performance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611256"/>
          <a:ext cx="5886449" cy="144991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446649"/>
                <a:gridCol w="687960"/>
                <a:gridCol w="687960"/>
                <a:gridCol w="687960"/>
                <a:gridCol w="687960"/>
                <a:gridCol w="687960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USD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2020A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3009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Revenue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3009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Gross Profit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3009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Pre-Tax Profit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3009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Profit After Tax / Net Profit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070695"/>
            <a:ext cx="575310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398495"/>
            <a:ext cx="5905500" cy="3194397"/>
          </a:xfrm>
          <a:prstGeom prst="roundRect">
            <a:avLst>
              <a:gd name="adj" fmla="val 238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455645"/>
            <a:ext cx="5715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Beaphar Key Ratios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3655670"/>
          <a:ext cx="5886449" cy="272767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099174"/>
                <a:gridCol w="757455"/>
                <a:gridCol w="757455"/>
                <a:gridCol w="757455"/>
                <a:gridCol w="757455"/>
                <a:gridCol w="757455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Key Ratios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2020A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49630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Gross Margin (%)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49630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Pre-Tax Margin (%)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49630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Net Margin (%)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49630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Return on Equity (%)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49630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Return on Assets (%)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6392868"/>
            <a:ext cx="575310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6200775" y="1354081"/>
            <a:ext cx="5848350" cy="5238811"/>
          </a:xfrm>
          <a:prstGeom prst="roundRect">
            <a:avLst>
              <a:gd name="adj" fmla="val 14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296025" y="1411231"/>
            <a:ext cx="56578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Beaphar Pricing Analysis (US$/MT)</a:t>
            </a:r>
          </a:p>
        </p:txBody>
      </p:sp>
      <p:graphicFrame>
        <p:nvGraphicFramePr>
          <p:cNvPr id="21" name="Table 20"/>
          <p:cNvGraphicFramePr>
            <a:graphicFrameLocks noGrp="1"/>
          </p:cNvGraphicFramePr>
          <p:nvPr/>
        </p:nvGraphicFramePr>
        <p:xfrm>
          <a:off x="6210300" y="1611256"/>
          <a:ext cx="5829300" cy="477208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199092"/>
                <a:gridCol w="815104"/>
                <a:gridCol w="815104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2020A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11314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11314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11314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11314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22" name="TextBox 21"/>
          <p:cNvSpPr txBox="1"/>
          <p:nvPr/>
        </p:nvSpPr>
        <p:spPr>
          <a:xfrm>
            <a:off x="6276975" y="6392868"/>
            <a:ext cx="56959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" name="Picture 23" descr="2_053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504595" y="1875140"/>
            <a:ext cx="876864" cy="265429"/>
          </a:xfrm>
          <a:prstGeom prst="rect">
            <a:avLst/>
          </a:prstGeom>
        </p:spPr>
      </p:pic>
      <p:pic>
        <p:nvPicPr>
          <p:cNvPr id="25" name="Picture 24" descr="2_211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192555" y="1875140"/>
            <a:ext cx="876864" cy="265429"/>
          </a:xfrm>
          <a:prstGeom prst="rect">
            <a:avLst/>
          </a:prstGeom>
        </p:spPr>
      </p:pic>
      <p:pic>
        <p:nvPicPr>
          <p:cNvPr id="26" name="Picture 25" descr="2_368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880515" y="1875140"/>
            <a:ext cx="876864" cy="265429"/>
          </a:xfrm>
          <a:prstGeom prst="rect">
            <a:avLst/>
          </a:prstGeom>
        </p:spPr>
      </p:pic>
      <p:pic>
        <p:nvPicPr>
          <p:cNvPr id="27" name="Picture 26" descr="2_526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568475" y="1875140"/>
            <a:ext cx="876864" cy="265429"/>
          </a:xfrm>
          <a:prstGeom prst="rect">
            <a:avLst/>
          </a:prstGeom>
        </p:spPr>
      </p:pic>
      <p:pic>
        <p:nvPicPr>
          <p:cNvPr id="28" name="Picture 27" descr="2_684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5256435" y="1875140"/>
            <a:ext cx="876864" cy="265429"/>
          </a:xfrm>
          <a:prstGeom prst="rect">
            <a:avLst/>
          </a:prstGeom>
        </p:spPr>
      </p:pic>
      <p:pic>
        <p:nvPicPr>
          <p:cNvPr id="29" name="Picture 28" descr="697_9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2504595" y="2176087"/>
            <a:ext cx="876864" cy="265429"/>
          </a:xfrm>
          <a:prstGeom prst="rect">
            <a:avLst/>
          </a:prstGeom>
        </p:spPr>
      </p:pic>
      <p:pic>
        <p:nvPicPr>
          <p:cNvPr id="30" name="Picture 29" descr="751_6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3192555" y="2176087"/>
            <a:ext cx="876864" cy="265429"/>
          </a:xfrm>
          <a:prstGeom prst="rect">
            <a:avLst/>
          </a:prstGeom>
        </p:spPr>
      </p:pic>
      <p:pic>
        <p:nvPicPr>
          <p:cNvPr id="31" name="Picture 30" descr="805_3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3880515" y="2176087"/>
            <a:ext cx="876864" cy="265429"/>
          </a:xfrm>
          <a:prstGeom prst="rect">
            <a:avLst/>
          </a:prstGeom>
        </p:spPr>
      </p:pic>
      <p:pic>
        <p:nvPicPr>
          <p:cNvPr id="32" name="Picture 31" descr="859_0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4568475" y="2176087"/>
            <a:ext cx="876864" cy="265429"/>
          </a:xfrm>
          <a:prstGeom prst="rect">
            <a:avLst/>
          </a:prstGeom>
        </p:spPr>
      </p:pic>
      <p:pic>
        <p:nvPicPr>
          <p:cNvPr id="33" name="Picture 32" descr="912_6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5256435" y="2176087"/>
            <a:ext cx="876864" cy="265429"/>
          </a:xfrm>
          <a:prstGeom prst="rect">
            <a:avLst/>
          </a:prstGeom>
        </p:spPr>
      </p:pic>
      <p:pic>
        <p:nvPicPr>
          <p:cNvPr id="34" name="Picture 33" descr="328_4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2504595" y="2477034"/>
            <a:ext cx="876864" cy="265429"/>
          </a:xfrm>
          <a:prstGeom prst="rect">
            <a:avLst/>
          </a:prstGeom>
        </p:spPr>
      </p:pic>
      <p:pic>
        <p:nvPicPr>
          <p:cNvPr id="35" name="Picture 34" descr="353_7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3192555" y="2477034"/>
            <a:ext cx="876864" cy="265429"/>
          </a:xfrm>
          <a:prstGeom prst="rect">
            <a:avLst/>
          </a:prstGeom>
        </p:spPr>
      </p:pic>
      <p:pic>
        <p:nvPicPr>
          <p:cNvPr id="36" name="Picture 35" descr="379_0_605E5C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3880515" y="2477034"/>
            <a:ext cx="876864" cy="265429"/>
          </a:xfrm>
          <a:prstGeom prst="rect">
            <a:avLst/>
          </a:prstGeom>
        </p:spPr>
      </p:pic>
      <p:pic>
        <p:nvPicPr>
          <p:cNvPr id="37" name="Picture 36" descr="404_2_605E5C.png"/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4568475" y="2477034"/>
            <a:ext cx="876864" cy="265429"/>
          </a:xfrm>
          <a:prstGeom prst="rect">
            <a:avLst/>
          </a:prstGeom>
        </p:spPr>
      </p:pic>
      <p:pic>
        <p:nvPicPr>
          <p:cNvPr id="38" name="Picture 37" descr="429_5_605E5C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5256435" y="2477034"/>
            <a:ext cx="876864" cy="265429"/>
          </a:xfrm>
          <a:prstGeom prst="rect">
            <a:avLst/>
          </a:prstGeom>
        </p:spPr>
      </p:pic>
      <p:pic>
        <p:nvPicPr>
          <p:cNvPr id="39" name="Picture 38" descr="246_3_605E5C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2504595" y="2777981"/>
            <a:ext cx="876864" cy="265429"/>
          </a:xfrm>
          <a:prstGeom prst="rect">
            <a:avLst/>
          </a:prstGeom>
        </p:spPr>
      </p:pic>
      <p:pic>
        <p:nvPicPr>
          <p:cNvPr id="40" name="Picture 39" descr="265_3_605E5C.png"/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3192555" y="2777981"/>
            <a:ext cx="876864" cy="265429"/>
          </a:xfrm>
          <a:prstGeom prst="rect">
            <a:avLst/>
          </a:prstGeom>
        </p:spPr>
      </p:pic>
      <p:pic>
        <p:nvPicPr>
          <p:cNvPr id="41" name="Picture 40" descr="284_2_605E5C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3880515" y="2777981"/>
            <a:ext cx="876864" cy="265429"/>
          </a:xfrm>
          <a:prstGeom prst="rect">
            <a:avLst/>
          </a:prstGeom>
        </p:spPr>
      </p:pic>
      <p:pic>
        <p:nvPicPr>
          <p:cNvPr id="42" name="Picture 41" descr="303_2_605E5C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4568475" y="2777981"/>
            <a:ext cx="876864" cy="265429"/>
          </a:xfrm>
          <a:prstGeom prst="rect">
            <a:avLst/>
          </a:prstGeom>
        </p:spPr>
      </p:pic>
      <p:pic>
        <p:nvPicPr>
          <p:cNvPr id="43" name="Picture 42" descr="322_1_605E5C.png"/>
          <p:cNvPicPr>
            <a:picLocks noChangeAspect="1"/>
          </p:cNvPicPr>
          <p:nvPr/>
        </p:nvPicPr>
        <p:blipFill>
          <a:blip r:embed="rId23"/>
          <a:stretch>
            <a:fillRect/>
          </a:stretch>
        </p:blipFill>
        <p:spPr>
          <a:xfrm>
            <a:off x="5256435" y="2777981"/>
            <a:ext cx="876864" cy="265429"/>
          </a:xfrm>
          <a:prstGeom prst="rect">
            <a:avLst/>
          </a:prstGeom>
        </p:spPr>
      </p:pic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4150927" y="2219246"/>
            <a:ext cx="330041" cy="480060"/>
          </a:xfrm>
          <a:prstGeom prst="rect">
            <a:avLst/>
          </a:prstGeom>
        </p:spPr>
      </p:pic>
      <p:pic>
        <p:nvPicPr>
          <p:cNvPr id="45" name="Picture 44" descr="34_0__605E5C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2191868" y="4017235"/>
            <a:ext cx="876864" cy="265429"/>
          </a:xfrm>
          <a:prstGeom prst="rect">
            <a:avLst/>
          </a:prstGeom>
        </p:spPr>
      </p:pic>
      <p:pic>
        <p:nvPicPr>
          <p:cNvPr id="46" name="Picture 45" descr="34_0__605E5C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2949323" y="4017235"/>
            <a:ext cx="876864" cy="265429"/>
          </a:xfrm>
          <a:prstGeom prst="rect">
            <a:avLst/>
          </a:prstGeom>
        </p:spPr>
      </p:pic>
      <p:pic>
        <p:nvPicPr>
          <p:cNvPr id="47" name="Picture 46" descr="34_0__605E5C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3706778" y="4017235"/>
            <a:ext cx="876864" cy="265429"/>
          </a:xfrm>
          <a:prstGeom prst="rect">
            <a:avLst/>
          </a:prstGeom>
        </p:spPr>
      </p:pic>
      <p:pic>
        <p:nvPicPr>
          <p:cNvPr id="48" name="Picture 47" descr="34_0__605E5C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4464233" y="4017235"/>
            <a:ext cx="876864" cy="265429"/>
          </a:xfrm>
          <a:prstGeom prst="rect">
            <a:avLst/>
          </a:prstGeom>
        </p:spPr>
      </p:pic>
      <p:pic>
        <p:nvPicPr>
          <p:cNvPr id="49" name="Picture 48" descr="34_0__605E5C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5221688" y="4017235"/>
            <a:ext cx="876864" cy="265429"/>
          </a:xfrm>
          <a:prstGeom prst="rect">
            <a:avLst/>
          </a:prstGeom>
        </p:spPr>
      </p:pic>
      <p:pic>
        <p:nvPicPr>
          <p:cNvPr id="50" name="Picture 49" descr="16_0__605E5C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2191868" y="4513544"/>
            <a:ext cx="876864" cy="265429"/>
          </a:xfrm>
          <a:prstGeom prst="rect">
            <a:avLst/>
          </a:prstGeom>
        </p:spPr>
      </p:pic>
      <p:pic>
        <p:nvPicPr>
          <p:cNvPr id="51" name="Picture 50" descr="16_0__605E5C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2949323" y="4513544"/>
            <a:ext cx="876864" cy="265429"/>
          </a:xfrm>
          <a:prstGeom prst="rect">
            <a:avLst/>
          </a:prstGeom>
        </p:spPr>
      </p:pic>
      <p:pic>
        <p:nvPicPr>
          <p:cNvPr id="52" name="Picture 51" descr="16_0__605E5C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3706778" y="4513544"/>
            <a:ext cx="876864" cy="265429"/>
          </a:xfrm>
          <a:prstGeom prst="rect">
            <a:avLst/>
          </a:prstGeom>
        </p:spPr>
      </p:pic>
      <p:pic>
        <p:nvPicPr>
          <p:cNvPr id="53" name="Picture 52" descr="16_0__605E5C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4464233" y="4513544"/>
            <a:ext cx="876864" cy="265429"/>
          </a:xfrm>
          <a:prstGeom prst="rect">
            <a:avLst/>
          </a:prstGeom>
        </p:spPr>
      </p:pic>
      <p:pic>
        <p:nvPicPr>
          <p:cNvPr id="54" name="Picture 53" descr="16_0__605E5C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5221688" y="4513544"/>
            <a:ext cx="876864" cy="265429"/>
          </a:xfrm>
          <a:prstGeom prst="rect">
            <a:avLst/>
          </a:prstGeom>
        </p:spPr>
      </p:pic>
      <p:pic>
        <p:nvPicPr>
          <p:cNvPr id="55" name="Picture 54" descr="12_0__605E5C.png"/>
          <p:cNvPicPr>
            <a:picLocks noChangeAspect="1"/>
          </p:cNvPicPr>
          <p:nvPr/>
        </p:nvPicPr>
        <p:blipFill>
          <a:blip r:embed="rId27"/>
          <a:stretch>
            <a:fillRect/>
          </a:stretch>
        </p:blipFill>
        <p:spPr>
          <a:xfrm>
            <a:off x="2191868" y="5009853"/>
            <a:ext cx="876864" cy="265429"/>
          </a:xfrm>
          <a:prstGeom prst="rect">
            <a:avLst/>
          </a:prstGeom>
        </p:spPr>
      </p:pic>
      <p:pic>
        <p:nvPicPr>
          <p:cNvPr id="56" name="Picture 55" descr="12_0__605E5C.png"/>
          <p:cNvPicPr>
            <a:picLocks noChangeAspect="1"/>
          </p:cNvPicPr>
          <p:nvPr/>
        </p:nvPicPr>
        <p:blipFill>
          <a:blip r:embed="rId27"/>
          <a:stretch>
            <a:fillRect/>
          </a:stretch>
        </p:blipFill>
        <p:spPr>
          <a:xfrm>
            <a:off x="2949323" y="5009853"/>
            <a:ext cx="876864" cy="265429"/>
          </a:xfrm>
          <a:prstGeom prst="rect">
            <a:avLst/>
          </a:prstGeom>
        </p:spPr>
      </p:pic>
      <p:pic>
        <p:nvPicPr>
          <p:cNvPr id="57" name="Picture 56" descr="12_0__605E5C.png"/>
          <p:cNvPicPr>
            <a:picLocks noChangeAspect="1"/>
          </p:cNvPicPr>
          <p:nvPr/>
        </p:nvPicPr>
        <p:blipFill>
          <a:blip r:embed="rId27"/>
          <a:stretch>
            <a:fillRect/>
          </a:stretch>
        </p:blipFill>
        <p:spPr>
          <a:xfrm>
            <a:off x="3706778" y="5009853"/>
            <a:ext cx="876864" cy="265429"/>
          </a:xfrm>
          <a:prstGeom prst="rect">
            <a:avLst/>
          </a:prstGeom>
        </p:spPr>
      </p:pic>
      <p:pic>
        <p:nvPicPr>
          <p:cNvPr id="58" name="Picture 57" descr="12_0__605E5C.png"/>
          <p:cNvPicPr>
            <a:picLocks noChangeAspect="1"/>
          </p:cNvPicPr>
          <p:nvPr/>
        </p:nvPicPr>
        <p:blipFill>
          <a:blip r:embed="rId27"/>
          <a:stretch>
            <a:fillRect/>
          </a:stretch>
        </p:blipFill>
        <p:spPr>
          <a:xfrm>
            <a:off x="4464233" y="5009853"/>
            <a:ext cx="876864" cy="265429"/>
          </a:xfrm>
          <a:prstGeom prst="rect">
            <a:avLst/>
          </a:prstGeom>
        </p:spPr>
      </p:pic>
      <p:pic>
        <p:nvPicPr>
          <p:cNvPr id="59" name="Picture 58" descr="12_0__605E5C.png"/>
          <p:cNvPicPr>
            <a:picLocks noChangeAspect="1"/>
          </p:cNvPicPr>
          <p:nvPr/>
        </p:nvPicPr>
        <p:blipFill>
          <a:blip r:embed="rId27"/>
          <a:stretch>
            <a:fillRect/>
          </a:stretch>
        </p:blipFill>
        <p:spPr>
          <a:xfrm>
            <a:off x="5221688" y="5009853"/>
            <a:ext cx="876864" cy="265429"/>
          </a:xfrm>
          <a:prstGeom prst="rect">
            <a:avLst/>
          </a:prstGeom>
        </p:spPr>
      </p:pic>
      <p:pic>
        <p:nvPicPr>
          <p:cNvPr id="60" name="Picture 59" descr="12_0__605E5C.png"/>
          <p:cNvPicPr>
            <a:picLocks noChangeAspect="1"/>
          </p:cNvPicPr>
          <p:nvPr/>
        </p:nvPicPr>
        <p:blipFill>
          <a:blip r:embed="rId27"/>
          <a:stretch>
            <a:fillRect/>
          </a:stretch>
        </p:blipFill>
        <p:spPr>
          <a:xfrm>
            <a:off x="2191868" y="5506162"/>
            <a:ext cx="876864" cy="265429"/>
          </a:xfrm>
          <a:prstGeom prst="rect">
            <a:avLst/>
          </a:prstGeom>
        </p:spPr>
      </p:pic>
      <p:pic>
        <p:nvPicPr>
          <p:cNvPr id="61" name="Picture 60" descr="13_0__605E5C.png"/>
          <p:cNvPicPr>
            <a:picLocks noChangeAspect="1"/>
          </p:cNvPicPr>
          <p:nvPr/>
        </p:nvPicPr>
        <p:blipFill>
          <a:blip r:embed="rId28"/>
          <a:stretch>
            <a:fillRect/>
          </a:stretch>
        </p:blipFill>
        <p:spPr>
          <a:xfrm>
            <a:off x="2949323" y="5506162"/>
            <a:ext cx="876864" cy="265429"/>
          </a:xfrm>
          <a:prstGeom prst="rect">
            <a:avLst/>
          </a:prstGeom>
        </p:spPr>
      </p:pic>
      <p:pic>
        <p:nvPicPr>
          <p:cNvPr id="62" name="Picture 61" descr="14_0__605E5C.png"/>
          <p:cNvPicPr>
            <a:picLocks noChangeAspect="1"/>
          </p:cNvPicPr>
          <p:nvPr/>
        </p:nvPicPr>
        <p:blipFill>
          <a:blip r:embed="rId29"/>
          <a:stretch>
            <a:fillRect/>
          </a:stretch>
        </p:blipFill>
        <p:spPr>
          <a:xfrm>
            <a:off x="3706778" y="5506162"/>
            <a:ext cx="876864" cy="265429"/>
          </a:xfrm>
          <a:prstGeom prst="rect">
            <a:avLst/>
          </a:prstGeom>
        </p:spPr>
      </p:pic>
      <p:pic>
        <p:nvPicPr>
          <p:cNvPr id="63" name="Picture 62" descr="15_0__605E5C.png"/>
          <p:cNvPicPr>
            <a:picLocks noChangeAspect="1"/>
          </p:cNvPicPr>
          <p:nvPr/>
        </p:nvPicPr>
        <p:blipFill>
          <a:blip r:embed="rId30"/>
          <a:stretch>
            <a:fillRect/>
          </a:stretch>
        </p:blipFill>
        <p:spPr>
          <a:xfrm>
            <a:off x="4464233" y="5506162"/>
            <a:ext cx="876864" cy="265429"/>
          </a:xfrm>
          <a:prstGeom prst="rect">
            <a:avLst/>
          </a:prstGeom>
        </p:spPr>
      </p:pic>
      <p:pic>
        <p:nvPicPr>
          <p:cNvPr id="64" name="Picture 63" descr="16_0__605E5C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5221688" y="5506162"/>
            <a:ext cx="876864" cy="265429"/>
          </a:xfrm>
          <a:prstGeom prst="rect">
            <a:avLst/>
          </a:prstGeom>
        </p:spPr>
      </p:pic>
      <p:pic>
        <p:nvPicPr>
          <p:cNvPr id="65" name="Picture 64" descr="7_0__605E5C.png"/>
          <p:cNvPicPr>
            <a:picLocks noChangeAspect="1"/>
          </p:cNvPicPr>
          <p:nvPr/>
        </p:nvPicPr>
        <p:blipFill>
          <a:blip r:embed="rId31"/>
          <a:stretch>
            <a:fillRect/>
          </a:stretch>
        </p:blipFill>
        <p:spPr>
          <a:xfrm>
            <a:off x="2270075" y="6002471"/>
            <a:ext cx="720450" cy="265429"/>
          </a:xfrm>
          <a:prstGeom prst="rect">
            <a:avLst/>
          </a:prstGeom>
        </p:spPr>
      </p:pic>
      <p:pic>
        <p:nvPicPr>
          <p:cNvPr id="66" name="Picture 65" descr="7_4__605E5C.png"/>
          <p:cNvPicPr>
            <a:picLocks noChangeAspect="1"/>
          </p:cNvPicPr>
          <p:nvPr/>
        </p:nvPicPr>
        <p:blipFill>
          <a:blip r:embed="rId32"/>
          <a:stretch>
            <a:fillRect/>
          </a:stretch>
        </p:blipFill>
        <p:spPr>
          <a:xfrm>
            <a:off x="3027530" y="6002471"/>
            <a:ext cx="720450" cy="265429"/>
          </a:xfrm>
          <a:prstGeom prst="rect">
            <a:avLst/>
          </a:prstGeom>
        </p:spPr>
      </p:pic>
      <p:pic>
        <p:nvPicPr>
          <p:cNvPr id="67" name="Picture 66" descr="7_8__605E5C.png"/>
          <p:cNvPicPr>
            <a:picLocks noChangeAspect="1"/>
          </p:cNvPicPr>
          <p:nvPr/>
        </p:nvPicPr>
        <p:blipFill>
          <a:blip r:embed="rId33"/>
          <a:stretch>
            <a:fillRect/>
          </a:stretch>
        </p:blipFill>
        <p:spPr>
          <a:xfrm>
            <a:off x="3784985" y="6002471"/>
            <a:ext cx="720450" cy="265429"/>
          </a:xfrm>
          <a:prstGeom prst="rect">
            <a:avLst/>
          </a:prstGeom>
        </p:spPr>
      </p:pic>
      <p:pic>
        <p:nvPicPr>
          <p:cNvPr id="68" name="Picture 67" descr="8_2__605E5C.png"/>
          <p:cNvPicPr>
            <a:picLocks noChangeAspect="1"/>
          </p:cNvPicPr>
          <p:nvPr/>
        </p:nvPicPr>
        <p:blipFill>
          <a:blip r:embed="rId34"/>
          <a:stretch>
            <a:fillRect/>
          </a:stretch>
        </p:blipFill>
        <p:spPr>
          <a:xfrm>
            <a:off x="4542440" y="6002471"/>
            <a:ext cx="720450" cy="265429"/>
          </a:xfrm>
          <a:prstGeom prst="rect">
            <a:avLst/>
          </a:prstGeom>
        </p:spPr>
      </p:pic>
      <p:pic>
        <p:nvPicPr>
          <p:cNvPr id="69" name="Picture 68" descr="8_6__605E5C.png"/>
          <p:cNvPicPr>
            <a:picLocks noChangeAspect="1"/>
          </p:cNvPicPr>
          <p:nvPr/>
        </p:nvPicPr>
        <p:blipFill>
          <a:blip r:embed="rId35"/>
          <a:stretch>
            <a:fillRect/>
          </a:stretch>
        </p:blipFill>
        <p:spPr>
          <a:xfrm>
            <a:off x="5299895" y="6002471"/>
            <a:ext cx="720450" cy="265429"/>
          </a:xfrm>
          <a:prstGeom prst="rect">
            <a:avLst/>
          </a:prstGeom>
        </p:spPr>
      </p:pic>
      <p:pic>
        <p:nvPicPr>
          <p:cNvPr id="70" name="Picture 69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3958521" y="4875868"/>
            <a:ext cx="366712" cy="533400"/>
          </a:xfrm>
          <a:prstGeom prst="rect">
            <a:avLst/>
          </a:prstGeom>
        </p:spPr>
      </p:pic>
      <p:pic>
        <p:nvPicPr>
          <p:cNvPr id="71" name="Picture 70" descr="4_00_605E5C.png"/>
          <p:cNvPicPr>
            <a:picLocks noChangeAspect="1"/>
          </p:cNvPicPr>
          <p:nvPr/>
        </p:nvPicPr>
        <p:blipFill>
          <a:blip r:embed="rId36"/>
          <a:stretch>
            <a:fillRect/>
          </a:stretch>
        </p:blipFill>
        <p:spPr>
          <a:xfrm>
            <a:off x="10456717" y="2290412"/>
            <a:ext cx="720450" cy="265429"/>
          </a:xfrm>
          <a:prstGeom prst="rect">
            <a:avLst/>
          </a:prstGeom>
        </p:spPr>
      </p:pic>
      <p:pic>
        <p:nvPicPr>
          <p:cNvPr id="72" name="Picture 71" descr="5_20_605E5C.png"/>
          <p:cNvPicPr>
            <a:picLocks noChangeAspect="1"/>
          </p:cNvPicPr>
          <p:nvPr/>
        </p:nvPicPr>
        <p:blipFill>
          <a:blip r:embed="rId37"/>
          <a:stretch>
            <a:fillRect/>
          </a:stretch>
        </p:blipFill>
        <p:spPr>
          <a:xfrm>
            <a:off x="11271821" y="2290412"/>
            <a:ext cx="720450" cy="265429"/>
          </a:xfrm>
          <a:prstGeom prst="rect">
            <a:avLst/>
          </a:prstGeom>
        </p:spPr>
      </p:pic>
      <p:pic>
        <p:nvPicPr>
          <p:cNvPr id="73" name="Picture 72" descr="4_60_605E5C.png"/>
          <p:cNvPicPr>
            <a:picLocks noChangeAspect="1"/>
          </p:cNvPicPr>
          <p:nvPr/>
        </p:nvPicPr>
        <p:blipFill>
          <a:blip r:embed="rId38"/>
          <a:stretch>
            <a:fillRect/>
          </a:stretch>
        </p:blipFill>
        <p:spPr>
          <a:xfrm>
            <a:off x="10456717" y="3421901"/>
            <a:ext cx="720450" cy="265429"/>
          </a:xfrm>
          <a:prstGeom prst="rect">
            <a:avLst/>
          </a:prstGeom>
        </p:spPr>
      </p:pic>
      <p:pic>
        <p:nvPicPr>
          <p:cNvPr id="74" name="Picture 73" descr="5_90_605E5C.png"/>
          <p:cNvPicPr>
            <a:picLocks noChangeAspect="1"/>
          </p:cNvPicPr>
          <p:nvPr/>
        </p:nvPicPr>
        <p:blipFill>
          <a:blip r:embed="rId39"/>
          <a:stretch>
            <a:fillRect/>
          </a:stretch>
        </p:blipFill>
        <p:spPr>
          <a:xfrm>
            <a:off x="11271821" y="3421901"/>
            <a:ext cx="720450" cy="265429"/>
          </a:xfrm>
          <a:prstGeom prst="rect">
            <a:avLst/>
          </a:prstGeom>
        </p:spPr>
      </p:pic>
      <p:pic>
        <p:nvPicPr>
          <p:cNvPr id="75" name="Picture 74" descr="5_20_605E5C.png"/>
          <p:cNvPicPr>
            <a:picLocks noChangeAspect="1"/>
          </p:cNvPicPr>
          <p:nvPr/>
        </p:nvPicPr>
        <p:blipFill>
          <a:blip r:embed="rId37"/>
          <a:stretch>
            <a:fillRect/>
          </a:stretch>
        </p:blipFill>
        <p:spPr>
          <a:xfrm>
            <a:off x="10456717" y="4553392"/>
            <a:ext cx="720450" cy="265429"/>
          </a:xfrm>
          <a:prstGeom prst="rect">
            <a:avLst/>
          </a:prstGeom>
        </p:spPr>
      </p:pic>
      <p:pic>
        <p:nvPicPr>
          <p:cNvPr id="76" name="Picture 75" descr="6_60_605E5C.png"/>
          <p:cNvPicPr>
            <a:picLocks noChangeAspect="1"/>
          </p:cNvPicPr>
          <p:nvPr/>
        </p:nvPicPr>
        <p:blipFill>
          <a:blip r:embed="rId40"/>
          <a:stretch>
            <a:fillRect/>
          </a:stretch>
        </p:blipFill>
        <p:spPr>
          <a:xfrm>
            <a:off x="11271821" y="4553392"/>
            <a:ext cx="720450" cy="265429"/>
          </a:xfrm>
          <a:prstGeom prst="rect">
            <a:avLst/>
          </a:prstGeom>
        </p:spPr>
      </p:pic>
      <p:pic>
        <p:nvPicPr>
          <p:cNvPr id="77" name="Picture 76" descr="5_80_605E5C.png"/>
          <p:cNvPicPr>
            <a:picLocks noChangeAspect="1"/>
          </p:cNvPicPr>
          <p:nvPr/>
        </p:nvPicPr>
        <p:blipFill>
          <a:blip r:embed="rId41"/>
          <a:stretch>
            <a:fillRect/>
          </a:stretch>
        </p:blipFill>
        <p:spPr>
          <a:xfrm>
            <a:off x="10456717" y="5684882"/>
            <a:ext cx="720450" cy="265429"/>
          </a:xfrm>
          <a:prstGeom prst="rect">
            <a:avLst/>
          </a:prstGeom>
        </p:spPr>
      </p:pic>
      <p:pic>
        <p:nvPicPr>
          <p:cNvPr id="78" name="Picture 77" descr="7_30_605E5C.png"/>
          <p:cNvPicPr>
            <a:picLocks noChangeAspect="1"/>
          </p:cNvPicPr>
          <p:nvPr/>
        </p:nvPicPr>
        <p:blipFill>
          <a:blip r:embed="rId42"/>
          <a:stretch>
            <a:fillRect/>
          </a:stretch>
        </p:blipFill>
        <p:spPr>
          <a:xfrm>
            <a:off x="11271821" y="5684882"/>
            <a:ext cx="720450" cy="265429"/>
          </a:xfrm>
          <a:prstGeom prst="rect">
            <a:avLst/>
          </a:prstGeom>
        </p:spPr>
      </p:pic>
      <p:pic>
        <p:nvPicPr>
          <p:cNvPr id="79" name="Picture 78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11037806" y="3853662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25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Beaphar Strategy Analysis (5/5)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Beaphar's strategic priorities and the competitive moves that support them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73805"/>
          </a:xfrm>
          <a:prstGeom prst="roundRect">
            <a:avLst>
              <a:gd name="adj" fmla="val 2782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Strategy analysis Beaphar: strategic priorities and the competitive moves that support them (indicative).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54081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MARKET SHARE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of market value</a:t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2543175" y="1354081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WIN RATE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deals won</a:t>
            </a:r>
          </a:p>
        </p:txBody>
      </p:sp>
      <p:sp>
        <p:nvSpPr>
          <p:cNvPr id="13" name="Rounded Rectangle 12"/>
          <p:cNvSpPr/>
          <p:nvPr/>
        </p:nvSpPr>
        <p:spPr>
          <a:xfrm>
            <a:off x="4953000" y="1354081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ASP PREMIUM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vs peers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7353300" y="1354081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BOOK-TO-BILL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order momentum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9763125" y="1354081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EBITDA MARGIN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profitability</a:t>
            </a:r>
          </a:p>
        </p:txBody>
      </p:sp>
      <p:sp>
        <p:nvSpPr>
          <p:cNvPr id="16" name="Rounded Rectangle 15"/>
          <p:cNvSpPr/>
          <p:nvPr/>
        </p:nvSpPr>
        <p:spPr>
          <a:xfrm>
            <a:off x="142875" y="2084229"/>
            <a:ext cx="5905500" cy="4490410"/>
          </a:xfrm>
          <a:prstGeom prst="roundRect">
            <a:avLst>
              <a:gd name="adj" fmla="val 169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76225" y="2169954"/>
            <a:ext cx="56388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Strategic Priorities</a:t>
            </a:r>
          </a:p>
        </p:txBody>
      </p:sp>
      <p:sp>
        <p:nvSpPr>
          <p:cNvPr id="18" name="Rectangle 17"/>
          <p:cNvSpPr/>
          <p:nvPr/>
        </p:nvSpPr>
        <p:spPr>
          <a:xfrm>
            <a:off x="276225" y="2408079"/>
            <a:ext cx="56388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76225" y="2493804"/>
            <a:ext cx="5638800" cy="400463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6200775" y="2084229"/>
            <a:ext cx="5848350" cy="4490410"/>
          </a:xfrm>
          <a:prstGeom prst="roundRect">
            <a:avLst>
              <a:gd name="adj" fmla="val 169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6334125" y="2169954"/>
            <a:ext cx="55816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Competitive Moves</a:t>
            </a:r>
          </a:p>
        </p:txBody>
      </p:sp>
      <p:sp>
        <p:nvSpPr>
          <p:cNvPr id="22" name="Rectangle 21"/>
          <p:cNvSpPr/>
          <p:nvPr/>
        </p:nvSpPr>
        <p:spPr>
          <a:xfrm>
            <a:off x="6334125" y="2408079"/>
            <a:ext cx="55816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6334125" y="2493804"/>
            <a:ext cx="5581650" cy="400463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202531" y="1540967"/>
            <a:ext cx="157162" cy="228600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602831" y="1540967"/>
            <a:ext cx="157162" cy="228600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12656" y="1540967"/>
            <a:ext cx="157162" cy="228600"/>
          </a:xfrm>
          <a:prstGeom prst="rect">
            <a:avLst/>
          </a:prstGeom>
        </p:spPr>
      </p:pic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412956" y="1540967"/>
            <a:ext cx="157162" cy="228600"/>
          </a:xfrm>
          <a:prstGeom prst="rect">
            <a:avLst/>
          </a:prstGeom>
        </p:spPr>
      </p:pic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822781" y="1540967"/>
            <a:ext cx="157162" cy="228600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276225" y="2503329"/>
            <a:ext cx="532544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Defend and extend leadership in 'General Retail' Beaphar's strongest end-market while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276225" y="2678589"/>
            <a:ext cx="209066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scaling the next-best applications.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76225" y="2906426"/>
            <a:ext cx="9099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Convert its ~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35376" y="2896203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1310485" y="2906426"/>
            <a:ext cx="92910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win rate and +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88748" y="2896203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2363857" y="2906426"/>
            <a:ext cx="31090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ASP premium into share gains through value-based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276225" y="3081686"/>
            <a:ext cx="4892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selling.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276225" y="3309524"/>
            <a:ext cx="267400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Raise SAM penetration beyond 'Europe' (~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99386" y="3299301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3074495" y="3309524"/>
            <a:ext cx="201906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 into lower-penetration regions.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276225" y="3537362"/>
            <a:ext cx="69405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Sustain a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19438" y="3527139"/>
            <a:ext cx="134549" cy="195707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1094548" y="3537362"/>
            <a:ext cx="375055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book-to-bill with disciplined capacity and channel investment.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276225" y="3765200"/>
            <a:ext cx="532116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Protect margin through corridor-based pricing and cost discipline as input prices move.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6334125" y="2503329"/>
            <a:ext cx="55626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Premiumise the portfolio around 'Shampoos &amp; Cleansing Products' and adjacent high-value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6334125" y="2678589"/>
            <a:ext cx="169473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lines to lift blended pricing.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6334125" y="2906426"/>
            <a:ext cx="55626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Deepen presence in 'Europe' (largest SOM region) and build out under-served geographies.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6334125" y="3134264"/>
            <a:ext cx="547114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Invest in R&amp;D, certification and selective M&amp;A to move up the price ladder and widen the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6334125" y="3309524"/>
            <a:ext cx="42563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moat.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6334125" y="3537362"/>
            <a:ext cx="526753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Diversify the customer base and secure supply to de-risk concentration and input-cost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6334125" y="3712622"/>
            <a:ext cx="5092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shocks.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6334125" y="3940460"/>
            <a:ext cx="310217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Sharpen go-to-market a ~95-day sales cycle and ~</a:t>
            </a:r>
          </a:p>
        </p:txBody>
      </p:sp>
      <p:pic>
        <p:nvPicPr>
          <p:cNvPr id="53" name="Picture 5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385452" y="3930237"/>
            <a:ext cx="134549" cy="195707"/>
          </a:xfrm>
          <a:prstGeom prst="rect">
            <a:avLst/>
          </a:prstGeom>
        </p:spPr>
      </p:pic>
      <p:sp>
        <p:nvSpPr>
          <p:cNvPr id="54" name="TextBox 53"/>
          <p:cNvSpPr txBox="1"/>
          <p:nvPr/>
        </p:nvSpPr>
        <p:spPr>
          <a:xfrm>
            <a:off x="9560561" y="3940460"/>
            <a:ext cx="200366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conversion speed share capture.</a:t>
            </a:r>
          </a:p>
        </p:txBody>
      </p:sp>
    </p:spTree>
  </p:cSld>
  <p:clrMapOvr>
    <a:masterClrMapping/>
  </p:clrMapOvr>
</p:sld>
</file>

<file path=ppt/slides/slide25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Laboratoire Biogance Executive Market Snapshot (1/5)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Overview of total market, addressable opportunity and share of market by end-market, region and product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73805"/>
          </a:xfrm>
          <a:prstGeom prst="roundRect">
            <a:avLst>
              <a:gd name="adj" fmla="val 2782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Executive snapshot and strategic positioning Laboratoire Biogance: market, addressable opportunity and SOM splits by end-market, region and product.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35828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TAM (US$ MN)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Total market</a:t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2543175" y="1335828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SAM (US$ MN)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Addressable</a:t>
            </a:r>
          </a:p>
        </p:txBody>
      </p:sp>
      <p:sp>
        <p:nvSpPr>
          <p:cNvPr id="13" name="Rounded Rectangle 12"/>
          <p:cNvSpPr/>
          <p:nvPr/>
        </p:nvSpPr>
        <p:spPr>
          <a:xfrm>
            <a:off x="4953000" y="1335828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/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7353300" y="1335828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BOOK-TO-BILL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Order momentum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9763125" y="1335828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EBITDA MARGIN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Profitability</a:t>
            </a:r>
          </a:p>
        </p:txBody>
      </p:sp>
      <p:sp>
        <p:nvSpPr>
          <p:cNvPr id="16" name="Rounded Rectangle 15"/>
          <p:cNvSpPr/>
          <p:nvPr/>
        </p:nvSpPr>
        <p:spPr>
          <a:xfrm>
            <a:off x="142875" y="2065976"/>
            <a:ext cx="3829050" cy="2610279"/>
          </a:xfrm>
          <a:prstGeom prst="roundRect">
            <a:avLst>
              <a:gd name="adj" fmla="val 291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38125" y="2123126"/>
            <a:ext cx="3638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SOM by End-Market (US$ Mn)</a:t>
            </a:r>
          </a:p>
        </p:txBody>
      </p:sp>
      <p:graphicFrame>
        <p:nvGraphicFramePr>
          <p:cNvPr id="18" name="Chart 17"/>
          <p:cNvGraphicFramePr>
            <a:graphicFrameLocks noGrp="1"/>
          </p:cNvGraphicFramePr>
          <p:nvPr/>
        </p:nvGraphicFramePr>
        <p:xfrm>
          <a:off x="238125" y="2351726"/>
          <a:ext cx="3638550" cy="2267379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9" name="Rounded Rectangle 18"/>
          <p:cNvSpPr/>
          <p:nvPr/>
        </p:nvSpPr>
        <p:spPr>
          <a:xfrm>
            <a:off x="4124325" y="2065976"/>
            <a:ext cx="3829050" cy="2610279"/>
          </a:xfrm>
          <a:prstGeom prst="roundRect">
            <a:avLst>
              <a:gd name="adj" fmla="val 291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4219575" y="2123126"/>
            <a:ext cx="3638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SOM by Region (US$ Mn)</a:t>
            </a:r>
          </a:p>
        </p:txBody>
      </p:sp>
      <p:graphicFrame>
        <p:nvGraphicFramePr>
          <p:cNvPr id="21" name="Chart 20"/>
          <p:cNvGraphicFramePr>
            <a:graphicFrameLocks noGrp="1"/>
          </p:cNvGraphicFramePr>
          <p:nvPr/>
        </p:nvGraphicFramePr>
        <p:xfrm>
          <a:off x="4219575" y="2351726"/>
          <a:ext cx="3638550" cy="2267379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2" name="Rounded Rectangle 21"/>
          <p:cNvSpPr/>
          <p:nvPr/>
        </p:nvSpPr>
        <p:spPr>
          <a:xfrm>
            <a:off x="8105775" y="2065976"/>
            <a:ext cx="3943350" cy="2610279"/>
          </a:xfrm>
          <a:prstGeom prst="roundRect">
            <a:avLst>
              <a:gd name="adj" fmla="val 291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8201025" y="2123126"/>
            <a:ext cx="37528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SOM by Product Line (US$ Mn)</a:t>
            </a:r>
          </a:p>
        </p:txBody>
      </p:sp>
      <p:graphicFrame>
        <p:nvGraphicFramePr>
          <p:cNvPr id="24" name="Chart 23"/>
          <p:cNvGraphicFramePr>
            <a:graphicFrameLocks noGrp="1"/>
          </p:cNvGraphicFramePr>
          <p:nvPr/>
        </p:nvGraphicFramePr>
        <p:xfrm>
          <a:off x="8201025" y="2351726"/>
          <a:ext cx="3752850" cy="2267379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5" name="Rounded Rectangle 24"/>
          <p:cNvSpPr/>
          <p:nvPr/>
        </p:nvSpPr>
        <p:spPr>
          <a:xfrm>
            <a:off x="142875" y="4785777"/>
            <a:ext cx="11906250" cy="1807116"/>
          </a:xfrm>
          <a:prstGeom prst="roundRect">
            <a:avLst>
              <a:gd name="adj" fmla="val 421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276225" y="4871502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Takeaways</a:t>
            </a:r>
          </a:p>
        </p:txBody>
      </p:sp>
      <p:sp>
        <p:nvSpPr>
          <p:cNvPr id="27" name="Rectangle 26"/>
          <p:cNvSpPr/>
          <p:nvPr/>
        </p:nvSpPr>
        <p:spPr>
          <a:xfrm>
            <a:off x="276225" y="5109627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276225" y="5195352"/>
            <a:ext cx="11639550" cy="1321341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202531" y="1522714"/>
            <a:ext cx="157162" cy="228600"/>
          </a:xfrm>
          <a:prstGeom prst="rect">
            <a:avLst/>
          </a:prstGeom>
        </p:spPr>
      </p:pic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602831" y="1522714"/>
            <a:ext cx="157162" cy="228600"/>
          </a:xfrm>
          <a:prstGeom prst="rect">
            <a:avLst/>
          </a:prstGeom>
        </p:spPr>
      </p:pic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412956" y="1522714"/>
            <a:ext cx="157162" cy="228600"/>
          </a:xfrm>
          <a:prstGeom prst="rect">
            <a:avLst/>
          </a:prstGeom>
        </p:spPr>
      </p:pic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0822781" y="1522714"/>
            <a:ext cx="157162" cy="228600"/>
          </a:xfrm>
          <a:prstGeom prst="rect">
            <a:avLst/>
          </a:prstGeom>
        </p:spPr>
      </p:pic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2104623" y="3299104"/>
            <a:ext cx="197242" cy="286897"/>
          </a:xfrm>
          <a:prstGeom prst="rect">
            <a:avLst/>
          </a:prstGeom>
        </p:spPr>
      </p:pic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278088" y="3145920"/>
            <a:ext cx="444576" cy="646656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5758516" y="1377568"/>
            <a:ext cx="741641" cy="146456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835" b="1">
                <a:solidFill>
                  <a:srgbClr val="6C7A89"/>
                </a:solidFill>
                <a:latin typeface="Calibri"/>
              </a:rPr>
              <a:t>SOM (US$ MN)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017010" y="1533061"/>
            <a:ext cx="133378" cy="194005"/>
          </a:xfrm>
          <a:prstGeom prst="rect">
            <a:avLst/>
          </a:prstGeom>
        </p:spPr>
      </p:pic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865805" y="1761621"/>
            <a:ext cx="97811" cy="142270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5993102" y="1769053"/>
            <a:ext cx="389531" cy="146456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835" b="0">
                <a:solidFill>
                  <a:srgbClr val="6C7A89"/>
                </a:solidFill>
                <a:latin typeface="Calibri"/>
              </a:rPr>
              <a:t>of SAM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276225" y="5204877"/>
            <a:ext cx="309703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Market Position: Laboratoire Biogance captures ~</a:t>
            </a:r>
          </a:p>
        </p:txBody>
      </p:sp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322417" y="5194653"/>
            <a:ext cx="134549" cy="195707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3497527" y="5204877"/>
            <a:ext cx="40592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a US$ Mn SAM, with its strongest end-market in 'General Retail'.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276225" y="5432715"/>
            <a:ext cx="62918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Geographic Balance: 'Europe' is the largest SOM region; 'Europe' shows the highest SAM penetration (~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517261" y="5422491"/>
            <a:ext cx="134549" cy="195707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6692370" y="5432715"/>
            <a:ext cx="1572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276225" y="5660552"/>
            <a:ext cx="139179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Growth Trajectory: a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617169" y="5650329"/>
            <a:ext cx="134549" cy="195707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1792279" y="5660552"/>
            <a:ext cx="112907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book-to-bill and ~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2870505" y="5650329"/>
            <a:ext cx="134549" cy="195707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3045614" y="5660552"/>
            <a:ext cx="450359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EBITDA margin point to a path to capture more of the addressable market.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276225" y="5888390"/>
            <a:ext cx="135353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Competitive Edge: ~</a:t>
            </a:r>
          </a:p>
        </p:txBody>
      </p:sp>
      <p:pic>
        <p:nvPicPr>
          <p:cNvPr id="52" name="Picture 51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578914" y="5878167"/>
            <a:ext cx="134549" cy="195707"/>
          </a:xfrm>
          <a:prstGeom prst="rect">
            <a:avLst/>
          </a:prstGeom>
        </p:spPr>
      </p:pic>
      <p:sp>
        <p:nvSpPr>
          <p:cNvPr id="53" name="TextBox 52"/>
          <p:cNvSpPr txBox="1"/>
          <p:nvPr/>
        </p:nvSpPr>
        <p:spPr>
          <a:xfrm>
            <a:off x="1754024" y="5888390"/>
            <a:ext cx="107259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win rate with a +</a:t>
            </a:r>
          </a:p>
        </p:txBody>
      </p:sp>
      <p:pic>
        <p:nvPicPr>
          <p:cNvPr id="54" name="Picture 53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2775769" y="5878167"/>
            <a:ext cx="134549" cy="195707"/>
          </a:xfrm>
          <a:prstGeom prst="rect">
            <a:avLst/>
          </a:prstGeom>
        </p:spPr>
      </p:pic>
      <p:sp>
        <p:nvSpPr>
          <p:cNvPr id="55" name="TextBox 54"/>
          <p:cNvSpPr txBox="1"/>
          <p:nvPr/>
        </p:nvSpPr>
        <p:spPr>
          <a:xfrm>
            <a:off x="2950879" y="5888390"/>
            <a:ext cx="113705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ASP premium and</a:t>
            </a:r>
          </a:p>
        </p:txBody>
      </p:sp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037092" y="5878167"/>
            <a:ext cx="134549" cy="195707"/>
          </a:xfrm>
          <a:prstGeom prst="rect">
            <a:avLst/>
          </a:prstGeom>
        </p:spPr>
      </p:pic>
      <p:sp>
        <p:nvSpPr>
          <p:cNvPr id="57" name="TextBox 56"/>
          <p:cNvSpPr txBox="1"/>
          <p:nvPr/>
        </p:nvSpPr>
        <p:spPr>
          <a:xfrm>
            <a:off x="4212201" y="5888390"/>
            <a:ext cx="12591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x pipeline coverage.</a:t>
            </a:r>
          </a:p>
        </p:txBody>
      </p:sp>
      <p:sp>
        <p:nvSpPr>
          <p:cNvPr id="58" name="lockshield_18"/>
          <p:cNvSpPr/>
          <p:nvPr/>
        </p:nvSpPr>
        <p:spPr>
          <a:xfrm>
            <a:off x="238125" y="2351726"/>
            <a:ext cx="3638550" cy="2267379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lockshield_21"/>
          <p:cNvSpPr/>
          <p:nvPr/>
        </p:nvSpPr>
        <p:spPr>
          <a:xfrm>
            <a:off x="4219575" y="2351726"/>
            <a:ext cx="3638550" cy="2267379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lockshield_24"/>
          <p:cNvSpPr/>
          <p:nvPr/>
        </p:nvSpPr>
        <p:spPr>
          <a:xfrm>
            <a:off x="8201025" y="2351726"/>
            <a:ext cx="3752850" cy="2267379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25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Laboratoire Biogance Regional Penetration &amp; Win Position (2/5)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Regional penetration and competitive positioning highlighting growth potential, win rates and sales efficiency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55552"/>
          </a:xfrm>
          <a:prstGeom prst="roundRect">
            <a:avLst>
              <a:gd name="adj" fmla="val 2981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Regional penetration and competitive positioning Laboratoire Biogance: SOM vs SAM by region, win position, TAM/SAM/SOM and go-to-market benchmarks.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299320"/>
            <a:ext cx="5905500" cy="2263459"/>
          </a:xfrm>
          <a:prstGeom prst="roundRect">
            <a:avLst>
              <a:gd name="adj" fmla="val 336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356470"/>
            <a:ext cx="5715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SOM vs SAM Penetration by Region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5070"/>
          <a:ext cx="5715000" cy="1920559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62675" y="1299320"/>
            <a:ext cx="5886450" cy="2263459"/>
          </a:xfrm>
          <a:prstGeom prst="roundRect">
            <a:avLst>
              <a:gd name="adj" fmla="val 336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57925" y="1356470"/>
            <a:ext cx="56959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Competitive Win Position</a:t>
            </a:r>
          </a:p>
        </p:txBody>
      </p:sp>
      <p:cxnSp>
        <p:nvCxnSpPr>
          <p:cNvPr id="16" name="Connector 15"/>
          <p:cNvCxnSpPr/>
          <p:nvPr/>
        </p:nvCxnSpPr>
        <p:spPr>
          <a:xfrm>
            <a:off x="6581775" y="3219879"/>
            <a:ext cx="5257800" cy="0"/>
          </a:xfrm>
          <a:prstGeom prst="line">
            <a:avLst/>
          </a:prstGeom>
          <a:ln w="12700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" name="Connector 16"/>
          <p:cNvCxnSpPr/>
          <p:nvPr/>
        </p:nvCxnSpPr>
        <p:spPr>
          <a:xfrm>
            <a:off x="6581775" y="1680320"/>
            <a:ext cx="0" cy="1539559"/>
          </a:xfrm>
          <a:prstGeom prst="line">
            <a:avLst/>
          </a:prstGeom>
          <a:ln w="12700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TextBox 17"/>
          <p:cNvSpPr txBox="1"/>
          <p:nvPr/>
        </p:nvSpPr>
        <p:spPr>
          <a:xfrm>
            <a:off x="6467475" y="3238929"/>
            <a:ext cx="228600" cy="11430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0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7969704" y="3238929"/>
            <a:ext cx="228600" cy="11430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1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9471932" y="3238929"/>
            <a:ext cx="228600" cy="11430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2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10974161" y="3238929"/>
            <a:ext cx="228600" cy="11430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3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6581775" y="3353229"/>
            <a:ext cx="5257800" cy="11430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Win Rate %</a:t>
            </a:r>
          </a:p>
        </p:txBody>
      </p:sp>
      <p:sp>
        <p:nvSpPr>
          <p:cNvPr id="23" name="TextBox 22"/>
          <p:cNvSpPr txBox="1"/>
          <p:nvPr/>
        </p:nvSpPr>
        <p:spPr>
          <a:xfrm rot="16200000">
            <a:off x="6029325" y="2373900"/>
            <a:ext cx="571500" cy="15240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ASP vs Peer</a:t>
            </a:r>
          </a:p>
        </p:txBody>
      </p:sp>
      <p:sp>
        <p:nvSpPr>
          <p:cNvPr id="24" name="Oval 23"/>
          <p:cNvSpPr/>
          <p:nvPr/>
        </p:nvSpPr>
        <p:spPr>
          <a:xfrm>
            <a:off x="7629688" y="1979874"/>
            <a:ext cx="247650" cy="247650"/>
          </a:xfrm>
          <a:prstGeom prst="ellipse">
            <a:avLst/>
          </a:prstGeom>
          <a:solidFill>
            <a:srgbClr val="29ABE2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7915438" y="2017974"/>
            <a:ext cx="14287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Laboratoire Biogance</a:t>
            </a:r>
          </a:p>
        </p:txBody>
      </p:sp>
      <p:sp>
        <p:nvSpPr>
          <p:cNvPr id="26" name="Oval 25"/>
          <p:cNvSpPr/>
          <p:nvPr/>
        </p:nvSpPr>
        <p:spPr>
          <a:xfrm>
            <a:off x="9283609" y="1912810"/>
            <a:ext cx="304800" cy="304800"/>
          </a:xfrm>
          <a:prstGeom prst="ellipse">
            <a:avLst/>
          </a:prstGeom>
          <a:solidFill>
            <a:srgbClr val="8C8C8C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TextBox 26"/>
          <p:cNvSpPr txBox="1"/>
          <p:nvPr/>
        </p:nvSpPr>
        <p:spPr>
          <a:xfrm>
            <a:off x="9626509" y="1979485"/>
            <a:ext cx="14287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Industry Avg.</a:t>
            </a:r>
          </a:p>
        </p:txBody>
      </p:sp>
      <p:sp>
        <p:nvSpPr>
          <p:cNvPr id="28" name="Oval 27"/>
          <p:cNvSpPr/>
          <p:nvPr/>
        </p:nvSpPr>
        <p:spPr>
          <a:xfrm>
            <a:off x="10513967" y="2711164"/>
            <a:ext cx="247650" cy="247650"/>
          </a:xfrm>
          <a:prstGeom prst="ellipse">
            <a:avLst/>
          </a:prstGeom>
          <a:solidFill>
            <a:srgbClr val="0E72AE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10706100" y="2749264"/>
            <a:ext cx="14287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Market Leader</a:t>
            </a:r>
          </a:p>
        </p:txBody>
      </p:sp>
      <p:sp>
        <p:nvSpPr>
          <p:cNvPr id="30" name="Rounded Rectangle 29"/>
          <p:cNvSpPr/>
          <p:nvPr/>
        </p:nvSpPr>
        <p:spPr>
          <a:xfrm>
            <a:off x="142875" y="3635794"/>
            <a:ext cx="5905500" cy="1661086"/>
          </a:xfrm>
          <a:prstGeom prst="roundRect">
            <a:avLst>
              <a:gd name="adj" fmla="val 458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238125" y="3692944"/>
            <a:ext cx="5715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TAM · SAM · SOM (US$ Mn)</a:t>
            </a:r>
          </a:p>
        </p:txBody>
      </p:sp>
      <p:sp>
        <p:nvSpPr>
          <p:cNvPr id="32" name="Rectangle 31"/>
          <p:cNvSpPr/>
          <p:nvPr/>
        </p:nvSpPr>
        <p:spPr>
          <a:xfrm>
            <a:off x="238125" y="3921544"/>
            <a:ext cx="5715000" cy="363195"/>
          </a:xfrm>
          <a:prstGeom prst="rect">
            <a:avLst/>
          </a:prstGeom>
          <a:solidFill>
            <a:srgbClr val="0A2E4D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57150" tIns="19050" bIns="19050"/>
          <a:lstStyle/>
          <a:p>
            <a:pPr algn="l"/>
            <a:r>
              <a:rPr sz="1150" b="1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33" name="Rectangle 32"/>
          <p:cNvSpPr/>
          <p:nvPr/>
        </p:nvSpPr>
        <p:spPr>
          <a:xfrm>
            <a:off x="238125" y="4399039"/>
            <a:ext cx="4400550" cy="363195"/>
          </a:xfrm>
          <a:prstGeom prst="rect">
            <a:avLst/>
          </a:prstGeom>
          <a:solidFill>
            <a:srgbClr val="1668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57150" tIns="19050" bIns="19050"/>
          <a:lstStyle/>
          <a:p>
            <a:pPr algn="l"/>
            <a:r>
              <a:rPr sz="1150" b="1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34" name="Rectangle 33"/>
          <p:cNvSpPr/>
          <p:nvPr/>
        </p:nvSpPr>
        <p:spPr>
          <a:xfrm>
            <a:off x="238125" y="4876535"/>
            <a:ext cx="3086100" cy="363195"/>
          </a:xfrm>
          <a:prstGeom prst="rect">
            <a:avLst/>
          </a:prstGeom>
          <a:solidFill>
            <a:srgbClr val="29ABE2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57150" tIns="19050" bIns="19050"/>
          <a:lstStyle/>
          <a:p>
            <a:pPr algn="l"/>
            <a:r>
              <a:rPr sz="1150" b="1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35" name="Rounded Rectangle 34"/>
          <p:cNvSpPr/>
          <p:nvPr/>
        </p:nvSpPr>
        <p:spPr>
          <a:xfrm>
            <a:off x="6162675" y="3635794"/>
            <a:ext cx="5886450" cy="1661086"/>
          </a:xfrm>
          <a:prstGeom prst="roundRect">
            <a:avLst>
              <a:gd name="adj" fmla="val 458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6257925" y="3692944"/>
            <a:ext cx="56959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Go-to-Market Benchmarks (Target vs Actual)</a:t>
            </a:r>
          </a:p>
        </p:txBody>
      </p:sp>
      <p:sp>
        <p:nvSpPr>
          <p:cNvPr id="37" name="Rectangle 36"/>
          <p:cNvSpPr/>
          <p:nvPr/>
        </p:nvSpPr>
        <p:spPr>
          <a:xfrm>
            <a:off x="10391775" y="3940594"/>
            <a:ext cx="95250" cy="95250"/>
          </a:xfrm>
          <a:prstGeom prst="rect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10506075" y="3912019"/>
            <a:ext cx="5715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Target</a:t>
            </a:r>
          </a:p>
        </p:txBody>
      </p:sp>
      <p:sp>
        <p:nvSpPr>
          <p:cNvPr id="39" name="Rectangle 38"/>
          <p:cNvSpPr/>
          <p:nvPr/>
        </p:nvSpPr>
        <p:spPr>
          <a:xfrm>
            <a:off x="11134725" y="3940594"/>
            <a:ext cx="95250" cy="95250"/>
          </a:xfrm>
          <a:prstGeom prst="rect">
            <a:avLst/>
          </a:prstGeom>
          <a:solidFill>
            <a:srgbClr val="69B1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11249025" y="3912019"/>
            <a:ext cx="5715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Actual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6276975" y="4153941"/>
            <a:ext cx="10668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Conversion (%)</a:t>
            </a:r>
          </a:p>
        </p:txBody>
      </p:sp>
      <p:sp>
        <p:nvSpPr>
          <p:cNvPr id="42" name="Rectangle 41"/>
          <p:cNvSpPr/>
          <p:nvPr/>
        </p:nvSpPr>
        <p:spPr>
          <a:xfrm>
            <a:off x="7381875" y="4164998"/>
            <a:ext cx="1686687" cy="93719"/>
          </a:xfrm>
          <a:prstGeom prst="rect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7381875" y="4277766"/>
            <a:ext cx="3107055" cy="93719"/>
          </a:xfrm>
          <a:prstGeom prst="rect">
            <a:avLst/>
          </a:prstGeom>
          <a:solidFill>
            <a:srgbClr val="69B1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6276975" y="4466337"/>
            <a:ext cx="10668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Sales Cycle (Days)</a:t>
            </a:r>
          </a:p>
        </p:txBody>
      </p:sp>
      <p:sp>
        <p:nvSpPr>
          <p:cNvPr id="45" name="Rectangle 44"/>
          <p:cNvSpPr/>
          <p:nvPr/>
        </p:nvSpPr>
        <p:spPr>
          <a:xfrm>
            <a:off x="7381875" y="4477393"/>
            <a:ext cx="3817239" cy="93719"/>
          </a:xfrm>
          <a:prstGeom prst="rect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7381875" y="4590162"/>
            <a:ext cx="2219325" cy="93719"/>
          </a:xfrm>
          <a:prstGeom prst="rect">
            <a:avLst/>
          </a:prstGeom>
          <a:solidFill>
            <a:srgbClr val="69B1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TextBox 46"/>
          <p:cNvSpPr txBox="1"/>
          <p:nvPr/>
        </p:nvSpPr>
        <p:spPr>
          <a:xfrm>
            <a:off x="6276975" y="4778732"/>
            <a:ext cx="10668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Pipeline Coverage</a:t>
            </a:r>
          </a:p>
        </p:txBody>
      </p:sp>
      <p:sp>
        <p:nvSpPr>
          <p:cNvPr id="48" name="Rectangle 47"/>
          <p:cNvSpPr/>
          <p:nvPr/>
        </p:nvSpPr>
        <p:spPr>
          <a:xfrm>
            <a:off x="7381875" y="4789789"/>
            <a:ext cx="2130552" cy="93719"/>
          </a:xfrm>
          <a:prstGeom prst="rect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Rectangle 48"/>
          <p:cNvSpPr/>
          <p:nvPr/>
        </p:nvSpPr>
        <p:spPr>
          <a:xfrm>
            <a:off x="7381875" y="4902557"/>
            <a:ext cx="3728466" cy="93719"/>
          </a:xfrm>
          <a:prstGeom prst="rect">
            <a:avLst/>
          </a:prstGeom>
          <a:solidFill>
            <a:srgbClr val="69B1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ounded Rectangle 49"/>
          <p:cNvSpPr/>
          <p:nvPr/>
        </p:nvSpPr>
        <p:spPr>
          <a:xfrm>
            <a:off x="142875" y="5369895"/>
            <a:ext cx="11906250" cy="1259505"/>
          </a:xfrm>
          <a:prstGeom prst="roundRect">
            <a:avLst>
              <a:gd name="adj" fmla="val 60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TextBox 50"/>
          <p:cNvSpPr txBox="1"/>
          <p:nvPr/>
        </p:nvSpPr>
        <p:spPr>
          <a:xfrm>
            <a:off x="276225" y="545562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Takeaways</a:t>
            </a:r>
          </a:p>
        </p:txBody>
      </p:sp>
      <p:sp>
        <p:nvSpPr>
          <p:cNvPr id="52" name="Rectangle 51"/>
          <p:cNvSpPr/>
          <p:nvPr/>
        </p:nvSpPr>
        <p:spPr>
          <a:xfrm>
            <a:off x="276225" y="569374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TextBox 52"/>
          <p:cNvSpPr txBox="1"/>
          <p:nvPr/>
        </p:nvSpPr>
        <p:spPr>
          <a:xfrm>
            <a:off x="276225" y="5779470"/>
            <a:ext cx="11639550" cy="77373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352425" y="4015511"/>
            <a:ext cx="87120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TAM · 100% ·</a:t>
            </a:r>
          </a:p>
        </p:txBody>
      </p:sp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72781" y="4005288"/>
            <a:ext cx="134549" cy="195707"/>
          </a:xfrm>
          <a:prstGeom prst="rect">
            <a:avLst/>
          </a:prstGeom>
        </p:spPr>
      </p:pic>
      <p:sp>
        <p:nvSpPr>
          <p:cNvPr id="57" name="TextBox 56"/>
          <p:cNvSpPr txBox="1"/>
          <p:nvPr/>
        </p:nvSpPr>
        <p:spPr>
          <a:xfrm>
            <a:off x="1347890" y="4015511"/>
            <a:ext cx="5540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US$ Mn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352425" y="4493006"/>
            <a:ext cx="43362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SAM ·</a:t>
            </a:r>
          </a:p>
        </p:txBody>
      </p:sp>
      <p:pic>
        <p:nvPicPr>
          <p:cNvPr id="59" name="Picture 5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35202" y="4482783"/>
            <a:ext cx="134549" cy="195707"/>
          </a:xfrm>
          <a:prstGeom prst="rect">
            <a:avLst/>
          </a:prstGeom>
        </p:spPr>
      </p:pic>
      <p:sp>
        <p:nvSpPr>
          <p:cNvPr id="60" name="TextBox 59"/>
          <p:cNvSpPr txBox="1"/>
          <p:nvPr/>
        </p:nvSpPr>
        <p:spPr>
          <a:xfrm>
            <a:off x="910311" y="4493006"/>
            <a:ext cx="59479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of TAM ·</a:t>
            </a:r>
          </a:p>
        </p:txBody>
      </p:sp>
      <p:pic>
        <p:nvPicPr>
          <p:cNvPr id="61" name="Picture 6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454256" y="4482783"/>
            <a:ext cx="134549" cy="195707"/>
          </a:xfrm>
          <a:prstGeom prst="rect">
            <a:avLst/>
          </a:prstGeom>
        </p:spPr>
      </p:pic>
      <p:sp>
        <p:nvSpPr>
          <p:cNvPr id="62" name="TextBox 61"/>
          <p:cNvSpPr txBox="1"/>
          <p:nvPr/>
        </p:nvSpPr>
        <p:spPr>
          <a:xfrm>
            <a:off x="1629366" y="4493006"/>
            <a:ext cx="5540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US$ Mn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352425" y="4970502"/>
            <a:ext cx="44389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SOM ·</a:t>
            </a:r>
          </a:p>
        </p:txBody>
      </p:sp>
      <p:pic>
        <p:nvPicPr>
          <p:cNvPr id="64" name="Picture 6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45471" y="4960279"/>
            <a:ext cx="134549" cy="195707"/>
          </a:xfrm>
          <a:prstGeom prst="rect">
            <a:avLst/>
          </a:prstGeom>
        </p:spPr>
      </p:pic>
      <p:sp>
        <p:nvSpPr>
          <p:cNvPr id="65" name="TextBox 64"/>
          <p:cNvSpPr txBox="1"/>
          <p:nvPr/>
        </p:nvSpPr>
        <p:spPr>
          <a:xfrm>
            <a:off x="920580" y="4970502"/>
            <a:ext cx="59136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of SAM ·</a:t>
            </a:r>
          </a:p>
        </p:txBody>
      </p:sp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461102" y="4960279"/>
            <a:ext cx="134549" cy="195707"/>
          </a:xfrm>
          <a:prstGeom prst="rect">
            <a:avLst/>
          </a:prstGeom>
        </p:spPr>
      </p:pic>
      <p:sp>
        <p:nvSpPr>
          <p:cNvPr id="67" name="TextBox 66"/>
          <p:cNvSpPr txBox="1"/>
          <p:nvPr/>
        </p:nvSpPr>
        <p:spPr>
          <a:xfrm>
            <a:off x="1636212" y="4970502"/>
            <a:ext cx="5540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US$ Mn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276225" y="5788995"/>
            <a:ext cx="707020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Regional Opportunity: 'Europe' shows the highest SAM penetration; lower-penetration regions are the growth headroom.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276225" y="6006927"/>
            <a:ext cx="129799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Competitive Edge: ~</a:t>
            </a:r>
          </a:p>
        </p:txBody>
      </p:sp>
      <p:pic>
        <p:nvPicPr>
          <p:cNvPr id="70" name="Picture 69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522276" y="5997147"/>
            <a:ext cx="128699" cy="187198"/>
          </a:xfrm>
          <a:prstGeom prst="rect">
            <a:avLst/>
          </a:prstGeom>
        </p:spPr>
      </p:pic>
      <p:sp>
        <p:nvSpPr>
          <p:cNvPr id="71" name="TextBox 70"/>
          <p:cNvSpPr txBox="1"/>
          <p:nvPr/>
        </p:nvSpPr>
        <p:spPr>
          <a:xfrm>
            <a:off x="1689771" y="6006927"/>
            <a:ext cx="102927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win rate with a +</a:t>
            </a:r>
          </a:p>
        </p:txBody>
      </p:sp>
      <p:pic>
        <p:nvPicPr>
          <p:cNvPr id="72" name="Picture 7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667093" y="5997147"/>
            <a:ext cx="128699" cy="187198"/>
          </a:xfrm>
          <a:prstGeom prst="rect">
            <a:avLst/>
          </a:prstGeom>
        </p:spPr>
      </p:pic>
      <p:sp>
        <p:nvSpPr>
          <p:cNvPr id="73" name="TextBox 72"/>
          <p:cNvSpPr txBox="1"/>
          <p:nvPr/>
        </p:nvSpPr>
        <p:spPr>
          <a:xfrm>
            <a:off x="2834589" y="6006927"/>
            <a:ext cx="23114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ASP premium signals value recognition;</a:t>
            </a:r>
          </a:p>
        </p:txBody>
      </p:sp>
      <p:pic>
        <p:nvPicPr>
          <p:cNvPr id="74" name="Picture 7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5094041" y="5997147"/>
            <a:ext cx="128699" cy="187198"/>
          </a:xfrm>
          <a:prstGeom prst="rect">
            <a:avLst/>
          </a:prstGeom>
        </p:spPr>
      </p:pic>
      <p:sp>
        <p:nvSpPr>
          <p:cNvPr id="75" name="TextBox 74"/>
          <p:cNvSpPr txBox="1"/>
          <p:nvPr/>
        </p:nvSpPr>
        <p:spPr>
          <a:xfrm>
            <a:off x="5261537" y="6006927"/>
            <a:ext cx="225164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x pipeline coverage underpins growth.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276225" y="6224859"/>
            <a:ext cx="261501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Sales Efficiency: a ~90-day sales cycle and ~</a:t>
            </a:r>
          </a:p>
        </p:txBody>
      </p:sp>
      <p:pic>
        <p:nvPicPr>
          <p:cNvPr id="77" name="Picture 7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839292" y="6215079"/>
            <a:ext cx="128699" cy="187198"/>
          </a:xfrm>
          <a:prstGeom prst="rect">
            <a:avLst/>
          </a:prstGeom>
        </p:spPr>
      </p:pic>
      <p:sp>
        <p:nvSpPr>
          <p:cNvPr id="78" name="TextBox 77"/>
          <p:cNvSpPr txBox="1"/>
          <p:nvPr/>
        </p:nvSpPr>
        <p:spPr>
          <a:xfrm>
            <a:off x="3006787" y="6224859"/>
            <a:ext cx="23845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conversion support faster share capture.</a:t>
            </a:r>
          </a:p>
        </p:txBody>
      </p:sp>
      <p:sp>
        <p:nvSpPr>
          <p:cNvPr id="79" name="lockshield_13"/>
          <p:cNvSpPr/>
          <p:nvPr/>
        </p:nvSpPr>
        <p:spPr>
          <a:xfrm>
            <a:off x="238125" y="1585070"/>
            <a:ext cx="5715000" cy="1920559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25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Laboratoire Biogance SWOT Analysis (3/5)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SWOT assessment of Laboratoire Biogance: strengths, weaknesses, opportunities and threats shaping its competitive position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42875" y="1007261"/>
            <a:ext cx="119062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SWOT assessment Laboratoire Biogance: strengths, weaknesses, opportunities and threats (indicative).</a:t>
            </a:r>
          </a:p>
        </p:txBody>
      </p:sp>
      <p:cxnSp>
        <p:nvCxnSpPr>
          <p:cNvPr id="11" name="Connector 10"/>
          <p:cNvCxnSpPr/>
          <p:nvPr/>
        </p:nvCxnSpPr>
        <p:spPr>
          <a:xfrm>
            <a:off x="3810000" y="3891345"/>
            <a:ext cx="4572000" cy="0"/>
          </a:xfrm>
          <a:prstGeom prst="line">
            <a:avLst/>
          </a:prstGeom>
          <a:ln w="17780">
            <a:solidFill>
              <a:srgbClr val="B9C4C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6096000" y="1919946"/>
            <a:ext cx="0" cy="3942799"/>
          </a:xfrm>
          <a:prstGeom prst="line">
            <a:avLst/>
          </a:prstGeom>
          <a:ln w="17780">
            <a:solidFill>
              <a:srgbClr val="B9C4C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" name="Oval 12"/>
          <p:cNvSpPr/>
          <p:nvPr/>
        </p:nvSpPr>
        <p:spPr>
          <a:xfrm>
            <a:off x="3757612" y="3841147"/>
            <a:ext cx="104775" cy="100395"/>
          </a:xfrm>
          <a:prstGeom prst="ellipse">
            <a:avLst/>
          </a:prstGeom>
          <a:solidFill>
            <a:srgbClr val="B9C4CE"/>
          </a:solidFill>
          <a:ln w="12700">
            <a:solidFill>
              <a:srgbClr val="B9C4C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Oval 13"/>
          <p:cNvSpPr/>
          <p:nvPr/>
        </p:nvSpPr>
        <p:spPr>
          <a:xfrm>
            <a:off x="8329612" y="3841147"/>
            <a:ext cx="104775" cy="100395"/>
          </a:xfrm>
          <a:prstGeom prst="ellipse">
            <a:avLst/>
          </a:prstGeom>
          <a:solidFill>
            <a:srgbClr val="B9C4CE"/>
          </a:solidFill>
          <a:ln w="12700">
            <a:solidFill>
              <a:srgbClr val="B9C4C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Oval 14"/>
          <p:cNvSpPr/>
          <p:nvPr/>
        </p:nvSpPr>
        <p:spPr>
          <a:xfrm>
            <a:off x="6043612" y="1869748"/>
            <a:ext cx="104775" cy="100395"/>
          </a:xfrm>
          <a:prstGeom prst="ellipse">
            <a:avLst/>
          </a:prstGeom>
          <a:solidFill>
            <a:srgbClr val="B9C4CE"/>
          </a:solidFill>
          <a:ln w="12700">
            <a:solidFill>
              <a:srgbClr val="B9C4C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Oval 15"/>
          <p:cNvSpPr/>
          <p:nvPr/>
        </p:nvSpPr>
        <p:spPr>
          <a:xfrm>
            <a:off x="6043612" y="5812547"/>
            <a:ext cx="104775" cy="100395"/>
          </a:xfrm>
          <a:prstGeom prst="ellipse">
            <a:avLst/>
          </a:prstGeom>
          <a:solidFill>
            <a:srgbClr val="B9C4CE"/>
          </a:solidFill>
          <a:ln w="12700">
            <a:solidFill>
              <a:srgbClr val="B9C4C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Rounded Rectangle 16"/>
          <p:cNvSpPr/>
          <p:nvPr/>
        </p:nvSpPr>
        <p:spPr>
          <a:xfrm>
            <a:off x="4724400" y="2577079"/>
            <a:ext cx="1257300" cy="1204744"/>
          </a:xfrm>
          <a:prstGeom prst="roundRect">
            <a:avLst>
              <a:gd name="adj" fmla="val 12121"/>
            </a:avLst>
          </a:prstGeom>
          <a:noFill/>
          <a:ln w="19050">
            <a:solidFill>
              <a:srgbClr val="69B1E0"/>
            </a:solidFill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Rounded Rectangle 17"/>
          <p:cNvSpPr/>
          <p:nvPr/>
        </p:nvSpPr>
        <p:spPr>
          <a:xfrm>
            <a:off x="6210300" y="2577079"/>
            <a:ext cx="1257300" cy="1204744"/>
          </a:xfrm>
          <a:prstGeom prst="roundRect">
            <a:avLst>
              <a:gd name="adj" fmla="val 12121"/>
            </a:avLst>
          </a:prstGeom>
          <a:noFill/>
          <a:ln w="19050">
            <a:solidFill>
              <a:srgbClr val="0B2E4A"/>
            </a:solidFill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Rounded Rectangle 18"/>
          <p:cNvSpPr/>
          <p:nvPr/>
        </p:nvSpPr>
        <p:spPr>
          <a:xfrm>
            <a:off x="4724400" y="4000868"/>
            <a:ext cx="1257300" cy="1204744"/>
          </a:xfrm>
          <a:prstGeom prst="roundRect">
            <a:avLst>
              <a:gd name="adj" fmla="val 12121"/>
            </a:avLst>
          </a:prstGeom>
          <a:noFill/>
          <a:ln w="19050">
            <a:solidFill>
              <a:srgbClr val="A35313"/>
            </a:solidFill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ounded Rectangle 19"/>
          <p:cNvSpPr/>
          <p:nvPr/>
        </p:nvSpPr>
        <p:spPr>
          <a:xfrm>
            <a:off x="6210300" y="4000868"/>
            <a:ext cx="1257300" cy="1204744"/>
          </a:xfrm>
          <a:prstGeom prst="roundRect">
            <a:avLst>
              <a:gd name="adj" fmla="val 12121"/>
            </a:avLst>
          </a:prstGeom>
          <a:noFill/>
          <a:ln w="19050">
            <a:solidFill>
              <a:srgbClr val="A86F00"/>
            </a:solidFill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Freeform 20"/>
          <p:cNvSpPr/>
          <p:nvPr/>
        </p:nvSpPr>
        <p:spPr>
          <a:xfrm>
            <a:off x="5524500" y="2978660"/>
            <a:ext cx="1143000" cy="803163"/>
          </a:xfrm>
          <a:custGeom>
            <a:avLst/>
            <a:gdLst/>
            <a:ahLst/>
            <a:cxnLst/>
            <a:rect l="l" t="t" r="r" b="b"/>
            <a:pathLst>
              <a:path w="120" h="88">
                <a:moveTo>
                  <a:pt x="0" y="0"/>
                </a:moveTo>
                <a:lnTo>
                  <a:pt x="120" y="0"/>
                </a:lnTo>
                <a:lnTo>
                  <a:pt x="60" y="88"/>
                </a:lnTo>
                <a:close/>
              </a:path>
            </a:pathLst>
          </a:custGeom>
          <a:solidFill>
            <a:srgbClr val="69B1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Freeform 21"/>
          <p:cNvSpPr/>
          <p:nvPr/>
        </p:nvSpPr>
        <p:spPr>
          <a:xfrm>
            <a:off x="5524500" y="4000868"/>
            <a:ext cx="1143000" cy="803163"/>
          </a:xfrm>
          <a:custGeom>
            <a:avLst/>
            <a:gdLst/>
            <a:ahLst/>
            <a:cxnLst/>
            <a:rect l="l" t="t" r="r" b="b"/>
            <a:pathLst>
              <a:path w="120" h="88">
                <a:moveTo>
                  <a:pt x="0" y="88"/>
                </a:moveTo>
                <a:lnTo>
                  <a:pt x="120" y="88"/>
                </a:lnTo>
                <a:lnTo>
                  <a:pt x="60" y="0"/>
                </a:lnTo>
                <a:close/>
              </a:path>
            </a:pathLst>
          </a:cu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Freeform 22"/>
          <p:cNvSpPr/>
          <p:nvPr/>
        </p:nvSpPr>
        <p:spPr>
          <a:xfrm>
            <a:off x="5143500" y="3343734"/>
            <a:ext cx="838200" cy="1095222"/>
          </a:xfrm>
          <a:custGeom>
            <a:avLst/>
            <a:gdLst/>
            <a:ahLst/>
            <a:cxnLst/>
            <a:rect l="l" t="t" r="r" b="b"/>
            <a:pathLst>
              <a:path w="88" h="120">
                <a:moveTo>
                  <a:pt x="0" y="0"/>
                </a:moveTo>
                <a:lnTo>
                  <a:pt x="0" y="120"/>
                </a:lnTo>
                <a:lnTo>
                  <a:pt x="88" y="60"/>
                </a:lnTo>
                <a:close/>
              </a:path>
            </a:pathLst>
          </a:cu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Freeform 23"/>
          <p:cNvSpPr/>
          <p:nvPr/>
        </p:nvSpPr>
        <p:spPr>
          <a:xfrm>
            <a:off x="6210300" y="3343734"/>
            <a:ext cx="838200" cy="1095222"/>
          </a:xfrm>
          <a:custGeom>
            <a:avLst/>
            <a:gdLst/>
            <a:ahLst/>
            <a:cxnLst/>
            <a:rect l="l" t="t" r="r" b="b"/>
            <a:pathLst>
              <a:path w="88" h="120">
                <a:moveTo>
                  <a:pt x="88" y="0"/>
                </a:moveTo>
                <a:lnTo>
                  <a:pt x="88" y="120"/>
                </a:lnTo>
                <a:lnTo>
                  <a:pt x="0" y="60"/>
                </a:lnTo>
                <a:close/>
              </a:path>
            </a:pathLst>
          </a:cu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5886450" y="3243339"/>
            <a:ext cx="419100" cy="27380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2100" b="1">
                <a:solidFill>
                  <a:srgbClr val="1F2933"/>
                </a:solidFill>
                <a:latin typeface="Calibri"/>
              </a:rPr>
              <a:t>S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5886450" y="4265546"/>
            <a:ext cx="419100" cy="27380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2100" b="1">
                <a:solidFill>
                  <a:srgbClr val="FFFFFF"/>
                </a:solidFill>
                <a:latin typeface="Calibri"/>
              </a:rPr>
              <a:t>O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5353050" y="3754443"/>
            <a:ext cx="419100" cy="27380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2100" b="1">
                <a:solidFill>
                  <a:srgbClr val="FFFFFF"/>
                </a:solidFill>
                <a:latin typeface="Calibri"/>
              </a:rPr>
              <a:t>T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6419850" y="3754443"/>
            <a:ext cx="419100" cy="27380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2100" b="1">
                <a:solidFill>
                  <a:srgbClr val="FFFFFF"/>
                </a:solidFill>
                <a:latin typeface="Calibri"/>
              </a:rPr>
              <a:t>W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190500" y="1299320"/>
            <a:ext cx="36671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350" b="1">
                <a:solidFill>
                  <a:srgbClr val="0B2E4A"/>
                </a:solidFill>
                <a:latin typeface="Calibri"/>
              </a:rPr>
              <a:t>Strengths</a:t>
            </a:r>
          </a:p>
        </p:txBody>
      </p:sp>
      <p:sp>
        <p:nvSpPr>
          <p:cNvPr id="30" name="Rectangle 29"/>
          <p:cNvSpPr/>
          <p:nvPr/>
        </p:nvSpPr>
        <p:spPr>
          <a:xfrm>
            <a:off x="190500" y="1500111"/>
            <a:ext cx="1428750" cy="1825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Oval 30"/>
          <p:cNvSpPr/>
          <p:nvPr/>
        </p:nvSpPr>
        <p:spPr>
          <a:xfrm>
            <a:off x="204788" y="1605070"/>
            <a:ext cx="66675" cy="63888"/>
          </a:xfrm>
          <a:prstGeom prst="ellipse">
            <a:avLst/>
          </a:prstGeom>
          <a:solidFill>
            <a:srgbClr val="0B2E4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333375" y="1573126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204788" y="2116174"/>
            <a:ext cx="66675" cy="63888"/>
          </a:xfrm>
          <a:prstGeom prst="ellipse">
            <a:avLst/>
          </a:prstGeom>
          <a:solidFill>
            <a:srgbClr val="0B2E4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333375" y="2084229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Balanced SOM across regions and end-markets; strongest in 'Europe'.</a:t>
            </a:r>
          </a:p>
        </p:txBody>
      </p:sp>
      <p:sp>
        <p:nvSpPr>
          <p:cNvPr id="35" name="Oval 34"/>
          <p:cNvSpPr/>
          <p:nvPr/>
        </p:nvSpPr>
        <p:spPr>
          <a:xfrm>
            <a:off x="204788" y="2627277"/>
            <a:ext cx="66675" cy="63888"/>
          </a:xfrm>
          <a:prstGeom prst="ellipse">
            <a:avLst/>
          </a:prstGeom>
          <a:solidFill>
            <a:srgbClr val="0B2E4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333375" y="2595333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8334375" y="1299320"/>
            <a:ext cx="36671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350" b="1">
                <a:solidFill>
                  <a:srgbClr val="082238"/>
                </a:solidFill>
                <a:latin typeface="Calibri"/>
              </a:rPr>
              <a:t>Weaknesses</a:t>
            </a:r>
          </a:p>
        </p:txBody>
      </p:sp>
      <p:sp>
        <p:nvSpPr>
          <p:cNvPr id="38" name="Rectangle 37"/>
          <p:cNvSpPr/>
          <p:nvPr/>
        </p:nvSpPr>
        <p:spPr>
          <a:xfrm>
            <a:off x="8334375" y="1500111"/>
            <a:ext cx="1428750" cy="18254"/>
          </a:xfrm>
          <a:prstGeom prst="rect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Oval 38"/>
          <p:cNvSpPr/>
          <p:nvPr/>
        </p:nvSpPr>
        <p:spPr>
          <a:xfrm>
            <a:off x="8348662" y="1605070"/>
            <a:ext cx="66675" cy="63888"/>
          </a:xfrm>
          <a:prstGeom prst="ellipse">
            <a:avLst/>
          </a:prstGeom>
          <a:solidFill>
            <a:srgbClr val="082238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8477250" y="1573126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1" name="Oval 40"/>
          <p:cNvSpPr/>
          <p:nvPr/>
        </p:nvSpPr>
        <p:spPr>
          <a:xfrm>
            <a:off x="8348662" y="2116174"/>
            <a:ext cx="66675" cy="63888"/>
          </a:xfrm>
          <a:prstGeom prst="ellipse">
            <a:avLst/>
          </a:prstGeom>
          <a:solidFill>
            <a:srgbClr val="082238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8477250" y="2084229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Uneven SAM penetration strong in 'Europe', thin elsewhere.</a:t>
            </a:r>
          </a:p>
        </p:txBody>
      </p:sp>
      <p:sp>
        <p:nvSpPr>
          <p:cNvPr id="43" name="Oval 42"/>
          <p:cNvSpPr/>
          <p:nvPr/>
        </p:nvSpPr>
        <p:spPr>
          <a:xfrm>
            <a:off x="8348662" y="2627277"/>
            <a:ext cx="66675" cy="63888"/>
          </a:xfrm>
          <a:prstGeom prst="ellipse">
            <a:avLst/>
          </a:prstGeom>
          <a:solidFill>
            <a:srgbClr val="082238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8477250" y="2595333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Reliance on a few large accounts/regions raises concentration risk.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190500" y="4055629"/>
            <a:ext cx="36671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350" b="1">
                <a:solidFill>
                  <a:srgbClr val="A35313"/>
                </a:solidFill>
                <a:latin typeface="Calibri"/>
              </a:rPr>
              <a:t>Threats</a:t>
            </a:r>
          </a:p>
        </p:txBody>
      </p:sp>
      <p:sp>
        <p:nvSpPr>
          <p:cNvPr id="46" name="Rectangle 45"/>
          <p:cNvSpPr/>
          <p:nvPr/>
        </p:nvSpPr>
        <p:spPr>
          <a:xfrm>
            <a:off x="190500" y="4256419"/>
            <a:ext cx="1428750" cy="18254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Oval 46"/>
          <p:cNvSpPr/>
          <p:nvPr/>
        </p:nvSpPr>
        <p:spPr>
          <a:xfrm>
            <a:off x="204788" y="4361379"/>
            <a:ext cx="66675" cy="63888"/>
          </a:xfrm>
          <a:prstGeom prst="ellipse">
            <a:avLst/>
          </a:prstGeom>
          <a:solidFill>
            <a:srgbClr val="A35313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333375" y="4329434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9" name="Oval 48"/>
          <p:cNvSpPr/>
          <p:nvPr/>
        </p:nvSpPr>
        <p:spPr>
          <a:xfrm>
            <a:off x="204788" y="4872482"/>
            <a:ext cx="66675" cy="63888"/>
          </a:xfrm>
          <a:prstGeom prst="ellipse">
            <a:avLst/>
          </a:prstGeom>
          <a:solidFill>
            <a:srgbClr val="A35313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333375" y="4840538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Input-cost inflation and price pressure can squeeze margin.</a:t>
            </a:r>
          </a:p>
        </p:txBody>
      </p:sp>
      <p:sp>
        <p:nvSpPr>
          <p:cNvPr id="51" name="Oval 50"/>
          <p:cNvSpPr/>
          <p:nvPr/>
        </p:nvSpPr>
        <p:spPr>
          <a:xfrm>
            <a:off x="204788" y="5383586"/>
            <a:ext cx="66675" cy="63888"/>
          </a:xfrm>
          <a:prstGeom prst="ellipse">
            <a:avLst/>
          </a:prstGeom>
          <a:solidFill>
            <a:srgbClr val="A35313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333375" y="5351641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Tier-1 incumbents and regulation raise barriers and switching friction.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8334375" y="4055629"/>
            <a:ext cx="36671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350" b="1">
                <a:solidFill>
                  <a:srgbClr val="A86F00"/>
                </a:solidFill>
                <a:latin typeface="Calibri"/>
              </a:rPr>
              <a:t>Opportunities</a:t>
            </a:r>
          </a:p>
        </p:txBody>
      </p:sp>
      <p:sp>
        <p:nvSpPr>
          <p:cNvPr id="54" name="Rectangle 53"/>
          <p:cNvSpPr/>
          <p:nvPr/>
        </p:nvSpPr>
        <p:spPr>
          <a:xfrm>
            <a:off x="8334375" y="4256419"/>
            <a:ext cx="1428750" cy="18254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Oval 54"/>
          <p:cNvSpPr/>
          <p:nvPr/>
        </p:nvSpPr>
        <p:spPr>
          <a:xfrm>
            <a:off x="8348662" y="4361379"/>
            <a:ext cx="66675" cy="63888"/>
          </a:xfrm>
          <a:prstGeom prst="ellipse">
            <a:avLst/>
          </a:prstGeom>
          <a:solidFill>
            <a:srgbClr val="A86F00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8477250" y="4329434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Premiumisation headroom in 'Shampoos &amp; Cleansing Products' and adjacent high-value lines.</a:t>
            </a:r>
          </a:p>
        </p:txBody>
      </p:sp>
      <p:sp>
        <p:nvSpPr>
          <p:cNvPr id="57" name="Oval 56"/>
          <p:cNvSpPr/>
          <p:nvPr/>
        </p:nvSpPr>
        <p:spPr>
          <a:xfrm>
            <a:off x="8348662" y="4872482"/>
            <a:ext cx="66675" cy="63888"/>
          </a:xfrm>
          <a:prstGeom prst="ellipse">
            <a:avLst/>
          </a:prstGeom>
          <a:solidFill>
            <a:srgbClr val="A86F00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8477250" y="4840538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Under-penetrated regions offer share-capture runway.</a:t>
            </a:r>
          </a:p>
        </p:txBody>
      </p:sp>
      <p:sp>
        <p:nvSpPr>
          <p:cNvPr id="59" name="Oval 58"/>
          <p:cNvSpPr/>
          <p:nvPr/>
        </p:nvSpPr>
        <p:spPr>
          <a:xfrm>
            <a:off x="8348662" y="5383586"/>
            <a:ext cx="66675" cy="63888"/>
          </a:xfrm>
          <a:prstGeom prst="ellipse">
            <a:avLst/>
          </a:prstGeom>
          <a:solidFill>
            <a:srgbClr val="A86F00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8477250" y="5351641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Channel shift to online and clinics opens new demand pools.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2857500" y="6428609"/>
            <a:ext cx="91916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C0392B"/>
                </a:solidFill>
                <a:latin typeface="Calibri"/>
              </a:rPr>
              <a:t>Note: competitor figures are indicative derived from market modelling and expert validation, not company disclosures.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361950" y="1642784"/>
            <a:ext cx="14577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~</a:t>
            </a:r>
          </a:p>
        </p:txBody>
      </p:sp>
      <p:pic>
        <p:nvPicPr>
          <p:cNvPr id="64" name="Picture 6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5778" y="1633005"/>
            <a:ext cx="128699" cy="187198"/>
          </a:xfrm>
          <a:prstGeom prst="rect">
            <a:avLst/>
          </a:prstGeom>
        </p:spPr>
      </p:pic>
      <p:sp>
        <p:nvSpPr>
          <p:cNvPr id="65" name="TextBox 64"/>
          <p:cNvSpPr txBox="1"/>
          <p:nvPr/>
        </p:nvSpPr>
        <p:spPr>
          <a:xfrm>
            <a:off x="623274" y="1642784"/>
            <a:ext cx="102927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win rate with a +</a:t>
            </a:r>
          </a:p>
        </p:txBody>
      </p:sp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00596" y="1633005"/>
            <a:ext cx="128699" cy="187198"/>
          </a:xfrm>
          <a:prstGeom prst="rect">
            <a:avLst/>
          </a:prstGeom>
        </p:spPr>
      </p:pic>
      <p:sp>
        <p:nvSpPr>
          <p:cNvPr id="67" name="TextBox 66"/>
          <p:cNvSpPr txBox="1"/>
          <p:nvPr/>
        </p:nvSpPr>
        <p:spPr>
          <a:xfrm>
            <a:off x="1768092" y="1642784"/>
            <a:ext cx="149066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ASP premium clear value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361950" y="1810424"/>
            <a:ext cx="76023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recognition.</a:t>
            </a:r>
          </a:p>
        </p:txBody>
      </p:sp>
      <p:pic>
        <p:nvPicPr>
          <p:cNvPr id="69" name="Picture 6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48482" y="2655212"/>
            <a:ext cx="128699" cy="187198"/>
          </a:xfrm>
          <a:prstGeom prst="rect">
            <a:avLst/>
          </a:prstGeom>
        </p:spPr>
      </p:pic>
      <p:sp>
        <p:nvSpPr>
          <p:cNvPr id="70" name="TextBox 69"/>
          <p:cNvSpPr txBox="1"/>
          <p:nvPr/>
        </p:nvSpPr>
        <p:spPr>
          <a:xfrm>
            <a:off x="515978" y="2664991"/>
            <a:ext cx="108329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book-to-bill and ~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547325" y="2655212"/>
            <a:ext cx="128699" cy="187198"/>
          </a:xfrm>
          <a:prstGeom prst="rect">
            <a:avLst/>
          </a:prstGeom>
        </p:spPr>
      </p:pic>
      <p:sp>
        <p:nvSpPr>
          <p:cNvPr id="72" name="TextBox 71"/>
          <p:cNvSpPr txBox="1"/>
          <p:nvPr/>
        </p:nvSpPr>
        <p:spPr>
          <a:xfrm>
            <a:off x="1714820" y="2664991"/>
            <a:ext cx="130454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EBITDA signal healthy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361950" y="2832631"/>
            <a:ext cx="7831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momentum.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8505825" y="1726603"/>
            <a:ext cx="14577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~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599653" y="1716825"/>
            <a:ext cx="128699" cy="187198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8767149" y="1726603"/>
            <a:ext cx="291058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 leaves a scale gap versus the market leader.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361950" y="4482912"/>
            <a:ext cx="132449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Intense competition ~</a:t>
            </a:r>
          </a:p>
        </p:txBody>
      </p:sp>
      <p:pic>
        <p:nvPicPr>
          <p:cNvPr id="78" name="Picture 7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34497" y="4473133"/>
            <a:ext cx="128699" cy="187198"/>
          </a:xfrm>
          <a:prstGeom prst="rect">
            <a:avLst/>
          </a:prstGeom>
        </p:spPr>
      </p:pic>
      <p:sp>
        <p:nvSpPr>
          <p:cNvPr id="79" name="TextBox 78"/>
          <p:cNvSpPr txBox="1"/>
          <p:nvPr/>
        </p:nvSpPr>
        <p:spPr>
          <a:xfrm>
            <a:off x="1801993" y="4482912"/>
            <a:ext cx="173868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x pipeline needed to convert.</a:t>
            </a:r>
          </a:p>
        </p:txBody>
      </p:sp>
    </p:spTree>
  </p:cSld>
  <p:clrMapOvr>
    <a:masterClrMapping/>
  </p:clrMapOvr>
</p:sld>
</file>

<file path=ppt/slides/slide25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Laboratoire Biogance Key Financials (4/5)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Laboratoire Biogance's financial performance, key ratios and pricing, highlighting margin and momentum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73805"/>
          </a:xfrm>
          <a:prstGeom prst="roundRect">
            <a:avLst>
              <a:gd name="adj" fmla="val 2782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Key financials and pricing Laboratoire Biogance (all figures indicative, USD Mn unless noted).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54081"/>
            <a:ext cx="5905500" cy="1916638"/>
          </a:xfrm>
          <a:prstGeom prst="roundRect">
            <a:avLst>
              <a:gd name="adj" fmla="val 397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411231"/>
            <a:ext cx="5715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Laboratoire Biogance Financial Performance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611256"/>
          <a:ext cx="5886449" cy="144991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446649"/>
                <a:gridCol w="687960"/>
                <a:gridCol w="687960"/>
                <a:gridCol w="687960"/>
                <a:gridCol w="687960"/>
                <a:gridCol w="687960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USD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2020A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3009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Revenue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3009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Gross Profit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3009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Pre-Tax Profit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3009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Profit After Tax / Net Profit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070695"/>
            <a:ext cx="575310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398495"/>
            <a:ext cx="5905500" cy="3194397"/>
          </a:xfrm>
          <a:prstGeom prst="roundRect">
            <a:avLst>
              <a:gd name="adj" fmla="val 238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455645"/>
            <a:ext cx="5715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Laboratoire Biogance Key Ratios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3655670"/>
          <a:ext cx="5886449" cy="272767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099174"/>
                <a:gridCol w="757455"/>
                <a:gridCol w="757455"/>
                <a:gridCol w="757455"/>
                <a:gridCol w="757455"/>
                <a:gridCol w="757455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Key Ratios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2020A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49630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Gross Margin (%)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49630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Pre-Tax Margin (%)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49630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Net Margin (%)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49630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Return on Equity (%)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49630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Return on Assets (%)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6392868"/>
            <a:ext cx="575310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6200775" y="1354081"/>
            <a:ext cx="5848350" cy="5238811"/>
          </a:xfrm>
          <a:prstGeom prst="roundRect">
            <a:avLst>
              <a:gd name="adj" fmla="val 14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296025" y="1411231"/>
            <a:ext cx="56578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Laboratoire Biogance Pricing Analysis (US$/MT)</a:t>
            </a:r>
          </a:p>
        </p:txBody>
      </p:sp>
      <p:graphicFrame>
        <p:nvGraphicFramePr>
          <p:cNvPr id="21" name="Table 20"/>
          <p:cNvGraphicFramePr>
            <a:graphicFrameLocks noGrp="1"/>
          </p:cNvGraphicFramePr>
          <p:nvPr/>
        </p:nvGraphicFramePr>
        <p:xfrm>
          <a:off x="6210300" y="1611256"/>
          <a:ext cx="5829300" cy="477208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199092"/>
                <a:gridCol w="815104"/>
                <a:gridCol w="815104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2020A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11314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11314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11314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11314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22" name="TextBox 21"/>
          <p:cNvSpPr txBox="1"/>
          <p:nvPr/>
        </p:nvSpPr>
        <p:spPr>
          <a:xfrm>
            <a:off x="6276975" y="6392868"/>
            <a:ext cx="56959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" name="Picture 23" descr="2_067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504595" y="1875140"/>
            <a:ext cx="876864" cy="265429"/>
          </a:xfrm>
          <a:prstGeom prst="rect">
            <a:avLst/>
          </a:prstGeom>
        </p:spPr>
      </p:pic>
      <p:pic>
        <p:nvPicPr>
          <p:cNvPr id="25" name="Picture 24" descr="2_226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192555" y="1875140"/>
            <a:ext cx="876864" cy="265429"/>
          </a:xfrm>
          <a:prstGeom prst="rect">
            <a:avLst/>
          </a:prstGeom>
        </p:spPr>
      </p:pic>
      <p:pic>
        <p:nvPicPr>
          <p:cNvPr id="26" name="Picture 25" descr="2_385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880515" y="1875140"/>
            <a:ext cx="876864" cy="265429"/>
          </a:xfrm>
          <a:prstGeom prst="rect">
            <a:avLst/>
          </a:prstGeom>
        </p:spPr>
      </p:pic>
      <p:pic>
        <p:nvPicPr>
          <p:cNvPr id="27" name="Picture 26" descr="2_543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568475" y="1875140"/>
            <a:ext cx="876864" cy="265429"/>
          </a:xfrm>
          <a:prstGeom prst="rect">
            <a:avLst/>
          </a:prstGeom>
        </p:spPr>
      </p:pic>
      <p:pic>
        <p:nvPicPr>
          <p:cNvPr id="28" name="Picture 27" descr="2_702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5256435" y="1875140"/>
            <a:ext cx="876864" cy="265429"/>
          </a:xfrm>
          <a:prstGeom prst="rect">
            <a:avLst/>
          </a:prstGeom>
        </p:spPr>
      </p:pic>
      <p:pic>
        <p:nvPicPr>
          <p:cNvPr id="29" name="Picture 28" descr="713_0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2504595" y="2176087"/>
            <a:ext cx="876864" cy="265429"/>
          </a:xfrm>
          <a:prstGeom prst="rect">
            <a:avLst/>
          </a:prstGeom>
        </p:spPr>
      </p:pic>
      <p:pic>
        <p:nvPicPr>
          <p:cNvPr id="30" name="Picture 29" descr="767_8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3192555" y="2176087"/>
            <a:ext cx="876864" cy="265429"/>
          </a:xfrm>
          <a:prstGeom prst="rect">
            <a:avLst/>
          </a:prstGeom>
        </p:spPr>
      </p:pic>
      <p:pic>
        <p:nvPicPr>
          <p:cNvPr id="31" name="Picture 30" descr="822_7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3880515" y="2176087"/>
            <a:ext cx="876864" cy="265429"/>
          </a:xfrm>
          <a:prstGeom prst="rect">
            <a:avLst/>
          </a:prstGeom>
        </p:spPr>
      </p:pic>
      <p:pic>
        <p:nvPicPr>
          <p:cNvPr id="32" name="Picture 31" descr="877_5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4568475" y="2176087"/>
            <a:ext cx="876864" cy="265429"/>
          </a:xfrm>
          <a:prstGeom prst="rect">
            <a:avLst/>
          </a:prstGeom>
        </p:spPr>
      </p:pic>
      <p:pic>
        <p:nvPicPr>
          <p:cNvPr id="33" name="Picture 32" descr="932_3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5256435" y="2176087"/>
            <a:ext cx="876864" cy="265429"/>
          </a:xfrm>
          <a:prstGeom prst="rect">
            <a:avLst/>
          </a:prstGeom>
        </p:spPr>
      </p:pic>
      <p:pic>
        <p:nvPicPr>
          <p:cNvPr id="34" name="Picture 33" descr="338_9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2504595" y="2477034"/>
            <a:ext cx="876864" cy="265429"/>
          </a:xfrm>
          <a:prstGeom prst="rect">
            <a:avLst/>
          </a:prstGeom>
        </p:spPr>
      </p:pic>
      <p:pic>
        <p:nvPicPr>
          <p:cNvPr id="35" name="Picture 34" descr="365_0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3192555" y="2477034"/>
            <a:ext cx="876864" cy="265429"/>
          </a:xfrm>
          <a:prstGeom prst="rect">
            <a:avLst/>
          </a:prstGeom>
        </p:spPr>
      </p:pic>
      <p:pic>
        <p:nvPicPr>
          <p:cNvPr id="36" name="Picture 35" descr="391_1_605E5C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3880515" y="2477034"/>
            <a:ext cx="876864" cy="265429"/>
          </a:xfrm>
          <a:prstGeom prst="rect">
            <a:avLst/>
          </a:prstGeom>
        </p:spPr>
      </p:pic>
      <p:pic>
        <p:nvPicPr>
          <p:cNvPr id="37" name="Picture 36" descr="417_1_605E5C.png"/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4568475" y="2477034"/>
            <a:ext cx="876864" cy="265429"/>
          </a:xfrm>
          <a:prstGeom prst="rect">
            <a:avLst/>
          </a:prstGeom>
        </p:spPr>
      </p:pic>
      <p:pic>
        <p:nvPicPr>
          <p:cNvPr id="38" name="Picture 37" descr="443_2_605E5C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5256435" y="2477034"/>
            <a:ext cx="876864" cy="265429"/>
          </a:xfrm>
          <a:prstGeom prst="rect">
            <a:avLst/>
          </a:prstGeom>
        </p:spPr>
      </p:pic>
      <p:pic>
        <p:nvPicPr>
          <p:cNvPr id="39" name="Picture 38" descr="254_2_605E5C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2504595" y="2777981"/>
            <a:ext cx="876864" cy="265429"/>
          </a:xfrm>
          <a:prstGeom prst="rect">
            <a:avLst/>
          </a:prstGeom>
        </p:spPr>
      </p:pic>
      <p:pic>
        <p:nvPicPr>
          <p:cNvPr id="40" name="Picture 39" descr="273_7_605E5C.png"/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3192555" y="2777981"/>
            <a:ext cx="876864" cy="265429"/>
          </a:xfrm>
          <a:prstGeom prst="rect">
            <a:avLst/>
          </a:prstGeom>
        </p:spPr>
      </p:pic>
      <p:pic>
        <p:nvPicPr>
          <p:cNvPr id="41" name="Picture 40" descr="293_3_605E5C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3880515" y="2777981"/>
            <a:ext cx="876864" cy="265429"/>
          </a:xfrm>
          <a:prstGeom prst="rect">
            <a:avLst/>
          </a:prstGeom>
        </p:spPr>
      </p:pic>
      <p:pic>
        <p:nvPicPr>
          <p:cNvPr id="42" name="Picture 41" descr="312_8_605E5C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4568475" y="2777981"/>
            <a:ext cx="876864" cy="265429"/>
          </a:xfrm>
          <a:prstGeom prst="rect">
            <a:avLst/>
          </a:prstGeom>
        </p:spPr>
      </p:pic>
      <p:pic>
        <p:nvPicPr>
          <p:cNvPr id="43" name="Picture 42" descr="332_4_605E5C.png"/>
          <p:cNvPicPr>
            <a:picLocks noChangeAspect="1"/>
          </p:cNvPicPr>
          <p:nvPr/>
        </p:nvPicPr>
        <p:blipFill>
          <a:blip r:embed="rId23"/>
          <a:stretch>
            <a:fillRect/>
          </a:stretch>
        </p:blipFill>
        <p:spPr>
          <a:xfrm>
            <a:off x="5256435" y="2777981"/>
            <a:ext cx="876864" cy="265429"/>
          </a:xfrm>
          <a:prstGeom prst="rect">
            <a:avLst/>
          </a:prstGeom>
        </p:spPr>
      </p:pic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4150927" y="2219246"/>
            <a:ext cx="330041" cy="480060"/>
          </a:xfrm>
          <a:prstGeom prst="rect">
            <a:avLst/>
          </a:prstGeom>
        </p:spPr>
      </p:pic>
      <p:pic>
        <p:nvPicPr>
          <p:cNvPr id="45" name="Picture 44" descr="34_5__605E5C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2191868" y="4017235"/>
            <a:ext cx="876864" cy="265429"/>
          </a:xfrm>
          <a:prstGeom prst="rect">
            <a:avLst/>
          </a:prstGeom>
        </p:spPr>
      </p:pic>
      <p:pic>
        <p:nvPicPr>
          <p:cNvPr id="46" name="Picture 45" descr="34_5__605E5C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2949323" y="4017235"/>
            <a:ext cx="876864" cy="265429"/>
          </a:xfrm>
          <a:prstGeom prst="rect">
            <a:avLst/>
          </a:prstGeom>
        </p:spPr>
      </p:pic>
      <p:pic>
        <p:nvPicPr>
          <p:cNvPr id="47" name="Picture 46" descr="34_5__605E5C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3706778" y="4017235"/>
            <a:ext cx="876864" cy="265429"/>
          </a:xfrm>
          <a:prstGeom prst="rect">
            <a:avLst/>
          </a:prstGeom>
        </p:spPr>
      </p:pic>
      <p:pic>
        <p:nvPicPr>
          <p:cNvPr id="48" name="Picture 47" descr="34_5__605E5C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4464233" y="4017235"/>
            <a:ext cx="876864" cy="265429"/>
          </a:xfrm>
          <a:prstGeom prst="rect">
            <a:avLst/>
          </a:prstGeom>
        </p:spPr>
      </p:pic>
      <p:pic>
        <p:nvPicPr>
          <p:cNvPr id="49" name="Picture 48" descr="34_5__605E5C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5221688" y="4017235"/>
            <a:ext cx="876864" cy="265429"/>
          </a:xfrm>
          <a:prstGeom prst="rect">
            <a:avLst/>
          </a:prstGeom>
        </p:spPr>
      </p:pic>
      <p:pic>
        <p:nvPicPr>
          <p:cNvPr id="50" name="Picture 49" descr="16_4__605E5C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2191868" y="4513544"/>
            <a:ext cx="876864" cy="265429"/>
          </a:xfrm>
          <a:prstGeom prst="rect">
            <a:avLst/>
          </a:prstGeom>
        </p:spPr>
      </p:pic>
      <p:pic>
        <p:nvPicPr>
          <p:cNvPr id="51" name="Picture 50" descr="16_4__605E5C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2949323" y="4513544"/>
            <a:ext cx="876864" cy="265429"/>
          </a:xfrm>
          <a:prstGeom prst="rect">
            <a:avLst/>
          </a:prstGeom>
        </p:spPr>
      </p:pic>
      <p:pic>
        <p:nvPicPr>
          <p:cNvPr id="52" name="Picture 51" descr="16_4__605E5C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3706778" y="4513544"/>
            <a:ext cx="876864" cy="265429"/>
          </a:xfrm>
          <a:prstGeom prst="rect">
            <a:avLst/>
          </a:prstGeom>
        </p:spPr>
      </p:pic>
      <p:pic>
        <p:nvPicPr>
          <p:cNvPr id="53" name="Picture 52" descr="16_4__605E5C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4464233" y="4513544"/>
            <a:ext cx="876864" cy="265429"/>
          </a:xfrm>
          <a:prstGeom prst="rect">
            <a:avLst/>
          </a:prstGeom>
        </p:spPr>
      </p:pic>
      <p:pic>
        <p:nvPicPr>
          <p:cNvPr id="54" name="Picture 53" descr="16_4__605E5C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5221688" y="4513544"/>
            <a:ext cx="876864" cy="265429"/>
          </a:xfrm>
          <a:prstGeom prst="rect">
            <a:avLst/>
          </a:prstGeom>
        </p:spPr>
      </p:pic>
      <p:pic>
        <p:nvPicPr>
          <p:cNvPr id="55" name="Picture 54" descr="12_3__605E5C.png"/>
          <p:cNvPicPr>
            <a:picLocks noChangeAspect="1"/>
          </p:cNvPicPr>
          <p:nvPr/>
        </p:nvPicPr>
        <p:blipFill>
          <a:blip r:embed="rId27"/>
          <a:stretch>
            <a:fillRect/>
          </a:stretch>
        </p:blipFill>
        <p:spPr>
          <a:xfrm>
            <a:off x="2191868" y="5009853"/>
            <a:ext cx="876864" cy="265429"/>
          </a:xfrm>
          <a:prstGeom prst="rect">
            <a:avLst/>
          </a:prstGeom>
        </p:spPr>
      </p:pic>
      <p:pic>
        <p:nvPicPr>
          <p:cNvPr id="56" name="Picture 55" descr="12_3__605E5C.png"/>
          <p:cNvPicPr>
            <a:picLocks noChangeAspect="1"/>
          </p:cNvPicPr>
          <p:nvPr/>
        </p:nvPicPr>
        <p:blipFill>
          <a:blip r:embed="rId27"/>
          <a:stretch>
            <a:fillRect/>
          </a:stretch>
        </p:blipFill>
        <p:spPr>
          <a:xfrm>
            <a:off x="2949323" y="5009853"/>
            <a:ext cx="876864" cy="265429"/>
          </a:xfrm>
          <a:prstGeom prst="rect">
            <a:avLst/>
          </a:prstGeom>
        </p:spPr>
      </p:pic>
      <p:pic>
        <p:nvPicPr>
          <p:cNvPr id="57" name="Picture 56" descr="12_3__605E5C.png"/>
          <p:cNvPicPr>
            <a:picLocks noChangeAspect="1"/>
          </p:cNvPicPr>
          <p:nvPr/>
        </p:nvPicPr>
        <p:blipFill>
          <a:blip r:embed="rId27"/>
          <a:stretch>
            <a:fillRect/>
          </a:stretch>
        </p:blipFill>
        <p:spPr>
          <a:xfrm>
            <a:off x="3706778" y="5009853"/>
            <a:ext cx="876864" cy="265429"/>
          </a:xfrm>
          <a:prstGeom prst="rect">
            <a:avLst/>
          </a:prstGeom>
        </p:spPr>
      </p:pic>
      <p:pic>
        <p:nvPicPr>
          <p:cNvPr id="58" name="Picture 57" descr="12_3__605E5C.png"/>
          <p:cNvPicPr>
            <a:picLocks noChangeAspect="1"/>
          </p:cNvPicPr>
          <p:nvPr/>
        </p:nvPicPr>
        <p:blipFill>
          <a:blip r:embed="rId27"/>
          <a:stretch>
            <a:fillRect/>
          </a:stretch>
        </p:blipFill>
        <p:spPr>
          <a:xfrm>
            <a:off x="4464233" y="5009853"/>
            <a:ext cx="876864" cy="265429"/>
          </a:xfrm>
          <a:prstGeom prst="rect">
            <a:avLst/>
          </a:prstGeom>
        </p:spPr>
      </p:pic>
      <p:pic>
        <p:nvPicPr>
          <p:cNvPr id="59" name="Picture 58" descr="12_3__605E5C.png"/>
          <p:cNvPicPr>
            <a:picLocks noChangeAspect="1"/>
          </p:cNvPicPr>
          <p:nvPr/>
        </p:nvPicPr>
        <p:blipFill>
          <a:blip r:embed="rId27"/>
          <a:stretch>
            <a:fillRect/>
          </a:stretch>
        </p:blipFill>
        <p:spPr>
          <a:xfrm>
            <a:off x="5221688" y="5009853"/>
            <a:ext cx="876864" cy="265429"/>
          </a:xfrm>
          <a:prstGeom prst="rect">
            <a:avLst/>
          </a:prstGeom>
        </p:spPr>
      </p:pic>
      <p:pic>
        <p:nvPicPr>
          <p:cNvPr id="60" name="Picture 59" descr="13_0__605E5C.png"/>
          <p:cNvPicPr>
            <a:picLocks noChangeAspect="1"/>
          </p:cNvPicPr>
          <p:nvPr/>
        </p:nvPicPr>
        <p:blipFill>
          <a:blip r:embed="rId28"/>
          <a:stretch>
            <a:fillRect/>
          </a:stretch>
        </p:blipFill>
        <p:spPr>
          <a:xfrm>
            <a:off x="2191868" y="5506162"/>
            <a:ext cx="876864" cy="265429"/>
          </a:xfrm>
          <a:prstGeom prst="rect">
            <a:avLst/>
          </a:prstGeom>
        </p:spPr>
      </p:pic>
      <p:pic>
        <p:nvPicPr>
          <p:cNvPr id="61" name="Picture 60" descr="14_0__605E5C.png"/>
          <p:cNvPicPr>
            <a:picLocks noChangeAspect="1"/>
          </p:cNvPicPr>
          <p:nvPr/>
        </p:nvPicPr>
        <p:blipFill>
          <a:blip r:embed="rId29"/>
          <a:stretch>
            <a:fillRect/>
          </a:stretch>
        </p:blipFill>
        <p:spPr>
          <a:xfrm>
            <a:off x="2949323" y="5506162"/>
            <a:ext cx="876864" cy="265429"/>
          </a:xfrm>
          <a:prstGeom prst="rect">
            <a:avLst/>
          </a:prstGeom>
        </p:spPr>
      </p:pic>
      <p:pic>
        <p:nvPicPr>
          <p:cNvPr id="62" name="Picture 61" descr="15_0__605E5C.png"/>
          <p:cNvPicPr>
            <a:picLocks noChangeAspect="1"/>
          </p:cNvPicPr>
          <p:nvPr/>
        </p:nvPicPr>
        <p:blipFill>
          <a:blip r:embed="rId30"/>
          <a:stretch>
            <a:fillRect/>
          </a:stretch>
        </p:blipFill>
        <p:spPr>
          <a:xfrm>
            <a:off x="3706778" y="5506162"/>
            <a:ext cx="876864" cy="265429"/>
          </a:xfrm>
          <a:prstGeom prst="rect">
            <a:avLst/>
          </a:prstGeom>
        </p:spPr>
      </p:pic>
      <p:pic>
        <p:nvPicPr>
          <p:cNvPr id="63" name="Picture 62" descr="16_0__605E5C.png"/>
          <p:cNvPicPr>
            <a:picLocks noChangeAspect="1"/>
          </p:cNvPicPr>
          <p:nvPr/>
        </p:nvPicPr>
        <p:blipFill>
          <a:blip r:embed="rId31"/>
          <a:stretch>
            <a:fillRect/>
          </a:stretch>
        </p:blipFill>
        <p:spPr>
          <a:xfrm>
            <a:off x="4464233" y="5506162"/>
            <a:ext cx="876864" cy="265429"/>
          </a:xfrm>
          <a:prstGeom prst="rect">
            <a:avLst/>
          </a:prstGeom>
        </p:spPr>
      </p:pic>
      <p:pic>
        <p:nvPicPr>
          <p:cNvPr id="64" name="Picture 63" descr="17_0__605E5C.png"/>
          <p:cNvPicPr>
            <a:picLocks noChangeAspect="1"/>
          </p:cNvPicPr>
          <p:nvPr/>
        </p:nvPicPr>
        <p:blipFill>
          <a:blip r:embed="rId32"/>
          <a:stretch>
            <a:fillRect/>
          </a:stretch>
        </p:blipFill>
        <p:spPr>
          <a:xfrm>
            <a:off x="5221688" y="5506162"/>
            <a:ext cx="876864" cy="265429"/>
          </a:xfrm>
          <a:prstGeom prst="rect">
            <a:avLst/>
          </a:prstGeom>
        </p:spPr>
      </p:pic>
      <p:pic>
        <p:nvPicPr>
          <p:cNvPr id="65" name="Picture 64" descr="7_5__605E5C.png"/>
          <p:cNvPicPr>
            <a:picLocks noChangeAspect="1"/>
          </p:cNvPicPr>
          <p:nvPr/>
        </p:nvPicPr>
        <p:blipFill>
          <a:blip r:embed="rId33"/>
          <a:stretch>
            <a:fillRect/>
          </a:stretch>
        </p:blipFill>
        <p:spPr>
          <a:xfrm>
            <a:off x="2270075" y="6002471"/>
            <a:ext cx="720450" cy="265429"/>
          </a:xfrm>
          <a:prstGeom prst="rect">
            <a:avLst/>
          </a:prstGeom>
        </p:spPr>
      </p:pic>
      <p:pic>
        <p:nvPicPr>
          <p:cNvPr id="66" name="Picture 65" descr="7_9__605E5C.png"/>
          <p:cNvPicPr>
            <a:picLocks noChangeAspect="1"/>
          </p:cNvPicPr>
          <p:nvPr/>
        </p:nvPicPr>
        <p:blipFill>
          <a:blip r:embed="rId34"/>
          <a:stretch>
            <a:fillRect/>
          </a:stretch>
        </p:blipFill>
        <p:spPr>
          <a:xfrm>
            <a:off x="3027530" y="6002471"/>
            <a:ext cx="720450" cy="265429"/>
          </a:xfrm>
          <a:prstGeom prst="rect">
            <a:avLst/>
          </a:prstGeom>
        </p:spPr>
      </p:pic>
      <p:pic>
        <p:nvPicPr>
          <p:cNvPr id="67" name="Picture 66" descr="8_3__605E5C.png"/>
          <p:cNvPicPr>
            <a:picLocks noChangeAspect="1"/>
          </p:cNvPicPr>
          <p:nvPr/>
        </p:nvPicPr>
        <p:blipFill>
          <a:blip r:embed="rId35"/>
          <a:stretch>
            <a:fillRect/>
          </a:stretch>
        </p:blipFill>
        <p:spPr>
          <a:xfrm>
            <a:off x="3784985" y="6002471"/>
            <a:ext cx="720450" cy="265429"/>
          </a:xfrm>
          <a:prstGeom prst="rect">
            <a:avLst/>
          </a:prstGeom>
        </p:spPr>
      </p:pic>
      <p:pic>
        <p:nvPicPr>
          <p:cNvPr id="68" name="Picture 67" descr="8_7__605E5C.png"/>
          <p:cNvPicPr>
            <a:picLocks noChangeAspect="1"/>
          </p:cNvPicPr>
          <p:nvPr/>
        </p:nvPicPr>
        <p:blipFill>
          <a:blip r:embed="rId36"/>
          <a:stretch>
            <a:fillRect/>
          </a:stretch>
        </p:blipFill>
        <p:spPr>
          <a:xfrm>
            <a:off x="4542440" y="6002471"/>
            <a:ext cx="720450" cy="265429"/>
          </a:xfrm>
          <a:prstGeom prst="rect">
            <a:avLst/>
          </a:prstGeom>
        </p:spPr>
      </p:pic>
      <p:pic>
        <p:nvPicPr>
          <p:cNvPr id="69" name="Picture 68" descr="9_1__605E5C.png"/>
          <p:cNvPicPr>
            <a:picLocks noChangeAspect="1"/>
          </p:cNvPicPr>
          <p:nvPr/>
        </p:nvPicPr>
        <p:blipFill>
          <a:blip r:embed="rId37"/>
          <a:stretch>
            <a:fillRect/>
          </a:stretch>
        </p:blipFill>
        <p:spPr>
          <a:xfrm>
            <a:off x="5299895" y="6002471"/>
            <a:ext cx="720450" cy="265429"/>
          </a:xfrm>
          <a:prstGeom prst="rect">
            <a:avLst/>
          </a:prstGeom>
        </p:spPr>
      </p:pic>
      <p:pic>
        <p:nvPicPr>
          <p:cNvPr id="70" name="Picture 69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3958521" y="4875868"/>
            <a:ext cx="366712" cy="533400"/>
          </a:xfrm>
          <a:prstGeom prst="rect">
            <a:avLst/>
          </a:prstGeom>
        </p:spPr>
      </p:pic>
      <p:pic>
        <p:nvPicPr>
          <p:cNvPr id="71" name="Picture 70" descr="4_20_605E5C.png"/>
          <p:cNvPicPr>
            <a:picLocks noChangeAspect="1"/>
          </p:cNvPicPr>
          <p:nvPr/>
        </p:nvPicPr>
        <p:blipFill>
          <a:blip r:embed="rId38"/>
          <a:stretch>
            <a:fillRect/>
          </a:stretch>
        </p:blipFill>
        <p:spPr>
          <a:xfrm>
            <a:off x="10456717" y="2290412"/>
            <a:ext cx="720450" cy="265429"/>
          </a:xfrm>
          <a:prstGeom prst="rect">
            <a:avLst/>
          </a:prstGeom>
        </p:spPr>
      </p:pic>
      <p:pic>
        <p:nvPicPr>
          <p:cNvPr id="72" name="Picture 71" descr="5_45_605E5C.png"/>
          <p:cNvPicPr>
            <a:picLocks noChangeAspect="1"/>
          </p:cNvPicPr>
          <p:nvPr/>
        </p:nvPicPr>
        <p:blipFill>
          <a:blip r:embed="rId39"/>
          <a:stretch>
            <a:fillRect/>
          </a:stretch>
        </p:blipFill>
        <p:spPr>
          <a:xfrm>
            <a:off x="11271821" y="2290412"/>
            <a:ext cx="720450" cy="265429"/>
          </a:xfrm>
          <a:prstGeom prst="rect">
            <a:avLst/>
          </a:prstGeom>
        </p:spPr>
      </p:pic>
      <p:pic>
        <p:nvPicPr>
          <p:cNvPr id="73" name="Picture 72" descr="4_80_605E5C.png"/>
          <p:cNvPicPr>
            <a:picLocks noChangeAspect="1"/>
          </p:cNvPicPr>
          <p:nvPr/>
        </p:nvPicPr>
        <p:blipFill>
          <a:blip r:embed="rId40"/>
          <a:stretch>
            <a:fillRect/>
          </a:stretch>
        </p:blipFill>
        <p:spPr>
          <a:xfrm>
            <a:off x="10456717" y="3421901"/>
            <a:ext cx="720450" cy="265429"/>
          </a:xfrm>
          <a:prstGeom prst="rect">
            <a:avLst/>
          </a:prstGeom>
        </p:spPr>
      </p:pic>
      <p:pic>
        <p:nvPicPr>
          <p:cNvPr id="74" name="Picture 73" descr="6_15_605E5C.png"/>
          <p:cNvPicPr>
            <a:picLocks noChangeAspect="1"/>
          </p:cNvPicPr>
          <p:nvPr/>
        </p:nvPicPr>
        <p:blipFill>
          <a:blip r:embed="rId41"/>
          <a:stretch>
            <a:fillRect/>
          </a:stretch>
        </p:blipFill>
        <p:spPr>
          <a:xfrm>
            <a:off x="11271821" y="3421901"/>
            <a:ext cx="720450" cy="265429"/>
          </a:xfrm>
          <a:prstGeom prst="rect">
            <a:avLst/>
          </a:prstGeom>
        </p:spPr>
      </p:pic>
      <p:pic>
        <p:nvPicPr>
          <p:cNvPr id="75" name="Picture 74" descr="5_40_605E5C.png"/>
          <p:cNvPicPr>
            <a:picLocks noChangeAspect="1"/>
          </p:cNvPicPr>
          <p:nvPr/>
        </p:nvPicPr>
        <p:blipFill>
          <a:blip r:embed="rId42"/>
          <a:stretch>
            <a:fillRect/>
          </a:stretch>
        </p:blipFill>
        <p:spPr>
          <a:xfrm>
            <a:off x="10456717" y="4553392"/>
            <a:ext cx="720450" cy="265429"/>
          </a:xfrm>
          <a:prstGeom prst="rect">
            <a:avLst/>
          </a:prstGeom>
        </p:spPr>
      </p:pic>
      <p:pic>
        <p:nvPicPr>
          <p:cNvPr id="76" name="Picture 75" descr="6_85_605E5C.png"/>
          <p:cNvPicPr>
            <a:picLocks noChangeAspect="1"/>
          </p:cNvPicPr>
          <p:nvPr/>
        </p:nvPicPr>
        <p:blipFill>
          <a:blip r:embed="rId43"/>
          <a:stretch>
            <a:fillRect/>
          </a:stretch>
        </p:blipFill>
        <p:spPr>
          <a:xfrm>
            <a:off x="11271821" y="4553392"/>
            <a:ext cx="720450" cy="265429"/>
          </a:xfrm>
          <a:prstGeom prst="rect">
            <a:avLst/>
          </a:prstGeom>
        </p:spPr>
      </p:pic>
      <p:pic>
        <p:nvPicPr>
          <p:cNvPr id="77" name="Picture 76" descr="6_00_605E5C.png"/>
          <p:cNvPicPr>
            <a:picLocks noChangeAspect="1"/>
          </p:cNvPicPr>
          <p:nvPr/>
        </p:nvPicPr>
        <p:blipFill>
          <a:blip r:embed="rId44"/>
          <a:stretch>
            <a:fillRect/>
          </a:stretch>
        </p:blipFill>
        <p:spPr>
          <a:xfrm>
            <a:off x="10456717" y="5684882"/>
            <a:ext cx="720450" cy="265429"/>
          </a:xfrm>
          <a:prstGeom prst="rect">
            <a:avLst/>
          </a:prstGeom>
        </p:spPr>
      </p:pic>
      <p:pic>
        <p:nvPicPr>
          <p:cNvPr id="78" name="Picture 77" descr="7_55_605E5C.png"/>
          <p:cNvPicPr>
            <a:picLocks noChangeAspect="1"/>
          </p:cNvPicPr>
          <p:nvPr/>
        </p:nvPicPr>
        <p:blipFill>
          <a:blip r:embed="rId45"/>
          <a:stretch>
            <a:fillRect/>
          </a:stretch>
        </p:blipFill>
        <p:spPr>
          <a:xfrm>
            <a:off x="11271821" y="5684882"/>
            <a:ext cx="720450" cy="265429"/>
          </a:xfrm>
          <a:prstGeom prst="rect">
            <a:avLst/>
          </a:prstGeom>
        </p:spPr>
      </p:pic>
      <p:pic>
        <p:nvPicPr>
          <p:cNvPr id="79" name="Picture 78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11037806" y="3853662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25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Laboratoire Biogance Strategy Analysis (5/5)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Laboratoire Biogance's strategic priorities and the competitive moves that support them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73805"/>
          </a:xfrm>
          <a:prstGeom prst="roundRect">
            <a:avLst>
              <a:gd name="adj" fmla="val 2782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Strategy analysis Laboratoire Biogance: strategic priorities and the competitive moves that support them (indicative).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54081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MARKET SHARE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of market value</a:t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2543175" y="1354081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WIN RATE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deals won</a:t>
            </a:r>
          </a:p>
        </p:txBody>
      </p:sp>
      <p:sp>
        <p:nvSpPr>
          <p:cNvPr id="13" name="Rounded Rectangle 12"/>
          <p:cNvSpPr/>
          <p:nvPr/>
        </p:nvSpPr>
        <p:spPr>
          <a:xfrm>
            <a:off x="4953000" y="1354081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ASP PREMIUM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vs peers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7353300" y="1354081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BOOK-TO-BILL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order momentum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9763125" y="1354081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EBITDA MARGIN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profitability</a:t>
            </a:r>
          </a:p>
        </p:txBody>
      </p:sp>
      <p:sp>
        <p:nvSpPr>
          <p:cNvPr id="16" name="Rounded Rectangle 15"/>
          <p:cNvSpPr/>
          <p:nvPr/>
        </p:nvSpPr>
        <p:spPr>
          <a:xfrm>
            <a:off x="142875" y="2084229"/>
            <a:ext cx="5905500" cy="4490410"/>
          </a:xfrm>
          <a:prstGeom prst="roundRect">
            <a:avLst>
              <a:gd name="adj" fmla="val 169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76225" y="2169954"/>
            <a:ext cx="56388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Strategic Priorities</a:t>
            </a:r>
          </a:p>
        </p:txBody>
      </p:sp>
      <p:sp>
        <p:nvSpPr>
          <p:cNvPr id="18" name="Rectangle 17"/>
          <p:cNvSpPr/>
          <p:nvPr/>
        </p:nvSpPr>
        <p:spPr>
          <a:xfrm>
            <a:off x="276225" y="2408079"/>
            <a:ext cx="56388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76225" y="2493804"/>
            <a:ext cx="5638800" cy="400463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6200775" y="2084229"/>
            <a:ext cx="5848350" cy="4490410"/>
          </a:xfrm>
          <a:prstGeom prst="roundRect">
            <a:avLst>
              <a:gd name="adj" fmla="val 169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6334125" y="2169954"/>
            <a:ext cx="55816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Competitive Moves</a:t>
            </a:r>
          </a:p>
        </p:txBody>
      </p:sp>
      <p:sp>
        <p:nvSpPr>
          <p:cNvPr id="22" name="Rectangle 21"/>
          <p:cNvSpPr/>
          <p:nvPr/>
        </p:nvSpPr>
        <p:spPr>
          <a:xfrm>
            <a:off x="6334125" y="2408079"/>
            <a:ext cx="55816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6334125" y="2493804"/>
            <a:ext cx="5581650" cy="400463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202531" y="1540967"/>
            <a:ext cx="157162" cy="228600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602831" y="1540967"/>
            <a:ext cx="157162" cy="228600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12656" y="1540967"/>
            <a:ext cx="157162" cy="228600"/>
          </a:xfrm>
          <a:prstGeom prst="rect">
            <a:avLst/>
          </a:prstGeom>
        </p:spPr>
      </p:pic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412956" y="1540967"/>
            <a:ext cx="157162" cy="228600"/>
          </a:xfrm>
          <a:prstGeom prst="rect">
            <a:avLst/>
          </a:prstGeom>
        </p:spPr>
      </p:pic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822781" y="1540967"/>
            <a:ext cx="157162" cy="228600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276225" y="2503329"/>
            <a:ext cx="500738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Defend and extend leadership in 'General Retail' Laboratoire Biogance's strongest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276225" y="2678589"/>
            <a:ext cx="31749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end-market while scaling the next-best applications.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76225" y="2906426"/>
            <a:ext cx="9099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Convert its ~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35376" y="2896203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1310485" y="2906426"/>
            <a:ext cx="92910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win rate and +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88748" y="2896203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2363857" y="2906426"/>
            <a:ext cx="31090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ASP premium into share gains through value-based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276225" y="3081686"/>
            <a:ext cx="4892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selling.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276225" y="3309524"/>
            <a:ext cx="267400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Raise SAM penetration beyond 'Europe' (~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99386" y="3299301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3074495" y="3309524"/>
            <a:ext cx="201906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 into lower-penetration regions.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276225" y="3537362"/>
            <a:ext cx="69405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Sustain a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19438" y="3527139"/>
            <a:ext cx="134549" cy="195707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1094548" y="3537362"/>
            <a:ext cx="375055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book-to-bill with disciplined capacity and channel investment.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276225" y="3765200"/>
            <a:ext cx="532116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Protect margin through corridor-based pricing and cost discipline as input prices move.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6334125" y="2503329"/>
            <a:ext cx="55626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Premiumise the portfolio around 'Shampoos &amp; Cleansing Products' and adjacent high-value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6334125" y="2678589"/>
            <a:ext cx="169473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lines to lift blended pricing.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6334125" y="2906426"/>
            <a:ext cx="55626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Deepen presence in 'Europe' (largest SOM region) and build out under-served geographies.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6334125" y="3134264"/>
            <a:ext cx="547114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Invest in R&amp;D, certification and selective M&amp;A to move up the price ladder and widen the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6334125" y="3309524"/>
            <a:ext cx="42563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moat.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6334125" y="3537362"/>
            <a:ext cx="526753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Diversify the customer base and secure supply to de-risk concentration and input-cost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6334125" y="3712622"/>
            <a:ext cx="5092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shocks.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6334125" y="3940460"/>
            <a:ext cx="310217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Sharpen go-to-market a ~90-day sales cycle and ~</a:t>
            </a:r>
          </a:p>
        </p:txBody>
      </p:sp>
      <p:pic>
        <p:nvPicPr>
          <p:cNvPr id="53" name="Picture 5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385452" y="3930237"/>
            <a:ext cx="134549" cy="195707"/>
          </a:xfrm>
          <a:prstGeom prst="rect">
            <a:avLst/>
          </a:prstGeom>
        </p:spPr>
      </p:pic>
      <p:sp>
        <p:nvSpPr>
          <p:cNvPr id="54" name="TextBox 53"/>
          <p:cNvSpPr txBox="1"/>
          <p:nvPr/>
        </p:nvSpPr>
        <p:spPr>
          <a:xfrm>
            <a:off x="9560561" y="3940460"/>
            <a:ext cx="200366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conversion speed share capture.</a:t>
            </a:r>
          </a:p>
        </p:txBody>
      </p:sp>
    </p:spTree>
  </p:cSld>
  <p:clrMapOvr>
    <a:masterClrMapping/>
  </p:clrMapOvr>
</p:sld>
</file>

<file path=ppt/slides/slide26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Laboratoire Francodex Executive Market Snapshot (1/5)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Overview of total market, addressable opportunity and share of market by end-market, region and product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73805"/>
          </a:xfrm>
          <a:prstGeom prst="roundRect">
            <a:avLst>
              <a:gd name="adj" fmla="val 2782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Executive snapshot and strategic positioning Laboratoire Francodex: market, addressable opportunity and SOM splits by end-market, region and product.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35828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TAM (US$ MN)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Total market</a:t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2543175" y="1335828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SAM (US$ MN)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Addressable</a:t>
            </a:r>
          </a:p>
        </p:txBody>
      </p:sp>
      <p:sp>
        <p:nvSpPr>
          <p:cNvPr id="13" name="Rounded Rectangle 12"/>
          <p:cNvSpPr/>
          <p:nvPr/>
        </p:nvSpPr>
        <p:spPr>
          <a:xfrm>
            <a:off x="4953000" y="1335828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/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7353300" y="1335828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BOOK-TO-BILL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Order momentum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9763125" y="1335828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EBITDA MARGIN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Profitability</a:t>
            </a:r>
          </a:p>
        </p:txBody>
      </p:sp>
      <p:sp>
        <p:nvSpPr>
          <p:cNvPr id="16" name="Rounded Rectangle 15"/>
          <p:cNvSpPr/>
          <p:nvPr/>
        </p:nvSpPr>
        <p:spPr>
          <a:xfrm>
            <a:off x="142875" y="2065976"/>
            <a:ext cx="3829050" cy="2610279"/>
          </a:xfrm>
          <a:prstGeom prst="roundRect">
            <a:avLst>
              <a:gd name="adj" fmla="val 291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38125" y="2123126"/>
            <a:ext cx="3638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SOM by End-Market (US$ Mn)</a:t>
            </a:r>
          </a:p>
        </p:txBody>
      </p:sp>
      <p:graphicFrame>
        <p:nvGraphicFramePr>
          <p:cNvPr id="18" name="Chart 17"/>
          <p:cNvGraphicFramePr>
            <a:graphicFrameLocks noGrp="1"/>
          </p:cNvGraphicFramePr>
          <p:nvPr/>
        </p:nvGraphicFramePr>
        <p:xfrm>
          <a:off x="238125" y="2351726"/>
          <a:ext cx="3638550" cy="2267379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9" name="Rounded Rectangle 18"/>
          <p:cNvSpPr/>
          <p:nvPr/>
        </p:nvSpPr>
        <p:spPr>
          <a:xfrm>
            <a:off x="4124325" y="2065976"/>
            <a:ext cx="3829050" cy="2610279"/>
          </a:xfrm>
          <a:prstGeom prst="roundRect">
            <a:avLst>
              <a:gd name="adj" fmla="val 291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4219575" y="2123126"/>
            <a:ext cx="3638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SOM by Region (US$ Mn)</a:t>
            </a:r>
          </a:p>
        </p:txBody>
      </p:sp>
      <p:graphicFrame>
        <p:nvGraphicFramePr>
          <p:cNvPr id="21" name="Chart 20"/>
          <p:cNvGraphicFramePr>
            <a:graphicFrameLocks noGrp="1"/>
          </p:cNvGraphicFramePr>
          <p:nvPr/>
        </p:nvGraphicFramePr>
        <p:xfrm>
          <a:off x="4219575" y="2351726"/>
          <a:ext cx="3638550" cy="2267379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2" name="Rounded Rectangle 21"/>
          <p:cNvSpPr/>
          <p:nvPr/>
        </p:nvSpPr>
        <p:spPr>
          <a:xfrm>
            <a:off x="8105775" y="2065976"/>
            <a:ext cx="3943350" cy="2610279"/>
          </a:xfrm>
          <a:prstGeom prst="roundRect">
            <a:avLst>
              <a:gd name="adj" fmla="val 291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8201025" y="2123126"/>
            <a:ext cx="37528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SOM by Product Line (US$ Mn)</a:t>
            </a:r>
          </a:p>
        </p:txBody>
      </p:sp>
      <p:graphicFrame>
        <p:nvGraphicFramePr>
          <p:cNvPr id="24" name="Chart 23"/>
          <p:cNvGraphicFramePr>
            <a:graphicFrameLocks noGrp="1"/>
          </p:cNvGraphicFramePr>
          <p:nvPr/>
        </p:nvGraphicFramePr>
        <p:xfrm>
          <a:off x="8201025" y="2351726"/>
          <a:ext cx="3752850" cy="2267379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5" name="Rounded Rectangle 24"/>
          <p:cNvSpPr/>
          <p:nvPr/>
        </p:nvSpPr>
        <p:spPr>
          <a:xfrm>
            <a:off x="142875" y="4785777"/>
            <a:ext cx="11906250" cy="1807116"/>
          </a:xfrm>
          <a:prstGeom prst="roundRect">
            <a:avLst>
              <a:gd name="adj" fmla="val 421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276225" y="4871502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Takeaways</a:t>
            </a:r>
          </a:p>
        </p:txBody>
      </p:sp>
      <p:sp>
        <p:nvSpPr>
          <p:cNvPr id="27" name="Rectangle 26"/>
          <p:cNvSpPr/>
          <p:nvPr/>
        </p:nvSpPr>
        <p:spPr>
          <a:xfrm>
            <a:off x="276225" y="5109627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276225" y="5195352"/>
            <a:ext cx="11639550" cy="1321341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202531" y="1522714"/>
            <a:ext cx="157162" cy="228600"/>
          </a:xfrm>
          <a:prstGeom prst="rect">
            <a:avLst/>
          </a:prstGeom>
        </p:spPr>
      </p:pic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602831" y="1522714"/>
            <a:ext cx="157162" cy="228600"/>
          </a:xfrm>
          <a:prstGeom prst="rect">
            <a:avLst/>
          </a:prstGeom>
        </p:spPr>
      </p:pic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412956" y="1522714"/>
            <a:ext cx="157162" cy="228600"/>
          </a:xfrm>
          <a:prstGeom prst="rect">
            <a:avLst/>
          </a:prstGeom>
        </p:spPr>
      </p:pic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0822781" y="1522714"/>
            <a:ext cx="157162" cy="228600"/>
          </a:xfrm>
          <a:prstGeom prst="rect">
            <a:avLst/>
          </a:prstGeom>
        </p:spPr>
      </p:pic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2104623" y="3299104"/>
            <a:ext cx="197242" cy="286897"/>
          </a:xfrm>
          <a:prstGeom prst="rect">
            <a:avLst/>
          </a:prstGeom>
        </p:spPr>
      </p:pic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278088" y="3145920"/>
            <a:ext cx="444576" cy="646656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5758516" y="1377568"/>
            <a:ext cx="741641" cy="146456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835" b="1">
                <a:solidFill>
                  <a:srgbClr val="6C7A89"/>
                </a:solidFill>
                <a:latin typeface="Calibri"/>
              </a:rPr>
              <a:t>SOM (US$ MN)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017010" y="1533061"/>
            <a:ext cx="133378" cy="194005"/>
          </a:xfrm>
          <a:prstGeom prst="rect">
            <a:avLst/>
          </a:prstGeom>
        </p:spPr>
      </p:pic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865805" y="1761621"/>
            <a:ext cx="97811" cy="142270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5993102" y="1769053"/>
            <a:ext cx="389531" cy="146456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835" b="0">
                <a:solidFill>
                  <a:srgbClr val="6C7A89"/>
                </a:solidFill>
                <a:latin typeface="Calibri"/>
              </a:rPr>
              <a:t>of SAM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276225" y="5204877"/>
            <a:ext cx="317320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Market Position: Laboratoire Francodex captures ~</a:t>
            </a:r>
          </a:p>
        </p:txBody>
      </p:sp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398580" y="5194653"/>
            <a:ext cx="134549" cy="195707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3573689" y="5204877"/>
            <a:ext cx="40592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a US$ Mn SAM, with its strongest end-market in 'General Retail'.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276225" y="5432715"/>
            <a:ext cx="62918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Geographic Balance: 'Europe' is the largest SOM region; 'Europe' shows the highest SAM penetration (~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517261" y="5422491"/>
            <a:ext cx="134549" cy="195707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6692370" y="5432715"/>
            <a:ext cx="1572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276225" y="5660552"/>
            <a:ext cx="139179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Growth Trajectory: a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617169" y="5650329"/>
            <a:ext cx="134549" cy="195707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1792279" y="5660552"/>
            <a:ext cx="112907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book-to-bill and ~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2870505" y="5650329"/>
            <a:ext cx="134549" cy="195707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3045614" y="5660552"/>
            <a:ext cx="450359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EBITDA margin point to a path to capture more of the addressable market.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276225" y="5888390"/>
            <a:ext cx="135353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Competitive Edge: ~</a:t>
            </a:r>
          </a:p>
        </p:txBody>
      </p:sp>
      <p:pic>
        <p:nvPicPr>
          <p:cNvPr id="52" name="Picture 51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578914" y="5878167"/>
            <a:ext cx="134549" cy="195707"/>
          </a:xfrm>
          <a:prstGeom prst="rect">
            <a:avLst/>
          </a:prstGeom>
        </p:spPr>
      </p:pic>
      <p:sp>
        <p:nvSpPr>
          <p:cNvPr id="53" name="TextBox 52"/>
          <p:cNvSpPr txBox="1"/>
          <p:nvPr/>
        </p:nvSpPr>
        <p:spPr>
          <a:xfrm>
            <a:off x="1754024" y="5888390"/>
            <a:ext cx="107259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win rate with a +</a:t>
            </a:r>
          </a:p>
        </p:txBody>
      </p:sp>
      <p:pic>
        <p:nvPicPr>
          <p:cNvPr id="54" name="Picture 53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2775769" y="5878167"/>
            <a:ext cx="134549" cy="195707"/>
          </a:xfrm>
          <a:prstGeom prst="rect">
            <a:avLst/>
          </a:prstGeom>
        </p:spPr>
      </p:pic>
      <p:sp>
        <p:nvSpPr>
          <p:cNvPr id="55" name="TextBox 54"/>
          <p:cNvSpPr txBox="1"/>
          <p:nvPr/>
        </p:nvSpPr>
        <p:spPr>
          <a:xfrm>
            <a:off x="2950879" y="5888390"/>
            <a:ext cx="113705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ASP premium and</a:t>
            </a:r>
          </a:p>
        </p:txBody>
      </p:sp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037092" y="5878167"/>
            <a:ext cx="134549" cy="195707"/>
          </a:xfrm>
          <a:prstGeom prst="rect">
            <a:avLst/>
          </a:prstGeom>
        </p:spPr>
      </p:pic>
      <p:sp>
        <p:nvSpPr>
          <p:cNvPr id="57" name="TextBox 56"/>
          <p:cNvSpPr txBox="1"/>
          <p:nvPr/>
        </p:nvSpPr>
        <p:spPr>
          <a:xfrm>
            <a:off x="4212201" y="5888390"/>
            <a:ext cx="12591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x pipeline coverage.</a:t>
            </a:r>
          </a:p>
        </p:txBody>
      </p:sp>
      <p:sp>
        <p:nvSpPr>
          <p:cNvPr id="58" name="lockshield_18"/>
          <p:cNvSpPr/>
          <p:nvPr/>
        </p:nvSpPr>
        <p:spPr>
          <a:xfrm>
            <a:off x="238125" y="2351726"/>
            <a:ext cx="3638550" cy="2267379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lockshield_21"/>
          <p:cNvSpPr/>
          <p:nvPr/>
        </p:nvSpPr>
        <p:spPr>
          <a:xfrm>
            <a:off x="4219575" y="2351726"/>
            <a:ext cx="3638550" cy="2267379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lockshield_24"/>
          <p:cNvSpPr/>
          <p:nvPr/>
        </p:nvSpPr>
        <p:spPr>
          <a:xfrm>
            <a:off x="8201025" y="2351726"/>
            <a:ext cx="3752850" cy="2267379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26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Laboratoire Francodex Regional Penetration &amp; Win Position (2/5)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Regional penetration and competitive positioning highlighting growth potential, win rates and sales efficiency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55552"/>
          </a:xfrm>
          <a:prstGeom prst="roundRect">
            <a:avLst>
              <a:gd name="adj" fmla="val 2981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Regional penetration and competitive positioning Laboratoire Francodex: SOM vs SAM by region, win position, TAM/SAM/SOM and go-to-market benchmarks.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299320"/>
            <a:ext cx="5905500" cy="2263459"/>
          </a:xfrm>
          <a:prstGeom prst="roundRect">
            <a:avLst>
              <a:gd name="adj" fmla="val 336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356470"/>
            <a:ext cx="5715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SOM vs SAM Penetration by Region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5070"/>
          <a:ext cx="5715000" cy="1920559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62675" y="1299320"/>
            <a:ext cx="5886450" cy="2263459"/>
          </a:xfrm>
          <a:prstGeom prst="roundRect">
            <a:avLst>
              <a:gd name="adj" fmla="val 336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57925" y="1356470"/>
            <a:ext cx="56959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Competitive Win Position</a:t>
            </a:r>
          </a:p>
        </p:txBody>
      </p:sp>
      <p:cxnSp>
        <p:nvCxnSpPr>
          <p:cNvPr id="16" name="Connector 15"/>
          <p:cNvCxnSpPr/>
          <p:nvPr/>
        </p:nvCxnSpPr>
        <p:spPr>
          <a:xfrm>
            <a:off x="6581775" y="3219879"/>
            <a:ext cx="5257800" cy="0"/>
          </a:xfrm>
          <a:prstGeom prst="line">
            <a:avLst/>
          </a:prstGeom>
          <a:ln w="12700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" name="Connector 16"/>
          <p:cNvCxnSpPr/>
          <p:nvPr/>
        </p:nvCxnSpPr>
        <p:spPr>
          <a:xfrm>
            <a:off x="6581775" y="1680320"/>
            <a:ext cx="0" cy="1539559"/>
          </a:xfrm>
          <a:prstGeom prst="line">
            <a:avLst/>
          </a:prstGeom>
          <a:ln w="12700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TextBox 17"/>
          <p:cNvSpPr txBox="1"/>
          <p:nvPr/>
        </p:nvSpPr>
        <p:spPr>
          <a:xfrm>
            <a:off x="6467475" y="3238929"/>
            <a:ext cx="228600" cy="11430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0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7969704" y="3238929"/>
            <a:ext cx="228600" cy="11430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1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9471932" y="3238929"/>
            <a:ext cx="228600" cy="11430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2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10974161" y="3238929"/>
            <a:ext cx="228600" cy="11430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3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6581775" y="3353229"/>
            <a:ext cx="5257800" cy="11430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Win Rate %</a:t>
            </a:r>
          </a:p>
        </p:txBody>
      </p:sp>
      <p:sp>
        <p:nvSpPr>
          <p:cNvPr id="23" name="TextBox 22"/>
          <p:cNvSpPr txBox="1"/>
          <p:nvPr/>
        </p:nvSpPr>
        <p:spPr>
          <a:xfrm rot="16200000">
            <a:off x="6029325" y="2373900"/>
            <a:ext cx="571500" cy="15240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ASP vs Peer</a:t>
            </a:r>
          </a:p>
        </p:txBody>
      </p:sp>
      <p:sp>
        <p:nvSpPr>
          <p:cNvPr id="24" name="Oval 23"/>
          <p:cNvSpPr/>
          <p:nvPr/>
        </p:nvSpPr>
        <p:spPr>
          <a:xfrm>
            <a:off x="7900089" y="1979874"/>
            <a:ext cx="247650" cy="247650"/>
          </a:xfrm>
          <a:prstGeom prst="ellipse">
            <a:avLst/>
          </a:prstGeom>
          <a:solidFill>
            <a:srgbClr val="29ABE2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8185839" y="2017974"/>
            <a:ext cx="14287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Laboratoire Francodex</a:t>
            </a:r>
          </a:p>
        </p:txBody>
      </p:sp>
      <p:sp>
        <p:nvSpPr>
          <p:cNvPr id="26" name="Oval 25"/>
          <p:cNvSpPr/>
          <p:nvPr/>
        </p:nvSpPr>
        <p:spPr>
          <a:xfrm>
            <a:off x="9283609" y="1912810"/>
            <a:ext cx="304800" cy="304800"/>
          </a:xfrm>
          <a:prstGeom prst="ellipse">
            <a:avLst/>
          </a:prstGeom>
          <a:solidFill>
            <a:srgbClr val="8C8C8C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TextBox 26"/>
          <p:cNvSpPr txBox="1"/>
          <p:nvPr/>
        </p:nvSpPr>
        <p:spPr>
          <a:xfrm>
            <a:off x="9626509" y="1979485"/>
            <a:ext cx="14287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Industry Avg.</a:t>
            </a:r>
          </a:p>
        </p:txBody>
      </p:sp>
      <p:sp>
        <p:nvSpPr>
          <p:cNvPr id="28" name="Oval 27"/>
          <p:cNvSpPr/>
          <p:nvPr/>
        </p:nvSpPr>
        <p:spPr>
          <a:xfrm>
            <a:off x="10513967" y="2711164"/>
            <a:ext cx="247650" cy="247650"/>
          </a:xfrm>
          <a:prstGeom prst="ellipse">
            <a:avLst/>
          </a:prstGeom>
          <a:solidFill>
            <a:srgbClr val="0E72AE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10706100" y="2749264"/>
            <a:ext cx="14287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Market Leader</a:t>
            </a:r>
          </a:p>
        </p:txBody>
      </p:sp>
      <p:sp>
        <p:nvSpPr>
          <p:cNvPr id="30" name="Rounded Rectangle 29"/>
          <p:cNvSpPr/>
          <p:nvPr/>
        </p:nvSpPr>
        <p:spPr>
          <a:xfrm>
            <a:off x="142875" y="3635794"/>
            <a:ext cx="5905500" cy="1661086"/>
          </a:xfrm>
          <a:prstGeom prst="roundRect">
            <a:avLst>
              <a:gd name="adj" fmla="val 458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238125" y="3692944"/>
            <a:ext cx="5715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TAM · SAM · SOM (US$ Mn)</a:t>
            </a:r>
          </a:p>
        </p:txBody>
      </p:sp>
      <p:sp>
        <p:nvSpPr>
          <p:cNvPr id="32" name="Rectangle 31"/>
          <p:cNvSpPr/>
          <p:nvPr/>
        </p:nvSpPr>
        <p:spPr>
          <a:xfrm>
            <a:off x="238125" y="3921544"/>
            <a:ext cx="5715000" cy="363195"/>
          </a:xfrm>
          <a:prstGeom prst="rect">
            <a:avLst/>
          </a:prstGeom>
          <a:solidFill>
            <a:srgbClr val="0A2E4D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57150" tIns="19050" bIns="19050"/>
          <a:lstStyle/>
          <a:p>
            <a:pPr algn="l"/>
            <a:r>
              <a:rPr sz="1150" b="1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33" name="Rectangle 32"/>
          <p:cNvSpPr/>
          <p:nvPr/>
        </p:nvSpPr>
        <p:spPr>
          <a:xfrm>
            <a:off x="238125" y="4399039"/>
            <a:ext cx="4400550" cy="363195"/>
          </a:xfrm>
          <a:prstGeom prst="rect">
            <a:avLst/>
          </a:prstGeom>
          <a:solidFill>
            <a:srgbClr val="1668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57150" tIns="19050" bIns="19050"/>
          <a:lstStyle/>
          <a:p>
            <a:pPr algn="l"/>
            <a:r>
              <a:rPr sz="1150" b="1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34" name="Rectangle 33"/>
          <p:cNvSpPr/>
          <p:nvPr/>
        </p:nvSpPr>
        <p:spPr>
          <a:xfrm>
            <a:off x="238125" y="4876535"/>
            <a:ext cx="3086100" cy="363195"/>
          </a:xfrm>
          <a:prstGeom prst="rect">
            <a:avLst/>
          </a:prstGeom>
          <a:solidFill>
            <a:srgbClr val="29ABE2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57150" tIns="19050" bIns="19050"/>
          <a:lstStyle/>
          <a:p>
            <a:pPr algn="l"/>
            <a:r>
              <a:rPr sz="1150" b="1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35" name="Rounded Rectangle 34"/>
          <p:cNvSpPr/>
          <p:nvPr/>
        </p:nvSpPr>
        <p:spPr>
          <a:xfrm>
            <a:off x="6162675" y="3635794"/>
            <a:ext cx="5886450" cy="1661086"/>
          </a:xfrm>
          <a:prstGeom prst="roundRect">
            <a:avLst>
              <a:gd name="adj" fmla="val 458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6257925" y="3692944"/>
            <a:ext cx="56959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Go-to-Market Benchmarks (Target vs Actual)</a:t>
            </a:r>
          </a:p>
        </p:txBody>
      </p:sp>
      <p:sp>
        <p:nvSpPr>
          <p:cNvPr id="37" name="Rectangle 36"/>
          <p:cNvSpPr/>
          <p:nvPr/>
        </p:nvSpPr>
        <p:spPr>
          <a:xfrm>
            <a:off x="10391775" y="3940594"/>
            <a:ext cx="95250" cy="95250"/>
          </a:xfrm>
          <a:prstGeom prst="rect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10506075" y="3912019"/>
            <a:ext cx="5715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Target</a:t>
            </a:r>
          </a:p>
        </p:txBody>
      </p:sp>
      <p:sp>
        <p:nvSpPr>
          <p:cNvPr id="39" name="Rectangle 38"/>
          <p:cNvSpPr/>
          <p:nvPr/>
        </p:nvSpPr>
        <p:spPr>
          <a:xfrm>
            <a:off x="11134725" y="3940594"/>
            <a:ext cx="95250" cy="95250"/>
          </a:xfrm>
          <a:prstGeom prst="rect">
            <a:avLst/>
          </a:prstGeom>
          <a:solidFill>
            <a:srgbClr val="69B1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11249025" y="3912019"/>
            <a:ext cx="5715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Actual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6276975" y="4153941"/>
            <a:ext cx="10668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Conversion (%)</a:t>
            </a:r>
          </a:p>
        </p:txBody>
      </p:sp>
      <p:sp>
        <p:nvSpPr>
          <p:cNvPr id="42" name="Rectangle 41"/>
          <p:cNvSpPr/>
          <p:nvPr/>
        </p:nvSpPr>
        <p:spPr>
          <a:xfrm>
            <a:off x="7381875" y="4164998"/>
            <a:ext cx="1775460" cy="93719"/>
          </a:xfrm>
          <a:prstGeom prst="rect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7381875" y="4277766"/>
            <a:ext cx="3195828" cy="93719"/>
          </a:xfrm>
          <a:prstGeom prst="rect">
            <a:avLst/>
          </a:prstGeom>
          <a:solidFill>
            <a:srgbClr val="69B1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6276975" y="4466337"/>
            <a:ext cx="10668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Sales Cycle (Days)</a:t>
            </a:r>
          </a:p>
        </p:txBody>
      </p:sp>
      <p:sp>
        <p:nvSpPr>
          <p:cNvPr id="45" name="Rectangle 44"/>
          <p:cNvSpPr/>
          <p:nvPr/>
        </p:nvSpPr>
        <p:spPr>
          <a:xfrm>
            <a:off x="7381875" y="4477393"/>
            <a:ext cx="3817239" cy="93719"/>
          </a:xfrm>
          <a:prstGeom prst="rect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7381875" y="4590162"/>
            <a:ext cx="2219325" cy="93719"/>
          </a:xfrm>
          <a:prstGeom prst="rect">
            <a:avLst/>
          </a:prstGeom>
          <a:solidFill>
            <a:srgbClr val="69B1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TextBox 46"/>
          <p:cNvSpPr txBox="1"/>
          <p:nvPr/>
        </p:nvSpPr>
        <p:spPr>
          <a:xfrm>
            <a:off x="6276975" y="4778732"/>
            <a:ext cx="10668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Pipeline Coverage</a:t>
            </a:r>
          </a:p>
        </p:txBody>
      </p:sp>
      <p:sp>
        <p:nvSpPr>
          <p:cNvPr id="48" name="Rectangle 47"/>
          <p:cNvSpPr/>
          <p:nvPr/>
        </p:nvSpPr>
        <p:spPr>
          <a:xfrm>
            <a:off x="7381875" y="4789789"/>
            <a:ext cx="2130552" cy="93719"/>
          </a:xfrm>
          <a:prstGeom prst="rect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Rectangle 48"/>
          <p:cNvSpPr/>
          <p:nvPr/>
        </p:nvSpPr>
        <p:spPr>
          <a:xfrm>
            <a:off x="7381875" y="4902557"/>
            <a:ext cx="3550920" cy="93719"/>
          </a:xfrm>
          <a:prstGeom prst="rect">
            <a:avLst/>
          </a:prstGeom>
          <a:solidFill>
            <a:srgbClr val="69B1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ounded Rectangle 49"/>
          <p:cNvSpPr/>
          <p:nvPr/>
        </p:nvSpPr>
        <p:spPr>
          <a:xfrm>
            <a:off x="142875" y="5369895"/>
            <a:ext cx="11906250" cy="1259505"/>
          </a:xfrm>
          <a:prstGeom prst="roundRect">
            <a:avLst>
              <a:gd name="adj" fmla="val 60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TextBox 50"/>
          <p:cNvSpPr txBox="1"/>
          <p:nvPr/>
        </p:nvSpPr>
        <p:spPr>
          <a:xfrm>
            <a:off x="276225" y="545562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Takeaways</a:t>
            </a:r>
          </a:p>
        </p:txBody>
      </p:sp>
      <p:sp>
        <p:nvSpPr>
          <p:cNvPr id="52" name="Rectangle 51"/>
          <p:cNvSpPr/>
          <p:nvPr/>
        </p:nvSpPr>
        <p:spPr>
          <a:xfrm>
            <a:off x="276225" y="569374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TextBox 52"/>
          <p:cNvSpPr txBox="1"/>
          <p:nvPr/>
        </p:nvSpPr>
        <p:spPr>
          <a:xfrm>
            <a:off x="276225" y="5779470"/>
            <a:ext cx="11639550" cy="77373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352425" y="4015511"/>
            <a:ext cx="87120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TAM · 100% ·</a:t>
            </a:r>
          </a:p>
        </p:txBody>
      </p:sp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72781" y="4005288"/>
            <a:ext cx="134549" cy="195707"/>
          </a:xfrm>
          <a:prstGeom prst="rect">
            <a:avLst/>
          </a:prstGeom>
        </p:spPr>
      </p:pic>
      <p:sp>
        <p:nvSpPr>
          <p:cNvPr id="57" name="TextBox 56"/>
          <p:cNvSpPr txBox="1"/>
          <p:nvPr/>
        </p:nvSpPr>
        <p:spPr>
          <a:xfrm>
            <a:off x="1347890" y="4015511"/>
            <a:ext cx="5540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US$ Mn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352425" y="4493006"/>
            <a:ext cx="43362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SAM ·</a:t>
            </a:r>
          </a:p>
        </p:txBody>
      </p:sp>
      <p:pic>
        <p:nvPicPr>
          <p:cNvPr id="59" name="Picture 5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35202" y="4482783"/>
            <a:ext cx="134549" cy="195707"/>
          </a:xfrm>
          <a:prstGeom prst="rect">
            <a:avLst/>
          </a:prstGeom>
        </p:spPr>
      </p:pic>
      <p:sp>
        <p:nvSpPr>
          <p:cNvPr id="60" name="TextBox 59"/>
          <p:cNvSpPr txBox="1"/>
          <p:nvPr/>
        </p:nvSpPr>
        <p:spPr>
          <a:xfrm>
            <a:off x="910311" y="4493006"/>
            <a:ext cx="59479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of TAM ·</a:t>
            </a:r>
          </a:p>
        </p:txBody>
      </p:sp>
      <p:pic>
        <p:nvPicPr>
          <p:cNvPr id="61" name="Picture 6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454256" y="4482783"/>
            <a:ext cx="134549" cy="195707"/>
          </a:xfrm>
          <a:prstGeom prst="rect">
            <a:avLst/>
          </a:prstGeom>
        </p:spPr>
      </p:pic>
      <p:sp>
        <p:nvSpPr>
          <p:cNvPr id="62" name="TextBox 61"/>
          <p:cNvSpPr txBox="1"/>
          <p:nvPr/>
        </p:nvSpPr>
        <p:spPr>
          <a:xfrm>
            <a:off x="1629366" y="4493006"/>
            <a:ext cx="5540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US$ Mn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352425" y="4970502"/>
            <a:ext cx="44389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SOM ·</a:t>
            </a:r>
          </a:p>
        </p:txBody>
      </p:sp>
      <p:pic>
        <p:nvPicPr>
          <p:cNvPr id="64" name="Picture 6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45471" y="4960279"/>
            <a:ext cx="134549" cy="195707"/>
          </a:xfrm>
          <a:prstGeom prst="rect">
            <a:avLst/>
          </a:prstGeom>
        </p:spPr>
      </p:pic>
      <p:sp>
        <p:nvSpPr>
          <p:cNvPr id="65" name="TextBox 64"/>
          <p:cNvSpPr txBox="1"/>
          <p:nvPr/>
        </p:nvSpPr>
        <p:spPr>
          <a:xfrm>
            <a:off x="920580" y="4970502"/>
            <a:ext cx="59136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of SAM ·</a:t>
            </a:r>
          </a:p>
        </p:txBody>
      </p:sp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461102" y="4960279"/>
            <a:ext cx="134549" cy="195707"/>
          </a:xfrm>
          <a:prstGeom prst="rect">
            <a:avLst/>
          </a:prstGeom>
        </p:spPr>
      </p:pic>
      <p:sp>
        <p:nvSpPr>
          <p:cNvPr id="67" name="TextBox 66"/>
          <p:cNvSpPr txBox="1"/>
          <p:nvPr/>
        </p:nvSpPr>
        <p:spPr>
          <a:xfrm>
            <a:off x="1636212" y="4970502"/>
            <a:ext cx="5540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US$ Mn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276225" y="5788995"/>
            <a:ext cx="707020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Regional Opportunity: 'Europe' shows the highest SAM penetration; lower-penetration regions are the growth headroom.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276225" y="6006927"/>
            <a:ext cx="129799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Competitive Edge: ~</a:t>
            </a:r>
          </a:p>
        </p:txBody>
      </p:sp>
      <p:pic>
        <p:nvPicPr>
          <p:cNvPr id="70" name="Picture 69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522276" y="5997147"/>
            <a:ext cx="128699" cy="187198"/>
          </a:xfrm>
          <a:prstGeom prst="rect">
            <a:avLst/>
          </a:prstGeom>
        </p:spPr>
      </p:pic>
      <p:sp>
        <p:nvSpPr>
          <p:cNvPr id="71" name="TextBox 70"/>
          <p:cNvSpPr txBox="1"/>
          <p:nvPr/>
        </p:nvSpPr>
        <p:spPr>
          <a:xfrm>
            <a:off x="1689771" y="6006927"/>
            <a:ext cx="102927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win rate with a +</a:t>
            </a:r>
          </a:p>
        </p:txBody>
      </p:sp>
      <p:pic>
        <p:nvPicPr>
          <p:cNvPr id="72" name="Picture 7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667093" y="5997147"/>
            <a:ext cx="128699" cy="187198"/>
          </a:xfrm>
          <a:prstGeom prst="rect">
            <a:avLst/>
          </a:prstGeom>
        </p:spPr>
      </p:pic>
      <p:sp>
        <p:nvSpPr>
          <p:cNvPr id="73" name="TextBox 72"/>
          <p:cNvSpPr txBox="1"/>
          <p:nvPr/>
        </p:nvSpPr>
        <p:spPr>
          <a:xfrm>
            <a:off x="2834589" y="6006927"/>
            <a:ext cx="23114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ASP premium signals value recognition;</a:t>
            </a:r>
          </a:p>
        </p:txBody>
      </p:sp>
      <p:pic>
        <p:nvPicPr>
          <p:cNvPr id="74" name="Picture 7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5094041" y="5997147"/>
            <a:ext cx="128699" cy="187198"/>
          </a:xfrm>
          <a:prstGeom prst="rect">
            <a:avLst/>
          </a:prstGeom>
        </p:spPr>
      </p:pic>
      <p:sp>
        <p:nvSpPr>
          <p:cNvPr id="75" name="TextBox 74"/>
          <p:cNvSpPr txBox="1"/>
          <p:nvPr/>
        </p:nvSpPr>
        <p:spPr>
          <a:xfrm>
            <a:off x="5261537" y="6006927"/>
            <a:ext cx="225164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x pipeline coverage underpins growth.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276225" y="6224859"/>
            <a:ext cx="261501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Sales Efficiency: a ~85-day sales cycle and ~</a:t>
            </a:r>
          </a:p>
        </p:txBody>
      </p:sp>
      <p:pic>
        <p:nvPicPr>
          <p:cNvPr id="77" name="Picture 7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839292" y="6215079"/>
            <a:ext cx="128699" cy="187198"/>
          </a:xfrm>
          <a:prstGeom prst="rect">
            <a:avLst/>
          </a:prstGeom>
        </p:spPr>
      </p:pic>
      <p:sp>
        <p:nvSpPr>
          <p:cNvPr id="78" name="TextBox 77"/>
          <p:cNvSpPr txBox="1"/>
          <p:nvPr/>
        </p:nvSpPr>
        <p:spPr>
          <a:xfrm>
            <a:off x="3006787" y="6224859"/>
            <a:ext cx="23845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conversion support faster share capture.</a:t>
            </a:r>
          </a:p>
        </p:txBody>
      </p:sp>
      <p:sp>
        <p:nvSpPr>
          <p:cNvPr id="79" name="lockshield_13"/>
          <p:cNvSpPr/>
          <p:nvPr/>
        </p:nvSpPr>
        <p:spPr>
          <a:xfrm>
            <a:off x="238125" y="1585070"/>
            <a:ext cx="5715000" cy="1920559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26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Laboratoire Francodex SWOT Analysis (3/5)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SWOT assessment of Laboratoire Francodex: strengths, weaknesses, opportunities and threats shaping its competitive position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42875" y="1007261"/>
            <a:ext cx="119062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SWOT assessment Laboratoire Francodex: strengths, weaknesses, opportunities and threats (indicative).</a:t>
            </a:r>
          </a:p>
        </p:txBody>
      </p:sp>
      <p:cxnSp>
        <p:nvCxnSpPr>
          <p:cNvPr id="11" name="Connector 10"/>
          <p:cNvCxnSpPr/>
          <p:nvPr/>
        </p:nvCxnSpPr>
        <p:spPr>
          <a:xfrm>
            <a:off x="3810000" y="3891345"/>
            <a:ext cx="4572000" cy="0"/>
          </a:xfrm>
          <a:prstGeom prst="line">
            <a:avLst/>
          </a:prstGeom>
          <a:ln w="17780">
            <a:solidFill>
              <a:srgbClr val="B9C4C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6096000" y="1919946"/>
            <a:ext cx="0" cy="3942799"/>
          </a:xfrm>
          <a:prstGeom prst="line">
            <a:avLst/>
          </a:prstGeom>
          <a:ln w="17780">
            <a:solidFill>
              <a:srgbClr val="B9C4C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" name="Oval 12"/>
          <p:cNvSpPr/>
          <p:nvPr/>
        </p:nvSpPr>
        <p:spPr>
          <a:xfrm>
            <a:off x="3757612" y="3841147"/>
            <a:ext cx="104775" cy="100395"/>
          </a:xfrm>
          <a:prstGeom prst="ellipse">
            <a:avLst/>
          </a:prstGeom>
          <a:solidFill>
            <a:srgbClr val="B9C4CE"/>
          </a:solidFill>
          <a:ln w="12700">
            <a:solidFill>
              <a:srgbClr val="B9C4C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Oval 13"/>
          <p:cNvSpPr/>
          <p:nvPr/>
        </p:nvSpPr>
        <p:spPr>
          <a:xfrm>
            <a:off x="8329612" y="3841147"/>
            <a:ext cx="104775" cy="100395"/>
          </a:xfrm>
          <a:prstGeom prst="ellipse">
            <a:avLst/>
          </a:prstGeom>
          <a:solidFill>
            <a:srgbClr val="B9C4CE"/>
          </a:solidFill>
          <a:ln w="12700">
            <a:solidFill>
              <a:srgbClr val="B9C4C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Oval 14"/>
          <p:cNvSpPr/>
          <p:nvPr/>
        </p:nvSpPr>
        <p:spPr>
          <a:xfrm>
            <a:off x="6043612" y="1869748"/>
            <a:ext cx="104775" cy="100395"/>
          </a:xfrm>
          <a:prstGeom prst="ellipse">
            <a:avLst/>
          </a:prstGeom>
          <a:solidFill>
            <a:srgbClr val="B9C4CE"/>
          </a:solidFill>
          <a:ln w="12700">
            <a:solidFill>
              <a:srgbClr val="B9C4C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Oval 15"/>
          <p:cNvSpPr/>
          <p:nvPr/>
        </p:nvSpPr>
        <p:spPr>
          <a:xfrm>
            <a:off x="6043612" y="5812547"/>
            <a:ext cx="104775" cy="100395"/>
          </a:xfrm>
          <a:prstGeom prst="ellipse">
            <a:avLst/>
          </a:prstGeom>
          <a:solidFill>
            <a:srgbClr val="B9C4CE"/>
          </a:solidFill>
          <a:ln w="12700">
            <a:solidFill>
              <a:srgbClr val="B9C4C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Rounded Rectangle 16"/>
          <p:cNvSpPr/>
          <p:nvPr/>
        </p:nvSpPr>
        <p:spPr>
          <a:xfrm>
            <a:off x="4724400" y="2577079"/>
            <a:ext cx="1257300" cy="1204744"/>
          </a:xfrm>
          <a:prstGeom prst="roundRect">
            <a:avLst>
              <a:gd name="adj" fmla="val 12121"/>
            </a:avLst>
          </a:prstGeom>
          <a:noFill/>
          <a:ln w="19050">
            <a:solidFill>
              <a:srgbClr val="69B1E0"/>
            </a:solidFill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Rounded Rectangle 17"/>
          <p:cNvSpPr/>
          <p:nvPr/>
        </p:nvSpPr>
        <p:spPr>
          <a:xfrm>
            <a:off x="6210300" y="2577079"/>
            <a:ext cx="1257300" cy="1204744"/>
          </a:xfrm>
          <a:prstGeom prst="roundRect">
            <a:avLst>
              <a:gd name="adj" fmla="val 12121"/>
            </a:avLst>
          </a:prstGeom>
          <a:noFill/>
          <a:ln w="19050">
            <a:solidFill>
              <a:srgbClr val="0B2E4A"/>
            </a:solidFill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Rounded Rectangle 18"/>
          <p:cNvSpPr/>
          <p:nvPr/>
        </p:nvSpPr>
        <p:spPr>
          <a:xfrm>
            <a:off x="4724400" y="4000868"/>
            <a:ext cx="1257300" cy="1204744"/>
          </a:xfrm>
          <a:prstGeom prst="roundRect">
            <a:avLst>
              <a:gd name="adj" fmla="val 12121"/>
            </a:avLst>
          </a:prstGeom>
          <a:noFill/>
          <a:ln w="19050">
            <a:solidFill>
              <a:srgbClr val="A35313"/>
            </a:solidFill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ounded Rectangle 19"/>
          <p:cNvSpPr/>
          <p:nvPr/>
        </p:nvSpPr>
        <p:spPr>
          <a:xfrm>
            <a:off x="6210300" y="4000868"/>
            <a:ext cx="1257300" cy="1204744"/>
          </a:xfrm>
          <a:prstGeom prst="roundRect">
            <a:avLst>
              <a:gd name="adj" fmla="val 12121"/>
            </a:avLst>
          </a:prstGeom>
          <a:noFill/>
          <a:ln w="19050">
            <a:solidFill>
              <a:srgbClr val="A86F00"/>
            </a:solidFill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Freeform 20"/>
          <p:cNvSpPr/>
          <p:nvPr/>
        </p:nvSpPr>
        <p:spPr>
          <a:xfrm>
            <a:off x="5524500" y="2978660"/>
            <a:ext cx="1143000" cy="803163"/>
          </a:xfrm>
          <a:custGeom>
            <a:avLst/>
            <a:gdLst/>
            <a:ahLst/>
            <a:cxnLst/>
            <a:rect l="l" t="t" r="r" b="b"/>
            <a:pathLst>
              <a:path w="120" h="88">
                <a:moveTo>
                  <a:pt x="0" y="0"/>
                </a:moveTo>
                <a:lnTo>
                  <a:pt x="120" y="0"/>
                </a:lnTo>
                <a:lnTo>
                  <a:pt x="60" y="88"/>
                </a:lnTo>
                <a:close/>
              </a:path>
            </a:pathLst>
          </a:custGeom>
          <a:solidFill>
            <a:srgbClr val="69B1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Freeform 21"/>
          <p:cNvSpPr/>
          <p:nvPr/>
        </p:nvSpPr>
        <p:spPr>
          <a:xfrm>
            <a:off x="5524500" y="4000868"/>
            <a:ext cx="1143000" cy="803163"/>
          </a:xfrm>
          <a:custGeom>
            <a:avLst/>
            <a:gdLst/>
            <a:ahLst/>
            <a:cxnLst/>
            <a:rect l="l" t="t" r="r" b="b"/>
            <a:pathLst>
              <a:path w="120" h="88">
                <a:moveTo>
                  <a:pt x="0" y="88"/>
                </a:moveTo>
                <a:lnTo>
                  <a:pt x="120" y="88"/>
                </a:lnTo>
                <a:lnTo>
                  <a:pt x="60" y="0"/>
                </a:lnTo>
                <a:close/>
              </a:path>
            </a:pathLst>
          </a:cu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Freeform 22"/>
          <p:cNvSpPr/>
          <p:nvPr/>
        </p:nvSpPr>
        <p:spPr>
          <a:xfrm>
            <a:off x="5143500" y="3343734"/>
            <a:ext cx="838200" cy="1095222"/>
          </a:xfrm>
          <a:custGeom>
            <a:avLst/>
            <a:gdLst/>
            <a:ahLst/>
            <a:cxnLst/>
            <a:rect l="l" t="t" r="r" b="b"/>
            <a:pathLst>
              <a:path w="88" h="120">
                <a:moveTo>
                  <a:pt x="0" y="0"/>
                </a:moveTo>
                <a:lnTo>
                  <a:pt x="0" y="120"/>
                </a:lnTo>
                <a:lnTo>
                  <a:pt x="88" y="60"/>
                </a:lnTo>
                <a:close/>
              </a:path>
            </a:pathLst>
          </a:cu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Freeform 23"/>
          <p:cNvSpPr/>
          <p:nvPr/>
        </p:nvSpPr>
        <p:spPr>
          <a:xfrm>
            <a:off x="6210300" y="3343734"/>
            <a:ext cx="838200" cy="1095222"/>
          </a:xfrm>
          <a:custGeom>
            <a:avLst/>
            <a:gdLst/>
            <a:ahLst/>
            <a:cxnLst/>
            <a:rect l="l" t="t" r="r" b="b"/>
            <a:pathLst>
              <a:path w="88" h="120">
                <a:moveTo>
                  <a:pt x="88" y="0"/>
                </a:moveTo>
                <a:lnTo>
                  <a:pt x="88" y="120"/>
                </a:lnTo>
                <a:lnTo>
                  <a:pt x="0" y="60"/>
                </a:lnTo>
                <a:close/>
              </a:path>
            </a:pathLst>
          </a:cu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5886450" y="3243339"/>
            <a:ext cx="419100" cy="27380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2100" b="1">
                <a:solidFill>
                  <a:srgbClr val="1F2933"/>
                </a:solidFill>
                <a:latin typeface="Calibri"/>
              </a:rPr>
              <a:t>S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5886450" y="4265546"/>
            <a:ext cx="419100" cy="27380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2100" b="1">
                <a:solidFill>
                  <a:srgbClr val="FFFFFF"/>
                </a:solidFill>
                <a:latin typeface="Calibri"/>
              </a:rPr>
              <a:t>O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5353050" y="3754443"/>
            <a:ext cx="419100" cy="27380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2100" b="1">
                <a:solidFill>
                  <a:srgbClr val="FFFFFF"/>
                </a:solidFill>
                <a:latin typeface="Calibri"/>
              </a:rPr>
              <a:t>T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6419850" y="3754443"/>
            <a:ext cx="419100" cy="27380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2100" b="1">
                <a:solidFill>
                  <a:srgbClr val="FFFFFF"/>
                </a:solidFill>
                <a:latin typeface="Calibri"/>
              </a:rPr>
              <a:t>W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190500" y="1299320"/>
            <a:ext cx="36671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350" b="1">
                <a:solidFill>
                  <a:srgbClr val="0B2E4A"/>
                </a:solidFill>
                <a:latin typeface="Calibri"/>
              </a:rPr>
              <a:t>Strengths</a:t>
            </a:r>
          </a:p>
        </p:txBody>
      </p:sp>
      <p:sp>
        <p:nvSpPr>
          <p:cNvPr id="30" name="Rectangle 29"/>
          <p:cNvSpPr/>
          <p:nvPr/>
        </p:nvSpPr>
        <p:spPr>
          <a:xfrm>
            <a:off x="190500" y="1500111"/>
            <a:ext cx="1428750" cy="1825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Oval 30"/>
          <p:cNvSpPr/>
          <p:nvPr/>
        </p:nvSpPr>
        <p:spPr>
          <a:xfrm>
            <a:off x="204788" y="1605070"/>
            <a:ext cx="66675" cy="63888"/>
          </a:xfrm>
          <a:prstGeom prst="ellipse">
            <a:avLst/>
          </a:prstGeom>
          <a:solidFill>
            <a:srgbClr val="0B2E4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333375" y="1573126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204788" y="2116174"/>
            <a:ext cx="66675" cy="63888"/>
          </a:xfrm>
          <a:prstGeom prst="ellipse">
            <a:avLst/>
          </a:prstGeom>
          <a:solidFill>
            <a:srgbClr val="0B2E4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333375" y="2084229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Balanced SOM across regions and end-markets; strongest in 'Europe'.</a:t>
            </a:r>
          </a:p>
        </p:txBody>
      </p:sp>
      <p:sp>
        <p:nvSpPr>
          <p:cNvPr id="35" name="Oval 34"/>
          <p:cNvSpPr/>
          <p:nvPr/>
        </p:nvSpPr>
        <p:spPr>
          <a:xfrm>
            <a:off x="204788" y="2627277"/>
            <a:ext cx="66675" cy="63888"/>
          </a:xfrm>
          <a:prstGeom prst="ellipse">
            <a:avLst/>
          </a:prstGeom>
          <a:solidFill>
            <a:srgbClr val="0B2E4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333375" y="2595333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8334375" y="1299320"/>
            <a:ext cx="36671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350" b="1">
                <a:solidFill>
                  <a:srgbClr val="082238"/>
                </a:solidFill>
                <a:latin typeface="Calibri"/>
              </a:rPr>
              <a:t>Weaknesses</a:t>
            </a:r>
          </a:p>
        </p:txBody>
      </p:sp>
      <p:sp>
        <p:nvSpPr>
          <p:cNvPr id="38" name="Rectangle 37"/>
          <p:cNvSpPr/>
          <p:nvPr/>
        </p:nvSpPr>
        <p:spPr>
          <a:xfrm>
            <a:off x="8334375" y="1500111"/>
            <a:ext cx="1428750" cy="18254"/>
          </a:xfrm>
          <a:prstGeom prst="rect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Oval 38"/>
          <p:cNvSpPr/>
          <p:nvPr/>
        </p:nvSpPr>
        <p:spPr>
          <a:xfrm>
            <a:off x="8348662" y="1605070"/>
            <a:ext cx="66675" cy="63888"/>
          </a:xfrm>
          <a:prstGeom prst="ellipse">
            <a:avLst/>
          </a:prstGeom>
          <a:solidFill>
            <a:srgbClr val="082238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8477250" y="1573126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1" name="Oval 40"/>
          <p:cNvSpPr/>
          <p:nvPr/>
        </p:nvSpPr>
        <p:spPr>
          <a:xfrm>
            <a:off x="8348662" y="2116174"/>
            <a:ext cx="66675" cy="63888"/>
          </a:xfrm>
          <a:prstGeom prst="ellipse">
            <a:avLst/>
          </a:prstGeom>
          <a:solidFill>
            <a:srgbClr val="082238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8477250" y="2084229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Uneven SAM penetration strong in 'Europe', thin elsewhere.</a:t>
            </a:r>
          </a:p>
        </p:txBody>
      </p:sp>
      <p:sp>
        <p:nvSpPr>
          <p:cNvPr id="43" name="Oval 42"/>
          <p:cNvSpPr/>
          <p:nvPr/>
        </p:nvSpPr>
        <p:spPr>
          <a:xfrm>
            <a:off x="8348662" y="2627277"/>
            <a:ext cx="66675" cy="63888"/>
          </a:xfrm>
          <a:prstGeom prst="ellipse">
            <a:avLst/>
          </a:prstGeom>
          <a:solidFill>
            <a:srgbClr val="082238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8477250" y="2595333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Reliance on a few large accounts/regions raises concentration risk.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190500" y="4055629"/>
            <a:ext cx="36671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350" b="1">
                <a:solidFill>
                  <a:srgbClr val="A35313"/>
                </a:solidFill>
                <a:latin typeface="Calibri"/>
              </a:rPr>
              <a:t>Threats</a:t>
            </a:r>
          </a:p>
        </p:txBody>
      </p:sp>
      <p:sp>
        <p:nvSpPr>
          <p:cNvPr id="46" name="Rectangle 45"/>
          <p:cNvSpPr/>
          <p:nvPr/>
        </p:nvSpPr>
        <p:spPr>
          <a:xfrm>
            <a:off x="190500" y="4256419"/>
            <a:ext cx="1428750" cy="18254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Oval 46"/>
          <p:cNvSpPr/>
          <p:nvPr/>
        </p:nvSpPr>
        <p:spPr>
          <a:xfrm>
            <a:off x="204788" y="4361379"/>
            <a:ext cx="66675" cy="63888"/>
          </a:xfrm>
          <a:prstGeom prst="ellipse">
            <a:avLst/>
          </a:prstGeom>
          <a:solidFill>
            <a:srgbClr val="A35313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333375" y="4329434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9" name="Oval 48"/>
          <p:cNvSpPr/>
          <p:nvPr/>
        </p:nvSpPr>
        <p:spPr>
          <a:xfrm>
            <a:off x="204788" y="4872482"/>
            <a:ext cx="66675" cy="63888"/>
          </a:xfrm>
          <a:prstGeom prst="ellipse">
            <a:avLst/>
          </a:prstGeom>
          <a:solidFill>
            <a:srgbClr val="A35313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333375" y="4840538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Input-cost inflation and price pressure can squeeze margin.</a:t>
            </a:r>
          </a:p>
        </p:txBody>
      </p:sp>
      <p:sp>
        <p:nvSpPr>
          <p:cNvPr id="51" name="Oval 50"/>
          <p:cNvSpPr/>
          <p:nvPr/>
        </p:nvSpPr>
        <p:spPr>
          <a:xfrm>
            <a:off x="204788" y="5383586"/>
            <a:ext cx="66675" cy="63888"/>
          </a:xfrm>
          <a:prstGeom prst="ellipse">
            <a:avLst/>
          </a:prstGeom>
          <a:solidFill>
            <a:srgbClr val="A35313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333375" y="5351641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Tier-1 incumbents and regulation raise barriers and switching friction.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8334375" y="4055629"/>
            <a:ext cx="36671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350" b="1">
                <a:solidFill>
                  <a:srgbClr val="A86F00"/>
                </a:solidFill>
                <a:latin typeface="Calibri"/>
              </a:rPr>
              <a:t>Opportunities</a:t>
            </a:r>
          </a:p>
        </p:txBody>
      </p:sp>
      <p:sp>
        <p:nvSpPr>
          <p:cNvPr id="54" name="Rectangle 53"/>
          <p:cNvSpPr/>
          <p:nvPr/>
        </p:nvSpPr>
        <p:spPr>
          <a:xfrm>
            <a:off x="8334375" y="4256419"/>
            <a:ext cx="1428750" cy="18254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Oval 54"/>
          <p:cNvSpPr/>
          <p:nvPr/>
        </p:nvSpPr>
        <p:spPr>
          <a:xfrm>
            <a:off x="8348662" y="4361379"/>
            <a:ext cx="66675" cy="63888"/>
          </a:xfrm>
          <a:prstGeom prst="ellipse">
            <a:avLst/>
          </a:prstGeom>
          <a:solidFill>
            <a:srgbClr val="A86F00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8477250" y="4329434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Premiumisation headroom in 'Shampoos &amp; Cleansing Products' and adjacent high-value lines.</a:t>
            </a:r>
          </a:p>
        </p:txBody>
      </p:sp>
      <p:sp>
        <p:nvSpPr>
          <p:cNvPr id="57" name="Oval 56"/>
          <p:cNvSpPr/>
          <p:nvPr/>
        </p:nvSpPr>
        <p:spPr>
          <a:xfrm>
            <a:off x="8348662" y="4872482"/>
            <a:ext cx="66675" cy="63888"/>
          </a:xfrm>
          <a:prstGeom prst="ellipse">
            <a:avLst/>
          </a:prstGeom>
          <a:solidFill>
            <a:srgbClr val="A86F00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8477250" y="4840538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Under-penetrated regions offer share-capture runway.</a:t>
            </a:r>
          </a:p>
        </p:txBody>
      </p:sp>
      <p:sp>
        <p:nvSpPr>
          <p:cNvPr id="59" name="Oval 58"/>
          <p:cNvSpPr/>
          <p:nvPr/>
        </p:nvSpPr>
        <p:spPr>
          <a:xfrm>
            <a:off x="8348662" y="5383586"/>
            <a:ext cx="66675" cy="63888"/>
          </a:xfrm>
          <a:prstGeom prst="ellipse">
            <a:avLst/>
          </a:prstGeom>
          <a:solidFill>
            <a:srgbClr val="A86F00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8477250" y="5351641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Channel shift to online and clinics opens new demand pools.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2857500" y="6428609"/>
            <a:ext cx="91916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C0392B"/>
                </a:solidFill>
                <a:latin typeface="Calibri"/>
              </a:rPr>
              <a:t>Note: competitor figures are indicative derived from market modelling and expert validation, not company disclosures.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361950" y="1642784"/>
            <a:ext cx="14577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~</a:t>
            </a:r>
          </a:p>
        </p:txBody>
      </p:sp>
      <p:pic>
        <p:nvPicPr>
          <p:cNvPr id="64" name="Picture 6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5778" y="1633005"/>
            <a:ext cx="128699" cy="187198"/>
          </a:xfrm>
          <a:prstGeom prst="rect">
            <a:avLst/>
          </a:prstGeom>
        </p:spPr>
      </p:pic>
      <p:sp>
        <p:nvSpPr>
          <p:cNvPr id="65" name="TextBox 64"/>
          <p:cNvSpPr txBox="1"/>
          <p:nvPr/>
        </p:nvSpPr>
        <p:spPr>
          <a:xfrm>
            <a:off x="623274" y="1642784"/>
            <a:ext cx="102927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win rate with a +</a:t>
            </a:r>
          </a:p>
        </p:txBody>
      </p:sp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00596" y="1633005"/>
            <a:ext cx="128699" cy="187198"/>
          </a:xfrm>
          <a:prstGeom prst="rect">
            <a:avLst/>
          </a:prstGeom>
        </p:spPr>
      </p:pic>
      <p:sp>
        <p:nvSpPr>
          <p:cNvPr id="67" name="TextBox 66"/>
          <p:cNvSpPr txBox="1"/>
          <p:nvPr/>
        </p:nvSpPr>
        <p:spPr>
          <a:xfrm>
            <a:off x="1768092" y="1642784"/>
            <a:ext cx="149066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ASP premium clear value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361950" y="1810424"/>
            <a:ext cx="76023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recognition.</a:t>
            </a:r>
          </a:p>
        </p:txBody>
      </p:sp>
      <p:pic>
        <p:nvPicPr>
          <p:cNvPr id="69" name="Picture 6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48482" y="2655212"/>
            <a:ext cx="128699" cy="187198"/>
          </a:xfrm>
          <a:prstGeom prst="rect">
            <a:avLst/>
          </a:prstGeom>
        </p:spPr>
      </p:pic>
      <p:sp>
        <p:nvSpPr>
          <p:cNvPr id="70" name="TextBox 69"/>
          <p:cNvSpPr txBox="1"/>
          <p:nvPr/>
        </p:nvSpPr>
        <p:spPr>
          <a:xfrm>
            <a:off x="515978" y="2664991"/>
            <a:ext cx="108329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book-to-bill and ~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547325" y="2655212"/>
            <a:ext cx="128699" cy="187198"/>
          </a:xfrm>
          <a:prstGeom prst="rect">
            <a:avLst/>
          </a:prstGeom>
        </p:spPr>
      </p:pic>
      <p:sp>
        <p:nvSpPr>
          <p:cNvPr id="72" name="TextBox 71"/>
          <p:cNvSpPr txBox="1"/>
          <p:nvPr/>
        </p:nvSpPr>
        <p:spPr>
          <a:xfrm>
            <a:off x="1714820" y="2664991"/>
            <a:ext cx="130454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EBITDA signal healthy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361950" y="2832631"/>
            <a:ext cx="7831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momentum.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8505825" y="1726603"/>
            <a:ext cx="14577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~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599653" y="1716825"/>
            <a:ext cx="128699" cy="187198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8767149" y="1726603"/>
            <a:ext cx="291058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 leaves a scale gap versus the market leader.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361950" y="4482912"/>
            <a:ext cx="132449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Intense competition ~</a:t>
            </a:r>
          </a:p>
        </p:txBody>
      </p:sp>
      <p:pic>
        <p:nvPicPr>
          <p:cNvPr id="78" name="Picture 7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34497" y="4473133"/>
            <a:ext cx="128699" cy="187198"/>
          </a:xfrm>
          <a:prstGeom prst="rect">
            <a:avLst/>
          </a:prstGeom>
        </p:spPr>
      </p:pic>
      <p:sp>
        <p:nvSpPr>
          <p:cNvPr id="79" name="TextBox 78"/>
          <p:cNvSpPr txBox="1"/>
          <p:nvPr/>
        </p:nvSpPr>
        <p:spPr>
          <a:xfrm>
            <a:off x="1801993" y="4482912"/>
            <a:ext cx="173868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x pipeline needed to convert.</a:t>
            </a:r>
          </a:p>
        </p:txBody>
      </p:sp>
    </p:spTree>
  </p:cSld>
  <p:clrMapOvr>
    <a:masterClrMapping/>
  </p:clrMapOvr>
</p:sld>
</file>

<file path=ppt/slides/slide26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Laboratoire Francodex Key Financials (4/5)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Laboratoire Francodex's financial performance, key ratios and pricing, highlighting margin and momentum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73805"/>
          </a:xfrm>
          <a:prstGeom prst="roundRect">
            <a:avLst>
              <a:gd name="adj" fmla="val 2782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Key financials and pricing Laboratoire Francodex (all figures indicative, USD Mn unless noted).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54081"/>
            <a:ext cx="5905500" cy="1916638"/>
          </a:xfrm>
          <a:prstGeom prst="roundRect">
            <a:avLst>
              <a:gd name="adj" fmla="val 397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411231"/>
            <a:ext cx="5715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Laboratoire Francodex Financial Performance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611256"/>
          <a:ext cx="5886449" cy="144991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446649"/>
                <a:gridCol w="687960"/>
                <a:gridCol w="687960"/>
                <a:gridCol w="687960"/>
                <a:gridCol w="687960"/>
                <a:gridCol w="687960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USD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2020A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3009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Revenue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3009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Gross Profit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3009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Pre-Tax Profit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3009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Profit After Tax / Net Profit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070695"/>
            <a:ext cx="575310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398495"/>
            <a:ext cx="5905500" cy="3194397"/>
          </a:xfrm>
          <a:prstGeom prst="roundRect">
            <a:avLst>
              <a:gd name="adj" fmla="val 238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455645"/>
            <a:ext cx="5715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Laboratoire Francodex Key Ratios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3655670"/>
          <a:ext cx="5886449" cy="272767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099174"/>
                <a:gridCol w="757455"/>
                <a:gridCol w="757455"/>
                <a:gridCol w="757455"/>
                <a:gridCol w="757455"/>
                <a:gridCol w="757455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Key Ratios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2020A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49630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Gross Margin (%)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49630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Pre-Tax Margin (%)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49630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Net Margin (%)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49630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Return on Equity (%)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49630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Return on Assets (%)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6392868"/>
            <a:ext cx="575310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6200775" y="1354081"/>
            <a:ext cx="5848350" cy="5238811"/>
          </a:xfrm>
          <a:prstGeom prst="roundRect">
            <a:avLst>
              <a:gd name="adj" fmla="val 14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296025" y="1411231"/>
            <a:ext cx="56578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Laboratoire Francodex Pricing Analysis (US$/MT)</a:t>
            </a:r>
          </a:p>
        </p:txBody>
      </p:sp>
      <p:graphicFrame>
        <p:nvGraphicFramePr>
          <p:cNvPr id="21" name="Table 20"/>
          <p:cNvGraphicFramePr>
            <a:graphicFrameLocks noGrp="1"/>
          </p:cNvGraphicFramePr>
          <p:nvPr/>
        </p:nvGraphicFramePr>
        <p:xfrm>
          <a:off x="6210300" y="1611256"/>
          <a:ext cx="5829300" cy="477208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199092"/>
                <a:gridCol w="815104"/>
                <a:gridCol w="815104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2020A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11314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11314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11314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11314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22" name="TextBox 21"/>
          <p:cNvSpPr txBox="1"/>
          <p:nvPr/>
        </p:nvSpPr>
        <p:spPr>
          <a:xfrm>
            <a:off x="6276975" y="6392868"/>
            <a:ext cx="56959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" name="Picture 23" descr="1_611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504595" y="1875140"/>
            <a:ext cx="876864" cy="265429"/>
          </a:xfrm>
          <a:prstGeom prst="rect">
            <a:avLst/>
          </a:prstGeom>
        </p:spPr>
      </p:pic>
      <p:pic>
        <p:nvPicPr>
          <p:cNvPr id="25" name="Picture 24" descr="1_735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192555" y="1875140"/>
            <a:ext cx="876864" cy="265429"/>
          </a:xfrm>
          <a:prstGeom prst="rect">
            <a:avLst/>
          </a:prstGeom>
        </p:spPr>
      </p:pic>
      <p:pic>
        <p:nvPicPr>
          <p:cNvPr id="26" name="Picture 25" descr="1_859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880515" y="1875140"/>
            <a:ext cx="876864" cy="265429"/>
          </a:xfrm>
          <a:prstGeom prst="rect">
            <a:avLst/>
          </a:prstGeom>
        </p:spPr>
      </p:pic>
      <p:pic>
        <p:nvPicPr>
          <p:cNvPr id="27" name="Picture 26" descr="1_983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568475" y="1875140"/>
            <a:ext cx="876864" cy="265429"/>
          </a:xfrm>
          <a:prstGeom prst="rect">
            <a:avLst/>
          </a:prstGeom>
        </p:spPr>
      </p:pic>
      <p:pic>
        <p:nvPicPr>
          <p:cNvPr id="28" name="Picture 27" descr="2_107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5256435" y="1875140"/>
            <a:ext cx="876864" cy="265429"/>
          </a:xfrm>
          <a:prstGeom prst="rect">
            <a:avLst/>
          </a:prstGeom>
        </p:spPr>
      </p:pic>
      <p:pic>
        <p:nvPicPr>
          <p:cNvPr id="29" name="Picture 28" descr="563_9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2504595" y="2176087"/>
            <a:ext cx="876864" cy="265429"/>
          </a:xfrm>
          <a:prstGeom prst="rect">
            <a:avLst/>
          </a:prstGeom>
        </p:spPr>
      </p:pic>
      <p:pic>
        <p:nvPicPr>
          <p:cNvPr id="30" name="Picture 29" descr="607_3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3192555" y="2176087"/>
            <a:ext cx="876864" cy="265429"/>
          </a:xfrm>
          <a:prstGeom prst="rect">
            <a:avLst/>
          </a:prstGeom>
        </p:spPr>
      </p:pic>
      <p:pic>
        <p:nvPicPr>
          <p:cNvPr id="31" name="Picture 30" descr="650_7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3880515" y="2176087"/>
            <a:ext cx="876864" cy="265429"/>
          </a:xfrm>
          <a:prstGeom prst="rect">
            <a:avLst/>
          </a:prstGeom>
        </p:spPr>
      </p:pic>
      <p:pic>
        <p:nvPicPr>
          <p:cNvPr id="32" name="Picture 31" descr="694_1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4568475" y="2176087"/>
            <a:ext cx="876864" cy="265429"/>
          </a:xfrm>
          <a:prstGeom prst="rect">
            <a:avLst/>
          </a:prstGeom>
        </p:spPr>
      </p:pic>
      <p:pic>
        <p:nvPicPr>
          <p:cNvPr id="33" name="Picture 32" descr="737_4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5256435" y="2176087"/>
            <a:ext cx="876864" cy="265429"/>
          </a:xfrm>
          <a:prstGeom prst="rect">
            <a:avLst/>
          </a:prstGeom>
        </p:spPr>
      </p:pic>
      <p:pic>
        <p:nvPicPr>
          <p:cNvPr id="34" name="Picture 33" descr="270_7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2504595" y="2477034"/>
            <a:ext cx="876864" cy="265429"/>
          </a:xfrm>
          <a:prstGeom prst="rect">
            <a:avLst/>
          </a:prstGeom>
        </p:spPr>
      </p:pic>
      <p:pic>
        <p:nvPicPr>
          <p:cNvPr id="35" name="Picture 34" descr="291_5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3192555" y="2477034"/>
            <a:ext cx="876864" cy="265429"/>
          </a:xfrm>
          <a:prstGeom prst="rect">
            <a:avLst/>
          </a:prstGeom>
        </p:spPr>
      </p:pic>
      <p:pic>
        <p:nvPicPr>
          <p:cNvPr id="36" name="Picture 35" descr="312_3_605E5C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3880515" y="2477034"/>
            <a:ext cx="876864" cy="265429"/>
          </a:xfrm>
          <a:prstGeom prst="rect">
            <a:avLst/>
          </a:prstGeom>
        </p:spPr>
      </p:pic>
      <p:pic>
        <p:nvPicPr>
          <p:cNvPr id="37" name="Picture 36" descr="333_2_605E5C.png"/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4568475" y="2477034"/>
            <a:ext cx="876864" cy="265429"/>
          </a:xfrm>
          <a:prstGeom prst="rect">
            <a:avLst/>
          </a:prstGeom>
        </p:spPr>
      </p:pic>
      <p:pic>
        <p:nvPicPr>
          <p:cNvPr id="38" name="Picture 37" descr="354_0_605E5C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5256435" y="2477034"/>
            <a:ext cx="876864" cy="265429"/>
          </a:xfrm>
          <a:prstGeom prst="rect">
            <a:avLst/>
          </a:prstGeom>
        </p:spPr>
      </p:pic>
      <p:pic>
        <p:nvPicPr>
          <p:cNvPr id="39" name="Picture 38" descr="203_0_605E5C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2504595" y="2777981"/>
            <a:ext cx="876864" cy="265429"/>
          </a:xfrm>
          <a:prstGeom prst="rect">
            <a:avLst/>
          </a:prstGeom>
        </p:spPr>
      </p:pic>
      <p:pic>
        <p:nvPicPr>
          <p:cNvPr id="40" name="Picture 39" descr="218_6_605E5C.png"/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3192555" y="2777981"/>
            <a:ext cx="876864" cy="265429"/>
          </a:xfrm>
          <a:prstGeom prst="rect">
            <a:avLst/>
          </a:prstGeom>
        </p:spPr>
      </p:pic>
      <p:pic>
        <p:nvPicPr>
          <p:cNvPr id="41" name="Picture 40" descr="234_2_605E5C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3880515" y="2777981"/>
            <a:ext cx="876864" cy="265429"/>
          </a:xfrm>
          <a:prstGeom prst="rect">
            <a:avLst/>
          </a:prstGeom>
        </p:spPr>
      </p:pic>
      <p:pic>
        <p:nvPicPr>
          <p:cNvPr id="42" name="Picture 41" descr="249_9_605E5C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4568475" y="2777981"/>
            <a:ext cx="876864" cy="265429"/>
          </a:xfrm>
          <a:prstGeom prst="rect">
            <a:avLst/>
          </a:prstGeom>
        </p:spPr>
      </p:pic>
      <p:pic>
        <p:nvPicPr>
          <p:cNvPr id="43" name="Picture 42" descr="265_5_605E5C.png"/>
          <p:cNvPicPr>
            <a:picLocks noChangeAspect="1"/>
          </p:cNvPicPr>
          <p:nvPr/>
        </p:nvPicPr>
        <p:blipFill>
          <a:blip r:embed="rId23"/>
          <a:stretch>
            <a:fillRect/>
          </a:stretch>
        </p:blipFill>
        <p:spPr>
          <a:xfrm>
            <a:off x="5256435" y="2777981"/>
            <a:ext cx="876864" cy="265429"/>
          </a:xfrm>
          <a:prstGeom prst="rect">
            <a:avLst/>
          </a:prstGeom>
        </p:spPr>
      </p:pic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4150927" y="2219246"/>
            <a:ext cx="330041" cy="480060"/>
          </a:xfrm>
          <a:prstGeom prst="rect">
            <a:avLst/>
          </a:prstGeom>
        </p:spPr>
      </p:pic>
      <p:pic>
        <p:nvPicPr>
          <p:cNvPr id="45" name="Picture 44" descr="35_0__605E5C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2191868" y="4017235"/>
            <a:ext cx="876864" cy="265429"/>
          </a:xfrm>
          <a:prstGeom prst="rect">
            <a:avLst/>
          </a:prstGeom>
        </p:spPr>
      </p:pic>
      <p:pic>
        <p:nvPicPr>
          <p:cNvPr id="46" name="Picture 45" descr="35_0__605E5C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2949323" y="4017235"/>
            <a:ext cx="876864" cy="265429"/>
          </a:xfrm>
          <a:prstGeom prst="rect">
            <a:avLst/>
          </a:prstGeom>
        </p:spPr>
      </p:pic>
      <p:pic>
        <p:nvPicPr>
          <p:cNvPr id="47" name="Picture 46" descr="35_0__605E5C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3706778" y="4017235"/>
            <a:ext cx="876864" cy="265429"/>
          </a:xfrm>
          <a:prstGeom prst="rect">
            <a:avLst/>
          </a:prstGeom>
        </p:spPr>
      </p:pic>
      <p:pic>
        <p:nvPicPr>
          <p:cNvPr id="48" name="Picture 47" descr="35_0__605E5C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4464233" y="4017235"/>
            <a:ext cx="876864" cy="265429"/>
          </a:xfrm>
          <a:prstGeom prst="rect">
            <a:avLst/>
          </a:prstGeom>
        </p:spPr>
      </p:pic>
      <p:pic>
        <p:nvPicPr>
          <p:cNvPr id="49" name="Picture 48" descr="35_0__605E5C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5221688" y="4017235"/>
            <a:ext cx="876864" cy="265429"/>
          </a:xfrm>
          <a:prstGeom prst="rect">
            <a:avLst/>
          </a:prstGeom>
        </p:spPr>
      </p:pic>
      <p:pic>
        <p:nvPicPr>
          <p:cNvPr id="50" name="Picture 49" descr="16_8__605E5C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2191868" y="4513544"/>
            <a:ext cx="876864" cy="265429"/>
          </a:xfrm>
          <a:prstGeom prst="rect">
            <a:avLst/>
          </a:prstGeom>
        </p:spPr>
      </p:pic>
      <p:pic>
        <p:nvPicPr>
          <p:cNvPr id="51" name="Picture 50" descr="16_8__605E5C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2949323" y="4513544"/>
            <a:ext cx="876864" cy="265429"/>
          </a:xfrm>
          <a:prstGeom prst="rect">
            <a:avLst/>
          </a:prstGeom>
        </p:spPr>
      </p:pic>
      <p:pic>
        <p:nvPicPr>
          <p:cNvPr id="52" name="Picture 51" descr="16_8__605E5C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3706778" y="4513544"/>
            <a:ext cx="876864" cy="265429"/>
          </a:xfrm>
          <a:prstGeom prst="rect">
            <a:avLst/>
          </a:prstGeom>
        </p:spPr>
      </p:pic>
      <p:pic>
        <p:nvPicPr>
          <p:cNvPr id="53" name="Picture 52" descr="16_8__605E5C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4464233" y="4513544"/>
            <a:ext cx="876864" cy="265429"/>
          </a:xfrm>
          <a:prstGeom prst="rect">
            <a:avLst/>
          </a:prstGeom>
        </p:spPr>
      </p:pic>
      <p:pic>
        <p:nvPicPr>
          <p:cNvPr id="54" name="Picture 53" descr="16_8__605E5C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5221688" y="4513544"/>
            <a:ext cx="876864" cy="265429"/>
          </a:xfrm>
          <a:prstGeom prst="rect">
            <a:avLst/>
          </a:prstGeom>
        </p:spPr>
      </p:pic>
      <p:pic>
        <p:nvPicPr>
          <p:cNvPr id="55" name="Picture 54" descr="12_6__605E5C.png"/>
          <p:cNvPicPr>
            <a:picLocks noChangeAspect="1"/>
          </p:cNvPicPr>
          <p:nvPr/>
        </p:nvPicPr>
        <p:blipFill>
          <a:blip r:embed="rId27"/>
          <a:stretch>
            <a:fillRect/>
          </a:stretch>
        </p:blipFill>
        <p:spPr>
          <a:xfrm>
            <a:off x="2191868" y="5009853"/>
            <a:ext cx="876864" cy="265429"/>
          </a:xfrm>
          <a:prstGeom prst="rect">
            <a:avLst/>
          </a:prstGeom>
        </p:spPr>
      </p:pic>
      <p:pic>
        <p:nvPicPr>
          <p:cNvPr id="56" name="Picture 55" descr="12_6__605E5C.png"/>
          <p:cNvPicPr>
            <a:picLocks noChangeAspect="1"/>
          </p:cNvPicPr>
          <p:nvPr/>
        </p:nvPicPr>
        <p:blipFill>
          <a:blip r:embed="rId27"/>
          <a:stretch>
            <a:fillRect/>
          </a:stretch>
        </p:blipFill>
        <p:spPr>
          <a:xfrm>
            <a:off x="2949323" y="5009853"/>
            <a:ext cx="876864" cy="265429"/>
          </a:xfrm>
          <a:prstGeom prst="rect">
            <a:avLst/>
          </a:prstGeom>
        </p:spPr>
      </p:pic>
      <p:pic>
        <p:nvPicPr>
          <p:cNvPr id="57" name="Picture 56" descr="12_6__605E5C.png"/>
          <p:cNvPicPr>
            <a:picLocks noChangeAspect="1"/>
          </p:cNvPicPr>
          <p:nvPr/>
        </p:nvPicPr>
        <p:blipFill>
          <a:blip r:embed="rId27"/>
          <a:stretch>
            <a:fillRect/>
          </a:stretch>
        </p:blipFill>
        <p:spPr>
          <a:xfrm>
            <a:off x="3706778" y="5009853"/>
            <a:ext cx="876864" cy="265429"/>
          </a:xfrm>
          <a:prstGeom prst="rect">
            <a:avLst/>
          </a:prstGeom>
        </p:spPr>
      </p:pic>
      <p:pic>
        <p:nvPicPr>
          <p:cNvPr id="58" name="Picture 57" descr="12_6__605E5C.png"/>
          <p:cNvPicPr>
            <a:picLocks noChangeAspect="1"/>
          </p:cNvPicPr>
          <p:nvPr/>
        </p:nvPicPr>
        <p:blipFill>
          <a:blip r:embed="rId27"/>
          <a:stretch>
            <a:fillRect/>
          </a:stretch>
        </p:blipFill>
        <p:spPr>
          <a:xfrm>
            <a:off x="4464233" y="5009853"/>
            <a:ext cx="876864" cy="265429"/>
          </a:xfrm>
          <a:prstGeom prst="rect">
            <a:avLst/>
          </a:prstGeom>
        </p:spPr>
      </p:pic>
      <p:pic>
        <p:nvPicPr>
          <p:cNvPr id="59" name="Picture 58" descr="12_6__605E5C.png"/>
          <p:cNvPicPr>
            <a:picLocks noChangeAspect="1"/>
          </p:cNvPicPr>
          <p:nvPr/>
        </p:nvPicPr>
        <p:blipFill>
          <a:blip r:embed="rId27"/>
          <a:stretch>
            <a:fillRect/>
          </a:stretch>
        </p:blipFill>
        <p:spPr>
          <a:xfrm>
            <a:off x="5221688" y="5009853"/>
            <a:ext cx="876864" cy="265429"/>
          </a:xfrm>
          <a:prstGeom prst="rect">
            <a:avLst/>
          </a:prstGeom>
        </p:spPr>
      </p:pic>
      <p:pic>
        <p:nvPicPr>
          <p:cNvPr id="60" name="Picture 59" descr="14_0__605E5C.png"/>
          <p:cNvPicPr>
            <a:picLocks noChangeAspect="1"/>
          </p:cNvPicPr>
          <p:nvPr/>
        </p:nvPicPr>
        <p:blipFill>
          <a:blip r:embed="rId28"/>
          <a:stretch>
            <a:fillRect/>
          </a:stretch>
        </p:blipFill>
        <p:spPr>
          <a:xfrm>
            <a:off x="2191868" y="5506162"/>
            <a:ext cx="876864" cy="265429"/>
          </a:xfrm>
          <a:prstGeom prst="rect">
            <a:avLst/>
          </a:prstGeom>
        </p:spPr>
      </p:pic>
      <p:pic>
        <p:nvPicPr>
          <p:cNvPr id="61" name="Picture 60" descr="15_0__605E5C.png"/>
          <p:cNvPicPr>
            <a:picLocks noChangeAspect="1"/>
          </p:cNvPicPr>
          <p:nvPr/>
        </p:nvPicPr>
        <p:blipFill>
          <a:blip r:embed="rId29"/>
          <a:stretch>
            <a:fillRect/>
          </a:stretch>
        </p:blipFill>
        <p:spPr>
          <a:xfrm>
            <a:off x="2949323" y="5506162"/>
            <a:ext cx="876864" cy="265429"/>
          </a:xfrm>
          <a:prstGeom prst="rect">
            <a:avLst/>
          </a:prstGeom>
        </p:spPr>
      </p:pic>
      <p:pic>
        <p:nvPicPr>
          <p:cNvPr id="62" name="Picture 61" descr="16_0__605E5C.png"/>
          <p:cNvPicPr>
            <a:picLocks noChangeAspect="1"/>
          </p:cNvPicPr>
          <p:nvPr/>
        </p:nvPicPr>
        <p:blipFill>
          <a:blip r:embed="rId30"/>
          <a:stretch>
            <a:fillRect/>
          </a:stretch>
        </p:blipFill>
        <p:spPr>
          <a:xfrm>
            <a:off x="3706778" y="5506162"/>
            <a:ext cx="876864" cy="265429"/>
          </a:xfrm>
          <a:prstGeom prst="rect">
            <a:avLst/>
          </a:prstGeom>
        </p:spPr>
      </p:pic>
      <p:pic>
        <p:nvPicPr>
          <p:cNvPr id="63" name="Picture 62" descr="17_0__605E5C.png"/>
          <p:cNvPicPr>
            <a:picLocks noChangeAspect="1"/>
          </p:cNvPicPr>
          <p:nvPr/>
        </p:nvPicPr>
        <p:blipFill>
          <a:blip r:embed="rId31"/>
          <a:stretch>
            <a:fillRect/>
          </a:stretch>
        </p:blipFill>
        <p:spPr>
          <a:xfrm>
            <a:off x="4464233" y="5506162"/>
            <a:ext cx="876864" cy="265429"/>
          </a:xfrm>
          <a:prstGeom prst="rect">
            <a:avLst/>
          </a:prstGeom>
        </p:spPr>
      </p:pic>
      <p:pic>
        <p:nvPicPr>
          <p:cNvPr id="64" name="Picture 63" descr="18_0__605E5C.png"/>
          <p:cNvPicPr>
            <a:picLocks noChangeAspect="1"/>
          </p:cNvPicPr>
          <p:nvPr/>
        </p:nvPicPr>
        <p:blipFill>
          <a:blip r:embed="rId32"/>
          <a:stretch>
            <a:fillRect/>
          </a:stretch>
        </p:blipFill>
        <p:spPr>
          <a:xfrm>
            <a:off x="5221688" y="5506162"/>
            <a:ext cx="876864" cy="265429"/>
          </a:xfrm>
          <a:prstGeom prst="rect">
            <a:avLst/>
          </a:prstGeom>
        </p:spPr>
      </p:pic>
      <p:pic>
        <p:nvPicPr>
          <p:cNvPr id="65" name="Picture 64" descr="8_0__605E5C.png"/>
          <p:cNvPicPr>
            <a:picLocks noChangeAspect="1"/>
          </p:cNvPicPr>
          <p:nvPr/>
        </p:nvPicPr>
        <p:blipFill>
          <a:blip r:embed="rId33"/>
          <a:stretch>
            <a:fillRect/>
          </a:stretch>
        </p:blipFill>
        <p:spPr>
          <a:xfrm>
            <a:off x="2270075" y="6002471"/>
            <a:ext cx="720450" cy="265429"/>
          </a:xfrm>
          <a:prstGeom prst="rect">
            <a:avLst/>
          </a:prstGeom>
        </p:spPr>
      </p:pic>
      <p:pic>
        <p:nvPicPr>
          <p:cNvPr id="66" name="Picture 65" descr="8_4__605E5C.png"/>
          <p:cNvPicPr>
            <a:picLocks noChangeAspect="1"/>
          </p:cNvPicPr>
          <p:nvPr/>
        </p:nvPicPr>
        <p:blipFill>
          <a:blip r:embed="rId34"/>
          <a:stretch>
            <a:fillRect/>
          </a:stretch>
        </p:blipFill>
        <p:spPr>
          <a:xfrm>
            <a:off x="3027530" y="6002471"/>
            <a:ext cx="720450" cy="265429"/>
          </a:xfrm>
          <a:prstGeom prst="rect">
            <a:avLst/>
          </a:prstGeom>
        </p:spPr>
      </p:pic>
      <p:pic>
        <p:nvPicPr>
          <p:cNvPr id="67" name="Picture 66" descr="8_8__605E5C.png"/>
          <p:cNvPicPr>
            <a:picLocks noChangeAspect="1"/>
          </p:cNvPicPr>
          <p:nvPr/>
        </p:nvPicPr>
        <p:blipFill>
          <a:blip r:embed="rId35"/>
          <a:stretch>
            <a:fillRect/>
          </a:stretch>
        </p:blipFill>
        <p:spPr>
          <a:xfrm>
            <a:off x="3784985" y="6002471"/>
            <a:ext cx="720450" cy="265429"/>
          </a:xfrm>
          <a:prstGeom prst="rect">
            <a:avLst/>
          </a:prstGeom>
        </p:spPr>
      </p:pic>
      <p:pic>
        <p:nvPicPr>
          <p:cNvPr id="68" name="Picture 67" descr="9_2__605E5C.png"/>
          <p:cNvPicPr>
            <a:picLocks noChangeAspect="1"/>
          </p:cNvPicPr>
          <p:nvPr/>
        </p:nvPicPr>
        <p:blipFill>
          <a:blip r:embed="rId36"/>
          <a:stretch>
            <a:fillRect/>
          </a:stretch>
        </p:blipFill>
        <p:spPr>
          <a:xfrm>
            <a:off x="4542440" y="6002471"/>
            <a:ext cx="720450" cy="265429"/>
          </a:xfrm>
          <a:prstGeom prst="rect">
            <a:avLst/>
          </a:prstGeom>
        </p:spPr>
      </p:pic>
      <p:pic>
        <p:nvPicPr>
          <p:cNvPr id="69" name="Picture 68" descr="9_6__605E5C.png"/>
          <p:cNvPicPr>
            <a:picLocks noChangeAspect="1"/>
          </p:cNvPicPr>
          <p:nvPr/>
        </p:nvPicPr>
        <p:blipFill>
          <a:blip r:embed="rId37"/>
          <a:stretch>
            <a:fillRect/>
          </a:stretch>
        </p:blipFill>
        <p:spPr>
          <a:xfrm>
            <a:off x="5299895" y="6002471"/>
            <a:ext cx="720450" cy="265429"/>
          </a:xfrm>
          <a:prstGeom prst="rect">
            <a:avLst/>
          </a:prstGeom>
        </p:spPr>
      </p:pic>
      <p:pic>
        <p:nvPicPr>
          <p:cNvPr id="70" name="Picture 69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3958521" y="4875868"/>
            <a:ext cx="366712" cy="533400"/>
          </a:xfrm>
          <a:prstGeom prst="rect">
            <a:avLst/>
          </a:prstGeom>
        </p:spPr>
      </p:pic>
      <p:pic>
        <p:nvPicPr>
          <p:cNvPr id="71" name="Picture 70" descr="4_40_605E5C.png"/>
          <p:cNvPicPr>
            <a:picLocks noChangeAspect="1"/>
          </p:cNvPicPr>
          <p:nvPr/>
        </p:nvPicPr>
        <p:blipFill>
          <a:blip r:embed="rId38"/>
          <a:stretch>
            <a:fillRect/>
          </a:stretch>
        </p:blipFill>
        <p:spPr>
          <a:xfrm>
            <a:off x="10456717" y="2290412"/>
            <a:ext cx="720450" cy="265429"/>
          </a:xfrm>
          <a:prstGeom prst="rect">
            <a:avLst/>
          </a:prstGeom>
        </p:spPr>
      </p:pic>
      <p:pic>
        <p:nvPicPr>
          <p:cNvPr id="72" name="Picture 71" descr="5_70_605E5C.png"/>
          <p:cNvPicPr>
            <a:picLocks noChangeAspect="1"/>
          </p:cNvPicPr>
          <p:nvPr/>
        </p:nvPicPr>
        <p:blipFill>
          <a:blip r:embed="rId39"/>
          <a:stretch>
            <a:fillRect/>
          </a:stretch>
        </p:blipFill>
        <p:spPr>
          <a:xfrm>
            <a:off x="11271821" y="2290412"/>
            <a:ext cx="720450" cy="265429"/>
          </a:xfrm>
          <a:prstGeom prst="rect">
            <a:avLst/>
          </a:prstGeom>
        </p:spPr>
      </p:pic>
      <p:pic>
        <p:nvPicPr>
          <p:cNvPr id="73" name="Picture 72" descr="5_00_605E5C.png"/>
          <p:cNvPicPr>
            <a:picLocks noChangeAspect="1"/>
          </p:cNvPicPr>
          <p:nvPr/>
        </p:nvPicPr>
        <p:blipFill>
          <a:blip r:embed="rId40"/>
          <a:stretch>
            <a:fillRect/>
          </a:stretch>
        </p:blipFill>
        <p:spPr>
          <a:xfrm>
            <a:off x="10456717" y="3421901"/>
            <a:ext cx="720450" cy="265429"/>
          </a:xfrm>
          <a:prstGeom prst="rect">
            <a:avLst/>
          </a:prstGeom>
        </p:spPr>
      </p:pic>
      <p:pic>
        <p:nvPicPr>
          <p:cNvPr id="74" name="Picture 73" descr="6_40_605E5C.png"/>
          <p:cNvPicPr>
            <a:picLocks noChangeAspect="1"/>
          </p:cNvPicPr>
          <p:nvPr/>
        </p:nvPicPr>
        <p:blipFill>
          <a:blip r:embed="rId41"/>
          <a:stretch>
            <a:fillRect/>
          </a:stretch>
        </p:blipFill>
        <p:spPr>
          <a:xfrm>
            <a:off x="11271821" y="3421901"/>
            <a:ext cx="720450" cy="265429"/>
          </a:xfrm>
          <a:prstGeom prst="rect">
            <a:avLst/>
          </a:prstGeom>
        </p:spPr>
      </p:pic>
      <p:pic>
        <p:nvPicPr>
          <p:cNvPr id="75" name="Picture 74" descr="5_60_605E5C.png"/>
          <p:cNvPicPr>
            <a:picLocks noChangeAspect="1"/>
          </p:cNvPicPr>
          <p:nvPr/>
        </p:nvPicPr>
        <p:blipFill>
          <a:blip r:embed="rId42"/>
          <a:stretch>
            <a:fillRect/>
          </a:stretch>
        </p:blipFill>
        <p:spPr>
          <a:xfrm>
            <a:off x="10456717" y="4553392"/>
            <a:ext cx="720450" cy="265429"/>
          </a:xfrm>
          <a:prstGeom prst="rect">
            <a:avLst/>
          </a:prstGeom>
        </p:spPr>
      </p:pic>
      <p:pic>
        <p:nvPicPr>
          <p:cNvPr id="76" name="Picture 75" descr="7_10_605E5C.png"/>
          <p:cNvPicPr>
            <a:picLocks noChangeAspect="1"/>
          </p:cNvPicPr>
          <p:nvPr/>
        </p:nvPicPr>
        <p:blipFill>
          <a:blip r:embed="rId43"/>
          <a:stretch>
            <a:fillRect/>
          </a:stretch>
        </p:blipFill>
        <p:spPr>
          <a:xfrm>
            <a:off x="11271821" y="4553392"/>
            <a:ext cx="720450" cy="265429"/>
          </a:xfrm>
          <a:prstGeom prst="rect">
            <a:avLst/>
          </a:prstGeom>
        </p:spPr>
      </p:pic>
      <p:pic>
        <p:nvPicPr>
          <p:cNvPr id="77" name="Picture 76" descr="6_20_605E5C.png"/>
          <p:cNvPicPr>
            <a:picLocks noChangeAspect="1"/>
          </p:cNvPicPr>
          <p:nvPr/>
        </p:nvPicPr>
        <p:blipFill>
          <a:blip r:embed="rId44"/>
          <a:stretch>
            <a:fillRect/>
          </a:stretch>
        </p:blipFill>
        <p:spPr>
          <a:xfrm>
            <a:off x="10456717" y="5684882"/>
            <a:ext cx="720450" cy="265429"/>
          </a:xfrm>
          <a:prstGeom prst="rect">
            <a:avLst/>
          </a:prstGeom>
        </p:spPr>
      </p:pic>
      <p:pic>
        <p:nvPicPr>
          <p:cNvPr id="78" name="Picture 77" descr="7_80_605E5C.png"/>
          <p:cNvPicPr>
            <a:picLocks noChangeAspect="1"/>
          </p:cNvPicPr>
          <p:nvPr/>
        </p:nvPicPr>
        <p:blipFill>
          <a:blip r:embed="rId45"/>
          <a:stretch>
            <a:fillRect/>
          </a:stretch>
        </p:blipFill>
        <p:spPr>
          <a:xfrm>
            <a:off x="11271821" y="5684882"/>
            <a:ext cx="720450" cy="265429"/>
          </a:xfrm>
          <a:prstGeom prst="rect">
            <a:avLst/>
          </a:prstGeom>
        </p:spPr>
      </p:pic>
      <p:pic>
        <p:nvPicPr>
          <p:cNvPr id="79" name="Picture 78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11037806" y="3853662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26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Laboratoire Francodex Strategy Analysis (5/5)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Laboratoire Francodex's strategic priorities and the competitive moves that support them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73805"/>
          </a:xfrm>
          <a:prstGeom prst="roundRect">
            <a:avLst>
              <a:gd name="adj" fmla="val 2782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Strategy analysis Laboratoire Francodex: strategic priorities and the competitive moves that support them (indicative).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54081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MARKET SHARE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of market value</a:t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2543175" y="1354081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WIN RATE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deals won</a:t>
            </a:r>
          </a:p>
        </p:txBody>
      </p:sp>
      <p:sp>
        <p:nvSpPr>
          <p:cNvPr id="13" name="Rounded Rectangle 12"/>
          <p:cNvSpPr/>
          <p:nvPr/>
        </p:nvSpPr>
        <p:spPr>
          <a:xfrm>
            <a:off x="4953000" y="1354081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ASP PREMIUM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vs peers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7353300" y="1354081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BOOK-TO-BILL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order momentum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9763125" y="1354081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EBITDA MARGIN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profitability</a:t>
            </a:r>
          </a:p>
        </p:txBody>
      </p:sp>
      <p:sp>
        <p:nvSpPr>
          <p:cNvPr id="16" name="Rounded Rectangle 15"/>
          <p:cNvSpPr/>
          <p:nvPr/>
        </p:nvSpPr>
        <p:spPr>
          <a:xfrm>
            <a:off x="142875" y="2084229"/>
            <a:ext cx="5905500" cy="4490410"/>
          </a:xfrm>
          <a:prstGeom prst="roundRect">
            <a:avLst>
              <a:gd name="adj" fmla="val 169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76225" y="2169954"/>
            <a:ext cx="56388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Strategic Priorities</a:t>
            </a:r>
          </a:p>
        </p:txBody>
      </p:sp>
      <p:sp>
        <p:nvSpPr>
          <p:cNvPr id="18" name="Rectangle 17"/>
          <p:cNvSpPr/>
          <p:nvPr/>
        </p:nvSpPr>
        <p:spPr>
          <a:xfrm>
            <a:off x="276225" y="2408079"/>
            <a:ext cx="56388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76225" y="2493804"/>
            <a:ext cx="5638800" cy="400463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6200775" y="2084229"/>
            <a:ext cx="5848350" cy="4490410"/>
          </a:xfrm>
          <a:prstGeom prst="roundRect">
            <a:avLst>
              <a:gd name="adj" fmla="val 169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6334125" y="2169954"/>
            <a:ext cx="55816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Competitive Moves</a:t>
            </a:r>
          </a:p>
        </p:txBody>
      </p:sp>
      <p:sp>
        <p:nvSpPr>
          <p:cNvPr id="22" name="Rectangle 21"/>
          <p:cNvSpPr/>
          <p:nvPr/>
        </p:nvSpPr>
        <p:spPr>
          <a:xfrm>
            <a:off x="6334125" y="2408079"/>
            <a:ext cx="55816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6334125" y="2493804"/>
            <a:ext cx="5581650" cy="400463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202531" y="1540967"/>
            <a:ext cx="157162" cy="228600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602831" y="1540967"/>
            <a:ext cx="157162" cy="228600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12656" y="1540967"/>
            <a:ext cx="157162" cy="228600"/>
          </a:xfrm>
          <a:prstGeom prst="rect">
            <a:avLst/>
          </a:prstGeom>
        </p:spPr>
      </p:pic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412956" y="1540967"/>
            <a:ext cx="157162" cy="228600"/>
          </a:xfrm>
          <a:prstGeom prst="rect">
            <a:avLst/>
          </a:prstGeom>
        </p:spPr>
      </p:pic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822781" y="1540967"/>
            <a:ext cx="157162" cy="228600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276225" y="2503329"/>
            <a:ext cx="50835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Defend and extend leadership in 'General Retail' Laboratoire Francodex's strongest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276225" y="2678589"/>
            <a:ext cx="31749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end-market while scaling the next-best applications.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76225" y="2906426"/>
            <a:ext cx="9099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Convert its ~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35376" y="2896203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1310485" y="2906426"/>
            <a:ext cx="92910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win rate and +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88748" y="2896203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2363857" y="2906426"/>
            <a:ext cx="31090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ASP premium into share gains through value-based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276225" y="3081686"/>
            <a:ext cx="4892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selling.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276225" y="3309524"/>
            <a:ext cx="267400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Raise SAM penetration beyond 'Europe' (~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99386" y="3299301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3074495" y="3309524"/>
            <a:ext cx="201906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 into lower-penetration regions.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276225" y="3537362"/>
            <a:ext cx="69405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Sustain a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19438" y="3527139"/>
            <a:ext cx="134549" cy="195707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1094548" y="3537362"/>
            <a:ext cx="375055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book-to-bill with disciplined capacity and channel investment.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276225" y="3765200"/>
            <a:ext cx="532116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Protect margin through corridor-based pricing and cost discipline as input prices move.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6334125" y="2503329"/>
            <a:ext cx="55626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Premiumise the portfolio around 'Shampoos &amp; Cleansing Products' and adjacent high-value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6334125" y="2678589"/>
            <a:ext cx="169473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lines to lift blended pricing.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6334125" y="2906426"/>
            <a:ext cx="55626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Deepen presence in 'Europe' (largest SOM region) and build out under-served geographies.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6334125" y="3134264"/>
            <a:ext cx="547114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Invest in R&amp;D, certification and selective M&amp;A to move up the price ladder and widen the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6334125" y="3309524"/>
            <a:ext cx="42563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moat.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6334125" y="3537362"/>
            <a:ext cx="526753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Diversify the customer base and secure supply to de-risk concentration and input-cost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6334125" y="3712622"/>
            <a:ext cx="5092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shocks.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6334125" y="3940460"/>
            <a:ext cx="310217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Sharpen go-to-market a ~85-day sales cycle and ~</a:t>
            </a:r>
          </a:p>
        </p:txBody>
      </p:sp>
      <p:pic>
        <p:nvPicPr>
          <p:cNvPr id="53" name="Picture 5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385452" y="3930237"/>
            <a:ext cx="134549" cy="195707"/>
          </a:xfrm>
          <a:prstGeom prst="rect">
            <a:avLst/>
          </a:prstGeom>
        </p:spPr>
      </p:pic>
      <p:sp>
        <p:nvSpPr>
          <p:cNvPr id="54" name="TextBox 53"/>
          <p:cNvSpPr txBox="1"/>
          <p:nvPr/>
        </p:nvSpPr>
        <p:spPr>
          <a:xfrm>
            <a:off x="9560561" y="3940460"/>
            <a:ext cx="200366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conversion speed share capture.</a:t>
            </a: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Custom 70">
      <a:dk1>
        <a:sysClr val="windowText" lastClr="000000"/>
      </a:dk1>
      <a:lt1>
        <a:sysClr val="window" lastClr="FFFFFF"/>
      </a:lt1>
      <a:dk2>
        <a:srgbClr val="000000"/>
      </a:dk2>
      <a:lt2>
        <a:srgbClr val="F8F8F8"/>
      </a:lt2>
      <a:accent1>
        <a:srgbClr val="3D85C6"/>
      </a:accent1>
      <a:accent2>
        <a:srgbClr val="9E7E0A"/>
      </a:accent2>
      <a:accent3>
        <a:srgbClr val="40315E"/>
      </a:accent3>
      <a:accent4>
        <a:srgbClr val="008189"/>
      </a:accent4>
      <a:accent5>
        <a:srgbClr val="A35313"/>
      </a:accent5>
      <a:accent6>
        <a:srgbClr val="5F5F5F"/>
      </a:accent6>
      <a:hlink>
        <a:srgbClr val="5F5F5F"/>
      </a:hlink>
      <a:folHlink>
        <a:srgbClr val="919191"/>
      </a:folHlink>
    </a:clrScheme>
    <a:fontScheme name="Office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1</TotalTime>
  <Words>0</Words>
  <Application>Microsoft Macintosh PowerPoint</Application>
  <PresentationFormat>On-screen Show (4:3)</PresentationFormat>
  <Paragraphs>0</Paragraphs>
  <Slides>0</Slides>
  <Notes>0</Notes>
  <HiddenSlides>0</HiddenSlides>
  <MMClips>0</MMClips>
  <ScaleCrop>false</ScaleCrop>
  <HeadingPairs>
    <vt:vector size="4" baseType="variant">
      <vt:variant>
        <vt:lpstr>Theme</vt:lpstr>
      </vt:variant>
      <vt:variant>
        <vt:i4>1</vt:i4>
      </vt:variant>
      <vt:variant>
        <vt:lpstr>Slide Titles</vt:lpstr>
      </vt:variant>
      <vt:variant>
        <vt:i4>0</vt:i4>
      </vt:variant>
    </vt:vector>
  </HeadingPairs>
  <TitlesOfParts>
    <vt:vector size="1" baseType="lpstr">
      <vt:lpstr>Office Theme</vt:lpstr>
    </vt:vector>
  </TitlesOfParts>
  <Manager/>
  <Company/>
  <LinksUpToDate>false</LinksUpToDate>
  <SharedDoc>false</SharedDoc>
  <HyperlinkBase/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subject/>
  <dc:creator/>
  <cp:keywords/>
  <dc:description>generated using python-pptx</dc:description>
  <cp:lastModifiedBy>Steve Canny</cp:lastModifiedBy>
  <cp:revision>1</cp:revision>
  <dcterms:created xsi:type="dcterms:W3CDTF">2013-01-27T09:14:16Z</dcterms:created>
  <dcterms:modified xsi:type="dcterms:W3CDTF">2013-01-27T09:15:58Z</dcterms:modified>
  <cp:category/>
</cp:coreProperties>
</file>