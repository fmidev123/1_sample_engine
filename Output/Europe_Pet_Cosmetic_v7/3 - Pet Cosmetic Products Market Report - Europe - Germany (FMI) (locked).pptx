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notesSlides/notesSlide27.xml" ContentType="application/vnd.openxmlformats-officedocument.presentationml.notesSlide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notesSlides/notesSlide28.xml" ContentType="application/vnd.openxmlformats-officedocument.presentationml.notesSlide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charts/chart9.xml" ContentType="application/vnd.openxmlformats-officedocument.drawingml.chart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charts/chart10.xml" ContentType="application/vnd.openxmlformats-officedocument.drawingml.chart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charts/chart11.xml" ContentType="application/vnd.openxmlformats-officedocument.drawingml.chart+xml"/>
  <Override PartName="/ppt/notesSlides/notesSlide39.xml" ContentType="application/vnd.openxmlformats-officedocument.presentationml.notesSlide+xml"/>
  <Override PartName="/ppt/charts/chart12.xml" ContentType="application/vnd.openxmlformats-officedocument.drawingml.chart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notesSlides/notesSlide48.xml" ContentType="application/vnd.openxmlformats-officedocument.presentationml.notesSlide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notesSlides/notesSlide49.xml" ContentType="application/vnd.openxmlformats-officedocument.presentationml.notesSlide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charts/chart23.xml" ContentType="application/vnd.openxmlformats-officedocument.drawingml.chart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notesSlides/notesSlide57.xml" ContentType="application/vnd.openxmlformats-officedocument.presentationml.notesSlide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charts/chart29.xml" ContentType="application/vnd.openxmlformats-officedocument.drawingml.chart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notesSlides/notesSlide65.xml" ContentType="application/vnd.openxmlformats-officedocument.presentationml.notesSlide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notesSlides/notesSlide66.xml" ContentType="application/vnd.openxmlformats-officedocument.presentationml.notesSlide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charts/chart40.xml" ContentType="application/vnd.openxmlformats-officedocument.drawingml.chart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notesSlides/notesSlide74.xml" ContentType="application/vnd.openxmlformats-officedocument.presentationml.notesSlide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notesSlides/notesSlide75.xml" ContentType="application/vnd.openxmlformats-officedocument.presentationml.notesSlide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charts/chart50.xml" ContentType="application/vnd.openxmlformats-officedocument.drawingml.chart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notesSlides/notesSlide83.xml" ContentType="application/vnd.openxmlformats-officedocument.presentationml.notesSlide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charts/chart55.xml" ContentType="application/vnd.openxmlformats-officedocument.drawingml.chart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notesSlides/notesSlide91.xml" ContentType="application/vnd.openxmlformats-officedocument.presentationml.notesSlide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0.xml" ContentType="application/vnd.openxmlformats-officedocument.drawingml.chart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charts/chart61.xml" ContentType="application/vnd.openxmlformats-officedocument.drawingml.chart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notesSlides/notesSlide99.xml" ContentType="application/vnd.openxmlformats-officedocument.presentationml.notesSlide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charts/chart68.xml" ContentType="application/vnd.openxmlformats-officedocument.drawingml.chart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charts/chart69.xml" ContentType="application/vnd.openxmlformats-officedocument.drawingml.chart+xml"/>
  <Override PartName="/ppt/charts/chart70.xml" ContentType="application/vnd.openxmlformats-officedocument.drawingml.chart+xml"/>
  <Override PartName="/ppt/notesSlides/notesSlide107.xml" ContentType="application/vnd.openxmlformats-officedocument.presentationml.notesSlide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notesSlides/notesSlide108.xml" ContentType="application/vnd.openxmlformats-officedocument.presentationml.notesSlide+xml"/>
  <Override PartName="/ppt/charts/chart75.xml" ContentType="application/vnd.openxmlformats-officedocument.drawingml.chart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charts/chart76.xml" ContentType="application/vnd.openxmlformats-officedocument.drawingml.chart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charts/chart77.xml" ContentType="application/vnd.openxmlformats-officedocument.drawingml.chart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charts/chart78.xml" ContentType="application/vnd.openxmlformats-officedocument.drawingml.chart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charts/chart79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notesSlides/notesSlide128.xml" ContentType="application/vnd.openxmlformats-officedocument.presentationml.notesSlide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85.xml" ContentType="application/vnd.openxmlformats-officedocument.drawingml.chart+xml"/>
  <Override PartName="/ppt/charts/chart86.xml" ContentType="application/vnd.openxmlformats-officedocument.drawingml.chart+xml"/>
  <Override PartName="/ppt/notesSlides/notesSlide129.xml" ContentType="application/vnd.openxmlformats-officedocument.presentationml.notesSlide+xml"/>
  <Override PartName="/ppt/charts/chart87.xml" ContentType="application/vnd.openxmlformats-officedocument.drawingml.chart+xml"/>
  <Override PartName="/ppt/charts/chart88.xml" ContentType="application/vnd.openxmlformats-officedocument.drawingml.chart+xml"/>
  <Override PartName="/ppt/charts/chart89.xml" ContentType="application/vnd.openxmlformats-officedocument.drawingml.chart+xml"/>
  <Override PartName="/ppt/charts/chart90.xml" ContentType="application/vnd.openxmlformats-officedocument.drawingml.chart+xml"/>
  <Override PartName="/ppt/charts/chart91.xml" ContentType="application/vnd.openxmlformats-officedocument.drawingml.chart+xml"/>
  <Override PartName="/ppt/charts/chart92.xml" ContentType="application/vnd.openxmlformats-officedocument.drawingml.chart+xml"/>
  <Override PartName="/ppt/charts/chart93.xml" ContentType="application/vnd.openxmlformats-officedocument.drawingml.chart+xml"/>
  <Override PartName="/ppt/charts/chart94.xml" ContentType="application/vnd.openxmlformats-officedocument.drawingml.chart+xml"/>
  <Override PartName="/ppt/charts/chart95.xml" ContentType="application/vnd.openxmlformats-officedocument.drawingml.chart+xml"/>
  <Override PartName="/ppt/charts/chart96.xml" ContentType="application/vnd.openxmlformats-officedocument.drawingml.chart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charts/chart97.xml" ContentType="application/vnd.openxmlformats-officedocument.drawingml.chart+xml"/>
  <Override PartName="/ppt/charts/chart98.xml" ContentType="application/vnd.openxmlformats-officedocument.drawingml.chart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charts/chart99.xml" ContentType="application/vnd.openxmlformats-officedocument.drawingml.chart+xml"/>
  <Override PartName="/ppt/charts/chart100.xml" ContentType="application/vnd.openxmlformats-officedocument.drawingml.chart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charts/chart101.xml" ContentType="application/vnd.openxmlformats-officedocument.drawingml.chart+xml"/>
  <Override PartName="/ppt/charts/chart102.xml" ContentType="application/vnd.openxmlformats-officedocument.drawingml.chart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charts/chart103.xml" ContentType="application/vnd.openxmlformats-officedocument.drawingml.chart+xml"/>
  <Override PartName="/ppt/charts/chart104.xml" ContentType="application/vnd.openxmlformats-officedocument.drawingml.chart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charts/chart105.xml" ContentType="application/vnd.openxmlformats-officedocument.drawingml.chart+xml"/>
  <Override PartName="/ppt/charts/chart106.xml" ContentType="application/vnd.openxmlformats-officedocument.drawingml.chart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charts/chart107.xml" ContentType="application/vnd.openxmlformats-officedocument.drawingml.chart+xml"/>
  <Override PartName="/ppt/charts/chart108.xml" ContentType="application/vnd.openxmlformats-officedocument.drawingml.chart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charts/chart109.xml" ContentType="application/vnd.openxmlformats-officedocument.drawingml.chart+xml"/>
  <Override PartName="/ppt/charts/chart110.xml" ContentType="application/vnd.openxmlformats-officedocument.drawingml.chart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charts/chart111.xml" ContentType="application/vnd.openxmlformats-officedocument.drawingml.chart+xml"/>
  <Override PartName="/ppt/charts/chart112.xml" ContentType="application/vnd.openxmlformats-officedocument.drawingml.chart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charts/chart113.xml" ContentType="application/vnd.openxmlformats-officedocument.drawingml.chart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charts/chart114.xml" ContentType="application/vnd.openxmlformats-officedocument.drawingml.chart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0.xml" ContentType="application/vnd.openxmlformats-officedocument.presentationml.notesSlide+xml"/>
  <Override PartName="/ppt/charts/chart115.xml" ContentType="application/vnd.openxmlformats-officedocument.drawingml.chart+xml"/>
  <Override PartName="/ppt/charts/chart116.xml" ContentType="application/vnd.openxmlformats-officedocument.drawingml.chart+xml"/>
  <Override PartName="/ppt/notesSlides/notesSlide171.xml" ContentType="application/vnd.openxmlformats-officedocument.presentationml.notesSlide+xml"/>
  <Override PartName="/ppt/charts/chart117.xml" ContentType="application/vnd.openxmlformats-officedocument.drawingml.chart+xml"/>
  <Override PartName="/ppt/notesSlides/notesSlide172.xml" ContentType="application/vnd.openxmlformats-officedocument.presentationml.notesSlide+xml"/>
  <Override PartName="/ppt/charts/chart118.xml" ContentType="application/vnd.openxmlformats-officedocument.drawingml.chart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charts/chart119.xml" ContentType="application/vnd.openxmlformats-officedocument.drawingml.chart+xml"/>
  <Override PartName="/ppt/notesSlides/notesSlide212.xml" ContentType="application/vnd.openxmlformats-officedocument.presentationml.notesSlide+xml"/>
  <Override PartName="/ppt/charts/chart120.xml" ContentType="application/vnd.openxmlformats-officedocument.drawingml.chart+xml"/>
  <Override PartName="/ppt/charts/chart121.xml" ContentType="application/vnd.openxmlformats-officedocument.drawingml.chart+xml"/>
  <Override PartName="/ppt/charts/chart122.xml" ContentType="application/vnd.openxmlformats-officedocument.drawingml.chart+xml"/>
  <Override PartName="/ppt/notesSlides/notesSlide213.xml" ContentType="application/vnd.openxmlformats-officedocument.presentationml.notesSlide+xml"/>
  <Override PartName="/ppt/charts/chart123.xml" ContentType="application/vnd.openxmlformats-officedocument.drawingml.chart+xml"/>
  <Override PartName="/ppt/charts/chart124.xml" ContentType="application/vnd.openxmlformats-officedocument.drawingml.chart+xml"/>
  <Override PartName="/ppt/charts/chart125.xml" ContentType="application/vnd.openxmlformats-officedocument.drawingml.chart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charts/chart126.xml" ContentType="application/vnd.openxmlformats-officedocument.drawingml.chart+xml"/>
  <Override PartName="/ppt/charts/chart127.xml" ContentType="application/vnd.openxmlformats-officedocument.drawingml.chart+xml"/>
  <Override PartName="/ppt/charts/chart128.xml" ContentType="application/vnd.openxmlformats-officedocument.drawingml.chart+xml"/>
  <Override PartName="/ppt/notesSlides/notesSlide216.xml" ContentType="application/vnd.openxmlformats-officedocument.presentationml.notesSlide+xml"/>
  <Override PartName="/ppt/charts/chart129.xml" ContentType="application/vnd.openxmlformats-officedocument.drawingml.chart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0.xml" ContentType="application/vnd.openxmlformats-officedocument.presentationml.notesSlide+xml"/>
  <Override PartName="/ppt/charts/chart130.xml" ContentType="application/vnd.openxmlformats-officedocument.drawingml.chart+xml"/>
  <Override PartName="/ppt/charts/chart131.xml" ContentType="application/vnd.openxmlformats-officedocument.drawingml.chart+xml"/>
  <Override PartName="/ppt/charts/chart132.xml" ContentType="application/vnd.openxmlformats-officedocument.drawingml.chart+xml"/>
  <Override PartName="/ppt/notesSlides/notesSlide221.xml" ContentType="application/vnd.openxmlformats-officedocument.presentationml.notesSlide+xml"/>
  <Override PartName="/ppt/charts/chart133.xml" ContentType="application/vnd.openxmlformats-officedocument.drawingml.chart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charts/chart134.xml" ContentType="application/vnd.openxmlformats-officedocument.drawingml.chart+xml"/>
  <Override PartName="/ppt/charts/chart135.xml" ContentType="application/vnd.openxmlformats-officedocument.drawingml.chart+xml"/>
  <Override PartName="/ppt/charts/chart136.xml" ContentType="application/vnd.openxmlformats-officedocument.drawingml.chart+xml"/>
  <Override PartName="/ppt/notesSlides/notesSlide226.xml" ContentType="application/vnd.openxmlformats-officedocument.presentationml.notesSlide+xml"/>
  <Override PartName="/ppt/charts/chart137.xml" ContentType="application/vnd.openxmlformats-officedocument.drawingml.chart+xml"/>
  <Override PartName="/ppt/notesSlides/notesSlide227.xml" ContentType="application/vnd.openxmlformats-officedocument.presentationml.notesSlide+xml"/>
  <Override PartName="/ppt/notesSlides/notesSlide228.xml" ContentType="application/vnd.openxmlformats-officedocument.presentationml.notesSlide+xml"/>
  <Override PartName="/ppt/notesSlides/notesSlide22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270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514" r:id="rId12"/>
    <p:sldId id="506" r:id="rId13"/>
    <p:sldId id="507" r:id="rId14"/>
    <p:sldId id="508" r:id="rId15"/>
    <p:sldId id="509" r:id="rId16"/>
    <p:sldId id="510" r:id="rId17"/>
    <p:sldId id="511" r:id="rId18"/>
    <p:sldId id="512" r:id="rId19"/>
    <p:sldId id="513" r:id="rId20"/>
    <p:sldId id="523" r:id="rId21"/>
    <p:sldId id="515" r:id="rId22"/>
    <p:sldId id="516" r:id="rId23"/>
    <p:sldId id="517" r:id="rId24"/>
    <p:sldId id="518" r:id="rId25"/>
    <p:sldId id="519" r:id="rId26"/>
    <p:sldId id="520" r:id="rId27"/>
    <p:sldId id="521" r:id="rId28"/>
    <p:sldId id="522" r:id="rId29"/>
    <p:sldId id="266" r:id="rId30"/>
    <p:sldId id="267" r:id="rId31"/>
    <p:sldId id="268" r:id="rId32"/>
    <p:sldId id="269" r:id="rId33"/>
    <p:sldId id="270" r:id="rId34"/>
    <p:sldId id="271" r:id="rId35"/>
    <p:sldId id="272" r:id="rId36"/>
    <p:sldId id="273" r:id="rId37"/>
    <p:sldId id="274" r:id="rId38"/>
    <p:sldId id="275" r:id="rId39"/>
    <p:sldId id="276" r:id="rId40"/>
    <p:sldId id="277" r:id="rId41"/>
    <p:sldId id="278" r:id="rId42"/>
    <p:sldId id="279" r:id="rId43"/>
    <p:sldId id="280" r:id="rId44"/>
    <p:sldId id="281" r:id="rId45"/>
    <p:sldId id="282" r:id="rId46"/>
    <p:sldId id="283" r:id="rId47"/>
    <p:sldId id="284" r:id="rId48"/>
    <p:sldId id="285" r:id="rId49"/>
    <p:sldId id="286" r:id="rId50"/>
    <p:sldId id="287" r:id="rId51"/>
    <p:sldId id="288" r:id="rId52"/>
    <p:sldId id="289" r:id="rId53"/>
    <p:sldId id="290" r:id="rId54"/>
    <p:sldId id="291" r:id="rId55"/>
    <p:sldId id="292" r:id="rId56"/>
    <p:sldId id="293" r:id="rId57"/>
    <p:sldId id="294" r:id="rId58"/>
    <p:sldId id="295" r:id="rId59"/>
    <p:sldId id="296" r:id="rId60"/>
    <p:sldId id="297" r:id="rId61"/>
    <p:sldId id="298" r:id="rId62"/>
    <p:sldId id="299" r:id="rId63"/>
    <p:sldId id="300" r:id="rId64"/>
    <p:sldId id="301" r:id="rId65"/>
    <p:sldId id="302" r:id="rId66"/>
    <p:sldId id="303" r:id="rId67"/>
    <p:sldId id="304" r:id="rId68"/>
    <p:sldId id="305" r:id="rId69"/>
    <p:sldId id="306" r:id="rId70"/>
    <p:sldId id="307" r:id="rId71"/>
    <p:sldId id="308" r:id="rId72"/>
    <p:sldId id="309" r:id="rId73"/>
    <p:sldId id="310" r:id="rId74"/>
    <p:sldId id="311" r:id="rId75"/>
    <p:sldId id="312" r:id="rId76"/>
    <p:sldId id="313" r:id="rId77"/>
    <p:sldId id="314" r:id="rId78"/>
    <p:sldId id="315" r:id="rId79"/>
    <p:sldId id="316" r:id="rId80"/>
    <p:sldId id="317" r:id="rId81"/>
    <p:sldId id="318" r:id="rId82"/>
    <p:sldId id="319" r:id="rId83"/>
    <p:sldId id="320" r:id="rId84"/>
    <p:sldId id="321" r:id="rId85"/>
    <p:sldId id="322" r:id="rId86"/>
    <p:sldId id="323" r:id="rId87"/>
    <p:sldId id="324" r:id="rId88"/>
    <p:sldId id="325" r:id="rId89"/>
    <p:sldId id="326" r:id="rId90"/>
    <p:sldId id="327" r:id="rId91"/>
    <p:sldId id="328" r:id="rId92"/>
    <p:sldId id="329" r:id="rId93"/>
    <p:sldId id="330" r:id="rId94"/>
    <p:sldId id="331" r:id="rId95"/>
    <p:sldId id="332" r:id="rId96"/>
    <p:sldId id="333" r:id="rId97"/>
    <p:sldId id="334" r:id="rId98"/>
    <p:sldId id="335" r:id="rId99"/>
    <p:sldId id="336" r:id="rId100"/>
    <p:sldId id="337" r:id="rId101"/>
    <p:sldId id="338" r:id="rId102"/>
    <p:sldId id="339" r:id="rId103"/>
    <p:sldId id="340" r:id="rId104"/>
    <p:sldId id="341" r:id="rId105"/>
    <p:sldId id="342" r:id="rId106"/>
    <p:sldId id="343" r:id="rId107"/>
    <p:sldId id="344" r:id="rId108"/>
    <p:sldId id="345" r:id="rId109"/>
    <p:sldId id="346" r:id="rId110"/>
    <p:sldId id="347" r:id="rId111"/>
    <p:sldId id="348" r:id="rId112"/>
    <p:sldId id="349" r:id="rId113"/>
    <p:sldId id="350" r:id="rId114"/>
    <p:sldId id="351" r:id="rId115"/>
    <p:sldId id="352" r:id="rId116"/>
    <p:sldId id="353" r:id="rId117"/>
    <p:sldId id="354" r:id="rId118"/>
    <p:sldId id="355" r:id="rId119"/>
    <p:sldId id="356" r:id="rId120"/>
    <p:sldId id="357" r:id="rId121"/>
    <p:sldId id="358" r:id="rId122"/>
    <p:sldId id="359" r:id="rId123"/>
    <p:sldId id="360" r:id="rId124"/>
    <p:sldId id="361" r:id="rId125"/>
    <p:sldId id="362" r:id="rId126"/>
    <p:sldId id="363" r:id="rId127"/>
    <p:sldId id="364" r:id="rId128"/>
    <p:sldId id="365" r:id="rId129"/>
    <p:sldId id="366" r:id="rId130"/>
    <p:sldId id="367" r:id="rId131"/>
    <p:sldId id="368" r:id="rId132"/>
    <p:sldId id="369" r:id="rId133"/>
    <p:sldId id="370" r:id="rId134"/>
    <p:sldId id="371" r:id="rId135"/>
    <p:sldId id="372" r:id="rId136"/>
    <p:sldId id="373" r:id="rId137"/>
    <p:sldId id="374" r:id="rId138"/>
    <p:sldId id="375" r:id="rId139"/>
    <p:sldId id="376" r:id="rId140"/>
    <p:sldId id="377" r:id="rId141"/>
    <p:sldId id="378" r:id="rId142"/>
    <p:sldId id="379" r:id="rId143"/>
    <p:sldId id="380" r:id="rId144"/>
    <p:sldId id="381" r:id="rId145"/>
    <p:sldId id="382" r:id="rId146"/>
    <p:sldId id="383" r:id="rId147"/>
    <p:sldId id="384" r:id="rId148"/>
    <p:sldId id="385" r:id="rId149"/>
    <p:sldId id="386" r:id="rId150"/>
    <p:sldId id="387" r:id="rId151"/>
    <p:sldId id="388" r:id="rId152"/>
    <p:sldId id="389" r:id="rId153"/>
    <p:sldId id="390" r:id="rId154"/>
    <p:sldId id="391" r:id="rId155"/>
    <p:sldId id="392" r:id="rId156"/>
    <p:sldId id="393" r:id="rId157"/>
    <p:sldId id="394" r:id="rId158"/>
    <p:sldId id="395" r:id="rId159"/>
    <p:sldId id="396" r:id="rId160"/>
    <p:sldId id="397" r:id="rId161"/>
    <p:sldId id="398" r:id="rId162"/>
    <p:sldId id="399" r:id="rId163"/>
    <p:sldId id="400" r:id="rId164"/>
    <p:sldId id="401" r:id="rId165"/>
    <p:sldId id="402" r:id="rId166"/>
    <p:sldId id="403" r:id="rId167"/>
    <p:sldId id="404" r:id="rId168"/>
    <p:sldId id="405" r:id="rId169"/>
    <p:sldId id="406" r:id="rId170"/>
    <p:sldId id="407" r:id="rId171"/>
    <p:sldId id="408" r:id="rId172"/>
    <p:sldId id="409" r:id="rId173"/>
    <p:sldId id="410" r:id="rId174"/>
    <p:sldId id="411" r:id="rId175"/>
    <p:sldId id="412" r:id="rId176"/>
    <p:sldId id="413" r:id="rId177"/>
    <p:sldId id="414" r:id="rId178"/>
    <p:sldId id="415" r:id="rId179"/>
    <p:sldId id="416" r:id="rId180"/>
    <p:sldId id="417" r:id="rId181"/>
    <p:sldId id="418" r:id="rId182"/>
    <p:sldId id="419" r:id="rId183"/>
    <p:sldId id="420" r:id="rId184"/>
    <p:sldId id="421" r:id="rId185"/>
    <p:sldId id="422" r:id="rId186"/>
    <p:sldId id="423" r:id="rId187"/>
    <p:sldId id="424" r:id="rId188"/>
    <p:sldId id="425" r:id="rId189"/>
    <p:sldId id="426" r:id="rId190"/>
    <p:sldId id="427" r:id="rId191"/>
    <p:sldId id="428" r:id="rId192"/>
    <p:sldId id="429" r:id="rId193"/>
    <p:sldId id="430" r:id="rId194"/>
    <p:sldId id="431" r:id="rId195"/>
    <p:sldId id="432" r:id="rId196"/>
    <p:sldId id="433" r:id="rId197"/>
    <p:sldId id="434" r:id="rId198"/>
    <p:sldId id="435" r:id="rId199"/>
    <p:sldId id="436" r:id="rId200"/>
    <p:sldId id="437" r:id="rId201"/>
    <p:sldId id="438" r:id="rId202"/>
    <p:sldId id="439" r:id="rId203"/>
    <p:sldId id="440" r:id="rId204"/>
    <p:sldId id="441" r:id="rId205"/>
    <p:sldId id="442" r:id="rId206"/>
    <p:sldId id="443" r:id="rId207"/>
    <p:sldId id="444" r:id="rId208"/>
    <p:sldId id="445" r:id="rId209"/>
    <p:sldId id="446" r:id="rId210"/>
    <p:sldId id="447" r:id="rId211"/>
    <p:sldId id="448" r:id="rId212"/>
    <p:sldId id="449" r:id="rId213"/>
    <p:sldId id="450" r:id="rId214"/>
    <p:sldId id="451" r:id="rId215"/>
    <p:sldId id="452" r:id="rId216"/>
    <p:sldId id="453" r:id="rId217"/>
    <p:sldId id="454" r:id="rId218"/>
    <p:sldId id="455" r:id="rId219"/>
    <p:sldId id="456" r:id="rId220"/>
    <p:sldId id="457" r:id="rId221"/>
    <p:sldId id="458" r:id="rId222"/>
    <p:sldId id="459" r:id="rId223"/>
    <p:sldId id="460" r:id="rId224"/>
    <p:sldId id="461" r:id="rId225"/>
    <p:sldId id="462" r:id="rId226"/>
    <p:sldId id="463" r:id="rId227"/>
    <p:sldId id="464" r:id="rId228"/>
    <p:sldId id="465" r:id="rId229"/>
    <p:sldId id="466" r:id="rId230"/>
    <p:sldId id="467" r:id="rId231"/>
    <p:sldId id="468" r:id="rId232"/>
    <p:sldId id="469" r:id="rId233"/>
    <p:sldId id="470" r:id="rId234"/>
    <p:sldId id="471" r:id="rId235"/>
    <p:sldId id="472" r:id="rId236"/>
    <p:sldId id="473" r:id="rId237"/>
    <p:sldId id="474" r:id="rId238"/>
    <p:sldId id="475" r:id="rId239"/>
    <p:sldId id="476" r:id="rId240"/>
    <p:sldId id="477" r:id="rId241"/>
    <p:sldId id="478" r:id="rId242"/>
    <p:sldId id="479" r:id="rId243"/>
    <p:sldId id="480" r:id="rId244"/>
    <p:sldId id="481" r:id="rId245"/>
    <p:sldId id="482" r:id="rId246"/>
    <p:sldId id="483" r:id="rId247"/>
    <p:sldId id="484" r:id="rId248"/>
    <p:sldId id="485" r:id="rId249"/>
    <p:sldId id="486" r:id="rId250"/>
    <p:sldId id="487" r:id="rId251"/>
    <p:sldId id="488" r:id="rId252"/>
    <p:sldId id="489" r:id="rId253"/>
    <p:sldId id="490" r:id="rId254"/>
    <p:sldId id="491" r:id="rId255"/>
    <p:sldId id="492" r:id="rId256"/>
    <p:sldId id="493" r:id="rId257"/>
    <p:sldId id="494" r:id="rId258"/>
    <p:sldId id="495" r:id="rId259"/>
    <p:sldId id="496" r:id="rId260"/>
    <p:sldId id="497" r:id="rId261"/>
    <p:sldId id="498" r:id="rId262"/>
    <p:sldId id="499" r:id="rId263"/>
    <p:sldId id="500" r:id="rId264"/>
    <p:sldId id="501" r:id="rId265"/>
    <p:sldId id="502" r:id="rId266"/>
    <p:sldId id="503" r:id="rId267"/>
    <p:sldId id="504" r:id="rId268"/>
    <p:sldId id="505" r:id="rId269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78" d="100"/>
          <a:sy n="78" d="100"/>
        </p:scale>
        <p:origin x="850" y="6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16" Type="http://schemas.openxmlformats.org/officeDocument/2006/relationships/slide" Target="slides/slide215.xml"/><Relationship Id="rId237" Type="http://schemas.openxmlformats.org/officeDocument/2006/relationships/slide" Target="slides/slide236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27" Type="http://schemas.openxmlformats.org/officeDocument/2006/relationships/slide" Target="slides/slide226.xml"/><Relationship Id="rId248" Type="http://schemas.openxmlformats.org/officeDocument/2006/relationships/slide" Target="slides/slide247.xml"/><Relationship Id="rId269" Type="http://schemas.openxmlformats.org/officeDocument/2006/relationships/slide" Target="slides/slide268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217" Type="http://schemas.openxmlformats.org/officeDocument/2006/relationships/slide" Target="slides/slide216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notesMaster" Target="notesMasters/notesMaster1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28" Type="http://schemas.openxmlformats.org/officeDocument/2006/relationships/slide" Target="slides/slide227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presProps" Target="presProps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viewProps" Target="viewProps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theme" Target="theme/theme1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tableStyles" Target="tableStyles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image" Target="../media/image3.png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image" Target="../media/image3.png"/></Relationships>
</file>

<file path=ppt/charts/_rels/chart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6.png"/><Relationship Id="rId7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image" Target="../media/image4.png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3.png"/><Relationship Id="rId4" Type="http://schemas.openxmlformats.org/officeDocument/2006/relationships/image" Target="../media/image7.png"/><Relationship Id="rId9" Type="http://schemas.openxmlformats.org/officeDocument/2006/relationships/image" Target="../media/image12.png"/></Relationships>
</file>

<file path=ppt/charts/_rels/chart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26.png"/><Relationship Id="rId18" Type="http://schemas.openxmlformats.org/officeDocument/2006/relationships/image" Target="../media/image31.png"/><Relationship Id="rId3" Type="http://schemas.openxmlformats.org/officeDocument/2006/relationships/image" Target="../media/image16.png"/><Relationship Id="rId21" Type="http://schemas.openxmlformats.org/officeDocument/2006/relationships/image" Target="../media/image34.png"/><Relationship Id="rId7" Type="http://schemas.openxmlformats.org/officeDocument/2006/relationships/image" Target="../media/image20.png"/><Relationship Id="rId12" Type="http://schemas.openxmlformats.org/officeDocument/2006/relationships/image" Target="../media/image25.png"/><Relationship Id="rId17" Type="http://schemas.openxmlformats.org/officeDocument/2006/relationships/image" Target="../media/image30.png"/><Relationship Id="rId2" Type="http://schemas.openxmlformats.org/officeDocument/2006/relationships/image" Target="../media/image15.png"/><Relationship Id="rId16" Type="http://schemas.openxmlformats.org/officeDocument/2006/relationships/image" Target="../media/image29.png"/><Relationship Id="rId20" Type="http://schemas.openxmlformats.org/officeDocument/2006/relationships/image" Target="../media/image33.png"/><Relationship Id="rId1" Type="http://schemas.openxmlformats.org/officeDocument/2006/relationships/image" Target="../media/image14.png"/><Relationship Id="rId6" Type="http://schemas.openxmlformats.org/officeDocument/2006/relationships/image" Target="../media/image19.png"/><Relationship Id="rId11" Type="http://schemas.openxmlformats.org/officeDocument/2006/relationships/image" Target="../media/image24.png"/><Relationship Id="rId5" Type="http://schemas.openxmlformats.org/officeDocument/2006/relationships/image" Target="../media/image18.png"/><Relationship Id="rId15" Type="http://schemas.openxmlformats.org/officeDocument/2006/relationships/image" Target="../media/image28.png"/><Relationship Id="rId10" Type="http://schemas.openxmlformats.org/officeDocument/2006/relationships/image" Target="../media/image23.png"/><Relationship Id="rId19" Type="http://schemas.openxmlformats.org/officeDocument/2006/relationships/image" Target="../media/image32.png"/><Relationship Id="rId4" Type="http://schemas.openxmlformats.org/officeDocument/2006/relationships/image" Target="../media/image17.png"/><Relationship Id="rId9" Type="http://schemas.openxmlformats.org/officeDocument/2006/relationships/image" Target="../media/image22.png"/><Relationship Id="rId14" Type="http://schemas.openxmlformats.org/officeDocument/2006/relationships/image" Target="../media/image27.png"/><Relationship Id="rId22" Type="http://schemas.openxmlformats.org/officeDocument/2006/relationships/image" Target="../media/image35.png"/></Relationships>
</file>

<file path=ppt/charts/_rels/chart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.png"/><Relationship Id="rId3" Type="http://schemas.openxmlformats.org/officeDocument/2006/relationships/image" Target="../media/image38.png"/><Relationship Id="rId7" Type="http://schemas.openxmlformats.org/officeDocument/2006/relationships/image" Target="../media/image42.png"/><Relationship Id="rId2" Type="http://schemas.openxmlformats.org/officeDocument/2006/relationships/image" Target="../media/image37.png"/><Relationship Id="rId1" Type="http://schemas.openxmlformats.org/officeDocument/2006/relationships/image" Target="../media/image36.png"/><Relationship Id="rId6" Type="http://schemas.openxmlformats.org/officeDocument/2006/relationships/image" Target="../media/image41.png"/><Relationship Id="rId5" Type="http://schemas.openxmlformats.org/officeDocument/2006/relationships/image" Target="../media/image40.png"/><Relationship Id="rId4" Type="http://schemas.openxmlformats.org/officeDocument/2006/relationships/image" Target="../media/image39.png"/></Relationships>
</file>

<file path=ppt/charts/_rels/chart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.png"/><Relationship Id="rId3" Type="http://schemas.openxmlformats.org/officeDocument/2006/relationships/image" Target="../media/image46.png"/><Relationship Id="rId7" Type="http://schemas.openxmlformats.org/officeDocument/2006/relationships/image" Target="../media/image50.png"/><Relationship Id="rId2" Type="http://schemas.openxmlformats.org/officeDocument/2006/relationships/image" Target="../media/image45.png"/><Relationship Id="rId1" Type="http://schemas.openxmlformats.org/officeDocument/2006/relationships/image" Target="../media/image44.png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53.png"/><Relationship Id="rId1" Type="http://schemas.openxmlformats.org/officeDocument/2006/relationships/image" Target="../media/image52.png"/><Relationship Id="rId6" Type="http://schemas.openxmlformats.org/officeDocument/2006/relationships/image" Target="../media/image57.png"/><Relationship Id="rId5" Type="http://schemas.openxmlformats.org/officeDocument/2006/relationships/image" Target="../media/image56.png"/><Relationship Id="rId4" Type="http://schemas.openxmlformats.org/officeDocument/2006/relationships/image" Target="../media/image55.png"/></Relationships>
</file>

<file path=ppt/charts/_rels/chart1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33.png"/><Relationship Id="rId18" Type="http://schemas.openxmlformats.org/officeDocument/2006/relationships/image" Target="../media/image138.png"/><Relationship Id="rId26" Type="http://schemas.openxmlformats.org/officeDocument/2006/relationships/image" Target="../media/image145.png"/><Relationship Id="rId3" Type="http://schemas.openxmlformats.org/officeDocument/2006/relationships/image" Target="../media/image125.png"/><Relationship Id="rId21" Type="http://schemas.openxmlformats.org/officeDocument/2006/relationships/image" Target="../media/image140.png"/><Relationship Id="rId7" Type="http://schemas.openxmlformats.org/officeDocument/2006/relationships/image" Target="../media/image129.png"/><Relationship Id="rId12" Type="http://schemas.openxmlformats.org/officeDocument/2006/relationships/image" Target="../media/image46.png"/><Relationship Id="rId17" Type="http://schemas.openxmlformats.org/officeDocument/2006/relationships/image" Target="../media/image137.png"/><Relationship Id="rId25" Type="http://schemas.openxmlformats.org/officeDocument/2006/relationships/image" Target="../media/image144.png"/><Relationship Id="rId33" Type="http://schemas.openxmlformats.org/officeDocument/2006/relationships/image" Target="../media/image152.png"/><Relationship Id="rId2" Type="http://schemas.openxmlformats.org/officeDocument/2006/relationships/image" Target="../media/image124.png"/><Relationship Id="rId16" Type="http://schemas.openxmlformats.org/officeDocument/2006/relationships/image" Target="../media/image136.png"/><Relationship Id="rId20" Type="http://schemas.openxmlformats.org/officeDocument/2006/relationships/image" Target="../media/image44.png"/><Relationship Id="rId29" Type="http://schemas.openxmlformats.org/officeDocument/2006/relationships/image" Target="../media/image148.png"/><Relationship Id="rId1" Type="http://schemas.openxmlformats.org/officeDocument/2006/relationships/image" Target="../media/image123.png"/><Relationship Id="rId6" Type="http://schemas.openxmlformats.org/officeDocument/2006/relationships/image" Target="../media/image128.png"/><Relationship Id="rId11" Type="http://schemas.openxmlformats.org/officeDocument/2006/relationships/image" Target="../media/image132.png"/><Relationship Id="rId24" Type="http://schemas.openxmlformats.org/officeDocument/2006/relationships/image" Target="../media/image143.png"/><Relationship Id="rId32" Type="http://schemas.openxmlformats.org/officeDocument/2006/relationships/image" Target="../media/image151.png"/><Relationship Id="rId5" Type="http://schemas.openxmlformats.org/officeDocument/2006/relationships/image" Target="../media/image127.png"/><Relationship Id="rId15" Type="http://schemas.openxmlformats.org/officeDocument/2006/relationships/image" Target="../media/image135.png"/><Relationship Id="rId23" Type="http://schemas.openxmlformats.org/officeDocument/2006/relationships/image" Target="../media/image142.png"/><Relationship Id="rId28" Type="http://schemas.openxmlformats.org/officeDocument/2006/relationships/image" Target="../media/image147.png"/><Relationship Id="rId10" Type="http://schemas.openxmlformats.org/officeDocument/2006/relationships/image" Target="../media/image131.png"/><Relationship Id="rId19" Type="http://schemas.openxmlformats.org/officeDocument/2006/relationships/image" Target="../media/image139.png"/><Relationship Id="rId31" Type="http://schemas.openxmlformats.org/officeDocument/2006/relationships/image" Target="../media/image150.png"/><Relationship Id="rId4" Type="http://schemas.openxmlformats.org/officeDocument/2006/relationships/image" Target="../media/image126.png"/><Relationship Id="rId9" Type="http://schemas.openxmlformats.org/officeDocument/2006/relationships/image" Target="../media/image130.png"/><Relationship Id="rId14" Type="http://schemas.openxmlformats.org/officeDocument/2006/relationships/image" Target="../media/image134.png"/><Relationship Id="rId22" Type="http://schemas.openxmlformats.org/officeDocument/2006/relationships/image" Target="../media/image141.png"/><Relationship Id="rId27" Type="http://schemas.openxmlformats.org/officeDocument/2006/relationships/image" Target="../media/image146.png"/><Relationship Id="rId30" Type="http://schemas.openxmlformats.org/officeDocument/2006/relationships/image" Target="../media/image149.png"/><Relationship Id="rId8" Type="http://schemas.openxmlformats.org/officeDocument/2006/relationships/image" Target="../media/image48.png"/></Relationships>
</file>

<file path=ppt/charts/_rels/chart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8.png"/><Relationship Id="rId13" Type="http://schemas.openxmlformats.org/officeDocument/2006/relationships/image" Target="../media/image162.png"/><Relationship Id="rId18" Type="http://schemas.openxmlformats.org/officeDocument/2006/relationships/image" Target="../media/image44.png"/><Relationship Id="rId26" Type="http://schemas.openxmlformats.org/officeDocument/2006/relationships/image" Target="../media/image146.png"/><Relationship Id="rId3" Type="http://schemas.openxmlformats.org/officeDocument/2006/relationships/image" Target="../media/image154.png"/><Relationship Id="rId21" Type="http://schemas.openxmlformats.org/officeDocument/2006/relationships/image" Target="../media/image165.png"/><Relationship Id="rId7" Type="http://schemas.openxmlformats.org/officeDocument/2006/relationships/image" Target="../media/image129.png"/><Relationship Id="rId12" Type="http://schemas.openxmlformats.org/officeDocument/2006/relationships/image" Target="../media/image161.png"/><Relationship Id="rId17" Type="http://schemas.openxmlformats.org/officeDocument/2006/relationships/image" Target="../media/image137.png"/><Relationship Id="rId25" Type="http://schemas.openxmlformats.org/officeDocument/2006/relationships/image" Target="../media/image143.png"/><Relationship Id="rId2" Type="http://schemas.openxmlformats.org/officeDocument/2006/relationships/image" Target="../media/image126.png"/><Relationship Id="rId16" Type="http://schemas.openxmlformats.org/officeDocument/2006/relationships/image" Target="../media/image135.png"/><Relationship Id="rId20" Type="http://schemas.openxmlformats.org/officeDocument/2006/relationships/image" Target="../media/image140.png"/><Relationship Id="rId29" Type="http://schemas.openxmlformats.org/officeDocument/2006/relationships/image" Target="../media/image151.png"/><Relationship Id="rId1" Type="http://schemas.openxmlformats.org/officeDocument/2006/relationships/image" Target="../media/image153.png"/><Relationship Id="rId6" Type="http://schemas.openxmlformats.org/officeDocument/2006/relationships/image" Target="../media/image157.png"/><Relationship Id="rId11" Type="http://schemas.openxmlformats.org/officeDocument/2006/relationships/image" Target="../media/image132.png"/><Relationship Id="rId24" Type="http://schemas.openxmlformats.org/officeDocument/2006/relationships/image" Target="../media/image145.png"/><Relationship Id="rId5" Type="http://schemas.openxmlformats.org/officeDocument/2006/relationships/image" Target="../media/image156.png"/><Relationship Id="rId15" Type="http://schemas.openxmlformats.org/officeDocument/2006/relationships/image" Target="../media/image163.png"/><Relationship Id="rId23" Type="http://schemas.openxmlformats.org/officeDocument/2006/relationships/image" Target="../media/image142.png"/><Relationship Id="rId28" Type="http://schemas.openxmlformats.org/officeDocument/2006/relationships/image" Target="../media/image150.png"/><Relationship Id="rId10" Type="http://schemas.openxmlformats.org/officeDocument/2006/relationships/image" Target="../media/image160.png"/><Relationship Id="rId19" Type="http://schemas.openxmlformats.org/officeDocument/2006/relationships/image" Target="../media/image164.png"/><Relationship Id="rId4" Type="http://schemas.openxmlformats.org/officeDocument/2006/relationships/image" Target="../media/image155.png"/><Relationship Id="rId9" Type="http://schemas.openxmlformats.org/officeDocument/2006/relationships/image" Target="../media/image159.png"/><Relationship Id="rId14" Type="http://schemas.openxmlformats.org/officeDocument/2006/relationships/image" Target="../media/image136.png"/><Relationship Id="rId22" Type="http://schemas.openxmlformats.org/officeDocument/2006/relationships/image" Target="../media/image141.png"/><Relationship Id="rId27" Type="http://schemas.openxmlformats.org/officeDocument/2006/relationships/image" Target="../media/image148.png"/><Relationship Id="rId30" Type="http://schemas.openxmlformats.org/officeDocument/2006/relationships/image" Target="../media/image152.png"/></Relationships>
</file>

<file path=ppt/charts/_rels/chart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3.png"/><Relationship Id="rId13" Type="http://schemas.openxmlformats.org/officeDocument/2006/relationships/image" Target="../media/image187.png"/><Relationship Id="rId18" Type="http://schemas.openxmlformats.org/officeDocument/2006/relationships/image" Target="../media/image192.png"/><Relationship Id="rId3" Type="http://schemas.openxmlformats.org/officeDocument/2006/relationships/image" Target="../media/image178.png"/><Relationship Id="rId7" Type="http://schemas.openxmlformats.org/officeDocument/2006/relationships/image" Target="../media/image182.png"/><Relationship Id="rId12" Type="http://schemas.openxmlformats.org/officeDocument/2006/relationships/image" Target="../media/image186.png"/><Relationship Id="rId17" Type="http://schemas.openxmlformats.org/officeDocument/2006/relationships/image" Target="../media/image191.png"/><Relationship Id="rId2" Type="http://schemas.openxmlformats.org/officeDocument/2006/relationships/image" Target="../media/image177.png"/><Relationship Id="rId16" Type="http://schemas.openxmlformats.org/officeDocument/2006/relationships/image" Target="../media/image190.png"/><Relationship Id="rId1" Type="http://schemas.openxmlformats.org/officeDocument/2006/relationships/image" Target="../media/image176.png"/><Relationship Id="rId6" Type="http://schemas.openxmlformats.org/officeDocument/2006/relationships/image" Target="../media/image181.png"/><Relationship Id="rId11" Type="http://schemas.openxmlformats.org/officeDocument/2006/relationships/image" Target="../media/image128.png"/><Relationship Id="rId5" Type="http://schemas.openxmlformats.org/officeDocument/2006/relationships/image" Target="../media/image180.png"/><Relationship Id="rId15" Type="http://schemas.openxmlformats.org/officeDocument/2006/relationships/image" Target="../media/image189.png"/><Relationship Id="rId10" Type="http://schemas.openxmlformats.org/officeDocument/2006/relationships/image" Target="../media/image185.png"/><Relationship Id="rId4" Type="http://schemas.openxmlformats.org/officeDocument/2006/relationships/image" Target="../media/image179.png"/><Relationship Id="rId9" Type="http://schemas.openxmlformats.org/officeDocument/2006/relationships/image" Target="../media/image184.png"/><Relationship Id="rId14" Type="http://schemas.openxmlformats.org/officeDocument/2006/relationships/image" Target="../media/image188.png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7" Type="http://schemas.openxmlformats.org/officeDocument/2006/relationships/image" Target="../media/image205.png"/><Relationship Id="rId2" Type="http://schemas.openxmlformats.org/officeDocument/2006/relationships/image" Target="../media/image200.png"/><Relationship Id="rId1" Type="http://schemas.openxmlformats.org/officeDocument/2006/relationships/image" Target="../media/image199.png"/><Relationship Id="rId6" Type="http://schemas.openxmlformats.org/officeDocument/2006/relationships/image" Target="../media/image204.png"/><Relationship Id="rId5" Type="http://schemas.openxmlformats.org/officeDocument/2006/relationships/image" Target="../media/image203.png"/><Relationship Id="rId4" Type="http://schemas.openxmlformats.org/officeDocument/2006/relationships/image" Target="../media/image202.png"/></Relationships>
</file>

<file path=ppt/charts/_rels/chart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9.png"/><Relationship Id="rId13" Type="http://schemas.openxmlformats.org/officeDocument/2006/relationships/image" Target="../media/image233.png"/><Relationship Id="rId3" Type="http://schemas.openxmlformats.org/officeDocument/2006/relationships/image" Target="../media/image224.png"/><Relationship Id="rId7" Type="http://schemas.openxmlformats.org/officeDocument/2006/relationships/image" Target="../media/image228.png"/><Relationship Id="rId12" Type="http://schemas.openxmlformats.org/officeDocument/2006/relationships/image" Target="../media/image232.png"/><Relationship Id="rId17" Type="http://schemas.openxmlformats.org/officeDocument/2006/relationships/image" Target="../media/image133.png"/><Relationship Id="rId2" Type="http://schemas.openxmlformats.org/officeDocument/2006/relationships/image" Target="../media/image223.png"/><Relationship Id="rId16" Type="http://schemas.openxmlformats.org/officeDocument/2006/relationships/image" Target="../media/image162.png"/><Relationship Id="rId1" Type="http://schemas.openxmlformats.org/officeDocument/2006/relationships/image" Target="../media/image222.png"/><Relationship Id="rId6" Type="http://schemas.openxmlformats.org/officeDocument/2006/relationships/image" Target="../media/image227.png"/><Relationship Id="rId11" Type="http://schemas.openxmlformats.org/officeDocument/2006/relationships/image" Target="../media/image231.png"/><Relationship Id="rId5" Type="http://schemas.openxmlformats.org/officeDocument/2006/relationships/image" Target="../media/image226.png"/><Relationship Id="rId15" Type="http://schemas.openxmlformats.org/officeDocument/2006/relationships/image" Target="../media/image235.png"/><Relationship Id="rId10" Type="http://schemas.openxmlformats.org/officeDocument/2006/relationships/image" Target="../media/image47.png"/><Relationship Id="rId4" Type="http://schemas.openxmlformats.org/officeDocument/2006/relationships/image" Target="../media/image225.png"/><Relationship Id="rId9" Type="http://schemas.openxmlformats.org/officeDocument/2006/relationships/image" Target="../media/image230.png"/><Relationship Id="rId14" Type="http://schemas.openxmlformats.org/officeDocument/2006/relationships/image" Target="../media/image234.png"/></Relationships>
</file>

<file path=ppt/charts/_rels/chart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7.png"/><Relationship Id="rId13" Type="http://schemas.openxmlformats.org/officeDocument/2006/relationships/image" Target="../media/image261.png"/><Relationship Id="rId3" Type="http://schemas.openxmlformats.org/officeDocument/2006/relationships/image" Target="../media/image252.png"/><Relationship Id="rId7" Type="http://schemas.openxmlformats.org/officeDocument/2006/relationships/image" Target="../media/image256.png"/><Relationship Id="rId12" Type="http://schemas.openxmlformats.org/officeDocument/2006/relationships/image" Target="../media/image260.png"/><Relationship Id="rId2" Type="http://schemas.openxmlformats.org/officeDocument/2006/relationships/image" Target="../media/image251.png"/><Relationship Id="rId16" Type="http://schemas.openxmlformats.org/officeDocument/2006/relationships/image" Target="../media/image264.png"/><Relationship Id="rId1" Type="http://schemas.openxmlformats.org/officeDocument/2006/relationships/image" Target="../media/image250.png"/><Relationship Id="rId6" Type="http://schemas.openxmlformats.org/officeDocument/2006/relationships/image" Target="../media/image255.png"/><Relationship Id="rId11" Type="http://schemas.openxmlformats.org/officeDocument/2006/relationships/image" Target="../media/image259.png"/><Relationship Id="rId5" Type="http://schemas.openxmlformats.org/officeDocument/2006/relationships/image" Target="../media/image254.png"/><Relationship Id="rId15" Type="http://schemas.openxmlformats.org/officeDocument/2006/relationships/image" Target="../media/image263.png"/><Relationship Id="rId10" Type="http://schemas.openxmlformats.org/officeDocument/2006/relationships/image" Target="../media/image258.png"/><Relationship Id="rId4" Type="http://schemas.openxmlformats.org/officeDocument/2006/relationships/image" Target="../media/image253.png"/><Relationship Id="rId9" Type="http://schemas.openxmlformats.org/officeDocument/2006/relationships/image" Target="../media/image155.png"/><Relationship Id="rId14" Type="http://schemas.openxmlformats.org/officeDocument/2006/relationships/image" Target="../media/image262.png"/></Relationships>
</file>

<file path=ppt/charts/_rels/chart5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80.png"/><Relationship Id="rId18" Type="http://schemas.openxmlformats.org/officeDocument/2006/relationships/image" Target="../media/image285.png"/><Relationship Id="rId26" Type="http://schemas.openxmlformats.org/officeDocument/2006/relationships/image" Target="../media/image293.png"/><Relationship Id="rId39" Type="http://schemas.openxmlformats.org/officeDocument/2006/relationships/image" Target="../media/image304.png"/><Relationship Id="rId21" Type="http://schemas.openxmlformats.org/officeDocument/2006/relationships/image" Target="../media/image288.png"/><Relationship Id="rId34" Type="http://schemas.openxmlformats.org/officeDocument/2006/relationships/image" Target="../media/image299.png"/><Relationship Id="rId42" Type="http://schemas.openxmlformats.org/officeDocument/2006/relationships/image" Target="../media/image307.png"/><Relationship Id="rId7" Type="http://schemas.openxmlformats.org/officeDocument/2006/relationships/image" Target="../media/image275.png"/><Relationship Id="rId2" Type="http://schemas.openxmlformats.org/officeDocument/2006/relationships/image" Target="../media/image270.png"/><Relationship Id="rId16" Type="http://schemas.openxmlformats.org/officeDocument/2006/relationships/image" Target="../media/image283.png"/><Relationship Id="rId29" Type="http://schemas.openxmlformats.org/officeDocument/2006/relationships/image" Target="../media/image250.png"/><Relationship Id="rId1" Type="http://schemas.openxmlformats.org/officeDocument/2006/relationships/image" Target="../media/image269.png"/><Relationship Id="rId6" Type="http://schemas.openxmlformats.org/officeDocument/2006/relationships/image" Target="../media/image274.png"/><Relationship Id="rId11" Type="http://schemas.openxmlformats.org/officeDocument/2006/relationships/image" Target="../media/image278.png"/><Relationship Id="rId24" Type="http://schemas.openxmlformats.org/officeDocument/2006/relationships/image" Target="../media/image291.png"/><Relationship Id="rId32" Type="http://schemas.openxmlformats.org/officeDocument/2006/relationships/image" Target="../media/image297.png"/><Relationship Id="rId37" Type="http://schemas.openxmlformats.org/officeDocument/2006/relationships/image" Target="../media/image302.png"/><Relationship Id="rId40" Type="http://schemas.openxmlformats.org/officeDocument/2006/relationships/image" Target="../media/image305.png"/><Relationship Id="rId45" Type="http://schemas.openxmlformats.org/officeDocument/2006/relationships/image" Target="../media/image310.png"/><Relationship Id="rId5" Type="http://schemas.openxmlformats.org/officeDocument/2006/relationships/image" Target="../media/image273.png"/><Relationship Id="rId15" Type="http://schemas.openxmlformats.org/officeDocument/2006/relationships/image" Target="../media/image282.png"/><Relationship Id="rId23" Type="http://schemas.openxmlformats.org/officeDocument/2006/relationships/image" Target="../media/image290.png"/><Relationship Id="rId28" Type="http://schemas.openxmlformats.org/officeDocument/2006/relationships/image" Target="../media/image295.png"/><Relationship Id="rId36" Type="http://schemas.openxmlformats.org/officeDocument/2006/relationships/image" Target="../media/image301.png"/><Relationship Id="rId10" Type="http://schemas.openxmlformats.org/officeDocument/2006/relationships/image" Target="../media/image107.png"/><Relationship Id="rId19" Type="http://schemas.openxmlformats.org/officeDocument/2006/relationships/image" Target="../media/image286.png"/><Relationship Id="rId31" Type="http://schemas.openxmlformats.org/officeDocument/2006/relationships/image" Target="../media/image296.png"/><Relationship Id="rId44" Type="http://schemas.openxmlformats.org/officeDocument/2006/relationships/image" Target="../media/image309.png"/><Relationship Id="rId4" Type="http://schemas.openxmlformats.org/officeDocument/2006/relationships/image" Target="../media/image272.png"/><Relationship Id="rId9" Type="http://schemas.openxmlformats.org/officeDocument/2006/relationships/image" Target="../media/image277.png"/><Relationship Id="rId14" Type="http://schemas.openxmlformats.org/officeDocument/2006/relationships/image" Target="../media/image281.png"/><Relationship Id="rId22" Type="http://schemas.openxmlformats.org/officeDocument/2006/relationships/image" Target="../media/image289.png"/><Relationship Id="rId27" Type="http://schemas.openxmlformats.org/officeDocument/2006/relationships/image" Target="../media/image294.png"/><Relationship Id="rId30" Type="http://schemas.openxmlformats.org/officeDocument/2006/relationships/image" Target="../media/image119.png"/><Relationship Id="rId35" Type="http://schemas.openxmlformats.org/officeDocument/2006/relationships/image" Target="../media/image300.png"/><Relationship Id="rId43" Type="http://schemas.openxmlformats.org/officeDocument/2006/relationships/image" Target="../media/image308.png"/><Relationship Id="rId8" Type="http://schemas.openxmlformats.org/officeDocument/2006/relationships/image" Target="../media/image276.png"/><Relationship Id="rId3" Type="http://schemas.openxmlformats.org/officeDocument/2006/relationships/image" Target="../media/image271.png"/><Relationship Id="rId12" Type="http://schemas.openxmlformats.org/officeDocument/2006/relationships/image" Target="../media/image279.png"/><Relationship Id="rId17" Type="http://schemas.openxmlformats.org/officeDocument/2006/relationships/image" Target="../media/image284.png"/><Relationship Id="rId25" Type="http://schemas.openxmlformats.org/officeDocument/2006/relationships/image" Target="../media/image292.png"/><Relationship Id="rId33" Type="http://schemas.openxmlformats.org/officeDocument/2006/relationships/image" Target="../media/image298.png"/><Relationship Id="rId38" Type="http://schemas.openxmlformats.org/officeDocument/2006/relationships/image" Target="../media/image303.png"/><Relationship Id="rId46" Type="http://schemas.openxmlformats.org/officeDocument/2006/relationships/image" Target="../media/image311.png"/><Relationship Id="rId20" Type="http://schemas.openxmlformats.org/officeDocument/2006/relationships/image" Target="../media/image287.png"/><Relationship Id="rId41" Type="http://schemas.openxmlformats.org/officeDocument/2006/relationships/image" Target="../media/image306.png"/></Relationships>
</file>

<file path=ppt/charts/_rels/char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3.png"/><Relationship Id="rId2" Type="http://schemas.openxmlformats.org/officeDocument/2006/relationships/image" Target="../media/image277.png"/><Relationship Id="rId1" Type="http://schemas.openxmlformats.org/officeDocument/2006/relationships/image" Target="../media/image312.png"/><Relationship Id="rId6" Type="http://schemas.openxmlformats.org/officeDocument/2006/relationships/image" Target="../media/image315.png"/><Relationship Id="rId5" Type="http://schemas.openxmlformats.org/officeDocument/2006/relationships/image" Target="../media/image297.png"/><Relationship Id="rId4" Type="http://schemas.openxmlformats.org/officeDocument/2006/relationships/image" Target="../media/image314.png"/></Relationships>
</file>

<file path=ppt/charts/_rels/chart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.png"/><Relationship Id="rId3" Type="http://schemas.openxmlformats.org/officeDocument/2006/relationships/image" Target="../media/image109.png"/><Relationship Id="rId7" Type="http://schemas.openxmlformats.org/officeDocument/2006/relationships/image" Target="../media/image228.png"/><Relationship Id="rId2" Type="http://schemas.openxmlformats.org/officeDocument/2006/relationships/image" Target="../media/image323.png"/><Relationship Id="rId1" Type="http://schemas.openxmlformats.org/officeDocument/2006/relationships/image" Target="../media/image322.png"/><Relationship Id="rId6" Type="http://schemas.openxmlformats.org/officeDocument/2006/relationships/image" Target="../media/image326.png"/><Relationship Id="rId5" Type="http://schemas.openxmlformats.org/officeDocument/2006/relationships/image" Target="../media/image325.png"/><Relationship Id="rId4" Type="http://schemas.openxmlformats.org/officeDocument/2006/relationships/image" Target="../media/image324.png"/><Relationship Id="rId9" Type="http://schemas.openxmlformats.org/officeDocument/2006/relationships/image" Target="../media/image257.png"/></Relationships>
</file>

<file path=ppt/charts/_rels/chart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8.png"/><Relationship Id="rId3" Type="http://schemas.openxmlformats.org/officeDocument/2006/relationships/image" Target="../media/image310.png"/><Relationship Id="rId7" Type="http://schemas.openxmlformats.org/officeDocument/2006/relationships/image" Target="../media/image340.png"/><Relationship Id="rId12" Type="http://schemas.openxmlformats.org/officeDocument/2006/relationships/image" Target="../media/image343.png"/><Relationship Id="rId2" Type="http://schemas.openxmlformats.org/officeDocument/2006/relationships/image" Target="../media/image336.png"/><Relationship Id="rId1" Type="http://schemas.openxmlformats.org/officeDocument/2006/relationships/image" Target="../media/image335.png"/><Relationship Id="rId6" Type="http://schemas.openxmlformats.org/officeDocument/2006/relationships/image" Target="../media/image339.png"/><Relationship Id="rId11" Type="http://schemas.openxmlformats.org/officeDocument/2006/relationships/image" Target="../media/image342.png"/><Relationship Id="rId5" Type="http://schemas.openxmlformats.org/officeDocument/2006/relationships/image" Target="../media/image338.png"/><Relationship Id="rId10" Type="http://schemas.openxmlformats.org/officeDocument/2006/relationships/image" Target="../media/image260.png"/><Relationship Id="rId4" Type="http://schemas.openxmlformats.org/officeDocument/2006/relationships/image" Target="../media/image337.png"/><Relationship Id="rId9" Type="http://schemas.openxmlformats.org/officeDocument/2006/relationships/image" Target="../media/image341.png"/></Relationships>
</file>

<file path=ppt/charts/_rels/chart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1.png"/><Relationship Id="rId3" Type="http://schemas.openxmlformats.org/officeDocument/2006/relationships/image" Target="../media/image357.png"/><Relationship Id="rId7" Type="http://schemas.openxmlformats.org/officeDocument/2006/relationships/image" Target="../media/image360.png"/><Relationship Id="rId12" Type="http://schemas.openxmlformats.org/officeDocument/2006/relationships/image" Target="../media/image261.png"/><Relationship Id="rId2" Type="http://schemas.openxmlformats.org/officeDocument/2006/relationships/image" Target="../media/image356.png"/><Relationship Id="rId1" Type="http://schemas.openxmlformats.org/officeDocument/2006/relationships/image" Target="../media/image355.png"/><Relationship Id="rId6" Type="http://schemas.openxmlformats.org/officeDocument/2006/relationships/image" Target="../media/image254.png"/><Relationship Id="rId11" Type="http://schemas.openxmlformats.org/officeDocument/2006/relationships/image" Target="../media/image186.png"/><Relationship Id="rId5" Type="http://schemas.openxmlformats.org/officeDocument/2006/relationships/image" Target="../media/image359.png"/><Relationship Id="rId10" Type="http://schemas.openxmlformats.org/officeDocument/2006/relationships/image" Target="../media/image227.png"/><Relationship Id="rId4" Type="http://schemas.openxmlformats.org/officeDocument/2006/relationships/image" Target="../media/image358.png"/><Relationship Id="rId9" Type="http://schemas.openxmlformats.org/officeDocument/2006/relationships/image" Target="../media/image121.png"/></Relationships>
</file>

<file path=ppt/charts/_rels/chart1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5.png"/><Relationship Id="rId3" Type="http://schemas.openxmlformats.org/officeDocument/2006/relationships/image" Target="../media/image362.png"/><Relationship Id="rId7" Type="http://schemas.openxmlformats.org/officeDocument/2006/relationships/image" Target="../media/image364.png"/><Relationship Id="rId2" Type="http://schemas.openxmlformats.org/officeDocument/2006/relationships/image" Target="../media/image228.png"/><Relationship Id="rId1" Type="http://schemas.openxmlformats.org/officeDocument/2006/relationships/image" Target="../media/image252.png"/><Relationship Id="rId6" Type="http://schemas.openxmlformats.org/officeDocument/2006/relationships/image" Target="../media/image158.png"/><Relationship Id="rId5" Type="http://schemas.openxmlformats.org/officeDocument/2006/relationships/image" Target="../media/image363.png"/><Relationship Id="rId10" Type="http://schemas.openxmlformats.org/officeDocument/2006/relationships/image" Target="../media/image365.png"/><Relationship Id="rId4" Type="http://schemas.openxmlformats.org/officeDocument/2006/relationships/image" Target="../media/image159.png"/><Relationship Id="rId9" Type="http://schemas.openxmlformats.org/officeDocument/2006/relationships/image" Target="../media/image137.png"/></Relationships>
</file>

<file path=ppt/charts/_rels/chart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6.png"/><Relationship Id="rId3" Type="http://schemas.openxmlformats.org/officeDocument/2006/relationships/image" Target="../media/image258.png"/><Relationship Id="rId7" Type="http://schemas.openxmlformats.org/officeDocument/2006/relationships/image" Target="../media/image134.png"/><Relationship Id="rId2" Type="http://schemas.openxmlformats.org/officeDocument/2006/relationships/image" Target="../media/image129.png"/><Relationship Id="rId1" Type="http://schemas.openxmlformats.org/officeDocument/2006/relationships/image" Target="../media/image127.png"/><Relationship Id="rId6" Type="http://schemas.openxmlformats.org/officeDocument/2006/relationships/image" Target="../media/image367.png"/><Relationship Id="rId11" Type="http://schemas.openxmlformats.org/officeDocument/2006/relationships/image" Target="../media/image300.png"/><Relationship Id="rId5" Type="http://schemas.openxmlformats.org/officeDocument/2006/relationships/image" Target="../media/image189.png"/><Relationship Id="rId10" Type="http://schemas.openxmlformats.org/officeDocument/2006/relationships/image" Target="../media/image369.png"/><Relationship Id="rId4" Type="http://schemas.openxmlformats.org/officeDocument/2006/relationships/image" Target="../media/image366.png"/><Relationship Id="rId9" Type="http://schemas.openxmlformats.org/officeDocument/2006/relationships/image" Target="../media/image368.png"/></Relationships>
</file>

<file path=ppt/charts/_rels/chart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4.png"/><Relationship Id="rId3" Type="http://schemas.openxmlformats.org/officeDocument/2006/relationships/image" Target="../media/image372.png"/><Relationship Id="rId7" Type="http://schemas.openxmlformats.org/officeDocument/2006/relationships/image" Target="../media/image161.png"/><Relationship Id="rId2" Type="http://schemas.openxmlformats.org/officeDocument/2006/relationships/image" Target="../media/image371.png"/><Relationship Id="rId1" Type="http://schemas.openxmlformats.org/officeDocument/2006/relationships/image" Target="../media/image370.png"/><Relationship Id="rId6" Type="http://schemas.openxmlformats.org/officeDocument/2006/relationships/image" Target="../media/image160.png"/><Relationship Id="rId5" Type="http://schemas.openxmlformats.org/officeDocument/2006/relationships/image" Target="../media/image158.png"/><Relationship Id="rId10" Type="http://schemas.openxmlformats.org/officeDocument/2006/relationships/image" Target="../media/image294.png"/><Relationship Id="rId4" Type="http://schemas.openxmlformats.org/officeDocument/2006/relationships/image" Target="../media/image342.png"/><Relationship Id="rId9" Type="http://schemas.openxmlformats.org/officeDocument/2006/relationships/image" Target="../media/image137.png"/></Relationships>
</file>

<file path=ppt/charts/_rels/chart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2.png"/><Relationship Id="rId3" Type="http://schemas.openxmlformats.org/officeDocument/2006/relationships/image" Target="../media/image186.png"/><Relationship Id="rId7" Type="http://schemas.openxmlformats.org/officeDocument/2006/relationships/image" Target="../media/image375.png"/><Relationship Id="rId2" Type="http://schemas.openxmlformats.org/officeDocument/2006/relationships/image" Target="../media/image154.png"/><Relationship Id="rId1" Type="http://schemas.openxmlformats.org/officeDocument/2006/relationships/image" Target="../media/image153.png"/><Relationship Id="rId6" Type="http://schemas.openxmlformats.org/officeDocument/2006/relationships/image" Target="../media/image374.png"/><Relationship Id="rId11" Type="http://schemas.openxmlformats.org/officeDocument/2006/relationships/image" Target="../media/image377.png"/><Relationship Id="rId5" Type="http://schemas.openxmlformats.org/officeDocument/2006/relationships/image" Target="../media/image373.png"/><Relationship Id="rId10" Type="http://schemas.openxmlformats.org/officeDocument/2006/relationships/image" Target="../media/image376.png"/><Relationship Id="rId4" Type="http://schemas.openxmlformats.org/officeDocument/2006/relationships/image" Target="../media/image363.png"/><Relationship Id="rId9" Type="http://schemas.openxmlformats.org/officeDocument/2006/relationships/image" Target="../media/image136.png"/></Relationships>
</file>

<file path=ppt/charts/_rels/chart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5.png"/><Relationship Id="rId3" Type="http://schemas.openxmlformats.org/officeDocument/2006/relationships/image" Target="../media/image362.png"/><Relationship Id="rId7" Type="http://schemas.openxmlformats.org/officeDocument/2006/relationships/image" Target="../media/image364.png"/><Relationship Id="rId2" Type="http://schemas.openxmlformats.org/officeDocument/2006/relationships/image" Target="../media/image228.png"/><Relationship Id="rId1" Type="http://schemas.openxmlformats.org/officeDocument/2006/relationships/image" Target="../media/image252.png"/><Relationship Id="rId6" Type="http://schemas.openxmlformats.org/officeDocument/2006/relationships/image" Target="../media/image158.png"/><Relationship Id="rId5" Type="http://schemas.openxmlformats.org/officeDocument/2006/relationships/image" Target="../media/image363.png"/><Relationship Id="rId10" Type="http://schemas.openxmlformats.org/officeDocument/2006/relationships/image" Target="../media/image365.png"/><Relationship Id="rId4" Type="http://schemas.openxmlformats.org/officeDocument/2006/relationships/image" Target="../media/image159.png"/><Relationship Id="rId9" Type="http://schemas.openxmlformats.org/officeDocument/2006/relationships/image" Target="../media/image137.png"/></Relationships>
</file>

<file path=ppt/charts/_rels/chart1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2.png"/><Relationship Id="rId3" Type="http://schemas.openxmlformats.org/officeDocument/2006/relationships/image" Target="../media/image379.png"/><Relationship Id="rId7" Type="http://schemas.openxmlformats.org/officeDocument/2006/relationships/image" Target="../media/image369.png"/><Relationship Id="rId2" Type="http://schemas.openxmlformats.org/officeDocument/2006/relationships/image" Target="../media/image155.png"/><Relationship Id="rId1" Type="http://schemas.openxmlformats.org/officeDocument/2006/relationships/image" Target="../media/image378.png"/><Relationship Id="rId6" Type="http://schemas.openxmlformats.org/officeDocument/2006/relationships/image" Target="../media/image381.png"/><Relationship Id="rId5" Type="http://schemas.openxmlformats.org/officeDocument/2006/relationships/image" Target="../media/image380.png"/><Relationship Id="rId10" Type="http://schemas.openxmlformats.org/officeDocument/2006/relationships/image" Target="../media/image384.png"/><Relationship Id="rId4" Type="http://schemas.openxmlformats.org/officeDocument/2006/relationships/image" Target="../media/image232.png"/><Relationship Id="rId9" Type="http://schemas.openxmlformats.org/officeDocument/2006/relationships/image" Target="../media/image383.png"/></Relationships>
</file>

<file path=ppt/charts/_rels/chart1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6.png"/><Relationship Id="rId3" Type="http://schemas.openxmlformats.org/officeDocument/2006/relationships/image" Target="../media/image228.png"/><Relationship Id="rId7" Type="http://schemas.openxmlformats.org/officeDocument/2006/relationships/image" Target="../media/image160.png"/><Relationship Id="rId2" Type="http://schemas.openxmlformats.org/officeDocument/2006/relationships/image" Target="../media/image259.png"/><Relationship Id="rId1" Type="http://schemas.openxmlformats.org/officeDocument/2006/relationships/image" Target="../media/image118.png"/><Relationship Id="rId6" Type="http://schemas.openxmlformats.org/officeDocument/2006/relationships/image" Target="../media/image46.png"/><Relationship Id="rId11" Type="http://schemas.openxmlformats.org/officeDocument/2006/relationships/image" Target="../media/image225.png"/><Relationship Id="rId5" Type="http://schemas.openxmlformats.org/officeDocument/2006/relationships/image" Target="../media/image385.png"/><Relationship Id="rId10" Type="http://schemas.openxmlformats.org/officeDocument/2006/relationships/image" Target="../media/image137.png"/><Relationship Id="rId4" Type="http://schemas.openxmlformats.org/officeDocument/2006/relationships/image" Target="../media/image186.png"/><Relationship Id="rId9" Type="http://schemas.openxmlformats.org/officeDocument/2006/relationships/image" Target="../media/image162.png"/></Relationships>
</file>

<file path=ppt/charts/_rels/chart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388.png"/><Relationship Id="rId1" Type="http://schemas.openxmlformats.org/officeDocument/2006/relationships/image" Target="../media/image387.png"/><Relationship Id="rId4" Type="http://schemas.openxmlformats.org/officeDocument/2006/relationships/image" Target="../media/image390.png"/></Relationships>
</file>

<file path=ppt/charts/_rels/chart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3.png"/><Relationship Id="rId2" Type="http://schemas.openxmlformats.org/officeDocument/2006/relationships/image" Target="../media/image392.png"/><Relationship Id="rId1" Type="http://schemas.openxmlformats.org/officeDocument/2006/relationships/image" Target="../media/image391.png"/><Relationship Id="rId5" Type="http://schemas.openxmlformats.org/officeDocument/2006/relationships/image" Target="../media/image395.png"/><Relationship Id="rId4" Type="http://schemas.openxmlformats.org/officeDocument/2006/relationships/image" Target="../media/image394.png"/></Relationships>
</file>

<file path=ppt/charts/_rels/chart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8.png"/><Relationship Id="rId2" Type="http://schemas.openxmlformats.org/officeDocument/2006/relationships/image" Target="../media/image397.png"/><Relationship Id="rId1" Type="http://schemas.openxmlformats.org/officeDocument/2006/relationships/image" Target="../media/image396.png"/><Relationship Id="rId4" Type="http://schemas.openxmlformats.org/officeDocument/2006/relationships/image" Target="../media/image399.png"/></Relationships>
</file>

<file path=ppt/charts/_rels/chart1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3.png"/><Relationship Id="rId3" Type="http://schemas.openxmlformats.org/officeDocument/2006/relationships/image" Target="../media/image402.png"/><Relationship Id="rId7" Type="http://schemas.openxmlformats.org/officeDocument/2006/relationships/image" Target="../media/image392.png"/><Relationship Id="rId2" Type="http://schemas.openxmlformats.org/officeDocument/2006/relationships/image" Target="../media/image401.png"/><Relationship Id="rId1" Type="http://schemas.openxmlformats.org/officeDocument/2006/relationships/image" Target="../media/image400.png"/><Relationship Id="rId6" Type="http://schemas.openxmlformats.org/officeDocument/2006/relationships/image" Target="../media/image391.png"/><Relationship Id="rId5" Type="http://schemas.openxmlformats.org/officeDocument/2006/relationships/image" Target="../media/image404.png"/><Relationship Id="rId10" Type="http://schemas.openxmlformats.org/officeDocument/2006/relationships/image" Target="../media/image395.png"/><Relationship Id="rId4" Type="http://schemas.openxmlformats.org/officeDocument/2006/relationships/image" Target="../media/image403.png"/><Relationship Id="rId9" Type="http://schemas.openxmlformats.org/officeDocument/2006/relationships/image" Target="../media/image394.png"/></Relationships>
</file>

<file path=ppt/charts/_rels/chart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7.png"/><Relationship Id="rId2" Type="http://schemas.openxmlformats.org/officeDocument/2006/relationships/image" Target="../media/image406.png"/><Relationship Id="rId1" Type="http://schemas.openxmlformats.org/officeDocument/2006/relationships/image" Target="../media/image405.png"/><Relationship Id="rId4" Type="http://schemas.openxmlformats.org/officeDocument/2006/relationships/image" Target="../media/image408.png"/></Relationships>
</file>

<file path=ppt/charts/_rels/chart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0.png"/><Relationship Id="rId2" Type="http://schemas.openxmlformats.org/officeDocument/2006/relationships/image" Target="../media/image270.png"/><Relationship Id="rId1" Type="http://schemas.openxmlformats.org/officeDocument/2006/relationships/image" Target="../media/image409.png"/><Relationship Id="rId5" Type="http://schemas.openxmlformats.org/officeDocument/2006/relationships/image" Target="../media/image412.png"/><Relationship Id="rId4" Type="http://schemas.openxmlformats.org/officeDocument/2006/relationships/image" Target="../media/image411.png"/></Relationships>
</file>

<file path=ppt/charts/_rels/chart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5.png"/><Relationship Id="rId2" Type="http://schemas.openxmlformats.org/officeDocument/2006/relationships/image" Target="../media/image414.png"/><Relationship Id="rId1" Type="http://schemas.openxmlformats.org/officeDocument/2006/relationships/image" Target="../media/image413.png"/><Relationship Id="rId4" Type="http://schemas.openxmlformats.org/officeDocument/2006/relationships/image" Target="../media/image416.png"/></Relationships>
</file>

<file path=ppt/charts/_rels/chart1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0.png"/><Relationship Id="rId3" Type="http://schemas.openxmlformats.org/officeDocument/2006/relationships/image" Target="../media/image419.png"/><Relationship Id="rId7" Type="http://schemas.openxmlformats.org/officeDocument/2006/relationships/image" Target="../media/image270.png"/><Relationship Id="rId2" Type="http://schemas.openxmlformats.org/officeDocument/2006/relationships/image" Target="../media/image418.png"/><Relationship Id="rId1" Type="http://schemas.openxmlformats.org/officeDocument/2006/relationships/image" Target="../media/image417.png"/><Relationship Id="rId6" Type="http://schemas.openxmlformats.org/officeDocument/2006/relationships/image" Target="../media/image409.png"/><Relationship Id="rId5" Type="http://schemas.openxmlformats.org/officeDocument/2006/relationships/image" Target="../media/image421.png"/><Relationship Id="rId10" Type="http://schemas.openxmlformats.org/officeDocument/2006/relationships/image" Target="../media/image412.png"/><Relationship Id="rId4" Type="http://schemas.openxmlformats.org/officeDocument/2006/relationships/image" Target="../media/image420.png"/><Relationship Id="rId9" Type="http://schemas.openxmlformats.org/officeDocument/2006/relationships/image" Target="../media/image411.png"/></Relationships>
</file>

<file path=ppt/charts/_rels/chart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4.png"/><Relationship Id="rId2" Type="http://schemas.openxmlformats.org/officeDocument/2006/relationships/image" Target="../media/image423.png"/><Relationship Id="rId1" Type="http://schemas.openxmlformats.org/officeDocument/2006/relationships/image" Target="../media/image422.png"/><Relationship Id="rId4" Type="http://schemas.openxmlformats.org/officeDocument/2006/relationships/image" Target="../media/image425.png"/></Relationships>
</file>

<file path=ppt/charts/_rels/chart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8.png"/><Relationship Id="rId2" Type="http://schemas.openxmlformats.org/officeDocument/2006/relationships/image" Target="../media/image427.png"/><Relationship Id="rId1" Type="http://schemas.openxmlformats.org/officeDocument/2006/relationships/image" Target="../media/image426.png"/><Relationship Id="rId5" Type="http://schemas.openxmlformats.org/officeDocument/2006/relationships/image" Target="../media/image430.png"/><Relationship Id="rId4" Type="http://schemas.openxmlformats.org/officeDocument/2006/relationships/image" Target="../media/image429.png"/></Relationships>
</file>

<file path=ppt/charts/_rels/chart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3.png"/><Relationship Id="rId2" Type="http://schemas.openxmlformats.org/officeDocument/2006/relationships/image" Target="../media/image432.png"/><Relationship Id="rId1" Type="http://schemas.openxmlformats.org/officeDocument/2006/relationships/image" Target="../media/image431.png"/><Relationship Id="rId4" Type="http://schemas.openxmlformats.org/officeDocument/2006/relationships/image" Target="../media/image434.png"/></Relationships>
</file>

<file path=ppt/charts/_rels/chart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8.png"/><Relationship Id="rId3" Type="http://schemas.openxmlformats.org/officeDocument/2006/relationships/image" Target="../media/image437.png"/><Relationship Id="rId7" Type="http://schemas.openxmlformats.org/officeDocument/2006/relationships/image" Target="../media/image427.png"/><Relationship Id="rId2" Type="http://schemas.openxmlformats.org/officeDocument/2006/relationships/image" Target="../media/image436.png"/><Relationship Id="rId1" Type="http://schemas.openxmlformats.org/officeDocument/2006/relationships/image" Target="../media/image435.png"/><Relationship Id="rId6" Type="http://schemas.openxmlformats.org/officeDocument/2006/relationships/image" Target="../media/image426.png"/><Relationship Id="rId5" Type="http://schemas.openxmlformats.org/officeDocument/2006/relationships/image" Target="../media/image439.png"/><Relationship Id="rId10" Type="http://schemas.openxmlformats.org/officeDocument/2006/relationships/image" Target="../media/image430.png"/><Relationship Id="rId4" Type="http://schemas.openxmlformats.org/officeDocument/2006/relationships/image" Target="../media/image438.png"/><Relationship Id="rId9" Type="http://schemas.openxmlformats.org/officeDocument/2006/relationships/image" Target="../media/image429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S1</c:v>
          </c:tx>
          <c:spPr>
            <a:solidFill>
              <a:srgbClr val="003E58"/>
            </a:solidFill>
            <a:ln>
              <a:noFill/>
            </a:ln>
          </c:spPr>
          <c:invertIfNegative val="1"/>
          <c:dLbls>
            <c:dLbl>
              <c:idx val="0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D327-4AFA-9BAE-55093870A9EF}"/>
                </c:ext>
              </c:extLst>
            </c:dLbl>
            <c:dLbl>
              <c:idx val="1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327-4AFA-9BAE-55093870A9EF}"/>
                </c:ext>
              </c:extLst>
            </c:dLbl>
            <c:dLbl>
              <c:idx val="2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327-4AFA-9BAE-55093870A9EF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2021–2026</c:v>
              </c:pt>
              <c:pt idx="1">
                <c:v>2026–2036</c:v>
              </c:pt>
              <c:pt idx="2">
                <c:v>2021–2036</c:v>
              </c:pt>
            </c:strLit>
          </c:cat>
          <c:val>
            <c:numLit>
              <c:formatCode>General</c:formatCode>
              <c:ptCount val="3"/>
              <c:pt idx="0">
                <c:v>4.8407370687660212</c:v>
              </c:pt>
              <c:pt idx="1">
                <c:v>5.5286007370664914</c:v>
              </c:pt>
              <c:pt idx="2">
                <c:v>5.2988128490789821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D327-4AFA-9BAE-55093870A9E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7.2977529729277686"/>
          <c:min val="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5"/>
              <c:pt idx="0">
                <c:v>2021</c:v>
              </c:pt>
              <c:pt idx="1">
                <c:v>2021–2026</c:v>
              </c:pt>
              <c:pt idx="2">
                <c:v>2026</c:v>
              </c:pt>
              <c:pt idx="3">
                <c:v>2026–2036</c:v>
              </c:pt>
              <c:pt idx="4">
                <c:v>2036</c:v>
              </c:pt>
            </c:strLit>
          </c:cat>
          <c:val>
            <c:numLit>
              <c:formatCode>General</c:formatCode>
              <c:ptCount val="5"/>
              <c:pt idx="0">
                <c:v>0</c:v>
              </c:pt>
              <c:pt idx="1">
                <c:v>133180</c:v>
              </c:pt>
              <c:pt idx="2">
                <c:v>0</c:v>
              </c:pt>
              <c:pt idx="3">
                <c:v>168690</c:v>
              </c:pt>
              <c:pt idx="4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78A3-4948-951C-447F5CA0A0CE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78A3-4948-951C-447F5CA0A0CE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78A3-4948-951C-447F5CA0A0CE}"/>
              </c:ext>
            </c:extLst>
          </c:dPt>
          <c:dPt>
            <c:idx val="2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6-78A3-4948-951C-447F5CA0A0CE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78A3-4948-951C-447F5CA0A0CE}"/>
              </c:ext>
            </c:extLst>
          </c:dPt>
          <c:dPt>
            <c:idx val="4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A-78A3-4948-951C-447F5CA0A0CE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8A3-4948-951C-447F5CA0A0C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8A3-4948-951C-447F5CA0A0C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8A3-4948-951C-447F5CA0A0C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8A3-4948-951C-447F5CA0A0C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78A3-4948-951C-447F5CA0A0CE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2021</c:v>
              </c:pt>
              <c:pt idx="1">
                <c:v>2021–2026</c:v>
              </c:pt>
              <c:pt idx="2">
                <c:v>2026</c:v>
              </c:pt>
              <c:pt idx="3">
                <c:v>2026–2036</c:v>
              </c:pt>
              <c:pt idx="4">
                <c:v>2036</c:v>
              </c:pt>
            </c:strLit>
          </c:cat>
          <c:val>
            <c:numLit>
              <c:formatCode>General</c:formatCode>
              <c:ptCount val="5"/>
              <c:pt idx="0">
                <c:v>133180</c:v>
              </c:pt>
              <c:pt idx="1">
                <c:v>35510</c:v>
              </c:pt>
              <c:pt idx="2">
                <c:v>168690</c:v>
              </c:pt>
              <c:pt idx="3">
                <c:v>120239</c:v>
              </c:pt>
              <c:pt idx="4">
                <c:v>288929</c:v>
              </c:pt>
            </c:numLit>
          </c:val>
          <c:extLst>
            <c:ext xmlns:c16="http://schemas.microsoft.com/office/drawing/2014/chart" uri="{C3380CC4-5D6E-409C-BE32-E72D297353CC}">
              <c16:uniqueId val="{0000000B-78A3-4948-951C-447F5CA0A0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S1</c:v>
          </c:tx>
          <c:spPr>
            <a:solidFill>
              <a:srgbClr val="003E58"/>
            </a:solidFill>
            <a:ln>
              <a:noFill/>
            </a:ln>
          </c:spPr>
          <c:invertIfNegative val="1"/>
          <c:dLbls>
            <c:dLbl>
              <c:idx val="0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1D7-44D9-8B33-37648499DA85}"/>
                </c:ext>
              </c:extLst>
            </c:dLbl>
            <c:dLbl>
              <c:idx val="1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1D7-44D9-8B33-37648499DA85}"/>
                </c:ext>
              </c:extLst>
            </c:dLbl>
            <c:dLbl>
              <c:idx val="2"/>
              <c:numFmt formatCode="&quot;M&quot;;&quot;M&quot;;&quot;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1D7-44D9-8B33-37648499DA85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2021–2026</c:v>
              </c:pt>
              <c:pt idx="1">
                <c:v>2026–2036</c:v>
              </c:pt>
              <c:pt idx="2">
                <c:v>2021–2036</c:v>
              </c:pt>
            </c:strLit>
          </c:cat>
          <c:val>
            <c:numLit>
              <c:formatCode>General</c:formatCode>
              <c:ptCount val="3"/>
              <c:pt idx="0">
                <c:v>5.4286246252719828</c:v>
              </c:pt>
              <c:pt idx="1">
                <c:v>6.0946929912261805</c:v>
              </c:pt>
              <c:pt idx="2">
                <c:v>5.8722039514490287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B1D7-44D9-8B33-37648499DA85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8.0449947484185582"/>
          <c:min val="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5"/>
              <c:pt idx="0">
                <c:v>2021</c:v>
              </c:pt>
              <c:pt idx="1">
                <c:v>2021–2026</c:v>
              </c:pt>
              <c:pt idx="2">
                <c:v>2026</c:v>
              </c:pt>
              <c:pt idx="3">
                <c:v>2026–2036</c:v>
              </c:pt>
              <c:pt idx="4">
                <c:v>2036</c:v>
              </c:pt>
            </c:strLit>
          </c:cat>
          <c:val>
            <c:numLit>
              <c:formatCode>General</c:formatCode>
              <c:ptCount val="5"/>
              <c:pt idx="0">
                <c:v>0</c:v>
              </c:pt>
              <c:pt idx="1">
                <c:v>2420.011</c:v>
              </c:pt>
              <c:pt idx="2">
                <c:v>0</c:v>
              </c:pt>
              <c:pt idx="3">
                <c:v>3152.1730000000002</c:v>
              </c:pt>
              <c:pt idx="4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D06F-4E84-8FEE-01E926F56621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D06F-4E84-8FEE-01E926F56621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D06F-4E84-8FEE-01E926F56621}"/>
              </c:ext>
            </c:extLst>
          </c:dPt>
          <c:dPt>
            <c:idx val="2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6-D06F-4E84-8FEE-01E926F56621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D06F-4E84-8FEE-01E926F56621}"/>
              </c:ext>
            </c:extLst>
          </c:dPt>
          <c:dPt>
            <c:idx val="4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A-D06F-4E84-8FEE-01E926F56621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06F-4E84-8FEE-01E926F56621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06F-4E84-8FEE-01E926F56621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06F-4E84-8FEE-01E926F56621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06F-4E84-8FEE-01E926F56621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06F-4E84-8FEE-01E926F56621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2021</c:v>
              </c:pt>
              <c:pt idx="1">
                <c:v>2021–2026</c:v>
              </c:pt>
              <c:pt idx="2">
                <c:v>2026</c:v>
              </c:pt>
              <c:pt idx="3">
                <c:v>2026–2036</c:v>
              </c:pt>
              <c:pt idx="4">
                <c:v>2036</c:v>
              </c:pt>
            </c:strLit>
          </c:cat>
          <c:val>
            <c:numLit>
              <c:formatCode>General</c:formatCode>
              <c:ptCount val="5"/>
              <c:pt idx="0">
                <c:v>2420.011</c:v>
              </c:pt>
              <c:pt idx="1">
                <c:v>732.16200000000026</c:v>
              </c:pt>
              <c:pt idx="2">
                <c:v>3152.1730000000002</c:v>
              </c:pt>
              <c:pt idx="3">
                <c:v>2543.5209999999993</c:v>
              </c:pt>
              <c:pt idx="4">
                <c:v>5695.6939999999995</c:v>
              </c:pt>
            </c:numLit>
          </c:val>
          <c:extLst>
            <c:ext xmlns:c16="http://schemas.microsoft.com/office/drawing/2014/chart" uri="{C3380CC4-5D6E-409C-BE32-E72D297353CC}">
              <c16:uniqueId val="{0000000B-D06F-4E84-8FEE-01E926F5662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Value (US$ Mn)</c:v>
          </c:tx>
          <c:spPr>
            <a:solidFill>
              <a:srgbClr val="69B1E0"/>
            </a:solidFill>
            <a:ln>
              <a:noFill/>
            </a:ln>
          </c:spPr>
          <c:invertIfNegative val="1"/>
          <c:dLbls>
            <c:dLbl>
              <c:idx val="0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A128-40F4-9BBD-FA1E87A35CD4}"/>
                </c:ext>
              </c:extLst>
            </c:dLbl>
            <c:dLbl>
              <c:idx val="1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128-40F4-9BBD-FA1E87A35CD4}"/>
                </c:ext>
              </c:extLst>
            </c:dLbl>
            <c:dLbl>
              <c:idx val="2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128-40F4-9BBD-FA1E87A35CD4}"/>
                </c:ext>
              </c:extLst>
            </c:dLbl>
            <c:dLbl>
              <c:idx val="3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128-40F4-9BBD-FA1E87A35CD4}"/>
                </c:ext>
              </c:extLst>
            </c:dLbl>
            <c:dLbl>
              <c:idx val="4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128-40F4-9BBD-FA1E87A35CD4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</c:strLit>
          </c:cat>
          <c:val>
            <c:numLit>
              <c:formatCode>General</c:formatCode>
              <c:ptCount val="5"/>
              <c:pt idx="0">
                <c:v>2420.011</c:v>
              </c:pt>
              <c:pt idx="1">
                <c:v>2550.623</c:v>
              </c:pt>
              <c:pt idx="2">
                <c:v>2683.0960000000005</c:v>
              </c:pt>
              <c:pt idx="3">
                <c:v>2822.6629999999996</c:v>
              </c:pt>
              <c:pt idx="4">
                <c:v>2972.5169999999998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A128-40F4-9BBD-FA1E87A35C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v>Volume (MT)</c:v>
          </c:tx>
          <c:spPr>
            <a:solidFill>
              <a:srgbClr val="C55A11"/>
            </a:solidFill>
            <a:ln>
              <a:noFill/>
            </a:ln>
          </c:spPr>
          <c:invertIfNegative val="1"/>
          <c:dLbls>
            <c:dLbl>
              <c:idx val="0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128-40F4-9BBD-FA1E87A35CD4}"/>
                </c:ext>
              </c:extLst>
            </c:dLbl>
            <c:dLbl>
              <c:idx val="1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A128-40F4-9BBD-FA1E87A35CD4}"/>
                </c:ext>
              </c:extLst>
            </c:dLbl>
            <c:dLbl>
              <c:idx val="2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128-40F4-9BBD-FA1E87A35CD4}"/>
                </c:ext>
              </c:extLst>
            </c:dLbl>
            <c:dLbl>
              <c:idx val="3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A128-40F4-9BBD-FA1E87A35CD4}"/>
                </c:ext>
              </c:extLst>
            </c:dLbl>
            <c:dLbl>
              <c:idx val="4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A128-40F4-9BBD-FA1E87A35CD4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</c:strLit>
          </c:cat>
          <c:val>
            <c:numLit>
              <c:formatCode>General</c:formatCode>
              <c:ptCount val="5"/>
              <c:pt idx="0">
                <c:v>133180</c:v>
              </c:pt>
              <c:pt idx="1">
                <c:v>139589</c:v>
              </c:pt>
              <c:pt idx="2">
                <c:v>145993</c:v>
              </c:pt>
              <c:pt idx="3">
                <c:v>152744</c:v>
              </c:pt>
              <c:pt idx="4">
                <c:v>159981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A128-40F4-9BBD-FA1E87A35C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  <c:max val="3508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  <c:catAx>
        <c:axId val="90210001"/>
        <c:scaling>
          <c:orientation val="minMax"/>
        </c:scaling>
        <c:delete val="1"/>
        <c:axPos val="b"/>
        <c:numFmt formatCode="General" sourceLinked="1"/>
        <c:majorTickMark val="cross"/>
        <c:minorTickMark val="cross"/>
        <c:tickLblPos val="nextTo"/>
        <c:crossAx val="90210002"/>
        <c:crosses val="autoZero"/>
        <c:auto val="1"/>
        <c:lblAlgn val="ctr"/>
        <c:lblOffset val="100"/>
        <c:noMultiLvlLbl val="1"/>
      </c:catAx>
      <c:valAx>
        <c:axId val="90210002"/>
        <c:scaling>
          <c:orientation val="minMax"/>
          <c:max val="219354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Value (US$ Mn)</c:v>
          </c:tx>
          <c:spPr>
            <a:solidFill>
              <a:srgbClr val="69B1E0"/>
            </a:solidFill>
            <a:ln>
              <a:noFill/>
            </a:ln>
          </c:spPr>
          <c:invertIfNegative val="1"/>
          <c:dLbls>
            <c:dLbl>
              <c:idx val="0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DA3-4FBA-A008-E4F968EFBFBB}"/>
                </c:ext>
              </c:extLst>
            </c:dLbl>
            <c:dLbl>
              <c:idx val="1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DA3-4FBA-A008-E4F968EFBFBB}"/>
                </c:ext>
              </c:extLst>
            </c:dLbl>
            <c:dLbl>
              <c:idx val="2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DA3-4FBA-A008-E4F968EFBFBB}"/>
                </c:ext>
              </c:extLst>
            </c:dLbl>
            <c:dLbl>
              <c:idx val="3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DA3-4FBA-A008-E4F968EFBFBB}"/>
                </c:ext>
              </c:extLst>
            </c:dLbl>
            <c:dLbl>
              <c:idx val="4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DA3-4FBA-A008-E4F968EFBFBB}"/>
                </c:ext>
              </c:extLst>
            </c:dLbl>
            <c:dLbl>
              <c:idx val="5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DA3-4FBA-A008-E4F968EFBFBB}"/>
                </c:ext>
              </c:extLst>
            </c:dLbl>
            <c:dLbl>
              <c:idx val="6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DA3-4FBA-A008-E4F968EFBFBB}"/>
                </c:ext>
              </c:extLst>
            </c:dLbl>
            <c:dLbl>
              <c:idx val="7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7DA3-4FBA-A008-E4F968EFBFBB}"/>
                </c:ext>
              </c:extLst>
            </c:dLbl>
            <c:dLbl>
              <c:idx val="8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DA3-4FBA-A008-E4F968EFBFBB}"/>
                </c:ext>
              </c:extLst>
            </c:dLbl>
            <c:dLbl>
              <c:idx val="9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DA3-4FBA-A008-E4F968EFBFBB}"/>
                </c:ext>
              </c:extLst>
            </c:dLbl>
            <c:dLbl>
              <c:idx val="10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7DA3-4FBA-A008-E4F968EFBFBB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1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</c:strLit>
          </c:cat>
          <c:val>
            <c:numLit>
              <c:formatCode>General</c:formatCode>
              <c:ptCount val="11"/>
              <c:pt idx="0">
                <c:v>3152.1730000000002</c:v>
              </c:pt>
              <c:pt idx="1">
                <c:v>3339.8329999999996</c:v>
              </c:pt>
              <c:pt idx="2">
                <c:v>3545.79</c:v>
              </c:pt>
              <c:pt idx="3">
                <c:v>3766.1410000000001</c:v>
              </c:pt>
              <c:pt idx="4">
                <c:v>3990.0219999999999</c:v>
              </c:pt>
              <c:pt idx="5">
                <c:v>4230.6959999999999</c:v>
              </c:pt>
              <c:pt idx="6">
                <c:v>4487.4709999999995</c:v>
              </c:pt>
              <c:pt idx="7">
                <c:v>4763.8770000000004</c:v>
              </c:pt>
              <c:pt idx="8">
                <c:v>5056.3710000000001</c:v>
              </c:pt>
              <c:pt idx="9">
                <c:v>5366.4479999999994</c:v>
              </c:pt>
              <c:pt idx="10">
                <c:v>5695.6939999999995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7DA3-4FBA-A008-E4F968EFBF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v>Volume (MT)</c:v>
          </c:tx>
          <c:spPr>
            <a:solidFill>
              <a:srgbClr val="C55A11"/>
            </a:solidFill>
            <a:ln>
              <a:noFill/>
            </a:ln>
          </c:spPr>
          <c:invertIfNegative val="1"/>
          <c:dLbls>
            <c:dLbl>
              <c:idx val="0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DA3-4FBA-A008-E4F968EFBFBB}"/>
                </c:ext>
              </c:extLst>
            </c:dLbl>
            <c:dLbl>
              <c:idx val="1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7DA3-4FBA-A008-E4F968EFBFBB}"/>
                </c:ext>
              </c:extLst>
            </c:dLbl>
            <c:dLbl>
              <c:idx val="2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7DA3-4FBA-A008-E4F968EFBFBB}"/>
                </c:ext>
              </c:extLst>
            </c:dLbl>
            <c:dLbl>
              <c:idx val="3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7DA3-4FBA-A008-E4F968EFBFBB}"/>
                </c:ext>
              </c:extLst>
            </c:dLbl>
            <c:dLbl>
              <c:idx val="4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7DA3-4FBA-A008-E4F968EFBFBB}"/>
                </c:ext>
              </c:extLst>
            </c:dLbl>
            <c:dLbl>
              <c:idx val="5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7DA3-4FBA-A008-E4F968EFBFBB}"/>
                </c:ext>
              </c:extLst>
            </c:dLbl>
            <c:dLbl>
              <c:idx val="6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7DA3-4FBA-A008-E4F968EFBFBB}"/>
                </c:ext>
              </c:extLst>
            </c:dLbl>
            <c:dLbl>
              <c:idx val="7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7DA3-4FBA-A008-E4F968EFBFBB}"/>
                </c:ext>
              </c:extLst>
            </c:dLbl>
            <c:dLbl>
              <c:idx val="8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7DA3-4FBA-A008-E4F968EFBFBB}"/>
                </c:ext>
              </c:extLst>
            </c:dLbl>
            <c:dLbl>
              <c:idx val="9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7DA3-4FBA-A008-E4F968EFBFBB}"/>
                </c:ext>
              </c:extLst>
            </c:dLbl>
            <c:dLbl>
              <c:idx val="10"/>
              <c:numFmt formatCode="&quot;MMMMMMMMM&quot;;&quot;MMMMMMMMM&quot;;&quot;MMMMMM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7DA3-4FBA-A008-E4F968EFBFBB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1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</c:strLit>
          </c:cat>
          <c:val>
            <c:numLit>
              <c:formatCode>General</c:formatCode>
              <c:ptCount val="11"/>
              <c:pt idx="0">
                <c:v>168690</c:v>
              </c:pt>
              <c:pt idx="1">
                <c:v>177780</c:v>
              </c:pt>
              <c:pt idx="2">
                <c:v>187729</c:v>
              </c:pt>
              <c:pt idx="3">
                <c:v>198315</c:v>
              </c:pt>
              <c:pt idx="4">
                <c:v>208975</c:v>
              </c:pt>
              <c:pt idx="5">
                <c:v>220368</c:v>
              </c:pt>
              <c:pt idx="6">
                <c:v>232493</c:v>
              </c:pt>
              <c:pt idx="7">
                <c:v>245532</c:v>
              </c:pt>
              <c:pt idx="8">
                <c:v>259212</c:v>
              </c:pt>
              <c:pt idx="9">
                <c:v>273648</c:v>
              </c:pt>
              <c:pt idx="10">
                <c:v>288929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7-7DA3-4FBA-A008-E4F968EFBF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  <c:max val="6721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  <c:catAx>
        <c:axId val="90210001"/>
        <c:scaling>
          <c:orientation val="minMax"/>
        </c:scaling>
        <c:delete val="1"/>
        <c:axPos val="b"/>
        <c:numFmt formatCode="General" sourceLinked="1"/>
        <c:majorTickMark val="cross"/>
        <c:minorTickMark val="cross"/>
        <c:tickLblPos val="nextTo"/>
        <c:crossAx val="90210002"/>
        <c:crosses val="autoZero"/>
        <c:auto val="1"/>
        <c:lblAlgn val="ctr"/>
        <c:lblOffset val="100"/>
        <c:noMultiLvlLbl val="1"/>
      </c:catAx>
      <c:valAx>
        <c:axId val="90210002"/>
        <c:scaling>
          <c:orientation val="minMax"/>
          <c:max val="408719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Index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AD45-4692-96BE-9F3F58A945A4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D45-4692-96BE-9F3F58A945A4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D45-4692-96BE-9F3F58A945A4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D45-4692-96BE-9F3F58A945A4}"/>
                </c:ext>
              </c:extLst>
            </c:dLbl>
            <c:dLbl>
              <c:idx val="4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D45-4692-96BE-9F3F58A945A4}"/>
                </c:ext>
              </c:extLst>
            </c:dLbl>
            <c:dLbl>
              <c:idx val="5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AD45-4692-96BE-9F3F58A945A4}"/>
                </c:ext>
              </c:extLst>
            </c:dLbl>
            <c:dLbl>
              <c:idx val="6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D45-4692-96BE-9F3F58A945A4}"/>
                </c:ext>
              </c:extLst>
            </c:dLbl>
            <c:dLbl>
              <c:idx val="7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AD45-4692-96BE-9F3F58A945A4}"/>
                </c:ext>
              </c:extLst>
            </c:dLbl>
            <c:dLbl>
              <c:idx val="8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D45-4692-96BE-9F3F58A945A4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9"/>
              <c:pt idx="0">
                <c:v>Portugal</c:v>
              </c:pt>
              <c:pt idx="1">
                <c:v>Greece</c:v>
              </c:pt>
              <c:pt idx="2">
                <c:v>France</c:v>
              </c:pt>
              <c:pt idx="3">
                <c:v>Croatia</c:v>
              </c:pt>
              <c:pt idx="4">
                <c:v>Spain</c:v>
              </c:pt>
              <c:pt idx="5">
                <c:v>Malta</c:v>
              </c:pt>
              <c:pt idx="6">
                <c:v>Netherlands</c:v>
              </c:pt>
              <c:pt idx="7">
                <c:v>Romania</c:v>
              </c:pt>
              <c:pt idx="8">
                <c:v>Sweden</c:v>
              </c:pt>
            </c:strLit>
          </c:cat>
          <c:val>
            <c:numLit>
              <c:formatCode>General</c:formatCode>
              <c:ptCount val="9"/>
              <c:pt idx="0">
                <c:v>103.33649887322616</c:v>
              </c:pt>
              <c:pt idx="1">
                <c:v>103.57610711632728</c:v>
              </c:pt>
              <c:pt idx="2">
                <c:v>105.571273571104</c:v>
              </c:pt>
              <c:pt idx="3">
                <c:v>110.59798049103942</c:v>
              </c:pt>
              <c:pt idx="4">
                <c:v>110.64604904161592</c:v>
              </c:pt>
              <c:pt idx="5">
                <c:v>110.9514989827649</c:v>
              </c:pt>
              <c:pt idx="6">
                <c:v>112.65206959450845</c:v>
              </c:pt>
              <c:pt idx="7">
                <c:v>113.90858965859098</c:v>
              </c:pt>
              <c:pt idx="8">
                <c:v>116.1762240291401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9-AD45-4692-96BE-9F3F58A945A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Index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2392-4223-8106-4C8335CA7EA6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392-4223-8106-4C8335CA7EA6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392-4223-8106-4C8335CA7EA6}"/>
                </c:ext>
              </c:extLst>
            </c:dLbl>
            <c:dLbl>
              <c:idx val="3"/>
              <c:numFmt formatCode="&quot;MMM&quot;;&quot;MMM&quot;;&quot;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392-4223-8106-4C8335CA7EA6}"/>
                </c:ext>
              </c:extLst>
            </c:dLbl>
            <c:dLbl>
              <c:idx val="4"/>
              <c:numFmt formatCode="&quot;MMM&quot;;&quot;MMM&quot;;&quot;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392-4223-8106-4C8335CA7EA6}"/>
                </c:ext>
              </c:extLst>
            </c:dLbl>
            <c:dLbl>
              <c:idx val="5"/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392-4223-8106-4C8335CA7EA6}"/>
                </c:ext>
              </c:extLst>
            </c:dLbl>
            <c:dLbl>
              <c:idx val="6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392-4223-8106-4C8335CA7EA6}"/>
                </c:ext>
              </c:extLst>
            </c:dLbl>
            <c:dLbl>
              <c:idx val="7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392-4223-8106-4C8335CA7EA6}"/>
                </c:ext>
              </c:extLst>
            </c:dLbl>
            <c:dLbl>
              <c:idx val="8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392-4223-8106-4C8335CA7EA6}"/>
                </c:ext>
              </c:extLst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9"/>
              <c:pt idx="0">
                <c:v>Austria</c:v>
              </c:pt>
              <c:pt idx="1">
                <c:v>Poland</c:v>
              </c:pt>
              <c:pt idx="2">
                <c:v>Sweden</c:v>
              </c:pt>
              <c:pt idx="3">
                <c:v>Netherlands</c:v>
              </c:pt>
              <c:pt idx="4">
                <c:v>Spain</c:v>
              </c:pt>
              <c:pt idx="5">
                <c:v>Italy</c:v>
              </c:pt>
              <c:pt idx="6">
                <c:v>France</c:v>
              </c:pt>
              <c:pt idx="7">
                <c:v>United Kingdom</c:v>
              </c:pt>
              <c:pt idx="8">
                <c:v>Germany</c:v>
              </c:pt>
            </c:strLit>
          </c:cat>
          <c:val>
            <c:numLit>
              <c:formatCode>General</c:formatCode>
              <c:ptCount val="9"/>
              <c:pt idx="0">
                <c:v>2.4609979630598695</c:v>
              </c:pt>
              <c:pt idx="1">
                <c:v>3.5248382065648389</c:v>
              </c:pt>
              <c:pt idx="2">
                <c:v>3.5424122702348457</c:v>
              </c:pt>
              <c:pt idx="3">
                <c:v>5.2383683877585421</c:v>
              </c:pt>
              <c:pt idx="4">
                <c:v>7.9120243158991022</c:v>
              </c:pt>
              <c:pt idx="5">
                <c:v>9.7659504285594654</c:v>
              </c:pt>
              <c:pt idx="6">
                <c:v>14.096600735751746</c:v>
              </c:pt>
              <c:pt idx="7">
                <c:v>15.260813651627023</c:v>
              </c:pt>
              <c:pt idx="8">
                <c:v>15.995503870422151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9-2392-4223-8106-4C8335CA7EA6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D867-4BBA-998A-062EDE6F3CAE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D867-4BBA-998A-062EDE6F3CAE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D867-4BBA-998A-062EDE6F3CAE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D867-4BBA-998A-062EDE6F3CAE}"/>
              </c:ext>
            </c:extLst>
          </c:dPt>
          <c:dPt>
            <c:idx val="4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09-D867-4BBA-998A-062EDE6F3CAE}"/>
              </c:ext>
            </c:extLst>
          </c:dPt>
          <c:dPt>
            <c:idx val="5"/>
            <c:bubble3D val="0"/>
            <c:spPr>
              <a:solidFill>
                <a:srgbClr val="808080"/>
              </a:solidFill>
            </c:spPr>
            <c:extLst>
              <c:ext xmlns:c16="http://schemas.microsoft.com/office/drawing/2014/chart" uri="{C3380CC4-5D6E-409C-BE32-E72D297353CC}">
                <c16:uniqueId val="{0000000B-D867-4BBA-998A-062EDE6F3CAE}"/>
              </c:ext>
            </c:extLst>
          </c:dPt>
          <c:dLbls>
            <c:dLbl>
              <c:idx val="0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867-4BBA-998A-062EDE6F3CAE}"/>
                </c:ext>
              </c:extLst>
            </c:dLbl>
            <c:dLbl>
              <c:idx val="1"/>
              <c:numFmt formatCode="&quot;MMMMMMM&quot;;&quot;MMMMMMM&quot;;&quot;MM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867-4BBA-998A-062EDE6F3CAE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67-4BBA-998A-062EDE6F3CAE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867-4BBA-998A-062EDE6F3CAE}"/>
                </c:ext>
              </c:extLst>
            </c:dLbl>
            <c:dLbl>
              <c:idx val="4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867-4BBA-998A-062EDE6F3CAE}"/>
                </c:ext>
              </c:extLst>
            </c:dLbl>
            <c:dLbl>
              <c:idx val="5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D867-4BBA-998A-062EDE6F3CA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2054.6390000000001</c:v>
              </c:pt>
              <c:pt idx="1">
                <c:v>1117.913</c:v>
              </c:pt>
              <c:pt idx="2">
                <c:v>826.19799999999998</c:v>
              </c:pt>
              <c:pt idx="3">
                <c:v>525.38699999999994</c:v>
              </c:pt>
              <c:pt idx="4">
                <c:v>697.55600000000004</c:v>
              </c:pt>
              <c:pt idx="5">
                <c:v>474.00099999999998</c:v>
              </c:pt>
            </c:numLit>
          </c:val>
          <c:extLst>
            <c:ext xmlns:c16="http://schemas.microsoft.com/office/drawing/2014/chart" uri="{C3380CC4-5D6E-409C-BE32-E72D297353CC}">
              <c16:uniqueId val="{0000000C-D867-4BBA-998A-062EDE6F3C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lineChart>
        <c:grouping val="standard"/>
        <c:varyColors val="0"/>
        <c:ser>
          <c:idx val="0"/>
          <c:order val="0"/>
          <c:tx>
            <c:v>Optimistic Scenario</c:v>
          </c:tx>
          <c:spPr>
            <a:ln w="28575">
              <a:solidFill>
                <a:srgbClr val="2E5F8A"/>
              </a:solidFill>
            </a:ln>
          </c:spPr>
          <c:marker>
            <c:symbol val="circle"/>
            <c:size val="6"/>
            <c:spPr>
              <a:solidFill>
                <a:srgbClr val="2E5F8A"/>
              </a:solidFill>
              <a:ln>
                <a:solidFill>
                  <a:srgbClr val="2E5F8A"/>
                </a:solidFill>
              </a:ln>
            </c:spPr>
          </c:marker>
          <c:cat>
            <c:strLit>
              <c:ptCount val="11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</c:strLit>
          </c:cat>
          <c:val>
            <c:numLit>
              <c:formatCode>General</c:formatCode>
              <c:ptCount val="11"/>
              <c:pt idx="0">
                <c:v>8.299218689321447E-2</c:v>
              </c:pt>
              <c:pt idx="1">
                <c:v>8.2301897136873581E-2</c:v>
              </c:pt>
              <c:pt idx="2">
                <c:v>8.0767919900560495E-2</c:v>
              </c:pt>
              <c:pt idx="3">
                <c:v>7.9195593233339565E-2</c:v>
              </c:pt>
              <c:pt idx="4">
                <c:v>7.7699965427934309E-2</c:v>
              </c:pt>
              <c:pt idx="5">
                <c:v>7.5962736207809731E-2</c:v>
              </c:pt>
              <c:pt idx="6">
                <c:v>7.4639680841489683E-2</c:v>
              </c:pt>
              <c:pt idx="7">
                <c:v>7.2741384011552238E-2</c:v>
              </c:pt>
              <c:pt idx="8">
                <c:v>7.1345464726507324E-2</c:v>
              </c:pt>
              <c:pt idx="9">
                <c:v>7.0333039750540685E-2</c:v>
              </c:pt>
              <c:pt idx="10">
                <c:v>6.951236192911317E-2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0-72AA-4E3E-A63F-0C1DF665882E}"/>
            </c:ext>
          </c:extLst>
        </c:ser>
        <c:ser>
          <c:idx val="1"/>
          <c:order val="1"/>
          <c:tx>
            <c:v>Likely Scenario</c:v>
          </c:tx>
          <c:spPr>
            <a:ln w="28575">
              <a:solidFill>
                <a:srgbClr val="8B1A1A"/>
              </a:solidFill>
            </a:ln>
          </c:spPr>
          <c:marker>
            <c:symbol val="circle"/>
            <c:size val="6"/>
            <c:spPr>
              <a:solidFill>
                <a:srgbClr val="8B1A1A"/>
              </a:solidFill>
              <a:ln>
                <a:solidFill>
                  <a:srgbClr val="8B1A1A"/>
                </a:solidFill>
              </a:ln>
            </c:spPr>
          </c:marker>
          <c:cat>
            <c:strLit>
              <c:ptCount val="11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</c:strLit>
          </c:cat>
          <c:val>
            <c:numLit>
              <c:formatCode>General</c:formatCode>
              <c:ptCount val="11"/>
              <c:pt idx="0">
                <c:v>6.4739063999569857E-2</c:v>
              </c:pt>
              <c:pt idx="1">
                <c:v>6.2809063999569856E-2</c:v>
              </c:pt>
              <c:pt idx="2">
                <c:v>6.0789063999569862E-2</c:v>
              </c:pt>
              <c:pt idx="3">
                <c:v>5.8479063999569855E-2</c:v>
              </c:pt>
              <c:pt idx="4">
                <c:v>5.7599063999569856E-2</c:v>
              </c:pt>
              <c:pt idx="5">
                <c:v>5.8269063999569853E-2</c:v>
              </c:pt>
              <c:pt idx="6">
                <c:v>6.064906399956986E-2</c:v>
              </c:pt>
              <c:pt idx="7">
                <c:v>6.2239063999569855E-2</c:v>
              </c:pt>
              <c:pt idx="8">
                <c:v>6.2099063999569853E-2</c:v>
              </c:pt>
              <c:pt idx="9">
                <c:v>6.1399063999569861E-2</c:v>
              </c:pt>
              <c:pt idx="10">
                <c:v>6.0859063999569862E-2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1-72AA-4E3E-A63F-0C1DF665882E}"/>
            </c:ext>
          </c:extLst>
        </c:ser>
        <c:ser>
          <c:idx val="2"/>
          <c:order val="2"/>
          <c:tx>
            <c:v>Conservative Scenario</c:v>
          </c:tx>
          <c:spPr>
            <a:ln w="28575">
              <a:solidFill>
                <a:srgbClr val="A08000"/>
              </a:solidFill>
            </a:ln>
          </c:spPr>
          <c:marker>
            <c:symbol val="circle"/>
            <c:size val="6"/>
            <c:spPr>
              <a:solidFill>
                <a:srgbClr val="A08000"/>
              </a:solidFill>
              <a:ln>
                <a:solidFill>
                  <a:srgbClr val="A08000"/>
                </a:solidFill>
              </a:ln>
            </c:spPr>
          </c:marker>
          <c:cat>
            <c:strLit>
              <c:ptCount val="11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</c:strLit>
          </c:cat>
          <c:val>
            <c:numLit>
              <c:formatCode>General</c:formatCode>
              <c:ptCount val="11"/>
              <c:pt idx="0">
                <c:v>4.8579892194448387E-2</c:v>
              </c:pt>
              <c:pt idx="1">
                <c:v>4.7009892194448386E-2</c:v>
              </c:pt>
              <c:pt idx="2">
                <c:v>4.5659892194448395E-2</c:v>
              </c:pt>
              <c:pt idx="3">
                <c:v>4.4639892194448388E-2</c:v>
              </c:pt>
              <c:pt idx="4">
                <c:v>4.4579892194448391E-2</c:v>
              </c:pt>
              <c:pt idx="5">
                <c:v>4.4749892194448387E-2</c:v>
              </c:pt>
              <c:pt idx="6">
                <c:v>4.5319892194448388E-2</c:v>
              </c:pt>
              <c:pt idx="7">
                <c:v>4.5999892194448389E-2</c:v>
              </c:pt>
              <c:pt idx="8">
                <c:v>4.588989219444839E-2</c:v>
              </c:pt>
              <c:pt idx="9">
                <c:v>4.5259892194448391E-2</c:v>
              </c:pt>
              <c:pt idx="10">
                <c:v>4.4749892194448387E-2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2-72AA-4E3E-A63F-0C1DF66588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2140495176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2140495176"/>
        <c:scaling>
          <c:orientation val="minMax"/>
          <c:min val="0"/>
        </c:scaling>
        <c:delete val="0"/>
        <c:axPos val="l"/>
        <c:numFmt formatCode="0.00%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2118791784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Germany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207D-44AD-8E97-459A4179FD17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18.192703949162389</c:v>
              </c:pt>
              <c:pt idx="1">
                <c:v>17.772470840688058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2-207D-44AD-8E97-459A4179FD17}"/>
            </c:ext>
          </c:extLst>
        </c:ser>
        <c:ser>
          <c:idx val="1"/>
          <c:order val="1"/>
          <c:tx>
            <c:v>United Kingdom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07D-44AD-8E97-459A4179FD17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16.760524974213663</c:v>
              </c:pt>
              <c:pt idx="1">
                <c:v>16.301526321254283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207D-44AD-8E97-459A4179FD17}"/>
            </c:ext>
          </c:extLst>
        </c:ser>
        <c:ser>
          <c:idx val="2"/>
          <c:order val="2"/>
          <c:tx>
            <c:v>France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07D-44AD-8E97-459A4179FD17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11.661944111823775</c:v>
              </c:pt>
              <c:pt idx="1">
                <c:v>12.016059253106288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8-207D-44AD-8E97-459A4179FD17}"/>
            </c:ext>
          </c:extLst>
        </c:ser>
        <c:ser>
          <c:idx val="3"/>
          <c:order val="3"/>
          <c:tx>
            <c:v>Italy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9.9564892645855814</c:v>
              </c:pt>
              <c:pt idx="1">
                <c:v>9.817948984183019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207D-44AD-8E97-459A4179FD17}"/>
            </c:ext>
          </c:extLst>
        </c:ser>
        <c:ser>
          <c:idx val="4"/>
          <c:order val="4"/>
          <c:tx>
            <c:v>Spain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7.0974664184855412</c:v>
              </c:pt>
              <c:pt idx="1">
                <c:v>7.5135846052677122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E-207D-44AD-8E97-459A4179FD17}"/>
            </c:ext>
          </c:extLst>
        </c:ser>
        <c:ser>
          <c:idx val="5"/>
          <c:order val="5"/>
          <c:tx>
            <c:v>Netherlands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4.8383463549385279</c:v>
              </c:pt>
              <c:pt idx="1">
                <c:v>5.2497144637109336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1-207D-44AD-8E97-459A4179FD17}"/>
            </c:ext>
          </c:extLst>
        </c:ser>
        <c:ser>
          <c:idx val="6"/>
          <c:order val="6"/>
          <c:tx>
            <c:v>Poland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4.1240352353966347</c:v>
              </c:pt>
              <c:pt idx="1">
                <c:v>3.8230713321565779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4-207D-44AD-8E97-459A4179FD17}"/>
            </c:ext>
          </c:extLst>
        </c:ser>
        <c:ser>
          <c:idx val="7"/>
          <c:order val="7"/>
          <c:tx>
            <c:v>Other European Countries</c:v>
          </c:tx>
          <c:spPr>
            <a:solidFill>
              <a:srgbClr val="A86F0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2.8809560506004956</c:v>
              </c:pt>
              <c:pt idx="1">
                <c:v>3.23953898868238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7-207D-44AD-8E97-459A4179FD17}"/>
            </c:ext>
          </c:extLst>
        </c:ser>
        <c:ser>
          <c:idx val="8"/>
          <c:order val="8"/>
          <c:tx>
            <c:v>Sweden</c:v>
          </c:tx>
          <c:spPr>
            <a:solidFill>
              <a:srgbClr val="0B2E4A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2.5709272410399895</c:v>
              </c:pt>
              <c:pt idx="1">
                <c:v>2.8508635309590558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A-207D-44AD-8E97-459A4179FD17}"/>
            </c:ext>
          </c:extLst>
        </c:ser>
        <c:ser>
          <c:idx val="9"/>
          <c:order val="9"/>
          <c:tx>
            <c:v>Austria</c:v>
          </c:tx>
          <c:spPr>
            <a:solidFill>
              <a:srgbClr val="6C7A89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2.8453886919511064</c:v>
              </c:pt>
              <c:pt idx="1">
                <c:v>2.7273041913266192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D-207D-44AD-8E97-459A4179FD17}"/>
            </c:ext>
          </c:extLst>
        </c:ser>
        <c:ser>
          <c:idx val="10"/>
          <c:order val="10"/>
          <c:tx>
            <c:v>Switzerland</c:v>
          </c:tx>
          <c:spPr>
            <a:solidFill>
              <a:srgbClr val="B2B2B2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2.4974213664979192</c:v>
              </c:pt>
              <c:pt idx="1">
                <c:v>2.3147475166995468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0-207D-44AD-8E97-459A4179FD17}"/>
            </c:ext>
          </c:extLst>
        </c:ser>
        <c:ser>
          <c:idx val="11"/>
          <c:order val="11"/>
          <c:tx>
            <c:v>Belgium</c:v>
          </c:tx>
          <c:spPr>
            <a:solidFill>
              <a:srgbClr val="5F5F5F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2.5561075082694109</c:v>
              </c:pt>
              <c:pt idx="1">
                <c:v>2.2600629910358911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3-207D-44AD-8E97-459A4179FD17}"/>
            </c:ext>
          </c:extLst>
        </c:ser>
        <c:ser>
          <c:idx val="12"/>
          <c:order val="12"/>
          <c:tx>
            <c:v>Czech Republic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1.6295778154528318</c:v>
              </c:pt>
              <c:pt idx="1">
                <c:v>1.6076558335929119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6-207D-44AD-8E97-459A4179FD17}"/>
            </c:ext>
          </c:extLst>
        </c:ser>
        <c:ser>
          <c:idx val="13"/>
          <c:order val="13"/>
          <c:tx>
            <c:v>Denmark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1.5797835133436873</c:v>
              </c:pt>
              <c:pt idx="1">
                <c:v>1.5962343820302496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9-207D-44AD-8E97-459A4179FD17}"/>
            </c:ext>
          </c:extLst>
        </c:ser>
        <c:ser>
          <c:idx val="14"/>
          <c:order val="14"/>
          <c:tx>
            <c:v>Norway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1.5240613181263116</c:v>
              </c:pt>
              <c:pt idx="1">
                <c:v>1.572699269719309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C-207D-44AD-8E97-459A4179FD17}"/>
            </c:ext>
          </c:extLst>
        </c:ser>
        <c:ser>
          <c:idx val="15"/>
          <c:order val="15"/>
          <c:tx>
            <c:v>Portugal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1.4790093305037524</c:v>
              </c:pt>
              <c:pt idx="1">
                <c:v>1.5377427058457067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F-207D-44AD-8E97-459A4179FD17}"/>
            </c:ext>
          </c:extLst>
        </c:ser>
        <c:ser>
          <c:idx val="16"/>
          <c:order val="16"/>
          <c:tx>
            <c:v>Romania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1.288131172418699</c:v>
              </c:pt>
              <c:pt idx="1">
                <c:v>1.4242203994047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2-207D-44AD-8E97-459A4179FD17}"/>
            </c:ext>
          </c:extLst>
        </c:ser>
        <c:ser>
          <c:idx val="17"/>
          <c:order val="17"/>
          <c:tx>
            <c:v>Hungary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3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1.2584917068775414</c:v>
              </c:pt>
              <c:pt idx="1">
                <c:v>1.2542830443359985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5-207D-44AD-8E97-459A4179FD17}"/>
            </c:ext>
          </c:extLst>
        </c:ser>
        <c:ser>
          <c:idx val="18"/>
          <c:order val="18"/>
          <c:tx>
            <c:v>Finland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1.2223315589173296</c:v>
              </c:pt>
              <c:pt idx="1">
                <c:v>1.1134184750631639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8-207D-44AD-8E97-459A4179FD17}"/>
            </c:ext>
          </c:extLst>
        </c:ser>
        <c:ser>
          <c:idx val="19"/>
          <c:order val="19"/>
          <c:tx>
            <c:v>Ireland</c:v>
          </c:tx>
          <c:spPr>
            <a:solidFill>
              <a:srgbClr val="A86F0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1.1749084140514778</c:v>
              </c:pt>
              <c:pt idx="1">
                <c:v>1.1044197556501574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B-207D-44AD-8E97-459A4179FD17}"/>
            </c:ext>
          </c:extLst>
        </c:ser>
        <c:ser>
          <c:idx val="20"/>
          <c:order val="20"/>
          <c:tx>
            <c:v>Greece</c:v>
          </c:tx>
          <c:spPr>
            <a:solidFill>
              <a:srgbClr val="0B2E4A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0.92534411419493279</c:v>
              </c:pt>
              <c:pt idx="1">
                <c:v>0.95074931644342908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E-207D-44AD-8E97-459A4179FD17}"/>
            </c:ext>
          </c:extLst>
        </c:ser>
        <c:ser>
          <c:idx val="21"/>
          <c:order val="21"/>
          <c:tx>
            <c:v>Bulgaria</c:v>
          </c:tx>
          <c:spPr>
            <a:solidFill>
              <a:srgbClr val="6C7A89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F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0.67340865709509523</c:v>
              </c:pt>
              <c:pt idx="1">
                <c:v>0.62471879001834352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1-207D-44AD-8E97-459A4179FD17}"/>
            </c:ext>
          </c:extLst>
        </c:ser>
        <c:ser>
          <c:idx val="22"/>
          <c:order val="22"/>
          <c:tx>
            <c:v>Croatia</c:v>
          </c:tx>
          <c:spPr>
            <a:solidFill>
              <a:srgbClr val="B2B2B2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3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0.49379349591568161</c:v>
              </c:pt>
              <c:pt idx="1">
                <c:v>0.52573287647527089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4-207D-44AD-8E97-459A4179FD17}"/>
            </c:ext>
          </c:extLst>
        </c:ser>
        <c:ser>
          <c:idx val="23"/>
          <c:order val="23"/>
          <c:tx>
            <c:v>Malta</c:v>
          </c:tx>
          <c:spPr>
            <a:solidFill>
              <a:srgbClr val="5F5F5F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0.40131836342727062</c:v>
              </c:pt>
              <c:pt idx="1">
                <c:v>0.41878655729761533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7-207D-44AD-8E97-459A4179FD17}"/>
            </c:ext>
          </c:extLst>
        </c:ser>
        <c:ser>
          <c:idx val="24"/>
          <c:order val="24"/>
          <c:tx>
            <c:v>Slovenia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207D-44AD-8E97-459A4179FD17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207D-44AD-8E97-459A4179FD1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0.3675293727103513</c:v>
              </c:pt>
              <c:pt idx="1">
                <c:v>0.38244557505278098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A-207D-44AD-8E97-459A4179FD1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Germany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C46-4EF6-8933-964DA931B6D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16.62279215728076</c:v>
              </c:pt>
              <c:pt idx="1">
                <c:v>16.342646979041884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2-FC46-4EF6-8933-964DA931B6DF}"/>
            </c:ext>
          </c:extLst>
        </c:ser>
        <c:ser>
          <c:idx val="1"/>
          <c:order val="1"/>
          <c:tx>
            <c:v>United Kingdom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C46-4EF6-8933-964DA931B6D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16.319540938755878</c:v>
              </c:pt>
              <c:pt idx="1">
                <c:v>15.846693282099297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FC46-4EF6-8933-964DA931B6DF}"/>
            </c:ext>
          </c:extLst>
        </c:ser>
        <c:ser>
          <c:idx val="2"/>
          <c:order val="2"/>
          <c:tx>
            <c:v>France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C46-4EF6-8933-964DA931B6D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13.141129354616435</c:v>
              </c:pt>
              <c:pt idx="1">
                <c:v>13.567866105142956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8-FC46-4EF6-8933-964DA931B6DF}"/>
            </c:ext>
          </c:extLst>
        </c:ser>
        <c:ser>
          <c:idx val="3"/>
          <c:order val="3"/>
          <c:tx>
            <c:v>Italy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FC46-4EF6-8933-964DA931B6D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10.196905498811612</c:v>
              </c:pt>
              <c:pt idx="1">
                <c:v>10.004471800007478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FC46-4EF6-8933-964DA931B6DF}"/>
            </c:ext>
          </c:extLst>
        </c:ser>
        <c:ser>
          <c:idx val="4"/>
          <c:order val="4"/>
          <c:tx>
            <c:v>Spain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6.9355986919495516</c:v>
              </c:pt>
              <c:pt idx="1">
                <c:v>7.3716578474296277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E-FC46-4EF6-8933-964DA931B6DF}"/>
            </c:ext>
          </c:extLst>
        </c:ser>
        <c:ser>
          <c:idx val="5"/>
          <c:order val="5"/>
          <c:tx>
            <c:v>Netherlands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4.4843047904746314</c:v>
              </c:pt>
              <c:pt idx="1">
                <c:v>4.8209936876864674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1-FC46-4EF6-8933-964DA931B6DF}"/>
            </c:ext>
          </c:extLst>
        </c:ser>
        <c:ser>
          <c:idx val="6"/>
          <c:order val="6"/>
          <c:tx>
            <c:v>Poland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4.4451889046663693</c:v>
              </c:pt>
              <c:pt idx="1">
                <c:v>4.0341886404340963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4-FC46-4EF6-8933-964DA931B6DF}"/>
            </c:ext>
          </c:extLst>
        </c:ser>
        <c:ser>
          <c:idx val="7"/>
          <c:order val="7"/>
          <c:tx>
            <c:v>Other European Countries</c:v>
          </c:tx>
          <c:spPr>
            <a:solidFill>
              <a:srgbClr val="A86F0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3.2358005844858719</c:v>
              </c:pt>
              <c:pt idx="1">
                <c:v>3.6174526962741842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7-FC46-4EF6-8933-964DA931B6DF}"/>
            </c:ext>
          </c:extLst>
        </c:ser>
        <c:ser>
          <c:idx val="8"/>
          <c:order val="8"/>
          <c:tx>
            <c:v>Sweden</c:v>
          </c:tx>
          <c:spPr>
            <a:solidFill>
              <a:srgbClr val="0B2E4A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2.910723145818185</c:v>
              </c:pt>
              <c:pt idx="1">
                <c:v>3.1928336025133377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A-FC46-4EF6-8933-964DA931B6DF}"/>
            </c:ext>
          </c:extLst>
        </c:ser>
        <c:ser>
          <c:idx val="9"/>
          <c:order val="9"/>
          <c:tx>
            <c:v>Austria</c:v>
          </c:tx>
          <c:spPr>
            <a:solidFill>
              <a:srgbClr val="6C7A89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2.6147367592885162</c:v>
              </c:pt>
              <c:pt idx="1">
                <c:v>2.5460817498415027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D-FC46-4EF6-8933-964DA931B6DF}"/>
            </c:ext>
          </c:extLst>
        </c:ser>
        <c:ser>
          <c:idx val="10"/>
          <c:order val="10"/>
          <c:tx>
            <c:v>Switzerland</c:v>
          </c:tx>
          <c:spPr>
            <a:solidFill>
              <a:srgbClr val="B2B2B2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2.5433256814666203</c:v>
              </c:pt>
              <c:pt idx="1">
                <c:v>2.3767608261189634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0-FC46-4EF6-8933-964DA931B6DF}"/>
            </c:ext>
          </c:extLst>
        </c:ser>
        <c:ser>
          <c:idx val="11"/>
          <c:order val="11"/>
          <c:tx>
            <c:v>Belgium</c:v>
          </c:tx>
          <c:spPr>
            <a:solidFill>
              <a:srgbClr val="5F5F5F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2.6038553733742957</c:v>
              </c:pt>
              <c:pt idx="1">
                <c:v>2.2777913065188025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3-FC46-4EF6-8933-964DA931B6DF}"/>
            </c:ext>
          </c:extLst>
        </c:ser>
        <c:ser>
          <c:idx val="12"/>
          <c:order val="12"/>
          <c:tx>
            <c:v>Czech Republic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1.6540023831186876</c:v>
              </c:pt>
              <c:pt idx="1">
                <c:v>1.6608163396447102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6-FC46-4EF6-8933-964DA931B6DF}"/>
            </c:ext>
          </c:extLst>
        </c:ser>
        <c:ser>
          <c:idx val="13"/>
          <c:order val="13"/>
          <c:tx>
            <c:v>Portugal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1.5930602771676166</c:v>
              </c:pt>
              <c:pt idx="1">
                <c:v>1.6238234750363123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9-FC46-4EF6-8933-964DA931B6DF}"/>
            </c:ext>
          </c:extLst>
        </c:ser>
        <c:ser>
          <c:idx val="14"/>
          <c:order val="14"/>
          <c:tx>
            <c:v>Norway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1.5254878223650232</c:v>
              </c:pt>
              <c:pt idx="1">
                <c:v>1.5360729589884845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C-FC46-4EF6-8933-964DA931B6DF}"/>
            </c:ext>
          </c:extLst>
        </c:ser>
        <c:ser>
          <c:idx val="15"/>
          <c:order val="15"/>
          <c:tx>
            <c:v>Denmark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1.4871967646435538</c:v>
              </c:pt>
              <c:pt idx="1">
                <c:v>1.4841389801030356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F-FC46-4EF6-8933-964DA931B6DF}"/>
            </c:ext>
          </c:extLst>
        </c:ser>
        <c:ser>
          <c:idx val="16"/>
          <c:order val="16"/>
          <c:tx>
            <c:v>Romania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1.2267414341603187</c:v>
              </c:pt>
              <c:pt idx="1">
                <c:v>1.3284950575812284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2-FC46-4EF6-8933-964DA931B6DF}"/>
            </c:ext>
          </c:extLst>
        </c:ser>
        <c:ser>
          <c:idx val="17"/>
          <c:order val="17"/>
          <c:tx>
            <c:v>Finland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3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1.2358145431150329</c:v>
              </c:pt>
              <c:pt idx="1">
                <c:v>1.1370872692752225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5-FC46-4EF6-8933-964DA931B6DF}"/>
            </c:ext>
          </c:extLst>
        </c:ser>
        <c:ser>
          <c:idx val="18"/>
          <c:order val="18"/>
          <c:tx>
            <c:v>Ireland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1.1792186466982131</c:v>
              </c:pt>
              <c:pt idx="1">
                <c:v>1.1246217097726301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8-FC46-4EF6-8933-964DA931B6DF}"/>
            </c:ext>
          </c:extLst>
        </c:ser>
        <c:ser>
          <c:idx val="19"/>
          <c:order val="19"/>
          <c:tx>
            <c:v>Hungary</c:v>
          </c:tx>
          <c:spPr>
            <a:solidFill>
              <a:srgbClr val="A86F0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1.0816351391992569</c:v>
              </c:pt>
              <c:pt idx="1">
                <c:v>1.09098225624169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B-FC46-4EF6-8933-964DA931B6DF}"/>
            </c:ext>
          </c:extLst>
        </c:ser>
        <c:ser>
          <c:idx val="20"/>
          <c:order val="20"/>
          <c:tx>
            <c:v>Greece</c:v>
          </c:tx>
          <c:spPr>
            <a:solidFill>
              <a:srgbClr val="0B2E4A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1.0275771753571823</c:v>
              </c:pt>
              <c:pt idx="1">
                <c:v>1.0488978250758949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E-FC46-4EF6-8933-964DA931B6DF}"/>
            </c:ext>
          </c:extLst>
        </c:ser>
        <c:ser>
          <c:idx val="21"/>
          <c:order val="21"/>
          <c:tx>
            <c:v>Bulgaria</c:v>
          </c:tx>
          <c:spPr>
            <a:solidFill>
              <a:srgbClr val="6C7A89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F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0.60367898706035072</c:v>
              </c:pt>
              <c:pt idx="1">
                <c:v>0.56907912698244079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1-FC46-4EF6-8933-964DA931B6DF}"/>
            </c:ext>
          </c:extLst>
        </c:ser>
        <c:ser>
          <c:idx val="22"/>
          <c:order val="22"/>
          <c:tx>
            <c:v>Croatia</c:v>
          </c:tx>
          <c:spPr>
            <a:solidFill>
              <a:srgbClr val="B2B2B2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3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0.5066665143907122</c:v>
              </c:pt>
              <c:pt idx="1">
                <c:v>0.53833659925139921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4-FC46-4EF6-8933-964DA931B6DF}"/>
            </c:ext>
          </c:extLst>
        </c:ser>
        <c:ser>
          <c:idx val="23"/>
          <c:order val="23"/>
          <c:tx>
            <c:v>Malta</c:v>
          </c:tx>
          <c:spPr>
            <a:solidFill>
              <a:srgbClr val="5F5F5F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0.42120163493616464</c:v>
              </c:pt>
              <c:pt idx="1">
                <c:v>0.44846167095031275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7-FC46-4EF6-8933-964DA931B6DF}"/>
            </c:ext>
          </c:extLst>
        </c:ser>
        <c:ser>
          <c:idx val="24"/>
          <c:order val="24"/>
          <c:tx>
            <c:v>Slovenia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FC46-4EF6-8933-964DA931B6D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FC46-4EF6-8933-964DA931B6D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2026</c:v>
              </c:pt>
              <c:pt idx="1">
                <c:v>2036</c:v>
              </c:pt>
            </c:strLit>
          </c:cat>
          <c:val>
            <c:numLit>
              <c:formatCode>General</c:formatCode>
              <c:ptCount val="2"/>
              <c:pt idx="0">
                <c:v>0.40381679679915944</c:v>
              </c:pt>
              <c:pt idx="1">
                <c:v>0.40974820798803591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A-FC46-4EF6-8933-964DA931B6D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Germany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24533</c:v>
              </c:pt>
              <c:pt idx="1">
                <c:v>25737</c:v>
              </c:pt>
              <c:pt idx="2">
                <c:v>26730</c:v>
              </c:pt>
              <c:pt idx="3">
                <c:v>27886</c:v>
              </c:pt>
              <c:pt idx="4">
                <c:v>29263</c:v>
              </c:pt>
              <c:pt idx="5">
                <c:v>30690</c:v>
              </c:pt>
              <c:pt idx="6">
                <c:v>32450</c:v>
              </c:pt>
              <c:pt idx="7">
                <c:v>34174</c:v>
              </c:pt>
              <c:pt idx="8">
                <c:v>36084</c:v>
              </c:pt>
              <c:pt idx="9">
                <c:v>37894</c:v>
              </c:pt>
              <c:pt idx="10">
                <c:v>39840</c:v>
              </c:pt>
              <c:pt idx="11">
                <c:v>41839</c:v>
              </c:pt>
              <c:pt idx="12">
                <c:v>44238</c:v>
              </c:pt>
              <c:pt idx="13">
                <c:v>46330</c:v>
              </c:pt>
              <c:pt idx="14">
                <c:v>48743</c:v>
              </c:pt>
              <c:pt idx="15">
                <c:v>51350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BB60-4D58-AEAC-AF4D41B9501E}"/>
            </c:ext>
          </c:extLst>
        </c:ser>
        <c:ser>
          <c:idx val="1"/>
          <c:order val="1"/>
          <c:tx>
            <c:v>United Kingdom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22348</c:v>
              </c:pt>
              <c:pt idx="1">
                <c:v>23422</c:v>
              </c:pt>
              <c:pt idx="2">
                <c:v>24520</c:v>
              </c:pt>
              <c:pt idx="3">
                <c:v>25684</c:v>
              </c:pt>
              <c:pt idx="4">
                <c:v>26878</c:v>
              </c:pt>
              <c:pt idx="5">
                <c:v>28274</c:v>
              </c:pt>
              <c:pt idx="6">
                <c:v>29605</c:v>
              </c:pt>
              <c:pt idx="7">
                <c:v>31236</c:v>
              </c:pt>
              <c:pt idx="8">
                <c:v>32809</c:v>
              </c:pt>
              <c:pt idx="9">
                <c:v>34520</c:v>
              </c:pt>
              <c:pt idx="10">
                <c:v>36157</c:v>
              </c:pt>
              <c:pt idx="11">
                <c:v>38146</c:v>
              </c:pt>
              <c:pt idx="12">
                <c:v>40234</c:v>
              </c:pt>
              <c:pt idx="13">
                <c:v>42551</c:v>
              </c:pt>
              <c:pt idx="14">
                <c:v>44859</c:v>
              </c:pt>
              <c:pt idx="15">
                <c:v>47100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1-BB60-4D58-AEAC-AF4D41B9501E}"/>
            </c:ext>
          </c:extLst>
        </c:ser>
        <c:ser>
          <c:idx val="2"/>
          <c:order val="2"/>
          <c:tx>
            <c:v>France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F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15300</c:v>
              </c:pt>
              <c:pt idx="1">
                <c:v>16067</c:v>
              </c:pt>
              <c:pt idx="2">
                <c:v>16877</c:v>
              </c:pt>
              <c:pt idx="3">
                <c:v>17620</c:v>
              </c:pt>
              <c:pt idx="4">
                <c:v>18477</c:v>
              </c:pt>
              <c:pt idx="5">
                <c:v>19673</c:v>
              </c:pt>
              <c:pt idx="6">
                <c:v>20770</c:v>
              </c:pt>
              <c:pt idx="7">
                <c:v>21932</c:v>
              </c:pt>
              <c:pt idx="8">
                <c:v>23285</c:v>
              </c:pt>
              <c:pt idx="9">
                <c:v>24565</c:v>
              </c:pt>
              <c:pt idx="10">
                <c:v>26127</c:v>
              </c:pt>
              <c:pt idx="11">
                <c:v>27611</c:v>
              </c:pt>
              <c:pt idx="12">
                <c:v>29178</c:v>
              </c:pt>
              <c:pt idx="13">
                <c:v>30860</c:v>
              </c:pt>
              <c:pt idx="14">
                <c:v>32745</c:v>
              </c:pt>
              <c:pt idx="15">
                <c:v>34718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2-BB60-4D58-AEAC-AF4D41B9501E}"/>
            </c:ext>
          </c:extLst>
        </c:ser>
        <c:ser>
          <c:idx val="3"/>
          <c:order val="3"/>
          <c:tx>
            <c:v>Italy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3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F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13358</c:v>
              </c:pt>
              <c:pt idx="1">
                <c:v>14013</c:v>
              </c:pt>
              <c:pt idx="2">
                <c:v>14654</c:v>
              </c:pt>
              <c:pt idx="3">
                <c:v>15374</c:v>
              </c:pt>
              <c:pt idx="4">
                <c:v>15976</c:v>
              </c:pt>
              <c:pt idx="5">
                <c:v>16796</c:v>
              </c:pt>
              <c:pt idx="6">
                <c:v>17671</c:v>
              </c:pt>
              <c:pt idx="7">
                <c:v>18723</c:v>
              </c:pt>
              <c:pt idx="8">
                <c:v>19805</c:v>
              </c:pt>
              <c:pt idx="9">
                <c:v>20772</c:v>
              </c:pt>
              <c:pt idx="10">
                <c:v>21837</c:v>
              </c:pt>
              <c:pt idx="11">
                <c:v>23031</c:v>
              </c:pt>
              <c:pt idx="12">
                <c:v>24156</c:v>
              </c:pt>
              <c:pt idx="13">
                <c:v>25526</c:v>
              </c:pt>
              <c:pt idx="14">
                <c:v>26918</c:v>
              </c:pt>
              <c:pt idx="15">
                <c:v>28367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3-BB60-4D58-AEAC-AF4D41B9501E}"/>
            </c:ext>
          </c:extLst>
        </c:ser>
        <c:ser>
          <c:idx val="4"/>
          <c:order val="4"/>
          <c:tx>
            <c:v>Spain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4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7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A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B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C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D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E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F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0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1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2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3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9281</c:v>
              </c:pt>
              <c:pt idx="1">
                <c:v>9785</c:v>
              </c:pt>
              <c:pt idx="2">
                <c:v>10216</c:v>
              </c:pt>
              <c:pt idx="3">
                <c:v>10673</c:v>
              </c:pt>
              <c:pt idx="4">
                <c:v>11237</c:v>
              </c:pt>
              <c:pt idx="5">
                <c:v>11973</c:v>
              </c:pt>
              <c:pt idx="6">
                <c:v>12687</c:v>
              </c:pt>
              <c:pt idx="7">
                <c:v>13473</c:v>
              </c:pt>
              <c:pt idx="8">
                <c:v>14320</c:v>
              </c:pt>
              <c:pt idx="9">
                <c:v>15235</c:v>
              </c:pt>
              <c:pt idx="10">
                <c:v>16145</c:v>
              </c:pt>
              <c:pt idx="11">
                <c:v>17122</c:v>
              </c:pt>
              <c:pt idx="12">
                <c:v>18232</c:v>
              </c:pt>
              <c:pt idx="13">
                <c:v>19350</c:v>
              </c:pt>
              <c:pt idx="14">
                <c:v>20445</c:v>
              </c:pt>
              <c:pt idx="15">
                <c:v>21709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54-BB60-4D58-AEAC-AF4D41B9501E}"/>
            </c:ext>
          </c:extLst>
        </c:ser>
        <c:ser>
          <c:idx val="5"/>
          <c:order val="5"/>
          <c:tx>
            <c:v>Netherlands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5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6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7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8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9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A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B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C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D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E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F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0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1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2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3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4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6273</c:v>
              </c:pt>
              <c:pt idx="1">
                <c:v>6585</c:v>
              </c:pt>
              <c:pt idx="2">
                <c:v>6914</c:v>
              </c:pt>
              <c:pt idx="3">
                <c:v>7283</c:v>
              </c:pt>
              <c:pt idx="4">
                <c:v>7685</c:v>
              </c:pt>
              <c:pt idx="5">
                <c:v>8162</c:v>
              </c:pt>
              <c:pt idx="6">
                <c:v>8681</c:v>
              </c:pt>
              <c:pt idx="7">
                <c:v>9289</c:v>
              </c:pt>
              <c:pt idx="8">
                <c:v>9875</c:v>
              </c:pt>
              <c:pt idx="9">
                <c:v>10486</c:v>
              </c:pt>
              <c:pt idx="10">
                <c:v>11131</c:v>
              </c:pt>
              <c:pt idx="11">
                <c:v>11848</c:v>
              </c:pt>
              <c:pt idx="12">
                <c:v>12587</c:v>
              </c:pt>
              <c:pt idx="13">
                <c:v>13369</c:v>
              </c:pt>
              <c:pt idx="14">
                <c:v>14171</c:v>
              </c:pt>
              <c:pt idx="15">
                <c:v>15168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65-BB60-4D58-AEAC-AF4D41B9501E}"/>
            </c:ext>
          </c:extLst>
        </c:ser>
        <c:ser>
          <c:idx val="6"/>
          <c:order val="6"/>
          <c:tx>
            <c:v>Poland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6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7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8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9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A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B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C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D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E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F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0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1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2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3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4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5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5641</c:v>
              </c:pt>
              <c:pt idx="1">
                <c:v>5876</c:v>
              </c:pt>
              <c:pt idx="2">
                <c:v>6126</c:v>
              </c:pt>
              <c:pt idx="3">
                <c:v>6397</c:v>
              </c:pt>
              <c:pt idx="4">
                <c:v>6673</c:v>
              </c:pt>
              <c:pt idx="5">
                <c:v>6957</c:v>
              </c:pt>
              <c:pt idx="6">
                <c:v>7249</c:v>
              </c:pt>
              <c:pt idx="7">
                <c:v>7591</c:v>
              </c:pt>
              <c:pt idx="8">
                <c:v>7953</c:v>
              </c:pt>
              <c:pt idx="9">
                <c:v>8350</c:v>
              </c:pt>
              <c:pt idx="10">
                <c:v>8712</c:v>
              </c:pt>
              <c:pt idx="11">
                <c:v>9095</c:v>
              </c:pt>
              <c:pt idx="12">
                <c:v>9544</c:v>
              </c:pt>
              <c:pt idx="13">
                <c:v>10001</c:v>
              </c:pt>
              <c:pt idx="14">
                <c:v>10488</c:v>
              </c:pt>
              <c:pt idx="15">
                <c:v>11046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76-BB60-4D58-AEAC-AF4D41B9501E}"/>
            </c:ext>
          </c:extLst>
        </c:ser>
        <c:ser>
          <c:idx val="7"/>
          <c:order val="7"/>
          <c:tx>
            <c:v>Austria</c:v>
          </c:tx>
          <c:spPr>
            <a:solidFill>
              <a:srgbClr val="A86F0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7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8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9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A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B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C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D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E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F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0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1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2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3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4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5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6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3884</c:v>
              </c:pt>
              <c:pt idx="1">
                <c:v>4028</c:v>
              </c:pt>
              <c:pt idx="2">
                <c:v>4209</c:v>
              </c:pt>
              <c:pt idx="3">
                <c:v>4390</c:v>
              </c:pt>
              <c:pt idx="4">
                <c:v>4591</c:v>
              </c:pt>
              <c:pt idx="5">
                <c:v>4800</c:v>
              </c:pt>
              <c:pt idx="6">
                <c:v>5059</c:v>
              </c:pt>
              <c:pt idx="7">
                <c:v>5293</c:v>
              </c:pt>
              <c:pt idx="8">
                <c:v>5578</c:v>
              </c:pt>
              <c:pt idx="9">
                <c:v>5830</c:v>
              </c:pt>
              <c:pt idx="10">
                <c:v>6140</c:v>
              </c:pt>
              <c:pt idx="11">
                <c:v>6435</c:v>
              </c:pt>
              <c:pt idx="12">
                <c:v>6767</c:v>
              </c:pt>
              <c:pt idx="13">
                <c:v>7137</c:v>
              </c:pt>
              <c:pt idx="14">
                <c:v>7521</c:v>
              </c:pt>
              <c:pt idx="15">
                <c:v>7880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87-BB60-4D58-AEAC-AF4D41B9501E}"/>
            </c:ext>
          </c:extLst>
        </c:ser>
        <c:ser>
          <c:idx val="8"/>
          <c:order val="8"/>
          <c:tx>
            <c:v>Other European Countries</c:v>
          </c:tx>
          <c:spPr>
            <a:solidFill>
              <a:srgbClr val="0B2E4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8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9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A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B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C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D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E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F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0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1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2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3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4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5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6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7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3663</c:v>
              </c:pt>
              <c:pt idx="1">
                <c:v>3859</c:v>
              </c:pt>
              <c:pt idx="2">
                <c:v>4093</c:v>
              </c:pt>
              <c:pt idx="3">
                <c:v>4344</c:v>
              </c:pt>
              <c:pt idx="4">
                <c:v>4575</c:v>
              </c:pt>
              <c:pt idx="5">
                <c:v>4860</c:v>
              </c:pt>
              <c:pt idx="6">
                <c:v>5174</c:v>
              </c:pt>
              <c:pt idx="7">
                <c:v>5525</c:v>
              </c:pt>
              <c:pt idx="8">
                <c:v>5913</c:v>
              </c:pt>
              <c:pt idx="9">
                <c:v>6287</c:v>
              </c:pt>
              <c:pt idx="10">
                <c:v>6730</c:v>
              </c:pt>
              <c:pt idx="11">
                <c:v>7215</c:v>
              </c:pt>
              <c:pt idx="12">
                <c:v>7692</c:v>
              </c:pt>
              <c:pt idx="13">
                <c:v>8229</c:v>
              </c:pt>
              <c:pt idx="14">
                <c:v>8793</c:v>
              </c:pt>
              <c:pt idx="15">
                <c:v>9360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98-BB60-4D58-AEAC-AF4D41B9501E}"/>
            </c:ext>
          </c:extLst>
        </c:ser>
        <c:ser>
          <c:idx val="9"/>
          <c:order val="9"/>
          <c:tx>
            <c:v>Belgium</c:v>
          </c:tx>
          <c:spPr>
            <a:solidFill>
              <a:srgbClr val="6C7A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9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A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B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C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D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E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F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0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1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2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3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4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5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6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7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8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3523</c:v>
              </c:pt>
              <c:pt idx="1">
                <c:v>3651</c:v>
              </c:pt>
              <c:pt idx="2">
                <c:v>3801</c:v>
              </c:pt>
              <c:pt idx="3">
                <c:v>3965</c:v>
              </c:pt>
              <c:pt idx="4">
                <c:v>4129</c:v>
              </c:pt>
              <c:pt idx="5">
                <c:v>4312</c:v>
              </c:pt>
              <c:pt idx="6">
                <c:v>4484</c:v>
              </c:pt>
              <c:pt idx="7">
                <c:v>4677</c:v>
              </c:pt>
              <c:pt idx="8">
                <c:v>4913</c:v>
              </c:pt>
              <c:pt idx="9">
                <c:v>5109</c:v>
              </c:pt>
              <c:pt idx="10">
                <c:v>5321</c:v>
              </c:pt>
              <c:pt idx="11">
                <c:v>5534</c:v>
              </c:pt>
              <c:pt idx="12">
                <c:v>5768</c:v>
              </c:pt>
              <c:pt idx="13">
                <c:v>6002</c:v>
              </c:pt>
              <c:pt idx="14">
                <c:v>6257</c:v>
              </c:pt>
              <c:pt idx="15">
                <c:v>6530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A9-BB60-4D58-AEAC-AF4D41B9501E}"/>
            </c:ext>
          </c:extLst>
        </c:ser>
        <c:ser>
          <c:idx val="10"/>
          <c:order val="10"/>
          <c:tx>
            <c:v>Switzerland</c:v>
          </c:tx>
          <c:spPr>
            <a:solidFill>
              <a:srgbClr val="B2B2B2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A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B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C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D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E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F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0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1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2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3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4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5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6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7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8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9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3457</c:v>
              </c:pt>
              <c:pt idx="1">
                <c:v>3585</c:v>
              </c:pt>
              <c:pt idx="2">
                <c:v>3741</c:v>
              </c:pt>
              <c:pt idx="3">
                <c:v>3866</c:v>
              </c:pt>
              <c:pt idx="4">
                <c:v>4037</c:v>
              </c:pt>
              <c:pt idx="5">
                <c:v>4213</c:v>
              </c:pt>
              <c:pt idx="6">
                <c:v>4410</c:v>
              </c:pt>
              <c:pt idx="7">
                <c:v>4612</c:v>
              </c:pt>
              <c:pt idx="8">
                <c:v>4813</c:v>
              </c:pt>
              <c:pt idx="9">
                <c:v>5046</c:v>
              </c:pt>
              <c:pt idx="10">
                <c:v>5300</c:v>
              </c:pt>
              <c:pt idx="11">
                <c:v>5563</c:v>
              </c:pt>
              <c:pt idx="12">
                <c:v>5850</c:v>
              </c:pt>
              <c:pt idx="13">
                <c:v>6134</c:v>
              </c:pt>
              <c:pt idx="14">
                <c:v>6410</c:v>
              </c:pt>
              <c:pt idx="15">
                <c:v>6688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BA-BB60-4D58-AEAC-AF4D41B9501E}"/>
            </c:ext>
          </c:extLst>
        </c:ser>
        <c:ser>
          <c:idx val="11"/>
          <c:order val="11"/>
          <c:tx>
            <c:v>Sweden</c:v>
          </c:tx>
          <c:spPr>
            <a:solidFill>
              <a:srgbClr val="5F5F5F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B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C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D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E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F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0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1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2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3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4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5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6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7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8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9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A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3225</c:v>
              </c:pt>
              <c:pt idx="1">
                <c:v>3409</c:v>
              </c:pt>
              <c:pt idx="2">
                <c:v>3621</c:v>
              </c:pt>
              <c:pt idx="3">
                <c:v>3824</c:v>
              </c:pt>
              <c:pt idx="4">
                <c:v>4051</c:v>
              </c:pt>
              <c:pt idx="5">
                <c:v>4337</c:v>
              </c:pt>
              <c:pt idx="6">
                <c:v>4607</c:v>
              </c:pt>
              <c:pt idx="7">
                <c:v>4903</c:v>
              </c:pt>
              <c:pt idx="8">
                <c:v>5212</c:v>
              </c:pt>
              <c:pt idx="9">
                <c:v>5560</c:v>
              </c:pt>
              <c:pt idx="10">
                <c:v>5941</c:v>
              </c:pt>
              <c:pt idx="11">
                <c:v>6350</c:v>
              </c:pt>
              <c:pt idx="12">
                <c:v>6767</c:v>
              </c:pt>
              <c:pt idx="13">
                <c:v>7226</c:v>
              </c:pt>
              <c:pt idx="14">
                <c:v>7750</c:v>
              </c:pt>
              <c:pt idx="15">
                <c:v>8237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CB-BB60-4D58-AEAC-AF4D41B9501E}"/>
            </c:ext>
          </c:extLst>
        </c:ser>
        <c:ser>
          <c:idx val="12"/>
          <c:order val="12"/>
          <c:tx>
            <c:v>Czech Republic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C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D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E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F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0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1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2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3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4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5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6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7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8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9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A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B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2201</c:v>
              </c:pt>
              <c:pt idx="1">
                <c:v>2309</c:v>
              </c:pt>
              <c:pt idx="2">
                <c:v>2418</c:v>
              </c:pt>
              <c:pt idx="3">
                <c:v>2513</c:v>
              </c:pt>
              <c:pt idx="4">
                <c:v>2618</c:v>
              </c:pt>
              <c:pt idx="5">
                <c:v>2749</c:v>
              </c:pt>
              <c:pt idx="6">
                <c:v>2898</c:v>
              </c:pt>
              <c:pt idx="7">
                <c:v>3056</c:v>
              </c:pt>
              <c:pt idx="8">
                <c:v>3203</c:v>
              </c:pt>
              <c:pt idx="9">
                <c:v>3382</c:v>
              </c:pt>
              <c:pt idx="10">
                <c:v>3580</c:v>
              </c:pt>
              <c:pt idx="11">
                <c:v>3782</c:v>
              </c:pt>
              <c:pt idx="12">
                <c:v>3963</c:v>
              </c:pt>
              <c:pt idx="13">
                <c:v>4183</c:v>
              </c:pt>
              <c:pt idx="14">
                <c:v>4391</c:v>
              </c:pt>
              <c:pt idx="15">
                <c:v>4645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DC-BB60-4D58-AEAC-AF4D41B9501E}"/>
            </c:ext>
          </c:extLst>
        </c:ser>
        <c:ser>
          <c:idx val="13"/>
          <c:order val="13"/>
          <c:tx>
            <c:v>Denmark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D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E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F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0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1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2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3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4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5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6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7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8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9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A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B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C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2101</c:v>
              </c:pt>
              <c:pt idx="1">
                <c:v>2190</c:v>
              </c:pt>
              <c:pt idx="2">
                <c:v>2283</c:v>
              </c:pt>
              <c:pt idx="3">
                <c:v>2401</c:v>
              </c:pt>
              <c:pt idx="4">
                <c:v>2515</c:v>
              </c:pt>
              <c:pt idx="5">
                <c:v>2665</c:v>
              </c:pt>
              <c:pt idx="6">
                <c:v>2813</c:v>
              </c:pt>
              <c:pt idx="7">
                <c:v>2961</c:v>
              </c:pt>
              <c:pt idx="8">
                <c:v>3137</c:v>
              </c:pt>
              <c:pt idx="9">
                <c:v>3307</c:v>
              </c:pt>
              <c:pt idx="10">
                <c:v>3475</c:v>
              </c:pt>
              <c:pt idx="11">
                <c:v>3667</c:v>
              </c:pt>
              <c:pt idx="12">
                <c:v>3892</c:v>
              </c:pt>
              <c:pt idx="13">
                <c:v>4109</c:v>
              </c:pt>
              <c:pt idx="14">
                <c:v>4341</c:v>
              </c:pt>
              <c:pt idx="15">
                <c:v>4612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ED-BB60-4D58-AEAC-AF4D41B9501E}"/>
            </c:ext>
          </c:extLst>
        </c:ser>
        <c:ser>
          <c:idx val="14"/>
          <c:order val="14"/>
          <c:tx>
            <c:v>Norway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E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F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0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1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2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3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4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5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6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7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8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9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A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B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C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D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1992</c:v>
              </c:pt>
              <c:pt idx="1">
                <c:v>2098</c:v>
              </c:pt>
              <c:pt idx="2">
                <c:v>2208</c:v>
              </c:pt>
              <c:pt idx="3">
                <c:v>2322</c:v>
              </c:pt>
              <c:pt idx="4">
                <c:v>2433</c:v>
              </c:pt>
              <c:pt idx="5">
                <c:v>2571</c:v>
              </c:pt>
              <c:pt idx="6">
                <c:v>2708</c:v>
              </c:pt>
              <c:pt idx="7">
                <c:v>2854</c:v>
              </c:pt>
              <c:pt idx="8">
                <c:v>3004</c:v>
              </c:pt>
              <c:pt idx="9">
                <c:v>3187</c:v>
              </c:pt>
              <c:pt idx="10">
                <c:v>3390</c:v>
              </c:pt>
              <c:pt idx="11">
                <c:v>3597</c:v>
              </c:pt>
              <c:pt idx="12">
                <c:v>3807</c:v>
              </c:pt>
              <c:pt idx="13">
                <c:v>4033</c:v>
              </c:pt>
              <c:pt idx="14">
                <c:v>4277</c:v>
              </c:pt>
              <c:pt idx="15">
                <c:v>4544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FE-BB60-4D58-AEAC-AF4D41B9501E}"/>
            </c:ext>
          </c:extLst>
        </c:ser>
        <c:ser>
          <c:idx val="15"/>
          <c:order val="15"/>
          <c:tx>
            <c:v>Portugal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F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0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1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2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3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4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5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6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7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8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9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A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B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C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D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E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1941</c:v>
              </c:pt>
              <c:pt idx="1">
                <c:v>2034</c:v>
              </c:pt>
              <c:pt idx="2">
                <c:v>2137</c:v>
              </c:pt>
              <c:pt idx="3">
                <c:v>2234</c:v>
              </c:pt>
              <c:pt idx="4">
                <c:v>2349</c:v>
              </c:pt>
              <c:pt idx="5">
                <c:v>2495</c:v>
              </c:pt>
              <c:pt idx="6">
                <c:v>2646</c:v>
              </c:pt>
              <c:pt idx="7">
                <c:v>2803</c:v>
              </c:pt>
              <c:pt idx="8">
                <c:v>2973</c:v>
              </c:pt>
              <c:pt idx="9">
                <c:v>3139</c:v>
              </c:pt>
              <c:pt idx="10">
                <c:v>3336</c:v>
              </c:pt>
              <c:pt idx="11">
                <c:v>3521</c:v>
              </c:pt>
              <c:pt idx="12">
                <c:v>3735</c:v>
              </c:pt>
              <c:pt idx="13">
                <c:v>3960</c:v>
              </c:pt>
              <c:pt idx="14">
                <c:v>4203</c:v>
              </c:pt>
              <c:pt idx="15">
                <c:v>4443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0F-BB60-4D58-AEAC-AF4D41B9501E}"/>
            </c:ext>
          </c:extLst>
        </c:ser>
        <c:ser>
          <c:idx val="16"/>
          <c:order val="16"/>
          <c:tx>
            <c:v>Finland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0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1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2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3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4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5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6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7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8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9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A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B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C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D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E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F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1687</c:v>
              </c:pt>
              <c:pt idx="1">
                <c:v>1752</c:v>
              </c:pt>
              <c:pt idx="2">
                <c:v>1822</c:v>
              </c:pt>
              <c:pt idx="3">
                <c:v>1892</c:v>
              </c:pt>
              <c:pt idx="4">
                <c:v>1962</c:v>
              </c:pt>
              <c:pt idx="5">
                <c:v>2062</c:v>
              </c:pt>
              <c:pt idx="6">
                <c:v>2146</c:v>
              </c:pt>
              <c:pt idx="7">
                <c:v>2237</c:v>
              </c:pt>
              <c:pt idx="8">
                <c:v>2342</c:v>
              </c:pt>
              <c:pt idx="9">
                <c:v>2460</c:v>
              </c:pt>
              <c:pt idx="10">
                <c:v>2568</c:v>
              </c:pt>
              <c:pt idx="11">
                <c:v>2698</c:v>
              </c:pt>
              <c:pt idx="12">
                <c:v>2825</c:v>
              </c:pt>
              <c:pt idx="13">
                <c:v>2967</c:v>
              </c:pt>
              <c:pt idx="14">
                <c:v>3090</c:v>
              </c:pt>
              <c:pt idx="15">
                <c:v>3217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20-BB60-4D58-AEAC-AF4D41B9501E}"/>
            </c:ext>
          </c:extLst>
        </c:ser>
        <c:ser>
          <c:idx val="17"/>
          <c:order val="17"/>
          <c:tx>
            <c:v>Hungary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1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2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3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4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5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6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7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8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9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A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B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C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D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E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F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0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1684</c:v>
              </c:pt>
              <c:pt idx="1">
                <c:v>1768</c:v>
              </c:pt>
              <c:pt idx="2">
                <c:v>1843</c:v>
              </c:pt>
              <c:pt idx="3">
                <c:v>1936</c:v>
              </c:pt>
              <c:pt idx="4">
                <c:v>2016</c:v>
              </c:pt>
              <c:pt idx="5">
                <c:v>2123</c:v>
              </c:pt>
              <c:pt idx="6">
                <c:v>2229</c:v>
              </c:pt>
              <c:pt idx="7">
                <c:v>2355</c:v>
              </c:pt>
              <c:pt idx="8">
                <c:v>2497</c:v>
              </c:pt>
              <c:pt idx="9">
                <c:v>2646</c:v>
              </c:pt>
              <c:pt idx="10">
                <c:v>2789</c:v>
              </c:pt>
              <c:pt idx="11">
                <c:v>2929</c:v>
              </c:pt>
              <c:pt idx="12">
                <c:v>3082</c:v>
              </c:pt>
              <c:pt idx="13">
                <c:v>3240</c:v>
              </c:pt>
              <c:pt idx="14">
                <c:v>3427</c:v>
              </c:pt>
              <c:pt idx="15">
                <c:v>3624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31-BB60-4D58-AEAC-AF4D41B9501E}"/>
            </c:ext>
          </c:extLst>
        </c:ser>
        <c:ser>
          <c:idx val="18"/>
          <c:order val="18"/>
          <c:tx>
            <c:v>Romania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2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3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4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5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6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7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8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9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A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B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C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D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E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F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0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1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1648</c:v>
              </c:pt>
              <c:pt idx="1">
                <c:v>1745</c:v>
              </c:pt>
              <c:pt idx="2">
                <c:v>1849</c:v>
              </c:pt>
              <c:pt idx="3">
                <c:v>1953</c:v>
              </c:pt>
              <c:pt idx="4">
                <c:v>2049</c:v>
              </c:pt>
              <c:pt idx="5">
                <c:v>2173</c:v>
              </c:pt>
              <c:pt idx="6">
                <c:v>2319</c:v>
              </c:pt>
              <c:pt idx="7">
                <c:v>2471</c:v>
              </c:pt>
              <c:pt idx="8">
                <c:v>2635</c:v>
              </c:pt>
              <c:pt idx="9">
                <c:v>2803</c:v>
              </c:pt>
              <c:pt idx="10">
                <c:v>2986</c:v>
              </c:pt>
              <c:pt idx="11">
                <c:v>3175</c:v>
              </c:pt>
              <c:pt idx="12">
                <c:v>3373</c:v>
              </c:pt>
              <c:pt idx="13">
                <c:v>3601</c:v>
              </c:pt>
              <c:pt idx="14">
                <c:v>3844</c:v>
              </c:pt>
              <c:pt idx="15">
                <c:v>4115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42-BB60-4D58-AEAC-AF4D41B9501E}"/>
            </c:ext>
          </c:extLst>
        </c:ser>
        <c:ser>
          <c:idx val="19"/>
          <c:order val="19"/>
          <c:tx>
            <c:v>Ireland</c:v>
          </c:tx>
          <c:spPr>
            <a:solidFill>
              <a:srgbClr val="A86F0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3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4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5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6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7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8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9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A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B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C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D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E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F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0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1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2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1623</c:v>
              </c:pt>
              <c:pt idx="1">
                <c:v>1682</c:v>
              </c:pt>
              <c:pt idx="2">
                <c:v>1754</c:v>
              </c:pt>
              <c:pt idx="3">
                <c:v>1817</c:v>
              </c:pt>
              <c:pt idx="4">
                <c:v>1895</c:v>
              </c:pt>
              <c:pt idx="5">
                <c:v>1982</c:v>
              </c:pt>
              <c:pt idx="6">
                <c:v>2074</c:v>
              </c:pt>
              <c:pt idx="7">
                <c:v>2170</c:v>
              </c:pt>
              <c:pt idx="8">
                <c:v>2271</c:v>
              </c:pt>
              <c:pt idx="9">
                <c:v>2381</c:v>
              </c:pt>
              <c:pt idx="10">
                <c:v>2497</c:v>
              </c:pt>
              <c:pt idx="11">
                <c:v>2611</c:v>
              </c:pt>
              <c:pt idx="12">
                <c:v>2746</c:v>
              </c:pt>
              <c:pt idx="13">
                <c:v>2890</c:v>
              </c:pt>
              <c:pt idx="14">
                <c:v>3037</c:v>
              </c:pt>
              <c:pt idx="15">
                <c:v>3191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53-BB60-4D58-AEAC-AF4D41B9501E}"/>
            </c:ext>
          </c:extLst>
        </c:ser>
        <c:ser>
          <c:idx val="20"/>
          <c:order val="20"/>
          <c:tx>
            <c:v>Greece</c:v>
          </c:tx>
          <c:spPr>
            <a:solidFill>
              <a:srgbClr val="0B2E4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4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5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6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7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8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9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A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B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C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D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E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F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0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1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2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3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1235</c:v>
              </c:pt>
              <c:pt idx="1">
                <c:v>1289</c:v>
              </c:pt>
              <c:pt idx="2">
                <c:v>1345</c:v>
              </c:pt>
              <c:pt idx="3">
                <c:v>1405</c:v>
              </c:pt>
              <c:pt idx="4">
                <c:v>1474</c:v>
              </c:pt>
              <c:pt idx="5">
                <c:v>1561</c:v>
              </c:pt>
              <c:pt idx="6">
                <c:v>1653</c:v>
              </c:pt>
              <c:pt idx="7">
                <c:v>1746</c:v>
              </c:pt>
              <c:pt idx="8">
                <c:v>1847</c:v>
              </c:pt>
              <c:pt idx="9">
                <c:v>1953</c:v>
              </c:pt>
              <c:pt idx="10">
                <c:v>2076</c:v>
              </c:pt>
              <c:pt idx="11">
                <c:v>2192</c:v>
              </c:pt>
              <c:pt idx="12">
                <c:v>2313</c:v>
              </c:pt>
              <c:pt idx="13">
                <c:v>2462</c:v>
              </c:pt>
              <c:pt idx="14">
                <c:v>2596</c:v>
              </c:pt>
              <c:pt idx="15">
                <c:v>2747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64-BB60-4D58-AEAC-AF4D41B9501E}"/>
            </c:ext>
          </c:extLst>
        </c:ser>
        <c:ser>
          <c:idx val="21"/>
          <c:order val="21"/>
          <c:tx>
            <c:v>Bulgaria</c:v>
          </c:tx>
          <c:spPr>
            <a:solidFill>
              <a:srgbClr val="6C7A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5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6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7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8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9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A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B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C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D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E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F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0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1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2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3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4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942</c:v>
              </c:pt>
              <c:pt idx="1">
                <c:v>980</c:v>
              </c:pt>
              <c:pt idx="2">
                <c:v>1015</c:v>
              </c:pt>
              <c:pt idx="3">
                <c:v>1054</c:v>
              </c:pt>
              <c:pt idx="4">
                <c:v>1090</c:v>
              </c:pt>
              <c:pt idx="5">
                <c:v>1136</c:v>
              </c:pt>
              <c:pt idx="6">
                <c:v>1190</c:v>
              </c:pt>
              <c:pt idx="7">
                <c:v>1253</c:v>
              </c:pt>
              <c:pt idx="8">
                <c:v>1312</c:v>
              </c:pt>
              <c:pt idx="9">
                <c:v>1374</c:v>
              </c:pt>
              <c:pt idx="10">
                <c:v>1440</c:v>
              </c:pt>
              <c:pt idx="11">
                <c:v>1505</c:v>
              </c:pt>
              <c:pt idx="12">
                <c:v>1577</c:v>
              </c:pt>
              <c:pt idx="13">
                <c:v>1652</c:v>
              </c:pt>
              <c:pt idx="14">
                <c:v>1729</c:v>
              </c:pt>
              <c:pt idx="15">
                <c:v>1805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75-BB60-4D58-AEAC-AF4D41B9501E}"/>
            </c:ext>
          </c:extLst>
        </c:ser>
        <c:ser>
          <c:idx val="22"/>
          <c:order val="22"/>
          <c:tx>
            <c:v>Croatia</c:v>
          </c:tx>
          <c:spPr>
            <a:solidFill>
              <a:srgbClr val="B2B2B2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6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7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8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9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A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B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C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D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E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F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0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1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2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3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4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5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643</c:v>
              </c:pt>
              <c:pt idx="1">
                <c:v>673</c:v>
              </c:pt>
              <c:pt idx="2">
                <c:v>709</c:v>
              </c:pt>
              <c:pt idx="3">
                <c:v>748</c:v>
              </c:pt>
              <c:pt idx="4">
                <c:v>786</c:v>
              </c:pt>
              <c:pt idx="5">
                <c:v>833</c:v>
              </c:pt>
              <c:pt idx="6">
                <c:v>884</c:v>
              </c:pt>
              <c:pt idx="7">
                <c:v>940</c:v>
              </c:pt>
              <c:pt idx="8">
                <c:v>1001</c:v>
              </c:pt>
              <c:pt idx="9">
                <c:v>1060</c:v>
              </c:pt>
              <c:pt idx="10">
                <c:v>1124</c:v>
              </c:pt>
              <c:pt idx="11">
                <c:v>1193</c:v>
              </c:pt>
              <c:pt idx="12">
                <c:v>1271</c:v>
              </c:pt>
              <c:pt idx="13">
                <c:v>1350</c:v>
              </c:pt>
              <c:pt idx="14">
                <c:v>1425</c:v>
              </c:pt>
              <c:pt idx="15">
                <c:v>1519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86-BB60-4D58-AEAC-AF4D41B9501E}"/>
            </c:ext>
          </c:extLst>
        </c:ser>
        <c:ser>
          <c:idx val="23"/>
          <c:order val="23"/>
          <c:tx>
            <c:v>Malta</c:v>
          </c:tx>
          <c:spPr>
            <a:solidFill>
              <a:srgbClr val="5F5F5F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7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8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9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A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B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C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D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E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F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0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1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2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3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4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5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6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521</c:v>
              </c:pt>
              <c:pt idx="1">
                <c:v>549</c:v>
              </c:pt>
              <c:pt idx="2">
                <c:v>578</c:v>
              </c:pt>
              <c:pt idx="3">
                <c:v>608</c:v>
              </c:pt>
              <c:pt idx="4">
                <c:v>639</c:v>
              </c:pt>
              <c:pt idx="5">
                <c:v>677</c:v>
              </c:pt>
              <c:pt idx="6">
                <c:v>721</c:v>
              </c:pt>
              <c:pt idx="7">
                <c:v>762</c:v>
              </c:pt>
              <c:pt idx="8">
                <c:v>805</c:v>
              </c:pt>
              <c:pt idx="9">
                <c:v>854</c:v>
              </c:pt>
              <c:pt idx="10">
                <c:v>906</c:v>
              </c:pt>
              <c:pt idx="11">
                <c:v>962</c:v>
              </c:pt>
              <c:pt idx="12">
                <c:v>1016</c:v>
              </c:pt>
              <c:pt idx="13">
                <c:v>1076</c:v>
              </c:pt>
              <c:pt idx="14">
                <c:v>1146</c:v>
              </c:pt>
              <c:pt idx="15">
                <c:v>1210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97-BB60-4D58-AEAC-AF4D41B9501E}"/>
            </c:ext>
          </c:extLst>
        </c:ser>
        <c:ser>
          <c:idx val="24"/>
          <c:order val="24"/>
          <c:tx>
            <c:v>Slovenia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8-BB60-4D58-AEAC-AF4D41B9501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9-BB60-4D58-AEAC-AF4D41B9501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A-BB60-4D58-AEAC-AF4D41B9501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B-BB60-4D58-AEAC-AF4D41B9501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C-BB60-4D58-AEAC-AF4D41B9501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D-BB60-4D58-AEAC-AF4D41B9501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E-BB60-4D58-AEAC-AF4D41B9501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F-BB60-4D58-AEAC-AF4D41B9501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A0-BB60-4D58-AEAC-AF4D41B9501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A1-BB60-4D58-AEAC-AF4D41B9501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A2-BB60-4D58-AEAC-AF4D41B9501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A3-BB60-4D58-AEAC-AF4D41B9501E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A4-BB60-4D58-AEAC-AF4D41B9501E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A5-BB60-4D58-AEAC-AF4D41B9501E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A6-BB60-4D58-AEAC-AF4D41B9501E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A7-BB60-4D58-AEAC-AF4D41B9501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478</c:v>
              </c:pt>
              <c:pt idx="1">
                <c:v>504</c:v>
              </c:pt>
              <c:pt idx="2">
                <c:v>531</c:v>
              </c:pt>
              <c:pt idx="3">
                <c:v>556</c:v>
              </c:pt>
              <c:pt idx="4">
                <c:v>584</c:v>
              </c:pt>
              <c:pt idx="5">
                <c:v>620</c:v>
              </c:pt>
              <c:pt idx="6">
                <c:v>655</c:v>
              </c:pt>
              <c:pt idx="7">
                <c:v>691</c:v>
              </c:pt>
              <c:pt idx="8">
                <c:v>730</c:v>
              </c:pt>
              <c:pt idx="9">
                <c:v>778</c:v>
              </c:pt>
              <c:pt idx="10">
                <c:v>822</c:v>
              </c:pt>
              <c:pt idx="11">
                <c:v>870</c:v>
              </c:pt>
              <c:pt idx="12">
                <c:v>919</c:v>
              </c:pt>
              <c:pt idx="13">
                <c:v>976</c:v>
              </c:pt>
              <c:pt idx="14">
                <c:v>1042</c:v>
              </c:pt>
              <c:pt idx="15">
                <c:v>1105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A8-BB60-4D58-AEAC-AF4D41B9501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Germany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405.916</c:v>
              </c:pt>
              <c:pt idx="1">
                <c:v>428.56400000000002</c:v>
              </c:pt>
              <c:pt idx="2">
                <c:v>447.91</c:v>
              </c:pt>
              <c:pt idx="3">
                <c:v>470.22800000000001</c:v>
              </c:pt>
              <c:pt idx="4">
                <c:v>496.52600000000001</c:v>
              </c:pt>
              <c:pt idx="5">
                <c:v>523.97900000000004</c:v>
              </c:pt>
              <c:pt idx="6">
                <c:v>557.43600000000004</c:v>
              </c:pt>
              <c:pt idx="7">
                <c:v>590.66600000000005</c:v>
              </c:pt>
              <c:pt idx="8">
                <c:v>627.471</c:v>
              </c:pt>
              <c:pt idx="9">
                <c:v>662.94899999999996</c:v>
              </c:pt>
              <c:pt idx="10">
                <c:v>701.18799999999999</c:v>
              </c:pt>
              <c:pt idx="11">
                <c:v>740.78</c:v>
              </c:pt>
              <c:pt idx="12">
                <c:v>787.92399999999998</c:v>
              </c:pt>
              <c:pt idx="13">
                <c:v>830.07</c:v>
              </c:pt>
              <c:pt idx="14">
                <c:v>878.42499999999995</c:v>
              </c:pt>
              <c:pt idx="15">
                <c:v>930.827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7212-43E9-9DDA-ED9017CADC12}"/>
            </c:ext>
          </c:extLst>
        </c:ser>
        <c:ser>
          <c:idx val="1"/>
          <c:order val="1"/>
          <c:tx>
            <c:v>United Kingdom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395.78399999999999</c:v>
              </c:pt>
              <c:pt idx="1">
                <c:v>417.07</c:v>
              </c:pt>
              <c:pt idx="2">
                <c:v>438.99599999999998</c:v>
              </c:pt>
              <c:pt idx="3">
                <c:v>462.33699999999999</c:v>
              </c:pt>
              <c:pt idx="4">
                <c:v>486.43200000000002</c:v>
              </c:pt>
              <c:pt idx="5">
                <c:v>514.41999999999996</c:v>
              </c:pt>
              <c:pt idx="6">
                <c:v>541.51199999999994</c:v>
              </c:pt>
              <c:pt idx="7">
                <c:v>574.37800000000004</c:v>
              </c:pt>
              <c:pt idx="8">
                <c:v>606.48199999999997</c:v>
              </c:pt>
              <c:pt idx="9">
                <c:v>641.43899999999996</c:v>
              </c:pt>
              <c:pt idx="10">
                <c:v>675.36500000000001</c:v>
              </c:pt>
              <c:pt idx="11">
                <c:v>716.20600000000002</c:v>
              </c:pt>
              <c:pt idx="12">
                <c:v>759.30600000000004</c:v>
              </c:pt>
              <c:pt idx="13">
                <c:v>807.15700000000004</c:v>
              </c:pt>
              <c:pt idx="14">
                <c:v>855.28800000000001</c:v>
              </c:pt>
              <c:pt idx="15">
                <c:v>902.57899999999995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1-7212-43E9-9DDA-ED9017CADC12}"/>
            </c:ext>
          </c:extLst>
        </c:ser>
        <c:ser>
          <c:idx val="2"/>
          <c:order val="2"/>
          <c:tx>
            <c:v>France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F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312.95600000000002</c:v>
              </c:pt>
              <c:pt idx="1">
                <c:v>330.57100000000003</c:v>
              </c:pt>
              <c:pt idx="2">
                <c:v>349.27600000000001</c:v>
              </c:pt>
              <c:pt idx="3">
                <c:v>366.76100000000002</c:v>
              </c:pt>
              <c:pt idx="4">
                <c:v>386.827</c:v>
              </c:pt>
              <c:pt idx="5">
                <c:v>414.23099999999999</c:v>
              </c:pt>
              <c:pt idx="6">
                <c:v>439.84399999999999</c:v>
              </c:pt>
              <c:pt idx="7">
                <c:v>467.084</c:v>
              </c:pt>
              <c:pt idx="8">
                <c:v>498.68799999999999</c:v>
              </c:pt>
              <c:pt idx="9">
                <c:v>529.07100000000003</c:v>
              </c:pt>
              <c:pt idx="10">
                <c:v>565.84199999999998</c:v>
              </c:pt>
              <c:pt idx="11">
                <c:v>601.31500000000005</c:v>
              </c:pt>
              <c:pt idx="12">
                <c:v>638.93600000000004</c:v>
              </c:pt>
              <c:pt idx="13">
                <c:v>679.48400000000004</c:v>
              </c:pt>
              <c:pt idx="14">
                <c:v>724.93299999999999</c:v>
              </c:pt>
              <c:pt idx="15">
                <c:v>772.78399999999999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2-7212-43E9-9DDA-ED9017CADC12}"/>
            </c:ext>
          </c:extLst>
        </c:ser>
        <c:ser>
          <c:idx val="3"/>
          <c:order val="3"/>
          <c:tx>
            <c:v>Italy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3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F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249.28</c:v>
              </c:pt>
              <c:pt idx="1">
                <c:v>262.82600000000002</c:v>
              </c:pt>
              <c:pt idx="2">
                <c:v>276.25</c:v>
              </c:pt>
              <c:pt idx="3">
                <c:v>291.274</c:v>
              </c:pt>
              <c:pt idx="4">
                <c:v>304.21499999999997</c:v>
              </c:pt>
              <c:pt idx="5">
                <c:v>321.42399999999998</c:v>
              </c:pt>
              <c:pt idx="6">
                <c:v>339.834</c:v>
              </c:pt>
              <c:pt idx="7">
                <c:v>361.85899999999998</c:v>
              </c:pt>
              <c:pt idx="8">
                <c:v>384.649</c:v>
              </c:pt>
              <c:pt idx="9">
                <c:v>405.39600000000002</c:v>
              </c:pt>
              <c:pt idx="10">
                <c:v>428.26499999999999</c:v>
              </c:pt>
              <c:pt idx="11">
                <c:v>453.87099999999998</c:v>
              </c:pt>
              <c:pt idx="12">
                <c:v>478.339</c:v>
              </c:pt>
              <c:pt idx="13">
                <c:v>507.89400000000001</c:v>
              </c:pt>
              <c:pt idx="14">
                <c:v>538.14300000000003</c:v>
              </c:pt>
              <c:pt idx="15">
                <c:v>569.82399999999996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3-7212-43E9-9DDA-ED9017CADC12}"/>
            </c:ext>
          </c:extLst>
        </c:ser>
        <c:ser>
          <c:idx val="4"/>
          <c:order val="4"/>
          <c:tx>
            <c:v>Spain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4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7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A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B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C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D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E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F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0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1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2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3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164.46199999999999</c:v>
              </c:pt>
              <c:pt idx="1">
                <c:v>174.452</c:v>
              </c:pt>
              <c:pt idx="2">
                <c:v>183.227</c:v>
              </c:pt>
              <c:pt idx="3">
                <c:v>192.58600000000001</c:v>
              </c:pt>
              <c:pt idx="4">
                <c:v>203.983</c:v>
              </c:pt>
              <c:pt idx="5">
                <c:v>218.62200000000001</c:v>
              </c:pt>
              <c:pt idx="6">
                <c:v>233.03</c:v>
              </c:pt>
              <c:pt idx="7">
                <c:v>248.93100000000001</c:v>
              </c:pt>
              <c:pt idx="8">
                <c:v>266.125</c:v>
              </c:pt>
              <c:pt idx="9">
                <c:v>284.77600000000001</c:v>
              </c:pt>
              <c:pt idx="10">
                <c:v>303.52600000000001</c:v>
              </c:pt>
              <c:pt idx="11">
                <c:v>323.75599999999997</c:v>
              </c:pt>
              <c:pt idx="12">
                <c:v>346.71</c:v>
              </c:pt>
              <c:pt idx="13">
                <c:v>370.05599999999998</c:v>
              </c:pt>
              <c:pt idx="14">
                <c:v>393.21300000000002</c:v>
              </c:pt>
              <c:pt idx="15">
                <c:v>419.86700000000002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54-7212-43E9-9DDA-ED9017CADC12}"/>
            </c:ext>
          </c:extLst>
        </c:ser>
        <c:ser>
          <c:idx val="5"/>
          <c:order val="5"/>
          <c:tx>
            <c:v>Poland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5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6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7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8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9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A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B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C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D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E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F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0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1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2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3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4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111.732</c:v>
              </c:pt>
              <c:pt idx="1">
                <c:v>116.782</c:v>
              </c:pt>
              <c:pt idx="2">
                <c:v>122.16800000000001</c:v>
              </c:pt>
              <c:pt idx="3">
                <c:v>127.98399999999999</c:v>
              </c:pt>
              <c:pt idx="4">
                <c:v>133.95699999999999</c:v>
              </c:pt>
              <c:pt idx="5">
                <c:v>140.12</c:v>
              </c:pt>
              <c:pt idx="6">
                <c:v>146.471</c:v>
              </c:pt>
              <c:pt idx="7">
                <c:v>153.87700000000001</c:v>
              </c:pt>
              <c:pt idx="8">
                <c:v>161.745</c:v>
              </c:pt>
              <c:pt idx="9">
                <c:v>170.386</c:v>
              </c:pt>
              <c:pt idx="10">
                <c:v>178.33699999999999</c:v>
              </c:pt>
              <c:pt idx="11">
                <c:v>186.78899999999999</c:v>
              </c:pt>
              <c:pt idx="12">
                <c:v>196.63499999999999</c:v>
              </c:pt>
              <c:pt idx="13">
                <c:v>206.70400000000001</c:v>
              </c:pt>
              <c:pt idx="14">
                <c:v>217.47</c:v>
              </c:pt>
              <c:pt idx="15">
                <c:v>229.77500000000001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65-7212-43E9-9DDA-ED9017CADC12}"/>
            </c:ext>
          </c:extLst>
        </c:ser>
        <c:ser>
          <c:idx val="6"/>
          <c:order val="6"/>
          <c:tx>
            <c:v>Netherlands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6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7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8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9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A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B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C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D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E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F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0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1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2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3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4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5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106.18300000000001</c:v>
              </c:pt>
              <c:pt idx="1">
                <c:v>111.98</c:v>
              </c:pt>
              <c:pt idx="2">
                <c:v>118.121</c:v>
              </c:pt>
              <c:pt idx="3">
                <c:v>124.989</c:v>
              </c:pt>
              <c:pt idx="4">
                <c:v>132.49</c:v>
              </c:pt>
              <c:pt idx="5">
                <c:v>141.35300000000001</c:v>
              </c:pt>
              <c:pt idx="6">
                <c:v>151.03200000000001</c:v>
              </c:pt>
              <c:pt idx="7">
                <c:v>162.33699999999999</c:v>
              </c:pt>
              <c:pt idx="8">
                <c:v>173.345</c:v>
              </c:pt>
              <c:pt idx="9">
                <c:v>184.892</c:v>
              </c:pt>
              <c:pt idx="10">
                <c:v>197.14699999999999</c:v>
              </c:pt>
              <c:pt idx="11">
                <c:v>210.76300000000001</c:v>
              </c:pt>
              <c:pt idx="12">
                <c:v>224.90600000000001</c:v>
              </c:pt>
              <c:pt idx="13">
                <c:v>239.916</c:v>
              </c:pt>
              <c:pt idx="14">
                <c:v>255.43100000000001</c:v>
              </c:pt>
              <c:pt idx="15">
                <c:v>274.589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76-7212-43E9-9DDA-ED9017CADC12}"/>
            </c:ext>
          </c:extLst>
        </c:ser>
        <c:ser>
          <c:idx val="7"/>
          <c:order val="7"/>
          <c:tx>
            <c:v>Other European Countries</c:v>
          </c:tx>
          <c:spPr>
            <a:solidFill>
              <a:srgbClr val="A86F0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7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8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9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A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B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C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D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E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F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0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1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2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3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4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5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6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74.989000000000004</c:v>
              </c:pt>
              <c:pt idx="1">
                <c:v>79.409000000000006</c:v>
              </c:pt>
              <c:pt idx="2">
                <c:v>84.632000000000005</c:v>
              </c:pt>
              <c:pt idx="3">
                <c:v>90.275999999999996</c:v>
              </c:pt>
              <c:pt idx="4">
                <c:v>95.551000000000002</c:v>
              </c:pt>
              <c:pt idx="5">
                <c:v>101.998</c:v>
              </c:pt>
              <c:pt idx="6">
                <c:v>109.114</c:v>
              </c:pt>
              <c:pt idx="7">
                <c:v>117.08199999999999</c:v>
              </c:pt>
              <c:pt idx="8">
                <c:v>125.923</c:v>
              </c:pt>
              <c:pt idx="9">
                <c:v>134.53</c:v>
              </c:pt>
              <c:pt idx="10">
                <c:v>144.69200000000001</c:v>
              </c:pt>
              <c:pt idx="11">
                <c:v>155.86000000000001</c:v>
              </c:pt>
              <c:pt idx="12">
                <c:v>166.953</c:v>
              </c:pt>
              <c:pt idx="13">
                <c:v>179.46799999999999</c:v>
              </c:pt>
              <c:pt idx="14">
                <c:v>192.67</c:v>
              </c:pt>
              <c:pt idx="15">
                <c:v>206.03899999999999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87-7212-43E9-9DDA-ED9017CADC12}"/>
            </c:ext>
          </c:extLst>
        </c:ser>
        <c:ser>
          <c:idx val="8"/>
          <c:order val="8"/>
          <c:tx>
            <c:v>Sweden</c:v>
          </c:tx>
          <c:spPr>
            <a:solidFill>
              <a:srgbClr val="0B2E4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8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9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A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B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C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D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E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F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0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1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2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3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4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5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6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7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66.731999999999999</c:v>
              </c:pt>
              <c:pt idx="1">
                <c:v>70.867000000000004</c:v>
              </c:pt>
              <c:pt idx="2">
                <c:v>75.597999999999999</c:v>
              </c:pt>
              <c:pt idx="3">
                <c:v>80.188000000000002</c:v>
              </c:pt>
              <c:pt idx="4">
                <c:v>85.326999999999998</c:v>
              </c:pt>
              <c:pt idx="5">
                <c:v>91.751000000000005</c:v>
              </c:pt>
              <c:pt idx="6">
                <c:v>97.881</c:v>
              </c:pt>
              <c:pt idx="7">
                <c:v>104.627</c:v>
              </c:pt>
              <c:pt idx="8">
                <c:v>111.70099999999999</c:v>
              </c:pt>
              <c:pt idx="9">
                <c:v>119.68300000000001</c:v>
              </c:pt>
              <c:pt idx="10">
                <c:v>128.41399999999999</c:v>
              </c:pt>
              <c:pt idx="11">
                <c:v>137.85</c:v>
              </c:pt>
              <c:pt idx="12">
                <c:v>147.52799999999999</c:v>
              </c:pt>
              <c:pt idx="13">
                <c:v>158.20099999999999</c:v>
              </c:pt>
              <c:pt idx="14">
                <c:v>170.39400000000001</c:v>
              </c:pt>
              <c:pt idx="15">
                <c:v>181.85400000000001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98-7212-43E9-9DDA-ED9017CADC12}"/>
            </c:ext>
          </c:extLst>
        </c:ser>
        <c:ser>
          <c:idx val="9"/>
          <c:order val="9"/>
          <c:tx>
            <c:v>Belgium</c:v>
          </c:tx>
          <c:spPr>
            <a:solidFill>
              <a:srgbClr val="6C7A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9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A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B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C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D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E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F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0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1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2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3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4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5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6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7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8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65.605999999999995</c:v>
              </c:pt>
              <c:pt idx="1">
                <c:v>68.289000000000001</c:v>
              </c:pt>
              <c:pt idx="2">
                <c:v>71.415000000000006</c:v>
              </c:pt>
              <c:pt idx="3">
                <c:v>74.814999999999998</c:v>
              </c:pt>
              <c:pt idx="4">
                <c:v>78.248999999999995</c:v>
              </c:pt>
              <c:pt idx="5">
                <c:v>82.078000000000003</c:v>
              </c:pt>
              <c:pt idx="6">
                <c:v>85.738</c:v>
              </c:pt>
              <c:pt idx="7">
                <c:v>89.814999999999998</c:v>
              </c:pt>
              <c:pt idx="8">
                <c:v>94.759</c:v>
              </c:pt>
              <c:pt idx="9">
                <c:v>98.965000000000003</c:v>
              </c:pt>
              <c:pt idx="10">
                <c:v>103.5</c:v>
              </c:pt>
              <c:pt idx="11">
                <c:v>108.102</c:v>
              </c:pt>
              <c:pt idx="12">
                <c:v>113.155</c:v>
              </c:pt>
              <c:pt idx="13">
                <c:v>118.252</c:v>
              </c:pt>
              <c:pt idx="14">
                <c:v>123.794</c:v>
              </c:pt>
              <c:pt idx="15">
                <c:v>129.73599999999999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A9-7212-43E9-9DDA-ED9017CADC12}"/>
            </c:ext>
          </c:extLst>
        </c:ser>
        <c:ser>
          <c:idx val="10"/>
          <c:order val="10"/>
          <c:tx>
            <c:v>Austria</c:v>
          </c:tx>
          <c:spPr>
            <a:solidFill>
              <a:srgbClr val="B2B2B2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A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B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C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D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E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F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0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1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2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3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4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5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6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7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8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9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64.299000000000007</c:v>
              </c:pt>
              <c:pt idx="1">
                <c:v>67.186000000000007</c:v>
              </c:pt>
              <c:pt idx="2">
                <c:v>70.724000000000004</c:v>
              </c:pt>
              <c:pt idx="3">
                <c:v>74.3</c:v>
              </c:pt>
              <c:pt idx="4">
                <c:v>78.263000000000005</c:v>
              </c:pt>
              <c:pt idx="5">
                <c:v>82.421000000000006</c:v>
              </c:pt>
              <c:pt idx="6">
                <c:v>87.49</c:v>
              </c:pt>
              <c:pt idx="7">
                <c:v>92.194999999999993</c:v>
              </c:pt>
              <c:pt idx="8">
                <c:v>97.852000000000004</c:v>
              </c:pt>
              <c:pt idx="9">
                <c:v>102.983</c:v>
              </c:pt>
              <c:pt idx="10">
                <c:v>109.227</c:v>
              </c:pt>
              <c:pt idx="11">
                <c:v>115.253</c:v>
              </c:pt>
              <c:pt idx="12">
                <c:v>122.042</c:v>
              </c:pt>
              <c:pt idx="13">
                <c:v>129.59299999999999</c:v>
              </c:pt>
              <c:pt idx="14">
                <c:v>137.49799999999999</c:v>
              </c:pt>
              <c:pt idx="15">
                <c:v>145.017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BA-7212-43E9-9DDA-ED9017CADC12}"/>
            </c:ext>
          </c:extLst>
        </c:ser>
        <c:ser>
          <c:idx val="11"/>
          <c:order val="11"/>
          <c:tx>
            <c:v>Switzerland</c:v>
          </c:tx>
          <c:spPr>
            <a:solidFill>
              <a:srgbClr val="5F5F5F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B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C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D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E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F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0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1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2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3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4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5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6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7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8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9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A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63.683</c:v>
              </c:pt>
              <c:pt idx="1">
                <c:v>66.47</c:v>
              </c:pt>
              <c:pt idx="2">
                <c:v>69.828000000000003</c:v>
              </c:pt>
              <c:pt idx="3">
                <c:v>72.63</c:v>
              </c:pt>
              <c:pt idx="4">
                <c:v>76.328000000000003</c:v>
              </c:pt>
              <c:pt idx="5">
                <c:v>80.17</c:v>
              </c:pt>
              <c:pt idx="6">
                <c:v>84.444999999999993</c:v>
              </c:pt>
              <c:pt idx="7">
                <c:v>88.876000000000005</c:v>
              </c:pt>
              <c:pt idx="8">
                <c:v>93.325999999999993</c:v>
              </c:pt>
              <c:pt idx="9">
                <c:v>98.465000000000003</c:v>
              </c:pt>
              <c:pt idx="10">
                <c:v>104.065</c:v>
              </c:pt>
              <c:pt idx="11">
                <c:v>109.91</c:v>
              </c:pt>
              <c:pt idx="12">
                <c:v>116.27500000000001</c:v>
              </c:pt>
              <c:pt idx="13">
                <c:v>122.676</c:v>
              </c:pt>
              <c:pt idx="14">
                <c:v>128.97</c:v>
              </c:pt>
              <c:pt idx="15">
                <c:v>135.37299999999999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CB-7212-43E9-9DDA-ED9017CADC12}"/>
            </c:ext>
          </c:extLst>
        </c:ser>
        <c:ser>
          <c:idx val="12"/>
          <c:order val="12"/>
          <c:tx>
            <c:v>Czech Republic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C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D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E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F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0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1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2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3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4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5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6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7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8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9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A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B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40.203000000000003</c:v>
              </c:pt>
              <c:pt idx="1">
                <c:v>42.506999999999998</c:v>
              </c:pt>
              <c:pt idx="2">
                <c:v>44.848999999999997</c:v>
              </c:pt>
              <c:pt idx="3">
                <c:v>46.963000000000001</c:v>
              </c:pt>
              <c:pt idx="4">
                <c:v>49.295999999999999</c:v>
              </c:pt>
              <c:pt idx="5">
                <c:v>52.137</c:v>
              </c:pt>
              <c:pt idx="6">
                <c:v>55.363999999999997</c:v>
              </c:pt>
              <c:pt idx="7">
                <c:v>58.82</c:v>
              </c:pt>
              <c:pt idx="8">
                <c:v>62.094000000000001</c:v>
              </c:pt>
              <c:pt idx="9">
                <c:v>66.025999999999996</c:v>
              </c:pt>
              <c:pt idx="10">
                <c:v>70.394000000000005</c:v>
              </c:pt>
              <c:pt idx="11">
                <c:v>74.893000000000001</c:v>
              </c:pt>
              <c:pt idx="12">
                <c:v>79.049000000000007</c:v>
              </c:pt>
              <c:pt idx="13">
                <c:v>84.007000000000005</c:v>
              </c:pt>
              <c:pt idx="14">
                <c:v>88.793999999999997</c:v>
              </c:pt>
              <c:pt idx="15">
                <c:v>94.594999999999999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DC-7212-43E9-9DDA-ED9017CADC12}"/>
            </c:ext>
          </c:extLst>
        </c:ser>
        <c:ser>
          <c:idx val="13"/>
          <c:order val="13"/>
          <c:tx>
            <c:v>Portugal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D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E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DF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0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1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2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3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4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5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6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7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8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9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A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B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C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38.392000000000003</c:v>
              </c:pt>
              <c:pt idx="1">
                <c:v>40.380000000000003</c:v>
              </c:pt>
              <c:pt idx="2">
                <c:v>42.567</c:v>
              </c:pt>
              <c:pt idx="3">
                <c:v>44.640999999999998</c:v>
              </c:pt>
              <c:pt idx="4">
                <c:v>47.104999999999997</c:v>
              </c:pt>
              <c:pt idx="5">
                <c:v>50.216000000000001</c:v>
              </c:pt>
              <c:pt idx="6">
                <c:v>53.429000000000002</c:v>
              </c:pt>
              <c:pt idx="7">
                <c:v>56.792999999999999</c:v>
              </c:pt>
              <c:pt idx="8">
                <c:v>60.438000000000002</c:v>
              </c:pt>
              <c:pt idx="9">
                <c:v>64.040999999999997</c:v>
              </c:pt>
              <c:pt idx="10">
                <c:v>68.281999999999996</c:v>
              </c:pt>
              <c:pt idx="11">
                <c:v>72.319999999999993</c:v>
              </c:pt>
              <c:pt idx="12">
                <c:v>76.971999999999994</c:v>
              </c:pt>
              <c:pt idx="13">
                <c:v>81.885000000000005</c:v>
              </c:pt>
              <c:pt idx="14">
                <c:v>87.191999999999993</c:v>
              </c:pt>
              <c:pt idx="15">
                <c:v>92.488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ED-7212-43E9-9DDA-ED9017CADC12}"/>
            </c:ext>
          </c:extLst>
        </c:ser>
        <c:ser>
          <c:idx val="14"/>
          <c:order val="14"/>
          <c:tx>
            <c:v>Norway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E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EF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0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1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2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3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4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5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6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7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8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9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A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B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C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D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36.709000000000003</c:v>
              </c:pt>
              <c:pt idx="1">
                <c:v>38.767000000000003</c:v>
              </c:pt>
              <c:pt idx="2">
                <c:v>40.927</c:v>
              </c:pt>
              <c:pt idx="3">
                <c:v>43.170999999999999</c:v>
              </c:pt>
              <c:pt idx="4">
                <c:v>45.369</c:v>
              </c:pt>
              <c:pt idx="5">
                <c:v>48.085999999999999</c:v>
              </c:pt>
              <c:pt idx="6">
                <c:v>50.786000000000001</c:v>
              </c:pt>
              <c:pt idx="7">
                <c:v>53.682000000000002</c:v>
              </c:pt>
              <c:pt idx="8">
                <c:v>56.665999999999997</c:v>
              </c:pt>
              <c:pt idx="9">
                <c:v>60.31</c:v>
              </c:pt>
              <c:pt idx="10">
                <c:v>64.326999999999998</c:v>
              </c:pt>
              <c:pt idx="11">
                <c:v>68.453000000000003</c:v>
              </c:pt>
              <c:pt idx="12">
                <c:v>72.665000000000006</c:v>
              </c:pt>
              <c:pt idx="13">
                <c:v>77.209999999999994</c:v>
              </c:pt>
              <c:pt idx="14">
                <c:v>82.114000000000004</c:v>
              </c:pt>
              <c:pt idx="15">
                <c:v>87.49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FE-7212-43E9-9DDA-ED9017CADC12}"/>
            </c:ext>
          </c:extLst>
        </c:ser>
        <c:ser>
          <c:idx val="15"/>
          <c:order val="15"/>
          <c:tx>
            <c:v>Denmark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FF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0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1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2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3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4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5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6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7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8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9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A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B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C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D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0E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36.186999999999998</c:v>
              </c:pt>
              <c:pt idx="1">
                <c:v>37.881</c:v>
              </c:pt>
              <c:pt idx="2">
                <c:v>39.658999999999999</c:v>
              </c:pt>
              <c:pt idx="3">
                <c:v>41.875999999999998</c:v>
              </c:pt>
              <c:pt idx="4">
                <c:v>44.046999999999997</c:v>
              </c:pt>
              <c:pt idx="5">
                <c:v>46.878999999999998</c:v>
              </c:pt>
              <c:pt idx="6">
                <c:v>49.692</c:v>
              </c:pt>
              <c:pt idx="7">
                <c:v>52.529000000000003</c:v>
              </c:pt>
              <c:pt idx="8">
                <c:v>55.88</c:v>
              </c:pt>
              <c:pt idx="9">
                <c:v>59.145000000000003</c:v>
              </c:pt>
              <c:pt idx="10">
                <c:v>62.408000000000001</c:v>
              </c:pt>
              <c:pt idx="11">
                <c:v>66.123999999999995</c:v>
              </c:pt>
              <c:pt idx="12">
                <c:v>70.471999999999994</c:v>
              </c:pt>
              <c:pt idx="13">
                <c:v>74.709000000000003</c:v>
              </c:pt>
              <c:pt idx="14">
                <c:v>79.251999999999995</c:v>
              </c:pt>
              <c:pt idx="15">
                <c:v>84.531999999999996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0F-7212-43E9-9DDA-ED9017CADC12}"/>
            </c:ext>
          </c:extLst>
        </c:ser>
        <c:ser>
          <c:idx val="16"/>
          <c:order val="16"/>
          <c:tx>
            <c:v>Finland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0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1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2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3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4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5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6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7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8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9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A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B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C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D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E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1F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30.823</c:v>
              </c:pt>
              <c:pt idx="1">
                <c:v>32.220999999999997</c:v>
              </c:pt>
              <c:pt idx="2">
                <c:v>33.731000000000002</c:v>
              </c:pt>
              <c:pt idx="3">
                <c:v>35.277000000000001</c:v>
              </c:pt>
              <c:pt idx="4">
                <c:v>36.826000000000001</c:v>
              </c:pt>
              <c:pt idx="5">
                <c:v>38.954999999999998</c:v>
              </c:pt>
              <c:pt idx="6">
                <c:v>40.795999999999999</c:v>
              </c:pt>
              <c:pt idx="7">
                <c:v>42.820999999999998</c:v>
              </c:pt>
              <c:pt idx="8">
                <c:v>45.119</c:v>
              </c:pt>
              <c:pt idx="9">
                <c:v>47.695999999999998</c:v>
              </c:pt>
              <c:pt idx="10">
                <c:v>50.115000000000002</c:v>
              </c:pt>
              <c:pt idx="11">
                <c:v>52.981999999999999</c:v>
              </c:pt>
              <c:pt idx="12">
                <c:v>55.817999999999998</c:v>
              </c:pt>
              <c:pt idx="13">
                <c:v>59.005000000000003</c:v>
              </c:pt>
              <c:pt idx="14">
                <c:v>61.822000000000003</c:v>
              </c:pt>
              <c:pt idx="15">
                <c:v>64.765000000000001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20-7212-43E9-9DDA-ED9017CADC12}"/>
            </c:ext>
          </c:extLst>
        </c:ser>
        <c:ser>
          <c:idx val="17"/>
          <c:order val="17"/>
          <c:tx>
            <c:v>Ireland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1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2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3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4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5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6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7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8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9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A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B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C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D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E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2F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0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29.38</c:v>
              </c:pt>
              <c:pt idx="1">
                <c:v>30.672999999999998</c:v>
              </c:pt>
              <c:pt idx="2">
                <c:v>32.213999999999999</c:v>
              </c:pt>
              <c:pt idx="3">
                <c:v>33.603999999999999</c:v>
              </c:pt>
              <c:pt idx="4">
                <c:v>35.292000000000002</c:v>
              </c:pt>
              <c:pt idx="5">
                <c:v>37.170999999999999</c:v>
              </c:pt>
              <c:pt idx="6">
                <c:v>39.177</c:v>
              </c:pt>
              <c:pt idx="7">
                <c:v>41.28</c:v>
              </c:pt>
              <c:pt idx="8">
                <c:v>43.499000000000002</c:v>
              </c:pt>
              <c:pt idx="9">
                <c:v>45.921999999999997</c:v>
              </c:pt>
              <c:pt idx="10">
                <c:v>48.475000000000001</c:v>
              </c:pt>
              <c:pt idx="11">
                <c:v>51.036999999999999</c:v>
              </c:pt>
              <c:pt idx="12">
                <c:v>54.045000000000002</c:v>
              </c:pt>
              <c:pt idx="13">
                <c:v>57.253999999999998</c:v>
              </c:pt>
              <c:pt idx="14">
                <c:v>60.561999999999998</c:v>
              </c:pt>
              <c:pt idx="15">
                <c:v>64.055000000000007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31-7212-43E9-9DDA-ED9017CADC12}"/>
            </c:ext>
          </c:extLst>
        </c:ser>
        <c:ser>
          <c:idx val="18"/>
          <c:order val="18"/>
          <c:tx>
            <c:v>Romania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2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3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4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5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6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7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8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9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A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B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C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D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E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3F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0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1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28.832000000000001</c:v>
              </c:pt>
              <c:pt idx="1">
                <c:v>30.635999999999999</c:v>
              </c:pt>
              <c:pt idx="2">
                <c:v>32.567</c:v>
              </c:pt>
              <c:pt idx="3">
                <c:v>34.512</c:v>
              </c:pt>
              <c:pt idx="4">
                <c:v>36.329000000000001</c:v>
              </c:pt>
              <c:pt idx="5">
                <c:v>38.668999999999997</c:v>
              </c:pt>
              <c:pt idx="6">
                <c:v>41.395000000000003</c:v>
              </c:pt>
              <c:pt idx="7">
                <c:v>44.258000000000003</c:v>
              </c:pt>
              <c:pt idx="8">
                <c:v>47.353999999999999</c:v>
              </c:pt>
              <c:pt idx="9">
                <c:v>50.546999999999997</c:v>
              </c:pt>
              <c:pt idx="10">
                <c:v>54.027999999999999</c:v>
              </c:pt>
              <c:pt idx="11">
                <c:v>57.63</c:v>
              </c:pt>
              <c:pt idx="12">
                <c:v>61.42</c:v>
              </c:pt>
              <c:pt idx="13">
                <c:v>65.799000000000007</c:v>
              </c:pt>
              <c:pt idx="14">
                <c:v>70.462999999999994</c:v>
              </c:pt>
              <c:pt idx="15">
                <c:v>75.667000000000002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42-7212-43E9-9DDA-ED9017CADC12}"/>
            </c:ext>
          </c:extLst>
        </c:ser>
        <c:ser>
          <c:idx val="19"/>
          <c:order val="19"/>
          <c:tx>
            <c:v>Hungary</c:v>
          </c:tx>
          <c:spPr>
            <a:solidFill>
              <a:srgbClr val="A86F0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3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4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5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6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7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8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9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A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B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C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D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E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4F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0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1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2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26.13</c:v>
              </c:pt>
              <c:pt idx="1">
                <c:v>27.631</c:v>
              </c:pt>
              <c:pt idx="2">
                <c:v>29.004999999999999</c:v>
              </c:pt>
              <c:pt idx="3">
                <c:v>30.670999999999999</c:v>
              </c:pt>
              <c:pt idx="4">
                <c:v>32.158999999999999</c:v>
              </c:pt>
              <c:pt idx="5">
                <c:v>34.094999999999999</c:v>
              </c:pt>
              <c:pt idx="6">
                <c:v>36.036999999999999</c:v>
              </c:pt>
              <c:pt idx="7">
                <c:v>38.338999999999999</c:v>
              </c:pt>
              <c:pt idx="8">
                <c:v>40.911000000000001</c:v>
              </c:pt>
              <c:pt idx="9">
                <c:v>43.640999999999998</c:v>
              </c:pt>
              <c:pt idx="10">
                <c:v>46.302999999999997</c:v>
              </c:pt>
              <c:pt idx="11">
                <c:v>48.954999999999998</c:v>
              </c:pt>
              <c:pt idx="12">
                <c:v>51.837000000000003</c:v>
              </c:pt>
              <c:pt idx="13">
                <c:v>54.857999999999997</c:v>
              </c:pt>
              <c:pt idx="14">
                <c:v>58.396000000000001</c:v>
              </c:pt>
              <c:pt idx="15">
                <c:v>62.139000000000003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53-7212-43E9-9DDA-ED9017CADC12}"/>
            </c:ext>
          </c:extLst>
        </c:ser>
        <c:ser>
          <c:idx val="20"/>
          <c:order val="20"/>
          <c:tx>
            <c:v>Greece</c:v>
          </c:tx>
          <c:spPr>
            <a:solidFill>
              <a:srgbClr val="0B2E4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4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5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6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7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8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9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A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B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C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D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E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5F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0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1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2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3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25.016999999999999</c:v>
              </c:pt>
              <c:pt idx="1">
                <c:v>26.234000000000002</c:v>
              </c:pt>
              <c:pt idx="2">
                <c:v>27.512</c:v>
              </c:pt>
              <c:pt idx="3">
                <c:v>28.887</c:v>
              </c:pt>
              <c:pt idx="4">
                <c:v>30.437999999999999</c:v>
              </c:pt>
              <c:pt idx="5">
                <c:v>32.390999999999998</c:v>
              </c:pt>
              <c:pt idx="6">
                <c:v>34.462000000000003</c:v>
              </c:pt>
              <c:pt idx="7">
                <c:v>36.591000000000001</c:v>
              </c:pt>
              <c:pt idx="8">
                <c:v>38.883000000000003</c:v>
              </c:pt>
              <c:pt idx="9">
                <c:v>41.314999999999998</c:v>
              </c:pt>
              <c:pt idx="10">
                <c:v>44.11</c:v>
              </c:pt>
              <c:pt idx="11">
                <c:v>46.792000000000002</c:v>
              </c:pt>
              <c:pt idx="12">
                <c:v>49.618000000000002</c:v>
              </c:pt>
              <c:pt idx="13">
                <c:v>53.045999999999999</c:v>
              </c:pt>
              <c:pt idx="14">
                <c:v>56.198999999999998</c:v>
              </c:pt>
              <c:pt idx="15">
                <c:v>59.741999999999997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64-7212-43E9-9DDA-ED9017CADC12}"/>
            </c:ext>
          </c:extLst>
        </c:ser>
        <c:ser>
          <c:idx val="21"/>
          <c:order val="21"/>
          <c:tx>
            <c:v>Bulgaria</c:v>
          </c:tx>
          <c:spPr>
            <a:solidFill>
              <a:srgbClr val="6C7A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5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6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7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8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9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A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B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C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D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E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6F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0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1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2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3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4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15.217000000000001</c:v>
              </c:pt>
              <c:pt idx="1">
                <c:v>15.94</c:v>
              </c:pt>
              <c:pt idx="2">
                <c:v>16.628</c:v>
              </c:pt>
              <c:pt idx="3">
                <c:v>17.402999999999999</c:v>
              </c:pt>
              <c:pt idx="4">
                <c:v>18.132000000000001</c:v>
              </c:pt>
              <c:pt idx="5">
                <c:v>19.029</c:v>
              </c:pt>
              <c:pt idx="6">
                <c:v>20.074000000000002</c:v>
              </c:pt>
              <c:pt idx="7">
                <c:v>21.288</c:v>
              </c:pt>
              <c:pt idx="8">
                <c:v>22.459</c:v>
              </c:pt>
              <c:pt idx="9">
                <c:v>23.673999999999999</c:v>
              </c:pt>
              <c:pt idx="10">
                <c:v>24.986999999999998</c:v>
              </c:pt>
              <c:pt idx="11">
                <c:v>26.305</c:v>
              </c:pt>
              <c:pt idx="12">
                <c:v>27.745000000000001</c:v>
              </c:pt>
              <c:pt idx="13">
                <c:v>29.260999999999999</c:v>
              </c:pt>
              <c:pt idx="14">
                <c:v>30.844999999999999</c:v>
              </c:pt>
              <c:pt idx="15">
                <c:v>32.412999999999997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75-7212-43E9-9DDA-ED9017CADC12}"/>
            </c:ext>
          </c:extLst>
        </c:ser>
        <c:ser>
          <c:idx val="22"/>
          <c:order val="22"/>
          <c:tx>
            <c:v>Croatia</c:v>
          </c:tx>
          <c:spPr>
            <a:solidFill>
              <a:srgbClr val="B2B2B2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6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7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8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9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A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B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C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D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E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7F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0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1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2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3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4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5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12.006</c:v>
              </c:pt>
              <c:pt idx="1">
                <c:v>12.63</c:v>
              </c:pt>
              <c:pt idx="2">
                <c:v>13.396000000000001</c:v>
              </c:pt>
              <c:pt idx="3">
                <c:v>14.191000000000001</c:v>
              </c:pt>
              <c:pt idx="4">
                <c:v>14.989000000000001</c:v>
              </c:pt>
              <c:pt idx="5">
                <c:v>15.971</c:v>
              </c:pt>
              <c:pt idx="6">
                <c:v>17.045000000000002</c:v>
              </c:pt>
              <c:pt idx="7">
                <c:v>18.212</c:v>
              </c:pt>
              <c:pt idx="8">
                <c:v>19.501999999999999</c:v>
              </c:pt>
              <c:pt idx="9">
                <c:v>20.751000000000001</c:v>
              </c:pt>
              <c:pt idx="10">
                <c:v>22.123999999999999</c:v>
              </c:pt>
              <c:pt idx="11">
                <c:v>23.603999999999999</c:v>
              </c:pt>
              <c:pt idx="12">
                <c:v>25.273</c:v>
              </c:pt>
              <c:pt idx="13">
                <c:v>26.97</c:v>
              </c:pt>
              <c:pt idx="14">
                <c:v>28.625</c:v>
              </c:pt>
              <c:pt idx="15">
                <c:v>30.661999999999999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86-7212-43E9-9DDA-ED9017CADC12}"/>
            </c:ext>
          </c:extLst>
        </c:ser>
        <c:ser>
          <c:idx val="23"/>
          <c:order val="23"/>
          <c:tx>
            <c:v>Malta</c:v>
          </c:tx>
          <c:spPr>
            <a:solidFill>
              <a:srgbClr val="5F5F5F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7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8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9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A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B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C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D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E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8F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0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1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2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3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4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5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6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9.82</c:v>
              </c:pt>
              <c:pt idx="1">
                <c:v>10.428000000000001</c:v>
              </c:pt>
              <c:pt idx="2">
                <c:v>11.079000000000001</c:v>
              </c:pt>
              <c:pt idx="3">
                <c:v>11.75</c:v>
              </c:pt>
              <c:pt idx="4">
                <c:v>12.43</c:v>
              </c:pt>
              <c:pt idx="5">
                <c:v>13.276999999999999</c:v>
              </c:pt>
              <c:pt idx="6">
                <c:v>14.253</c:v>
              </c:pt>
              <c:pt idx="7">
                <c:v>15.17</c:v>
              </c:pt>
              <c:pt idx="8">
                <c:v>16.152999999999999</c:v>
              </c:pt>
              <c:pt idx="9">
                <c:v>17.260000000000002</c:v>
              </c:pt>
              <c:pt idx="10">
                <c:v>18.452999999999999</c:v>
              </c:pt>
              <c:pt idx="11">
                <c:v>19.745000000000001</c:v>
              </c:pt>
              <c:pt idx="12">
                <c:v>21.003</c:v>
              </c:pt>
              <c:pt idx="13">
                <c:v>22.395</c:v>
              </c:pt>
              <c:pt idx="14">
                <c:v>24.018999999999998</c:v>
              </c:pt>
              <c:pt idx="15">
                <c:v>25.542999999999999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97-7212-43E9-9DDA-ED9017CADC12}"/>
            </c:ext>
          </c:extLst>
        </c:ser>
        <c:ser>
          <c:idx val="24"/>
          <c:order val="24"/>
          <c:tx>
            <c:v>Slovenia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8-7212-43E9-9DDA-ED9017CADC1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9-7212-43E9-9DDA-ED9017CADC1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A-7212-43E9-9DDA-ED9017CADC1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B-7212-43E9-9DDA-ED9017CADC1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C-7212-43E9-9DDA-ED9017CADC1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D-7212-43E9-9DDA-ED9017CADC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E-7212-43E9-9DDA-ED9017CADC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9F-7212-43E9-9DDA-ED9017CADC1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A0-7212-43E9-9DDA-ED9017CADC1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A1-7212-43E9-9DDA-ED9017CADC1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A2-7212-43E9-9DDA-ED9017CADC1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A3-7212-43E9-9DDA-ED9017CADC1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A4-7212-43E9-9DDA-ED9017CADC1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A5-7212-43E9-9DDA-ED9017CADC1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A6-7212-43E9-9DDA-ED9017CADC1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1A7-7212-43E9-9DDA-ED9017CADC1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9.673</c:v>
              </c:pt>
              <c:pt idx="1">
                <c:v>10.23</c:v>
              </c:pt>
              <c:pt idx="2">
                <c:v>10.816000000000001</c:v>
              </c:pt>
              <c:pt idx="3">
                <c:v>11.348000000000001</c:v>
              </c:pt>
              <c:pt idx="4">
                <c:v>11.956</c:v>
              </c:pt>
              <c:pt idx="5">
                <c:v>12.728999999999999</c:v>
              </c:pt>
              <c:pt idx="6">
                <c:v>13.494</c:v>
              </c:pt>
              <c:pt idx="7">
                <c:v>14.279</c:v>
              </c:pt>
              <c:pt idx="8">
                <c:v>15.116</c:v>
              </c:pt>
              <c:pt idx="9">
                <c:v>16.158000000000001</c:v>
              </c:pt>
              <c:pt idx="10">
                <c:v>17.120999999999999</c:v>
              </c:pt>
              <c:pt idx="11">
                <c:v>18.175000000000001</c:v>
              </c:pt>
              <c:pt idx="12">
                <c:v>19.245000000000001</c:v>
              </c:pt>
              <c:pt idx="13">
                <c:v>20.501999999999999</c:v>
              </c:pt>
              <c:pt idx="14">
                <c:v>21.937000000000001</c:v>
              </c:pt>
              <c:pt idx="15">
                <c:v>23.338000000000001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1A8-7212-43E9-9DDA-ED9017CADC1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Shampoos &amp; Cleansing Products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C13F-4286-AE82-B7881EC0810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13F-4286-AE82-B7881EC0810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13F-4286-AE82-B7881EC0810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13F-4286-AE82-B7881EC0810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13F-4286-AE82-B7881EC0810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C13F-4286-AE82-B7881EC0810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13F-4286-AE82-B7881EC0810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C13F-4286-AE82-B7881EC08107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13F-4286-AE82-B7881EC08107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C13F-4286-AE82-B7881EC08107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C13F-4286-AE82-B7881EC08107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C13F-4286-AE82-B7881EC08107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13F-4286-AE82-B7881EC08107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C13F-4286-AE82-B7881EC08107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13F-4286-AE82-B7881EC08107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C13F-4286-AE82-B7881EC08107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C13F-4286-AE82-B7881EC08107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C13F-4286-AE82-B7881EC08107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C13F-4286-AE82-B7881EC08107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C13F-4286-AE82-B7881EC08107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C13F-4286-AE82-B7881EC08107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C13F-4286-AE82-B7881EC08107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C13F-4286-AE82-B7881EC08107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C13F-4286-AE82-B7881EC08107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C13F-4286-AE82-B7881EC0810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29.432684891593112</c:v>
              </c:pt>
              <c:pt idx="1">
                <c:v>33.775689958896066</c:v>
              </c:pt>
              <c:pt idx="2">
                <c:v>37.310853117662404</c:v>
              </c:pt>
              <c:pt idx="3">
                <c:v>34.856243830207305</c:v>
              </c:pt>
              <c:pt idx="4">
                <c:v>27.358853756925495</c:v>
              </c:pt>
              <c:pt idx="5">
                <c:v>32.105957707039167</c:v>
              </c:pt>
              <c:pt idx="6">
                <c:v>33.680430879712745</c:v>
              </c:pt>
              <c:pt idx="7">
                <c:v>38.247510229290512</c:v>
              </c:pt>
              <c:pt idx="8">
                <c:v>36.715786691336817</c:v>
              </c:pt>
              <c:pt idx="9">
                <c:v>40.294093291218601</c:v>
              </c:pt>
              <c:pt idx="10">
                <c:v>29.353404427985229</c:v>
              </c:pt>
              <c:pt idx="11">
                <c:v>36.202832738674459</c:v>
              </c:pt>
              <c:pt idx="12">
                <c:v>36.858184893493309</c:v>
              </c:pt>
              <c:pt idx="13">
                <c:v>46.357988530554358</c:v>
              </c:pt>
              <c:pt idx="14">
                <c:v>33.536477262654024</c:v>
              </c:pt>
              <c:pt idx="15">
                <c:v>27.624656079548199</c:v>
              </c:pt>
              <c:pt idx="16">
                <c:v>29.496189250717602</c:v>
              </c:pt>
              <c:pt idx="17">
                <c:v>33.350967535272446</c:v>
              </c:pt>
              <c:pt idx="18">
                <c:v>26.435746117958359</c:v>
              </c:pt>
              <c:pt idx="19">
                <c:v>30.220802726984701</c:v>
              </c:pt>
              <c:pt idx="20">
                <c:v>27.628510933224092</c:v>
              </c:pt>
              <c:pt idx="21">
                <c:v>35.037660751389907</c:v>
              </c:pt>
              <c:pt idx="22">
                <c:v>37.50959198013409</c:v>
              </c:pt>
              <c:pt idx="23">
                <c:v>34.897183629151982</c:v>
              </c:pt>
              <c:pt idx="24">
                <c:v>47.883011558538804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9-C13F-4286-AE82-B7881EC08107}"/>
            </c:ext>
          </c:extLst>
        </c:ser>
        <c:ser>
          <c:idx val="1"/>
          <c:order val="1"/>
          <c:tx>
            <c:v>Coat Conditioning &amp; Grooming Products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C13F-4286-AE82-B7881EC0810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C13F-4286-AE82-B7881EC0810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C13F-4286-AE82-B7881EC0810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C13F-4286-AE82-B7881EC0810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C13F-4286-AE82-B7881EC0810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C13F-4286-AE82-B7881EC0810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C13F-4286-AE82-B7881EC0810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C13F-4286-AE82-B7881EC08107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C13F-4286-AE82-B7881EC08107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C13F-4286-AE82-B7881EC08107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C13F-4286-AE82-B7881EC08107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C13F-4286-AE82-B7881EC08107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C13F-4286-AE82-B7881EC08107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C13F-4286-AE82-B7881EC08107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C13F-4286-AE82-B7881EC08107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C13F-4286-AE82-B7881EC08107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C13F-4286-AE82-B7881EC08107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C13F-4286-AE82-B7881EC08107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C13F-4286-AE82-B7881EC08107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C13F-4286-AE82-B7881EC08107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C13F-4286-AE82-B7881EC08107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F-C13F-4286-AE82-B7881EC08107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C13F-4286-AE82-B7881EC08107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C13F-4286-AE82-B7881EC08107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2-C13F-4286-AE82-B7881EC0810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20.438769388979345</c:v>
              </c:pt>
              <c:pt idx="1">
                <c:v>22.66196907418281</c:v>
              </c:pt>
              <c:pt idx="2">
                <c:v>17.809157318027651</c:v>
              </c:pt>
              <c:pt idx="3">
                <c:v>23.044175715695957</c:v>
              </c:pt>
              <c:pt idx="4">
                <c:v>29.407629345697401</c:v>
              </c:pt>
              <c:pt idx="5">
                <c:v>22.615790659499822</c:v>
              </c:pt>
              <c:pt idx="6">
                <c:v>28.363125439075791</c:v>
              </c:pt>
              <c:pt idx="7">
                <c:v>20.778198100826064</c:v>
              </c:pt>
              <c:pt idx="8">
                <c:v>15.789334566840679</c:v>
              </c:pt>
              <c:pt idx="9">
                <c:v>19.758431817912957</c:v>
              </c:pt>
              <c:pt idx="10">
                <c:v>19.976225582644673</c:v>
              </c:pt>
              <c:pt idx="11">
                <c:v>19.213969077738135</c:v>
              </c:pt>
              <c:pt idx="12">
                <c:v>19.441830963581587</c:v>
              </c:pt>
              <c:pt idx="13">
                <c:v>17.107818955417155</c:v>
              </c:pt>
              <c:pt idx="14">
                <c:v>24.447448512247735</c:v>
              </c:pt>
              <c:pt idx="15">
                <c:v>25.740075438390832</c:v>
              </c:pt>
              <c:pt idx="16">
                <c:v>21.019059245328666</c:v>
              </c:pt>
              <c:pt idx="17">
                <c:v>21.377991545289969</c:v>
              </c:pt>
              <c:pt idx="18">
                <c:v>28.02207367174988</c:v>
              </c:pt>
              <c:pt idx="19">
                <c:v>25.16888877558825</c:v>
              </c:pt>
              <c:pt idx="20">
                <c:v>25.155108641546015</c:v>
              </c:pt>
              <c:pt idx="21">
                <c:v>19.333688998708375</c:v>
              </c:pt>
              <c:pt idx="22">
                <c:v>19.295764259214447</c:v>
              </c:pt>
              <c:pt idx="23">
                <c:v>17.009683352168228</c:v>
              </c:pt>
              <c:pt idx="24">
                <c:v>13.114359596358934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3-C13F-4286-AE82-B7881EC08107}"/>
            </c:ext>
          </c:extLst>
        </c:ser>
        <c:ser>
          <c:idx val="2"/>
          <c:order val="2"/>
          <c:tx>
            <c:v>Skin, Paw &amp; Nose Care Products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C13F-4286-AE82-B7881EC0810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C13F-4286-AE82-B7881EC0810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C13F-4286-AE82-B7881EC0810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C13F-4286-AE82-B7881EC0810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C13F-4286-AE82-B7881EC0810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C13F-4286-AE82-B7881EC0810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C13F-4286-AE82-B7881EC0810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C13F-4286-AE82-B7881EC08107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C13F-4286-AE82-B7881EC08107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C13F-4286-AE82-B7881EC08107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C13F-4286-AE82-B7881EC08107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F-C13F-4286-AE82-B7881EC08107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C13F-4286-AE82-B7881EC08107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C13F-4286-AE82-B7881EC08107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C13F-4286-AE82-B7881EC08107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3-C13F-4286-AE82-B7881EC08107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4-C13F-4286-AE82-B7881EC08107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C13F-4286-AE82-B7881EC08107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C13F-4286-AE82-B7881EC08107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7-C13F-4286-AE82-B7881EC08107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C13F-4286-AE82-B7881EC08107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C13F-4286-AE82-B7881EC08107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A-C13F-4286-AE82-B7881EC08107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B-C13F-4286-AE82-B7881EC08107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C-C13F-4286-AE82-B7881EC0810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20.198817379381268</c:v>
              </c:pt>
              <c:pt idx="1">
                <c:v>19.134860050890584</c:v>
              </c:pt>
              <c:pt idx="2">
                <c:v>13.419645186537959</c:v>
              </c:pt>
              <c:pt idx="3">
                <c:v>16.942250740375126</c:v>
              </c:pt>
              <c:pt idx="4">
                <c:v>15.081264750682088</c:v>
              </c:pt>
              <c:pt idx="5">
                <c:v>14.292381473494478</c:v>
              </c:pt>
              <c:pt idx="6">
                <c:v>16.437436577940829</c:v>
              </c:pt>
              <c:pt idx="7">
                <c:v>13.437813633907203</c:v>
              </c:pt>
              <c:pt idx="8">
                <c:v>17.778365162228244</c:v>
              </c:pt>
              <c:pt idx="9">
                <c:v>10.003430694064898</c:v>
              </c:pt>
              <c:pt idx="10">
                <c:v>15.273920149961709</c:v>
              </c:pt>
              <c:pt idx="11">
                <c:v>9.5934695642772212</c:v>
              </c:pt>
              <c:pt idx="12">
                <c:v>12.835773560970454</c:v>
              </c:pt>
              <c:pt idx="13">
                <c:v>12.249491274588395</c:v>
              </c:pt>
              <c:pt idx="14">
                <c:v>11.681883993735781</c:v>
              </c:pt>
              <c:pt idx="15">
                <c:v>15.806204704211172</c:v>
              </c:pt>
              <c:pt idx="16">
                <c:v>18.622631341625695</c:v>
              </c:pt>
              <c:pt idx="17">
                <c:v>16.398351768354537</c:v>
              </c:pt>
              <c:pt idx="18">
                <c:v>12.642312513056192</c:v>
              </c:pt>
              <c:pt idx="19">
                <c:v>14.12328971663104</c:v>
              </c:pt>
              <c:pt idx="20">
                <c:v>17.90471744623893</c:v>
              </c:pt>
              <c:pt idx="21">
                <c:v>19.429683551412367</c:v>
              </c:pt>
              <c:pt idx="22">
                <c:v>13.291217045967743</c:v>
              </c:pt>
              <c:pt idx="23">
                <c:v>16.33162711338607</c:v>
              </c:pt>
              <c:pt idx="24">
                <c:v>9.3964829125068352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D-C13F-4286-AE82-B7881EC08107}"/>
            </c:ext>
          </c:extLst>
        </c:ser>
        <c:ser>
          <c:idx val="3"/>
          <c:order val="3"/>
          <c:tx>
            <c:v>Ear &amp; Eye Hygiene Products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E-C13F-4286-AE82-B7881EC0810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F-C13F-4286-AE82-B7881EC0810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0-C13F-4286-AE82-B7881EC0810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1-C13F-4286-AE82-B7881EC0810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2-C13F-4286-AE82-B7881EC0810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3-C13F-4286-AE82-B7881EC0810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4-C13F-4286-AE82-B7881EC0810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5-C13F-4286-AE82-B7881EC08107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6-C13F-4286-AE82-B7881EC08107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7-C13F-4286-AE82-B7881EC08107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8-C13F-4286-AE82-B7881EC08107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9-C13F-4286-AE82-B7881EC08107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A-C13F-4286-AE82-B7881EC08107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B-C13F-4286-AE82-B7881EC08107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C-C13F-4286-AE82-B7881EC08107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D-C13F-4286-AE82-B7881EC08107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E-C13F-4286-AE82-B7881EC08107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F-C13F-4286-AE82-B7881EC08107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0-C13F-4286-AE82-B7881EC08107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1-C13F-4286-AE82-B7881EC08107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2-C13F-4286-AE82-B7881EC08107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3-C13F-4286-AE82-B7881EC08107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4-C13F-4286-AE82-B7881EC08107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5-C13F-4286-AE82-B7881EC08107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6-C13F-4286-AE82-B7881EC0810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9.8980203959208168</c:v>
              </c:pt>
              <c:pt idx="1">
                <c:v>7.9076140144842437</c:v>
              </c:pt>
              <c:pt idx="2">
                <c:v>9.1540568745108271</c:v>
              </c:pt>
              <c:pt idx="3">
                <c:v>7.3297137216189538</c:v>
              </c:pt>
              <c:pt idx="4">
                <c:v>7.801750832733541</c:v>
              </c:pt>
              <c:pt idx="5">
                <c:v>6.763976954520583</c:v>
              </c:pt>
              <c:pt idx="6">
                <c:v>7.2828038404496125</c:v>
              </c:pt>
              <c:pt idx="7">
                <c:v>9.1083146761368035</c:v>
              </c:pt>
              <c:pt idx="8">
                <c:v>7.1301129980836579</c:v>
              </c:pt>
              <c:pt idx="9">
                <c:v>10.562988726029504</c:v>
              </c:pt>
              <c:pt idx="10">
                <c:v>12.87361839774143</c:v>
              </c:pt>
              <c:pt idx="11">
                <c:v>8.4830792518110076</c:v>
              </c:pt>
              <c:pt idx="12">
                <c:v>11.609493102172419</c:v>
              </c:pt>
              <c:pt idx="13">
                <c:v>7.1167601899241557</c:v>
              </c:pt>
              <c:pt idx="14">
                <c:v>7.6204828177171073</c:v>
              </c:pt>
              <c:pt idx="15">
                <c:v>8.9877878071149304</c:v>
              </c:pt>
              <c:pt idx="16">
                <c:v>9.583512048126515</c:v>
              </c:pt>
              <c:pt idx="17">
                <c:v>10.587315993574032</c:v>
              </c:pt>
              <c:pt idx="18">
                <c:v>8.2075586658310691</c:v>
              </c:pt>
              <c:pt idx="19">
                <c:v>12.687325420901788</c:v>
              </c:pt>
              <c:pt idx="20">
                <c:v>9.3148544658189394</c:v>
              </c:pt>
              <c:pt idx="21">
                <c:v>6.4555020497557143</c:v>
              </c:pt>
              <c:pt idx="22">
                <c:v>10.19926732153094</c:v>
              </c:pt>
              <c:pt idx="23">
                <c:v>11.381705776773247</c:v>
              </c:pt>
              <c:pt idx="24">
                <c:v>7.4199609594478879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67-C13F-4286-AE82-B7881EC08107}"/>
            </c:ext>
          </c:extLst>
        </c:ser>
        <c:ser>
          <c:idx val="4"/>
          <c:order val="4"/>
          <c:tx>
            <c:v>Dental &amp; Oral Care Products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8-C13F-4286-AE82-B7881EC0810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9-C13F-4286-AE82-B7881EC0810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A-C13F-4286-AE82-B7881EC0810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B-C13F-4286-AE82-B7881EC0810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C-C13F-4286-AE82-B7881EC0810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D-C13F-4286-AE82-B7881EC0810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E-C13F-4286-AE82-B7881EC0810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F-C13F-4286-AE82-B7881EC08107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0-C13F-4286-AE82-B7881EC08107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1-C13F-4286-AE82-B7881EC08107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2-C13F-4286-AE82-B7881EC08107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3-C13F-4286-AE82-B7881EC08107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4-C13F-4286-AE82-B7881EC08107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5-C13F-4286-AE82-B7881EC08107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6-C13F-4286-AE82-B7881EC08107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7-C13F-4286-AE82-B7881EC08107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8-C13F-4286-AE82-B7881EC08107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9-C13F-4286-AE82-B7881EC08107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A-C13F-4286-AE82-B7881EC08107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B-C13F-4286-AE82-B7881EC08107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C-C13F-4286-AE82-B7881EC08107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D-C13F-4286-AE82-B7881EC08107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E-C13F-4286-AE82-B7881EC08107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F-C13F-4286-AE82-B7881EC08107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0-C13F-4286-AE82-B7881EC0810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12.854571942754307</c:v>
              </c:pt>
              <c:pt idx="1">
                <c:v>8.6983754159326665</c:v>
              </c:pt>
              <c:pt idx="2">
                <c:v>15.108922515001302</c:v>
              </c:pt>
              <c:pt idx="3">
                <c:v>10.322063178677197</c:v>
              </c:pt>
              <c:pt idx="4">
                <c:v>11.40552031200308</c:v>
              </c:pt>
              <c:pt idx="5">
                <c:v>12.641217934275323</c:v>
              </c:pt>
              <c:pt idx="6">
                <c:v>7.709000078057918</c:v>
              </c:pt>
              <c:pt idx="7">
                <c:v>10.081062302169382</c:v>
              </c:pt>
              <c:pt idx="8">
                <c:v>12.198506575034694</c:v>
              </c:pt>
              <c:pt idx="9">
                <c:v>10.333487123067275</c:v>
              </c:pt>
              <c:pt idx="10">
                <c:v>15.005314953879918</c:v>
              </c:pt>
              <c:pt idx="11">
                <c:v>15.080549248567415</c:v>
              </c:pt>
              <c:pt idx="12">
                <c:v>10.958295893017601</c:v>
              </c:pt>
              <c:pt idx="13">
                <c:v>9.3235493617808469</c:v>
              </c:pt>
              <c:pt idx="14">
                <c:v>12.102207251130219</c:v>
              </c:pt>
              <c:pt idx="15">
                <c:v>12.784531682055453</c:v>
              </c:pt>
              <c:pt idx="16">
                <c:v>11.801225158643744</c:v>
              </c:pt>
              <c:pt idx="17">
                <c:v>11.264857624042051</c:v>
              </c:pt>
              <c:pt idx="18">
                <c:v>11.797576770419887</c:v>
              </c:pt>
              <c:pt idx="19">
                <c:v>11.898874317616514</c:v>
              </c:pt>
              <c:pt idx="20">
                <c:v>12.61971052738129</c:v>
              </c:pt>
              <c:pt idx="21">
                <c:v>13.134581905992027</c:v>
              </c:pt>
              <c:pt idx="22">
                <c:v>11.455509387523762</c:v>
              </c:pt>
              <c:pt idx="23">
                <c:v>12.219637040483944</c:v>
              </c:pt>
              <c:pt idx="24">
                <c:v>13.396152023952892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81-C13F-4286-AE82-B7881EC08107}"/>
            </c:ext>
          </c:extLst>
        </c:ser>
        <c:ser>
          <c:idx val="5"/>
          <c:order val="5"/>
          <c:tx>
            <c:v>Fragrance &amp; Deodorizing Products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2-C13F-4286-AE82-B7881EC0810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3-C13F-4286-AE82-B7881EC0810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4-C13F-4286-AE82-B7881EC0810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5-C13F-4286-AE82-B7881EC0810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6-C13F-4286-AE82-B7881EC0810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7-C13F-4286-AE82-B7881EC0810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8-C13F-4286-AE82-B7881EC08107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9-C13F-4286-AE82-B7881EC08107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A-C13F-4286-AE82-B7881EC08107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B-C13F-4286-AE82-B7881EC08107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C-C13F-4286-AE82-B7881EC08107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D-C13F-4286-AE82-B7881EC08107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E-C13F-4286-AE82-B7881EC08107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F-C13F-4286-AE82-B7881EC08107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0-C13F-4286-AE82-B7881EC08107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1-C13F-4286-AE82-B7881EC08107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2-C13F-4286-AE82-B7881EC08107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3-C13F-4286-AE82-B7881EC08107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4-C13F-4286-AE82-B7881EC08107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5-C13F-4286-AE82-B7881EC08107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6-C13F-4286-AE82-B7881EC08107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7-C13F-4286-AE82-B7881EC08107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8-C13F-4286-AE82-B7881EC08107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9-C13F-4286-AE82-B7881EC08107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A-C13F-4286-AE82-B7881EC0810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7.1771360013711538</c:v>
              </c:pt>
              <c:pt idx="1">
                <c:v>7.8214914856136231</c:v>
              </c:pt>
              <c:pt idx="2">
                <c:v>7.1973649882598467</c:v>
              </c:pt>
              <c:pt idx="3">
                <c:v>7.505552813425469</c:v>
              </c:pt>
              <c:pt idx="4">
                <c:v>8.9449810019583875</c:v>
              </c:pt>
              <c:pt idx="5">
                <c:v>11.58067527117062</c:v>
              </c:pt>
              <c:pt idx="6">
                <c:v>6.5272031847630929</c:v>
              </c:pt>
              <c:pt idx="7">
                <c:v>8.347101057670038</c:v>
              </c:pt>
              <c:pt idx="8">
                <c:v>10.387894006475914</c:v>
              </c:pt>
              <c:pt idx="9">
                <c:v>9.0475683477067577</c:v>
              </c:pt>
              <c:pt idx="10">
                <c:v>7.5175164877870362</c:v>
              </c:pt>
              <c:pt idx="11">
                <c:v>11.426100118931776</c:v>
              </c:pt>
              <c:pt idx="12">
                <c:v>8.2964215867646303</c:v>
              </c:pt>
              <c:pt idx="13">
                <c:v>7.8443916877350928</c:v>
              </c:pt>
              <c:pt idx="14">
                <c:v>10.611500162515144</c:v>
              </c:pt>
              <c:pt idx="15">
                <c:v>9.0567442886794147</c:v>
              </c:pt>
              <c:pt idx="16">
                <c:v>9.4773829555577525</c:v>
              </c:pt>
              <c:pt idx="17">
                <c:v>7.0205155334669662</c:v>
              </c:pt>
              <c:pt idx="18">
                <c:v>12.894732260984609</c:v>
              </c:pt>
              <c:pt idx="19">
                <c:v>5.9008190422777318</c:v>
              </c:pt>
              <c:pt idx="20">
                <c:v>7.3770979857907397</c:v>
              </c:pt>
              <c:pt idx="21">
                <c:v>6.6088827427416188</c:v>
              </c:pt>
              <c:pt idx="22">
                <c:v>8.2486500056290204</c:v>
              </c:pt>
              <c:pt idx="23">
                <c:v>8.1601630880365157</c:v>
              </c:pt>
              <c:pt idx="24">
                <c:v>8.7900329491946394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9B-C13F-4286-AE82-B7881EC081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Shampoos &amp; Cleansing Products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106.65394472920214</c:v>
              </c:pt>
            </c:numLit>
          </c:xVal>
          <c:yVal>
            <c:numLit>
              <c:formatCode>General</c:formatCode>
              <c:ptCount val="1"/>
              <c:pt idx="0">
                <c:v>208.3393265534601</c:v>
              </c:pt>
            </c:numLit>
          </c:yVal>
          <c:bubbleSize>
            <c:numLit>
              <c:formatCode>General</c:formatCode>
              <c:ptCount val="1"/>
              <c:pt idx="0">
                <c:v>2054.6390000000001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6D6E-4E62-894B-C0A19C43476B}"/>
            </c:ext>
          </c:extLst>
        </c:ser>
        <c:ser>
          <c:idx val="1"/>
          <c:order val="1"/>
          <c:tx>
            <c:v>Coat Conditioning &amp; Grooming Products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91.712328461177023</c:v>
              </c:pt>
            </c:numLit>
          </c:xVal>
          <c:yVal>
            <c:numLit>
              <c:formatCode>General</c:formatCode>
              <c:ptCount val="1"/>
              <c:pt idx="0">
                <c:v>123.52031439898764</c:v>
              </c:pt>
            </c:numLit>
          </c:yVal>
          <c:bubbleSize>
            <c:numLit>
              <c:formatCode>General</c:formatCode>
              <c:ptCount val="1"/>
              <c:pt idx="0">
                <c:v>1117.913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6D6E-4E62-894B-C0A19C43476B}"/>
            </c:ext>
          </c:extLst>
        </c:ser>
        <c:ser>
          <c:idx val="2"/>
          <c:order val="2"/>
          <c:tx>
            <c:v>Skin, Paw &amp; Nose Care Products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95.93623868655277</c:v>
              </c:pt>
            </c:numLit>
          </c:xVal>
          <c:yVal>
            <c:numLit>
              <c:formatCode>General</c:formatCode>
              <c:ptCount val="1"/>
              <c:pt idx="0">
                <c:v>89.092064426666923</c:v>
              </c:pt>
            </c:numLit>
          </c:yVal>
          <c:bubbleSize>
            <c:numLit>
              <c:formatCode>General</c:formatCode>
              <c:ptCount val="1"/>
              <c:pt idx="0">
                <c:v>826.19799999999998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6D6E-4E62-894B-C0A19C43476B}"/>
            </c:ext>
          </c:extLst>
        </c:ser>
        <c:ser>
          <c:idx val="3"/>
          <c:order val="3"/>
          <c:tx>
            <c:v>Ear &amp; Eye Hygiene Products</c:v>
          </c:tx>
          <c:spPr>
            <a:solidFill>
              <a:srgbClr val="40315E"/>
            </a:solidFill>
          </c:spPr>
          <c:invertIfNegative val="0"/>
          <c:xVal>
            <c:numLit>
              <c:formatCode>General</c:formatCode>
              <c:ptCount val="1"/>
              <c:pt idx="0">
                <c:v>98.536652233428356</c:v>
              </c:pt>
            </c:numLit>
          </c:xVal>
          <c:yVal>
            <c:numLit>
              <c:formatCode>General</c:formatCode>
              <c:ptCount val="1"/>
              <c:pt idx="0">
                <c:v>55.813116856213163</c:v>
              </c:pt>
            </c:numLit>
          </c:yVal>
          <c:bubbleSize>
            <c:numLit>
              <c:formatCode>General</c:formatCode>
              <c:ptCount val="1"/>
              <c:pt idx="0">
                <c:v>525.38699999999994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3-6D6E-4E62-894B-C0A19C43476B}"/>
            </c:ext>
          </c:extLst>
        </c:ser>
        <c:ser>
          <c:idx val="4"/>
          <c:order val="4"/>
          <c:tx>
            <c:v>Dental &amp; Oral Care Products</c:v>
          </c:tx>
          <c:spPr>
            <a:solidFill>
              <a:srgbClr val="A35313"/>
            </a:solidFill>
          </c:spPr>
          <c:invertIfNegative val="0"/>
          <c:xVal>
            <c:numLit>
              <c:formatCode>General</c:formatCode>
              <c:ptCount val="1"/>
              <c:pt idx="0">
                <c:v>103.26519363463005</c:v>
              </c:pt>
            </c:numLit>
          </c:xVal>
          <c:yVal>
            <c:numLit>
              <c:formatCode>General</c:formatCode>
              <c:ptCount val="1"/>
              <c:pt idx="0">
                <c:v>72.11824985494134</c:v>
              </c:pt>
            </c:numLit>
          </c:yVal>
          <c:bubbleSize>
            <c:numLit>
              <c:formatCode>General</c:formatCode>
              <c:ptCount val="1"/>
              <c:pt idx="0">
                <c:v>697.55600000000004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4-6D6E-4E62-894B-C0A19C43476B}"/>
            </c:ext>
          </c:extLst>
        </c:ser>
        <c:ser>
          <c:idx val="5"/>
          <c:order val="5"/>
          <c:tx>
            <c:v>Fragrance &amp; Deodorizing Products</c:v>
          </c:tx>
          <c:spPr>
            <a:solidFill>
              <a:srgbClr val="808080"/>
            </a:solidFill>
          </c:spPr>
          <c:invertIfNegative val="0"/>
          <c:xVal>
            <c:numLit>
              <c:formatCode>General</c:formatCode>
              <c:ptCount val="1"/>
              <c:pt idx="0">
                <c:v>95.924000390811486</c:v>
              </c:pt>
            </c:numLit>
          </c:xVal>
          <c:yVal>
            <c:numLit>
              <c:formatCode>General</c:formatCode>
              <c:ptCount val="1"/>
              <c:pt idx="0">
                <c:v>51.116927909730833</c:v>
              </c:pt>
            </c:numLit>
          </c:yVal>
          <c:bubbleSize>
            <c:numLit>
              <c:formatCode>General</c:formatCode>
              <c:ptCount val="1"/>
              <c:pt idx="0">
                <c:v>474.00099999999998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5-6D6E-4E62-894B-C0A19C4347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"/>
          <c:min val="85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"/>
          <c:min val="0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1094.5360000000001</c:v>
              </c:pt>
              <c:pt idx="2">
                <c:v>1241.7719999999999</c:v>
              </c:pt>
              <c:pt idx="3">
                <c:v>1408.5419999999999</c:v>
              </c:pt>
              <c:pt idx="4">
                <c:v>1596.077</c:v>
              </c:pt>
              <c:pt idx="5">
                <c:v>1811.2329999999999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C283-4F37-BECF-A1B24DFFC995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C283-4F37-BECF-A1B24DFFC995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C283-4F37-BECF-A1B24DFFC995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C283-4F37-BECF-A1B24DFFC995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C283-4F37-BECF-A1B24DFFC995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C283-4F37-BECF-A1B24DFFC995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C283-4F37-BECF-A1B24DFFC995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C283-4F37-BECF-A1B24DFFC995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283-4F37-BECF-A1B24DFFC995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283-4F37-BECF-A1B24DFFC995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283-4F37-BECF-A1B24DFFC995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283-4F37-BECF-A1B24DFFC995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C283-4F37-BECF-A1B24DFFC995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283-4F37-BECF-A1B24DFFC995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283-4F37-BECF-A1B24DFFC995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1094.5360000000001</c:v>
              </c:pt>
              <c:pt idx="1">
                <c:v>147.23599999999988</c:v>
              </c:pt>
              <c:pt idx="2">
                <c:v>166.76999999999998</c:v>
              </c:pt>
              <c:pt idx="3">
                <c:v>187.53500000000008</c:v>
              </c:pt>
              <c:pt idx="4">
                <c:v>215.15599999999995</c:v>
              </c:pt>
              <c:pt idx="5">
                <c:v>243.40600000000018</c:v>
              </c:pt>
              <c:pt idx="6">
                <c:v>2054.6390000000001</c:v>
              </c:pt>
            </c:numLit>
          </c:val>
          <c:extLst>
            <c:ext xmlns:c16="http://schemas.microsoft.com/office/drawing/2014/chart" uri="{C3380CC4-5D6E-409C-BE32-E72D297353CC}">
              <c16:uniqueId val="{0000000F-C283-4F37-BECF-A1B24DFFC9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648.92899999999997</c:v>
              </c:pt>
              <c:pt idx="2">
                <c:v>722.66499999999996</c:v>
              </c:pt>
              <c:pt idx="3">
                <c:v>805.44499999999994</c:v>
              </c:pt>
              <c:pt idx="4">
                <c:v>897.35599999999999</c:v>
              </c:pt>
              <c:pt idx="5">
                <c:v>1001.741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9374-4CCB-B650-CD71AF0E8DA4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9374-4CCB-B650-CD71AF0E8DA4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9374-4CCB-B650-CD71AF0E8DA4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9374-4CCB-B650-CD71AF0E8DA4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9374-4CCB-B650-CD71AF0E8DA4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9374-4CCB-B650-CD71AF0E8DA4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9374-4CCB-B650-CD71AF0E8DA4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9374-4CCB-B650-CD71AF0E8DA4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374-4CCB-B650-CD71AF0E8DA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9374-4CCB-B650-CD71AF0E8DA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9374-4CCB-B650-CD71AF0E8DA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9374-4CCB-B650-CD71AF0E8DA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9374-4CCB-B650-CD71AF0E8DA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9374-4CCB-B650-CD71AF0E8DA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9374-4CCB-B650-CD71AF0E8DA4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648.92899999999997</c:v>
              </c:pt>
              <c:pt idx="1">
                <c:v>73.73599999999999</c:v>
              </c:pt>
              <c:pt idx="2">
                <c:v>82.779999999999973</c:v>
              </c:pt>
              <c:pt idx="3">
                <c:v>91.911000000000058</c:v>
              </c:pt>
              <c:pt idx="4">
                <c:v>104.38499999999999</c:v>
              </c:pt>
              <c:pt idx="5">
                <c:v>116.17200000000003</c:v>
              </c:pt>
              <c:pt idx="6">
                <c:v>1117.913</c:v>
              </c:pt>
            </c:numLit>
          </c:val>
          <c:extLst>
            <c:ext xmlns:c16="http://schemas.microsoft.com/office/drawing/2014/chart" uri="{C3380CC4-5D6E-409C-BE32-E72D297353CC}">
              <c16:uniqueId val="{0000000F-9374-4CCB-B650-CD71AF0E8DA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468.05599999999998</c:v>
              </c:pt>
              <c:pt idx="2">
                <c:v>523.875</c:v>
              </c:pt>
              <c:pt idx="3">
                <c:v>586.65200000000004</c:v>
              </c:pt>
              <c:pt idx="4">
                <c:v>656.798</c:v>
              </c:pt>
              <c:pt idx="5">
                <c:v>736.8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8625-4824-988E-E0CBE6A0BFA6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8625-4824-988E-E0CBE6A0BFA6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8625-4824-988E-E0CBE6A0BFA6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8625-4824-988E-E0CBE6A0BFA6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8625-4824-988E-E0CBE6A0BFA6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8625-4824-988E-E0CBE6A0BFA6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8625-4824-988E-E0CBE6A0BFA6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8625-4824-988E-E0CBE6A0BFA6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625-4824-988E-E0CBE6A0BFA6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625-4824-988E-E0CBE6A0BFA6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625-4824-988E-E0CBE6A0BFA6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625-4824-988E-E0CBE6A0BFA6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625-4824-988E-E0CBE6A0BFA6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625-4824-988E-E0CBE6A0BFA6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8625-4824-988E-E0CBE6A0BFA6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468.05599999999998</c:v>
              </c:pt>
              <c:pt idx="1">
                <c:v>55.819000000000017</c:v>
              </c:pt>
              <c:pt idx="2">
                <c:v>62.777000000000044</c:v>
              </c:pt>
              <c:pt idx="3">
                <c:v>70.145999999999958</c:v>
              </c:pt>
              <c:pt idx="4">
                <c:v>80.001999999999953</c:v>
              </c:pt>
              <c:pt idx="5">
                <c:v>89.398000000000025</c:v>
              </c:pt>
              <c:pt idx="6">
                <c:v>826.19799999999998</c:v>
              </c:pt>
            </c:numLit>
          </c:val>
          <c:extLst>
            <c:ext xmlns:c16="http://schemas.microsoft.com/office/drawing/2014/chart" uri="{C3380CC4-5D6E-409C-BE32-E72D297353CC}">
              <c16:uniqueId val="{0000000F-8625-4824-988E-E0CBE6A0BFA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293.221</c:v>
              </c:pt>
              <c:pt idx="2">
                <c:v>329.036</c:v>
              </c:pt>
              <c:pt idx="3">
                <c:v>369.48099999999999</c:v>
              </c:pt>
              <c:pt idx="4">
                <c:v>414.93200000000002</c:v>
              </c:pt>
              <c:pt idx="5">
                <c:v>466.96400000000006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5CF5-42D9-B763-8804CF357B11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5CF5-42D9-B763-8804CF357B11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5CF5-42D9-B763-8804CF357B11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5CF5-42D9-B763-8804CF357B11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5CF5-42D9-B763-8804CF357B11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5CF5-42D9-B763-8804CF357B11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5CF5-42D9-B763-8804CF357B11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5CF5-42D9-B763-8804CF357B11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CF5-42D9-B763-8804CF357B11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CF5-42D9-B763-8804CF357B11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CF5-42D9-B763-8804CF357B11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5CF5-42D9-B763-8804CF357B11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5CF5-42D9-B763-8804CF357B11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5CF5-42D9-B763-8804CF357B11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CF5-42D9-B763-8804CF357B11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293.221</c:v>
              </c:pt>
              <c:pt idx="1">
                <c:v>35.814999999999998</c:v>
              </c:pt>
              <c:pt idx="2">
                <c:v>40.444999999999993</c:v>
              </c:pt>
              <c:pt idx="3">
                <c:v>45.451000000000022</c:v>
              </c:pt>
              <c:pt idx="4">
                <c:v>52.032000000000039</c:v>
              </c:pt>
              <c:pt idx="5">
                <c:v>58.422999999999888</c:v>
              </c:pt>
              <c:pt idx="6">
                <c:v>525.38699999999994</c:v>
              </c:pt>
            </c:numLit>
          </c:val>
          <c:extLst>
            <c:ext xmlns:c16="http://schemas.microsoft.com/office/drawing/2014/chart" uri="{C3380CC4-5D6E-409C-BE32-E72D297353CC}">
              <c16:uniqueId val="{0000000F-5CF5-42D9-B763-8804CF357B1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378.88200000000001</c:v>
              </c:pt>
              <c:pt idx="2">
                <c:v>427.91399999999999</c:v>
              </c:pt>
              <c:pt idx="3">
                <c:v>483.33299999999997</c:v>
              </c:pt>
              <c:pt idx="4">
                <c:v>545.596</c:v>
              </c:pt>
              <c:pt idx="5">
                <c:v>617.02699999999993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7557-4E60-8EEA-D2DF33892CCB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7557-4E60-8EEA-D2DF33892CCB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7557-4E60-8EEA-D2DF33892CCB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7557-4E60-8EEA-D2DF33892CCB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7557-4E60-8EEA-D2DF33892CCB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7557-4E60-8EEA-D2DF33892CCB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7557-4E60-8EEA-D2DF33892CCB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7557-4E60-8EEA-D2DF33892CCB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557-4E60-8EEA-D2DF33892CC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557-4E60-8EEA-D2DF33892CC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557-4E60-8EEA-D2DF33892CC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557-4E60-8EEA-D2DF33892CC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7557-4E60-8EEA-D2DF33892CC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557-4E60-8EEA-D2DF33892CCB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7557-4E60-8EEA-D2DF33892CCB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378.88200000000001</c:v>
              </c:pt>
              <c:pt idx="1">
                <c:v>49.031999999999982</c:v>
              </c:pt>
              <c:pt idx="2">
                <c:v>55.418999999999983</c:v>
              </c:pt>
              <c:pt idx="3">
                <c:v>62.263000000000034</c:v>
              </c:pt>
              <c:pt idx="4">
                <c:v>71.430999999999926</c:v>
              </c:pt>
              <c:pt idx="5">
                <c:v>80.52900000000011</c:v>
              </c:pt>
              <c:pt idx="6">
                <c:v>697.55600000000004</c:v>
              </c:pt>
            </c:numLit>
          </c:val>
          <c:extLst>
            <c:ext xmlns:c16="http://schemas.microsoft.com/office/drawing/2014/chart" uri="{C3380CC4-5D6E-409C-BE32-E72D297353CC}">
              <c16:uniqueId val="{0000000F-7557-4E60-8EEA-D2DF33892C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268.54899999999998</c:v>
              </c:pt>
              <c:pt idx="2">
                <c:v>300.52800000000002</c:v>
              </c:pt>
              <c:pt idx="3">
                <c:v>336.56899999999996</c:v>
              </c:pt>
              <c:pt idx="4">
                <c:v>376.71199999999999</c:v>
              </c:pt>
              <c:pt idx="5">
                <c:v>422.60599999999999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6E93-4A72-85C0-0F7BDF53C75A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6E93-4A72-85C0-0F7BDF53C75A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6E93-4A72-85C0-0F7BDF53C75A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6E93-4A72-85C0-0F7BDF53C75A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6E93-4A72-85C0-0F7BDF53C75A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6E93-4A72-85C0-0F7BDF53C75A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6E93-4A72-85C0-0F7BDF53C75A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6E93-4A72-85C0-0F7BDF53C75A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E93-4A72-85C0-0F7BDF53C75A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E93-4A72-85C0-0F7BDF53C75A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E93-4A72-85C0-0F7BDF53C75A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E93-4A72-85C0-0F7BDF53C75A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E93-4A72-85C0-0F7BDF53C75A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6E93-4A72-85C0-0F7BDF53C75A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6E93-4A72-85C0-0F7BDF53C75A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268.54899999999998</c:v>
              </c:pt>
              <c:pt idx="1">
                <c:v>31.979000000000042</c:v>
              </c:pt>
              <c:pt idx="2">
                <c:v>36.04099999999994</c:v>
              </c:pt>
              <c:pt idx="3">
                <c:v>40.143000000000029</c:v>
              </c:pt>
              <c:pt idx="4">
                <c:v>45.894000000000005</c:v>
              </c:pt>
              <c:pt idx="5">
                <c:v>51.394999999999982</c:v>
              </c:pt>
              <c:pt idx="6">
                <c:v>474.00099999999998</c:v>
              </c:pt>
            </c:numLit>
          </c:val>
          <c:extLst>
            <c:ext xmlns:c16="http://schemas.microsoft.com/office/drawing/2014/chart" uri="{C3380CC4-5D6E-409C-BE32-E72D297353CC}">
              <c16:uniqueId val="{0000000F-6E93-4A72-85C0-0F7BDF53C75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Shampoos &amp; Cleansing Products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9C52-4338-B85F-C63FC0F48FE9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C52-4338-B85F-C63FC0F48FE9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C52-4338-B85F-C63FC0F48FE9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33.966663787891868</c:v>
              </c:pt>
              <c:pt idx="1">
                <c:v>34.723221092243357</c:v>
              </c:pt>
              <c:pt idx="2">
                <c:v>36.073549597292271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9C52-4338-B85F-C63FC0F48FE9}"/>
            </c:ext>
          </c:extLst>
        </c:ser>
        <c:ser>
          <c:idx val="1"/>
          <c:order val="1"/>
          <c:tx>
            <c:v>Coat Conditioning &amp; Grooming Products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9C52-4338-B85F-C63FC0F48FE9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9C52-4338-B85F-C63FC0F48FE9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9C52-4338-B85F-C63FC0F48FE9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21.106185054530744</c:v>
              </c:pt>
              <c:pt idx="1">
                <c:v>20.586719066497938</c:v>
              </c:pt>
              <c:pt idx="2">
                <c:v>19.627336019104959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9C52-4338-B85F-C63FC0F48FE9}"/>
            </c:ext>
          </c:extLst>
        </c:ser>
        <c:ser>
          <c:idx val="2"/>
          <c:order val="2"/>
          <c:tx>
            <c:v>Skin, Paw &amp; Nose Care Products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9C52-4338-B85F-C63FC0F48FE9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9C52-4338-B85F-C63FC0F48FE9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9C52-4338-B85F-C63FC0F48FE9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15.038444040130397</c:v>
              </c:pt>
              <c:pt idx="1">
                <c:v>14.848677404444491</c:v>
              </c:pt>
              <c:pt idx="2">
                <c:v>14.505659889734243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9C52-4338-B85F-C63FC0F48FE9}"/>
            </c:ext>
          </c:extLst>
        </c:ser>
        <c:ser>
          <c:idx val="3"/>
          <c:order val="3"/>
          <c:tx>
            <c:v>Dental &amp; Oral Care Products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9C52-4338-B85F-C63FC0F48FE9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9C52-4338-B85F-C63FC0F48FE9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9C52-4338-B85F-C63FC0F48FE9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11.906970670794472</c:v>
              </c:pt>
              <c:pt idx="1">
                <c:v>12.01970830915689</c:v>
              </c:pt>
              <c:pt idx="2">
                <c:v>12.247076475667408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F-9C52-4338-B85F-C63FC0F48FE9}"/>
            </c:ext>
          </c:extLst>
        </c:ser>
        <c:ser>
          <c:idx val="4"/>
          <c:order val="4"/>
          <c:tx>
            <c:v>Ear &amp; Eye Hygiene Products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9C52-4338-B85F-C63FC0F48FE9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9C52-4338-B85F-C63FC0F48FE9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9C52-4338-B85F-C63FC0F48FE9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9.3588004352046319</c:v>
              </c:pt>
              <c:pt idx="1">
                <c:v>9.3021861427021939</c:v>
              </c:pt>
              <c:pt idx="2">
                <c:v>9.2242841697605229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3-9C52-4338-B85F-C63FC0F48FE9}"/>
            </c:ext>
          </c:extLst>
        </c:ser>
        <c:ser>
          <c:idx val="5"/>
          <c:order val="5"/>
          <c:tx>
            <c:v>Fragrance &amp; Deodorizing Products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9C52-4338-B85F-C63FC0F48FE9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9C52-4338-B85F-C63FC0F48FE9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9C52-4338-B85F-C63FC0F48FE9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8.6229360114478819</c:v>
              </c:pt>
              <c:pt idx="1">
                <c:v>8.5194879849551395</c:v>
              </c:pt>
              <c:pt idx="2">
                <c:v>8.3220938484405931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7-9C52-4338-B85F-C63FC0F48F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Regular / Established Ingredients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2C12-4939-97D3-B320D2D58B80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C12-4939-97D3-B320D2D58B80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C12-4939-97D3-B320D2D58B80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C12-4939-97D3-B320D2D58B80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C12-4939-97D3-B320D2D58B80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C12-4939-97D3-B320D2D58B80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C12-4939-97D3-B320D2D58B80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C12-4939-97D3-B320D2D58B80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C12-4939-97D3-B320D2D58B80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2C12-4939-97D3-B320D2D58B80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C12-4939-97D3-B320D2D58B80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C12-4939-97D3-B320D2D58B80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C12-4939-97D3-B320D2D58B80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C12-4939-97D3-B320D2D58B80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2C12-4939-97D3-B320D2D58B80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2C12-4939-97D3-B320D2D58B80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2C12-4939-97D3-B320D2D58B80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2C12-4939-97D3-B320D2D58B80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2C12-4939-97D3-B320D2D58B80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2C12-4939-97D3-B320D2D58B80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2C12-4939-97D3-B320D2D58B80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2C12-4939-97D3-B320D2D58B80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2C12-4939-97D3-B320D2D58B80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2C12-4939-97D3-B320D2D58B80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2C12-4939-97D3-B320D2D58B80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54.162917255859789</c:v>
              </c:pt>
              <c:pt idx="1">
                <c:v>56.58131704643332</c:v>
              </c:pt>
              <c:pt idx="2">
                <c:v>50.502250342443411</c:v>
              </c:pt>
              <c:pt idx="3">
                <c:v>62.739108971985679</c:v>
              </c:pt>
              <c:pt idx="4">
                <c:v>56.748296814582957</c:v>
              </c:pt>
              <c:pt idx="5">
                <c:v>61.618307343214404</c:v>
              </c:pt>
              <c:pt idx="6">
                <c:v>44.677927998251469</c:v>
              </c:pt>
              <c:pt idx="7">
                <c:v>53.174603174603178</c:v>
              </c:pt>
              <c:pt idx="8">
                <c:v>65.317315571062295</c:v>
              </c:pt>
              <c:pt idx="9">
                <c:v>59.932807306022497</c:v>
              </c:pt>
              <c:pt idx="10">
                <c:v>62.972191425403757</c:v>
              </c:pt>
              <c:pt idx="11">
                <c:v>58.936931676884321</c:v>
              </c:pt>
              <c:pt idx="12">
                <c:v>64.371643621294766</c:v>
              </c:pt>
              <c:pt idx="13">
                <c:v>47.000107909787417</c:v>
              </c:pt>
              <c:pt idx="14">
                <c:v>53.008265805860674</c:v>
              </c:pt>
              <c:pt idx="15">
                <c:v>59.406548242952503</c:v>
              </c:pt>
              <c:pt idx="16">
                <c:v>55.844798574680787</c:v>
              </c:pt>
              <c:pt idx="17">
                <c:v>59.283921975936593</c:v>
              </c:pt>
              <c:pt idx="18">
                <c:v>66.982922201138521</c:v>
              </c:pt>
              <c:pt idx="19">
                <c:v>58.839789065800396</c:v>
              </c:pt>
              <c:pt idx="20">
                <c:v>53.780381789384677</c:v>
              </c:pt>
              <c:pt idx="21">
                <c:v>59.713805866032075</c:v>
              </c:pt>
              <c:pt idx="22">
                <c:v>57.439724424936337</c:v>
              </c:pt>
              <c:pt idx="23">
                <c:v>58.211968149048445</c:v>
              </c:pt>
              <c:pt idx="24">
                <c:v>56.368752054626761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9-2C12-4939-97D3-B320D2D58B80}"/>
            </c:ext>
          </c:extLst>
        </c:ser>
        <c:ser>
          <c:idx val="1"/>
          <c:order val="1"/>
          <c:tx>
            <c:v>Niche / Specialized Ingredients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2C12-4939-97D3-B320D2D58B80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2C12-4939-97D3-B320D2D58B80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2C12-4939-97D3-B320D2D58B80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2C12-4939-97D3-B320D2D58B80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2C12-4939-97D3-B320D2D58B80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2C12-4939-97D3-B320D2D58B80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2C12-4939-97D3-B320D2D58B80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2C12-4939-97D3-B320D2D58B80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2C12-4939-97D3-B320D2D58B80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2C12-4939-97D3-B320D2D58B80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2C12-4939-97D3-B320D2D58B80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2C12-4939-97D3-B320D2D58B80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2C12-4939-97D3-B320D2D58B80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2C12-4939-97D3-B320D2D58B80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2C12-4939-97D3-B320D2D58B80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2C12-4939-97D3-B320D2D58B80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2C12-4939-97D3-B320D2D58B80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2C12-4939-97D3-B320D2D58B80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2C12-4939-97D3-B320D2D58B80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2C12-4939-97D3-B320D2D58B80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2C12-4939-97D3-B320D2D58B80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F-2C12-4939-97D3-B320D2D58B80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2C12-4939-97D3-B320D2D58B80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2C12-4939-97D3-B320D2D58B80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2-2C12-4939-97D3-B320D2D58B80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28.731199382954109</c:v>
              </c:pt>
              <c:pt idx="1">
                <c:v>28.29848876360504</c:v>
              </c:pt>
              <c:pt idx="2">
                <c:v>31.524362402974365</c:v>
              </c:pt>
              <c:pt idx="3">
                <c:v>24.318153770208561</c:v>
              </c:pt>
              <c:pt idx="4">
                <c:v>27.96571868565977</c:v>
              </c:pt>
              <c:pt idx="5">
                <c:v>27.28560163504401</c:v>
              </c:pt>
              <c:pt idx="6">
                <c:v>42.414213007774684</c:v>
              </c:pt>
              <c:pt idx="7">
                <c:v>36.171329751096287</c:v>
              </c:pt>
              <c:pt idx="8">
                <c:v>25.041630322734115</c:v>
              </c:pt>
              <c:pt idx="9">
                <c:v>23.21341961127607</c:v>
              </c:pt>
              <c:pt idx="10">
                <c:v>27.58340857916814</c:v>
              </c:pt>
              <c:pt idx="11">
                <c:v>26.68915631386033</c:v>
              </c:pt>
              <c:pt idx="12">
                <c:v>25.680789885407414</c:v>
              </c:pt>
              <c:pt idx="13">
                <c:v>39.766298231821054</c:v>
              </c:pt>
              <c:pt idx="14">
                <c:v>34.795423151643192</c:v>
              </c:pt>
              <c:pt idx="15">
                <c:v>31.357919126165395</c:v>
              </c:pt>
              <c:pt idx="16">
                <c:v>28.309523023964278</c:v>
              </c:pt>
              <c:pt idx="17">
                <c:v>28.570804556418931</c:v>
              </c:pt>
              <c:pt idx="18">
                <c:v>25.402572985394212</c:v>
              </c:pt>
              <c:pt idx="19">
                <c:v>28.349017437032938</c:v>
              </c:pt>
              <c:pt idx="20">
                <c:v>33.05776856846844</c:v>
              </c:pt>
              <c:pt idx="21">
                <c:v>23.514143865726727</c:v>
              </c:pt>
              <c:pt idx="22">
                <c:v>29.825151659454647</c:v>
              </c:pt>
              <c:pt idx="23">
                <c:v>25.504027902266728</c:v>
              </c:pt>
              <c:pt idx="24">
                <c:v>31.371921282817627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3-2C12-4939-97D3-B320D2D58B80}"/>
            </c:ext>
          </c:extLst>
        </c:ser>
        <c:ser>
          <c:idx val="2"/>
          <c:order val="2"/>
          <c:tx>
            <c:v>Emerging Ingredients / Innovation Candidates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2C12-4939-97D3-B320D2D58B80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2C12-4939-97D3-B320D2D58B80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2C12-4939-97D3-B320D2D58B80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2C12-4939-97D3-B320D2D58B80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2C12-4939-97D3-B320D2D58B80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2C12-4939-97D3-B320D2D58B80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2C12-4939-97D3-B320D2D58B80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2C12-4939-97D3-B320D2D58B80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2C12-4939-97D3-B320D2D58B80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2C12-4939-97D3-B320D2D58B80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2C12-4939-97D3-B320D2D58B80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F-2C12-4939-97D3-B320D2D58B80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2C12-4939-97D3-B320D2D58B80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2C12-4939-97D3-B320D2D58B80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2C12-4939-97D3-B320D2D58B80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3-2C12-4939-97D3-B320D2D58B80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4-2C12-4939-97D3-B320D2D58B80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2C12-4939-97D3-B320D2D58B80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2C12-4939-97D3-B320D2D58B80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7-2C12-4939-97D3-B320D2D58B80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2C12-4939-97D3-B320D2D58B80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2C12-4939-97D3-B320D2D58B80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A-2C12-4939-97D3-B320D2D58B80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B-2C12-4939-97D3-B320D2D58B80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C-2C12-4939-97D3-B320D2D58B80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17.105883361186098</c:v>
              </c:pt>
              <c:pt idx="1">
                <c:v>15.12019418996163</c:v>
              </c:pt>
              <c:pt idx="2">
                <c:v>17.973387254582221</c:v>
              </c:pt>
              <c:pt idx="3">
                <c:v>12.942737257805751</c:v>
              </c:pt>
              <c:pt idx="4">
                <c:v>15.285984499757285</c:v>
              </c:pt>
              <c:pt idx="5">
                <c:v>11.096091021741579</c:v>
              </c:pt>
              <c:pt idx="6">
                <c:v>12.907858993973836</c:v>
              </c:pt>
              <c:pt idx="7">
                <c:v>10.654067074300535</c:v>
              </c:pt>
              <c:pt idx="8">
                <c:v>9.6410541062035762</c:v>
              </c:pt>
              <c:pt idx="9">
                <c:v>16.85377308270143</c:v>
              </c:pt>
              <c:pt idx="10">
                <c:v>9.4443999954281015</c:v>
              </c:pt>
              <c:pt idx="11">
                <c:v>14.373912009255358</c:v>
              </c:pt>
              <c:pt idx="12">
                <c:v>9.9475664932978134</c:v>
              </c:pt>
              <c:pt idx="13">
                <c:v>13.233593858391529</c:v>
              </c:pt>
              <c:pt idx="14">
                <c:v>12.196311042496141</c:v>
              </c:pt>
              <c:pt idx="15">
                <c:v>9.2355326308821102</c:v>
              </c:pt>
              <c:pt idx="16">
                <c:v>15.845678401354931</c:v>
              </c:pt>
              <c:pt idx="17">
                <c:v>12.145273467644477</c:v>
              </c:pt>
              <c:pt idx="18">
                <c:v>7.6145048134672644</c:v>
              </c:pt>
              <c:pt idx="19">
                <c:v>12.811193497166663</c:v>
              </c:pt>
              <c:pt idx="20">
                <c:v>13.16184964214688</c:v>
              </c:pt>
              <c:pt idx="21">
                <c:v>16.772050268241191</c:v>
              </c:pt>
              <c:pt idx="22">
                <c:v>12.735123915609019</c:v>
              </c:pt>
              <c:pt idx="23">
                <c:v>16.284003948684823</c:v>
              </c:pt>
              <c:pt idx="24">
                <c:v>12.259326662555623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D-2C12-4939-97D3-B320D2D58B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Regular / Established Ingredients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100.72868302943618</c:v>
              </c:pt>
            </c:numLit>
          </c:xVal>
          <c:yVal>
            <c:numLit>
              <c:formatCode>General</c:formatCode>
              <c:ptCount val="1"/>
              <c:pt idx="0">
                <c:v>172.40128939787178</c:v>
              </c:pt>
            </c:numLit>
          </c:yVal>
          <c:bubbleSize>
            <c:numLit>
              <c:formatCode>General</c:formatCode>
              <c:ptCount val="1"/>
              <c:pt idx="0">
                <c:v>3286.8760000000002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ACB7-4AE1-9F1F-CA29E3EB4000}"/>
            </c:ext>
          </c:extLst>
        </c:ser>
        <c:ser>
          <c:idx val="1"/>
          <c:order val="1"/>
          <c:tx>
            <c:v>Niche / Specialized Ingredients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98.382921656520878</c:v>
              </c:pt>
            </c:numLit>
          </c:xVal>
          <c:yVal>
            <c:numLit>
              <c:formatCode>General</c:formatCode>
              <c:ptCount val="1"/>
              <c:pt idx="0">
                <c:v>87.380498951674241</c:v>
              </c:pt>
            </c:numLit>
          </c:yVal>
          <c:bubbleSize>
            <c:numLit>
              <c:formatCode>General</c:formatCode>
              <c:ptCount val="1"/>
              <c:pt idx="0">
                <c:v>1643.6279999999999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ACB7-4AE1-9F1F-CA29E3EB4000}"/>
            </c:ext>
          </c:extLst>
        </c:ser>
        <c:ser>
          <c:idx val="2"/>
          <c:order val="2"/>
          <c:tx>
            <c:v>Emerging Ingredients / Innovation Candidates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100.368861424873</c:v>
              </c:pt>
            </c:numLit>
          </c:xVal>
          <c:yVal>
            <c:numLit>
              <c:formatCode>General</c:formatCode>
              <c:ptCount val="1"/>
              <c:pt idx="0">
                <c:v>40.21821165045403</c:v>
              </c:pt>
            </c:numLit>
          </c:yVal>
          <c:bubbleSize>
            <c:numLit>
              <c:formatCode>General</c:formatCode>
              <c:ptCount val="1"/>
              <c:pt idx="0">
                <c:v>765.18799999999999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ACB7-4AE1-9F1F-CA29E3EB400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"/>
          <c:min val="90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"/>
          <c:min val="0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1811.46</c:v>
              </c:pt>
              <c:pt idx="2">
                <c:v>2039.769</c:v>
              </c:pt>
              <c:pt idx="3">
                <c:v>2297.4879999999998</c:v>
              </c:pt>
              <c:pt idx="4">
                <c:v>2586.0949999999998</c:v>
              </c:pt>
              <c:pt idx="5">
                <c:v>2915.9340000000002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6626-4835-A397-A6CE19478308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6626-4835-A397-A6CE19478308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6626-4835-A397-A6CE19478308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6626-4835-A397-A6CE19478308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6626-4835-A397-A6CE19478308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6626-4835-A397-A6CE19478308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6626-4835-A397-A6CE19478308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6626-4835-A397-A6CE19478308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626-4835-A397-A6CE19478308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626-4835-A397-A6CE19478308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626-4835-A397-A6CE19478308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626-4835-A397-A6CE19478308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626-4835-A397-A6CE19478308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6626-4835-A397-A6CE19478308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6626-4835-A397-A6CE19478308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1811.46</c:v>
              </c:pt>
              <c:pt idx="1">
                <c:v>228.30899999999997</c:v>
              </c:pt>
              <c:pt idx="2">
                <c:v>257.71899999999982</c:v>
              </c:pt>
              <c:pt idx="3">
                <c:v>288.60699999999997</c:v>
              </c:pt>
              <c:pt idx="4">
                <c:v>329.8390000000004</c:v>
              </c:pt>
              <c:pt idx="5">
                <c:v>370.94200000000001</c:v>
              </c:pt>
              <c:pt idx="6">
                <c:v>3286.8760000000002</c:v>
              </c:pt>
            </c:numLit>
          </c:val>
          <c:extLst>
            <c:ext xmlns:c16="http://schemas.microsoft.com/office/drawing/2014/chart" uri="{C3380CC4-5D6E-409C-BE32-E72D297353CC}">
              <c16:uniqueId val="{0000000F-6626-4835-A397-A6CE1947830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918.12699999999995</c:v>
              </c:pt>
              <c:pt idx="2">
                <c:v>1030.617</c:v>
              </c:pt>
              <c:pt idx="3">
                <c:v>1157.527</c:v>
              </c:pt>
              <c:pt idx="4">
                <c:v>1299.451</c:v>
              </c:pt>
              <c:pt idx="5">
                <c:v>1461.6370000000002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2E80-4FF1-B446-AF4BAE762994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2E80-4FF1-B446-AF4BAE762994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2E80-4FF1-B446-AF4BAE762994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2E80-4FF1-B446-AF4BAE762994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2E80-4FF1-B446-AF4BAE762994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2E80-4FF1-B446-AF4BAE762994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2E80-4FF1-B446-AF4BAE762994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2E80-4FF1-B446-AF4BAE762994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E80-4FF1-B446-AF4BAE76299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E80-4FF1-B446-AF4BAE76299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E80-4FF1-B446-AF4BAE76299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E80-4FF1-B446-AF4BAE76299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E80-4FF1-B446-AF4BAE76299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E80-4FF1-B446-AF4BAE76299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2E80-4FF1-B446-AF4BAE762994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918.12699999999995</c:v>
              </c:pt>
              <c:pt idx="1">
                <c:v>112.49000000000001</c:v>
              </c:pt>
              <c:pt idx="2">
                <c:v>126.91000000000008</c:v>
              </c:pt>
              <c:pt idx="3">
                <c:v>141.92399999999998</c:v>
              </c:pt>
              <c:pt idx="4">
                <c:v>162.18600000000015</c:v>
              </c:pt>
              <c:pt idx="5">
                <c:v>181.99099999999976</c:v>
              </c:pt>
              <c:pt idx="6">
                <c:v>1643.6279999999999</c:v>
              </c:pt>
            </c:numLit>
          </c:val>
          <c:extLst>
            <c:ext xmlns:c16="http://schemas.microsoft.com/office/drawing/2014/chart" uri="{C3380CC4-5D6E-409C-BE32-E72D297353CC}">
              <c16:uniqueId val="{0000000F-2E80-4FF1-B446-AF4BAE76299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422.58199999999999</c:v>
              </c:pt>
              <c:pt idx="2">
                <c:v>475.40300000000002</c:v>
              </c:pt>
              <c:pt idx="3">
                <c:v>535.00599999999997</c:v>
              </c:pt>
              <c:pt idx="4">
                <c:v>601.92600000000004</c:v>
              </c:pt>
              <c:pt idx="5">
                <c:v>678.803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3175-4B5A-884E-228CF53CF1B5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3175-4B5A-884E-228CF53CF1B5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3175-4B5A-884E-228CF53CF1B5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3175-4B5A-884E-228CF53CF1B5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3175-4B5A-884E-228CF53CF1B5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3175-4B5A-884E-228CF53CF1B5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3175-4B5A-884E-228CF53CF1B5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3175-4B5A-884E-228CF53CF1B5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3175-4B5A-884E-228CF53CF1B5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175-4B5A-884E-228CF53CF1B5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3175-4B5A-884E-228CF53CF1B5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3175-4B5A-884E-228CF53CF1B5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3175-4B5A-884E-228CF53CF1B5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3175-4B5A-884E-228CF53CF1B5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3175-4B5A-884E-228CF53CF1B5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422.58199999999999</c:v>
              </c:pt>
              <c:pt idx="1">
                <c:v>52.821000000000026</c:v>
              </c:pt>
              <c:pt idx="2">
                <c:v>59.602999999999952</c:v>
              </c:pt>
              <c:pt idx="3">
                <c:v>66.920000000000073</c:v>
              </c:pt>
              <c:pt idx="4">
                <c:v>76.876999999999953</c:v>
              </c:pt>
              <c:pt idx="5">
                <c:v>86.384999999999991</c:v>
              </c:pt>
              <c:pt idx="6">
                <c:v>765.18799999999999</c:v>
              </c:pt>
            </c:numLit>
          </c:val>
          <c:extLst>
            <c:ext xmlns:c16="http://schemas.microsoft.com/office/drawing/2014/chart" uri="{C3380CC4-5D6E-409C-BE32-E72D297353CC}">
              <c16:uniqueId val="{0000000F-3175-4B5A-884E-228CF53CF1B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Regular / Established Ingredients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39E5-4E97-BD11-8DD64C4029B8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39E5-4E97-BD11-8DD64C4029B8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39E5-4E97-BD11-8DD64C4029B8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57.278027776744722</c:v>
              </c:pt>
              <c:pt idx="1">
                <c:v>57.467096465957255</c:v>
              </c:pt>
              <c:pt idx="2">
                <c:v>57.708106407439175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39E5-4E97-BD11-8DD64C4029B8}"/>
            </c:ext>
          </c:extLst>
        </c:ser>
        <c:ser>
          <c:idx val="1"/>
          <c:order val="1"/>
          <c:tx>
            <c:v>Niche / Specialized Ingredients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9E5-4E97-BD11-8DD64C4029B8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39E5-4E97-BD11-8DD64C4029B8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39E5-4E97-BD11-8DD64C4029B8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29.305374771178627</c:v>
              </c:pt>
              <c:pt idx="1">
                <c:v>29.126832983891411</c:v>
              </c:pt>
              <c:pt idx="2">
                <c:v>28.857389058256661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39E5-4E97-BD11-8DD64C4029B8}"/>
            </c:ext>
          </c:extLst>
        </c:ser>
        <c:ser>
          <c:idx val="2"/>
          <c:order val="2"/>
          <c:tx>
            <c:v>Emerging Ingredients / Innovation Candidates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39E5-4E97-BD11-8DD64C4029B8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39E5-4E97-BD11-8DD64C4029B8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39E5-4E97-BD11-8DD64C4029B8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13.416597452076642</c:v>
              </c:pt>
              <c:pt idx="1">
                <c:v>13.406070550151341</c:v>
              </c:pt>
              <c:pt idx="2">
                <c:v>13.434504534304173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39E5-4E97-BD11-8DD64C4029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Liquid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245B-4C2A-A1DC-BB2D0744FEC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45B-4C2A-A1DC-BB2D0744FEC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45B-4C2A-A1DC-BB2D0744FEC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45B-4C2A-A1DC-BB2D0744FEC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45B-4C2A-A1DC-BB2D0744FEC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45B-4C2A-A1DC-BB2D0744FEC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45B-4C2A-A1DC-BB2D0744FEC4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45B-4C2A-A1DC-BB2D0744FEC4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45B-4C2A-A1DC-BB2D0744FEC4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245B-4C2A-A1DC-BB2D0744FEC4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45B-4C2A-A1DC-BB2D0744FEC4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45B-4C2A-A1DC-BB2D0744FEC4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45B-4C2A-A1DC-BB2D0744FEC4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45B-4C2A-A1DC-BB2D0744FEC4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245B-4C2A-A1DC-BB2D0744FEC4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245B-4C2A-A1DC-BB2D0744FEC4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245B-4C2A-A1DC-BB2D0744FEC4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245B-4C2A-A1DC-BB2D0744FEC4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245B-4C2A-A1DC-BB2D0744FEC4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245B-4C2A-A1DC-BB2D0744FEC4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245B-4C2A-A1DC-BB2D0744FEC4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245B-4C2A-A1DC-BB2D0744FEC4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245B-4C2A-A1DC-BB2D0744FEC4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245B-4C2A-A1DC-BB2D0744FEC4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245B-4C2A-A1DC-BB2D0744FEC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32.963407318536291</c:v>
              </c:pt>
              <c:pt idx="1">
                <c:v>37.701131425439456</c:v>
              </c:pt>
              <c:pt idx="2">
                <c:v>29.515361033200708</c:v>
              </c:pt>
              <c:pt idx="3">
                <c:v>24.814117792243852</c:v>
              </c:pt>
              <c:pt idx="4">
                <c:v>33.429857891301076</c:v>
              </c:pt>
              <c:pt idx="5">
                <c:v>31.578693273253943</c:v>
              </c:pt>
              <c:pt idx="6">
                <c:v>31.34493794395441</c:v>
              </c:pt>
              <c:pt idx="7">
                <c:v>35.123909519030335</c:v>
              </c:pt>
              <c:pt idx="8">
                <c:v>28.113973066197946</c:v>
              </c:pt>
              <c:pt idx="9">
                <c:v>28.172429702009861</c:v>
              </c:pt>
              <c:pt idx="10">
                <c:v>23.952451708766716</c:v>
              </c:pt>
              <c:pt idx="11">
                <c:v>29.328893165673758</c:v>
              </c:pt>
              <c:pt idx="12">
                <c:v>28.72712665306511</c:v>
              </c:pt>
              <c:pt idx="13">
                <c:v>29.432304312637292</c:v>
              </c:pt>
              <c:pt idx="14">
                <c:v>32.012055490714616</c:v>
              </c:pt>
              <c:pt idx="15">
                <c:v>35.789350287550512</c:v>
              </c:pt>
              <c:pt idx="16">
                <c:v>32.551387376686797</c:v>
              </c:pt>
              <c:pt idx="17">
                <c:v>29.081387504307433</c:v>
              </c:pt>
              <c:pt idx="18">
                <c:v>33.000979218801007</c:v>
              </c:pt>
              <c:pt idx="19">
                <c:v>25.546544107739201</c:v>
              </c:pt>
              <c:pt idx="20">
                <c:v>29.022216506140026</c:v>
              </c:pt>
              <c:pt idx="21">
                <c:v>34.541252283603853</c:v>
              </c:pt>
              <c:pt idx="22">
                <c:v>33.583036893927535</c:v>
              </c:pt>
              <c:pt idx="23">
                <c:v>29.138391210076904</c:v>
              </c:pt>
              <c:pt idx="24">
                <c:v>31.97343443317731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9-245B-4C2A-A1DC-BB2D0744FEC4}"/>
            </c:ext>
          </c:extLst>
        </c:ser>
        <c:ser>
          <c:idx val="1"/>
          <c:order val="1"/>
          <c:tx>
            <c:v>Spray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245B-4C2A-A1DC-BB2D0744FEC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245B-4C2A-A1DC-BB2D0744FEC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245B-4C2A-A1DC-BB2D0744FEC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245B-4C2A-A1DC-BB2D0744FEC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245B-4C2A-A1DC-BB2D0744FEC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245B-4C2A-A1DC-BB2D0744FEC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245B-4C2A-A1DC-BB2D0744FEC4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245B-4C2A-A1DC-BB2D0744FEC4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245B-4C2A-A1DC-BB2D0744FEC4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245B-4C2A-A1DC-BB2D0744FEC4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245B-4C2A-A1DC-BB2D0744FEC4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245B-4C2A-A1DC-BB2D0744FEC4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245B-4C2A-A1DC-BB2D0744FEC4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245B-4C2A-A1DC-BB2D0744FEC4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245B-4C2A-A1DC-BB2D0744FEC4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245B-4C2A-A1DC-BB2D0744FEC4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245B-4C2A-A1DC-BB2D0744FEC4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245B-4C2A-A1DC-BB2D0744FEC4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245B-4C2A-A1DC-BB2D0744FEC4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245B-4C2A-A1DC-BB2D0744FEC4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245B-4C2A-A1DC-BB2D0744FEC4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F-245B-4C2A-A1DC-BB2D0744FEC4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245B-4C2A-A1DC-BB2D0744FEC4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245B-4C2A-A1DC-BB2D0744FEC4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2-245B-4C2A-A1DC-BB2D0744FEC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24.256577255977373</c:v>
              </c:pt>
              <c:pt idx="1">
                <c:v>15.115687272442546</c:v>
              </c:pt>
              <c:pt idx="2">
                <c:v>16.704715935033594</c:v>
              </c:pt>
              <c:pt idx="3">
                <c:v>22.407675932496225</c:v>
              </c:pt>
              <c:pt idx="4">
                <c:v>23.057094555010629</c:v>
              </c:pt>
              <c:pt idx="5">
                <c:v>22.980366913421303</c:v>
              </c:pt>
              <c:pt idx="6">
                <c:v>15.744282257435016</c:v>
              </c:pt>
              <c:pt idx="7">
                <c:v>19.254226820041687</c:v>
              </c:pt>
              <c:pt idx="8">
                <c:v>25.123237342566775</c:v>
              </c:pt>
              <c:pt idx="9">
                <c:v>24.467367773532224</c:v>
              </c:pt>
              <c:pt idx="10">
                <c:v>22.275688650131446</c:v>
              </c:pt>
              <c:pt idx="11">
                <c:v>21.920444593411109</c:v>
              </c:pt>
              <c:pt idx="12">
                <c:v>21.812531052781804</c:v>
              </c:pt>
              <c:pt idx="13">
                <c:v>19.898254133425826</c:v>
              </c:pt>
              <c:pt idx="14">
                <c:v>22.571542541403815</c:v>
              </c:pt>
              <c:pt idx="15">
                <c:v>19.876153305106953</c:v>
              </c:pt>
              <c:pt idx="16">
                <c:v>15.768143675695889</c:v>
              </c:pt>
              <c:pt idx="17">
                <c:v>19.519605511577907</c:v>
              </c:pt>
              <c:pt idx="18">
                <c:v>18.28745511913829</c:v>
              </c:pt>
              <c:pt idx="19">
                <c:v>21.954630374851138</c:v>
              </c:pt>
              <c:pt idx="20">
                <c:v>20.998742461916603</c:v>
              </c:pt>
              <c:pt idx="21">
                <c:v>18.861295525101653</c:v>
              </c:pt>
              <c:pt idx="22">
                <c:v>19.571470904510065</c:v>
              </c:pt>
              <c:pt idx="23">
                <c:v>28.090394303434941</c:v>
              </c:pt>
              <c:pt idx="24">
                <c:v>20.196298138541021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3-245B-4C2A-A1DC-BB2D0744FEC4}"/>
            </c:ext>
          </c:extLst>
        </c:ser>
        <c:ser>
          <c:idx val="2"/>
          <c:order val="2"/>
          <c:tx>
            <c:v>Cream &amp; Balm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245B-4C2A-A1DC-BB2D0744FEC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245B-4C2A-A1DC-BB2D0744FEC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245B-4C2A-A1DC-BB2D0744FEC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245B-4C2A-A1DC-BB2D0744FEC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245B-4C2A-A1DC-BB2D0744FEC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245B-4C2A-A1DC-BB2D0744FEC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245B-4C2A-A1DC-BB2D0744FEC4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245B-4C2A-A1DC-BB2D0744FEC4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245B-4C2A-A1DC-BB2D0744FEC4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245B-4C2A-A1DC-BB2D0744FEC4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245B-4C2A-A1DC-BB2D0744FEC4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F-245B-4C2A-A1DC-BB2D0744FEC4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245B-4C2A-A1DC-BB2D0744FEC4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245B-4C2A-A1DC-BB2D0744FEC4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245B-4C2A-A1DC-BB2D0744FEC4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3-245B-4C2A-A1DC-BB2D0744FEC4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4-245B-4C2A-A1DC-BB2D0744FEC4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245B-4C2A-A1DC-BB2D0744FEC4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245B-4C2A-A1DC-BB2D0744FEC4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7-245B-4C2A-A1DC-BB2D0744FEC4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245B-4C2A-A1DC-BB2D0744FEC4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245B-4C2A-A1DC-BB2D0744FEC4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A-245B-4C2A-A1DC-BB2D0744FEC4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B-245B-4C2A-A1DC-BB2D0744FEC4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C-245B-4C2A-A1DC-BB2D0744FEC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13.201645385208671</c:v>
              </c:pt>
              <c:pt idx="1">
                <c:v>14.900364091923421</c:v>
              </c:pt>
              <c:pt idx="2">
                <c:v>14.121714173896027</c:v>
              </c:pt>
              <c:pt idx="3">
                <c:v>10.350785178786289</c:v>
              </c:pt>
              <c:pt idx="4">
                <c:v>10.824699127931305</c:v>
              </c:pt>
              <c:pt idx="5">
                <c:v>13.511425812681043</c:v>
              </c:pt>
              <c:pt idx="6">
                <c:v>9.9742408867379595</c:v>
              </c:pt>
              <c:pt idx="7">
                <c:v>12.01883733498031</c:v>
              </c:pt>
              <c:pt idx="8">
                <c:v>12.831221007836968</c:v>
              </c:pt>
              <c:pt idx="9">
                <c:v>12.281594170324013</c:v>
              </c:pt>
              <c:pt idx="10">
                <c:v>16.222425420048005</c:v>
              </c:pt>
              <c:pt idx="11">
                <c:v>10.535306901361242</c:v>
              </c:pt>
              <c:pt idx="12">
                <c:v>9.2592788354810409</c:v>
              </c:pt>
              <c:pt idx="13">
                <c:v>13.26550275561722</c:v>
              </c:pt>
              <c:pt idx="14">
                <c:v>10.664529377871675</c:v>
              </c:pt>
              <c:pt idx="15">
                <c:v>12.302610710394573</c:v>
              </c:pt>
              <c:pt idx="16">
                <c:v>11.731388916383473</c:v>
              </c:pt>
              <c:pt idx="17">
                <c:v>14.675376991734574</c:v>
              </c:pt>
              <c:pt idx="18">
                <c:v>12.513110651724514</c:v>
              </c:pt>
              <c:pt idx="19">
                <c:v>11.416334958792959</c:v>
              </c:pt>
              <c:pt idx="20">
                <c:v>11.481941943658484</c:v>
              </c:pt>
              <c:pt idx="21">
                <c:v>13.532974274467685</c:v>
              </c:pt>
              <c:pt idx="22">
                <c:v>12.855096450103067</c:v>
              </c:pt>
              <c:pt idx="23">
                <c:v>14.039657470426411</c:v>
              </c:pt>
              <c:pt idx="24">
                <c:v>13.132057552998456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D-245B-4C2A-A1DC-BB2D0744FEC4}"/>
            </c:ext>
          </c:extLst>
        </c:ser>
        <c:ser>
          <c:idx val="3"/>
          <c:order val="3"/>
          <c:tx>
            <c:v>Gel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E-245B-4C2A-A1DC-BB2D0744FEC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F-245B-4C2A-A1DC-BB2D0744FEC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0-245B-4C2A-A1DC-BB2D0744FEC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1-245B-4C2A-A1DC-BB2D0744FEC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2-245B-4C2A-A1DC-BB2D0744FEC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3-245B-4C2A-A1DC-BB2D0744FEC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4-245B-4C2A-A1DC-BB2D0744FEC4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5-245B-4C2A-A1DC-BB2D0744FEC4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6-245B-4C2A-A1DC-BB2D0744FEC4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7-245B-4C2A-A1DC-BB2D0744FEC4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8-245B-4C2A-A1DC-BB2D0744FEC4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9-245B-4C2A-A1DC-BB2D0744FEC4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A-245B-4C2A-A1DC-BB2D0744FEC4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B-245B-4C2A-A1DC-BB2D0744FEC4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C-245B-4C2A-A1DC-BB2D0744FEC4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D-245B-4C2A-A1DC-BB2D0744FEC4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E-245B-4C2A-A1DC-BB2D0744FEC4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F-245B-4C2A-A1DC-BB2D0744FEC4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0-245B-4C2A-A1DC-BB2D0744FEC4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1-245B-4C2A-A1DC-BB2D0744FEC4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2-245B-4C2A-A1DC-BB2D0744FEC4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3-245B-4C2A-A1DC-BB2D0744FEC4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4-245B-4C2A-A1DC-BB2D0744FEC4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5-245B-4C2A-A1DC-BB2D0744FEC4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6-245B-4C2A-A1DC-BB2D0744FEC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6.6672379809752336</c:v>
              </c:pt>
              <c:pt idx="1">
                <c:v>6.4949301178405046</c:v>
              </c:pt>
              <c:pt idx="2">
                <c:v>7.360902746070054</c:v>
              </c:pt>
              <c:pt idx="3">
                <c:v>8.009132138339556</c:v>
              </c:pt>
              <c:pt idx="4">
                <c:v>7.4703312521969103</c:v>
              </c:pt>
              <c:pt idx="5">
                <c:v>6.161892500804635</c:v>
              </c:pt>
              <c:pt idx="6">
                <c:v>9.669815002732026</c:v>
              </c:pt>
              <c:pt idx="7">
                <c:v>5.5909827839110617</c:v>
              </c:pt>
              <c:pt idx="8">
                <c:v>5.6405037863269323</c:v>
              </c:pt>
              <c:pt idx="9">
                <c:v>5.1518341949297906</c:v>
              </c:pt>
              <c:pt idx="10">
                <c:v>6.1652760315464628</c:v>
              </c:pt>
              <c:pt idx="11">
                <c:v>9.3308393430570131</c:v>
              </c:pt>
              <c:pt idx="12">
                <c:v>8.8797742000274855</c:v>
              </c:pt>
              <c:pt idx="13">
                <c:v>8.2414151925078034</c:v>
              </c:pt>
              <c:pt idx="14">
                <c:v>5.549071461285032</c:v>
              </c:pt>
              <c:pt idx="15">
                <c:v>6.1530292791239702</c:v>
              </c:pt>
              <c:pt idx="16">
                <c:v>6.326503678775282</c:v>
              </c:pt>
              <c:pt idx="17">
                <c:v>7.4976096758380697</c:v>
              </c:pt>
              <c:pt idx="18">
                <c:v>7.1939941246871948</c:v>
              </c:pt>
              <c:pt idx="19">
                <c:v>7.230806769389889</c:v>
              </c:pt>
              <c:pt idx="20">
                <c:v>4.871531052616537</c:v>
              </c:pt>
              <c:pt idx="21">
                <c:v>4.7949977449137711</c:v>
              </c:pt>
              <c:pt idx="22">
                <c:v>6.7275030636025885</c:v>
              </c:pt>
              <c:pt idx="23">
                <c:v>4.9798410997818481</c:v>
              </c:pt>
              <c:pt idx="24">
                <c:v>6.7126185368096616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67-245B-4C2A-A1DC-BB2D0744FEC4}"/>
            </c:ext>
          </c:extLst>
        </c:ser>
        <c:ser>
          <c:idx val="4"/>
          <c:order val="4"/>
          <c:tx>
            <c:v>Foam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8-245B-4C2A-A1DC-BB2D0744FEC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9-245B-4C2A-A1DC-BB2D0744FEC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A-245B-4C2A-A1DC-BB2D0744FEC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B-245B-4C2A-A1DC-BB2D0744FEC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C-245B-4C2A-A1DC-BB2D0744FEC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D-245B-4C2A-A1DC-BB2D0744FEC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E-245B-4C2A-A1DC-BB2D0744FEC4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F-245B-4C2A-A1DC-BB2D0744FEC4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0-245B-4C2A-A1DC-BB2D0744FEC4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1-245B-4C2A-A1DC-BB2D0744FEC4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2-245B-4C2A-A1DC-BB2D0744FEC4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3-245B-4C2A-A1DC-BB2D0744FEC4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4-245B-4C2A-A1DC-BB2D0744FEC4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5-245B-4C2A-A1DC-BB2D0744FEC4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6-245B-4C2A-A1DC-BB2D0744FEC4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7-245B-4C2A-A1DC-BB2D0744FEC4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8-245B-4C2A-A1DC-BB2D0744FEC4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9-245B-4C2A-A1DC-BB2D0744FEC4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A-245B-4C2A-A1DC-BB2D0744FEC4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B-245B-4C2A-A1DC-BB2D0744FEC4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C-245B-4C2A-A1DC-BB2D0744FEC4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D-245B-4C2A-A1DC-BB2D0744FEC4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E-245B-4C2A-A1DC-BB2D0744FEC4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F-245B-4C2A-A1DC-BB2D0744FEC4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0-245B-4C2A-A1DC-BB2D0744FEC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8.7711029222726893</c:v>
              </c:pt>
              <c:pt idx="1">
                <c:v>6.5066750185960922</c:v>
              </c:pt>
              <c:pt idx="2">
                <c:v>10.270041093209837</c:v>
              </c:pt>
              <c:pt idx="3">
                <c:v>9.317249251843398</c:v>
              </c:pt>
              <c:pt idx="4">
                <c:v>7.4050516378487865</c:v>
              </c:pt>
              <c:pt idx="5">
                <c:v>5.048278081750885</c:v>
              </c:pt>
              <c:pt idx="6">
                <c:v>9.2701584575755192</c:v>
              </c:pt>
              <c:pt idx="7">
                <c:v>8.9075889755269024</c:v>
              </c:pt>
              <c:pt idx="8">
                <c:v>9.4122933379148108</c:v>
              </c:pt>
              <c:pt idx="9">
                <c:v>7.2350443022251643</c:v>
              </c:pt>
              <c:pt idx="10">
                <c:v>7.8534689678820451</c:v>
              </c:pt>
              <c:pt idx="11">
                <c:v>6.3899490750251378</c:v>
              </c:pt>
              <c:pt idx="12">
                <c:v>9.9643751916022723</c:v>
              </c:pt>
              <c:pt idx="13">
                <c:v>9.0307164604771248</c:v>
              </c:pt>
              <c:pt idx="14">
                <c:v>7.652134087786429</c:v>
              </c:pt>
              <c:pt idx="15">
                <c:v>8.5520418154987645</c:v>
              </c:pt>
              <c:pt idx="16">
                <c:v>10.278025229029881</c:v>
              </c:pt>
              <c:pt idx="17">
                <c:v>6.9763491377845943</c:v>
              </c:pt>
              <c:pt idx="18">
                <c:v>8.3977804373843981</c:v>
              </c:pt>
              <c:pt idx="19">
                <c:v>10.046287360382243</c:v>
              </c:pt>
              <c:pt idx="20">
                <c:v>6.32770299236903</c:v>
              </c:pt>
              <c:pt idx="21">
                <c:v>6.9955056219211924</c:v>
              </c:pt>
              <c:pt idx="22">
                <c:v>6.4325949199193042</c:v>
              </c:pt>
              <c:pt idx="23">
                <c:v>7.0725111042911486</c:v>
              </c:pt>
              <c:pt idx="24">
                <c:v>9.1227282347241019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81-245B-4C2A-A1DC-BB2D0744FEC4}"/>
            </c:ext>
          </c:extLst>
        </c:ser>
        <c:ser>
          <c:idx val="5"/>
          <c:order val="5"/>
          <c:tx>
            <c:v>Wipe &amp; Pad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2-245B-4C2A-A1DC-BB2D0744FEC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3-245B-4C2A-A1DC-BB2D0744FEC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4-245B-4C2A-A1DC-BB2D0744FEC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5-245B-4C2A-A1DC-BB2D0744FEC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6-245B-4C2A-A1DC-BB2D0744FEC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7-245B-4C2A-A1DC-BB2D0744FEC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8-245B-4C2A-A1DC-BB2D0744FEC4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9-245B-4C2A-A1DC-BB2D0744FEC4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A-245B-4C2A-A1DC-BB2D0744FEC4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B-245B-4C2A-A1DC-BB2D0744FEC4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C-245B-4C2A-A1DC-BB2D0744FEC4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D-245B-4C2A-A1DC-BB2D0744FEC4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E-245B-4C2A-A1DC-BB2D0744FEC4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F-245B-4C2A-A1DC-BB2D0744FEC4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0-245B-4C2A-A1DC-BB2D0744FEC4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1-245B-4C2A-A1DC-BB2D0744FEC4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2-245B-4C2A-A1DC-BB2D0744FEC4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3-245B-4C2A-A1DC-BB2D0744FEC4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4-245B-4C2A-A1DC-BB2D0744FEC4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5-245B-4C2A-A1DC-BB2D0744FEC4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6-245B-4C2A-A1DC-BB2D0744FEC4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7-245B-4C2A-A1DC-BB2D0744FEC4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8-245B-4C2A-A1DC-BB2D0744FEC4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9-245B-4C2A-A1DC-BB2D0744FEC4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A-245B-4C2A-A1DC-BB2D0744FEC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7.1214328562858853</c:v>
              </c:pt>
              <c:pt idx="1">
                <c:v>11.318169361468893</c:v>
              </c:pt>
              <c:pt idx="2">
                <c:v>11.558280607918597</c:v>
              </c:pt>
              <c:pt idx="3">
                <c:v>17.15669638725203</c:v>
              </c:pt>
              <c:pt idx="4">
                <c:v>10.657315501397653</c:v>
              </c:pt>
              <c:pt idx="5">
                <c:v>12.883810749919537</c:v>
              </c:pt>
              <c:pt idx="6">
                <c:v>16.787136054952772</c:v>
              </c:pt>
              <c:pt idx="7">
                <c:v>11.493862425692887</c:v>
              </c:pt>
              <c:pt idx="8">
                <c:v>10.54753062761838</c:v>
              </c:pt>
              <c:pt idx="9">
                <c:v>13.743745046313272</c:v>
              </c:pt>
              <c:pt idx="10">
                <c:v>14.842839181620759</c:v>
              </c:pt>
              <c:pt idx="11">
                <c:v>15.091524397495917</c:v>
              </c:pt>
              <c:pt idx="12">
                <c:v>13.929617218305021</c:v>
              </c:pt>
              <c:pt idx="13">
                <c:v>11.888079546768411</c:v>
              </c:pt>
              <c:pt idx="14">
                <c:v>12.540812859190096</c:v>
              </c:pt>
              <c:pt idx="15">
                <c:v>8.8423506047525144</c:v>
              </c:pt>
              <c:pt idx="16">
                <c:v>14.896565376620806</c:v>
              </c:pt>
              <c:pt idx="17">
                <c:v>16.299826731832322</c:v>
              </c:pt>
              <c:pt idx="18">
                <c:v>11.687085192035688</c:v>
              </c:pt>
              <c:pt idx="19">
                <c:v>13.86399309513491</c:v>
              </c:pt>
              <c:pt idx="20">
                <c:v>19.017405470290662</c:v>
              </c:pt>
              <c:pt idx="21">
                <c:v>12.991753579620335</c:v>
              </c:pt>
              <c:pt idx="22">
                <c:v>11.527686297447019</c:v>
              </c:pt>
              <c:pt idx="23">
                <c:v>9.1566499996122239</c:v>
              </c:pt>
              <c:pt idx="24">
                <c:v>12.031425750594364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9B-245B-4C2A-A1DC-BB2D0744FEC4}"/>
            </c:ext>
          </c:extLst>
        </c:ser>
        <c:ser>
          <c:idx val="6"/>
          <c:order val="6"/>
          <c:tx>
            <c:v>Powder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C-245B-4C2A-A1DC-BB2D0744FEC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D-245B-4C2A-A1DC-BB2D0744FEC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E-245B-4C2A-A1DC-BB2D0744FEC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F-245B-4C2A-A1DC-BB2D0744FEC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0-245B-4C2A-A1DC-BB2D0744FEC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1-245B-4C2A-A1DC-BB2D0744FEC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2-245B-4C2A-A1DC-BB2D0744FEC4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3-245B-4C2A-A1DC-BB2D0744FEC4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4-245B-4C2A-A1DC-BB2D0744FEC4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5-245B-4C2A-A1DC-BB2D0744FEC4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6-245B-4C2A-A1DC-BB2D0744FEC4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7-245B-4C2A-A1DC-BB2D0744FEC4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8-245B-4C2A-A1DC-BB2D0744FEC4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9-245B-4C2A-A1DC-BB2D0744FEC4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A-245B-4C2A-A1DC-BB2D0744FEC4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B-245B-4C2A-A1DC-BB2D0744FEC4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C-245B-4C2A-A1DC-BB2D0744FEC4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D-245B-4C2A-A1DC-BB2D0744FEC4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E-245B-4C2A-A1DC-BB2D0744FEC4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F-245B-4C2A-A1DC-BB2D0744FEC4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0-245B-4C2A-A1DC-BB2D0744FEC4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1-245B-4C2A-A1DC-BB2D0744FEC4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2-245B-4C2A-A1DC-BB2D0744FEC4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3-245B-4C2A-A1DC-BB2D0744FEC4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4-245B-4C2A-A1DC-BB2D0744FEC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3.1965035564315709</c:v>
              </c:pt>
              <c:pt idx="1">
                <c:v>4.6196609638648543</c:v>
              </c:pt>
              <c:pt idx="2">
                <c:v>6.072663231361294</c:v>
              </c:pt>
              <c:pt idx="3">
                <c:v>3.6466849720791039</c:v>
              </c:pt>
              <c:pt idx="4">
                <c:v>3.7108950002510759</c:v>
              </c:pt>
              <c:pt idx="5">
                <c:v>4.07145156099131</c:v>
              </c:pt>
              <c:pt idx="6">
                <c:v>2.6898758879088285</c:v>
              </c:pt>
              <c:pt idx="7">
                <c:v>3.9882652667335745</c:v>
              </c:pt>
              <c:pt idx="8">
                <c:v>4.6532834657116044</c:v>
              </c:pt>
              <c:pt idx="9">
                <c:v>4.8833000130126685</c:v>
              </c:pt>
              <c:pt idx="10">
                <c:v>4.8268373528403252</c:v>
              </c:pt>
              <c:pt idx="11">
                <c:v>4.2264485506384535</c:v>
              </c:pt>
              <c:pt idx="12">
                <c:v>3.6523356977494004</c:v>
              </c:pt>
              <c:pt idx="13">
                <c:v>4.7728061047519938</c:v>
              </c:pt>
              <c:pt idx="14">
                <c:v>4.6463870462570362</c:v>
              </c:pt>
              <c:pt idx="15">
                <c:v>5.1035043925581647</c:v>
              </c:pt>
              <c:pt idx="16">
                <c:v>3.7997514489645541</c:v>
              </c:pt>
              <c:pt idx="17">
                <c:v>3.2838443207353949</c:v>
              </c:pt>
              <c:pt idx="18">
                <c:v>4.004352083560005</c:v>
              </c:pt>
              <c:pt idx="19">
                <c:v>5.5034979551256606</c:v>
              </c:pt>
              <c:pt idx="20">
                <c:v>3.6709156210999647</c:v>
              </c:pt>
              <c:pt idx="21">
                <c:v>4.4971859682743585</c:v>
              </c:pt>
              <c:pt idx="22">
                <c:v>4.988722578007021</c:v>
              </c:pt>
              <c:pt idx="23">
                <c:v>2.703253676409489</c:v>
              </c:pt>
              <c:pt idx="24">
                <c:v>3.6095781287433031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B5-245B-4C2A-A1DC-BB2D0744FEC4}"/>
            </c:ext>
          </c:extLst>
        </c:ser>
        <c:ser>
          <c:idx val="7"/>
          <c:order val="7"/>
          <c:tx>
            <c:v>Solid</c:v>
          </c:tx>
          <c:spPr>
            <a:solidFill>
              <a:srgbClr val="A86F0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6-245B-4C2A-A1DC-BB2D0744FEC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7-245B-4C2A-A1DC-BB2D0744FEC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8-245B-4C2A-A1DC-BB2D0744FEC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9-245B-4C2A-A1DC-BB2D0744FEC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A-245B-4C2A-A1DC-BB2D0744FEC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B-245B-4C2A-A1DC-BB2D0744FEC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C-245B-4C2A-A1DC-BB2D0744FEC4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D-245B-4C2A-A1DC-BB2D0744FEC4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E-245B-4C2A-A1DC-BB2D0744FEC4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F-245B-4C2A-A1DC-BB2D0744FEC4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0-245B-4C2A-A1DC-BB2D0744FEC4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1-245B-4C2A-A1DC-BB2D0744FEC4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2-245B-4C2A-A1DC-BB2D0744FEC4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3-245B-4C2A-A1DC-BB2D0744FEC4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4-245B-4C2A-A1DC-BB2D0744FEC4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5-245B-4C2A-A1DC-BB2D0744FEC4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6-245B-4C2A-A1DC-BB2D0744FEC4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7-245B-4C2A-A1DC-BB2D0744FEC4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8-245B-4C2A-A1DC-BB2D0744FEC4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9-245B-4C2A-A1DC-BB2D0744FEC4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A-245B-4C2A-A1DC-BB2D0744FEC4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B-245B-4C2A-A1DC-BB2D0744FEC4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C-245B-4C2A-A1DC-BB2D0744FEC4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D-245B-4C2A-A1DC-BB2D0744FEC4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CE-245B-4C2A-A1DC-BB2D0744FEC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3.82209272431228</c:v>
              </c:pt>
              <c:pt idx="1">
                <c:v>3.3433817484242256</c:v>
              </c:pt>
              <c:pt idx="2">
                <c:v>4.3963211793098953</c:v>
              </c:pt>
              <c:pt idx="3">
                <c:v>4.2976583469595537</c:v>
              </c:pt>
              <c:pt idx="4">
                <c:v>3.4447550340625672</c:v>
              </c:pt>
              <c:pt idx="5">
                <c:v>3.7640811071773417</c:v>
              </c:pt>
              <c:pt idx="6">
                <c:v>4.5195535087034573</c:v>
              </c:pt>
              <c:pt idx="7">
                <c:v>3.6223268740832233</c:v>
              </c:pt>
              <c:pt idx="8">
                <c:v>3.6779573658265821</c:v>
              </c:pt>
              <c:pt idx="9">
                <c:v>4.064684797652987</c:v>
              </c:pt>
              <c:pt idx="10">
                <c:v>3.8610126871642474</c:v>
              </c:pt>
              <c:pt idx="11">
                <c:v>3.1765939733373703</c:v>
              </c:pt>
              <c:pt idx="12">
                <c:v>3.7749611509878753</c:v>
              </c:pt>
              <c:pt idx="13">
                <c:v>3.4709214938143136</c:v>
              </c:pt>
              <c:pt idx="14">
                <c:v>4.3634671354913053</c:v>
              </c:pt>
              <c:pt idx="15">
                <c:v>3.3809596050145494</c:v>
              </c:pt>
              <c:pt idx="16">
                <c:v>4.6482342978433246</c:v>
              </c:pt>
              <c:pt idx="17">
                <c:v>2.6660001261897022</c:v>
              </c:pt>
              <c:pt idx="18">
                <c:v>4.9152431726689159</c:v>
              </c:pt>
              <c:pt idx="19">
                <c:v>4.4379053785839933</c:v>
              </c:pt>
              <c:pt idx="20">
                <c:v>4.6095439519086945</c:v>
              </c:pt>
              <c:pt idx="21">
                <c:v>3.7850350020971426</c:v>
              </c:pt>
              <c:pt idx="22">
                <c:v>4.3138888924834013</c:v>
              </c:pt>
              <c:pt idx="23">
                <c:v>4.819301135967045</c:v>
              </c:pt>
              <c:pt idx="24">
                <c:v>3.2218592244117876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CF-245B-4C2A-A1DC-BB2D0744FEC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Liquid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98.392932852633336</c:v>
              </c:pt>
            </c:numLit>
          </c:xVal>
          <c:yVal>
            <c:numLit>
              <c:formatCode>General</c:formatCode>
              <c:ptCount val="1"/>
              <c:pt idx="0">
                <c:v>251.55530853011823</c:v>
              </c:pt>
            </c:numLit>
          </c:yVal>
          <c:bubbleSize>
            <c:numLit>
              <c:formatCode>General</c:formatCode>
              <c:ptCount val="1"/>
              <c:pt idx="0">
                <c:v>1774.511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E31A-49BF-81D1-395898802FD8}"/>
            </c:ext>
          </c:extLst>
        </c:ser>
        <c:ser>
          <c:idx val="1"/>
          <c:order val="1"/>
          <c:tx>
            <c:v>Spray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100.60956846178696</c:v>
              </c:pt>
            </c:numLit>
          </c:xVal>
          <c:yVal>
            <c:numLit>
              <c:formatCode>General</c:formatCode>
              <c:ptCount val="1"/>
              <c:pt idx="0">
                <c:v>170.39704686165601</c:v>
              </c:pt>
            </c:numLit>
          </c:yVal>
          <c:bubbleSize>
            <c:numLit>
              <c:formatCode>General</c:formatCode>
              <c:ptCount val="1"/>
              <c:pt idx="0">
                <c:v>1217.4159999999999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E31A-49BF-81D1-395898802FD8}"/>
            </c:ext>
          </c:extLst>
        </c:ser>
        <c:ser>
          <c:idx val="2"/>
          <c:order val="2"/>
          <c:tx>
            <c:v>Cream &amp; Balm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102.97781523206176</c:v>
              </c:pt>
            </c:numLit>
          </c:xVal>
          <c:yVal>
            <c:numLit>
              <c:formatCode>General</c:formatCode>
              <c:ptCount val="1"/>
              <c:pt idx="0">
                <c:v>100.95845023685254</c:v>
              </c:pt>
            </c:numLit>
          </c:yVal>
          <c:bubbleSize>
            <c:numLit>
              <c:formatCode>General</c:formatCode>
              <c:ptCount val="1"/>
              <c:pt idx="0">
                <c:v>731.17600000000004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E31A-49BF-81D1-395898802FD8}"/>
            </c:ext>
          </c:extLst>
        </c:ser>
        <c:ser>
          <c:idx val="3"/>
          <c:order val="3"/>
          <c:tx>
            <c:v>Gel</c:v>
          </c:tx>
          <c:spPr>
            <a:solidFill>
              <a:srgbClr val="40315E"/>
            </a:solidFill>
          </c:spPr>
          <c:invertIfNegative val="0"/>
          <c:xVal>
            <c:numLit>
              <c:formatCode>General</c:formatCode>
              <c:ptCount val="1"/>
              <c:pt idx="0">
                <c:v>97.439966377307414</c:v>
              </c:pt>
            </c:numLit>
          </c:xVal>
          <c:yVal>
            <c:numLit>
              <c:formatCode>General</c:formatCode>
              <c:ptCount val="1"/>
              <c:pt idx="0">
                <c:v>50.584549320278192</c:v>
              </c:pt>
            </c:numLit>
          </c:yVal>
          <c:bubbleSize>
            <c:numLit>
              <c:formatCode>General</c:formatCode>
              <c:ptCount val="1"/>
              <c:pt idx="0">
                <c:v>354.88099999999997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3-E31A-49BF-81D1-395898802FD8}"/>
            </c:ext>
          </c:extLst>
        </c:ser>
        <c:ser>
          <c:idx val="4"/>
          <c:order val="4"/>
          <c:tx>
            <c:v>Foam</c:v>
          </c:tx>
          <c:spPr>
            <a:solidFill>
              <a:srgbClr val="A35313"/>
            </a:solidFill>
          </c:spPr>
          <c:invertIfNegative val="0"/>
          <c:xVal>
            <c:numLit>
              <c:formatCode>General</c:formatCode>
              <c:ptCount val="1"/>
              <c:pt idx="0">
                <c:v>98.192317034413563</c:v>
              </c:pt>
            </c:numLit>
          </c:xVal>
          <c:yVal>
            <c:numLit>
              <c:formatCode>General</c:formatCode>
              <c:ptCount val="1"/>
              <c:pt idx="0">
                <c:v>63.00062306244709</c:v>
              </c:pt>
            </c:numLit>
          </c:yVal>
          <c:bubbleSize>
            <c:numLit>
              <c:formatCode>General</c:formatCode>
              <c:ptCount val="1"/>
              <c:pt idx="0">
                <c:v>443.904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4-E31A-49BF-81D1-395898802FD8}"/>
            </c:ext>
          </c:extLst>
        </c:ser>
        <c:ser>
          <c:idx val="5"/>
          <c:order val="5"/>
          <c:tx>
            <c:v>Wipe &amp; Pad</c:v>
          </c:tx>
          <c:spPr>
            <a:solidFill>
              <a:srgbClr val="808080"/>
            </a:solidFill>
          </c:spPr>
          <c:invertIfNegative val="0"/>
          <c:xVal>
            <c:numLit>
              <c:formatCode>General</c:formatCode>
              <c:ptCount val="1"/>
              <c:pt idx="0">
                <c:v>101.83026765731462</c:v>
              </c:pt>
            </c:numLit>
          </c:xVal>
          <c:yVal>
            <c:numLit>
              <c:formatCode>General</c:formatCode>
              <c:ptCount val="1"/>
              <c:pt idx="0">
                <c:v>99.288998189185094</c:v>
              </c:pt>
            </c:numLit>
          </c:yVal>
          <c:bubbleSize>
            <c:numLit>
              <c:formatCode>General</c:formatCode>
              <c:ptCount val="1"/>
              <c:pt idx="0">
                <c:v>714.36699999999996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5-E31A-49BF-81D1-395898802FD8}"/>
            </c:ext>
          </c:extLst>
        </c:ser>
        <c:ser>
          <c:idx val="6"/>
          <c:order val="6"/>
          <c:tx>
            <c:v>Powder</c:v>
          </c:tx>
          <c:spPr>
            <a:solidFill>
              <a:srgbClr val="0E72AE"/>
            </a:solidFill>
          </c:spPr>
          <c:invertIfNegative val="0"/>
          <c:xVal>
            <c:numLit>
              <c:formatCode>General</c:formatCode>
              <c:ptCount val="1"/>
              <c:pt idx="0">
                <c:v>97.397834305390219</c:v>
              </c:pt>
            </c:numLit>
          </c:xVal>
          <c:yVal>
            <c:numLit>
              <c:formatCode>General</c:formatCode>
              <c:ptCount val="1"/>
              <c:pt idx="0">
                <c:v>32.609388066387233</c:v>
              </c:pt>
            </c:numLit>
          </c:yVal>
          <c:bubbleSize>
            <c:numLit>
              <c:formatCode>General</c:formatCode>
              <c:ptCount val="1"/>
              <c:pt idx="0">
                <c:v>228.71899999999999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6-E31A-49BF-81D1-395898802FD8}"/>
            </c:ext>
          </c:extLst>
        </c:ser>
        <c:ser>
          <c:idx val="7"/>
          <c:order val="7"/>
          <c:tx>
            <c:v>Solid</c:v>
          </c:tx>
          <c:spPr>
            <a:solidFill>
              <a:srgbClr val="A86F00"/>
            </a:solidFill>
          </c:spPr>
          <c:invertIfNegative val="0"/>
          <c:xVal>
            <c:numLit>
              <c:formatCode>General</c:formatCode>
              <c:ptCount val="1"/>
              <c:pt idx="0">
                <c:v>104.35788577214015</c:v>
              </c:pt>
            </c:numLit>
          </c:xVal>
          <c:yVal>
            <c:numLit>
              <c:formatCode>General</c:formatCode>
              <c:ptCount val="1"/>
              <c:pt idx="0">
                <c:v>31.605635733075477</c:v>
              </c:pt>
            </c:numLit>
          </c:yVal>
          <c:bubbleSize>
            <c:numLit>
              <c:formatCode>General</c:formatCode>
              <c:ptCount val="1"/>
              <c:pt idx="0">
                <c:v>230.71700000000001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7-E31A-49BF-81D1-395898802F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"/>
          <c:min val="90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325"/>
          <c:min val="0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991.18200000000002</c:v>
              </c:pt>
              <c:pt idx="2">
                <c:v>1113.078</c:v>
              </c:pt>
              <c:pt idx="3">
                <c:v>1250.335</c:v>
              </c:pt>
              <c:pt idx="4">
                <c:v>1403.683</c:v>
              </c:pt>
              <c:pt idx="5">
                <c:v>1578.4369999999999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A1DA-4BF9-AFC8-B612AC24C32A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A1DA-4BF9-AFC8-B612AC24C32A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A1DA-4BF9-AFC8-B612AC24C32A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A1DA-4BF9-AFC8-B612AC24C32A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A1DA-4BF9-AFC8-B612AC24C32A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A1DA-4BF9-AFC8-B612AC24C32A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A1DA-4BF9-AFC8-B612AC24C32A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A1DA-4BF9-AFC8-B612AC24C32A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1DA-4BF9-AFC8-B612AC24C32A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1DA-4BF9-AFC8-B612AC24C32A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1DA-4BF9-AFC8-B612AC24C32A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1DA-4BF9-AFC8-B612AC24C32A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A1DA-4BF9-AFC8-B612AC24C32A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A1DA-4BF9-AFC8-B612AC24C32A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A1DA-4BF9-AFC8-B612AC24C32A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991.18200000000002</c:v>
              </c:pt>
              <c:pt idx="1">
                <c:v>121.89599999999996</c:v>
              </c:pt>
              <c:pt idx="2">
                <c:v>137.25700000000006</c:v>
              </c:pt>
              <c:pt idx="3">
                <c:v>153.34799999999996</c:v>
              </c:pt>
              <c:pt idx="4">
                <c:v>174.75399999999991</c:v>
              </c:pt>
              <c:pt idx="5">
                <c:v>196.07400000000007</c:v>
              </c:pt>
              <c:pt idx="6">
                <c:v>1774.511</c:v>
              </c:pt>
            </c:numLit>
          </c:val>
          <c:extLst>
            <c:ext xmlns:c16="http://schemas.microsoft.com/office/drawing/2014/chart" uri="{C3380CC4-5D6E-409C-BE32-E72D297353CC}">
              <c16:uniqueId val="{0000000F-A1DA-4BF9-AFC8-B612AC24C32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671.40099999999995</c:v>
              </c:pt>
              <c:pt idx="2">
                <c:v>755.78700000000003</c:v>
              </c:pt>
              <c:pt idx="3">
                <c:v>850.99099999999999</c:v>
              </c:pt>
              <c:pt idx="4">
                <c:v>957.63199999999995</c:v>
              </c:pt>
              <c:pt idx="5">
                <c:v>1080.1420000000001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0C05-470E-906A-DFBB8F697CA7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0C05-470E-906A-DFBB8F697CA7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0C05-470E-906A-DFBB8F697CA7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0C05-470E-906A-DFBB8F697CA7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0C05-470E-906A-DFBB8F697CA7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0C05-470E-906A-DFBB8F697CA7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0C05-470E-906A-DFBB8F697CA7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0C05-470E-906A-DFBB8F697CA7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0C05-470E-906A-DFBB8F697CA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C05-470E-906A-DFBB8F697CA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C05-470E-906A-DFBB8F697CA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C05-470E-906A-DFBB8F697CA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0C05-470E-906A-DFBB8F697CA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0C05-470E-906A-DFBB8F697CA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0C05-470E-906A-DFBB8F697CA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671.40099999999995</c:v>
              </c:pt>
              <c:pt idx="1">
                <c:v>84.386000000000081</c:v>
              </c:pt>
              <c:pt idx="2">
                <c:v>95.203999999999951</c:v>
              </c:pt>
              <c:pt idx="3">
                <c:v>106.64099999999996</c:v>
              </c:pt>
              <c:pt idx="4">
                <c:v>122.5100000000001</c:v>
              </c:pt>
              <c:pt idx="5">
                <c:v>137.27399999999989</c:v>
              </c:pt>
              <c:pt idx="6">
                <c:v>1217.4159999999999</c:v>
              </c:pt>
            </c:numLit>
          </c:val>
          <c:extLst>
            <c:ext xmlns:c16="http://schemas.microsoft.com/office/drawing/2014/chart" uri="{C3380CC4-5D6E-409C-BE32-E72D297353CC}">
              <c16:uniqueId val="{0000000F-0C05-470E-906A-DFBB8F697C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397.798</c:v>
              </c:pt>
              <c:pt idx="2">
                <c:v>448.935</c:v>
              </c:pt>
              <c:pt idx="3">
                <c:v>506.911</c:v>
              </c:pt>
              <c:pt idx="4">
                <c:v>572.06399999999996</c:v>
              </c:pt>
              <c:pt idx="5">
                <c:v>646.84500000000003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D93F-41DE-A13D-15315A46162E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D93F-41DE-A13D-15315A46162E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D93F-41DE-A13D-15315A46162E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D93F-41DE-A13D-15315A46162E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D93F-41DE-A13D-15315A46162E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D93F-41DE-A13D-15315A46162E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D93F-41DE-A13D-15315A46162E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D93F-41DE-A13D-15315A46162E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93F-41DE-A13D-15315A46162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93F-41DE-A13D-15315A46162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93F-41DE-A13D-15315A46162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93F-41DE-A13D-15315A46162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93F-41DE-A13D-15315A46162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93F-41DE-A13D-15315A46162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93F-41DE-A13D-15315A46162E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397.798</c:v>
              </c:pt>
              <c:pt idx="1">
                <c:v>51.137</c:v>
              </c:pt>
              <c:pt idx="2">
                <c:v>57.975999999999999</c:v>
              </c:pt>
              <c:pt idx="3">
                <c:v>65.152999999999963</c:v>
              </c:pt>
              <c:pt idx="4">
                <c:v>74.781000000000063</c:v>
              </c:pt>
              <c:pt idx="5">
                <c:v>84.331000000000017</c:v>
              </c:pt>
              <c:pt idx="6">
                <c:v>731.17600000000004</c:v>
              </c:pt>
            </c:numLit>
          </c:val>
          <c:extLst>
            <c:ext xmlns:c16="http://schemas.microsoft.com/office/drawing/2014/chart" uri="{C3380CC4-5D6E-409C-BE32-E72D297353CC}">
              <c16:uniqueId val="{0000000F-D93F-41DE-A13D-15315A4616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199.31399999999999</c:v>
              </c:pt>
              <c:pt idx="2">
                <c:v>223.50700000000001</c:v>
              </c:pt>
              <c:pt idx="3">
                <c:v>250.75700000000001</c:v>
              </c:pt>
              <c:pt idx="4">
                <c:v>281.22000000000003</c:v>
              </c:pt>
              <c:pt idx="5">
                <c:v>315.88600000000002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C4A8-4B75-8A5D-09988A3856DA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C4A8-4B75-8A5D-09988A3856DA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C4A8-4B75-8A5D-09988A3856DA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C4A8-4B75-8A5D-09988A3856DA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C4A8-4B75-8A5D-09988A3856DA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C4A8-4B75-8A5D-09988A3856DA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C4A8-4B75-8A5D-09988A3856DA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C4A8-4B75-8A5D-09988A3856DA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4A8-4B75-8A5D-09988A3856DA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4A8-4B75-8A5D-09988A3856DA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4A8-4B75-8A5D-09988A3856DA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4A8-4B75-8A5D-09988A3856DA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C4A8-4B75-8A5D-09988A3856DA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4A8-4B75-8A5D-09988A3856DA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4A8-4B75-8A5D-09988A3856DA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199.31399999999999</c:v>
              </c:pt>
              <c:pt idx="1">
                <c:v>24.193000000000012</c:v>
              </c:pt>
              <c:pt idx="2">
                <c:v>27.25</c:v>
              </c:pt>
              <c:pt idx="3">
                <c:v>30.463000000000022</c:v>
              </c:pt>
              <c:pt idx="4">
                <c:v>34.665999999999997</c:v>
              </c:pt>
              <c:pt idx="5">
                <c:v>38.994999999999948</c:v>
              </c:pt>
              <c:pt idx="6">
                <c:v>354.88099999999997</c:v>
              </c:pt>
            </c:numLit>
          </c:val>
          <c:extLst>
            <c:ext xmlns:c16="http://schemas.microsoft.com/office/drawing/2014/chart" uri="{C3380CC4-5D6E-409C-BE32-E72D297353CC}">
              <c16:uniqueId val="{0000000F-C4A8-4B75-8A5D-09988A3856D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248.23599999999999</c:v>
              </c:pt>
              <c:pt idx="2">
                <c:v>278.63099999999997</c:v>
              </c:pt>
              <c:pt idx="3">
                <c:v>312.81799999999998</c:v>
              </c:pt>
              <c:pt idx="4">
                <c:v>351.053</c:v>
              </c:pt>
              <c:pt idx="5">
                <c:v>394.76799999999997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D4F6-48F2-81E8-7BA4BDB50F66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D4F6-48F2-81E8-7BA4BDB50F66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D4F6-48F2-81E8-7BA4BDB50F66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D4F6-48F2-81E8-7BA4BDB50F66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D4F6-48F2-81E8-7BA4BDB50F66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D4F6-48F2-81E8-7BA4BDB50F66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D4F6-48F2-81E8-7BA4BDB50F66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D4F6-48F2-81E8-7BA4BDB50F66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4F6-48F2-81E8-7BA4BDB50F66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4F6-48F2-81E8-7BA4BDB50F66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4F6-48F2-81E8-7BA4BDB50F66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4F6-48F2-81E8-7BA4BDB50F66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4F6-48F2-81E8-7BA4BDB50F66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4F6-48F2-81E8-7BA4BDB50F66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4F6-48F2-81E8-7BA4BDB50F66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248.23599999999999</c:v>
              </c:pt>
              <c:pt idx="1">
                <c:v>30.394999999999982</c:v>
              </c:pt>
              <c:pt idx="2">
                <c:v>34.187000000000012</c:v>
              </c:pt>
              <c:pt idx="3">
                <c:v>38.235000000000014</c:v>
              </c:pt>
              <c:pt idx="4">
                <c:v>43.714999999999975</c:v>
              </c:pt>
              <c:pt idx="5">
                <c:v>49.136000000000024</c:v>
              </c:pt>
              <c:pt idx="6">
                <c:v>443.904</c:v>
              </c:pt>
            </c:numLit>
          </c:val>
          <c:extLst>
            <c:ext xmlns:c16="http://schemas.microsoft.com/office/drawing/2014/chart" uri="{C3380CC4-5D6E-409C-BE32-E72D297353CC}">
              <c16:uniqueId val="{0000000F-D4F6-48F2-81E8-7BA4BDB50F6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391.22</c:v>
              </c:pt>
              <c:pt idx="2">
                <c:v>440.99400000000003</c:v>
              </c:pt>
              <c:pt idx="3">
                <c:v>497.346</c:v>
              </c:pt>
              <c:pt idx="4">
                <c:v>560.58100000000002</c:v>
              </c:pt>
              <c:pt idx="5">
                <c:v>632.90200000000004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8004-4C86-993A-81E571DA9132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8004-4C86-993A-81E571DA9132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8004-4C86-993A-81E571DA9132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8004-4C86-993A-81E571DA9132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8004-4C86-993A-81E571DA9132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8004-4C86-993A-81E571DA9132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8004-4C86-993A-81E571DA9132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8004-4C86-993A-81E571DA9132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004-4C86-993A-81E571DA913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004-4C86-993A-81E571DA913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004-4C86-993A-81E571DA913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004-4C86-993A-81E571DA913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004-4C86-993A-81E571DA913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004-4C86-993A-81E571DA913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8004-4C86-993A-81E571DA9132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391.22</c:v>
              </c:pt>
              <c:pt idx="1">
                <c:v>49.774000000000001</c:v>
              </c:pt>
              <c:pt idx="2">
                <c:v>56.351999999999975</c:v>
              </c:pt>
              <c:pt idx="3">
                <c:v>63.235000000000014</c:v>
              </c:pt>
              <c:pt idx="4">
                <c:v>72.321000000000026</c:v>
              </c:pt>
              <c:pt idx="5">
                <c:v>81.464999999999918</c:v>
              </c:pt>
              <c:pt idx="6">
                <c:v>714.36699999999996</c:v>
              </c:pt>
            </c:numLit>
          </c:val>
          <c:extLst>
            <c:ext xmlns:c16="http://schemas.microsoft.com/office/drawing/2014/chart" uri="{C3380CC4-5D6E-409C-BE32-E72D297353CC}">
              <c16:uniqueId val="{0000000F-8004-4C86-993A-81E571DA913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128.488</c:v>
              </c:pt>
              <c:pt idx="2">
                <c:v>144.072</c:v>
              </c:pt>
              <c:pt idx="3">
                <c:v>161.624</c:v>
              </c:pt>
              <c:pt idx="4">
                <c:v>181.25399999999999</c:v>
              </c:pt>
              <c:pt idx="5">
                <c:v>203.55500000000001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7FE1-4B14-9905-108F05179850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7FE1-4B14-9905-108F05179850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7FE1-4B14-9905-108F05179850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7FE1-4B14-9905-108F05179850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7FE1-4B14-9905-108F05179850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7FE1-4B14-9905-108F05179850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7FE1-4B14-9905-108F05179850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7FE1-4B14-9905-108F05179850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FE1-4B14-9905-108F05179850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FE1-4B14-9905-108F05179850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FE1-4B14-9905-108F05179850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FE1-4B14-9905-108F05179850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7FE1-4B14-9905-108F05179850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FE1-4B14-9905-108F05179850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7FE1-4B14-9905-108F05179850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128.488</c:v>
              </c:pt>
              <c:pt idx="1">
                <c:v>15.584000000000003</c:v>
              </c:pt>
              <c:pt idx="2">
                <c:v>17.551999999999992</c:v>
              </c:pt>
              <c:pt idx="3">
                <c:v>19.629999999999995</c:v>
              </c:pt>
              <c:pt idx="4">
                <c:v>22.301000000000016</c:v>
              </c:pt>
              <c:pt idx="5">
                <c:v>25.163999999999987</c:v>
              </c:pt>
              <c:pt idx="6">
                <c:v>228.71899999999999</c:v>
              </c:pt>
            </c:numLit>
          </c:val>
          <c:extLst>
            <c:ext xmlns:c16="http://schemas.microsoft.com/office/drawing/2014/chart" uri="{C3380CC4-5D6E-409C-BE32-E72D297353CC}">
              <c16:uniqueId val="{0000000F-7FE1-4B14-9905-108F0517985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124.533</c:v>
              </c:pt>
              <c:pt idx="2">
                <c:v>140.786</c:v>
              </c:pt>
              <c:pt idx="3">
                <c:v>159.24</c:v>
              </c:pt>
              <c:pt idx="4">
                <c:v>179.983</c:v>
              </c:pt>
              <c:pt idx="5">
                <c:v>203.83699999999999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5BA3-4A1A-B4E0-DC154398D02D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5BA3-4A1A-B4E0-DC154398D02D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5BA3-4A1A-B4E0-DC154398D02D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5BA3-4A1A-B4E0-DC154398D02D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5BA3-4A1A-B4E0-DC154398D02D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5BA3-4A1A-B4E0-DC154398D02D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5BA3-4A1A-B4E0-DC154398D02D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5BA3-4A1A-B4E0-DC154398D02D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BA3-4A1A-B4E0-DC154398D02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BA3-4A1A-B4E0-DC154398D02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BA3-4A1A-B4E0-DC154398D02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5BA3-4A1A-B4E0-DC154398D02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5BA3-4A1A-B4E0-DC154398D02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5BA3-4A1A-B4E0-DC154398D02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BA3-4A1A-B4E0-DC154398D02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124.533</c:v>
              </c:pt>
              <c:pt idx="1">
                <c:v>16.253</c:v>
              </c:pt>
              <c:pt idx="2">
                <c:v>18.454000000000008</c:v>
              </c:pt>
              <c:pt idx="3">
                <c:v>20.742999999999995</c:v>
              </c:pt>
              <c:pt idx="4">
                <c:v>23.853999999999985</c:v>
              </c:pt>
              <c:pt idx="5">
                <c:v>26.880000000000024</c:v>
              </c:pt>
              <c:pt idx="6">
                <c:v>230.71700000000001</c:v>
              </c:pt>
            </c:numLit>
          </c:val>
          <c:extLst>
            <c:ext xmlns:c16="http://schemas.microsoft.com/office/drawing/2014/chart" uri="{C3380CC4-5D6E-409C-BE32-E72D297353CC}">
              <c16:uniqueId val="{0000000F-5BA3-4A1A-B4E0-DC154398D02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Liquid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9F32-4D60-BE4C-FDCE6E9181F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F32-4D60-BE4C-FDCE6E9181F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F32-4D60-BE4C-FDCE6E9181F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31.567777349864379</c:v>
              </c:pt>
              <c:pt idx="1">
                <c:v>31.444413566264785</c:v>
              </c:pt>
              <c:pt idx="2">
                <c:v>31.155324261797208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9F32-4D60-BE4C-FDCE6E9181F2}"/>
            </c:ext>
          </c:extLst>
        </c:ser>
        <c:ser>
          <c:idx val="1"/>
          <c:order val="1"/>
          <c:tx>
            <c:v>Spray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9F32-4D60-BE4C-FDCE6E9181F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9F32-4D60-BE4C-FDCE6E9181F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9F32-4D60-BE4C-FDCE6E9181F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21.254398738518653</c:v>
              </c:pt>
              <c:pt idx="1">
                <c:v>21.299630857707001</c:v>
              </c:pt>
              <c:pt idx="2">
                <c:v>21.374333684885645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9F32-4D60-BE4C-FDCE6E9181F2}"/>
            </c:ext>
          </c:extLst>
        </c:ser>
        <c:ser>
          <c:idx val="2"/>
          <c:order val="2"/>
          <c:tx>
            <c:v>Cream &amp; Balm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9F32-4D60-BE4C-FDCE6E9181F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9F32-4D60-BE4C-FDCE6E9181F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9F32-4D60-BE4C-FDCE6E9181F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12.50894623663023</c:v>
              </c:pt>
              <c:pt idx="1">
                <c:v>12.619806279606568</c:v>
              </c:pt>
              <c:pt idx="2">
                <c:v>12.837353711779661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9F32-4D60-BE4C-FDCE6E9181F2}"/>
            </c:ext>
          </c:extLst>
        </c:ser>
        <c:ser>
          <c:idx val="3"/>
          <c:order val="3"/>
          <c:tx>
            <c:v>Wipe &amp; Pad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9F32-4D60-BE4C-FDCE6E9181F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9F32-4D60-BE4C-FDCE6E9181F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9F32-4D60-BE4C-FDCE6E9181F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12.359029624646487</c:v>
              </c:pt>
              <c:pt idx="1">
                <c:v>12.41112477364814</c:v>
              </c:pt>
              <c:pt idx="2">
                <c:v>12.542235876208874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F-9F32-4D60-BE4C-FDCE6E9181F2}"/>
            </c:ext>
          </c:extLst>
        </c:ser>
        <c:ser>
          <c:idx val="4"/>
          <c:order val="4"/>
          <c:tx>
            <c:v>Foam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9F32-4D60-BE4C-FDCE6E9181F2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9F32-4D60-BE4C-FDCE6E9181F2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9F32-4D60-BE4C-FDCE6E9181F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7.9248367363467613</c:v>
              </c:pt>
              <c:pt idx="1">
                <c:v>7.8750778828058863</c:v>
              </c:pt>
              <c:pt idx="2">
                <c:v>7.7936812232264714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3-9F32-4D60-BE4C-FDCE6E9181F2}"/>
            </c:ext>
          </c:extLst>
        </c:ser>
        <c:ser>
          <c:idx val="5"/>
          <c:order val="5"/>
          <c:tx>
            <c:v>Gel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9F32-4D60-BE4C-FDCE6E9181F2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9F32-4D60-BE4C-FDCE6E9181F2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9F32-4D60-BE4C-FDCE6E9181F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6.3760840855334591</c:v>
              </c:pt>
              <c:pt idx="1">
                <c:v>6.3230686650347758</c:v>
              </c:pt>
              <c:pt idx="2">
                <c:v>6.2306926411562706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7-9F32-4D60-BE4C-FDCE6E9181F2}"/>
            </c:ext>
          </c:extLst>
        </c:ser>
        <c:ser>
          <c:idx val="6"/>
          <c:order val="6"/>
          <c:tx>
            <c:v>Solid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9F32-4D60-BE4C-FDCE6E9181F2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9F32-4D60-BE4C-FDCE6E9181F2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9F32-4D60-BE4C-FDCE6E9181F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3.8963443156480211</c:v>
              </c:pt>
              <c:pt idx="1">
                <c:v>3.9507044666344346</c:v>
              </c:pt>
              <c:pt idx="2">
                <c:v>4.0507288755657562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B-9F32-4D60-BE4C-FDCE6E9181F2}"/>
            </c:ext>
          </c:extLst>
        </c:ser>
        <c:ser>
          <c:idx val="7"/>
          <c:order val="7"/>
          <c:tx>
            <c:v>Powder</c:v>
          </c:tx>
          <c:spPr>
            <a:solidFill>
              <a:srgbClr val="A86F0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9F32-4D60-BE4C-FDCE6E9181F2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9F32-4D60-BE4C-FDCE6E9181F2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9F32-4D60-BE4C-FDCE6E9181F2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4.1125829128120026</c:v>
              </c:pt>
              <c:pt idx="1">
                <c:v>4.076173508298405</c:v>
              </c:pt>
              <c:pt idx="2">
                <c:v>4.0156497253801158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F-9F32-4D60-BE4C-FDCE6E9181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Cleansing &amp; General Hygiene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5706-4FD8-8252-1B5C900F53C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5706-4FD8-8252-1B5C900F53C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706-4FD8-8252-1B5C900F53C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5706-4FD8-8252-1B5C900F53C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706-4FD8-8252-1B5C900F53C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5706-4FD8-8252-1B5C900F53C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706-4FD8-8252-1B5C900F53C3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5706-4FD8-8252-1B5C900F53C3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5706-4FD8-8252-1B5C900F53C3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5706-4FD8-8252-1B5C900F53C3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5706-4FD8-8252-1B5C900F53C3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5706-4FD8-8252-1B5C900F53C3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5706-4FD8-8252-1B5C900F53C3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5706-4FD8-8252-1B5C900F53C3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706-4FD8-8252-1B5C900F53C3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5706-4FD8-8252-1B5C900F53C3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5706-4FD8-8252-1B5C900F53C3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5706-4FD8-8252-1B5C900F53C3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5706-4FD8-8252-1B5C900F53C3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5706-4FD8-8252-1B5C900F53C3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5706-4FD8-8252-1B5C900F53C3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5706-4FD8-8252-1B5C900F53C3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5706-4FD8-8252-1B5C900F53C3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5706-4FD8-8252-1B5C900F53C3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5706-4FD8-8252-1B5C900F53C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28.272700004285038</c:v>
              </c:pt>
              <c:pt idx="1">
                <c:v>23.105230191042907</c:v>
              </c:pt>
              <c:pt idx="2">
                <c:v>28.815107139362713</c:v>
              </c:pt>
              <c:pt idx="3">
                <c:v>30.88670862643465</c:v>
              </c:pt>
              <c:pt idx="4">
                <c:v>29.6429587720326</c:v>
              </c:pt>
              <c:pt idx="5">
                <c:v>21.371785380926326</c:v>
              </c:pt>
              <c:pt idx="6">
                <c:v>24.706892514245574</c:v>
              </c:pt>
              <c:pt idx="7">
                <c:v>24.031127443411666</c:v>
              </c:pt>
              <c:pt idx="8">
                <c:v>30.388010783950946</c:v>
              </c:pt>
              <c:pt idx="9">
                <c:v>21.303175128945256</c:v>
              </c:pt>
              <c:pt idx="10">
                <c:v>27.065735480699992</c:v>
              </c:pt>
              <c:pt idx="11">
                <c:v>31.246621256352036</c:v>
              </c:pt>
              <c:pt idx="12">
                <c:v>21.490565040435538</c:v>
              </c:pt>
              <c:pt idx="13">
                <c:v>30.405056461247927</c:v>
              </c:pt>
              <c:pt idx="14">
                <c:v>26.750731318145547</c:v>
              </c:pt>
              <c:pt idx="15">
                <c:v>29.047917859039156</c:v>
              </c:pt>
              <c:pt idx="16">
                <c:v>31.783563828324763</c:v>
              </c:pt>
              <c:pt idx="17">
                <c:v>28.233975121214915</c:v>
              </c:pt>
              <c:pt idx="18">
                <c:v>23.554244133416894</c:v>
              </c:pt>
              <c:pt idx="19">
                <c:v>33.218009461413239</c:v>
              </c:pt>
              <c:pt idx="20">
                <c:v>32.562936146902608</c:v>
              </c:pt>
              <c:pt idx="21">
                <c:v>25.326592070534065</c:v>
              </c:pt>
              <c:pt idx="22">
                <c:v>35.260001164618885</c:v>
              </c:pt>
              <c:pt idx="23">
                <c:v>29.424017177443744</c:v>
              </c:pt>
              <c:pt idx="24">
                <c:v>20.396442311101179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9-5706-4FD8-8252-1B5C900F53C3}"/>
            </c:ext>
          </c:extLst>
        </c:ser>
        <c:ser>
          <c:idx val="1"/>
          <c:order val="1"/>
          <c:tx>
            <c:v>Moisturizing &amp; Skin Barrier Care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5706-4FD8-8252-1B5C900F53C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5706-4FD8-8252-1B5C900F53C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5706-4FD8-8252-1B5C900F53C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5706-4FD8-8252-1B5C900F53C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5706-4FD8-8252-1B5C900F53C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5706-4FD8-8252-1B5C900F53C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5706-4FD8-8252-1B5C900F53C3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5706-4FD8-8252-1B5C900F53C3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5706-4FD8-8252-1B5C900F53C3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5706-4FD8-8252-1B5C900F53C3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5706-4FD8-8252-1B5C900F53C3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5706-4FD8-8252-1B5C900F53C3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5706-4FD8-8252-1B5C900F53C3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5706-4FD8-8252-1B5C900F53C3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5706-4FD8-8252-1B5C900F53C3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5706-4FD8-8252-1B5C900F53C3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5706-4FD8-8252-1B5C900F53C3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5706-4FD8-8252-1B5C900F53C3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5706-4FD8-8252-1B5C900F53C3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5706-4FD8-8252-1B5C900F53C3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5706-4FD8-8252-1B5C900F53C3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F-5706-4FD8-8252-1B5C900F53C3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5706-4FD8-8252-1B5C900F53C3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5706-4FD8-8252-1B5C900F53C3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2-5706-4FD8-8252-1B5C900F53C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13.699275828084156</c:v>
              </c:pt>
              <c:pt idx="1">
                <c:v>13.979799561540871</c:v>
              </c:pt>
              <c:pt idx="2">
                <c:v>11.816313884087277</c:v>
              </c:pt>
              <c:pt idx="3">
                <c:v>17.12328767123288</c:v>
              </c:pt>
              <c:pt idx="4">
                <c:v>17.413501615306071</c:v>
              </c:pt>
              <c:pt idx="5">
                <c:v>20.155138562554317</c:v>
              </c:pt>
              <c:pt idx="6">
                <c:v>16.120521426898762</c:v>
              </c:pt>
              <c:pt idx="7">
                <c:v>13.547231572121174</c:v>
              </c:pt>
              <c:pt idx="8">
                <c:v>17.333615266691339</c:v>
              </c:pt>
              <c:pt idx="9">
                <c:v>17.30823830028865</c:v>
              </c:pt>
              <c:pt idx="10">
                <c:v>13.552870712220102</c:v>
              </c:pt>
              <c:pt idx="11">
                <c:v>11.175262190507084</c:v>
              </c:pt>
              <c:pt idx="12">
                <c:v>12.199376288387333</c:v>
              </c:pt>
              <c:pt idx="13">
                <c:v>17.814776274713839</c:v>
              </c:pt>
              <c:pt idx="14">
                <c:v>13.38238335844931</c:v>
              </c:pt>
              <c:pt idx="15">
                <c:v>16.897096242561318</c:v>
              </c:pt>
              <c:pt idx="16">
                <c:v>13.301806384207199</c:v>
              </c:pt>
              <c:pt idx="17">
                <c:v>17.384087478584149</c:v>
              </c:pt>
              <c:pt idx="18">
                <c:v>14.620325882598706</c:v>
              </c:pt>
              <c:pt idx="19">
                <c:v>10.428677040959396</c:v>
              </c:pt>
              <c:pt idx="20">
                <c:v>16.983828327815758</c:v>
              </c:pt>
              <c:pt idx="21">
                <c:v>12.263084741955412</c:v>
              </c:pt>
              <c:pt idx="22">
                <c:v>9.6849705933733183</c:v>
              </c:pt>
              <c:pt idx="23">
                <c:v>11.498716455844862</c:v>
              </c:pt>
              <c:pt idx="24">
                <c:v>17.477753701270586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3-5706-4FD8-8252-1B5C900F53C3}"/>
            </c:ext>
          </c:extLst>
        </c:ser>
        <c:ser>
          <c:idx val="2"/>
          <c:order val="2"/>
          <c:tx>
            <c:v>Skin Soothing &amp; Comfort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5706-4FD8-8252-1B5C900F53C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5706-4FD8-8252-1B5C900F53C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5706-4FD8-8252-1B5C900F53C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5706-4FD8-8252-1B5C900F53C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5706-4FD8-8252-1B5C900F53C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5706-4FD8-8252-1B5C900F53C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5706-4FD8-8252-1B5C900F53C3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5706-4FD8-8252-1B5C900F53C3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5706-4FD8-8252-1B5C900F53C3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5706-4FD8-8252-1B5C900F53C3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5706-4FD8-8252-1B5C900F53C3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F-5706-4FD8-8252-1B5C900F53C3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5706-4FD8-8252-1B5C900F53C3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5706-4FD8-8252-1B5C900F53C3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5706-4FD8-8252-1B5C900F53C3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3-5706-4FD8-8252-1B5C900F53C3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4-5706-4FD8-8252-1B5C900F53C3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5706-4FD8-8252-1B5C900F53C3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5706-4FD8-8252-1B5C900F53C3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7-5706-4FD8-8252-1B5C900F53C3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5706-4FD8-8252-1B5C900F53C3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5706-4FD8-8252-1B5C900F53C3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A-5706-4FD8-8252-1B5C900F53C3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B-5706-4FD8-8252-1B5C900F53C3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C-5706-4FD8-8252-1B5C900F53C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15.546128465526843</c:v>
              </c:pt>
              <c:pt idx="1">
                <c:v>14.234262449107424</c:v>
              </c:pt>
              <c:pt idx="2">
                <c:v>16.167117836991618</c:v>
              </c:pt>
              <c:pt idx="3">
                <c:v>11.616068122917438</c:v>
              </c:pt>
              <c:pt idx="4">
                <c:v>13.966957365963072</c:v>
              </c:pt>
              <c:pt idx="5">
                <c:v>9.7186906562811792</c:v>
              </c:pt>
              <c:pt idx="6">
                <c:v>12.511123253454063</c:v>
              </c:pt>
              <c:pt idx="7">
                <c:v>9.9651051477627153</c:v>
              </c:pt>
              <c:pt idx="8">
                <c:v>8.327166041127029</c:v>
              </c:pt>
              <c:pt idx="9">
                <c:v>14.891402072587898</c:v>
              </c:pt>
              <c:pt idx="10">
                <c:v>17.137403271343171</c:v>
              </c:pt>
              <c:pt idx="11">
                <c:v>12.138609579413991</c:v>
              </c:pt>
              <c:pt idx="12">
                <c:v>13.50705639832972</c:v>
              </c:pt>
              <c:pt idx="13">
                <c:v>8.646086252745981</c:v>
              </c:pt>
              <c:pt idx="14">
                <c:v>12.351889607895281</c:v>
              </c:pt>
              <c:pt idx="15">
                <c:v>11.871547866141679</c:v>
              </c:pt>
              <c:pt idx="16">
                <c:v>13.924280333232522</c:v>
              </c:pt>
              <c:pt idx="17">
                <c:v>13.357665296375925</c:v>
              </c:pt>
              <c:pt idx="18">
                <c:v>10.929339878838523</c:v>
              </c:pt>
              <c:pt idx="19">
                <c:v>13.198270870282494</c:v>
              </c:pt>
              <c:pt idx="20">
                <c:v>8.577178650534691</c:v>
              </c:pt>
              <c:pt idx="21">
                <c:v>16.609865502330546</c:v>
              </c:pt>
              <c:pt idx="22">
                <c:v>15.40311988457333</c:v>
              </c:pt>
              <c:pt idx="23">
                <c:v>11.410192348813789</c:v>
              </c:pt>
              <c:pt idx="24">
                <c:v>14.23591228893814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D-5706-4FD8-8252-1B5C900F53C3}"/>
            </c:ext>
          </c:extLst>
        </c:ser>
        <c:ser>
          <c:idx val="3"/>
          <c:order val="3"/>
          <c:tx>
            <c:v>Coat Conditioning &amp; Softening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E-5706-4FD8-8252-1B5C900F53C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F-5706-4FD8-8252-1B5C900F53C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0-5706-4FD8-8252-1B5C900F53C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1-5706-4FD8-8252-1B5C900F53C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2-5706-4FD8-8252-1B5C900F53C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3-5706-4FD8-8252-1B5C900F53C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4-5706-4FD8-8252-1B5C900F53C3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5-5706-4FD8-8252-1B5C900F53C3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6-5706-4FD8-8252-1B5C900F53C3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7-5706-4FD8-8252-1B5C900F53C3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8-5706-4FD8-8252-1B5C900F53C3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9-5706-4FD8-8252-1B5C900F53C3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A-5706-4FD8-8252-1B5C900F53C3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B-5706-4FD8-8252-1B5C900F53C3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C-5706-4FD8-8252-1B5C900F53C3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D-5706-4FD8-8252-1B5C900F53C3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E-5706-4FD8-8252-1B5C900F53C3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F-5706-4FD8-8252-1B5C900F53C3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0-5706-4FD8-8252-1B5C900F53C3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1-5706-4FD8-8252-1B5C900F53C3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2-5706-4FD8-8252-1B5C900F53C3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3-5706-4FD8-8252-1B5C900F53C3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4-5706-4FD8-8252-1B5C900F53C3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5-5706-4FD8-8252-1B5C900F53C3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6-5706-4FD8-8252-1B5C900F53C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22.753567296567681</c:v>
              </c:pt>
              <c:pt idx="1">
                <c:v>15.592702787347324</c:v>
              </c:pt>
              <c:pt idx="2">
                <c:v>16.943348227389844</c:v>
              </c:pt>
              <c:pt idx="3">
                <c:v>18.27718129087992</c:v>
              </c:pt>
              <c:pt idx="4">
                <c:v>15.508612175892603</c:v>
              </c:pt>
              <c:pt idx="5">
                <c:v>19.842930252019698</c:v>
              </c:pt>
              <c:pt idx="6">
                <c:v>11.905393802201235</c:v>
              </c:pt>
              <c:pt idx="7">
                <c:v>22.945681376030631</c:v>
              </c:pt>
              <c:pt idx="8">
                <c:v>16.033197652904796</c:v>
              </c:pt>
              <c:pt idx="9">
                <c:v>16.197416363034119</c:v>
              </c:pt>
              <c:pt idx="10">
                <c:v>16.594465463440283</c:v>
              </c:pt>
              <c:pt idx="11">
                <c:v>18.955562763542005</c:v>
              </c:pt>
              <c:pt idx="12">
                <c:v>16.3613298800148</c:v>
              </c:pt>
              <c:pt idx="13">
                <c:v>14.068678459937562</c:v>
              </c:pt>
              <c:pt idx="14">
                <c:v>16.839523682888629</c:v>
              </c:pt>
              <c:pt idx="15">
                <c:v>12.703163033809361</c:v>
              </c:pt>
              <c:pt idx="16">
                <c:v>18.41137169723131</c:v>
              </c:pt>
              <c:pt idx="17">
                <c:v>16.523085435281669</c:v>
              </c:pt>
              <c:pt idx="18">
                <c:v>20.358087876888796</c:v>
              </c:pt>
              <c:pt idx="19">
                <c:v>17.192240038748821</c:v>
              </c:pt>
              <c:pt idx="20">
                <c:v>15.484078405220666</c:v>
              </c:pt>
              <c:pt idx="21">
                <c:v>18.16789043634526</c:v>
              </c:pt>
              <c:pt idx="22">
                <c:v>15.211604780113486</c:v>
              </c:pt>
              <c:pt idx="23">
                <c:v>14.472528166509527</c:v>
              </c:pt>
              <c:pt idx="24">
                <c:v>22.709326847358646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67-5706-4FD8-8252-1B5C900F53C3}"/>
            </c:ext>
          </c:extLst>
        </c:ser>
        <c:ser>
          <c:idx val="4"/>
          <c:order val="4"/>
          <c:tx>
            <c:v>Dental &amp; Oral Hygiene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8-5706-4FD8-8252-1B5C900F53C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9-5706-4FD8-8252-1B5C900F53C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A-5706-4FD8-8252-1B5C900F53C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B-5706-4FD8-8252-1B5C900F53C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C-5706-4FD8-8252-1B5C900F53C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D-5706-4FD8-8252-1B5C900F53C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E-5706-4FD8-8252-1B5C900F53C3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F-5706-4FD8-8252-1B5C900F53C3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0-5706-4FD8-8252-1B5C900F53C3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1-5706-4FD8-8252-1B5C900F53C3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2-5706-4FD8-8252-1B5C900F53C3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3-5706-4FD8-8252-1B5C900F53C3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4-5706-4FD8-8252-1B5C900F53C3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5-5706-4FD8-8252-1B5C900F53C3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6-5706-4FD8-8252-1B5C900F53C3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7-5706-4FD8-8252-1B5C900F53C3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8-5706-4FD8-8252-1B5C900F53C3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9-5706-4FD8-8252-1B5C900F53C3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A-5706-4FD8-8252-1B5C900F53C3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B-5706-4FD8-8252-1B5C900F53C3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C-5706-4FD8-8252-1B5C900F53C3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D-5706-4FD8-8252-1B5C900F53C3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E-5706-4FD8-8252-1B5C900F53C3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F-5706-4FD8-8252-1B5C900F53C3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0-5706-4FD8-8252-1B5C900F53C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9.7784633843253186</c:v>
              </c:pt>
              <c:pt idx="1">
                <c:v>11.458659567804572</c:v>
              </c:pt>
              <c:pt idx="2">
                <c:v>12.220736440429208</c:v>
              </c:pt>
              <c:pt idx="3">
                <c:v>8.2963100086387751</c:v>
              </c:pt>
              <c:pt idx="4">
                <c:v>10.006528179976899</c:v>
              </c:pt>
              <c:pt idx="5">
                <c:v>10.565193601338954</c:v>
              </c:pt>
              <c:pt idx="6">
                <c:v>14.960580750917183</c:v>
              </c:pt>
              <c:pt idx="7">
                <c:v>13.553407652163171</c:v>
              </c:pt>
              <c:pt idx="8">
                <c:v>12.595813289633661</c:v>
              </c:pt>
              <c:pt idx="9">
                <c:v>11.516348838309751</c:v>
              </c:pt>
              <c:pt idx="10">
                <c:v>10.513562014927933</c:v>
              </c:pt>
              <c:pt idx="11">
                <c:v>9.0636825602767868</c:v>
              </c:pt>
              <c:pt idx="12">
                <c:v>16.986098631005863</c:v>
              </c:pt>
              <c:pt idx="13">
                <c:v>11.283770763479399</c:v>
              </c:pt>
              <c:pt idx="14">
                <c:v>13.592914339745294</c:v>
              </c:pt>
              <c:pt idx="15">
                <c:v>11.641233217716298</c:v>
              </c:pt>
              <c:pt idx="16">
                <c:v>8.5265733688927998</c:v>
              </c:pt>
              <c:pt idx="17">
                <c:v>8.0809943748513628</c:v>
              </c:pt>
              <c:pt idx="18">
                <c:v>11.55124991295871</c:v>
              </c:pt>
              <c:pt idx="19">
                <c:v>8.9989038162490118</c:v>
              </c:pt>
              <c:pt idx="20">
                <c:v>9.9895205658894426</c:v>
              </c:pt>
              <c:pt idx="21">
                <c:v>10.230527320716574</c:v>
              </c:pt>
              <c:pt idx="22">
                <c:v>10.088963942105503</c:v>
              </c:pt>
              <c:pt idx="23">
                <c:v>14.131726973483763</c:v>
              </c:pt>
              <c:pt idx="24">
                <c:v>8.7165311781218691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81-5706-4FD8-8252-1B5C900F53C3}"/>
            </c:ext>
          </c:extLst>
        </c:ser>
        <c:ser>
          <c:idx val="5"/>
          <c:order val="5"/>
          <c:tx>
            <c:v>Body &amp; Coat Odor Management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2-5706-4FD8-8252-1B5C900F53C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3-5706-4FD8-8252-1B5C900F53C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4-5706-4FD8-8252-1B5C900F53C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5-5706-4FD8-8252-1B5C900F53C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6-5706-4FD8-8252-1B5C900F53C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7-5706-4FD8-8252-1B5C900F53C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8-5706-4FD8-8252-1B5C900F53C3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9-5706-4FD8-8252-1B5C900F53C3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A-5706-4FD8-8252-1B5C900F53C3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B-5706-4FD8-8252-1B5C900F53C3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C-5706-4FD8-8252-1B5C900F53C3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D-5706-4FD8-8252-1B5C900F53C3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E-5706-4FD8-8252-1B5C900F53C3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F-5706-4FD8-8252-1B5C900F53C3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0-5706-4FD8-8252-1B5C900F53C3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1-5706-4FD8-8252-1B5C900F53C3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2-5706-4FD8-8252-1B5C900F53C3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3-5706-4FD8-8252-1B5C900F53C3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4-5706-4FD8-8252-1B5C900F53C3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5-5706-4FD8-8252-1B5C900F53C3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6-5706-4FD8-8252-1B5C900F53C3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7-5706-4FD8-8252-1B5C900F53C3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8-5706-4FD8-8252-1B5C900F53C3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9-5706-4FD8-8252-1B5C900F53C3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A-5706-4FD8-8252-1B5C900F53C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5.4505720529631052</c:v>
              </c:pt>
              <c:pt idx="1">
                <c:v>12.590040714062011</c:v>
              </c:pt>
              <c:pt idx="2">
                <c:v>8.2580476827239817</c:v>
              </c:pt>
              <c:pt idx="3">
                <c:v>6.2661977045538695</c:v>
              </c:pt>
              <c:pt idx="4">
                <c:v>5.8519274869854865</c:v>
              </c:pt>
              <c:pt idx="5">
                <c:v>9.3244069651421047</c:v>
              </c:pt>
              <c:pt idx="6">
                <c:v>11.91476075247834</c:v>
              </c:pt>
              <c:pt idx="7">
                <c:v>9.5451317049068951</c:v>
              </c:pt>
              <c:pt idx="8">
                <c:v>7.3941428344874991</c:v>
              </c:pt>
              <c:pt idx="9">
                <c:v>9.1279042256187015</c:v>
              </c:pt>
              <c:pt idx="10">
                <c:v>9.034485123504064</c:v>
              </c:pt>
              <c:pt idx="11">
                <c:v>10.687641907233216</c:v>
              </c:pt>
              <c:pt idx="12">
                <c:v>11.654950050214067</c:v>
              </c:pt>
              <c:pt idx="13">
                <c:v>10.089798435271899</c:v>
              </c:pt>
              <c:pt idx="14">
                <c:v>8.786159619419081</c:v>
              </c:pt>
              <c:pt idx="15">
                <c:v>9.9676594101462577</c:v>
              </c:pt>
              <c:pt idx="16">
                <c:v>7.9354430727777636</c:v>
              </c:pt>
              <c:pt idx="17">
                <c:v>10.018491644785694</c:v>
              </c:pt>
              <c:pt idx="18">
                <c:v>11.746657614372259</c:v>
              </c:pt>
              <c:pt idx="19">
                <c:v>7.0993375554009805</c:v>
              </c:pt>
              <c:pt idx="20">
                <c:v>8.242789434825065</c:v>
              </c:pt>
              <c:pt idx="21">
                <c:v>11.621658617397653</c:v>
              </c:pt>
              <c:pt idx="22">
                <c:v>8.0224124433057078</c:v>
              </c:pt>
              <c:pt idx="23">
                <c:v>10.968347369039165</c:v>
              </c:pt>
              <c:pt idx="24">
                <c:v>9.4399723257440424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9B-5706-4FD8-8252-1B5C900F53C3}"/>
            </c:ext>
          </c:extLst>
        </c:ser>
        <c:ser>
          <c:idx val="6"/>
          <c:order val="6"/>
          <c:tx>
            <c:v>Ear &amp; Eye-Area Hygiene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C-5706-4FD8-8252-1B5C900F53C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D-5706-4FD8-8252-1B5C900F53C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E-5706-4FD8-8252-1B5C900F53C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9F-5706-4FD8-8252-1B5C900F53C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0-5706-4FD8-8252-1B5C900F53C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1-5706-4FD8-8252-1B5C900F53C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2-5706-4FD8-8252-1B5C900F53C3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3-5706-4FD8-8252-1B5C900F53C3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4-5706-4FD8-8252-1B5C900F53C3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5-5706-4FD8-8252-1B5C900F53C3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6-5706-4FD8-8252-1B5C900F53C3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7-5706-4FD8-8252-1B5C900F53C3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8-5706-4FD8-8252-1B5C900F53C3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9-5706-4FD8-8252-1B5C900F53C3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A-5706-4FD8-8252-1B5C900F53C3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B-5706-4FD8-8252-1B5C900F53C3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C-5706-4FD8-8252-1B5C900F53C3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D-5706-4FD8-8252-1B5C900F53C3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E-5706-4FD8-8252-1B5C900F53C3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AF-5706-4FD8-8252-1B5C900F53C3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0-5706-4FD8-8252-1B5C900F53C3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1-5706-4FD8-8252-1B5C900F53C3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2-5706-4FD8-8252-1B5C900F53C3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3-5706-4FD8-8252-1B5C900F53C3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B4-5706-4FD8-8252-1B5C900F53C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4.499292968247846</c:v>
              </c:pt>
              <c:pt idx="1">
                <c:v>9.0393047290948942</c:v>
              </c:pt>
              <c:pt idx="2">
                <c:v>5.7793287890153611</c:v>
              </c:pt>
              <c:pt idx="3">
                <c:v>7.5342465753424666</c:v>
              </c:pt>
              <c:pt idx="4">
                <c:v>7.6095144038432565</c:v>
              </c:pt>
              <c:pt idx="5">
                <c:v>9.0218545817374238</c:v>
              </c:pt>
              <c:pt idx="6">
                <c:v>7.8807274998048555</c:v>
              </c:pt>
              <c:pt idx="7">
                <c:v>6.4123151036037429</c:v>
              </c:pt>
              <c:pt idx="8">
                <c:v>7.9280541312047381</c:v>
              </c:pt>
              <c:pt idx="9">
                <c:v>9.6555150712156355</c:v>
              </c:pt>
              <c:pt idx="10">
                <c:v>6.1014779338644605</c:v>
              </c:pt>
              <c:pt idx="11">
                <c:v>6.7326197426748848</c:v>
              </c:pt>
              <c:pt idx="12">
                <c:v>7.8006237116126629</c:v>
              </c:pt>
              <c:pt idx="13">
                <c:v>7.691833352603382</c:v>
              </c:pt>
              <c:pt idx="14">
                <c:v>8.2963980734568441</c:v>
              </c:pt>
              <c:pt idx="15">
                <c:v>7.8713823705859234</c:v>
              </c:pt>
              <c:pt idx="16">
                <c:v>6.1169613153336462</c:v>
              </c:pt>
              <c:pt idx="17">
                <c:v>6.4017006489062735</c:v>
              </c:pt>
              <c:pt idx="18">
                <c:v>7.2400947009261198</c:v>
              </c:pt>
              <c:pt idx="19">
                <c:v>9.8645612169460541</c:v>
              </c:pt>
              <c:pt idx="20">
                <c:v>8.1596684688117769</c:v>
              </c:pt>
              <c:pt idx="21">
                <c:v>5.7803813107205038</c:v>
              </c:pt>
              <c:pt idx="22">
                <c:v>6.3289271919097807</c:v>
              </c:pt>
              <c:pt idx="23">
                <c:v>8.0944715088651513</c:v>
              </c:pt>
              <c:pt idx="24">
                <c:v>7.0240613474655396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B5-5706-4FD8-8252-1B5C900F53C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Cleansing &amp; General Hygiene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100.54581662729633</c:v>
              </c:pt>
            </c:numLit>
          </c:xVal>
          <c:yVal>
            <c:numLit>
              <c:formatCode>General</c:formatCode>
              <c:ptCount val="1"/>
              <c:pt idx="0">
                <c:v>195.49532544247302</c:v>
              </c:pt>
            </c:numLit>
          </c:yVal>
          <c:bubbleSize>
            <c:numLit>
              <c:formatCode>General</c:formatCode>
              <c:ptCount val="1"/>
              <c:pt idx="0">
                <c:v>1595.682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CA79-4608-9833-73EBF9EF2995}"/>
            </c:ext>
          </c:extLst>
        </c:ser>
        <c:ser>
          <c:idx val="1"/>
          <c:order val="1"/>
          <c:tx>
            <c:v>Moisturizing &amp; Skin Barrier Care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98.721569012342925</c:v>
              </c:pt>
            </c:numLit>
          </c:xVal>
          <c:yVal>
            <c:numLit>
              <c:formatCode>General</c:formatCode>
              <c:ptCount val="1"/>
              <c:pt idx="0">
                <c:v>97.797073127401134</c:v>
              </c:pt>
            </c:numLit>
          </c:yVal>
          <c:bubbleSize>
            <c:numLit>
              <c:formatCode>General</c:formatCode>
              <c:ptCount val="1"/>
              <c:pt idx="0">
                <c:v>789.92100000000005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CA79-4608-9833-73EBF9EF2995}"/>
            </c:ext>
          </c:extLst>
        </c:ser>
        <c:ser>
          <c:idx val="2"/>
          <c:order val="2"/>
          <c:tx>
            <c:v>Skin Soothing &amp; Comfort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101.32416690396605</c:v>
              </c:pt>
            </c:numLit>
          </c:xVal>
          <c:yVal>
            <c:numLit>
              <c:formatCode>General</c:formatCode>
              <c:ptCount val="1"/>
              <c:pt idx="0">
                <c:v>91.14299038440187</c:v>
              </c:pt>
            </c:numLit>
          </c:yVal>
          <c:bubbleSize>
            <c:numLit>
              <c:formatCode>General</c:formatCode>
              <c:ptCount val="1"/>
              <c:pt idx="0">
                <c:v>747.26400000000001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CA79-4608-9833-73EBF9EF2995}"/>
            </c:ext>
          </c:extLst>
        </c:ser>
        <c:ser>
          <c:idx val="3"/>
          <c:order val="3"/>
          <c:tx>
            <c:v>Coat Conditioning &amp; Softening</c:v>
          </c:tx>
          <c:spPr>
            <a:solidFill>
              <a:srgbClr val="40315E"/>
            </a:solidFill>
          </c:spPr>
          <c:invertIfNegative val="0"/>
          <c:xVal>
            <c:numLit>
              <c:formatCode>General</c:formatCode>
              <c:ptCount val="1"/>
              <c:pt idx="0">
                <c:v>101.17657404309728</c:v>
              </c:pt>
            </c:numLit>
          </c:xVal>
          <c:yVal>
            <c:numLit>
              <c:formatCode>General</c:formatCode>
              <c:ptCount val="1"/>
              <c:pt idx="0">
                <c:v>120.47633852235127</c:v>
              </c:pt>
            </c:numLit>
          </c:yVal>
          <c:bubbleSize>
            <c:numLit>
              <c:formatCode>General</c:formatCode>
              <c:ptCount val="1"/>
              <c:pt idx="0">
                <c:v>986.92599999999993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3-CA79-4608-9833-73EBF9EF2995}"/>
            </c:ext>
          </c:extLst>
        </c:ser>
        <c:ser>
          <c:idx val="4"/>
          <c:order val="4"/>
          <c:tx>
            <c:v>Dental &amp; Oral Hygiene</c:v>
          </c:tx>
          <c:spPr>
            <a:solidFill>
              <a:srgbClr val="A35313"/>
            </a:solidFill>
          </c:spPr>
          <c:invertIfNegative val="0"/>
          <c:xVal>
            <c:numLit>
              <c:formatCode>General</c:formatCode>
              <c:ptCount val="1"/>
              <c:pt idx="0">
                <c:v>94.623790145627922</c:v>
              </c:pt>
            </c:numLit>
          </c:xVal>
          <c:yVal>
            <c:numLit>
              <c:formatCode>General</c:formatCode>
              <c:ptCount val="1"/>
              <c:pt idx="0">
                <c:v>78.045124469809707</c:v>
              </c:pt>
            </c:numLit>
          </c:yVal>
          <c:bubbleSize>
            <c:numLit>
              <c:formatCode>General</c:formatCode>
              <c:ptCount val="1"/>
              <c:pt idx="0">
                <c:v>615.68799999999999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4-CA79-4608-9833-73EBF9EF2995}"/>
            </c:ext>
          </c:extLst>
        </c:ser>
        <c:ser>
          <c:idx val="5"/>
          <c:order val="5"/>
          <c:tx>
            <c:v>Body &amp; Coat Odor Management</c:v>
          </c:tx>
          <c:spPr>
            <a:solidFill>
              <a:srgbClr val="808080"/>
            </a:solidFill>
          </c:spPr>
          <c:invertIfNegative val="0"/>
          <c:xVal>
            <c:numLit>
              <c:formatCode>General</c:formatCode>
              <c:ptCount val="1"/>
              <c:pt idx="0">
                <c:v>101.18160085633238</c:v>
              </c:pt>
            </c:numLit>
          </c:xVal>
          <c:yVal>
            <c:numLit>
              <c:formatCode>General</c:formatCode>
              <c:ptCount val="1"/>
              <c:pt idx="0">
                <c:v>66.523950167662278</c:v>
              </c:pt>
            </c:numLit>
          </c:yVal>
          <c:bubbleSize>
            <c:numLit>
              <c:formatCode>General</c:formatCode>
              <c:ptCount val="1"/>
              <c:pt idx="0">
                <c:v>544.971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5-CA79-4608-9833-73EBF9EF2995}"/>
            </c:ext>
          </c:extLst>
        </c:ser>
        <c:ser>
          <c:idx val="6"/>
          <c:order val="6"/>
          <c:tx>
            <c:v>Ear &amp; Eye-Area Hygiene</c:v>
          </c:tx>
          <c:spPr>
            <a:solidFill>
              <a:srgbClr val="0E72AE"/>
            </a:solidFill>
          </c:spPr>
          <c:invertIfNegative val="0"/>
          <c:xVal>
            <c:numLit>
              <c:formatCode>General</c:formatCode>
              <c:ptCount val="1"/>
              <c:pt idx="0">
                <c:v>101.76223775426334</c:v>
              </c:pt>
            </c:numLit>
          </c:xVal>
          <c:yVal>
            <c:numLit>
              <c:formatCode>General</c:formatCode>
              <c:ptCount val="1"/>
              <c:pt idx="0">
                <c:v>50.519197885900823</c:v>
              </c:pt>
            </c:numLit>
          </c:yVal>
          <c:bubbleSize>
            <c:numLit>
              <c:formatCode>General</c:formatCode>
              <c:ptCount val="1"/>
              <c:pt idx="0">
                <c:v>415.24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6-CA79-4608-9833-73EBF9EF29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"/>
          <c:min val="85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"/>
          <c:min val="0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880.33500000000004</c:v>
              </c:pt>
              <c:pt idx="2">
                <c:v>990.30799999999999</c:v>
              </c:pt>
              <c:pt idx="3">
                <c:v>1114.8229999999999</c:v>
              </c:pt>
              <c:pt idx="4">
                <c:v>1254.876</c:v>
              </c:pt>
              <c:pt idx="5">
                <c:v>1415.1379999999999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45E6-4AE5-8E3D-69A887843C47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45E6-4AE5-8E3D-69A887843C47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45E6-4AE5-8E3D-69A887843C47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45E6-4AE5-8E3D-69A887843C47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45E6-4AE5-8E3D-69A887843C47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45E6-4AE5-8E3D-69A887843C47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45E6-4AE5-8E3D-69A887843C47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45E6-4AE5-8E3D-69A887843C47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45E6-4AE5-8E3D-69A887843C4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5E6-4AE5-8E3D-69A887843C4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45E6-4AE5-8E3D-69A887843C4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45E6-4AE5-8E3D-69A887843C4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45E6-4AE5-8E3D-69A887843C47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45E6-4AE5-8E3D-69A887843C47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45E6-4AE5-8E3D-69A887843C4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880.33500000000004</c:v>
              </c:pt>
              <c:pt idx="1">
                <c:v>109.97299999999996</c:v>
              </c:pt>
              <c:pt idx="2">
                <c:v>124.51499999999987</c:v>
              </c:pt>
              <c:pt idx="3">
                <c:v>140.05300000000011</c:v>
              </c:pt>
              <c:pt idx="4">
                <c:v>160.26199999999994</c:v>
              </c:pt>
              <c:pt idx="5">
                <c:v>180.5440000000001</c:v>
              </c:pt>
              <c:pt idx="6">
                <c:v>1595.682</c:v>
              </c:pt>
            </c:numLit>
          </c:val>
          <c:extLst>
            <c:ext xmlns:c16="http://schemas.microsoft.com/office/drawing/2014/chart" uri="{C3380CC4-5D6E-409C-BE32-E72D297353CC}">
              <c16:uniqueId val="{0000000F-45E6-4AE5-8E3D-69A887843C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440.39</c:v>
              </c:pt>
              <c:pt idx="2">
                <c:v>494.74099999999999</c:v>
              </c:pt>
              <c:pt idx="3">
                <c:v>555.99900000000002</c:v>
              </c:pt>
              <c:pt idx="4">
                <c:v>624.24700000000007</c:v>
              </c:pt>
              <c:pt idx="5">
                <c:v>702.38099999999997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DD09-4A1B-A883-3FC5BBEAE693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DD09-4A1B-A883-3FC5BBEAE693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DD09-4A1B-A883-3FC5BBEAE693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DD09-4A1B-A883-3FC5BBEAE693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DD09-4A1B-A883-3FC5BBEAE693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DD09-4A1B-A883-3FC5BBEAE693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DD09-4A1B-A883-3FC5BBEAE693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DD09-4A1B-A883-3FC5BBEAE693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D09-4A1B-A883-3FC5BBEAE69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D09-4A1B-A883-3FC5BBEAE69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D09-4A1B-A883-3FC5BBEAE69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D09-4A1B-A883-3FC5BBEAE69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D09-4A1B-A883-3FC5BBEAE69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D09-4A1B-A883-3FC5BBEAE69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D09-4A1B-A883-3FC5BBEAE693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440.39</c:v>
              </c:pt>
              <c:pt idx="1">
                <c:v>54.350999999999999</c:v>
              </c:pt>
              <c:pt idx="2">
                <c:v>61.258000000000038</c:v>
              </c:pt>
              <c:pt idx="3">
                <c:v>68.248000000000047</c:v>
              </c:pt>
              <c:pt idx="4">
                <c:v>78.133999999999901</c:v>
              </c:pt>
              <c:pt idx="5">
                <c:v>87.540000000000077</c:v>
              </c:pt>
              <c:pt idx="6">
                <c:v>789.92100000000005</c:v>
              </c:pt>
            </c:numLit>
          </c:val>
          <c:extLst>
            <c:ext xmlns:c16="http://schemas.microsoft.com/office/drawing/2014/chart" uri="{C3380CC4-5D6E-409C-BE32-E72D297353CC}">
              <c16:uniqueId val="{0000000F-DD09-4A1B-A883-3FC5BBEAE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410.42599999999999</c:v>
              </c:pt>
              <c:pt idx="2">
                <c:v>462.428</c:v>
              </c:pt>
              <c:pt idx="3">
                <c:v>521.03300000000002</c:v>
              </c:pt>
              <c:pt idx="4">
                <c:v>586.98099999999999</c:v>
              </c:pt>
              <c:pt idx="5">
                <c:v>662.20500000000004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83F1-4E97-BA4E-FC6A4C410374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83F1-4E97-BA4E-FC6A4C410374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83F1-4E97-BA4E-FC6A4C410374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83F1-4E97-BA4E-FC6A4C410374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83F1-4E97-BA4E-FC6A4C410374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83F1-4E97-BA4E-FC6A4C410374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83F1-4E97-BA4E-FC6A4C410374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83F1-4E97-BA4E-FC6A4C410374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3F1-4E97-BA4E-FC6A4C41037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3F1-4E97-BA4E-FC6A4C41037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3F1-4E97-BA4E-FC6A4C41037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3F1-4E97-BA4E-FC6A4C41037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3F1-4E97-BA4E-FC6A4C41037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3F1-4E97-BA4E-FC6A4C41037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83F1-4E97-BA4E-FC6A4C410374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410.42599999999999</c:v>
              </c:pt>
              <c:pt idx="1">
                <c:v>52.00200000000001</c:v>
              </c:pt>
              <c:pt idx="2">
                <c:v>58.605000000000018</c:v>
              </c:pt>
              <c:pt idx="3">
                <c:v>65.947999999999979</c:v>
              </c:pt>
              <c:pt idx="4">
                <c:v>75.224000000000046</c:v>
              </c:pt>
              <c:pt idx="5">
                <c:v>85.058999999999969</c:v>
              </c:pt>
              <c:pt idx="6">
                <c:v>747.26400000000001</c:v>
              </c:pt>
            </c:numLit>
          </c:val>
          <c:extLst>
            <c:ext xmlns:c16="http://schemas.microsoft.com/office/drawing/2014/chart" uri="{C3380CC4-5D6E-409C-BE32-E72D297353CC}">
              <c16:uniqueId val="{0000000F-83F1-4E97-BA4E-FC6A4C41037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542.51699999999994</c:v>
              </c:pt>
              <c:pt idx="2">
                <c:v>611.452</c:v>
              </c:pt>
              <c:pt idx="3">
                <c:v>689.24700000000007</c:v>
              </c:pt>
              <c:pt idx="4">
                <c:v>776.13300000000004</c:v>
              </c:pt>
              <c:pt idx="5">
                <c:v>875.31899999999996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EBB1-4C44-9714-7CDAE1970CE8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EBB1-4C44-9714-7CDAE1970CE8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EBB1-4C44-9714-7CDAE1970CE8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EBB1-4C44-9714-7CDAE1970CE8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EBB1-4C44-9714-7CDAE1970CE8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EBB1-4C44-9714-7CDAE1970CE8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EBB1-4C44-9714-7CDAE1970CE8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EBB1-4C44-9714-7CDAE1970CE8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BB1-4C44-9714-7CDAE1970CE8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EBB1-4C44-9714-7CDAE1970CE8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EBB1-4C44-9714-7CDAE1970CE8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EBB1-4C44-9714-7CDAE1970CE8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EBB1-4C44-9714-7CDAE1970CE8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EBB1-4C44-9714-7CDAE1970CE8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EBB1-4C44-9714-7CDAE1970CE8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542.51699999999994</c:v>
              </c:pt>
              <c:pt idx="1">
                <c:v>68.935000000000059</c:v>
              </c:pt>
              <c:pt idx="2">
                <c:v>77.795000000000073</c:v>
              </c:pt>
              <c:pt idx="3">
                <c:v>86.885999999999967</c:v>
              </c:pt>
              <c:pt idx="4">
                <c:v>99.185999999999922</c:v>
              </c:pt>
              <c:pt idx="5">
                <c:v>111.60699999999997</c:v>
              </c:pt>
              <c:pt idx="6">
                <c:v>986.92599999999993</c:v>
              </c:pt>
            </c:numLit>
          </c:val>
          <c:extLst>
            <c:ext xmlns:c16="http://schemas.microsoft.com/office/drawing/2014/chart" uri="{C3380CC4-5D6E-409C-BE32-E72D297353CC}">
              <c16:uniqueId val="{0000000F-EBB1-4C44-9714-7CDAE1970C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351.44499999999999</c:v>
              </c:pt>
              <c:pt idx="2">
                <c:v>392.88099999999997</c:v>
              </c:pt>
              <c:pt idx="3">
                <c:v>439.33500000000004</c:v>
              </c:pt>
              <c:pt idx="4">
                <c:v>491.02700000000004</c:v>
              </c:pt>
              <c:pt idx="5">
                <c:v>550.05999999999995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FFCA-49EA-BB2B-FEE229A48EB8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FFCA-49EA-BB2B-FEE229A48EB8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FFCA-49EA-BB2B-FEE229A48EB8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FFCA-49EA-BB2B-FEE229A48EB8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FFCA-49EA-BB2B-FEE229A48EB8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FFCA-49EA-BB2B-FEE229A48EB8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FFCA-49EA-BB2B-FEE229A48EB8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FFCA-49EA-BB2B-FEE229A48EB8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FCA-49EA-BB2B-FEE229A48EB8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FCA-49EA-BB2B-FEE229A48EB8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FCA-49EA-BB2B-FEE229A48EB8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FCA-49EA-BB2B-FEE229A48EB8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FCA-49EA-BB2B-FEE229A48EB8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FFCA-49EA-BB2B-FEE229A48EB8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FFCA-49EA-BB2B-FEE229A48EB8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351.44499999999999</c:v>
              </c:pt>
              <c:pt idx="1">
                <c:v>41.435999999999979</c:v>
              </c:pt>
              <c:pt idx="2">
                <c:v>46.454000000000065</c:v>
              </c:pt>
              <c:pt idx="3">
                <c:v>51.692000000000007</c:v>
              </c:pt>
              <c:pt idx="4">
                <c:v>59.032999999999902</c:v>
              </c:pt>
              <c:pt idx="5">
                <c:v>65.628000000000043</c:v>
              </c:pt>
              <c:pt idx="6">
                <c:v>615.68799999999999</c:v>
              </c:pt>
            </c:numLit>
          </c:val>
          <c:extLst>
            <c:ext xmlns:c16="http://schemas.microsoft.com/office/drawing/2014/chart" uri="{C3380CC4-5D6E-409C-BE32-E72D297353CC}">
              <c16:uniqueId val="{0000000F-FFCA-49EA-BB2B-FEE229A48E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299.56399999999996</c:v>
              </c:pt>
              <c:pt idx="2">
                <c:v>337.52</c:v>
              </c:pt>
              <c:pt idx="3">
                <c:v>380.38400000000001</c:v>
              </c:pt>
              <c:pt idx="4">
                <c:v>428.34100000000001</c:v>
              </c:pt>
              <c:pt idx="5">
                <c:v>483.31299999999999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8BC8-49E9-815D-0761FE1FE3A4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8BC8-49E9-815D-0761FE1FE3A4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8BC8-49E9-815D-0761FE1FE3A4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8BC8-49E9-815D-0761FE1FE3A4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8BC8-49E9-815D-0761FE1FE3A4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8BC8-49E9-815D-0761FE1FE3A4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8BC8-49E9-815D-0761FE1FE3A4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8BC8-49E9-815D-0761FE1FE3A4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BC8-49E9-815D-0761FE1FE3A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BC8-49E9-815D-0761FE1FE3A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BC8-49E9-815D-0761FE1FE3A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BC8-49E9-815D-0761FE1FE3A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BC8-49E9-815D-0761FE1FE3A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BC8-49E9-815D-0761FE1FE3A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8BC8-49E9-815D-0761FE1FE3A4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299.56399999999996</c:v>
              </c:pt>
              <c:pt idx="1">
                <c:v>37.956000000000017</c:v>
              </c:pt>
              <c:pt idx="2">
                <c:v>42.864000000000033</c:v>
              </c:pt>
              <c:pt idx="3">
                <c:v>47.956999999999994</c:v>
              </c:pt>
              <c:pt idx="4">
                <c:v>54.97199999999998</c:v>
              </c:pt>
              <c:pt idx="5">
                <c:v>61.658000000000015</c:v>
              </c:pt>
              <c:pt idx="6">
                <c:v>544.971</c:v>
              </c:pt>
            </c:numLit>
          </c:val>
          <c:extLst>
            <c:ext xmlns:c16="http://schemas.microsoft.com/office/drawing/2014/chart" uri="{C3380CC4-5D6E-409C-BE32-E72D297353CC}">
              <c16:uniqueId val="{0000000F-8BC8-49E9-815D-0761FE1FE3A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227.49299999999999</c:v>
              </c:pt>
              <c:pt idx="2">
                <c:v>256.459</c:v>
              </c:pt>
              <c:pt idx="3">
                <c:v>289.20100000000002</c:v>
              </c:pt>
              <c:pt idx="4">
                <c:v>325.86599999999999</c:v>
              </c:pt>
              <c:pt idx="5">
                <c:v>367.95499999999998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AA84-4BF6-999C-2DCFBF445F1F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AA84-4BF6-999C-2DCFBF445F1F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AA84-4BF6-999C-2DCFBF445F1F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AA84-4BF6-999C-2DCFBF445F1F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AA84-4BF6-999C-2DCFBF445F1F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AA84-4BF6-999C-2DCFBF445F1F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AA84-4BF6-999C-2DCFBF445F1F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AA84-4BF6-999C-2DCFBF445F1F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A84-4BF6-999C-2DCFBF445F1F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A84-4BF6-999C-2DCFBF445F1F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A84-4BF6-999C-2DCFBF445F1F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A84-4BF6-999C-2DCFBF445F1F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AA84-4BF6-999C-2DCFBF445F1F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AA84-4BF6-999C-2DCFBF445F1F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AA84-4BF6-999C-2DCFBF445F1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227.49299999999999</c:v>
              </c:pt>
              <c:pt idx="1">
                <c:v>28.966000000000008</c:v>
              </c:pt>
              <c:pt idx="2">
                <c:v>32.742000000000019</c:v>
              </c:pt>
              <c:pt idx="3">
                <c:v>36.664999999999964</c:v>
              </c:pt>
              <c:pt idx="4">
                <c:v>42.088999999999999</c:v>
              </c:pt>
              <c:pt idx="5">
                <c:v>47.285000000000025</c:v>
              </c:pt>
              <c:pt idx="6">
                <c:v>415.24</c:v>
              </c:pt>
            </c:numLit>
          </c:val>
          <c:extLst>
            <c:ext xmlns:c16="http://schemas.microsoft.com/office/drawing/2014/chart" uri="{C3380CC4-5D6E-409C-BE32-E72D297353CC}">
              <c16:uniqueId val="{0000000F-AA84-4BF6-999C-2DCFBF445F1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Cleansing &amp; General Hygiene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198-4AC0-87F5-8742646A0D2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198-4AC0-87F5-8742646A0D2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0198-4AC0-87F5-8742646A0D2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27.925256507204516</c:v>
              </c:pt>
              <c:pt idx="1">
                <c:v>27.927903634638994</c:v>
              </c:pt>
              <c:pt idx="2">
                <c:v>28.015594944389548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0198-4AC0-87F5-8742646A0D2F}"/>
            </c:ext>
          </c:extLst>
        </c:ser>
        <c:ser>
          <c:idx val="1"/>
          <c:order val="1"/>
          <c:tx>
            <c:v>Coat Conditioning &amp; Softening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198-4AC0-87F5-8742646A0D2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0198-4AC0-87F5-8742646A0D2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198-4AC0-87F5-8742646A0D2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17.123441638670915</c:v>
              </c:pt>
              <c:pt idx="1">
                <c:v>17.210905503193036</c:v>
              </c:pt>
              <c:pt idx="2">
                <c:v>17.327587236107568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0198-4AC0-87F5-8742646A0D2F}"/>
            </c:ext>
          </c:extLst>
        </c:ser>
        <c:ser>
          <c:idx val="2"/>
          <c:order val="2"/>
          <c:tx>
            <c:v>Moisturizing &amp; Skin Barrier Care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198-4AC0-87F5-8742646A0D2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198-4AC0-87F5-8742646A0D2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0198-4AC0-87F5-8742646A0D2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14.029652770029873</c:v>
              </c:pt>
              <c:pt idx="1">
                <c:v>13.97101044677159</c:v>
              </c:pt>
              <c:pt idx="2">
                <c:v>13.868745009386041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0198-4AC0-87F5-8742646A0D2F}"/>
            </c:ext>
          </c:extLst>
        </c:ser>
        <c:ser>
          <c:idx val="3"/>
          <c:order val="3"/>
          <c:tx>
            <c:v>Skin Soothing &amp; Comfort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0198-4AC0-87F5-8742646A0D2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0198-4AC0-87F5-8742646A0D2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0198-4AC0-87F5-8742646A0D2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12.980483551720862</c:v>
              </c:pt>
              <c:pt idx="1">
                <c:v>13.020427197771692</c:v>
              </c:pt>
              <c:pt idx="2">
                <c:v>13.119810551553702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F-0198-4AC0-87F5-8742646A0D2F}"/>
            </c:ext>
          </c:extLst>
        </c:ser>
        <c:ser>
          <c:idx val="4"/>
          <c:order val="4"/>
          <c:tx>
            <c:v>Dental &amp; Oral Hygiene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0198-4AC0-87F5-8742646A0D2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0198-4AC0-87F5-8742646A0D2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0198-4AC0-87F5-8742646A0D2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11.312969781116605</c:v>
              </c:pt>
              <c:pt idx="1">
                <c:v>11.149303495687098</c:v>
              </c:pt>
              <c:pt idx="2">
                <c:v>10.809713727497904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3-0198-4AC0-87F5-8742646A0D2F}"/>
            </c:ext>
          </c:extLst>
        </c:ser>
        <c:ser>
          <c:idx val="5"/>
          <c:order val="5"/>
          <c:tx>
            <c:v>Body &amp; Coat Odor Management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0198-4AC0-87F5-8742646A0D2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0198-4AC0-87F5-8742646A0D2F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0198-4AC0-87F5-8742646A0D2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9.4516964805930535</c:v>
              </c:pt>
              <c:pt idx="1">
                <c:v>9.503421452523181</c:v>
              </c:pt>
              <c:pt idx="2">
                <c:v>9.5681262259265409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7-0198-4AC0-87F5-8742646A0D2F}"/>
            </c:ext>
          </c:extLst>
        </c:ser>
        <c:ser>
          <c:idx val="6"/>
          <c:order val="6"/>
          <c:tx>
            <c:v>Ear &amp; Eye-Area Hygiene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0198-4AC0-87F5-8742646A0D2F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0198-4AC0-87F5-8742646A0D2F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0198-4AC0-87F5-8742646A0D2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7.1764992706641699</c:v>
              </c:pt>
              <c:pt idx="1">
                <c:v>7.2170282694144037</c:v>
              </c:pt>
              <c:pt idx="2">
                <c:v>7.2904223051386916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B-0198-4AC0-87F5-8742646A0D2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Dogs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47D7-4EF7-9698-2FAC4DE10C0D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7D7-4EF7-9698-2FAC4DE10C0D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47D7-4EF7-9698-2FAC4DE10C0D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7D7-4EF7-9698-2FAC4DE10C0D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7D7-4EF7-9698-2FAC4DE10C0D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47D7-4EF7-9698-2FAC4DE10C0D}"/>
                </c:ext>
              </c:extLst>
            </c:dLbl>
            <c:dLbl>
              <c:idx val="6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47D7-4EF7-9698-2FAC4DE10C0D}"/>
                </c:ext>
              </c:extLst>
            </c:dLbl>
            <c:dLbl>
              <c:idx val="7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47D7-4EF7-9698-2FAC4DE10C0D}"/>
                </c:ext>
              </c:extLst>
            </c:dLbl>
            <c:dLbl>
              <c:idx val="8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47D7-4EF7-9698-2FAC4DE10C0D}"/>
                </c:ext>
              </c:extLst>
            </c:dLbl>
            <c:dLbl>
              <c:idx val="9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47D7-4EF7-9698-2FAC4DE10C0D}"/>
                </c:ext>
              </c:extLst>
            </c:dLbl>
            <c:dLbl>
              <c:idx val="1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47D7-4EF7-9698-2FAC4DE10C0D}"/>
                </c:ext>
              </c:extLst>
            </c:dLbl>
            <c:dLbl>
              <c:idx val="1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47D7-4EF7-9698-2FAC4DE10C0D}"/>
                </c:ext>
              </c:extLst>
            </c:dLbl>
            <c:dLbl>
              <c:idx val="1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47D7-4EF7-9698-2FAC4DE10C0D}"/>
                </c:ext>
              </c:extLst>
            </c:dLbl>
            <c:dLbl>
              <c:idx val="1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47D7-4EF7-9698-2FAC4DE10C0D}"/>
                </c:ext>
              </c:extLst>
            </c:dLbl>
            <c:dLbl>
              <c:idx val="1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47D7-4EF7-9698-2FAC4DE10C0D}"/>
                </c:ext>
              </c:extLst>
            </c:dLbl>
            <c:dLbl>
              <c:idx val="1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47D7-4EF7-9698-2FAC4DE10C0D}"/>
                </c:ext>
              </c:extLst>
            </c:dLbl>
            <c:dLbl>
              <c:idx val="16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47D7-4EF7-9698-2FAC4DE10C0D}"/>
                </c:ext>
              </c:extLst>
            </c:dLbl>
            <c:dLbl>
              <c:idx val="17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47D7-4EF7-9698-2FAC4DE10C0D}"/>
                </c:ext>
              </c:extLst>
            </c:dLbl>
            <c:dLbl>
              <c:idx val="18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47D7-4EF7-9698-2FAC4DE10C0D}"/>
                </c:ext>
              </c:extLst>
            </c:dLbl>
            <c:dLbl>
              <c:idx val="19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47D7-4EF7-9698-2FAC4DE10C0D}"/>
                </c:ext>
              </c:extLst>
            </c:dLbl>
            <c:dLbl>
              <c:idx val="2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47D7-4EF7-9698-2FAC4DE10C0D}"/>
                </c:ext>
              </c:extLst>
            </c:dLbl>
            <c:dLbl>
              <c:idx val="2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47D7-4EF7-9698-2FAC4DE10C0D}"/>
                </c:ext>
              </c:extLst>
            </c:dLbl>
            <c:dLbl>
              <c:idx val="2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47D7-4EF7-9698-2FAC4DE10C0D}"/>
                </c:ext>
              </c:extLst>
            </c:dLbl>
            <c:dLbl>
              <c:idx val="2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47D7-4EF7-9698-2FAC4DE10C0D}"/>
                </c:ext>
              </c:extLst>
            </c:dLbl>
            <c:dLbl>
              <c:idx val="2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47D7-4EF7-9698-2FAC4DE10C0D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60.23223926643243</c:v>
              </c:pt>
              <c:pt idx="1">
                <c:v>77.167912931135731</c:v>
              </c:pt>
              <c:pt idx="2">
                <c:v>73.044811166916702</c:v>
              </c:pt>
              <c:pt idx="3">
                <c:v>76.614321414247371</c:v>
              </c:pt>
              <c:pt idx="4">
                <c:v>61.208844550826036</c:v>
              </c:pt>
              <c:pt idx="5">
                <c:v>72.109303336069146</c:v>
              </c:pt>
              <c:pt idx="6">
                <c:v>74.46569354461009</c:v>
              </c:pt>
              <c:pt idx="7">
                <c:v>67.997653017108277</c:v>
              </c:pt>
              <c:pt idx="8">
                <c:v>70.328813469722206</c:v>
              </c:pt>
              <c:pt idx="9">
                <c:v>75.747358957068997</c:v>
              </c:pt>
              <c:pt idx="10">
                <c:v>77.864645841191475</c:v>
              </c:pt>
              <c:pt idx="11">
                <c:v>72.823207585931002</c:v>
              </c:pt>
              <c:pt idx="12">
                <c:v>72.67009175863673</c:v>
              </c:pt>
              <c:pt idx="13">
                <c:v>56.611117962631809</c:v>
              </c:pt>
              <c:pt idx="14">
                <c:v>59.21638731504806</c:v>
              </c:pt>
              <c:pt idx="15">
                <c:v>72.596127323881504</c:v>
              </c:pt>
              <c:pt idx="16">
                <c:v>75.881201403323544</c:v>
              </c:pt>
              <c:pt idx="17">
                <c:v>70.035284582045136</c:v>
              </c:pt>
              <c:pt idx="18">
                <c:v>66.368115033772014</c:v>
              </c:pt>
              <c:pt idx="19">
                <c:v>72.708037437634289</c:v>
              </c:pt>
              <c:pt idx="20">
                <c:v>78.993109722840813</c:v>
              </c:pt>
              <c:pt idx="21">
                <c:v>74.823059090278903</c:v>
              </c:pt>
              <c:pt idx="22">
                <c:v>72.777645499906825</c:v>
              </c:pt>
              <c:pt idx="23">
                <c:v>62.582222719562495</c:v>
              </c:pt>
              <c:pt idx="24">
                <c:v>67.531595525703992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9-47D7-4EF7-9698-2FAC4DE10C0D}"/>
            </c:ext>
          </c:extLst>
        </c:ser>
        <c:ser>
          <c:idx val="1"/>
          <c:order val="1"/>
          <c:tx>
            <c:v>Cats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47D7-4EF7-9698-2FAC4DE10C0D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47D7-4EF7-9698-2FAC4DE10C0D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47D7-4EF7-9698-2FAC4DE10C0D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47D7-4EF7-9698-2FAC4DE10C0D}"/>
                </c:ext>
              </c:extLst>
            </c:dLbl>
            <c:dLbl>
              <c:idx val="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47D7-4EF7-9698-2FAC4DE10C0D}"/>
                </c:ext>
              </c:extLst>
            </c:dLbl>
            <c:dLbl>
              <c:idx val="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47D7-4EF7-9698-2FAC4DE10C0D}"/>
                </c:ext>
              </c:extLst>
            </c:dLbl>
            <c:dLbl>
              <c:idx val="6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47D7-4EF7-9698-2FAC4DE10C0D}"/>
                </c:ext>
              </c:extLst>
            </c:dLbl>
            <c:dLbl>
              <c:idx val="7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47D7-4EF7-9698-2FAC4DE10C0D}"/>
                </c:ext>
              </c:extLst>
            </c:dLbl>
            <c:dLbl>
              <c:idx val="8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47D7-4EF7-9698-2FAC4DE10C0D}"/>
                </c:ext>
              </c:extLst>
            </c:dLbl>
            <c:dLbl>
              <c:idx val="9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47D7-4EF7-9698-2FAC4DE10C0D}"/>
                </c:ext>
              </c:extLst>
            </c:dLbl>
            <c:dLbl>
              <c:idx val="1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47D7-4EF7-9698-2FAC4DE10C0D}"/>
                </c:ext>
              </c:extLst>
            </c:dLbl>
            <c:dLbl>
              <c:idx val="1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47D7-4EF7-9698-2FAC4DE10C0D}"/>
                </c:ext>
              </c:extLst>
            </c:dLbl>
            <c:dLbl>
              <c:idx val="1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47D7-4EF7-9698-2FAC4DE10C0D}"/>
                </c:ext>
              </c:extLst>
            </c:dLbl>
            <c:dLbl>
              <c:idx val="1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47D7-4EF7-9698-2FAC4DE10C0D}"/>
                </c:ext>
              </c:extLst>
            </c:dLbl>
            <c:dLbl>
              <c:idx val="1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47D7-4EF7-9698-2FAC4DE10C0D}"/>
                </c:ext>
              </c:extLst>
            </c:dLbl>
            <c:dLbl>
              <c:idx val="15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47D7-4EF7-9698-2FAC4DE10C0D}"/>
                </c:ext>
              </c:extLst>
            </c:dLbl>
            <c:dLbl>
              <c:idx val="16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47D7-4EF7-9698-2FAC4DE10C0D}"/>
                </c:ext>
              </c:extLst>
            </c:dLbl>
            <c:dLbl>
              <c:idx val="17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47D7-4EF7-9698-2FAC4DE10C0D}"/>
                </c:ext>
              </c:extLst>
            </c:dLbl>
            <c:dLbl>
              <c:idx val="18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47D7-4EF7-9698-2FAC4DE10C0D}"/>
                </c:ext>
              </c:extLst>
            </c:dLbl>
            <c:dLbl>
              <c:idx val="19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47D7-4EF7-9698-2FAC4DE10C0D}"/>
                </c:ext>
              </c:extLst>
            </c:dLbl>
            <c:dLbl>
              <c:idx val="2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47D7-4EF7-9698-2FAC4DE10C0D}"/>
                </c:ext>
              </c:extLst>
            </c:dLbl>
            <c:dLbl>
              <c:idx val="2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F-47D7-4EF7-9698-2FAC4DE10C0D}"/>
                </c:ext>
              </c:extLst>
            </c:dLbl>
            <c:dLbl>
              <c:idx val="2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47D7-4EF7-9698-2FAC4DE10C0D}"/>
                </c:ext>
              </c:extLst>
            </c:dLbl>
            <c:dLbl>
              <c:idx val="2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47D7-4EF7-9698-2FAC4DE10C0D}"/>
                </c:ext>
              </c:extLst>
            </c:dLbl>
            <c:dLbl>
              <c:idx val="24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2-47D7-4EF7-9698-2FAC4DE10C0D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39.767760733567563</c:v>
              </c:pt>
              <c:pt idx="1">
                <c:v>22.832087068864269</c:v>
              </c:pt>
              <c:pt idx="2">
                <c:v>26.955188833083298</c:v>
              </c:pt>
              <c:pt idx="3">
                <c:v>23.385678585752633</c:v>
              </c:pt>
              <c:pt idx="4">
                <c:v>38.791155449173964</c:v>
              </c:pt>
              <c:pt idx="5">
                <c:v>27.890696663930864</c:v>
              </c:pt>
              <c:pt idx="6">
                <c:v>25.534306455389899</c:v>
              </c:pt>
              <c:pt idx="7">
                <c:v>32.00234698289173</c:v>
              </c:pt>
              <c:pt idx="8">
                <c:v>29.671186530277804</c:v>
              </c:pt>
              <c:pt idx="9">
                <c:v>24.252641042930996</c:v>
              </c:pt>
              <c:pt idx="10">
                <c:v>22.135354158808536</c:v>
              </c:pt>
              <c:pt idx="11">
                <c:v>27.176792414069002</c:v>
              </c:pt>
              <c:pt idx="12">
                <c:v>27.32990824136327</c:v>
              </c:pt>
              <c:pt idx="13">
                <c:v>43.388882037368191</c:v>
              </c:pt>
              <c:pt idx="14">
                <c:v>40.783612684951954</c:v>
              </c:pt>
              <c:pt idx="15">
                <c:v>27.403872676118503</c:v>
              </c:pt>
              <c:pt idx="16">
                <c:v>24.118798596676459</c:v>
              </c:pt>
              <c:pt idx="17">
                <c:v>29.964715417954853</c:v>
              </c:pt>
              <c:pt idx="18">
                <c:v>33.631884966227979</c:v>
              </c:pt>
              <c:pt idx="19">
                <c:v>27.291962562365708</c:v>
              </c:pt>
              <c:pt idx="20">
                <c:v>21.006890277159197</c:v>
              </c:pt>
              <c:pt idx="21">
                <c:v>25.176940909721086</c:v>
              </c:pt>
              <c:pt idx="22">
                <c:v>27.222354500093171</c:v>
              </c:pt>
              <c:pt idx="23">
                <c:v>37.417777280437505</c:v>
              </c:pt>
              <c:pt idx="24">
                <c:v>32.468404474296008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3-47D7-4EF7-9698-2FAC4DE10C0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Dogs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99.175492613593548</c:v>
              </c:pt>
            </c:numLit>
          </c:xVal>
          <c:yVal>
            <c:numLit>
              <c:formatCode>General</c:formatCode>
              <c:ptCount val="1"/>
              <c:pt idx="0">
                <c:v>140.51709725322817</c:v>
              </c:pt>
            </c:numLit>
          </c:yVal>
          <c:bubbleSize>
            <c:numLit>
              <c:formatCode>General</c:formatCode>
              <c:ptCount val="1"/>
              <c:pt idx="0">
                <c:v>3982.797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3A67-4420-BD2C-16636AA9E59C}"/>
            </c:ext>
          </c:extLst>
        </c:ser>
        <c:ser>
          <c:idx val="1"/>
          <c:order val="1"/>
          <c:tx>
            <c:v>Cats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101.93389970118648</c:v>
              </c:pt>
            </c:numLit>
          </c:xVal>
          <c:yVal>
            <c:numLit>
              <c:formatCode>General</c:formatCode>
              <c:ptCount val="1"/>
              <c:pt idx="0">
                <c:v>59.482902746771828</c:v>
              </c:pt>
            </c:numLit>
          </c:yVal>
          <c:bubbleSize>
            <c:numLit>
              <c:formatCode>General</c:formatCode>
              <c:ptCount val="1"/>
              <c:pt idx="0">
                <c:v>1712.895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3A67-4420-BD2C-16636AA9E59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"/>
          <c:min val="90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75"/>
          <c:min val="25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2214.6710000000003</c:v>
              </c:pt>
              <c:pt idx="2">
                <c:v>2488.69</c:v>
              </c:pt>
              <c:pt idx="3">
                <c:v>2797.8139999999999</c:v>
              </c:pt>
              <c:pt idx="4">
                <c:v>3143.8050000000003</c:v>
              </c:pt>
              <c:pt idx="5">
                <c:v>3538.7910000000002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D4A1-44BE-94D1-29028EE4002F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D4A1-44BE-94D1-29028EE4002F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D4A1-44BE-94D1-29028EE4002F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D4A1-44BE-94D1-29028EE4002F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D4A1-44BE-94D1-29028EE4002F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D4A1-44BE-94D1-29028EE4002F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D4A1-44BE-94D1-29028EE4002F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D4A1-44BE-94D1-29028EE4002F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4A1-44BE-94D1-29028EE4002F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4A1-44BE-94D1-29028EE4002F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4A1-44BE-94D1-29028EE4002F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4A1-44BE-94D1-29028EE4002F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4A1-44BE-94D1-29028EE4002F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4A1-44BE-94D1-29028EE4002F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4A1-44BE-94D1-29028EE4002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2214.6710000000003</c:v>
              </c:pt>
              <c:pt idx="1">
                <c:v>274.01899999999978</c:v>
              </c:pt>
              <c:pt idx="2">
                <c:v>309.1239999999998</c:v>
              </c:pt>
              <c:pt idx="3">
                <c:v>345.99100000000044</c:v>
              </c:pt>
              <c:pt idx="4">
                <c:v>394.98599999999988</c:v>
              </c:pt>
              <c:pt idx="5">
                <c:v>444.00599999999986</c:v>
              </c:pt>
              <c:pt idx="6">
                <c:v>3982.797</c:v>
              </c:pt>
            </c:numLit>
          </c:val>
          <c:extLst>
            <c:ext xmlns:c16="http://schemas.microsoft.com/office/drawing/2014/chart" uri="{C3380CC4-5D6E-409C-BE32-E72D297353CC}">
              <c16:uniqueId val="{0000000F-D4A1-44BE-94D1-29028EE4002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937.50199999999995</c:v>
              </c:pt>
              <c:pt idx="2">
                <c:v>1057.0999999999999</c:v>
              </c:pt>
              <c:pt idx="3">
                <c:v>1192.2070000000001</c:v>
              </c:pt>
              <c:pt idx="4">
                <c:v>1343.665</c:v>
              </c:pt>
              <c:pt idx="5">
                <c:v>1517.5810000000001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5D99-40D4-ADC1-298AA038FC4F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5D99-40D4-ADC1-298AA038FC4F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5D99-40D4-ADC1-298AA038FC4F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5D99-40D4-ADC1-298AA038FC4F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5D99-40D4-ADC1-298AA038FC4F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5D99-40D4-ADC1-298AA038FC4F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5D99-40D4-ADC1-298AA038FC4F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5D99-40D4-ADC1-298AA038FC4F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D99-40D4-ADC1-298AA038FC4F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D99-40D4-ADC1-298AA038FC4F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D99-40D4-ADC1-298AA038FC4F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5D99-40D4-ADC1-298AA038FC4F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5D99-40D4-ADC1-298AA038FC4F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5D99-40D4-ADC1-298AA038FC4F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D99-40D4-ADC1-298AA038FC4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937.50199999999995</c:v>
              </c:pt>
              <c:pt idx="1">
                <c:v>119.59799999999996</c:v>
              </c:pt>
              <c:pt idx="2">
                <c:v>135.1070000000002</c:v>
              </c:pt>
              <c:pt idx="3">
                <c:v>151.45799999999986</c:v>
              </c:pt>
              <c:pt idx="4">
                <c:v>173.91600000000017</c:v>
              </c:pt>
              <c:pt idx="5">
                <c:v>195.31399999999985</c:v>
              </c:pt>
              <c:pt idx="6">
                <c:v>1712.895</c:v>
              </c:pt>
            </c:numLit>
          </c:val>
          <c:extLst>
            <c:ext xmlns:c16="http://schemas.microsoft.com/office/drawing/2014/chart" uri="{C3380CC4-5D6E-409C-BE32-E72D297353CC}">
              <c16:uniqueId val="{0000000F-5D99-40D4-ADC1-298AA038FC4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Dogs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4D2C-482F-9BB2-05DA96DD61EA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D2C-482F-9BB2-05DA96DD61EA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4D2C-482F-9BB2-05DA96DD61EA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70.452890690534332</c:v>
              </c:pt>
              <c:pt idx="1">
                <c:v>70.258548626614086</c:v>
              </c:pt>
              <c:pt idx="2">
                <c:v>69.926481277428621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4D2C-482F-9BB2-05DA96DD61EA}"/>
            </c:ext>
          </c:extLst>
        </c:ser>
        <c:ser>
          <c:idx val="1"/>
          <c:order val="1"/>
          <c:tx>
            <c:v>Cats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D2C-482F-9BB2-05DA96DD61EA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4D2C-482F-9BB2-05DA96DD61EA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4D2C-482F-9BB2-05DA96DD61EA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29.547109309465664</c:v>
              </c:pt>
              <c:pt idx="1">
                <c:v>29.741451373385914</c:v>
              </c:pt>
              <c:pt idx="2">
                <c:v>30.073518722571375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4D2C-482F-9BB2-05DA96DD61E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Liquid, Gel &amp; Cream Products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0A2-47C2-8157-01A8DA456AF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F0A2-47C2-8157-01A8DA456AF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0A2-47C2-8157-01A8DA456AF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0A2-47C2-8157-01A8DA456AF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0A2-47C2-8157-01A8DA456AF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F0A2-47C2-8157-01A8DA456AFB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0A2-47C2-8157-01A8DA456AFB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0A2-47C2-8157-01A8DA456AFB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0A2-47C2-8157-01A8DA456AFB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F0A2-47C2-8157-01A8DA456AFB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0A2-47C2-8157-01A8DA456AFB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0A2-47C2-8157-01A8DA456AFB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F0A2-47C2-8157-01A8DA456AFB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F0A2-47C2-8157-01A8DA456AFB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F0A2-47C2-8157-01A8DA456AFB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F0A2-47C2-8157-01A8DA456AFB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F0A2-47C2-8157-01A8DA456AFB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F0A2-47C2-8157-01A8DA456AFB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F0A2-47C2-8157-01A8DA456AFB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F0A2-47C2-8157-01A8DA456AFB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F0A2-47C2-8157-01A8DA456AFB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F0A2-47C2-8157-01A8DA456AFB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F0A2-47C2-8157-01A8DA456AFB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F0A2-47C2-8157-01A8DA456AFB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F0A2-47C2-8157-01A8DA456AF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61.140629017053726</c:v>
              </c:pt>
              <c:pt idx="1">
                <c:v>61.966096386485539</c:v>
              </c:pt>
              <c:pt idx="2">
                <c:v>63.567585194847545</c:v>
              </c:pt>
              <c:pt idx="3">
                <c:v>62.37697078152479</c:v>
              </c:pt>
              <c:pt idx="4">
                <c:v>67.077865559721488</c:v>
              </c:pt>
              <c:pt idx="5">
                <c:v>67.206862145547007</c:v>
              </c:pt>
              <c:pt idx="6">
                <c:v>64.696974427826532</c:v>
              </c:pt>
              <c:pt idx="7">
                <c:v>66.192637885244892</c:v>
              </c:pt>
              <c:pt idx="8">
                <c:v>77.028295029537318</c:v>
              </c:pt>
              <c:pt idx="9">
                <c:v>64.93280651114371</c:v>
              </c:pt>
              <c:pt idx="10">
                <c:v>68.679491136028531</c:v>
              </c:pt>
              <c:pt idx="11">
                <c:v>68.892180607213902</c:v>
              </c:pt>
              <c:pt idx="12">
                <c:v>67.566996141445117</c:v>
              </c:pt>
              <c:pt idx="13">
                <c:v>68.928678788626229</c:v>
              </c:pt>
              <c:pt idx="14">
                <c:v>60.214370664755904</c:v>
              </c:pt>
              <c:pt idx="15">
                <c:v>70.906859195818413</c:v>
              </c:pt>
              <c:pt idx="16">
                <c:v>71.726458878648572</c:v>
              </c:pt>
              <c:pt idx="17">
                <c:v>70.594744658752262</c:v>
              </c:pt>
              <c:pt idx="18">
                <c:v>70.86776949423998</c:v>
              </c:pt>
              <c:pt idx="19">
                <c:v>55.768845575354995</c:v>
              </c:pt>
              <c:pt idx="20">
                <c:v>68.962552427316268</c:v>
              </c:pt>
              <c:pt idx="21">
                <c:v>57.791150280962952</c:v>
              </c:pt>
              <c:pt idx="22">
                <c:v>68.780627938243981</c:v>
              </c:pt>
              <c:pt idx="23">
                <c:v>62.159586961820558</c:v>
              </c:pt>
              <c:pt idx="24">
                <c:v>57.660016308078731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9-F0A2-47C2-8157-01A8DA456AFB}"/>
            </c:ext>
          </c:extLst>
        </c:ser>
        <c:ser>
          <c:idx val="1"/>
          <c:order val="1"/>
          <c:tx>
            <c:v>Solid, Powder &amp; Weight-Labeled Products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F0A2-47C2-8157-01A8DA456AF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F0A2-47C2-8157-01A8DA456AF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F0A2-47C2-8157-01A8DA456AF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F0A2-47C2-8157-01A8DA456AF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F0A2-47C2-8157-01A8DA456AF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F0A2-47C2-8157-01A8DA456AFB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F0A2-47C2-8157-01A8DA456AFB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F0A2-47C2-8157-01A8DA456AFB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F0A2-47C2-8157-01A8DA456AFB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F0A2-47C2-8157-01A8DA456AFB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F0A2-47C2-8157-01A8DA456AFB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F0A2-47C2-8157-01A8DA456AFB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F0A2-47C2-8157-01A8DA456AFB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F0A2-47C2-8157-01A8DA456AFB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F0A2-47C2-8157-01A8DA456AFB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F0A2-47C2-8157-01A8DA456AFB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F0A2-47C2-8157-01A8DA456AFB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F0A2-47C2-8157-01A8DA456AFB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F0A2-47C2-8157-01A8DA456AFB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F0A2-47C2-8157-01A8DA456AFB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F0A2-47C2-8157-01A8DA456AFB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F-F0A2-47C2-8157-01A8DA456AFB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F0A2-47C2-8157-01A8DA456AFB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F0A2-47C2-8157-01A8DA456AFB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2-F0A2-47C2-8157-01A8DA456AF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7.8798526009083893</c:v>
              </c:pt>
              <c:pt idx="1">
                <c:v>14.912108992679013</c:v>
              </c:pt>
              <c:pt idx="2">
                <c:v>11.654981248980922</c:v>
              </c:pt>
              <c:pt idx="3">
                <c:v>12.665453086914939</c:v>
              </c:pt>
              <c:pt idx="4">
                <c:v>12.972013926084628</c:v>
              </c:pt>
              <c:pt idx="5">
                <c:v>10.458978402909651</c:v>
              </c:pt>
              <c:pt idx="6">
                <c:v>13.082711462203763</c:v>
              </c:pt>
              <c:pt idx="7">
                <c:v>10.200111172873818</c:v>
              </c:pt>
              <c:pt idx="8">
                <c:v>10.4100862991793</c:v>
              </c:pt>
              <c:pt idx="9">
                <c:v>17.587422514550706</c:v>
              </c:pt>
              <c:pt idx="10">
                <c:v>14.001760221284961</c:v>
              </c:pt>
              <c:pt idx="11">
                <c:v>7.7891185883574092</c:v>
              </c:pt>
              <c:pt idx="12">
                <c:v>12.053491199323432</c:v>
              </c:pt>
              <c:pt idx="13">
                <c:v>14.663511565706006</c:v>
              </c:pt>
              <c:pt idx="14">
                <c:v>13.59724612736661</c:v>
              </c:pt>
              <c:pt idx="15">
                <c:v>10.598757387064966</c:v>
              </c:pt>
              <c:pt idx="16">
                <c:v>12.659745287376548</c:v>
              </c:pt>
              <c:pt idx="17">
                <c:v>9.8860404391422936</c:v>
              </c:pt>
              <c:pt idx="18">
                <c:v>14.167460928829756</c:v>
              </c:pt>
              <c:pt idx="19">
                <c:v>12.042085022233392</c:v>
              </c:pt>
              <c:pt idx="20">
                <c:v>7.4585523511016589</c:v>
              </c:pt>
              <c:pt idx="21">
                <c:v>15.532460786275109</c:v>
              </c:pt>
              <c:pt idx="22">
                <c:v>12.566011415882597</c:v>
              </c:pt>
              <c:pt idx="23">
                <c:v>12.48975160096612</c:v>
              </c:pt>
              <c:pt idx="24">
                <c:v>16.142312158972612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3-F0A2-47C2-8157-01A8DA456AFB}"/>
            </c:ext>
          </c:extLst>
        </c:ser>
        <c:ser>
          <c:idx val="2"/>
          <c:order val="2"/>
          <c:tx>
            <c:v>Wipes &amp; Other Count-Based Products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F0A2-47C2-8157-01A8DA456AF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F0A2-47C2-8157-01A8DA456AF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F0A2-47C2-8157-01A8DA456AF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F0A2-47C2-8157-01A8DA456AF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F0A2-47C2-8157-01A8DA456AF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F0A2-47C2-8157-01A8DA456AFB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F0A2-47C2-8157-01A8DA456AFB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F0A2-47C2-8157-01A8DA456AFB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F0A2-47C2-8157-01A8DA456AFB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F0A2-47C2-8157-01A8DA456AFB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F0A2-47C2-8157-01A8DA456AFB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F-F0A2-47C2-8157-01A8DA456AFB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F0A2-47C2-8157-01A8DA456AFB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F0A2-47C2-8157-01A8DA456AFB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F0A2-47C2-8157-01A8DA456AFB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3-F0A2-47C2-8157-01A8DA456AFB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4-F0A2-47C2-8157-01A8DA456AFB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F0A2-47C2-8157-01A8DA456AFB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F0A2-47C2-8157-01A8DA456AFB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7-F0A2-47C2-8157-01A8DA456AFB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F0A2-47C2-8157-01A8DA456AFB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F0A2-47C2-8157-01A8DA456AFB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A-F0A2-47C2-8157-01A8DA456AFB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B-F0A2-47C2-8157-01A8DA456AFB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C-F0A2-47C2-8157-01A8DA456AF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30.979518382037874</c:v>
              </c:pt>
              <c:pt idx="1">
                <c:v>23.121794620835452</c:v>
              </c:pt>
              <c:pt idx="2">
                <c:v>24.777433556171534</c:v>
              </c:pt>
              <c:pt idx="3">
                <c:v>24.957576131560273</c:v>
              </c:pt>
              <c:pt idx="4">
                <c:v>19.950120514193895</c:v>
              </c:pt>
              <c:pt idx="5">
                <c:v>22.334159451543336</c:v>
              </c:pt>
              <c:pt idx="6">
                <c:v>22.220314109969713</c:v>
              </c:pt>
              <c:pt idx="7">
                <c:v>23.607250941881293</c:v>
              </c:pt>
              <c:pt idx="8">
                <c:v>12.561618671283387</c:v>
              </c:pt>
              <c:pt idx="9">
                <c:v>17.479770974305588</c:v>
              </c:pt>
              <c:pt idx="10">
                <c:v>17.318748642686508</c:v>
              </c:pt>
              <c:pt idx="11">
                <c:v>23.318700804428683</c:v>
              </c:pt>
              <c:pt idx="12">
                <c:v>20.379512659231459</c:v>
              </c:pt>
              <c:pt idx="13">
                <c:v>16.407809645667772</c:v>
              </c:pt>
              <c:pt idx="14">
                <c:v>26.188383207877497</c:v>
              </c:pt>
              <c:pt idx="15">
                <c:v>18.494383417116612</c:v>
              </c:pt>
              <c:pt idx="16">
                <c:v>15.61379583397488</c:v>
              </c:pt>
              <c:pt idx="17">
                <c:v>19.519214902105436</c:v>
              </c:pt>
              <c:pt idx="18">
                <c:v>14.964769576930273</c:v>
              </c:pt>
              <c:pt idx="19">
                <c:v>32.189069402411626</c:v>
              </c:pt>
              <c:pt idx="20">
                <c:v>23.578895221582073</c:v>
              </c:pt>
              <c:pt idx="21">
                <c:v>26.676388932761931</c:v>
              </c:pt>
              <c:pt idx="22">
                <c:v>18.65336064587342</c:v>
              </c:pt>
              <c:pt idx="23">
                <c:v>25.350661437213322</c:v>
              </c:pt>
              <c:pt idx="24">
                <c:v>26.197671532948657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D-F0A2-47C2-8157-01A8DA456A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Liquid, Gel &amp; Cream Products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98.497427539075076</c:v>
              </c:pt>
            </c:numLit>
          </c:xVal>
          <c:yVal>
            <c:numLit>
              <c:formatCode>General</c:formatCode>
              <c:ptCount val="1"/>
              <c:pt idx="0">
                <c:v>193.95042337487402</c:v>
              </c:pt>
            </c:numLit>
          </c:yVal>
          <c:bubbleSize>
            <c:numLit>
              <c:formatCode>General</c:formatCode>
              <c:ptCount val="1"/>
              <c:pt idx="0">
                <c:v>3650.6120000000001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1655-49F0-8595-9C0C54895D9C}"/>
            </c:ext>
          </c:extLst>
        </c:ser>
        <c:ser>
          <c:idx val="1"/>
          <c:order val="1"/>
          <c:tx>
            <c:v>Solid, Powder &amp; Weight-Labeled Products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102.84330580007624</c:v>
              </c:pt>
            </c:numLit>
          </c:xVal>
          <c:yVal>
            <c:numLit>
              <c:formatCode>General</c:formatCode>
              <c:ptCount val="1"/>
              <c:pt idx="0">
                <c:v>38.236694646324715</c:v>
              </c:pt>
            </c:numLit>
          </c:yVal>
          <c:bubbleSize>
            <c:numLit>
              <c:formatCode>General</c:formatCode>
              <c:ptCount val="1"/>
              <c:pt idx="0">
                <c:v>737.89300000000003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1655-49F0-8595-9C0C54895D9C}"/>
            </c:ext>
          </c:extLst>
        </c:ser>
        <c:ser>
          <c:idx val="2"/>
          <c:order val="2"/>
          <c:tx>
            <c:v>Wipes &amp; Other Count-Based Products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102.64758253789827</c:v>
              </c:pt>
            </c:numLit>
          </c:xVal>
          <c:yVal>
            <c:numLit>
              <c:formatCode>General</c:formatCode>
              <c:ptCount val="1"/>
              <c:pt idx="0">
                <c:v>67.812881978801272</c:v>
              </c:pt>
            </c:numLit>
          </c:yVal>
          <c:bubbleSize>
            <c:numLit>
              <c:formatCode>General</c:formatCode>
              <c:ptCount val="1"/>
              <c:pt idx="0">
                <c:v>1307.1869999999999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1655-49F0-8595-9C0C54895D9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"/>
          <c:min val="90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"/>
          <c:min val="0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2037.883</c:v>
              </c:pt>
              <c:pt idx="2">
                <c:v>2288.1469999999999</c:v>
              </c:pt>
              <c:pt idx="3">
                <c:v>2570.5569999999998</c:v>
              </c:pt>
              <c:pt idx="4">
                <c:v>2886.3090000000002</c:v>
              </c:pt>
              <c:pt idx="5">
                <c:v>3246.5659999999998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11BD-4343-9DA7-A67B32AE7F29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11BD-4343-9DA7-A67B32AE7F29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11BD-4343-9DA7-A67B32AE7F29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11BD-4343-9DA7-A67B32AE7F29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11BD-4343-9DA7-A67B32AE7F29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11BD-4343-9DA7-A67B32AE7F29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11BD-4343-9DA7-A67B32AE7F29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11BD-4343-9DA7-A67B32AE7F29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1BD-4343-9DA7-A67B32AE7F2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1BD-4343-9DA7-A67B32AE7F2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1BD-4343-9DA7-A67B32AE7F2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1BD-4343-9DA7-A67B32AE7F2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1BD-4343-9DA7-A67B32AE7F2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11BD-4343-9DA7-A67B32AE7F2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11BD-4343-9DA7-A67B32AE7F29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2037.883</c:v>
              </c:pt>
              <c:pt idx="1">
                <c:v>250.2639999999999</c:v>
              </c:pt>
              <c:pt idx="2">
                <c:v>282.40999999999985</c:v>
              </c:pt>
              <c:pt idx="3">
                <c:v>315.75200000000041</c:v>
              </c:pt>
              <c:pt idx="4">
                <c:v>360.25699999999961</c:v>
              </c:pt>
              <c:pt idx="5">
                <c:v>404.04600000000028</c:v>
              </c:pt>
              <c:pt idx="6">
                <c:v>3650.6120000000001</c:v>
              </c:pt>
            </c:numLit>
          </c:val>
          <c:extLst>
            <c:ext xmlns:c16="http://schemas.microsoft.com/office/drawing/2014/chart" uri="{C3380CC4-5D6E-409C-BE32-E72D297353CC}">
              <c16:uniqueId val="{0000000F-11BD-4343-9DA7-A67B32AE7F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401.762</c:v>
              </c:pt>
              <c:pt idx="2">
                <c:v>453.589</c:v>
              </c:pt>
              <c:pt idx="3">
                <c:v>512.07899999999995</c:v>
              </c:pt>
              <c:pt idx="4">
                <c:v>577.68299999999999</c:v>
              </c:pt>
              <c:pt idx="5">
                <c:v>652.88200000000006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8F66-4F8F-8F5A-DCAA2648D5EA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8F66-4F8F-8F5A-DCAA2648D5EA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8F66-4F8F-8F5A-DCAA2648D5EA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8F66-4F8F-8F5A-DCAA2648D5EA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8F66-4F8F-8F5A-DCAA2648D5EA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8F66-4F8F-8F5A-DCAA2648D5EA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8F66-4F8F-8F5A-DCAA2648D5EA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8F66-4F8F-8F5A-DCAA2648D5EA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F66-4F8F-8F5A-DCAA2648D5EA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F66-4F8F-8F5A-DCAA2648D5EA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F66-4F8F-8F5A-DCAA2648D5EA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F66-4F8F-8F5A-DCAA2648D5EA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F66-4F8F-8F5A-DCAA2648D5EA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F66-4F8F-8F5A-DCAA2648D5EA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8F66-4F8F-8F5A-DCAA2648D5EA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401.762</c:v>
              </c:pt>
              <c:pt idx="1">
                <c:v>51.826999999999998</c:v>
              </c:pt>
              <c:pt idx="2">
                <c:v>58.489999999999952</c:v>
              </c:pt>
              <c:pt idx="3">
                <c:v>65.604000000000042</c:v>
              </c:pt>
              <c:pt idx="4">
                <c:v>75.199000000000069</c:v>
              </c:pt>
              <c:pt idx="5">
                <c:v>85.010999999999967</c:v>
              </c:pt>
              <c:pt idx="6">
                <c:v>737.89300000000003</c:v>
              </c:pt>
            </c:numLit>
          </c:val>
          <c:extLst>
            <c:ext xmlns:c16="http://schemas.microsoft.com/office/drawing/2014/chart" uri="{C3380CC4-5D6E-409C-BE32-E72D297353CC}">
              <c16:uniqueId val="{0000000F-8F66-4F8F-8F5A-DCAA2648D5E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712.52599999999995</c:v>
              </c:pt>
              <c:pt idx="2">
                <c:v>804.05399999999997</c:v>
              </c:pt>
              <c:pt idx="3">
                <c:v>907.38599999999997</c:v>
              </c:pt>
              <c:pt idx="4">
                <c:v>1023.4780000000001</c:v>
              </c:pt>
              <c:pt idx="5">
                <c:v>1156.924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06C3-429E-A908-667A2ED77B34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06C3-429E-A908-667A2ED77B34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06C3-429E-A908-667A2ED77B34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06C3-429E-A908-667A2ED77B34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06C3-429E-A908-667A2ED77B34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06C3-429E-A908-667A2ED77B34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06C3-429E-A908-667A2ED77B34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06C3-429E-A908-667A2ED77B34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06C3-429E-A908-667A2ED77B34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6C3-429E-A908-667A2ED77B34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6C3-429E-A908-667A2ED77B34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6C3-429E-A908-667A2ED77B34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06C3-429E-A908-667A2ED77B34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06C3-429E-A908-667A2ED77B34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06C3-429E-A908-667A2ED77B34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712.52599999999995</c:v>
              </c:pt>
              <c:pt idx="1">
                <c:v>91.52800000000002</c:v>
              </c:pt>
              <c:pt idx="2">
                <c:v>103.33199999999999</c:v>
              </c:pt>
              <c:pt idx="3">
                <c:v>116.0920000000001</c:v>
              </c:pt>
              <c:pt idx="4">
                <c:v>133.44599999999991</c:v>
              </c:pt>
              <c:pt idx="5">
                <c:v>150.26299999999992</c:v>
              </c:pt>
              <c:pt idx="6">
                <c:v>1307.1869999999999</c:v>
              </c:pt>
            </c:numLit>
          </c:val>
          <c:extLst>
            <c:ext xmlns:c16="http://schemas.microsoft.com/office/drawing/2014/chart" uri="{C3380CC4-5D6E-409C-BE32-E72D297353CC}">
              <c16:uniqueId val="{0000000F-06C3-429E-A908-667A2ED77B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Liquid, Gel &amp; Cream Products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6BE3-4FC4-BA3B-D40E1848F97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6BE3-4FC4-BA3B-D40E1848F97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3-4FC4-BA3B-D40E1848F97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64.901097638731699</c:v>
              </c:pt>
              <c:pt idx="1">
                <c:v>64.650141124958012</c:v>
              </c:pt>
              <c:pt idx="2">
                <c:v>64.094266333221668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6BE3-4FC4-BA3B-D40E1848F97F}"/>
            </c:ext>
          </c:extLst>
        </c:ser>
        <c:ser>
          <c:idx val="1"/>
          <c:order val="1"/>
          <c:tx>
            <c:v>Wipes &amp; Other Count-Based Products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3-4FC4-BA3B-D40E1848F97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6BE3-4FC4-BA3B-D40E1848F97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BE3-4FC4-BA3B-D40E1848F97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22.468970208011278</c:v>
              </c:pt>
              <c:pt idx="1">
                <c:v>22.604293992933759</c:v>
              </c:pt>
              <c:pt idx="2">
                <c:v>22.950450972419155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6BE3-4FC4-BA3B-D40E1848F97F}"/>
            </c:ext>
          </c:extLst>
        </c:ser>
        <c:ser>
          <c:idx val="2"/>
          <c:order val="2"/>
          <c:tx>
            <c:v>Solid, Powder &amp; Weight-Labeled Products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3-4FC4-BA3B-D40E1848F97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3-4FC4-BA3B-D40E1848F97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3-4FC4-BA3B-D40E1848F97F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12.629932153257025</c:v>
              </c:pt>
              <c:pt idx="1">
                <c:v>12.745564882108237</c:v>
              </c:pt>
              <c:pt idx="2">
                <c:v>12.955282694359177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6BE3-4FC4-BA3B-D40E1848F97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Economy / Mass-Market: Below US$3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E2E8-49B4-9270-39CAA69AD15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2E8-49B4-9270-39CAA69AD15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2E8-49B4-9270-39CAA69AD15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2E8-49B4-9270-39CAA69AD15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E2E8-49B4-9270-39CAA69AD15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E2E8-49B4-9270-39CAA69AD15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E2E8-49B4-9270-39CAA69AD15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E2E8-49B4-9270-39CAA69AD15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E2E8-49B4-9270-39CAA69AD15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E2E8-49B4-9270-39CAA69AD15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E2E8-49B4-9270-39CAA69AD15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E2E8-49B4-9270-39CAA69AD15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E2E8-49B4-9270-39CAA69AD15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E2E8-49B4-9270-39CAA69AD15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E2E8-49B4-9270-39CAA69AD15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E2E8-49B4-9270-39CAA69AD152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E2E8-49B4-9270-39CAA69AD152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E2E8-49B4-9270-39CAA69AD152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E2E8-49B4-9270-39CAA69AD152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E2E8-49B4-9270-39CAA69AD152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E2E8-49B4-9270-39CAA69AD152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E2E8-49B4-9270-39CAA69AD152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E2E8-49B4-9270-39CAA69AD152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E2E8-49B4-9270-39CAA69AD152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E2E8-49B4-9270-39CAA69AD15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28.412888850801266</c:v>
              </c:pt>
              <c:pt idx="1">
                <c:v>22.929961241827503</c:v>
              </c:pt>
              <c:pt idx="2">
                <c:v>19.218602224178976</c:v>
              </c:pt>
              <c:pt idx="3">
                <c:v>31.160336901860358</c:v>
              </c:pt>
              <c:pt idx="4">
                <c:v>28.131434023534922</c:v>
              </c:pt>
              <c:pt idx="5">
                <c:v>22.146765368522694</c:v>
              </c:pt>
              <c:pt idx="6">
                <c:v>20.598245230586691</c:v>
              </c:pt>
              <c:pt idx="7">
                <c:v>26.508144831313206</c:v>
              </c:pt>
              <c:pt idx="8">
                <c:v>23.46068960048634</c:v>
              </c:pt>
              <c:pt idx="9">
                <c:v>21.533602261838574</c:v>
              </c:pt>
              <c:pt idx="10">
                <c:v>22.754600525774375</c:v>
              </c:pt>
              <c:pt idx="11">
                <c:v>28.937808148084077</c:v>
              </c:pt>
              <c:pt idx="12">
                <c:v>22.42824673608542</c:v>
              </c:pt>
              <c:pt idx="13">
                <c:v>25.256098970979306</c:v>
              </c:pt>
              <c:pt idx="14">
                <c:v>29.456173268131252</c:v>
              </c:pt>
              <c:pt idx="15">
                <c:v>28.30269345874305</c:v>
              </c:pt>
              <c:pt idx="16">
                <c:v>23.712428651555641</c:v>
              </c:pt>
              <c:pt idx="17">
                <c:v>31.329353523587656</c:v>
              </c:pt>
              <c:pt idx="18">
                <c:v>23.143074747035143</c:v>
              </c:pt>
              <c:pt idx="19">
                <c:v>26.48940780584801</c:v>
              </c:pt>
              <c:pt idx="20">
                <c:v>20.410272776855525</c:v>
              </c:pt>
              <c:pt idx="21">
                <c:v>22.219804325889527</c:v>
              </c:pt>
              <c:pt idx="22">
                <c:v>31.59550404770285</c:v>
              </c:pt>
              <c:pt idx="23">
                <c:v>23.543619402158257</c:v>
              </c:pt>
              <c:pt idx="24">
                <c:v>24.607176851527566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9-E2E8-49B4-9270-39CAA69AD152}"/>
            </c:ext>
          </c:extLst>
        </c:ser>
        <c:ser>
          <c:idx val="1"/>
          <c:order val="1"/>
          <c:tx>
            <c:v>Mid-Range: US$3 to below US$6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E2E8-49B4-9270-39CAA69AD15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E2E8-49B4-9270-39CAA69AD15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E2E8-49B4-9270-39CAA69AD15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E2E8-49B4-9270-39CAA69AD15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E2E8-49B4-9270-39CAA69AD15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E2E8-49B4-9270-39CAA69AD15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E2E8-49B4-9270-39CAA69AD15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E2E8-49B4-9270-39CAA69AD15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E2E8-49B4-9270-39CAA69AD15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E2E8-49B4-9270-39CAA69AD15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E2E8-49B4-9270-39CAA69AD15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E2E8-49B4-9270-39CAA69AD15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E2E8-49B4-9270-39CAA69AD15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E2E8-49B4-9270-39CAA69AD15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E2E8-49B4-9270-39CAA69AD15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E2E8-49B4-9270-39CAA69AD152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E2E8-49B4-9270-39CAA69AD152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E2E8-49B4-9270-39CAA69AD152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E2E8-49B4-9270-39CAA69AD152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E2E8-49B4-9270-39CAA69AD152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E2E8-49B4-9270-39CAA69AD152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F-E2E8-49B4-9270-39CAA69AD152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E2E8-49B4-9270-39CAA69AD152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E2E8-49B4-9270-39CAA69AD152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2-E2E8-49B4-9270-39CAA69AD15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33.040534750192819</c:v>
              </c:pt>
              <c:pt idx="1">
                <c:v>42.332537290059896</c:v>
              </c:pt>
              <c:pt idx="2">
                <c:v>41.453869484394872</c:v>
              </c:pt>
              <c:pt idx="3">
                <c:v>33.332304939376172</c:v>
              </c:pt>
              <c:pt idx="4">
                <c:v>37.341189467869633</c:v>
              </c:pt>
              <c:pt idx="5">
                <c:v>47.220791760540713</c:v>
              </c:pt>
              <c:pt idx="6">
                <c:v>35.793236956318104</c:v>
              </c:pt>
              <c:pt idx="7">
                <c:v>35.528449007951828</c:v>
              </c:pt>
              <c:pt idx="8">
                <c:v>48.318289346742965</c:v>
              </c:pt>
              <c:pt idx="9">
                <c:v>37.138159062141419</c:v>
              </c:pt>
              <c:pt idx="10">
                <c:v>39.601097268259231</c:v>
              </c:pt>
              <c:pt idx="11">
                <c:v>30.698036502032693</c:v>
              </c:pt>
              <c:pt idx="12">
                <c:v>41.130080871081972</c:v>
              </c:pt>
              <c:pt idx="13">
                <c:v>34.883416194550435</c:v>
              </c:pt>
              <c:pt idx="14">
                <c:v>39.889491335116048</c:v>
              </c:pt>
              <c:pt idx="15">
                <c:v>32.68008109338151</c:v>
              </c:pt>
              <c:pt idx="16">
                <c:v>34.933518096934904</c:v>
              </c:pt>
              <c:pt idx="17">
                <c:v>40.002426713259567</c:v>
              </c:pt>
              <c:pt idx="18">
                <c:v>39.080839952127086</c:v>
              </c:pt>
              <c:pt idx="19">
                <c:v>32.76351201249868</c:v>
              </c:pt>
              <c:pt idx="20">
                <c:v>37.54260277659354</c:v>
              </c:pt>
              <c:pt idx="21">
                <c:v>33.798446891589521</c:v>
              </c:pt>
              <c:pt idx="22">
                <c:v>31.455490796910908</c:v>
              </c:pt>
              <c:pt idx="23">
                <c:v>39.678144873584614</c:v>
              </c:pt>
              <c:pt idx="24">
                <c:v>42.751921411735374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3-E2E8-49B4-9270-39CAA69AD152}"/>
            </c:ext>
          </c:extLst>
        </c:ser>
        <c:ser>
          <c:idx val="2"/>
          <c:order val="2"/>
          <c:tx>
            <c:v>Premium: US$6 to below US$12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E2E8-49B4-9270-39CAA69AD15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E2E8-49B4-9270-39CAA69AD15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E2E8-49B4-9270-39CAA69AD15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E2E8-49B4-9270-39CAA69AD15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E2E8-49B4-9270-39CAA69AD15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E2E8-49B4-9270-39CAA69AD15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E2E8-49B4-9270-39CAA69AD15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E2E8-49B4-9270-39CAA69AD15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E2E8-49B4-9270-39CAA69AD15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E2E8-49B4-9270-39CAA69AD15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E2E8-49B4-9270-39CAA69AD15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F-E2E8-49B4-9270-39CAA69AD15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E2E8-49B4-9270-39CAA69AD15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E2E8-49B4-9270-39CAA69AD15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E2E8-49B4-9270-39CAA69AD15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3-E2E8-49B4-9270-39CAA69AD152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4-E2E8-49B4-9270-39CAA69AD152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E2E8-49B4-9270-39CAA69AD152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E2E8-49B4-9270-39CAA69AD152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7-E2E8-49B4-9270-39CAA69AD152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E2E8-49B4-9270-39CAA69AD152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E2E8-49B4-9270-39CAA69AD152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A-E2E8-49B4-9270-39CAA69AD152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B-E2E8-49B4-9270-39CAA69AD152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C-E2E8-49B4-9270-39CAA69AD15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28.202930842402946</c:v>
              </c:pt>
              <c:pt idx="1">
                <c:v>25.110597815448454</c:v>
              </c:pt>
              <c:pt idx="2">
                <c:v>30.541695202687279</c:v>
              </c:pt>
              <c:pt idx="3">
                <c:v>24.345170147780209</c:v>
              </c:pt>
              <c:pt idx="4">
                <c:v>25.490031971342958</c:v>
              </c:pt>
              <c:pt idx="5">
                <c:v>20.175410363694883</c:v>
              </c:pt>
              <c:pt idx="6">
                <c:v>31.838761045367971</c:v>
              </c:pt>
              <c:pt idx="7">
                <c:v>26.985254381224426</c:v>
              </c:pt>
              <c:pt idx="8">
                <c:v>19.365112929017933</c:v>
              </c:pt>
              <c:pt idx="9">
                <c:v>32.143659872475844</c:v>
              </c:pt>
              <c:pt idx="10">
                <c:v>26.252143102068811</c:v>
              </c:pt>
              <c:pt idx="11">
                <c:v>32.755600726580745</c:v>
              </c:pt>
              <c:pt idx="12">
                <c:v>27.458110893810456</c:v>
              </c:pt>
              <c:pt idx="13">
                <c:v>30.476741049061552</c:v>
              </c:pt>
              <c:pt idx="14">
                <c:v>19.780755536513659</c:v>
              </c:pt>
              <c:pt idx="15">
                <c:v>28.597139665420841</c:v>
              </c:pt>
              <c:pt idx="16">
                <c:v>27.013428354614138</c:v>
              </c:pt>
              <c:pt idx="17">
                <c:v>18.630363036303631</c:v>
              </c:pt>
              <c:pt idx="18">
                <c:v>25.450549450549449</c:v>
              </c:pt>
              <c:pt idx="19">
                <c:v>27.933748256485146</c:v>
              </c:pt>
              <c:pt idx="20">
                <c:v>30.974094177441909</c:v>
              </c:pt>
              <c:pt idx="21">
                <c:v>32.040012284473299</c:v>
              </c:pt>
              <c:pt idx="22">
                <c:v>25.96986997660407</c:v>
              </c:pt>
              <c:pt idx="23">
                <c:v>25.928560349221119</c:v>
              </c:pt>
              <c:pt idx="24">
                <c:v>25.631428430232926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D-E2E8-49B4-9270-39CAA69AD152}"/>
            </c:ext>
          </c:extLst>
        </c:ser>
        <c:ser>
          <c:idx val="3"/>
          <c:order val="3"/>
          <c:tx>
            <c:v>Super-Premium / Luxury: US$12 and above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E-E2E8-49B4-9270-39CAA69AD15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F-E2E8-49B4-9270-39CAA69AD15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0-E2E8-49B4-9270-39CAA69AD15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1-E2E8-49B4-9270-39CAA69AD15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2-E2E8-49B4-9270-39CAA69AD15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3-E2E8-49B4-9270-39CAA69AD15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4-E2E8-49B4-9270-39CAA69AD15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5-E2E8-49B4-9270-39CAA69AD152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6-E2E8-49B4-9270-39CAA69AD152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7-E2E8-49B4-9270-39CAA69AD152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8-E2E8-49B4-9270-39CAA69AD152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9-E2E8-49B4-9270-39CAA69AD152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A-E2E8-49B4-9270-39CAA69AD152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B-E2E8-49B4-9270-39CAA69AD152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C-E2E8-49B4-9270-39CAA69AD152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D-E2E8-49B4-9270-39CAA69AD152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E-E2E8-49B4-9270-39CAA69AD152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F-E2E8-49B4-9270-39CAA69AD152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0-E2E8-49B4-9270-39CAA69AD152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1-E2E8-49B4-9270-39CAA69AD152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2-E2E8-49B4-9270-39CAA69AD152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3-E2E8-49B4-9270-39CAA69AD152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4-E2E8-49B4-9270-39CAA69AD152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5-E2E8-49B4-9270-39CAA69AD152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6-E2E8-49B4-9270-39CAA69AD15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10.343645556602965</c:v>
              </c:pt>
              <c:pt idx="1">
                <c:v>9.6269036526641347</c:v>
              </c:pt>
              <c:pt idx="2">
                <c:v>8.7858330887388707</c:v>
              </c:pt>
              <c:pt idx="3">
                <c:v>11.162188010983245</c:v>
              </c:pt>
              <c:pt idx="4">
                <c:v>9.037344537252471</c:v>
              </c:pt>
              <c:pt idx="5">
                <c:v>10.457032507241712</c:v>
              </c:pt>
              <c:pt idx="6">
                <c:v>11.76975676772723</c:v>
              </c:pt>
              <c:pt idx="7">
                <c:v>10.978151779510538</c:v>
              </c:pt>
              <c:pt idx="8">
                <c:v>8.8559081237527586</c:v>
              </c:pt>
              <c:pt idx="9">
                <c:v>9.1845788035441807</c:v>
              </c:pt>
              <c:pt idx="10">
                <c:v>11.392159103897589</c:v>
              </c:pt>
              <c:pt idx="11">
                <c:v>7.6085546233024823</c:v>
              </c:pt>
              <c:pt idx="12">
                <c:v>8.9835614990221462</c:v>
              </c:pt>
              <c:pt idx="13">
                <c:v>9.3837437854087185</c:v>
              </c:pt>
              <c:pt idx="14">
                <c:v>10.873579860239042</c:v>
              </c:pt>
              <c:pt idx="15">
                <c:v>10.420085782454592</c:v>
              </c:pt>
              <c:pt idx="16">
                <c:v>14.34062489689531</c:v>
              </c:pt>
              <c:pt idx="17">
                <c:v>10.037856726849155</c:v>
              </c:pt>
              <c:pt idx="18">
                <c:v>12.325535850288325</c:v>
              </c:pt>
              <c:pt idx="19">
                <c:v>12.813331925168159</c:v>
              </c:pt>
              <c:pt idx="20">
                <c:v>11.073030269109026</c:v>
              </c:pt>
              <c:pt idx="21">
                <c:v>11.941736498047645</c:v>
              </c:pt>
              <c:pt idx="22">
                <c:v>10.979135178782169</c:v>
              </c:pt>
              <c:pt idx="23">
                <c:v>10.849675375036009</c:v>
              </c:pt>
              <c:pt idx="24">
                <c:v>7.0094733065041144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67-E2E8-49B4-9270-39CAA69AD15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Economy / Mass-Market: Below US$3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106.72755731004122</c:v>
              </c:pt>
            </c:numLit>
          </c:xVal>
          <c:yVal>
            <c:numLit>
              <c:formatCode>General</c:formatCode>
              <c:ptCount val="1"/>
              <c:pt idx="0">
                <c:v>97.204625002894844</c:v>
              </c:pt>
            </c:numLit>
          </c:yVal>
          <c:bubbleSize>
            <c:numLit>
              <c:formatCode>General</c:formatCode>
              <c:ptCount val="1"/>
              <c:pt idx="0">
                <c:v>1438.5509999999999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E3E2-44EA-B3A7-EA7764584908}"/>
            </c:ext>
          </c:extLst>
        </c:ser>
        <c:ser>
          <c:idx val="1"/>
          <c:order val="1"/>
          <c:tx>
            <c:v>Mid-Range: US$3 to below US$6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94.825752157680469</c:v>
              </c:pt>
            </c:numLit>
          </c:xVal>
          <c:yVal>
            <c:numLit>
              <c:formatCode>General</c:formatCode>
              <c:ptCount val="1"/>
              <c:pt idx="0">
                <c:v>154.19797974158129</c:v>
              </c:pt>
            </c:numLit>
          </c:yVal>
          <c:bubbleSize>
            <c:numLit>
              <c:formatCode>General</c:formatCode>
              <c:ptCount val="1"/>
              <c:pt idx="0">
                <c:v>2131.2629999999999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E3E2-44EA-B3A7-EA7764584908}"/>
            </c:ext>
          </c:extLst>
        </c:ser>
        <c:ser>
          <c:idx val="2"/>
          <c:order val="2"/>
          <c:tx>
            <c:v>Premium: US$6 to below US$12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102.84916812234918</c:v>
              </c:pt>
            </c:numLit>
          </c:xVal>
          <c:yVal>
            <c:numLit>
              <c:formatCode>General</c:formatCode>
              <c:ptCount val="1"/>
              <c:pt idx="0">
                <c:v>105.93828824641811</c:v>
              </c:pt>
            </c:numLit>
          </c:yVal>
          <c:bubbleSize>
            <c:numLit>
              <c:formatCode>General</c:formatCode>
              <c:ptCount val="1"/>
              <c:pt idx="0">
                <c:v>1533.3520000000001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E3E2-44EA-B3A7-EA7764584908}"/>
            </c:ext>
          </c:extLst>
        </c:ser>
        <c:ser>
          <c:idx val="3"/>
          <c:order val="3"/>
          <c:tx>
            <c:v>Super-Premium / Luxury: US$12 and above</c:v>
          </c:tx>
          <c:spPr>
            <a:solidFill>
              <a:srgbClr val="40315E"/>
            </a:solidFill>
          </c:spPr>
          <c:invertIfNegative val="0"/>
          <c:xVal>
            <c:numLit>
              <c:formatCode>General</c:formatCode>
              <c:ptCount val="1"/>
              <c:pt idx="0">
                <c:v>95.680100274735949</c:v>
              </c:pt>
            </c:numLit>
          </c:xVal>
          <c:yVal>
            <c:numLit>
              <c:formatCode>General</c:formatCode>
              <c:ptCount val="1"/>
              <c:pt idx="0">
                <c:v>42.659107009105796</c:v>
              </c:pt>
            </c:numLit>
          </c:yVal>
          <c:bubbleSize>
            <c:numLit>
              <c:formatCode>General</c:formatCode>
              <c:ptCount val="1"/>
              <c:pt idx="0">
                <c:v>592.52599999999995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3-E3E2-44EA-B3A7-EA776458490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"/>
          <c:min val="85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"/>
          <c:min val="0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766.01400000000001</c:v>
              </c:pt>
              <c:pt idx="2">
                <c:v>868.49099999999999</c:v>
              </c:pt>
              <c:pt idx="3">
                <c:v>984.995</c:v>
              </c:pt>
              <c:pt idx="4">
                <c:v>1116.646</c:v>
              </c:pt>
              <c:pt idx="5">
                <c:v>1267.5640000000001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E2A2-471F-B9DE-46F4B81D6BFE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E2A2-471F-B9DE-46F4B81D6BFE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E2A2-471F-B9DE-46F4B81D6BFE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E2A2-471F-B9DE-46F4B81D6BFE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E2A2-471F-B9DE-46F4B81D6BFE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E2A2-471F-B9DE-46F4B81D6BFE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E2A2-471F-B9DE-46F4B81D6BFE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E2A2-471F-B9DE-46F4B81D6BFE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2A2-471F-B9DE-46F4B81D6BF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E2A2-471F-B9DE-46F4B81D6BF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E2A2-471F-B9DE-46F4B81D6BF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E2A2-471F-B9DE-46F4B81D6BF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E2A2-471F-B9DE-46F4B81D6BF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E2A2-471F-B9DE-46F4B81D6BF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E2A2-471F-B9DE-46F4B81D6BFE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766.01400000000001</c:v>
              </c:pt>
              <c:pt idx="1">
                <c:v>102.47699999999998</c:v>
              </c:pt>
              <c:pt idx="2">
                <c:v>116.50400000000002</c:v>
              </c:pt>
              <c:pt idx="3">
                <c:v>131.65099999999995</c:v>
              </c:pt>
              <c:pt idx="4">
                <c:v>150.91800000000012</c:v>
              </c:pt>
              <c:pt idx="5">
                <c:v>170.98699999999985</c:v>
              </c:pt>
              <c:pt idx="6">
                <c:v>1438.5509999999999</c:v>
              </c:pt>
            </c:numLit>
          </c:val>
          <c:extLst>
            <c:ext xmlns:c16="http://schemas.microsoft.com/office/drawing/2014/chart" uri="{C3380CC4-5D6E-409C-BE32-E72D297353CC}">
              <c16:uniqueId val="{0000000F-E2A2-471F-B9DE-46F4B81D6BF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1215.146</c:v>
              </c:pt>
              <c:pt idx="2">
                <c:v>1358.9680000000001</c:v>
              </c:pt>
              <c:pt idx="3">
                <c:v>1520.2170000000001</c:v>
              </c:pt>
              <c:pt idx="4">
                <c:v>1699.3989999999999</c:v>
              </c:pt>
              <c:pt idx="5">
                <c:v>1903.6420000000001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1320-47B4-943A-6BD2A7CF544D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1320-47B4-943A-6BD2A7CF544D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1320-47B4-943A-6BD2A7CF544D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1320-47B4-943A-6BD2A7CF544D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1320-47B4-943A-6BD2A7CF544D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1320-47B4-943A-6BD2A7CF544D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1320-47B4-943A-6BD2A7CF544D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1320-47B4-943A-6BD2A7CF544D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320-47B4-943A-6BD2A7CF544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320-47B4-943A-6BD2A7CF544D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320-47B4-943A-6BD2A7CF544D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320-47B4-943A-6BD2A7CF544D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320-47B4-943A-6BD2A7CF544D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1320-47B4-943A-6BD2A7CF544D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1320-47B4-943A-6BD2A7CF544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1215.146</c:v>
              </c:pt>
              <c:pt idx="1">
                <c:v>143.82200000000012</c:v>
              </c:pt>
              <c:pt idx="2">
                <c:v>161.24900000000002</c:v>
              </c:pt>
              <c:pt idx="3">
                <c:v>179.18199999999979</c:v>
              </c:pt>
              <c:pt idx="4">
                <c:v>204.24300000000017</c:v>
              </c:pt>
              <c:pt idx="5">
                <c:v>227.62099999999987</c:v>
              </c:pt>
              <c:pt idx="6">
                <c:v>2131.2629999999999</c:v>
              </c:pt>
            </c:numLit>
          </c:val>
          <c:extLst>
            <c:ext xmlns:c16="http://schemas.microsoft.com/office/drawing/2014/chart" uri="{C3380CC4-5D6E-409C-BE32-E72D297353CC}">
              <c16:uniqueId val="{0000000F-1320-47B4-943A-6BD2A7CF544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834.83900000000006</c:v>
              </c:pt>
              <c:pt idx="2">
                <c:v>942.35699999999997</c:v>
              </c:pt>
              <c:pt idx="3">
                <c:v>1063.9839999999999</c:v>
              </c:pt>
              <c:pt idx="4">
                <c:v>1200.4280000000001</c:v>
              </c:pt>
              <c:pt idx="5">
                <c:v>1356.9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A423-4CAE-8F2A-6E32D41A2C58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A423-4CAE-8F2A-6E32D41A2C58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A423-4CAE-8F2A-6E32D41A2C58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A423-4CAE-8F2A-6E32D41A2C58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A423-4CAE-8F2A-6E32D41A2C58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A423-4CAE-8F2A-6E32D41A2C58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A423-4CAE-8F2A-6E32D41A2C58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A423-4CAE-8F2A-6E32D41A2C58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423-4CAE-8F2A-6E32D41A2C58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423-4CAE-8F2A-6E32D41A2C58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423-4CAE-8F2A-6E32D41A2C58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423-4CAE-8F2A-6E32D41A2C58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A423-4CAE-8F2A-6E32D41A2C58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A423-4CAE-8F2A-6E32D41A2C58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A423-4CAE-8F2A-6E32D41A2C58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834.83900000000006</c:v>
              </c:pt>
              <c:pt idx="1">
                <c:v>107.51799999999992</c:v>
              </c:pt>
              <c:pt idx="2">
                <c:v>121.62699999999995</c:v>
              </c:pt>
              <c:pt idx="3">
                <c:v>136.44400000000019</c:v>
              </c:pt>
              <c:pt idx="4">
                <c:v>156.47199999999998</c:v>
              </c:pt>
              <c:pt idx="5">
                <c:v>176.452</c:v>
              </c:pt>
              <c:pt idx="6">
                <c:v>1533.3520000000001</c:v>
              </c:pt>
            </c:numLit>
          </c:val>
          <c:extLst>
            <c:ext xmlns:c16="http://schemas.microsoft.com/office/drawing/2014/chart" uri="{C3380CC4-5D6E-409C-BE32-E72D297353CC}">
              <c16:uniqueId val="{0000000F-A423-4CAE-8F2A-6E32D41A2C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336.17200000000003</c:v>
              </c:pt>
              <c:pt idx="2">
                <c:v>375.97399999999999</c:v>
              </c:pt>
              <c:pt idx="3">
                <c:v>420.82499999999999</c:v>
              </c:pt>
              <c:pt idx="4">
                <c:v>470.99700000000001</c:v>
              </c:pt>
              <c:pt idx="5">
                <c:v>528.26700000000005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7441-4163-B74F-A9F37D8CE4D9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7441-4163-B74F-A9F37D8CE4D9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7441-4163-B74F-A9F37D8CE4D9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7441-4163-B74F-A9F37D8CE4D9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7441-4163-B74F-A9F37D8CE4D9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7441-4163-B74F-A9F37D8CE4D9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7441-4163-B74F-A9F37D8CE4D9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7441-4163-B74F-A9F37D8CE4D9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441-4163-B74F-A9F37D8CE4D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441-4163-B74F-A9F37D8CE4D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441-4163-B74F-A9F37D8CE4D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441-4163-B74F-A9F37D8CE4D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7441-4163-B74F-A9F37D8CE4D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441-4163-B74F-A9F37D8CE4D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7441-4163-B74F-A9F37D8CE4D9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336.17200000000003</c:v>
              </c:pt>
              <c:pt idx="1">
                <c:v>39.801999999999964</c:v>
              </c:pt>
              <c:pt idx="2">
                <c:v>44.850999999999999</c:v>
              </c:pt>
              <c:pt idx="3">
                <c:v>50.172000000000025</c:v>
              </c:pt>
              <c:pt idx="4">
                <c:v>57.270000000000039</c:v>
              </c:pt>
              <c:pt idx="5">
                <c:v>64.258999999999901</c:v>
              </c:pt>
              <c:pt idx="6">
                <c:v>592.52599999999995</c:v>
              </c:pt>
            </c:numLit>
          </c:val>
          <c:extLst>
            <c:ext xmlns:c16="http://schemas.microsoft.com/office/drawing/2014/chart" uri="{C3380CC4-5D6E-409C-BE32-E72D297353CC}">
              <c16:uniqueId val="{0000000F-7441-4163-B74F-A9F37D8CE4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Mid-Range: US$3 to below US$6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152-4BB3-A3EB-1D0D019714B0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152-4BB3-A3EB-1D0D019714B0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152-4BB3-A3EB-1D0D019714B0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39.10678955310965</c:v>
              </c:pt>
              <c:pt idx="1">
                <c:v>38.549494935395316</c:v>
              </c:pt>
              <c:pt idx="2">
                <c:v>37.418859727667858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1152-4BB3-A3EB-1D0D019714B0}"/>
            </c:ext>
          </c:extLst>
        </c:ser>
        <c:ser>
          <c:idx val="1"/>
          <c:order val="1"/>
          <c:tx>
            <c:v>Premium: US$6 to below US$12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152-4BB3-A3EB-1D0D019714B0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152-4BB3-A3EB-1D0D019714B0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152-4BB3-A3EB-1D0D019714B0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26.263092910283092</c:v>
              </c:pt>
              <c:pt idx="1">
                <c:v>26.484572061604528</c:v>
              </c:pt>
              <c:pt idx="2">
                <c:v>26.921259084936477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1152-4BB3-A3EB-1D0D019714B0}"/>
            </c:ext>
          </c:extLst>
        </c:ser>
        <c:ser>
          <c:idx val="2"/>
          <c:order val="2"/>
          <c:tx>
            <c:v>Economy / Mass-Market: Below US$3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152-4BB3-A3EB-1D0D019714B0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1152-4BB3-A3EB-1D0D019714B0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152-4BB3-A3EB-1D0D019714B0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23.806865420502046</c:v>
              </c:pt>
              <c:pt idx="1">
                <c:v>24.301156250723704</c:v>
              </c:pt>
              <c:pt idx="2">
                <c:v>25.256825685096736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1152-4BB3-A3EB-1D0D019714B0}"/>
            </c:ext>
          </c:extLst>
        </c:ser>
        <c:ser>
          <c:idx val="3"/>
          <c:order val="3"/>
          <c:tx>
            <c:v>Super-Premium / Luxury: US$12 and above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1152-4BB3-A3EB-1D0D019714B0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1152-4BB3-A3EB-1D0D019714B0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1152-4BB3-A3EB-1D0D019714B0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10.823252116105207</c:v>
              </c:pt>
              <c:pt idx="1">
                <c:v>10.664776752276445</c:v>
              </c:pt>
              <c:pt idx="2">
                <c:v>10.40305550229893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F-1152-4BB3-A3EB-1D0D019714B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E-commerce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C91E-47E5-A6EF-B13ACFF2437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91E-47E5-A6EF-B13ACFF2437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91E-47E5-A6EF-B13ACFF2437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91E-47E5-A6EF-B13ACFF2437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91E-47E5-A6EF-B13ACFF2437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C91E-47E5-A6EF-B13ACFF2437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91E-47E5-A6EF-B13ACFF24373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C91E-47E5-A6EF-B13ACFF24373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91E-47E5-A6EF-B13ACFF24373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C91E-47E5-A6EF-B13ACFF24373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C91E-47E5-A6EF-B13ACFF24373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C91E-47E5-A6EF-B13ACFF24373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91E-47E5-A6EF-B13ACFF24373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C91E-47E5-A6EF-B13ACFF24373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91E-47E5-A6EF-B13ACFF24373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C91E-47E5-A6EF-B13ACFF24373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C91E-47E5-A6EF-B13ACFF24373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C91E-47E5-A6EF-B13ACFF24373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C91E-47E5-A6EF-B13ACFF24373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C91E-47E5-A6EF-B13ACFF24373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C91E-47E5-A6EF-B13ACFF24373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C91E-47E5-A6EF-B13ACFF24373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C91E-47E5-A6EF-B13ACFF24373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C91E-47E5-A6EF-B13ACFF24373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C91E-47E5-A6EF-B13ACFF2437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31.779424996786499</c:v>
              </c:pt>
              <c:pt idx="1">
                <c:v>29.889602254932662</c:v>
              </c:pt>
              <c:pt idx="2">
                <c:v>24.178977921273194</c:v>
              </c:pt>
              <c:pt idx="3">
                <c:v>19.988276670574443</c:v>
              </c:pt>
              <c:pt idx="4">
                <c:v>32.713455969737041</c:v>
              </c:pt>
              <c:pt idx="5">
                <c:v>28.795120616681956</c:v>
              </c:pt>
              <c:pt idx="6">
                <c:v>25.620170166263367</c:v>
              </c:pt>
              <c:pt idx="7">
                <c:v>34.360621313652224</c:v>
              </c:pt>
              <c:pt idx="8">
                <c:v>31.757989057172313</c:v>
              </c:pt>
              <c:pt idx="9">
                <c:v>22.649946764462324</c:v>
              </c:pt>
              <c:pt idx="10">
                <c:v>25.337752886044118</c:v>
              </c:pt>
              <c:pt idx="11">
                <c:v>22.581552001902974</c:v>
              </c:pt>
              <c:pt idx="12">
                <c:v>33.975348316032054</c:v>
              </c:pt>
              <c:pt idx="13">
                <c:v>27.609702706244164</c:v>
              </c:pt>
              <c:pt idx="14">
                <c:v>22.362083739621195</c:v>
              </c:pt>
              <c:pt idx="15">
                <c:v>23.53655088713737</c:v>
              </c:pt>
              <c:pt idx="16">
                <c:v>28.924692749718183</c:v>
              </c:pt>
              <c:pt idx="17">
                <c:v>21.824235452855557</c:v>
              </c:pt>
              <c:pt idx="18">
                <c:v>27.126654886975899</c:v>
              </c:pt>
              <c:pt idx="19">
                <c:v>32.31447727330665</c:v>
              </c:pt>
              <c:pt idx="20">
                <c:v>34.076505179020977</c:v>
              </c:pt>
              <c:pt idx="21">
                <c:v>26.308566534812627</c:v>
              </c:pt>
              <c:pt idx="22">
                <c:v>32.245838105035688</c:v>
              </c:pt>
              <c:pt idx="23">
                <c:v>31.000900754173884</c:v>
              </c:pt>
              <c:pt idx="24">
                <c:v>41.908109670217982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9-C91E-47E5-A6EF-B13ACFF24373}"/>
            </c:ext>
          </c:extLst>
        </c:ser>
        <c:ser>
          <c:idx val="1"/>
          <c:order val="1"/>
          <c:tx>
            <c:v>Pet Specialty Retail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C91E-47E5-A6EF-B13ACFF2437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C91E-47E5-A6EF-B13ACFF2437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C91E-47E5-A6EF-B13ACFF2437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C91E-47E5-A6EF-B13ACFF2437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C91E-47E5-A6EF-B13ACFF2437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C91E-47E5-A6EF-B13ACFF2437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C91E-47E5-A6EF-B13ACFF24373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C91E-47E5-A6EF-B13ACFF24373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C91E-47E5-A6EF-B13ACFF24373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C91E-47E5-A6EF-B13ACFF24373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C91E-47E5-A6EF-B13ACFF24373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C91E-47E5-A6EF-B13ACFF24373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C91E-47E5-A6EF-B13ACFF24373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C91E-47E5-A6EF-B13ACFF24373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C91E-47E5-A6EF-B13ACFF24373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C91E-47E5-A6EF-B13ACFF24373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C91E-47E5-A6EF-B13ACFF24373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C91E-47E5-A6EF-B13ACFF24373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C91E-47E5-A6EF-B13ACFF24373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C91E-47E5-A6EF-B13ACFF24373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C91E-47E5-A6EF-B13ACFF24373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F-C91E-47E5-A6EF-B13ACFF24373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C91E-47E5-A6EF-B13ACFF24373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C91E-47E5-A6EF-B13ACFF24373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2-C91E-47E5-A6EF-B13ACFF2437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26.659239898881697</c:v>
              </c:pt>
              <c:pt idx="1">
                <c:v>31.803946132164114</c:v>
              </c:pt>
              <c:pt idx="2">
                <c:v>36.438052375827546</c:v>
              </c:pt>
              <c:pt idx="3">
                <c:v>43.178873326340472</c:v>
              </c:pt>
              <c:pt idx="4">
                <c:v>29.539862410658991</c:v>
              </c:pt>
              <c:pt idx="5">
                <c:v>38.682630875939424</c:v>
              </c:pt>
              <c:pt idx="6">
                <c:v>30.701740691593159</c:v>
              </c:pt>
              <c:pt idx="7">
                <c:v>25.474786153228539</c:v>
              </c:pt>
              <c:pt idx="8">
                <c:v>32.217905003568312</c:v>
              </c:pt>
              <c:pt idx="9">
                <c:v>39.700697977049572</c:v>
              </c:pt>
              <c:pt idx="10">
                <c:v>24.858841010401189</c:v>
              </c:pt>
              <c:pt idx="11">
                <c:v>35.432006660395515</c:v>
              </c:pt>
              <c:pt idx="12">
                <c:v>28.425548108839514</c:v>
              </c:pt>
              <c:pt idx="13">
                <c:v>36.858413559740086</c:v>
              </c:pt>
              <c:pt idx="14">
                <c:v>34.855066040244658</c:v>
              </c:pt>
              <c:pt idx="15">
                <c:v>35.313790796941042</c:v>
              </c:pt>
              <c:pt idx="16">
                <c:v>33.503065629210091</c:v>
              </c:pt>
              <c:pt idx="17">
                <c:v>35.746492134907811</c:v>
              </c:pt>
              <c:pt idx="18">
                <c:v>35.396084848590355</c:v>
              </c:pt>
              <c:pt idx="19">
                <c:v>27.498552381923531</c:v>
              </c:pt>
              <c:pt idx="20">
                <c:v>33.265295915135042</c:v>
              </c:pt>
              <c:pt idx="21">
                <c:v>37.578577169712645</c:v>
              </c:pt>
              <c:pt idx="22">
                <c:v>26.767859106996127</c:v>
              </c:pt>
              <c:pt idx="23">
                <c:v>30.436295185895503</c:v>
              </c:pt>
              <c:pt idx="24">
                <c:v>22.420385313275183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3-C91E-47E5-A6EF-B13ACFF24373}"/>
            </c:ext>
          </c:extLst>
        </c:ser>
        <c:ser>
          <c:idx val="2"/>
          <c:order val="2"/>
          <c:tx>
            <c:v>Veterinary &amp; Animal Health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C91E-47E5-A6EF-B13ACFF2437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C91E-47E5-A6EF-B13ACFF2437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C91E-47E5-A6EF-B13ACFF2437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C91E-47E5-A6EF-B13ACFF2437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C91E-47E5-A6EF-B13ACFF2437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C91E-47E5-A6EF-B13ACFF2437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C91E-47E5-A6EF-B13ACFF24373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C91E-47E5-A6EF-B13ACFF24373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C91E-47E5-A6EF-B13ACFF24373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C91E-47E5-A6EF-B13ACFF24373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C91E-47E5-A6EF-B13ACFF24373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F-C91E-47E5-A6EF-B13ACFF24373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C91E-47E5-A6EF-B13ACFF24373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C91E-47E5-A6EF-B13ACFF24373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C91E-47E5-A6EF-B13ACFF24373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3-C91E-47E5-A6EF-B13ACFF24373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4-C91E-47E5-A6EF-B13ACFF24373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5-C91E-47E5-A6EF-B13ACFF24373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6-C91E-47E5-A6EF-B13ACFF24373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7-C91E-47E5-A6EF-B13ACFF24373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8-C91E-47E5-A6EF-B13ACFF24373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9-C91E-47E5-A6EF-B13ACFF24373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A-C91E-47E5-A6EF-B13ACFF24373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B-C91E-47E5-A6EF-B13ACFF24373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C-C91E-47E5-A6EF-B13ACFF2437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10.52315866146793</c:v>
              </c:pt>
              <c:pt idx="1">
                <c:v>8.5695270905104906</c:v>
              </c:pt>
              <c:pt idx="2">
                <c:v>15.044190066203566</c:v>
              </c:pt>
              <c:pt idx="3">
                <c:v>12.901832541494418</c:v>
              </c:pt>
              <c:pt idx="4">
                <c:v>10.528430108966742</c:v>
              </c:pt>
              <c:pt idx="5">
                <c:v>9.0699882521443858</c:v>
              </c:pt>
              <c:pt idx="6">
                <c:v>13.916165795019902</c:v>
              </c:pt>
              <c:pt idx="7">
                <c:v>13.331068770651267</c:v>
              </c:pt>
              <c:pt idx="8">
                <c:v>13.239764226997597</c:v>
              </c:pt>
              <c:pt idx="9">
                <c:v>13.34200875428842</c:v>
              </c:pt>
              <c:pt idx="10">
                <c:v>16.009829694822265</c:v>
              </c:pt>
              <c:pt idx="11">
                <c:v>13.218073891465828</c:v>
              </c:pt>
              <c:pt idx="12">
                <c:v>10.500221992008289</c:v>
              </c:pt>
              <c:pt idx="13">
                <c:v>9.0960944063759754</c:v>
              </c:pt>
              <c:pt idx="14">
                <c:v>15.47070295186597</c:v>
              </c:pt>
              <c:pt idx="15">
                <c:v>14.803092051276742</c:v>
              </c:pt>
              <c:pt idx="16">
                <c:v>11.773665832668886</c:v>
              </c:pt>
              <c:pt idx="17">
                <c:v>12.183248639807415</c:v>
              </c:pt>
              <c:pt idx="18">
                <c:v>12.390435819544422</c:v>
              </c:pt>
              <c:pt idx="19">
                <c:v>15.766108620520122</c:v>
              </c:pt>
              <c:pt idx="20">
                <c:v>9.6475788761679304</c:v>
              </c:pt>
              <c:pt idx="21">
                <c:v>11.615908125695393</c:v>
              </c:pt>
              <c:pt idx="22">
                <c:v>14.841255976759385</c:v>
              </c:pt>
              <c:pt idx="23">
                <c:v>11.244137619283451</c:v>
              </c:pt>
              <c:pt idx="24">
                <c:v>10.680502391958978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4D-C91E-47E5-A6EF-B13ACFF24373}"/>
            </c:ext>
          </c:extLst>
        </c:ser>
        <c:ser>
          <c:idx val="3"/>
          <c:order val="3"/>
          <c:tx>
            <c:v>General Retail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E-C91E-47E5-A6EF-B13ACFF2437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F-C91E-47E5-A6EF-B13ACFF2437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0-C91E-47E5-A6EF-B13ACFF2437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1-C91E-47E5-A6EF-B13ACFF2437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2-C91E-47E5-A6EF-B13ACFF2437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3-C91E-47E5-A6EF-B13ACFF2437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4-C91E-47E5-A6EF-B13ACFF24373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5-C91E-47E5-A6EF-B13ACFF24373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6-C91E-47E5-A6EF-B13ACFF24373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7-C91E-47E5-A6EF-B13ACFF24373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8-C91E-47E5-A6EF-B13ACFF24373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9-C91E-47E5-A6EF-B13ACFF24373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A-C91E-47E5-A6EF-B13ACFF24373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B-C91E-47E5-A6EF-B13ACFF24373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C-C91E-47E5-A6EF-B13ACFF24373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D-C91E-47E5-A6EF-B13ACFF24373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E-C91E-47E5-A6EF-B13ACFF24373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5F-C91E-47E5-A6EF-B13ACFF24373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0-C91E-47E5-A6EF-B13ACFF24373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1-C91E-47E5-A6EF-B13ACFF24373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2-C91E-47E5-A6EF-B13ACFF24373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3-C91E-47E5-A6EF-B13ACFF24373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4-C91E-47E5-A6EF-B13ACFF24373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5-C91E-47E5-A6EF-B13ACFF24373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6-C91E-47E5-A6EF-B13ACFF2437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21.620463601696731</c:v>
              </c:pt>
              <c:pt idx="1">
                <c:v>19.957720012527403</c:v>
              </c:pt>
              <c:pt idx="2">
                <c:v>11.707921599321658</c:v>
              </c:pt>
              <c:pt idx="3">
                <c:v>15.382242241006974</c:v>
              </c:pt>
              <c:pt idx="4">
                <c:v>17.997087524898316</c:v>
              </c:pt>
              <c:pt idx="5">
                <c:v>15.798451857931411</c:v>
              </c:pt>
              <c:pt idx="6">
                <c:v>18.794785731012411</c:v>
              </c:pt>
              <c:pt idx="7">
                <c:v>17.620356359818423</c:v>
              </c:pt>
              <c:pt idx="8">
                <c:v>14.989559379377789</c:v>
              </c:pt>
              <c:pt idx="9">
                <c:v>16.234472968176981</c:v>
              </c:pt>
              <c:pt idx="10">
                <c:v>21.95222311121271</c:v>
              </c:pt>
              <c:pt idx="11">
                <c:v>20.370430438872493</c:v>
              </c:pt>
              <c:pt idx="12">
                <c:v>18.599758980105289</c:v>
              </c:pt>
              <c:pt idx="13">
                <c:v>16.705334638537963</c:v>
              </c:pt>
              <c:pt idx="14">
                <c:v>18.701799485861184</c:v>
              </c:pt>
              <c:pt idx="15">
                <c:v>17.162815394057247</c:v>
              </c:pt>
              <c:pt idx="16">
                <c:v>15.962167661048637</c:v>
              </c:pt>
              <c:pt idx="17">
                <c:v>19.409620602124864</c:v>
              </c:pt>
              <c:pt idx="18">
                <c:v>14.677465683671784</c:v>
              </c:pt>
              <c:pt idx="19">
                <c:v>16.076026352111704</c:v>
              </c:pt>
              <c:pt idx="20">
                <c:v>14.437667166031149</c:v>
              </c:pt>
              <c:pt idx="21">
                <c:v>16.620628898147142</c:v>
              </c:pt>
              <c:pt idx="22">
                <c:v>17.133614135885146</c:v>
              </c:pt>
              <c:pt idx="23">
                <c:v>17.822412935406064</c:v>
              </c:pt>
              <c:pt idx="24">
                <c:v>13.342006624216959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67-C91E-47E5-A6EF-B13ACFF24373}"/>
            </c:ext>
          </c:extLst>
        </c:ser>
        <c:ser>
          <c:idx val="4"/>
          <c:order val="4"/>
          <c:tx>
            <c:v>Professional &amp; B2B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8-C91E-47E5-A6EF-B13ACFF2437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9-C91E-47E5-A6EF-B13ACFF2437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A-C91E-47E5-A6EF-B13ACFF2437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B-C91E-47E5-A6EF-B13ACFF2437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C-C91E-47E5-A6EF-B13ACFF2437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D-C91E-47E5-A6EF-B13ACFF2437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E-C91E-47E5-A6EF-B13ACFF24373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6F-C91E-47E5-A6EF-B13ACFF24373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0-C91E-47E5-A6EF-B13ACFF24373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1-C91E-47E5-A6EF-B13ACFF24373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2-C91E-47E5-A6EF-B13ACFF24373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3-C91E-47E5-A6EF-B13ACFF24373}"/>
                </c:ext>
              </c:extLst>
            </c:dLbl>
            <c:dLbl>
              <c:idx val="1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4-C91E-47E5-A6EF-B13ACFF24373}"/>
                </c:ext>
              </c:extLst>
            </c:dLbl>
            <c:dLbl>
              <c:idx val="1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5-C91E-47E5-A6EF-B13ACFF24373}"/>
                </c:ext>
              </c:extLst>
            </c:dLbl>
            <c:dLbl>
              <c:idx val="1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6-C91E-47E5-A6EF-B13ACFF24373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7-C91E-47E5-A6EF-B13ACFF24373}"/>
                </c:ext>
              </c:extLst>
            </c:dLbl>
            <c:dLbl>
              <c:idx val="1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8-C91E-47E5-A6EF-B13ACFF24373}"/>
                </c:ext>
              </c:extLst>
            </c:dLbl>
            <c:dLbl>
              <c:idx val="1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9-C91E-47E5-A6EF-B13ACFF24373}"/>
                </c:ext>
              </c:extLst>
            </c:dLbl>
            <c:dLbl>
              <c:idx val="1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A-C91E-47E5-A6EF-B13ACFF24373}"/>
                </c:ext>
              </c:extLst>
            </c:dLbl>
            <c:dLbl>
              <c:idx val="1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B-C91E-47E5-A6EF-B13ACFF24373}"/>
                </c:ext>
              </c:extLst>
            </c:dLbl>
            <c:dLbl>
              <c:idx val="2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C-C91E-47E5-A6EF-B13ACFF24373}"/>
                </c:ext>
              </c:extLst>
            </c:dLbl>
            <c:dLbl>
              <c:idx val="2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D-C91E-47E5-A6EF-B13ACFF24373}"/>
                </c:ext>
              </c:extLst>
            </c:dLbl>
            <c:dLbl>
              <c:idx val="2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E-C91E-47E5-A6EF-B13ACFF24373}"/>
                </c:ext>
              </c:extLst>
            </c:dLbl>
            <c:dLbl>
              <c:idx val="2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7F-C91E-47E5-A6EF-B13ACFF24373}"/>
                </c:ext>
              </c:extLst>
            </c:dLbl>
            <c:dLbl>
              <c:idx val="2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80-C91E-47E5-A6EF-B13ACFF2437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5"/>
              <c:pt idx="0">
                <c:v>Slovenia</c:v>
              </c:pt>
              <c:pt idx="1">
                <c:v>Malta</c:v>
              </c:pt>
              <c:pt idx="2">
                <c:v>Croatia</c:v>
              </c:pt>
              <c:pt idx="3">
                <c:v>Bulgaria</c:v>
              </c:pt>
              <c:pt idx="4">
                <c:v>Greece</c:v>
              </c:pt>
              <c:pt idx="5">
                <c:v>Hungary</c:v>
              </c:pt>
              <c:pt idx="6">
                <c:v>Ireland</c:v>
              </c:pt>
              <c:pt idx="7">
                <c:v>Finland</c:v>
              </c:pt>
              <c:pt idx="8">
                <c:v>Romania</c:v>
              </c:pt>
              <c:pt idx="9">
                <c:v>Denmark</c:v>
              </c:pt>
              <c:pt idx="10">
                <c:v>Norway</c:v>
              </c:pt>
              <c:pt idx="11">
                <c:v>Portugal</c:v>
              </c:pt>
              <c:pt idx="12">
                <c:v>Czech Republic</c:v>
              </c:pt>
              <c:pt idx="13">
                <c:v>Belgium</c:v>
              </c:pt>
              <c:pt idx="14">
                <c:v>Switzerland</c:v>
              </c:pt>
              <c:pt idx="15">
                <c:v>Austria</c:v>
              </c:pt>
              <c:pt idx="16">
                <c:v>Sweden</c:v>
              </c:pt>
              <c:pt idx="17">
                <c:v>Other European Countries</c:v>
              </c:pt>
              <c:pt idx="18">
                <c:v>Poland</c:v>
              </c:pt>
              <c:pt idx="19">
                <c:v>Netherlands</c:v>
              </c:pt>
              <c:pt idx="20">
                <c:v>Spain</c:v>
              </c:pt>
              <c:pt idx="21">
                <c:v>Italy</c:v>
              </c:pt>
              <c:pt idx="22">
                <c:v>France</c:v>
              </c:pt>
              <c:pt idx="23">
                <c:v>United Kingdom</c:v>
              </c:pt>
              <c:pt idx="24">
                <c:v>Germany</c:v>
              </c:pt>
            </c:strLit>
          </c:cat>
          <c:val>
            <c:numLit>
              <c:formatCode>General</c:formatCode>
              <c:ptCount val="25"/>
              <c:pt idx="0">
                <c:v>9.4177128411671465</c:v>
              </c:pt>
              <c:pt idx="1">
                <c:v>9.7792045098653322</c:v>
              </c:pt>
              <c:pt idx="2">
                <c:v>12.630858037374034</c:v>
              </c:pt>
              <c:pt idx="3">
                <c:v>8.548775220583698</c:v>
              </c:pt>
              <c:pt idx="4">
                <c:v>9.2211639857389152</c:v>
              </c:pt>
              <c:pt idx="5">
                <c:v>7.6538083973028206</c:v>
              </c:pt>
              <c:pt idx="6">
                <c:v>10.967137616111154</c:v>
              </c:pt>
              <c:pt idx="7">
                <c:v>9.2131674026495372</c:v>
              </c:pt>
              <c:pt idx="8">
                <c:v>7.7947823328839911</c:v>
              </c:pt>
              <c:pt idx="9">
                <c:v>8.0728735360227155</c:v>
              </c:pt>
              <c:pt idx="10">
                <c:v>11.841353297519715</c:v>
              </c:pt>
              <c:pt idx="11">
                <c:v>8.3979370073631969</c:v>
              </c:pt>
              <c:pt idx="12">
                <c:v>8.4991226030148646</c:v>
              </c:pt>
              <c:pt idx="13">
                <c:v>9.7304546891017978</c:v>
              </c:pt>
              <c:pt idx="14">
                <c:v>8.6103477824069987</c:v>
              </c:pt>
              <c:pt idx="15">
                <c:v>9.1837508705875841</c:v>
              </c:pt>
              <c:pt idx="16">
                <c:v>9.836408127354213</c:v>
              </c:pt>
              <c:pt idx="17">
                <c:v>10.836403170304363</c:v>
              </c:pt>
              <c:pt idx="18">
                <c:v>10.409358761217543</c:v>
              </c:pt>
              <c:pt idx="19">
                <c:v>8.3448353721379966</c:v>
              </c:pt>
              <c:pt idx="20">
                <c:v>8.5729528636449182</c:v>
              </c:pt>
              <c:pt idx="21">
                <c:v>7.8763192716321946</c:v>
              </c:pt>
              <c:pt idx="22">
                <c:v>9.0114326753236664</c:v>
              </c:pt>
              <c:pt idx="23">
                <c:v>9.4962535052411035</c:v>
              </c:pt>
              <c:pt idx="24">
                <c:v>11.648996000330888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81-C91E-47E5-A6EF-B13ACFF2437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ubbleChart>
        <c:varyColors val="0"/>
        <c:ser>
          <c:idx val="0"/>
          <c:order val="0"/>
          <c:tx>
            <c:v>E-commerce</c:v>
          </c:tx>
          <c:spPr>
            <a:solidFill>
              <a:srgbClr val="3D85C6"/>
            </a:solidFill>
          </c:spPr>
          <c:invertIfNegative val="0"/>
          <c:xVal>
            <c:numLit>
              <c:formatCode>General</c:formatCode>
              <c:ptCount val="1"/>
              <c:pt idx="0">
                <c:v>105.3699609183212</c:v>
              </c:pt>
            </c:numLit>
          </c:xVal>
          <c:yVal>
            <c:numLit>
              <c:formatCode>General</c:formatCode>
              <c:ptCount val="1"/>
              <c:pt idx="0">
                <c:v>151.88855434013297</c:v>
              </c:pt>
            </c:numLit>
          </c:yVal>
          <c:bubbleSize>
            <c:numLit>
              <c:formatCode>General</c:formatCode>
              <c:ptCount val="1"/>
              <c:pt idx="0">
                <c:v>1784.3420000000001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333E-4CA4-9E4A-3145996E6077}"/>
            </c:ext>
          </c:extLst>
        </c:ser>
        <c:ser>
          <c:idx val="1"/>
          <c:order val="1"/>
          <c:tx>
            <c:v>Pet Specialty Retail</c:v>
          </c:tx>
          <c:spPr>
            <a:solidFill>
              <a:srgbClr val="9E7E0A"/>
            </a:solidFill>
          </c:spPr>
          <c:invertIfNegative val="0"/>
          <c:xVal>
            <c:numLit>
              <c:formatCode>General</c:formatCode>
              <c:ptCount val="1"/>
              <c:pt idx="0">
                <c:v>99.415052806159949</c:v>
              </c:pt>
            </c:numLit>
          </c:xVal>
          <c:yVal>
            <c:numLit>
              <c:formatCode>General</c:formatCode>
              <c:ptCount val="1"/>
              <c:pt idx="0">
                <c:v>153.12119607648438</c:v>
              </c:pt>
            </c:numLit>
          </c:yVal>
          <c:bubbleSize>
            <c:numLit>
              <c:formatCode>General</c:formatCode>
              <c:ptCount val="1"/>
              <c:pt idx="0">
                <c:v>1738.41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333E-4CA4-9E4A-3145996E6077}"/>
            </c:ext>
          </c:extLst>
        </c:ser>
        <c:ser>
          <c:idx val="2"/>
          <c:order val="2"/>
          <c:tx>
            <c:v>Veterinary &amp; Animal Health</c:v>
          </c:tx>
          <c:spPr>
            <a:solidFill>
              <a:srgbClr val="008189"/>
            </a:solidFill>
          </c:spPr>
          <c:invertIfNegative val="0"/>
          <c:xVal>
            <c:numLit>
              <c:formatCode>General</c:formatCode>
              <c:ptCount val="1"/>
              <c:pt idx="0">
                <c:v>95.617187946412102</c:v>
              </c:pt>
            </c:numLit>
          </c:xVal>
          <c:yVal>
            <c:numLit>
              <c:formatCode>General</c:formatCode>
              <c:ptCount val="1"/>
              <c:pt idx="0">
                <c:v>62.582383644552507</c:v>
              </c:pt>
            </c:numLit>
          </c:yVal>
          <c:bubbleSize>
            <c:numLit>
              <c:formatCode>General</c:formatCode>
              <c:ptCount val="1"/>
              <c:pt idx="0">
                <c:v>695.15300000000002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333E-4CA4-9E4A-3145996E6077}"/>
            </c:ext>
          </c:extLst>
        </c:ser>
        <c:ser>
          <c:idx val="3"/>
          <c:order val="3"/>
          <c:tx>
            <c:v>General Retail</c:v>
          </c:tx>
          <c:spPr>
            <a:solidFill>
              <a:srgbClr val="40315E"/>
            </a:solidFill>
          </c:spPr>
          <c:invertIfNegative val="0"/>
          <c:xVal>
            <c:numLit>
              <c:formatCode>General</c:formatCode>
              <c:ptCount val="1"/>
              <c:pt idx="0">
                <c:v>94.018618326638389</c:v>
              </c:pt>
            </c:numLit>
          </c:xVal>
          <c:yVal>
            <c:numLit>
              <c:formatCode>General</c:formatCode>
              <c:ptCount val="1"/>
              <c:pt idx="0">
                <c:v>84.953459089967467</c:v>
              </c:pt>
            </c:numLit>
          </c:yVal>
          <c:bubbleSize>
            <c:numLit>
              <c:formatCode>General</c:formatCode>
              <c:ptCount val="1"/>
              <c:pt idx="0">
                <c:v>934.995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3-333E-4CA4-9E4A-3145996E6077}"/>
            </c:ext>
          </c:extLst>
        </c:ser>
        <c:ser>
          <c:idx val="4"/>
          <c:order val="4"/>
          <c:tx>
            <c:v>Professional &amp; B2B</c:v>
          </c:tx>
          <c:spPr>
            <a:solidFill>
              <a:srgbClr val="A35313"/>
            </a:solidFill>
          </c:spPr>
          <c:invertIfNegative val="0"/>
          <c:xVal>
            <c:numLit>
              <c:formatCode>General</c:formatCode>
              <c:ptCount val="1"/>
              <c:pt idx="0">
                <c:v>100.71377869529124</c:v>
              </c:pt>
            </c:numLit>
          </c:xVal>
          <c:yVal>
            <c:numLit>
              <c:formatCode>General</c:formatCode>
              <c:ptCount val="1"/>
              <c:pt idx="0">
                <c:v>47.454406848862668</c:v>
              </c:pt>
            </c:numLit>
          </c:yVal>
          <c:bubbleSize>
            <c:numLit>
              <c:formatCode>General</c:formatCode>
              <c:ptCount val="1"/>
              <c:pt idx="0">
                <c:v>542.79200000000003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4-333E-4CA4-9E4A-3145996E607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"/>
          <c:min val="85"/>
        </c:scaling>
        <c:delete val="0"/>
        <c:axPos val="b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"/>
          <c:min val="0"/>
        </c:scaling>
        <c:delete val="0"/>
        <c:axPos val="l"/>
        <c:title>
          <c:tx>
            <c:rich>
              <a:bodyPr/>
              <a:lstStyle/>
              <a:p>
                <a:r>
                  <a:rPr lang="en-US"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572007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957.55799999999999</c:v>
              </c:pt>
              <c:pt idx="2">
                <c:v>1084.027</c:v>
              </c:pt>
              <c:pt idx="3">
                <c:v>1227.5430000000001</c:v>
              </c:pt>
              <c:pt idx="4">
                <c:v>1388.9090000000001</c:v>
              </c:pt>
              <c:pt idx="5">
                <c:v>1574.462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B32A-4816-9BBE-AAEB53937458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B32A-4816-9BBE-AAEB53937458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B32A-4816-9BBE-AAEB53937458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B32A-4816-9BBE-AAEB53937458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B32A-4816-9BBE-AAEB53937458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B32A-4816-9BBE-AAEB53937458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B32A-4816-9BBE-AAEB53937458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B32A-4816-9BBE-AAEB53937458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32A-4816-9BBE-AAEB53937458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32A-4816-9BBE-AAEB53937458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32A-4816-9BBE-AAEB53937458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B32A-4816-9BBE-AAEB53937458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32A-4816-9BBE-AAEB53937458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32A-4816-9BBE-AAEB53937458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B32A-4816-9BBE-AAEB53937458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957.55799999999999</c:v>
              </c:pt>
              <c:pt idx="1">
                <c:v>126.46900000000005</c:v>
              </c:pt>
              <c:pt idx="2">
                <c:v>143.51600000000008</c:v>
              </c:pt>
              <c:pt idx="3">
                <c:v>161.36599999999999</c:v>
              </c:pt>
              <c:pt idx="4">
                <c:v>185.55299999999988</c:v>
              </c:pt>
              <c:pt idx="5">
                <c:v>209.88000000000011</c:v>
              </c:pt>
              <c:pt idx="6">
                <c:v>1784.3420000000001</c:v>
              </c:pt>
            </c:numLit>
          </c:val>
          <c:extLst>
            <c:ext xmlns:c16="http://schemas.microsoft.com/office/drawing/2014/chart" uri="{C3380CC4-5D6E-409C-BE32-E72D297353CC}">
              <c16:uniqueId val="{0000000F-B32A-4816-9BBE-AAEB539374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965.32899999999995</c:v>
              </c:pt>
              <c:pt idx="2">
                <c:v>1085.4159999999999</c:v>
              </c:pt>
              <c:pt idx="3">
                <c:v>1220.81</c:v>
              </c:pt>
              <c:pt idx="4">
                <c:v>1372.105</c:v>
              </c:pt>
              <c:pt idx="5">
                <c:v>1544.873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8445-45DC-86E8-68269A34CDC9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8445-45DC-86E8-68269A34CDC9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8445-45DC-86E8-68269A34CDC9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8445-45DC-86E8-68269A34CDC9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8445-45DC-86E8-68269A34CDC9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8445-45DC-86E8-68269A34CDC9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8445-45DC-86E8-68269A34CDC9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8445-45DC-86E8-68269A34CDC9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445-45DC-86E8-68269A34CDC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445-45DC-86E8-68269A34CDC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445-45DC-86E8-68269A34CDC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445-45DC-86E8-68269A34CDC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445-45DC-86E8-68269A34CDC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445-45DC-86E8-68269A34CDC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8445-45DC-86E8-68269A34CDC9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965.32899999999995</c:v>
              </c:pt>
              <c:pt idx="1">
                <c:v>120.08699999999999</c:v>
              </c:pt>
              <c:pt idx="2">
                <c:v>135.39400000000001</c:v>
              </c:pt>
              <c:pt idx="3">
                <c:v>151.29500000000007</c:v>
              </c:pt>
              <c:pt idx="4">
                <c:v>172.76800000000003</c:v>
              </c:pt>
              <c:pt idx="5">
                <c:v>193.53700000000003</c:v>
              </c:pt>
              <c:pt idx="6">
                <c:v>1738.41</c:v>
              </c:pt>
            </c:numLit>
          </c:val>
          <c:extLst>
            <c:ext xmlns:c16="http://schemas.microsoft.com/office/drawing/2014/chart" uri="{C3380CC4-5D6E-409C-BE32-E72D297353CC}">
              <c16:uniqueId val="{0000000F-8445-45DC-86E8-68269A34CDC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394.541</c:v>
              </c:pt>
              <c:pt idx="2">
                <c:v>441.40100000000001</c:v>
              </c:pt>
              <c:pt idx="3">
                <c:v>494.07800000000003</c:v>
              </c:pt>
              <c:pt idx="4">
                <c:v>553.01400000000001</c:v>
              </c:pt>
              <c:pt idx="5">
                <c:v>620.01099999999997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2F6A-4A74-B4C1-59E0CB55152E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2F6A-4A74-B4C1-59E0CB55152E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2F6A-4A74-B4C1-59E0CB55152E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2F6A-4A74-B4C1-59E0CB55152E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2F6A-4A74-B4C1-59E0CB55152E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2F6A-4A74-B4C1-59E0CB55152E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2F6A-4A74-B4C1-59E0CB55152E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2F6A-4A74-B4C1-59E0CB55152E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F6A-4A74-B4C1-59E0CB55152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F6A-4A74-B4C1-59E0CB55152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F6A-4A74-B4C1-59E0CB55152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F6A-4A74-B4C1-59E0CB55152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F6A-4A74-B4C1-59E0CB55152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F6A-4A74-B4C1-59E0CB55152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2F6A-4A74-B4C1-59E0CB55152E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394.541</c:v>
              </c:pt>
              <c:pt idx="1">
                <c:v>46.860000000000014</c:v>
              </c:pt>
              <c:pt idx="2">
                <c:v>52.677000000000021</c:v>
              </c:pt>
              <c:pt idx="3">
                <c:v>58.935999999999979</c:v>
              </c:pt>
              <c:pt idx="4">
                <c:v>66.996999999999957</c:v>
              </c:pt>
              <c:pt idx="5">
                <c:v>75.142000000000053</c:v>
              </c:pt>
              <c:pt idx="6">
                <c:v>695.15300000000002</c:v>
              </c:pt>
            </c:numLit>
          </c:val>
          <c:extLst>
            <c:ext xmlns:c16="http://schemas.microsoft.com/office/drawing/2014/chart" uri="{C3380CC4-5D6E-409C-BE32-E72D297353CC}">
              <c16:uniqueId val="{0000000F-2F6A-4A74-B4C1-59E0CB5515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535.57600000000002</c:v>
              </c:pt>
              <c:pt idx="2">
                <c:v>598.23900000000003</c:v>
              </c:pt>
              <c:pt idx="3">
                <c:v>668.47900000000004</c:v>
              </c:pt>
              <c:pt idx="4">
                <c:v>746.77499999999998</c:v>
              </c:pt>
              <c:pt idx="5">
                <c:v>835.76400000000001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F5C0-4877-8FFC-50A9AB12CE90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F5C0-4877-8FFC-50A9AB12CE90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F5C0-4877-8FFC-50A9AB12CE90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F5C0-4877-8FFC-50A9AB12CE90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F5C0-4877-8FFC-50A9AB12CE90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F5C0-4877-8FFC-50A9AB12CE90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F5C0-4877-8FFC-50A9AB12CE90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F5C0-4877-8FFC-50A9AB12CE90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5C0-4877-8FFC-50A9AB12CE90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5C0-4877-8FFC-50A9AB12CE90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5C0-4877-8FFC-50A9AB12CE90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5C0-4877-8FFC-50A9AB12CE90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5C0-4877-8FFC-50A9AB12CE90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F5C0-4877-8FFC-50A9AB12CE90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F5C0-4877-8FFC-50A9AB12CE90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535.57600000000002</c:v>
              </c:pt>
              <c:pt idx="1">
                <c:v>62.663000000000011</c:v>
              </c:pt>
              <c:pt idx="2">
                <c:v>70.240000000000009</c:v>
              </c:pt>
              <c:pt idx="3">
                <c:v>78.295999999999935</c:v>
              </c:pt>
              <c:pt idx="4">
                <c:v>88.989000000000033</c:v>
              </c:pt>
              <c:pt idx="5">
                <c:v>99.230999999999995</c:v>
              </c:pt>
              <c:pt idx="6">
                <c:v>934.995</c:v>
              </c:pt>
            </c:numLit>
          </c:val>
          <c:extLst>
            <c:ext xmlns:c16="http://schemas.microsoft.com/office/drawing/2014/chart" uri="{C3380CC4-5D6E-409C-BE32-E72D297353CC}">
              <c16:uniqueId val="{0000000F-F5C0-4877-8FFC-50A9AB12CE9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299.16899999999998</c:v>
              </c:pt>
              <c:pt idx="2">
                <c:v>336.70500000000004</c:v>
              </c:pt>
              <c:pt idx="3">
                <c:v>379.11099999999999</c:v>
              </c:pt>
              <c:pt idx="4">
                <c:v>426.666</c:v>
              </c:pt>
              <c:pt idx="5">
                <c:v>481.26299999999998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E182-44B5-8447-3252A59F6A0A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E182-44B5-8447-3252A59F6A0A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E182-44B5-8447-3252A59F6A0A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E182-44B5-8447-3252A59F6A0A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E182-44B5-8447-3252A59F6A0A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E182-44B5-8447-3252A59F6A0A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E182-44B5-8447-3252A59F6A0A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E182-44B5-8447-3252A59F6A0A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182-44B5-8447-3252A59F6A0A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E182-44B5-8447-3252A59F6A0A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E182-44B5-8447-3252A59F6A0A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E182-44B5-8447-3252A59F6A0A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E182-44B5-8447-3252A59F6A0A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E182-44B5-8447-3252A59F6A0A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E182-44B5-8447-3252A59F6A0A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2028</c:v>
              </c:pt>
              <c:pt idx="2">
                <c:v>2030</c:v>
              </c:pt>
              <c:pt idx="3">
                <c:v>2032</c:v>
              </c:pt>
              <c:pt idx="4">
                <c:v>2034</c:v>
              </c:pt>
              <c:pt idx="5">
                <c:v>2036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299.16899999999998</c:v>
              </c:pt>
              <c:pt idx="1">
                <c:v>37.536000000000058</c:v>
              </c:pt>
              <c:pt idx="2">
                <c:v>42.405999999999949</c:v>
              </c:pt>
              <c:pt idx="3">
                <c:v>47.555000000000007</c:v>
              </c:pt>
              <c:pt idx="4">
                <c:v>54.59699999999998</c:v>
              </c:pt>
              <c:pt idx="5">
                <c:v>61.529000000000053</c:v>
              </c:pt>
              <c:pt idx="6">
                <c:v>542.79200000000003</c:v>
              </c:pt>
            </c:numLit>
          </c:val>
          <c:extLst>
            <c:ext xmlns:c16="http://schemas.microsoft.com/office/drawing/2014/chart" uri="{C3380CC4-5D6E-409C-BE32-E72D297353CC}">
              <c16:uniqueId val="{0000000F-E182-44B5-8447-3252A59F6A0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E-commerce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636D-46CF-B733-9C954038BA51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636D-46CF-B733-9C954038BA51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36D-46CF-B733-9C954038BA51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29.905843442098636</c:v>
              </c:pt>
              <c:pt idx="1">
                <c:v>30.377710868026597</c:v>
              </c:pt>
              <c:pt idx="2">
                <c:v>31.327922928416779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636D-46CF-B733-9C954038BA51}"/>
            </c:ext>
          </c:extLst>
        </c:ser>
        <c:ser>
          <c:idx val="1"/>
          <c:order val="1"/>
          <c:tx>
            <c:v>Pet Specialty Retail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36D-46CF-B733-9C954038BA51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636D-46CF-B733-9C954038BA51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36D-46CF-B733-9C954038BA51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30.633195207296492</c:v>
              </c:pt>
              <c:pt idx="1">
                <c:v>30.624239215296878</c:v>
              </c:pt>
              <c:pt idx="2">
                <c:v>30.521488872642692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7-636D-46CF-B733-9C954038BA51}"/>
            </c:ext>
          </c:extLst>
        </c:ser>
        <c:ser>
          <c:idx val="2"/>
          <c:order val="2"/>
          <c:tx>
            <c:v>General Retail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36D-46CF-B733-9C954038BA51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36D-46CF-B733-9C954038BA51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36D-46CF-B733-9C954038BA51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17.284211813825713</c:v>
              </c:pt>
              <c:pt idx="1">
                <c:v>16.990691817993493</c:v>
              </c:pt>
              <c:pt idx="2">
                <c:v>16.41582796260753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636D-46CF-B733-9C954038BA51}"/>
            </c:ext>
          </c:extLst>
        </c:ser>
        <c:ser>
          <c:idx val="3"/>
          <c:order val="3"/>
          <c:tx>
            <c:v>Veterinary &amp; Animal Health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636D-46CF-B733-9C954038BA51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636D-46CF-B733-9C954038BA51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636D-46CF-B733-9C954038BA51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12.687127171270223</c:v>
              </c:pt>
              <c:pt idx="1">
                <c:v>12.516476728910503</c:v>
              </c:pt>
              <c:pt idx="2">
                <c:v>12.204890994808006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F-636D-46CF-B733-9C954038BA51}"/>
            </c:ext>
          </c:extLst>
        </c:ser>
        <c:ser>
          <c:idx val="4"/>
          <c:order val="4"/>
          <c:tx>
            <c:v>Professional &amp; B2B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MMM&quot;;&quot;MMM&quot;;&quot;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636D-46CF-B733-9C954038BA51}"/>
                </c:ext>
              </c:extLst>
            </c:dLbl>
            <c:dLbl>
              <c:idx val="1"/>
              <c:numFmt formatCode="&quot;MMM&quot;;&quot;MMM&quot;;&quot;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636D-46CF-B733-9C954038BA51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636D-46CF-B733-9C954038BA51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2021</c:v>
              </c:pt>
              <c:pt idx="1">
                <c:v>2026</c:v>
              </c:pt>
              <c:pt idx="2">
                <c:v>2036</c:v>
              </c:pt>
            </c:strLit>
          </c:cat>
          <c:val>
            <c:numLit>
              <c:formatCode>General</c:formatCode>
              <c:ptCount val="3"/>
              <c:pt idx="0">
                <c:v>9.4896223655089305</c:v>
              </c:pt>
              <c:pt idx="1">
                <c:v>9.4908813697725343</c:v>
              </c:pt>
              <c:pt idx="2">
                <c:v>9.5298692415249988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3-636D-46CF-B733-9C954038BA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Cleansing &amp; General Hygiene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9B0-4483-B3A2-6D1036E4C23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9B0-4483-B3A2-6D1036E4C23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09B0-4483-B3A2-6D1036E4C23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9B0-4483-B3A2-6D1036E4C23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9B0-4483-B3A2-6D1036E4C23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09B0-4483-B3A2-6D1036E4C23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27.532897772279718</c:v>
              </c:pt>
              <c:pt idx="1">
                <c:v>28.577746683761529</c:v>
              </c:pt>
              <c:pt idx="2">
                <c:v>28.30744973368628</c:v>
              </c:pt>
              <c:pt idx="3">
                <c:v>27.679710253664457</c:v>
              </c:pt>
              <c:pt idx="4">
                <c:v>27.290987024778556</c:v>
              </c:pt>
              <c:pt idx="5">
                <c:v>28.479080089965297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6-09B0-4483-B3A2-6D1036E4C23B}"/>
            </c:ext>
          </c:extLst>
        </c:ser>
        <c:ser>
          <c:idx val="1"/>
          <c:order val="1"/>
          <c:tx>
            <c:v>Coat Conditioning &amp; Softening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9B0-4483-B3A2-6D1036E4C23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9B0-4483-B3A2-6D1036E4C23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9B0-4483-B3A2-6D1036E4C23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09B0-4483-B3A2-6D1036E4C23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09B0-4483-B3A2-6D1036E4C23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09B0-4483-B3A2-6D1036E4C23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17.408615776495235</c:v>
              </c:pt>
              <c:pt idx="1">
                <c:v>16.747466591054785</c:v>
              </c:pt>
              <c:pt idx="2">
                <c:v>17.077620888054231</c:v>
              </c:pt>
              <c:pt idx="3">
                <c:v>17.55529939772595</c:v>
              </c:pt>
              <c:pt idx="4">
                <c:v>17.464816984976615</c:v>
              </c:pt>
              <c:pt idx="5">
                <c:v>17.022282794882106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D-09B0-4483-B3A2-6D1036E4C23B}"/>
            </c:ext>
          </c:extLst>
        </c:ser>
        <c:ser>
          <c:idx val="2"/>
          <c:order val="2"/>
          <c:tx>
            <c:v>Moisturizing &amp; Skin Barrier Care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09B0-4483-B3A2-6D1036E4C23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09B0-4483-B3A2-6D1036E4C23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09B0-4483-B3A2-6D1036E4C23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09B0-4483-B3A2-6D1036E4C23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09B0-4483-B3A2-6D1036E4C23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09B0-4483-B3A2-6D1036E4C23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14.081973309018418</c:v>
              </c:pt>
              <c:pt idx="1">
                <c:v>13.896302825583117</c:v>
              </c:pt>
              <c:pt idx="2">
                <c:v>14.008336591483516</c:v>
              </c:pt>
              <c:pt idx="3">
                <c:v>13.229566676443103</c:v>
              </c:pt>
              <c:pt idx="4">
                <c:v>14.105934395422251</c:v>
              </c:pt>
              <c:pt idx="5">
                <c:v>14.253317842620314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4-09B0-4483-B3A2-6D1036E4C23B}"/>
            </c:ext>
          </c:extLst>
        </c:ser>
        <c:ser>
          <c:idx val="3"/>
          <c:order val="3"/>
          <c:tx>
            <c:v>Skin Soothing &amp; Comfort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09B0-4483-B3A2-6D1036E4C23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09B0-4483-B3A2-6D1036E4C23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09B0-4483-B3A2-6D1036E4C23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09B0-4483-B3A2-6D1036E4C23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09B0-4483-B3A2-6D1036E4C23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09B0-4483-B3A2-6D1036E4C23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13.074688883874039</c:v>
              </c:pt>
              <c:pt idx="1">
                <c:v>12.869070220425069</c:v>
              </c:pt>
              <c:pt idx="2">
                <c:v>12.983034117639519</c:v>
              </c:pt>
              <c:pt idx="3">
                <c:v>13.300502690794005</c:v>
              </c:pt>
              <c:pt idx="4">
                <c:v>13.621343130734068</c:v>
              </c:pt>
              <c:pt idx="5">
                <c:v>12.07679818877817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B-09B0-4483-B3A2-6D1036E4C23B}"/>
            </c:ext>
          </c:extLst>
        </c:ser>
        <c:ser>
          <c:idx val="4"/>
          <c:order val="4"/>
          <c:tx>
            <c:v>Dental &amp; Oral Hygiene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09B0-4483-B3A2-6D1036E4C23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09B0-4483-B3A2-6D1036E4C23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09B0-4483-B3A2-6D1036E4C23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09B0-4483-B3A2-6D1036E4C23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09B0-4483-B3A2-6D1036E4C23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09B0-4483-B3A2-6D1036E4C23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10.984379553907759</c:v>
              </c:pt>
              <c:pt idx="1">
                <c:v>11.075650919670593</c:v>
              </c:pt>
              <c:pt idx="2">
                <c:v>11.296273744437107</c:v>
              </c:pt>
              <c:pt idx="3">
                <c:v>11.64714789476915</c:v>
              </c:pt>
              <c:pt idx="4">
                <c:v>10.983540789070831</c:v>
              </c:pt>
              <c:pt idx="5">
                <c:v>11.430731191444361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2-09B0-4483-B3A2-6D1036E4C23B}"/>
            </c:ext>
          </c:extLst>
        </c:ser>
        <c:ser>
          <c:idx val="5"/>
          <c:order val="5"/>
          <c:tx>
            <c:v>Body &amp; Coat Odor Management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09B0-4483-B3A2-6D1036E4C23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09B0-4483-B3A2-6D1036E4C23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09B0-4483-B3A2-6D1036E4C23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09B0-4483-B3A2-6D1036E4C23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09B0-4483-B3A2-6D1036E4C23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09B0-4483-B3A2-6D1036E4C23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9.6505613840499134</c:v>
              </c:pt>
              <c:pt idx="1">
                <c:v>9.7169485674836054</c:v>
              </c:pt>
              <c:pt idx="2">
                <c:v>9.2646835748637457</c:v>
              </c:pt>
              <c:pt idx="3">
                <c:v>9.2905716487848782</c:v>
              </c:pt>
              <c:pt idx="4">
                <c:v>9.3605823541211386</c:v>
              </c:pt>
              <c:pt idx="5">
                <c:v>9.2381995025097936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9-09B0-4483-B3A2-6D1036E4C23B}"/>
            </c:ext>
          </c:extLst>
        </c:ser>
        <c:ser>
          <c:idx val="6"/>
          <c:order val="6"/>
          <c:tx>
            <c:v>Ear &amp; Eye-Area Hygiene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09B0-4483-B3A2-6D1036E4C23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09B0-4483-B3A2-6D1036E4C23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09B0-4483-B3A2-6D1036E4C23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09B0-4483-B3A2-6D1036E4C23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09B0-4483-B3A2-6D1036E4C23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F-09B0-4483-B3A2-6D1036E4C23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7.2668833203749204</c:v>
              </c:pt>
              <c:pt idx="1">
                <c:v>7.1168141920213035</c:v>
              </c:pt>
              <c:pt idx="2">
                <c:v>7.0626013498355968</c:v>
              </c:pt>
              <c:pt idx="3">
                <c:v>7.2972014378184431</c:v>
              </c:pt>
              <c:pt idx="4">
                <c:v>7.1727953208965465</c:v>
              </c:pt>
              <c:pt idx="5">
                <c:v>7.4995903897999607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0-09B0-4483-B3A2-6D1036E4C2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Regular / Established Ingredients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F78-4357-966B-F93C373000FA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F78-4357-966B-F93C373000FA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F78-4357-966B-F93C373000FA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F78-4357-966B-F93C373000FA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F78-4357-966B-F93C373000FA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F78-4357-966B-F93C373000FA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57.514289264413534</c:v>
              </c:pt>
              <c:pt idx="1">
                <c:v>57.483665166738582</c:v>
              </c:pt>
              <c:pt idx="2">
                <c:v>57.430576029876136</c:v>
              </c:pt>
              <c:pt idx="3">
                <c:v>57.95420440903635</c:v>
              </c:pt>
              <c:pt idx="4">
                <c:v>57.393404331129496</c:v>
              </c:pt>
              <c:pt idx="5">
                <c:v>56.870119569386368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6-BF78-4357-966B-F93C373000FA}"/>
            </c:ext>
          </c:extLst>
        </c:ser>
        <c:ser>
          <c:idx val="1"/>
          <c:order val="1"/>
          <c:tx>
            <c:v>Niche / Specialized Ingredients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BF78-4357-966B-F93C373000FA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BF78-4357-966B-F93C373000FA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BF78-4357-966B-F93C373000FA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F78-4357-966B-F93C373000FA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BF78-4357-966B-F93C373000FA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F78-4357-966B-F93C373000FA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29.01259721085253</c:v>
              </c:pt>
              <c:pt idx="1">
                <c:v>29.120692843493813</c:v>
              </c:pt>
              <c:pt idx="2">
                <c:v>29.143112296129175</c:v>
              </c:pt>
              <c:pt idx="3">
                <c:v>28.745361781076063</c:v>
              </c:pt>
              <c:pt idx="4">
                <c:v>29.19117938160656</c:v>
              </c:pt>
              <c:pt idx="5">
                <c:v>29.904634942859165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D-BF78-4357-966B-F93C373000FA}"/>
            </c:ext>
          </c:extLst>
        </c:ser>
        <c:ser>
          <c:idx val="2"/>
          <c:order val="2"/>
          <c:tx>
            <c:v>Emerging Ingredients / Innovation Candidates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BF78-4357-966B-F93C373000FA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BF78-4357-966B-F93C373000FA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BF78-4357-966B-F93C373000FA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BF78-4357-966B-F93C373000FA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BF78-4357-966B-F93C373000FA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BF78-4357-966B-F93C373000FA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13.473113524733952</c:v>
              </c:pt>
              <c:pt idx="1">
                <c:v>13.395641989767615</c:v>
              </c:pt>
              <c:pt idx="2">
                <c:v>13.426311673994693</c:v>
              </c:pt>
              <c:pt idx="3">
                <c:v>13.30043380988759</c:v>
              </c:pt>
              <c:pt idx="4">
                <c:v>13.415416287263945</c:v>
              </c:pt>
              <c:pt idx="5">
                <c:v>13.225245487754469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4-BF78-4357-966B-F93C373000F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Volume (MT)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908-4350-9B60-64EF4DD30C74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908-4350-9B60-64EF4DD30C74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0908-4350-9B60-64EF4DD30C74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908-4350-9B60-64EF4DD30C74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908-4350-9B60-64EF4DD30C74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0908-4350-9B60-64EF4DD30C74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908-4350-9B60-64EF4DD30C74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908-4350-9B60-64EF4DD30C74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908-4350-9B60-64EF4DD30C74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908-4350-9B60-64EF4DD30C74}"/>
                </c:ext>
              </c:extLst>
            </c:dLbl>
            <c:dLbl>
              <c:idx val="1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0908-4350-9B60-64EF4DD30C74}"/>
                </c:ext>
              </c:extLst>
            </c:dLbl>
            <c:dLbl>
              <c:idx val="1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0908-4350-9B60-64EF4DD30C74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0908-4350-9B60-64EF4DD30C74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0908-4350-9B60-64EF4DD30C74}"/>
                </c:ext>
              </c:extLst>
            </c:dLbl>
            <c:dLbl>
              <c:idx val="1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0908-4350-9B60-64EF4DD30C74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0908-4350-9B60-64EF4DD30C74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24532</c:v>
              </c:pt>
              <c:pt idx="1">
                <c:v>25736</c:v>
              </c:pt>
              <c:pt idx="2">
                <c:v>26732</c:v>
              </c:pt>
              <c:pt idx="3">
                <c:v>27888</c:v>
              </c:pt>
              <c:pt idx="4">
                <c:v>29261</c:v>
              </c:pt>
              <c:pt idx="5">
                <c:v>30690</c:v>
              </c:pt>
              <c:pt idx="6">
                <c:v>32448</c:v>
              </c:pt>
              <c:pt idx="7">
                <c:v>34176</c:v>
              </c:pt>
              <c:pt idx="8">
                <c:v>36087</c:v>
              </c:pt>
              <c:pt idx="9">
                <c:v>37894</c:v>
              </c:pt>
              <c:pt idx="10">
                <c:v>39839</c:v>
              </c:pt>
              <c:pt idx="11">
                <c:v>41841</c:v>
              </c:pt>
              <c:pt idx="12">
                <c:v>44237</c:v>
              </c:pt>
              <c:pt idx="13">
                <c:v>46329</c:v>
              </c:pt>
              <c:pt idx="14">
                <c:v>48743</c:v>
              </c:pt>
              <c:pt idx="15">
                <c:v>51354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0908-4350-9B60-64EF4DD30C7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CAGR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1-4BE5-4B16-88D8-B66C4863E44D}"/>
              </c:ext>
            </c:extLst>
          </c:dPt>
          <c:dPt>
            <c:idx val="1"/>
            <c:invertIfNegative val="1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3-4BE5-4B16-88D8-B66C4863E44D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BE5-4B16-88D8-B66C4863E44D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BE5-4B16-88D8-B66C4863E44D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Europe</c:v>
              </c:pt>
              <c:pt idx="1">
                <c:v>Germany</c:v>
              </c:pt>
            </c:strLit>
          </c:cat>
          <c:val>
            <c:numLit>
              <c:formatCode>General</c:formatCode>
              <c:ptCount val="2"/>
              <c:pt idx="0">
                <c:v>5.5286007370664914E-2</c:v>
              </c:pt>
              <c:pt idx="1">
                <c:v>5.282875716221902E-2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4-4BE5-4B16-88D8-B66C4863E44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7.4636109950397642E-2"/>
          <c:min val="0"/>
        </c:scaling>
        <c:delete val="1"/>
        <c:axPos val="b"/>
        <c:numFmt formatCode="General" sourceLinked="1"/>
        <c:majorTickMark val="out"/>
        <c:minorTickMark val="none"/>
        <c:tickLblPos val="none"/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12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  <c:pt idx="11">
                <c:v>2036 Total</c:v>
              </c:pt>
            </c:strLit>
          </c:cat>
          <c:val>
            <c:numLit>
              <c:formatCode>General</c:formatCode>
              <c:ptCount val="12"/>
              <c:pt idx="0">
                <c:v>0</c:v>
              </c:pt>
              <c:pt idx="1">
                <c:v>30690</c:v>
              </c:pt>
              <c:pt idx="2">
                <c:v>32448</c:v>
              </c:pt>
              <c:pt idx="3">
                <c:v>34176</c:v>
              </c:pt>
              <c:pt idx="4">
                <c:v>36087</c:v>
              </c:pt>
              <c:pt idx="5">
                <c:v>37894</c:v>
              </c:pt>
              <c:pt idx="6">
                <c:v>39839</c:v>
              </c:pt>
              <c:pt idx="7">
                <c:v>41841</c:v>
              </c:pt>
              <c:pt idx="8">
                <c:v>44237</c:v>
              </c:pt>
              <c:pt idx="9">
                <c:v>46329</c:v>
              </c:pt>
              <c:pt idx="10">
                <c:v>48743</c:v>
              </c:pt>
              <c:pt idx="11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9A34-49B3-8880-26AC39C7118E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9A34-49B3-8880-26AC39C7118E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9A34-49B3-8880-26AC39C7118E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9A34-49B3-8880-26AC39C7118E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9A34-49B3-8880-26AC39C7118E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9A34-49B3-8880-26AC39C7118E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9A34-49B3-8880-26AC39C7118E}"/>
              </c:ext>
            </c:extLst>
          </c:dPt>
          <c:dPt>
            <c:idx val="6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E-9A34-49B3-8880-26AC39C7118E}"/>
              </c:ext>
            </c:extLst>
          </c:dPt>
          <c:dPt>
            <c:idx val="7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0-9A34-49B3-8880-26AC39C7118E}"/>
              </c:ext>
            </c:extLst>
          </c:dPt>
          <c:dPt>
            <c:idx val="8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2-9A34-49B3-8880-26AC39C7118E}"/>
              </c:ext>
            </c:extLst>
          </c:dPt>
          <c:dPt>
            <c:idx val="9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4-9A34-49B3-8880-26AC39C7118E}"/>
              </c:ext>
            </c:extLst>
          </c:dPt>
          <c:dPt>
            <c:idx val="1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6-9A34-49B3-8880-26AC39C7118E}"/>
              </c:ext>
            </c:extLst>
          </c:dPt>
          <c:dPt>
            <c:idx val="11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18-9A34-49B3-8880-26AC39C7118E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A34-49B3-8880-26AC39C7118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9A34-49B3-8880-26AC39C7118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9A34-49B3-8880-26AC39C7118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9A34-49B3-8880-26AC39C7118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9A34-49B3-8880-26AC39C7118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9A34-49B3-8880-26AC39C7118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9A34-49B3-8880-26AC39C7118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9A34-49B3-8880-26AC39C7118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9A34-49B3-8880-26AC39C7118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9A34-49B3-8880-26AC39C7118E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9A34-49B3-8880-26AC39C7118E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9A34-49B3-8880-26AC39C7118E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2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  <c:pt idx="11">
                <c:v>2036 Total</c:v>
              </c:pt>
            </c:strLit>
          </c:cat>
          <c:val>
            <c:numLit>
              <c:formatCode>General</c:formatCode>
              <c:ptCount val="12"/>
              <c:pt idx="0">
                <c:v>30690</c:v>
              </c:pt>
              <c:pt idx="1">
                <c:v>1758</c:v>
              </c:pt>
              <c:pt idx="2">
                <c:v>1728</c:v>
              </c:pt>
              <c:pt idx="3">
                <c:v>1911</c:v>
              </c:pt>
              <c:pt idx="4">
                <c:v>1807</c:v>
              </c:pt>
              <c:pt idx="5">
                <c:v>1945</c:v>
              </c:pt>
              <c:pt idx="6">
                <c:v>2002</c:v>
              </c:pt>
              <c:pt idx="7">
                <c:v>2396</c:v>
              </c:pt>
              <c:pt idx="8">
                <c:v>2092</c:v>
              </c:pt>
              <c:pt idx="9">
                <c:v>2414</c:v>
              </c:pt>
              <c:pt idx="10">
                <c:v>2611</c:v>
              </c:pt>
              <c:pt idx="11">
                <c:v>51354</c:v>
              </c:pt>
            </c:numLit>
          </c:val>
          <c:extLst>
            <c:ext xmlns:c16="http://schemas.microsoft.com/office/drawing/2014/chart" uri="{C3380CC4-5D6E-409C-BE32-E72D297353CC}">
              <c16:uniqueId val="{00000019-9A34-49B3-8880-26AC39C711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Germany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5F6F-476F-8D7F-826B9A1B51E5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"/>
              <c:pt idx="0">
                <c:v>Share of Europe</c:v>
              </c:pt>
            </c:strLit>
          </c:cat>
          <c:val>
            <c:numLit>
              <c:formatCode>General</c:formatCode>
              <c:ptCount val="1"/>
              <c:pt idx="0">
                <c:v>18.192703949162389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1-5F6F-476F-8D7F-826B9A1B51E5}"/>
            </c:ext>
          </c:extLst>
        </c:ser>
        <c:ser>
          <c:idx val="1"/>
          <c:order val="1"/>
          <c:tx>
            <c:v>Rest of Europe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F6F-476F-8D7F-826B9A1B51E5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"/>
              <c:pt idx="0">
                <c:v>Share of Europe</c:v>
              </c:pt>
            </c:strLit>
          </c:cat>
          <c:val>
            <c:numLit>
              <c:formatCode>General</c:formatCode>
              <c:ptCount val="1"/>
              <c:pt idx="0">
                <c:v>81.807296050837607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5F6F-476F-8D7F-826B9A1B51E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Value (US$ Mn)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3CC8-48C0-A9C8-779351143371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3CC8-48C0-A9C8-779351143371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3CC8-48C0-A9C8-779351143371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3CC8-48C0-A9C8-779351143371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CC8-48C0-A9C8-779351143371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3CC8-48C0-A9C8-779351143371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3CC8-48C0-A9C8-779351143371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3CC8-48C0-A9C8-779351143371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3CC8-48C0-A9C8-779351143371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3CC8-48C0-A9C8-779351143371}"/>
                </c:ext>
              </c:extLst>
            </c:dLbl>
            <c:dLbl>
              <c:idx val="1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3CC8-48C0-A9C8-779351143371}"/>
                </c:ext>
              </c:extLst>
            </c:dLbl>
            <c:dLbl>
              <c:idx val="1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3CC8-48C0-A9C8-779351143371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3CC8-48C0-A9C8-779351143371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3CC8-48C0-A9C8-779351143371}"/>
                </c:ext>
              </c:extLst>
            </c:dLbl>
            <c:dLbl>
              <c:idx val="1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3CC8-48C0-A9C8-779351143371}"/>
                </c:ext>
              </c:extLst>
            </c:dLbl>
            <c:dLbl>
              <c:idx val="1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3CC8-48C0-A9C8-779351143371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405.91600000000005</c:v>
              </c:pt>
              <c:pt idx="1">
                <c:v>428.56599999999997</c:v>
              </c:pt>
              <c:pt idx="2">
                <c:v>447.90899999999999</c:v>
              </c:pt>
              <c:pt idx="3">
                <c:v>470.22899999999993</c:v>
              </c:pt>
              <c:pt idx="4">
                <c:v>496.52799999999991</c:v>
              </c:pt>
              <c:pt idx="5">
                <c:v>523.97800000000007</c:v>
              </c:pt>
              <c:pt idx="6">
                <c:v>557.43700000000001</c:v>
              </c:pt>
              <c:pt idx="7">
                <c:v>590.66500000000008</c:v>
              </c:pt>
              <c:pt idx="8">
                <c:v>627.46900000000005</c:v>
              </c:pt>
              <c:pt idx="9">
                <c:v>662.952</c:v>
              </c:pt>
              <c:pt idx="10">
                <c:v>701.1880000000001</c:v>
              </c:pt>
              <c:pt idx="11">
                <c:v>740.78200000000004</c:v>
              </c:pt>
              <c:pt idx="12">
                <c:v>787.92499999999995</c:v>
              </c:pt>
              <c:pt idx="13">
                <c:v>830.0680000000001</c:v>
              </c:pt>
              <c:pt idx="14">
                <c:v>878.423</c:v>
              </c:pt>
              <c:pt idx="15">
                <c:v>930.82700000000011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3CC8-48C0-A9C8-77935114337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CAGR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1-D524-4A4D-B645-5A2F5EE0C716}"/>
              </c:ext>
            </c:extLst>
          </c:dPt>
          <c:dPt>
            <c:idx val="1"/>
            <c:invertIfNegative val="1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3-D524-4A4D-B645-5A2F5EE0C716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524-4A4D-B645-5A2F5EE0C716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524-4A4D-B645-5A2F5EE0C716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"/>
              <c:pt idx="0">
                <c:v>Europe</c:v>
              </c:pt>
              <c:pt idx="1">
                <c:v>Germany</c:v>
              </c:pt>
            </c:strLit>
          </c:cat>
          <c:val>
            <c:numLit>
              <c:formatCode>General</c:formatCode>
              <c:ptCount val="2"/>
              <c:pt idx="0">
                <c:v>6.0946929912261805E-2</c:v>
              </c:pt>
              <c:pt idx="1">
                <c:v>5.9145418457766663E-2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4-D524-4A4D-B645-5A2F5EE0C71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8.2278355381553439E-2"/>
          <c:min val="0"/>
        </c:scaling>
        <c:delete val="1"/>
        <c:axPos val="b"/>
        <c:numFmt formatCode="General" sourceLinked="1"/>
        <c:majorTickMark val="out"/>
        <c:minorTickMark val="none"/>
        <c:tickLblPos val="none"/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12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  <c:pt idx="11">
                <c:v>2036 Total</c:v>
              </c:pt>
            </c:strLit>
          </c:cat>
          <c:val>
            <c:numLit>
              <c:formatCode>General</c:formatCode>
              <c:ptCount val="12"/>
              <c:pt idx="0">
                <c:v>0</c:v>
              </c:pt>
              <c:pt idx="1">
                <c:v>523.97800000000007</c:v>
              </c:pt>
              <c:pt idx="2">
                <c:v>557.43700000000001</c:v>
              </c:pt>
              <c:pt idx="3">
                <c:v>590.66500000000008</c:v>
              </c:pt>
              <c:pt idx="4">
                <c:v>627.46900000000005</c:v>
              </c:pt>
              <c:pt idx="5">
                <c:v>662.952</c:v>
              </c:pt>
              <c:pt idx="6">
                <c:v>701.1880000000001</c:v>
              </c:pt>
              <c:pt idx="7">
                <c:v>740.78200000000004</c:v>
              </c:pt>
              <c:pt idx="8">
                <c:v>787.92499999999995</c:v>
              </c:pt>
              <c:pt idx="9">
                <c:v>830.0680000000001</c:v>
              </c:pt>
              <c:pt idx="10">
                <c:v>878.423</c:v>
              </c:pt>
              <c:pt idx="11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8262-460C-901E-A23C83B8C7D3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8262-460C-901E-A23C83B8C7D3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8262-460C-901E-A23C83B8C7D3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8262-460C-901E-A23C83B8C7D3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8262-460C-901E-A23C83B8C7D3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8262-460C-901E-A23C83B8C7D3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8262-460C-901E-A23C83B8C7D3}"/>
              </c:ext>
            </c:extLst>
          </c:dPt>
          <c:dPt>
            <c:idx val="6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E-8262-460C-901E-A23C83B8C7D3}"/>
              </c:ext>
            </c:extLst>
          </c:dPt>
          <c:dPt>
            <c:idx val="7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0-8262-460C-901E-A23C83B8C7D3}"/>
              </c:ext>
            </c:extLst>
          </c:dPt>
          <c:dPt>
            <c:idx val="8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2-8262-460C-901E-A23C83B8C7D3}"/>
              </c:ext>
            </c:extLst>
          </c:dPt>
          <c:dPt>
            <c:idx val="9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4-8262-460C-901E-A23C83B8C7D3}"/>
              </c:ext>
            </c:extLst>
          </c:dPt>
          <c:dPt>
            <c:idx val="1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6-8262-460C-901E-A23C83B8C7D3}"/>
              </c:ext>
            </c:extLst>
          </c:dPt>
          <c:dPt>
            <c:idx val="11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18-8262-460C-901E-A23C83B8C7D3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262-460C-901E-A23C83B8C7D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262-460C-901E-A23C83B8C7D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262-460C-901E-A23C83B8C7D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262-460C-901E-A23C83B8C7D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262-460C-901E-A23C83B8C7D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262-460C-901E-A23C83B8C7D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8262-460C-901E-A23C83B8C7D3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8262-460C-901E-A23C83B8C7D3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8262-460C-901E-A23C83B8C7D3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8262-460C-901E-A23C83B8C7D3}"/>
                </c:ext>
              </c:extLst>
            </c:dLbl>
            <c:dLbl>
              <c:idx val="1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8262-460C-901E-A23C83B8C7D3}"/>
                </c:ext>
              </c:extLst>
            </c:dLbl>
            <c:dLbl>
              <c:idx val="1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8262-460C-901E-A23C83B8C7D3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2"/>
              <c:pt idx="0">
                <c:v>2026</c:v>
              </c:pt>
              <c:pt idx="1">
                <c:v>2027</c:v>
              </c:pt>
              <c:pt idx="2">
                <c:v>2028</c:v>
              </c:pt>
              <c:pt idx="3">
                <c:v>2029</c:v>
              </c:pt>
              <c:pt idx="4">
                <c:v>2030</c:v>
              </c:pt>
              <c:pt idx="5">
                <c:v>2031</c:v>
              </c:pt>
              <c:pt idx="6">
                <c:v>2032</c:v>
              </c:pt>
              <c:pt idx="7">
                <c:v>2033</c:v>
              </c:pt>
              <c:pt idx="8">
                <c:v>2034</c:v>
              </c:pt>
              <c:pt idx="9">
                <c:v>2035</c:v>
              </c:pt>
              <c:pt idx="10">
                <c:v>2036</c:v>
              </c:pt>
              <c:pt idx="11">
                <c:v>2036 Total</c:v>
              </c:pt>
            </c:strLit>
          </c:cat>
          <c:val>
            <c:numLit>
              <c:formatCode>General</c:formatCode>
              <c:ptCount val="12"/>
              <c:pt idx="0">
                <c:v>523.97800000000007</c:v>
              </c:pt>
              <c:pt idx="1">
                <c:v>33.458999999999946</c:v>
              </c:pt>
              <c:pt idx="2">
                <c:v>33.228000000000065</c:v>
              </c:pt>
              <c:pt idx="3">
                <c:v>36.803999999999974</c:v>
              </c:pt>
              <c:pt idx="4">
                <c:v>35.482999999999947</c:v>
              </c:pt>
              <c:pt idx="5">
                <c:v>38.236000000000104</c:v>
              </c:pt>
              <c:pt idx="6">
                <c:v>39.593999999999937</c:v>
              </c:pt>
              <c:pt idx="7">
                <c:v>47.142999999999915</c:v>
              </c:pt>
              <c:pt idx="8">
                <c:v>42.143000000000143</c:v>
              </c:pt>
              <c:pt idx="9">
                <c:v>48.354999999999905</c:v>
              </c:pt>
              <c:pt idx="10">
                <c:v>52.40400000000011</c:v>
              </c:pt>
              <c:pt idx="11">
                <c:v>930.82700000000011</c:v>
              </c:pt>
            </c:numLit>
          </c:val>
          <c:extLst>
            <c:ext xmlns:c16="http://schemas.microsoft.com/office/drawing/2014/chart" uri="{C3380CC4-5D6E-409C-BE32-E72D297353CC}">
              <c16:uniqueId val="{00000019-8262-460C-901E-A23C83B8C7D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v>Germany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089-4FD1-BD42-80A9189E9670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"/>
              <c:pt idx="0">
                <c:v>Share of Europe</c:v>
              </c:pt>
            </c:strLit>
          </c:cat>
          <c:val>
            <c:numLit>
              <c:formatCode>General</c:formatCode>
              <c:ptCount val="1"/>
              <c:pt idx="0">
                <c:v>16.622760433123577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1-B089-4FD1-BD42-80A9189E9670}"/>
            </c:ext>
          </c:extLst>
        </c:ser>
        <c:ser>
          <c:idx val="1"/>
          <c:order val="1"/>
          <c:tx>
            <c:v>Rest of Europe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089-4FD1-BD42-80A9189E9670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"/>
              <c:pt idx="0">
                <c:v>Share of Europe</c:v>
              </c:pt>
            </c:strLit>
          </c:cat>
          <c:val>
            <c:numLit>
              <c:formatCode>General</c:formatCode>
              <c:ptCount val="1"/>
              <c:pt idx="0">
                <c:v>83.377239566876426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3-B089-4FD1-BD42-80A9189E967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100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Series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1-0134-4816-B82B-6C62F1E538E0}"/>
              </c:ext>
            </c:extLst>
          </c:dPt>
          <c:dPt>
            <c:idx val="1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3-0134-4816-B82B-6C62F1E538E0}"/>
              </c:ext>
            </c:extLst>
          </c:dPt>
          <c:dPt>
            <c:idx val="2"/>
            <c:invertIfNegative val="1"/>
            <c:bubble3D val="0"/>
            <c:spPr>
              <a:solidFill>
                <a:srgbClr val="9EC6DE"/>
              </a:solidFill>
            </c:spPr>
            <c:extLst>
              <c:ext xmlns:c16="http://schemas.microsoft.com/office/drawing/2014/chart" uri="{C3380CC4-5D6E-409C-BE32-E72D297353CC}">
                <c16:uniqueId val="{00000005-0134-4816-B82B-6C62F1E538E0}"/>
              </c:ext>
            </c:extLst>
          </c:dPt>
          <c:dPt>
            <c:idx val="3"/>
            <c:invertIfNegative val="1"/>
            <c:bubble3D val="0"/>
            <c:spPr>
              <a:solidFill>
                <a:srgbClr val="81B5D4"/>
              </a:solidFill>
            </c:spPr>
            <c:extLst>
              <c:ext xmlns:c16="http://schemas.microsoft.com/office/drawing/2014/chart" uri="{C3380CC4-5D6E-409C-BE32-E72D297353CC}">
                <c16:uniqueId val="{00000007-0134-4816-B82B-6C62F1E538E0}"/>
              </c:ext>
            </c:extLst>
          </c:dPt>
          <c:dPt>
            <c:idx val="4"/>
            <c:invertIfNegative val="1"/>
            <c:bubble3D val="0"/>
            <c:spPr>
              <a:solidFill>
                <a:srgbClr val="64A4CB"/>
              </a:solidFill>
            </c:spPr>
            <c:extLst>
              <c:ext xmlns:c16="http://schemas.microsoft.com/office/drawing/2014/chart" uri="{C3380CC4-5D6E-409C-BE32-E72D297353CC}">
                <c16:uniqueId val="{00000009-0134-4816-B82B-6C62F1E538E0}"/>
              </c:ext>
            </c:extLst>
          </c:dPt>
          <c:dPt>
            <c:idx val="5"/>
            <c:invertIfNegative val="1"/>
            <c:bubble3D val="0"/>
            <c:spPr>
              <a:solidFill>
                <a:srgbClr val="4793C1"/>
              </a:solidFill>
            </c:spPr>
            <c:extLst>
              <c:ext xmlns:c16="http://schemas.microsoft.com/office/drawing/2014/chart" uri="{C3380CC4-5D6E-409C-BE32-E72D297353CC}">
                <c16:uniqueId val="{0000000B-0134-4816-B82B-6C62F1E538E0}"/>
              </c:ext>
            </c:extLst>
          </c:dPt>
          <c:dPt>
            <c:idx val="6"/>
            <c:invertIfNegative val="1"/>
            <c:bubble3D val="0"/>
            <c:spPr>
              <a:solidFill>
                <a:srgbClr val="2A82B7"/>
              </a:solidFill>
            </c:spPr>
            <c:extLst>
              <c:ext xmlns:c16="http://schemas.microsoft.com/office/drawing/2014/chart" uri="{C3380CC4-5D6E-409C-BE32-E72D297353CC}">
                <c16:uniqueId val="{0000000D-0134-4816-B82B-6C62F1E538E0}"/>
              </c:ext>
            </c:extLst>
          </c:dPt>
          <c:dPt>
            <c:idx val="7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F-0134-4816-B82B-6C62F1E538E0}"/>
              </c:ext>
            </c:extLst>
          </c:dPt>
          <c:dLbls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0134-4816-B82B-6C62F1E538E0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134-4816-B82B-6C62F1E538E0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134-4816-B82B-6C62F1E538E0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0134-4816-B82B-6C62F1E538E0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0134-4816-B82B-6C62F1E538E0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0134-4816-B82B-6C62F1E538E0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8"/>
              <c:pt idx="0">
                <c:v> </c:v>
              </c:pt>
              <c:pt idx="1">
                <c:v>  </c:v>
              </c:pt>
              <c:pt idx="2">
                <c:v>Ear &amp; Eye Hygiene Pro…</c:v>
              </c:pt>
              <c:pt idx="3">
                <c:v>Fragrance &amp; Deodorizi…</c:v>
              </c:pt>
              <c:pt idx="4">
                <c:v>Skin, Paw &amp; Nose Care…</c:v>
              </c:pt>
              <c:pt idx="5">
                <c:v>Dental &amp; Oral Care Pr…</c:v>
              </c:pt>
              <c:pt idx="6">
                <c:v>Coat Conditioning &amp; G…</c:v>
              </c:pt>
              <c:pt idx="7">
                <c:v>Shampoos &amp; Cleansing…</c:v>
              </c:pt>
            </c:strLit>
          </c:cat>
          <c:val>
            <c:numLit>
              <c:formatCode>General</c:formatCode>
              <c:ptCount val="8"/>
              <c:pt idx="2">
                <c:v>40.718000000000004</c:v>
              </c:pt>
              <c:pt idx="3">
                <c:v>43.305999999999997</c:v>
              </c:pt>
              <c:pt idx="4">
                <c:v>59.512999999999998</c:v>
              </c:pt>
              <c:pt idx="5">
                <c:v>69.302999999999997</c:v>
              </c:pt>
              <c:pt idx="6">
                <c:v>79.935000000000002</c:v>
              </c:pt>
              <c:pt idx="7">
                <c:v>231.203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0134-4816-B82B-6C62F1E538E0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309.81202000000002"/>
          <c:min val="0"/>
        </c:scaling>
        <c:delete val="0"/>
        <c:axPos val="b"/>
        <c:numFmt formatCode="General" sourceLinked="1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Series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1-39AD-4A61-948D-9E8DE0D6995F}"/>
              </c:ext>
            </c:extLst>
          </c:dPt>
          <c:dPt>
            <c:idx val="1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3-39AD-4A61-948D-9E8DE0D6995F}"/>
              </c:ext>
            </c:extLst>
          </c:dPt>
          <c:dPt>
            <c:idx val="2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5-39AD-4A61-948D-9E8DE0D6995F}"/>
              </c:ext>
            </c:extLst>
          </c:dPt>
          <c:dPt>
            <c:idx val="3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7-39AD-4A61-948D-9E8DE0D6995F}"/>
              </c:ext>
            </c:extLst>
          </c:dPt>
          <c:dPt>
            <c:idx val="4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9-39AD-4A61-948D-9E8DE0D6995F}"/>
              </c:ext>
            </c:extLst>
          </c:dPt>
          <c:dPt>
            <c:idx val="5"/>
            <c:invertIfNegative val="1"/>
            <c:bubble3D val="0"/>
            <c:spPr>
              <a:solidFill>
                <a:srgbClr val="9DABB6"/>
              </a:solidFill>
            </c:spPr>
            <c:extLst>
              <c:ext xmlns:c16="http://schemas.microsoft.com/office/drawing/2014/chart" uri="{C3380CC4-5D6E-409C-BE32-E72D297353CC}">
                <c16:uniqueId val="{0000000B-39AD-4A61-948D-9E8DE0D6995F}"/>
              </c:ext>
            </c:extLst>
          </c:dPt>
          <c:dPt>
            <c:idx val="6"/>
            <c:invertIfNegative val="1"/>
            <c:bubble3D val="0"/>
            <c:spPr>
              <a:solidFill>
                <a:srgbClr val="546C80"/>
              </a:solidFill>
            </c:spPr>
            <c:extLst>
              <c:ext xmlns:c16="http://schemas.microsoft.com/office/drawing/2014/chart" uri="{C3380CC4-5D6E-409C-BE32-E72D297353CC}">
                <c16:uniqueId val="{0000000D-39AD-4A61-948D-9E8DE0D6995F}"/>
              </c:ext>
            </c:extLst>
          </c:dPt>
          <c:dPt>
            <c:idx val="7"/>
            <c:invertIfNegative val="1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0F-39AD-4A61-948D-9E8DE0D6995F}"/>
              </c:ext>
            </c:extLst>
          </c:dPt>
          <c:dLbls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39AD-4A61-948D-9E8DE0D6995F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39AD-4A61-948D-9E8DE0D6995F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39AD-4A61-948D-9E8DE0D6995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8"/>
              <c:pt idx="0">
                <c:v> </c:v>
              </c:pt>
              <c:pt idx="1">
                <c:v>  </c:v>
              </c:pt>
              <c:pt idx="2">
                <c:v>   </c:v>
              </c:pt>
              <c:pt idx="3">
                <c:v>    </c:v>
              </c:pt>
              <c:pt idx="4">
                <c:v>     </c:v>
              </c:pt>
              <c:pt idx="5">
                <c:v>Emerging Ingredients…</c:v>
              </c:pt>
              <c:pt idx="6">
                <c:v>Niche / Specialized I…</c:v>
              </c:pt>
              <c:pt idx="7">
                <c:v>Regular / Established…</c:v>
              </c:pt>
            </c:strLit>
          </c:cat>
          <c:val>
            <c:numLit>
              <c:formatCode>General</c:formatCode>
              <c:ptCount val="8"/>
              <c:pt idx="5">
                <c:v>66.334000000000003</c:v>
              </c:pt>
              <c:pt idx="6">
                <c:v>169.798</c:v>
              </c:pt>
              <c:pt idx="7">
                <c:v>287.84699999999998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39AD-4A61-948D-9E8DE0D699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385.71497999999997"/>
          <c:min val="0"/>
        </c:scaling>
        <c:delete val="0"/>
        <c:axPos val="b"/>
        <c:numFmt formatCode="General" sourceLinked="1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Series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C5B1E6"/>
              </a:solidFill>
            </c:spPr>
            <c:extLst>
              <c:ext xmlns:c16="http://schemas.microsoft.com/office/drawing/2014/chart" uri="{C3380CC4-5D6E-409C-BE32-E72D297353CC}">
                <c16:uniqueId val="{00000001-AF18-45FD-90C2-50E619BF40F3}"/>
              </c:ext>
            </c:extLst>
          </c:dPt>
          <c:dPt>
            <c:idx val="1"/>
            <c:invertIfNegative val="1"/>
            <c:bubble3D val="0"/>
            <c:spPr>
              <a:solidFill>
                <a:srgbClr val="B9A0E1"/>
              </a:solidFill>
            </c:spPr>
            <c:extLst>
              <c:ext xmlns:c16="http://schemas.microsoft.com/office/drawing/2014/chart" uri="{C3380CC4-5D6E-409C-BE32-E72D297353CC}">
                <c16:uniqueId val="{00000003-AF18-45FD-90C2-50E619BF40F3}"/>
              </c:ext>
            </c:extLst>
          </c:dPt>
          <c:dPt>
            <c:idx val="2"/>
            <c:invertIfNegative val="1"/>
            <c:bubble3D val="0"/>
            <c:spPr>
              <a:solidFill>
                <a:srgbClr val="AC8FDC"/>
              </a:solidFill>
            </c:spPr>
            <c:extLst>
              <c:ext xmlns:c16="http://schemas.microsoft.com/office/drawing/2014/chart" uri="{C3380CC4-5D6E-409C-BE32-E72D297353CC}">
                <c16:uniqueId val="{00000005-AF18-45FD-90C2-50E619BF40F3}"/>
              </c:ext>
            </c:extLst>
          </c:dPt>
          <c:dPt>
            <c:idx val="3"/>
            <c:invertIfNegative val="1"/>
            <c:bubble3D val="0"/>
            <c:spPr>
              <a:solidFill>
                <a:srgbClr val="A07ED6"/>
              </a:solidFill>
            </c:spPr>
            <c:extLst>
              <c:ext xmlns:c16="http://schemas.microsoft.com/office/drawing/2014/chart" uri="{C3380CC4-5D6E-409C-BE32-E72D297353CC}">
                <c16:uniqueId val="{00000007-AF18-45FD-90C2-50E619BF40F3}"/>
              </c:ext>
            </c:extLst>
          </c:dPt>
          <c:dPt>
            <c:idx val="4"/>
            <c:invertIfNegative val="1"/>
            <c:bubble3D val="0"/>
            <c:spPr>
              <a:solidFill>
                <a:srgbClr val="946ED1"/>
              </a:solidFill>
            </c:spPr>
            <c:extLst>
              <c:ext xmlns:c16="http://schemas.microsoft.com/office/drawing/2014/chart" uri="{C3380CC4-5D6E-409C-BE32-E72D297353CC}">
                <c16:uniqueId val="{00000009-AF18-45FD-90C2-50E619BF40F3}"/>
              </c:ext>
            </c:extLst>
          </c:dPt>
          <c:dPt>
            <c:idx val="5"/>
            <c:invertIfNegative val="1"/>
            <c:bubble3D val="0"/>
            <c:spPr>
              <a:solidFill>
                <a:srgbClr val="875DCC"/>
              </a:solidFill>
            </c:spPr>
            <c:extLst>
              <c:ext xmlns:c16="http://schemas.microsoft.com/office/drawing/2014/chart" uri="{C3380CC4-5D6E-409C-BE32-E72D297353CC}">
                <c16:uniqueId val="{0000000B-AF18-45FD-90C2-50E619BF40F3}"/>
              </c:ext>
            </c:extLst>
          </c:dPt>
          <c:dPt>
            <c:idx val="6"/>
            <c:invertIfNegative val="1"/>
            <c:bubble3D val="0"/>
            <c:spPr>
              <a:solidFill>
                <a:srgbClr val="7B4CC7"/>
              </a:solidFill>
            </c:spPr>
            <c:extLst>
              <c:ext xmlns:c16="http://schemas.microsoft.com/office/drawing/2014/chart" uri="{C3380CC4-5D6E-409C-BE32-E72D297353CC}">
                <c16:uniqueId val="{0000000D-AF18-45FD-90C2-50E619BF40F3}"/>
              </c:ext>
            </c:extLst>
          </c:dPt>
          <c:dPt>
            <c:idx val="7"/>
            <c:invertIfNegative val="1"/>
            <c:bubble3D val="0"/>
            <c:spPr>
              <a:solidFill>
                <a:srgbClr val="6F3CC2"/>
              </a:solidFill>
            </c:spPr>
            <c:extLst>
              <c:ext xmlns:c16="http://schemas.microsoft.com/office/drawing/2014/chart" uri="{C3380CC4-5D6E-409C-BE32-E72D297353CC}">
                <c16:uniqueId val="{0000000F-AF18-45FD-90C2-50E619BF40F3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F18-45FD-90C2-50E619BF40F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F18-45FD-90C2-50E619BF40F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AF18-45FD-90C2-50E619BF40F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AF18-45FD-90C2-50E619BF40F3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AF18-45FD-90C2-50E619BF40F3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AF18-45FD-90C2-50E619BF40F3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AF18-45FD-90C2-50E619BF40F3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AF18-45FD-90C2-50E619BF40F3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8"/>
              <c:pt idx="0">
                <c:v>Solid</c:v>
              </c:pt>
              <c:pt idx="1">
                <c:v>Powder</c:v>
              </c:pt>
              <c:pt idx="2">
                <c:v>Gel</c:v>
              </c:pt>
              <c:pt idx="3">
                <c:v>Foam</c:v>
              </c:pt>
              <c:pt idx="4">
                <c:v>Cream &amp; Balm</c:v>
              </c:pt>
              <c:pt idx="5">
                <c:v>Wipe &amp; Pad</c:v>
              </c:pt>
              <c:pt idx="6">
                <c:v>Spray</c:v>
              </c:pt>
              <c:pt idx="7">
                <c:v>Liquid</c:v>
              </c:pt>
            </c:strLit>
          </c:cat>
          <c:val>
            <c:numLit>
              <c:formatCode>General</c:formatCode>
              <c:ptCount val="8"/>
              <c:pt idx="0">
                <c:v>16.971</c:v>
              </c:pt>
              <c:pt idx="1">
                <c:v>20.311</c:v>
              </c:pt>
              <c:pt idx="2">
                <c:v>31.71</c:v>
              </c:pt>
              <c:pt idx="3">
                <c:v>43.95</c:v>
              </c:pt>
              <c:pt idx="4">
                <c:v>60.036999999999999</c:v>
              </c:pt>
              <c:pt idx="5">
                <c:v>65.974999999999994</c:v>
              </c:pt>
              <c:pt idx="6">
                <c:v>112.093</c:v>
              </c:pt>
              <c:pt idx="7">
                <c:v>172.93100000000001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AF18-45FD-90C2-50E619BF40F3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231.72754000000003"/>
          <c:min val="0"/>
        </c:scaling>
        <c:delete val="0"/>
        <c:axPos val="b"/>
        <c:numFmt formatCode="General" sourceLinked="1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Series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1-CE18-4989-9D4B-B017C8912160}"/>
              </c:ext>
            </c:extLst>
          </c:dPt>
          <c:dPt>
            <c:idx val="1"/>
            <c:invertIfNegative val="1"/>
            <c:bubble3D val="0"/>
            <c:spPr>
              <a:solidFill>
                <a:srgbClr val="DABAA0"/>
              </a:solidFill>
            </c:spPr>
            <c:extLst>
              <c:ext xmlns:c16="http://schemas.microsoft.com/office/drawing/2014/chart" uri="{C3380CC4-5D6E-409C-BE32-E72D297353CC}">
                <c16:uniqueId val="{00000003-CE18-4989-9D4B-B017C8912160}"/>
              </c:ext>
            </c:extLst>
          </c:dPt>
          <c:dPt>
            <c:idx val="2"/>
            <c:invertIfNegative val="1"/>
            <c:bubble3D val="0"/>
            <c:spPr>
              <a:solidFill>
                <a:srgbClr val="D1A989"/>
              </a:solidFill>
            </c:spPr>
            <c:extLst>
              <c:ext xmlns:c16="http://schemas.microsoft.com/office/drawing/2014/chart" uri="{C3380CC4-5D6E-409C-BE32-E72D297353CC}">
                <c16:uniqueId val="{00000005-CE18-4989-9D4B-B017C8912160}"/>
              </c:ext>
            </c:extLst>
          </c:dPt>
          <c:dPt>
            <c:idx val="3"/>
            <c:invertIfNegative val="1"/>
            <c:bubble3D val="0"/>
            <c:spPr>
              <a:solidFill>
                <a:srgbClr val="C79771"/>
              </a:solidFill>
            </c:spPr>
            <c:extLst>
              <c:ext xmlns:c16="http://schemas.microsoft.com/office/drawing/2014/chart" uri="{C3380CC4-5D6E-409C-BE32-E72D297353CC}">
                <c16:uniqueId val="{00000007-CE18-4989-9D4B-B017C8912160}"/>
              </c:ext>
            </c:extLst>
          </c:dPt>
          <c:dPt>
            <c:idx val="4"/>
            <c:invertIfNegative val="1"/>
            <c:bubble3D val="0"/>
            <c:spPr>
              <a:solidFill>
                <a:srgbClr val="BE8659"/>
              </a:solidFill>
            </c:spPr>
            <c:extLst>
              <c:ext xmlns:c16="http://schemas.microsoft.com/office/drawing/2014/chart" uri="{C3380CC4-5D6E-409C-BE32-E72D297353CC}">
                <c16:uniqueId val="{00000009-CE18-4989-9D4B-B017C8912160}"/>
              </c:ext>
            </c:extLst>
          </c:dPt>
          <c:dPt>
            <c:idx val="5"/>
            <c:invertIfNegative val="1"/>
            <c:bubble3D val="0"/>
            <c:spPr>
              <a:solidFill>
                <a:srgbClr val="B57542"/>
              </a:solidFill>
            </c:spPr>
            <c:extLst>
              <c:ext xmlns:c16="http://schemas.microsoft.com/office/drawing/2014/chart" uri="{C3380CC4-5D6E-409C-BE32-E72D297353CC}">
                <c16:uniqueId val="{0000000B-CE18-4989-9D4B-B017C8912160}"/>
              </c:ext>
            </c:extLst>
          </c:dPt>
          <c:dPt>
            <c:idx val="6"/>
            <c:invertIfNegative val="1"/>
            <c:bubble3D val="0"/>
            <c:spPr>
              <a:solidFill>
                <a:srgbClr val="AC642A"/>
              </a:solidFill>
            </c:spPr>
            <c:extLst>
              <c:ext xmlns:c16="http://schemas.microsoft.com/office/drawing/2014/chart" uri="{C3380CC4-5D6E-409C-BE32-E72D297353CC}">
                <c16:uniqueId val="{0000000D-CE18-4989-9D4B-B017C8912160}"/>
              </c:ext>
            </c:extLst>
          </c:dPt>
          <c:dPt>
            <c:idx val="7"/>
            <c:invertIfNegative val="1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0F-CE18-4989-9D4B-B017C8912160}"/>
              </c:ext>
            </c:extLst>
          </c:dPt>
          <c:dLbls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E18-4989-9D4B-B017C8912160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CE18-4989-9D4B-B017C8912160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CE18-4989-9D4B-B017C8912160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CE18-4989-9D4B-B017C8912160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CE18-4989-9D4B-B017C8912160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CE18-4989-9D4B-B017C8912160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CE18-4989-9D4B-B017C8912160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8"/>
              <c:pt idx="0">
                <c:v> </c:v>
              </c:pt>
              <c:pt idx="1">
                <c:v>Ear &amp; Eye-Area Hygiene</c:v>
              </c:pt>
              <c:pt idx="2">
                <c:v>Body &amp; Coat Odor Mana…</c:v>
              </c:pt>
              <c:pt idx="3">
                <c:v>Dental &amp; Oral Hygiene</c:v>
              </c:pt>
              <c:pt idx="4">
                <c:v>Skin Soothing &amp; Comfo…</c:v>
              </c:pt>
              <c:pt idx="5">
                <c:v>Moisturizing &amp; Skin B…</c:v>
              </c:pt>
              <c:pt idx="6">
                <c:v>Coat Conditioning &amp; S…</c:v>
              </c:pt>
              <c:pt idx="7">
                <c:v>Cleansing &amp; General H…</c:v>
              </c:pt>
            </c:strLit>
          </c:cat>
          <c:val>
            <c:numLit>
              <c:formatCode>General</c:formatCode>
              <c:ptCount val="8"/>
              <c:pt idx="1">
                <c:v>40.012</c:v>
              </c:pt>
              <c:pt idx="2">
                <c:v>46.451999999999998</c:v>
              </c:pt>
              <c:pt idx="3">
                <c:v>52.713000000000001</c:v>
              </c:pt>
              <c:pt idx="4">
                <c:v>75.09899999999999</c:v>
              </c:pt>
              <c:pt idx="5">
                <c:v>87.08</c:v>
              </c:pt>
              <c:pt idx="6">
                <c:v>108.51300000000001</c:v>
              </c:pt>
              <c:pt idx="7">
                <c:v>114.107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CE18-4989-9D4B-B017C8912160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152.90338"/>
          <c:min val="0"/>
        </c:scaling>
        <c:delete val="0"/>
        <c:axPos val="b"/>
        <c:numFmt formatCode="General" sourceLinked="1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Series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1-D49A-428F-B890-1EC78B584EBC}"/>
              </c:ext>
            </c:extLst>
          </c:dPt>
          <c:dPt>
            <c:idx val="1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3-D49A-428F-B890-1EC78B584EBC}"/>
              </c:ext>
            </c:extLst>
          </c:dPt>
          <c:dPt>
            <c:idx val="2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5-D49A-428F-B890-1EC78B584EBC}"/>
              </c:ext>
            </c:extLst>
          </c:dPt>
          <c:dPt>
            <c:idx val="3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7-D49A-428F-B890-1EC78B584EBC}"/>
              </c:ext>
            </c:extLst>
          </c:dPt>
          <c:dPt>
            <c:idx val="4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9-D49A-428F-B890-1EC78B584EBC}"/>
              </c:ext>
            </c:extLst>
          </c:dPt>
          <c:dPt>
            <c:idx val="5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B-D49A-428F-B890-1EC78B584EBC}"/>
              </c:ext>
            </c:extLst>
          </c:dPt>
          <c:dPt>
            <c:idx val="6"/>
            <c:invertIfNegative val="1"/>
            <c:bubble3D val="0"/>
            <c:spPr>
              <a:solidFill>
                <a:srgbClr val="DCC599"/>
              </a:solidFill>
            </c:spPr>
            <c:extLst>
              <c:ext xmlns:c16="http://schemas.microsoft.com/office/drawing/2014/chart" uri="{C3380CC4-5D6E-409C-BE32-E72D297353CC}">
                <c16:uniqueId val="{0000000D-D49A-428F-B890-1EC78B584EBC}"/>
              </c:ext>
            </c:extLst>
          </c:dPt>
          <c:dPt>
            <c:idx val="7"/>
            <c:invertIfNegative val="1"/>
            <c:bubble3D val="0"/>
            <c:spPr>
              <a:solidFill>
                <a:srgbClr val="A86F00"/>
              </a:solidFill>
            </c:spPr>
            <c:extLst>
              <c:ext xmlns:c16="http://schemas.microsoft.com/office/drawing/2014/chart" uri="{C3380CC4-5D6E-409C-BE32-E72D297353CC}">
                <c16:uniqueId val="{0000000F-D49A-428F-B890-1EC78B584EBC}"/>
              </c:ext>
            </c:extLst>
          </c:dPt>
          <c:dLbls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D49A-428F-B890-1EC78B584EBC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D49A-428F-B890-1EC78B584EB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8"/>
              <c:pt idx="0">
                <c:v> </c:v>
              </c:pt>
              <c:pt idx="1">
                <c:v>  </c:v>
              </c:pt>
              <c:pt idx="2">
                <c:v>   </c:v>
              </c:pt>
              <c:pt idx="3">
                <c:v>    </c:v>
              </c:pt>
              <c:pt idx="4">
                <c:v>     </c:v>
              </c:pt>
              <c:pt idx="5">
                <c:v>      </c:v>
              </c:pt>
              <c:pt idx="6">
                <c:v>Cats</c:v>
              </c:pt>
              <c:pt idx="7">
                <c:v>Dogs</c:v>
              </c:pt>
            </c:strLit>
          </c:cat>
          <c:val>
            <c:numLit>
              <c:formatCode>General</c:formatCode>
              <c:ptCount val="8"/>
              <c:pt idx="6">
                <c:v>169.149</c:v>
              </c:pt>
              <c:pt idx="7">
                <c:v>354.82900000000001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D49A-428F-B890-1EC78B584EBC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475.47086000000002"/>
          <c:min val="0"/>
        </c:scaling>
        <c:delete val="0"/>
        <c:axPos val="b"/>
        <c:numFmt formatCode="General" sourceLinked="1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Series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1-43E2-43F1-BE67-86C273E27512}"/>
              </c:ext>
            </c:extLst>
          </c:dPt>
          <c:dPt>
            <c:idx val="1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3-43E2-43F1-BE67-86C273E27512}"/>
              </c:ext>
            </c:extLst>
          </c:dPt>
          <c:dPt>
            <c:idx val="2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5-43E2-43F1-BE67-86C273E27512}"/>
              </c:ext>
            </c:extLst>
          </c:dPt>
          <c:dPt>
            <c:idx val="3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7-43E2-43F1-BE67-86C273E27512}"/>
              </c:ext>
            </c:extLst>
          </c:dPt>
          <c:dPt>
            <c:idx val="4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9-43E2-43F1-BE67-86C273E27512}"/>
              </c:ext>
            </c:extLst>
          </c:dPt>
          <c:dPt>
            <c:idx val="5"/>
            <c:invertIfNegative val="1"/>
            <c:bubble3D val="0"/>
            <c:spPr>
              <a:solidFill>
                <a:srgbClr val="E59999"/>
              </a:solidFill>
            </c:spPr>
            <c:extLst>
              <c:ext xmlns:c16="http://schemas.microsoft.com/office/drawing/2014/chart" uri="{C3380CC4-5D6E-409C-BE32-E72D297353CC}">
                <c16:uniqueId val="{0000000B-43E2-43F1-BE67-86C273E27512}"/>
              </c:ext>
            </c:extLst>
          </c:dPt>
          <c:dPt>
            <c:idx val="6"/>
            <c:invertIfNegative val="1"/>
            <c:bubble3D val="0"/>
            <c:spPr>
              <a:solidFill>
                <a:srgbClr val="D24C4C"/>
              </a:solidFill>
            </c:spPr>
            <c:extLst>
              <c:ext xmlns:c16="http://schemas.microsoft.com/office/drawing/2014/chart" uri="{C3380CC4-5D6E-409C-BE32-E72D297353CC}">
                <c16:uniqueId val="{0000000D-43E2-43F1-BE67-86C273E27512}"/>
              </c:ext>
            </c:extLst>
          </c:dPt>
          <c:dPt>
            <c:idx val="7"/>
            <c:invertIfNegative val="1"/>
            <c:bubble3D val="0"/>
            <c:spPr>
              <a:solidFill>
                <a:srgbClr val="C00000"/>
              </a:solidFill>
            </c:spPr>
            <c:extLst>
              <c:ext xmlns:c16="http://schemas.microsoft.com/office/drawing/2014/chart" uri="{C3380CC4-5D6E-409C-BE32-E72D297353CC}">
                <c16:uniqueId val="{0000000F-43E2-43F1-BE67-86C273E27512}"/>
              </c:ext>
            </c:extLst>
          </c:dPt>
          <c:dLbls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43E2-43F1-BE67-86C273E2751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43E2-43F1-BE67-86C273E2751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43E2-43F1-BE67-86C273E27512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8"/>
              <c:pt idx="0">
                <c:v> </c:v>
              </c:pt>
              <c:pt idx="1">
                <c:v>  </c:v>
              </c:pt>
              <c:pt idx="2">
                <c:v>   </c:v>
              </c:pt>
              <c:pt idx="3">
                <c:v>    </c:v>
              </c:pt>
              <c:pt idx="4">
                <c:v>     </c:v>
              </c:pt>
              <c:pt idx="5">
                <c:v>Solid, Powder &amp; Weigh…</c:v>
              </c:pt>
              <c:pt idx="6">
                <c:v>Wipes &amp; Other Count-B…</c:v>
              </c:pt>
              <c:pt idx="7">
                <c:v>Liquid, Gel &amp; Cream P…</c:v>
              </c:pt>
            </c:strLit>
          </c:cat>
          <c:val>
            <c:numLit>
              <c:formatCode>General</c:formatCode>
              <c:ptCount val="8"/>
              <c:pt idx="5">
                <c:v>84.313000000000002</c:v>
              </c:pt>
              <c:pt idx="6">
                <c:v>125.249</c:v>
              </c:pt>
              <c:pt idx="7">
                <c:v>314.41500000000002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43E2-43F1-BE67-86C273E2751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421.31610000000006"/>
          <c:min val="0"/>
        </c:scaling>
        <c:delete val="0"/>
        <c:axPos val="b"/>
        <c:numFmt formatCode="General" sourceLinked="1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Series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1-0B22-4279-8708-2F9B79CF80D2}"/>
              </c:ext>
            </c:extLst>
          </c:dPt>
          <c:dPt>
            <c:idx val="1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3-0B22-4279-8708-2F9B79CF80D2}"/>
              </c:ext>
            </c:extLst>
          </c:dPt>
          <c:dPt>
            <c:idx val="2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5-0B22-4279-8708-2F9B79CF80D2}"/>
              </c:ext>
            </c:extLst>
          </c:dPt>
          <c:dPt>
            <c:idx val="3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7-0B22-4279-8708-2F9B79CF80D2}"/>
              </c:ext>
            </c:extLst>
          </c:dPt>
          <c:dPt>
            <c:idx val="4"/>
            <c:invertIfNegative val="1"/>
            <c:bubble3D val="0"/>
            <c:spPr>
              <a:solidFill>
                <a:srgbClr val="C4C9CF"/>
              </a:solidFill>
            </c:spPr>
            <c:extLst>
              <c:ext xmlns:c16="http://schemas.microsoft.com/office/drawing/2014/chart" uri="{C3380CC4-5D6E-409C-BE32-E72D297353CC}">
                <c16:uniqueId val="{00000009-0B22-4279-8708-2F9B79CF80D2}"/>
              </c:ext>
            </c:extLst>
          </c:dPt>
          <c:dPt>
            <c:idx val="5"/>
            <c:invertIfNegative val="1"/>
            <c:bubble3D val="0"/>
            <c:spPr>
              <a:solidFill>
                <a:srgbClr val="A6AFB8"/>
              </a:solidFill>
            </c:spPr>
            <c:extLst>
              <c:ext xmlns:c16="http://schemas.microsoft.com/office/drawing/2014/chart" uri="{C3380CC4-5D6E-409C-BE32-E72D297353CC}">
                <c16:uniqueId val="{0000000B-0B22-4279-8708-2F9B79CF80D2}"/>
              </c:ext>
            </c:extLst>
          </c:dPt>
          <c:dPt>
            <c:idx val="6"/>
            <c:invertIfNegative val="1"/>
            <c:bubble3D val="0"/>
            <c:spPr>
              <a:solidFill>
                <a:srgbClr val="8994A0"/>
              </a:solidFill>
            </c:spPr>
            <c:extLst>
              <c:ext xmlns:c16="http://schemas.microsoft.com/office/drawing/2014/chart" uri="{C3380CC4-5D6E-409C-BE32-E72D297353CC}">
                <c16:uniqueId val="{0000000D-0B22-4279-8708-2F9B79CF80D2}"/>
              </c:ext>
            </c:extLst>
          </c:dPt>
          <c:dPt>
            <c:idx val="7"/>
            <c:invertIfNegative val="1"/>
            <c:bubble3D val="0"/>
            <c:spPr>
              <a:solidFill>
                <a:srgbClr val="6C7A89"/>
              </a:solidFill>
            </c:spPr>
            <c:extLst>
              <c:ext xmlns:c16="http://schemas.microsoft.com/office/drawing/2014/chart" uri="{C3380CC4-5D6E-409C-BE32-E72D297353CC}">
                <c16:uniqueId val="{0000000F-0B22-4279-8708-2F9B79CF80D2}"/>
              </c:ext>
            </c:extLst>
          </c:dPt>
          <c:dLbls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B22-4279-8708-2F9B79CF80D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0B22-4279-8708-2F9B79CF80D2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0B22-4279-8708-2F9B79CF80D2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0B22-4279-8708-2F9B79CF80D2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8"/>
              <c:pt idx="0">
                <c:v> </c:v>
              </c:pt>
              <c:pt idx="1">
                <c:v>  </c:v>
              </c:pt>
              <c:pt idx="2">
                <c:v>   </c:v>
              </c:pt>
              <c:pt idx="3">
                <c:v>    </c:v>
              </c:pt>
              <c:pt idx="4">
                <c:v>Super-Premium / Luxur…</c:v>
              </c:pt>
              <c:pt idx="5">
                <c:v>Economy / Mass-Market…</c:v>
              </c:pt>
              <c:pt idx="6">
                <c:v>Premium: US$6 to belo…</c:v>
              </c:pt>
              <c:pt idx="7">
                <c:v>Mid-Range: US$3 to be…</c:v>
              </c:pt>
            </c:strLit>
          </c:cat>
          <c:val>
            <c:numLit>
              <c:formatCode>General</c:formatCode>
              <c:ptCount val="8"/>
              <c:pt idx="4">
                <c:v>45.701999999999998</c:v>
              </c:pt>
              <c:pt idx="5">
                <c:v>127.14400000000001</c:v>
              </c:pt>
              <c:pt idx="6">
                <c:v>137.685</c:v>
              </c:pt>
              <c:pt idx="7">
                <c:v>213.44900000000001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0B22-4279-8708-2F9B79CF80D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286.02166000000005"/>
          <c:min val="0"/>
        </c:scaling>
        <c:delete val="0"/>
        <c:axPos val="b"/>
        <c:numFmt formatCode="General" sourceLinked="1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Series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1-A89C-48BE-ABCC-8C67936CB1CC}"/>
              </c:ext>
            </c:extLst>
          </c:dPt>
          <c:dPt>
            <c:idx val="1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3-A89C-48BE-ABCC-8C67936CB1CC}"/>
              </c:ext>
            </c:extLst>
          </c:dPt>
          <c:dPt>
            <c:idx val="2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5-A89C-48BE-ABCC-8C67936CB1CC}"/>
              </c:ext>
            </c:extLst>
          </c:dPt>
          <c:dPt>
            <c:idx val="3"/>
            <c:invertIfNegative val="1"/>
            <c:bubble3D val="0"/>
            <c:spPr>
              <a:solidFill>
                <a:srgbClr val="9EC6DE"/>
              </a:solidFill>
            </c:spPr>
            <c:extLst>
              <c:ext xmlns:c16="http://schemas.microsoft.com/office/drawing/2014/chart" uri="{C3380CC4-5D6E-409C-BE32-E72D297353CC}">
                <c16:uniqueId val="{00000007-A89C-48BE-ABCC-8C67936CB1CC}"/>
              </c:ext>
            </c:extLst>
          </c:dPt>
          <c:dPt>
            <c:idx val="4"/>
            <c:invertIfNegative val="1"/>
            <c:bubble3D val="0"/>
            <c:spPr>
              <a:solidFill>
                <a:srgbClr val="7AB1D2"/>
              </a:solidFill>
            </c:spPr>
            <c:extLst>
              <c:ext xmlns:c16="http://schemas.microsoft.com/office/drawing/2014/chart" uri="{C3380CC4-5D6E-409C-BE32-E72D297353CC}">
                <c16:uniqueId val="{00000009-A89C-48BE-ABCC-8C67936CB1CC}"/>
              </c:ext>
            </c:extLst>
          </c:dPt>
          <c:dPt>
            <c:idx val="5"/>
            <c:invertIfNegative val="1"/>
            <c:bubble3D val="0"/>
            <c:spPr>
              <a:solidFill>
                <a:srgbClr val="569CC6"/>
              </a:solidFill>
            </c:spPr>
            <c:extLst>
              <c:ext xmlns:c16="http://schemas.microsoft.com/office/drawing/2014/chart" uri="{C3380CC4-5D6E-409C-BE32-E72D297353CC}">
                <c16:uniqueId val="{0000000B-A89C-48BE-ABCC-8C67936CB1CC}"/>
              </c:ext>
            </c:extLst>
          </c:dPt>
          <c:dPt>
            <c:idx val="6"/>
            <c:invertIfNegative val="1"/>
            <c:bubble3D val="0"/>
            <c:spPr>
              <a:solidFill>
                <a:srgbClr val="3287BA"/>
              </a:solidFill>
            </c:spPr>
            <c:extLst>
              <c:ext xmlns:c16="http://schemas.microsoft.com/office/drawing/2014/chart" uri="{C3380CC4-5D6E-409C-BE32-E72D297353CC}">
                <c16:uniqueId val="{0000000D-A89C-48BE-ABCC-8C67936CB1CC}"/>
              </c:ext>
            </c:extLst>
          </c:dPt>
          <c:dPt>
            <c:idx val="7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F-A89C-48BE-ABCC-8C67936CB1CC}"/>
              </c:ext>
            </c:extLst>
          </c:dPt>
          <c:dLbls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A89C-48BE-ABCC-8C67936CB1CC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A89C-48BE-ABCC-8C67936CB1CC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A89C-48BE-ABCC-8C67936CB1CC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A89C-48BE-ABCC-8C67936CB1CC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A89C-48BE-ABCC-8C67936CB1C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8"/>
              <c:pt idx="0">
                <c:v> </c:v>
              </c:pt>
              <c:pt idx="1">
                <c:v>  </c:v>
              </c:pt>
              <c:pt idx="2">
                <c:v>   </c:v>
              </c:pt>
              <c:pt idx="3">
                <c:v>Veterinary &amp; Animal H…</c:v>
              </c:pt>
              <c:pt idx="4">
                <c:v>Professional &amp; B2B</c:v>
              </c:pt>
              <c:pt idx="5">
                <c:v>General Retail</c:v>
              </c:pt>
              <c:pt idx="6">
                <c:v>Pet Specialty Retail</c:v>
              </c:pt>
              <c:pt idx="7">
                <c:v>E-commerce</c:v>
              </c:pt>
            </c:strLit>
          </c:cat>
          <c:val>
            <c:numLit>
              <c:formatCode>General</c:formatCode>
              <c:ptCount val="8"/>
              <c:pt idx="3">
                <c:v>59.143000000000001</c:v>
              </c:pt>
              <c:pt idx="4">
                <c:v>61.311</c:v>
              </c:pt>
              <c:pt idx="5">
                <c:v>80.73599999999999</c:v>
              </c:pt>
              <c:pt idx="6">
                <c:v>131.249</c:v>
              </c:pt>
              <c:pt idx="7">
                <c:v>191.53800000000001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A89C-48BE-ABCC-8C67936CB1CC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256.66092000000003"/>
          <c:min val="0"/>
        </c:scaling>
        <c:delete val="0"/>
        <c:axPos val="b"/>
        <c:numFmt formatCode="General" sourceLinked="1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Series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1-316C-49E4-B020-42240C1A3F28}"/>
              </c:ext>
            </c:extLst>
          </c:dPt>
          <c:dPt>
            <c:idx val="1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3-316C-49E4-B020-42240C1A3F28}"/>
              </c:ext>
            </c:extLst>
          </c:dPt>
          <c:dPt>
            <c:idx val="2"/>
            <c:invertIfNegative val="1"/>
            <c:bubble3D val="0"/>
            <c:spPr>
              <a:solidFill>
                <a:srgbClr val="9DABB6"/>
              </a:solidFill>
            </c:spPr>
            <c:extLst>
              <c:ext xmlns:c16="http://schemas.microsoft.com/office/drawing/2014/chart" uri="{C3380CC4-5D6E-409C-BE32-E72D297353CC}">
                <c16:uniqueId val="{00000005-316C-49E4-B020-42240C1A3F28}"/>
              </c:ext>
            </c:extLst>
          </c:dPt>
          <c:dPt>
            <c:idx val="3"/>
            <c:invertIfNegative val="1"/>
            <c:bubble3D val="0"/>
            <c:spPr>
              <a:solidFill>
                <a:srgbClr val="8092A0"/>
              </a:solidFill>
            </c:spPr>
            <c:extLst>
              <c:ext xmlns:c16="http://schemas.microsoft.com/office/drawing/2014/chart" uri="{C3380CC4-5D6E-409C-BE32-E72D297353CC}">
                <c16:uniqueId val="{00000007-316C-49E4-B020-42240C1A3F28}"/>
              </c:ext>
            </c:extLst>
          </c:dPt>
          <c:dPt>
            <c:idx val="4"/>
            <c:invertIfNegative val="1"/>
            <c:bubble3D val="0"/>
            <c:spPr>
              <a:solidFill>
                <a:srgbClr val="62798B"/>
              </a:solidFill>
            </c:spPr>
            <c:extLst>
              <c:ext xmlns:c16="http://schemas.microsoft.com/office/drawing/2014/chart" uri="{C3380CC4-5D6E-409C-BE32-E72D297353CC}">
                <c16:uniqueId val="{00000009-316C-49E4-B020-42240C1A3F28}"/>
              </c:ext>
            </c:extLst>
          </c:dPt>
          <c:dPt>
            <c:idx val="5"/>
            <c:invertIfNegative val="1"/>
            <c:bubble3D val="0"/>
            <c:spPr>
              <a:solidFill>
                <a:srgbClr val="456075"/>
              </a:solidFill>
            </c:spPr>
            <c:extLst>
              <c:ext xmlns:c16="http://schemas.microsoft.com/office/drawing/2014/chart" uri="{C3380CC4-5D6E-409C-BE32-E72D297353CC}">
                <c16:uniqueId val="{0000000B-316C-49E4-B020-42240C1A3F28}"/>
              </c:ext>
            </c:extLst>
          </c:dPt>
          <c:dPt>
            <c:idx val="6"/>
            <c:invertIfNegative val="1"/>
            <c:bubble3D val="0"/>
            <c:spPr>
              <a:solidFill>
                <a:srgbClr val="28475F"/>
              </a:solidFill>
            </c:spPr>
            <c:extLst>
              <c:ext xmlns:c16="http://schemas.microsoft.com/office/drawing/2014/chart" uri="{C3380CC4-5D6E-409C-BE32-E72D297353CC}">
                <c16:uniqueId val="{0000000D-316C-49E4-B020-42240C1A3F28}"/>
              </c:ext>
            </c:extLst>
          </c:dPt>
          <c:dPt>
            <c:idx val="7"/>
            <c:invertIfNegative val="1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0F-316C-49E4-B020-42240C1A3F28}"/>
              </c:ext>
            </c:extLst>
          </c:dPt>
          <c:dLbls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316C-49E4-B020-42240C1A3F28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316C-49E4-B020-42240C1A3F28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316C-49E4-B020-42240C1A3F28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316C-49E4-B020-42240C1A3F28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316C-49E4-B020-42240C1A3F28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316C-49E4-B020-42240C1A3F28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8"/>
              <c:pt idx="0">
                <c:v> </c:v>
              </c:pt>
              <c:pt idx="1">
                <c:v>  </c:v>
              </c:pt>
              <c:pt idx="2">
                <c:v>Ear &amp; Eye Hygiene Pro…</c:v>
              </c:pt>
              <c:pt idx="3">
                <c:v>Fragrance &amp; Deodorizi…</c:v>
              </c:pt>
              <c:pt idx="4">
                <c:v>Skin, Paw &amp; Nose Care…</c:v>
              </c:pt>
              <c:pt idx="5">
                <c:v>Dental &amp; Oral Care Pr…</c:v>
              </c:pt>
              <c:pt idx="6">
                <c:v>Coat Conditioning &amp; G…</c:v>
              </c:pt>
              <c:pt idx="7">
                <c:v>Shampoos &amp; Cleansing…</c:v>
              </c:pt>
            </c:strLit>
          </c:cat>
          <c:val>
            <c:numLit>
              <c:formatCode>General</c:formatCode>
              <c:ptCount val="8"/>
              <c:pt idx="2">
                <c:v>40.716999999999999</c:v>
              </c:pt>
              <c:pt idx="3">
                <c:v>43.304000000000002</c:v>
              </c:pt>
              <c:pt idx="4">
                <c:v>59.52</c:v>
              </c:pt>
              <c:pt idx="5">
                <c:v>69.304999999999993</c:v>
              </c:pt>
              <c:pt idx="6">
                <c:v>79.933999999999997</c:v>
              </c:pt>
              <c:pt idx="7">
                <c:v>231.20699999999999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316C-49E4-B020-42240C1A3F28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309.81738000000001"/>
          <c:min val="0"/>
        </c:scaling>
        <c:delete val="0"/>
        <c:axPos val="b"/>
        <c:numFmt formatCode="General" sourceLinked="1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Series</c:v>
          </c:tx>
          <c:spPr>
            <a:solidFill>
              <a:srgbClr val="3D85C6"/>
            </a:solidFill>
            <a:ln>
              <a:noFill/>
            </a:ln>
          </c:spPr>
          <c:invertIfNegative val="1"/>
          <c:dPt>
            <c:idx val="0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1-6FF8-4AF4-8A80-FE40BCD99358}"/>
              </c:ext>
            </c:extLst>
          </c:dPt>
          <c:dPt>
            <c:idx val="1"/>
            <c:invertIfNegative val="1"/>
            <c:bubble3D val="0"/>
            <c:spPr>
              <a:solidFill>
                <a:srgbClr val="FFFFFF"/>
              </a:solidFill>
            </c:spPr>
            <c:extLst>
              <c:ext xmlns:c16="http://schemas.microsoft.com/office/drawing/2014/chart" uri="{C3380CC4-5D6E-409C-BE32-E72D297353CC}">
                <c16:uniqueId val="{00000003-6FF8-4AF4-8A80-FE40BCD99358}"/>
              </c:ext>
            </c:extLst>
          </c:dPt>
          <c:dPt>
            <c:idx val="2"/>
            <c:invertIfNegative val="1"/>
            <c:bubble3D val="0"/>
            <c:spPr>
              <a:solidFill>
                <a:srgbClr val="C5B1E6"/>
              </a:solidFill>
            </c:spPr>
            <c:extLst>
              <c:ext xmlns:c16="http://schemas.microsoft.com/office/drawing/2014/chart" uri="{C3380CC4-5D6E-409C-BE32-E72D297353CC}">
                <c16:uniqueId val="{00000005-6FF8-4AF4-8A80-FE40BCD99358}"/>
              </c:ext>
            </c:extLst>
          </c:dPt>
          <c:dPt>
            <c:idx val="3"/>
            <c:invertIfNegative val="1"/>
            <c:bubble3D val="0"/>
            <c:spPr>
              <a:solidFill>
                <a:srgbClr val="B499DF"/>
              </a:solidFill>
            </c:spPr>
            <c:extLst>
              <c:ext xmlns:c16="http://schemas.microsoft.com/office/drawing/2014/chart" uri="{C3380CC4-5D6E-409C-BE32-E72D297353CC}">
                <c16:uniqueId val="{00000007-6FF8-4AF4-8A80-FE40BCD99358}"/>
              </c:ext>
            </c:extLst>
          </c:dPt>
          <c:dPt>
            <c:idx val="4"/>
            <c:invertIfNegative val="1"/>
            <c:bubble3D val="0"/>
            <c:spPr>
              <a:solidFill>
                <a:srgbClr val="A282D7"/>
              </a:solidFill>
            </c:spPr>
            <c:extLst>
              <c:ext xmlns:c16="http://schemas.microsoft.com/office/drawing/2014/chart" uri="{C3380CC4-5D6E-409C-BE32-E72D297353CC}">
                <c16:uniqueId val="{00000009-6FF8-4AF4-8A80-FE40BCD99358}"/>
              </c:ext>
            </c:extLst>
          </c:dPt>
          <c:dPt>
            <c:idx val="5"/>
            <c:invertIfNegative val="1"/>
            <c:bubble3D val="0"/>
            <c:spPr>
              <a:solidFill>
                <a:srgbClr val="916AD0"/>
              </a:solidFill>
            </c:spPr>
            <c:extLst>
              <c:ext xmlns:c16="http://schemas.microsoft.com/office/drawing/2014/chart" uri="{C3380CC4-5D6E-409C-BE32-E72D297353CC}">
                <c16:uniqueId val="{0000000B-6FF8-4AF4-8A80-FE40BCD99358}"/>
              </c:ext>
            </c:extLst>
          </c:dPt>
          <c:dPt>
            <c:idx val="6"/>
            <c:invertIfNegative val="1"/>
            <c:bubble3D val="0"/>
            <c:spPr>
              <a:solidFill>
                <a:srgbClr val="8053C9"/>
              </a:solidFill>
            </c:spPr>
            <c:extLst>
              <c:ext xmlns:c16="http://schemas.microsoft.com/office/drawing/2014/chart" uri="{C3380CC4-5D6E-409C-BE32-E72D297353CC}">
                <c16:uniqueId val="{0000000D-6FF8-4AF4-8A80-FE40BCD99358}"/>
              </c:ext>
            </c:extLst>
          </c:dPt>
          <c:dPt>
            <c:idx val="7"/>
            <c:invertIfNegative val="1"/>
            <c:bubble3D val="0"/>
            <c:spPr>
              <a:solidFill>
                <a:srgbClr val="6F3CC2"/>
              </a:solidFill>
            </c:spPr>
            <c:extLst>
              <c:ext xmlns:c16="http://schemas.microsoft.com/office/drawing/2014/chart" uri="{C3380CC4-5D6E-409C-BE32-E72D297353CC}">
                <c16:uniqueId val="{0000000F-6FF8-4AF4-8A80-FE40BCD99358}"/>
              </c:ext>
            </c:extLst>
          </c:dPt>
          <c:dLbls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6FF8-4AF4-8A80-FE40BCD99358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FF8-4AF4-8A80-FE40BCD99358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FF8-4AF4-8A80-FE40BCD99358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FF8-4AF4-8A80-FE40BCD99358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6FF8-4AF4-8A80-FE40BCD99358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6FF8-4AF4-8A80-FE40BCD99358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8"/>
              <c:pt idx="0">
                <c:v> </c:v>
              </c:pt>
              <c:pt idx="1">
                <c:v>  </c:v>
              </c:pt>
              <c:pt idx="2">
                <c:v>Ear &amp; Eye Hygiene Pro…</c:v>
              </c:pt>
              <c:pt idx="3">
                <c:v>Fragrance &amp; Deodorizi…</c:v>
              </c:pt>
              <c:pt idx="4">
                <c:v>Skin, Paw &amp; Nose Care…</c:v>
              </c:pt>
              <c:pt idx="5">
                <c:v>Dental &amp; Oral Care Pr…</c:v>
              </c:pt>
              <c:pt idx="6">
                <c:v>Coat Conditioning &amp; G…</c:v>
              </c:pt>
              <c:pt idx="7">
                <c:v>Shampoos &amp; Cleansing…</c:v>
              </c:pt>
            </c:strLit>
          </c:cat>
          <c:val>
            <c:numLit>
              <c:formatCode>General</c:formatCode>
              <c:ptCount val="8"/>
              <c:pt idx="2">
                <c:v>40.716999999999999</c:v>
              </c:pt>
              <c:pt idx="3">
                <c:v>43.307000000000002</c:v>
              </c:pt>
              <c:pt idx="4">
                <c:v>59.517000000000003</c:v>
              </c:pt>
              <c:pt idx="5">
                <c:v>69.305999999999997</c:v>
              </c:pt>
              <c:pt idx="6">
                <c:v>79.936999999999998</c:v>
              </c:pt>
              <c:pt idx="7">
                <c:v>231.20699999999999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0-6FF8-4AF4-8A80-FE40BCD99358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309.81738000000001"/>
          <c:min val="0"/>
        </c:scaling>
        <c:delete val="0"/>
        <c:axPos val="b"/>
        <c:numFmt formatCode="General" sourceLinked="1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8"/>
              <c:pt idx="0">
                <c:v>2026</c:v>
              </c:pt>
              <c:pt idx="1">
                <c:v>Shampoos &amp; Cleansing Products</c:v>
              </c:pt>
              <c:pt idx="2">
                <c:v>Coat Conditioning &amp; Grooming Products</c:v>
              </c:pt>
              <c:pt idx="3">
                <c:v>Skin, Paw &amp; Nose Care Products</c:v>
              </c:pt>
              <c:pt idx="4">
                <c:v>Ear &amp; Eye Hygiene Products</c:v>
              </c:pt>
              <c:pt idx="5">
                <c:v>Dental &amp; Oral Care Products</c:v>
              </c:pt>
              <c:pt idx="6">
                <c:v>Fragrance &amp; Deodorizing Products</c:v>
              </c:pt>
              <c:pt idx="7">
                <c:v>2036 Total</c:v>
              </c:pt>
            </c:strLit>
          </c:cat>
          <c:val>
            <c:numLit>
              <c:formatCode>General</c:formatCode>
              <c:ptCount val="8"/>
              <c:pt idx="0">
                <c:v>0</c:v>
              </c:pt>
              <c:pt idx="1">
                <c:v>523.97800000000007</c:v>
              </c:pt>
              <c:pt idx="2">
                <c:v>738.48300000000006</c:v>
              </c:pt>
              <c:pt idx="3">
                <c:v>780.62000000000012</c:v>
              </c:pt>
              <c:pt idx="4">
                <c:v>808.57200000000012</c:v>
              </c:pt>
              <c:pt idx="5">
                <c:v>836.92100000000016</c:v>
              </c:pt>
              <c:pt idx="6">
                <c:v>892.3130000000001</c:v>
              </c:pt>
              <c:pt idx="7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44AB-4848-A043-5CBAC7A219D5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44AB-4848-A043-5CBAC7A219D5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44AB-4848-A043-5CBAC7A219D5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44AB-4848-A043-5CBAC7A219D5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44AB-4848-A043-5CBAC7A219D5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44AB-4848-A043-5CBAC7A219D5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44AB-4848-A043-5CBAC7A219D5}"/>
              </c:ext>
            </c:extLst>
          </c:dPt>
          <c:dPt>
            <c:idx val="6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E-44AB-4848-A043-5CBAC7A219D5}"/>
              </c:ext>
            </c:extLst>
          </c:dPt>
          <c:dPt>
            <c:idx val="7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10-44AB-4848-A043-5CBAC7A219D5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44AB-4848-A043-5CBAC7A219D5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4AB-4848-A043-5CBAC7A219D5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44AB-4848-A043-5CBAC7A219D5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44AB-4848-A043-5CBAC7A219D5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44AB-4848-A043-5CBAC7A219D5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44AB-4848-A043-5CBAC7A219D5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44AB-4848-A043-5CBAC7A219D5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44AB-4848-A043-5CBAC7A219D5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8"/>
              <c:pt idx="0">
                <c:v>2026</c:v>
              </c:pt>
              <c:pt idx="1">
                <c:v>Shampoos &amp; Cleansing Products</c:v>
              </c:pt>
              <c:pt idx="2">
                <c:v>Coat Conditioning &amp; Grooming Products</c:v>
              </c:pt>
              <c:pt idx="3">
                <c:v>Skin, Paw &amp; Nose Care Products</c:v>
              </c:pt>
              <c:pt idx="4">
                <c:v>Ear &amp; Eye Hygiene Products</c:v>
              </c:pt>
              <c:pt idx="5">
                <c:v>Dental &amp; Oral Care Products</c:v>
              </c:pt>
              <c:pt idx="6">
                <c:v>Fragrance &amp; Deodorizing Products</c:v>
              </c:pt>
              <c:pt idx="7">
                <c:v>2036 Total</c:v>
              </c:pt>
            </c:strLit>
          </c:cat>
          <c:val>
            <c:numLit>
              <c:formatCode>General</c:formatCode>
              <c:ptCount val="8"/>
              <c:pt idx="0">
                <c:v>523.97800000000007</c:v>
              </c:pt>
              <c:pt idx="1">
                <c:v>214.50500000000002</c:v>
              </c:pt>
              <c:pt idx="2">
                <c:v>42.137</c:v>
              </c:pt>
              <c:pt idx="3">
                <c:v>27.952000000000005</c:v>
              </c:pt>
              <c:pt idx="4">
                <c:v>28.349000000000004</c:v>
              </c:pt>
              <c:pt idx="5">
                <c:v>55.391999999999996</c:v>
              </c:pt>
              <c:pt idx="6">
                <c:v>38.51400000000001</c:v>
              </c:pt>
              <c:pt idx="7">
                <c:v>930.82700000000011</c:v>
              </c:pt>
            </c:numLit>
          </c:val>
          <c:extLst>
            <c:ext xmlns:c16="http://schemas.microsoft.com/office/drawing/2014/chart" uri="{C3380CC4-5D6E-409C-BE32-E72D297353CC}">
              <c16:uniqueId val="{00000011-44AB-4848-A043-5CBAC7A219D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  <c:pt idx="6">
                <c:v>Total Absolute $ Opportunity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214.50500000000002</c:v>
              </c:pt>
              <c:pt idx="2">
                <c:v>256.64200000000005</c:v>
              </c:pt>
              <c:pt idx="3">
                <c:v>284.59400000000005</c:v>
              </c:pt>
              <c:pt idx="4">
                <c:v>312.94300000000004</c:v>
              </c:pt>
              <c:pt idx="5">
                <c:v>368.33500000000004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CD7E-4AD0-BF67-E6CA5D1BA8AF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2-CD7E-4AD0-BF67-E6CA5D1BA8AF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CD7E-4AD0-BF67-E6CA5D1BA8AF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CD7E-4AD0-BF67-E6CA5D1BA8AF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CD7E-4AD0-BF67-E6CA5D1BA8AF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CD7E-4AD0-BF67-E6CA5D1BA8AF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CD7E-4AD0-BF67-E6CA5D1BA8AF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CD7E-4AD0-BF67-E6CA5D1BA8AF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D7E-4AD0-BF67-E6CA5D1BA8AF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D7E-4AD0-BF67-E6CA5D1BA8AF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D7E-4AD0-BF67-E6CA5D1BA8AF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D7E-4AD0-BF67-E6CA5D1BA8AF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CD7E-4AD0-BF67-E6CA5D1BA8AF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D7E-4AD0-BF67-E6CA5D1BA8AF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D7E-4AD0-BF67-E6CA5D1BA8A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  <c:pt idx="6">
                <c:v>Total Absolute $ Opportunity</c:v>
              </c:pt>
            </c:strLit>
          </c:cat>
          <c:val>
            <c:numLit>
              <c:formatCode>General</c:formatCode>
              <c:ptCount val="7"/>
              <c:pt idx="0">
                <c:v>214.50500000000002</c:v>
              </c:pt>
              <c:pt idx="1">
                <c:v>42.137</c:v>
              </c:pt>
              <c:pt idx="2">
                <c:v>27.952000000000005</c:v>
              </c:pt>
              <c:pt idx="3">
                <c:v>28.349000000000004</c:v>
              </c:pt>
              <c:pt idx="4">
                <c:v>55.391999999999996</c:v>
              </c:pt>
              <c:pt idx="5">
                <c:v>38.51400000000001</c:v>
              </c:pt>
              <c:pt idx="6">
                <c:v>406.84900000000005</c:v>
              </c:pt>
            </c:numLit>
          </c:val>
          <c:extLst>
            <c:ext xmlns:c16="http://schemas.microsoft.com/office/drawing/2014/chart" uri="{C3380CC4-5D6E-409C-BE32-E72D297353CC}">
              <c16:uniqueId val="{0000000F-CD7E-4AD0-BF67-E6CA5D1BA8A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5"/>
              <c:pt idx="0">
                <c:v>2026</c:v>
              </c:pt>
              <c:pt idx="1">
                <c:v>Regular / Established Ingredients</c:v>
              </c:pt>
              <c:pt idx="2">
                <c:v>Niche / Specialized Ingredients</c:v>
              </c:pt>
              <c:pt idx="3">
                <c:v>Emerging Ingredients / Innovation Candidates</c:v>
              </c:pt>
              <c:pt idx="4">
                <c:v>2036 Total</c:v>
              </c:pt>
            </c:strLit>
          </c:cat>
          <c:val>
            <c:numLit>
              <c:formatCode>General</c:formatCode>
              <c:ptCount val="5"/>
              <c:pt idx="0">
                <c:v>0</c:v>
              </c:pt>
              <c:pt idx="1">
                <c:v>523.97900000000004</c:v>
              </c:pt>
              <c:pt idx="2">
                <c:v>760.82700000000011</c:v>
              </c:pt>
              <c:pt idx="3">
                <c:v>883.04700000000014</c:v>
              </c:pt>
              <c:pt idx="4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E03B-40DF-8A8E-FDE4B3BCACCC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E03B-40DF-8A8E-FDE4B3BCACCC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E03B-40DF-8A8E-FDE4B3BCACCC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E03B-40DF-8A8E-FDE4B3BCACCC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E03B-40DF-8A8E-FDE4B3BCACCC}"/>
              </c:ext>
            </c:extLst>
          </c:dPt>
          <c:dPt>
            <c:idx val="4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A-E03B-40DF-8A8E-FDE4B3BCACCC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03B-40DF-8A8E-FDE4B3BCACCC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E03B-40DF-8A8E-FDE4B3BCACCC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E03B-40DF-8A8E-FDE4B3BCACCC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E03B-40DF-8A8E-FDE4B3BCACCC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E03B-40DF-8A8E-FDE4B3BCACC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2026</c:v>
              </c:pt>
              <c:pt idx="1">
                <c:v>Regular / Established Ingredients</c:v>
              </c:pt>
              <c:pt idx="2">
                <c:v>Niche / Specialized Ingredients</c:v>
              </c:pt>
              <c:pt idx="3">
                <c:v>Emerging Ingredients / Innovation Candidates</c:v>
              </c:pt>
              <c:pt idx="4">
                <c:v>2036 Total</c:v>
              </c:pt>
            </c:strLit>
          </c:cat>
          <c:val>
            <c:numLit>
              <c:formatCode>General</c:formatCode>
              <c:ptCount val="5"/>
              <c:pt idx="0">
                <c:v>523.97900000000004</c:v>
              </c:pt>
              <c:pt idx="1">
                <c:v>236.84800000000007</c:v>
              </c:pt>
              <c:pt idx="2">
                <c:v>122.22000000000003</c:v>
              </c:pt>
              <c:pt idx="3">
                <c:v>47.778999999999996</c:v>
              </c:pt>
              <c:pt idx="4">
                <c:v>930.82600000000002</c:v>
              </c:pt>
            </c:numLit>
          </c:val>
          <c:extLst>
            <c:ext xmlns:c16="http://schemas.microsoft.com/office/drawing/2014/chart" uri="{C3380CC4-5D6E-409C-BE32-E72D297353CC}">
              <c16:uniqueId val="{0000000B-E03B-40DF-8A8E-FDE4B3BCACC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4"/>
              <c:pt idx="0">
                <c:v>Regular / Established Ingredients</c:v>
              </c:pt>
              <c:pt idx="1">
                <c:v>Niche / Specialized Ingredients</c:v>
              </c:pt>
              <c:pt idx="2">
                <c:v>Emerging Ingredients / Innovation Candidates</c:v>
              </c:pt>
              <c:pt idx="3">
                <c:v>Total Absolute $ Opportunity</c:v>
              </c:pt>
            </c:strLit>
          </c:cat>
          <c:val>
            <c:numLit>
              <c:formatCode>General</c:formatCode>
              <c:ptCount val="4"/>
              <c:pt idx="0">
                <c:v>0</c:v>
              </c:pt>
              <c:pt idx="1">
                <c:v>236.84800000000007</c:v>
              </c:pt>
              <c:pt idx="2">
                <c:v>359.0680000000001</c:v>
              </c:pt>
              <c:pt idx="3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31DF-4C38-A04B-059886E96CE6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2-31DF-4C38-A04B-059886E96CE6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31DF-4C38-A04B-059886E96CE6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31DF-4C38-A04B-059886E96CE6}"/>
              </c:ext>
            </c:extLst>
          </c:dPt>
          <c:dPt>
            <c:idx val="3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8-31DF-4C38-A04B-059886E96CE6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31DF-4C38-A04B-059886E96CE6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1DF-4C38-A04B-059886E96CE6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31DF-4C38-A04B-059886E96CE6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31DF-4C38-A04B-059886E96CE6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4"/>
              <c:pt idx="0">
                <c:v>Regular / Established Ingredients</c:v>
              </c:pt>
              <c:pt idx="1">
                <c:v>Niche / Specialized Ingredients</c:v>
              </c:pt>
              <c:pt idx="2">
                <c:v>Emerging Ingredients / Innovation Candidates</c:v>
              </c:pt>
              <c:pt idx="3">
                <c:v>Total Absolute $ Opportunity</c:v>
              </c:pt>
            </c:strLit>
          </c:cat>
          <c:val>
            <c:numLit>
              <c:formatCode>General</c:formatCode>
              <c:ptCount val="4"/>
              <c:pt idx="0">
                <c:v>236.84800000000007</c:v>
              </c:pt>
              <c:pt idx="1">
                <c:v>122.22000000000003</c:v>
              </c:pt>
              <c:pt idx="2">
                <c:v>47.778999999999996</c:v>
              </c:pt>
              <c:pt idx="3">
                <c:v>406.84700000000009</c:v>
              </c:pt>
            </c:numLit>
          </c:val>
          <c:extLst>
            <c:ext xmlns:c16="http://schemas.microsoft.com/office/drawing/2014/chart" uri="{C3380CC4-5D6E-409C-BE32-E72D297353CC}">
              <c16:uniqueId val="{00000009-31DF-4C38-A04B-059886E96CE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10"/>
              <c:pt idx="0">
                <c:v>2026</c:v>
              </c:pt>
              <c:pt idx="1">
                <c:v>Liquid</c:v>
              </c:pt>
              <c:pt idx="2">
                <c:v>Spray</c:v>
              </c:pt>
              <c:pt idx="3">
                <c:v>Cream &amp; Balm</c:v>
              </c:pt>
              <c:pt idx="4">
                <c:v>Gel</c:v>
              </c:pt>
              <c:pt idx="5">
                <c:v>Foam</c:v>
              </c:pt>
              <c:pt idx="6">
                <c:v>Wipe &amp; Pad</c:v>
              </c:pt>
              <c:pt idx="7">
                <c:v>Powder</c:v>
              </c:pt>
              <c:pt idx="8">
                <c:v>Solid</c:v>
              </c:pt>
              <c:pt idx="9">
                <c:v>2036 Total</c:v>
              </c:pt>
            </c:strLit>
          </c:cat>
          <c:val>
            <c:numLit>
              <c:formatCode>General</c:formatCode>
              <c:ptCount val="10"/>
              <c:pt idx="0">
                <c:v>0</c:v>
              </c:pt>
              <c:pt idx="1">
                <c:v>523.97800000000007</c:v>
              </c:pt>
              <c:pt idx="2">
                <c:v>648.66500000000008</c:v>
              </c:pt>
              <c:pt idx="3">
                <c:v>724.56500000000005</c:v>
              </c:pt>
              <c:pt idx="4">
                <c:v>786.7650000000001</c:v>
              </c:pt>
              <c:pt idx="5">
                <c:v>817.53800000000012</c:v>
              </c:pt>
              <c:pt idx="6">
                <c:v>858.50500000000011</c:v>
              </c:pt>
              <c:pt idx="7">
                <c:v>904.52200000000016</c:v>
              </c:pt>
              <c:pt idx="8">
                <c:v>917.81000000000017</c:v>
              </c:pt>
              <c:pt idx="9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1E48-4D34-9093-77D5A245B7FE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1E48-4D34-9093-77D5A245B7FE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1E48-4D34-9093-77D5A245B7FE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1E48-4D34-9093-77D5A245B7FE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1E48-4D34-9093-77D5A245B7FE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1E48-4D34-9093-77D5A245B7FE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1E48-4D34-9093-77D5A245B7FE}"/>
              </c:ext>
            </c:extLst>
          </c:dPt>
          <c:dPt>
            <c:idx val="6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E-1E48-4D34-9093-77D5A245B7FE}"/>
              </c:ext>
            </c:extLst>
          </c:dPt>
          <c:dPt>
            <c:idx val="7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0-1E48-4D34-9093-77D5A245B7FE}"/>
              </c:ext>
            </c:extLst>
          </c:dPt>
          <c:dPt>
            <c:idx val="8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2-1E48-4D34-9093-77D5A245B7FE}"/>
              </c:ext>
            </c:extLst>
          </c:dPt>
          <c:dPt>
            <c:idx val="9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14-1E48-4D34-9093-77D5A245B7FE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E48-4D34-9093-77D5A245B7F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E48-4D34-9093-77D5A245B7F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E48-4D34-9093-77D5A245B7F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E48-4D34-9093-77D5A245B7F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E48-4D34-9093-77D5A245B7F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1E48-4D34-9093-77D5A245B7F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1E48-4D34-9093-77D5A245B7F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1E48-4D34-9093-77D5A245B7F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1E48-4D34-9093-77D5A245B7FE}"/>
                </c:ext>
              </c:extLst>
            </c:dLbl>
            <c:dLbl>
              <c:idx val="9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1E48-4D34-9093-77D5A245B7FE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10"/>
              <c:pt idx="0">
                <c:v>2026</c:v>
              </c:pt>
              <c:pt idx="1">
                <c:v>Liquid</c:v>
              </c:pt>
              <c:pt idx="2">
                <c:v>Spray</c:v>
              </c:pt>
              <c:pt idx="3">
                <c:v>Cream &amp; Balm</c:v>
              </c:pt>
              <c:pt idx="4">
                <c:v>Gel</c:v>
              </c:pt>
              <c:pt idx="5">
                <c:v>Foam</c:v>
              </c:pt>
              <c:pt idx="6">
                <c:v>Wipe &amp; Pad</c:v>
              </c:pt>
              <c:pt idx="7">
                <c:v>Powder</c:v>
              </c:pt>
              <c:pt idx="8">
                <c:v>Solid</c:v>
              </c:pt>
              <c:pt idx="9">
                <c:v>2036 Total</c:v>
              </c:pt>
            </c:strLit>
          </c:cat>
          <c:val>
            <c:numLit>
              <c:formatCode>General</c:formatCode>
              <c:ptCount val="10"/>
              <c:pt idx="0">
                <c:v>523.97800000000007</c:v>
              </c:pt>
              <c:pt idx="1">
                <c:v>124.68699999999998</c:v>
              </c:pt>
              <c:pt idx="2">
                <c:v>75.899999999999991</c:v>
              </c:pt>
              <c:pt idx="3">
                <c:v>62.199999999999996</c:v>
              </c:pt>
              <c:pt idx="4">
                <c:v>30.772999999999996</c:v>
              </c:pt>
              <c:pt idx="5">
                <c:v>40.966999999999999</c:v>
              </c:pt>
              <c:pt idx="6">
                <c:v>46.01700000000001</c:v>
              </c:pt>
              <c:pt idx="7">
                <c:v>13.287999999999997</c:v>
              </c:pt>
              <c:pt idx="8">
                <c:v>13.018999999999998</c:v>
              </c:pt>
              <c:pt idx="9">
                <c:v>930.82899999999995</c:v>
              </c:pt>
            </c:numLit>
          </c:val>
          <c:extLst>
            <c:ext xmlns:c16="http://schemas.microsoft.com/office/drawing/2014/chart" uri="{C3380CC4-5D6E-409C-BE32-E72D297353CC}">
              <c16:uniqueId val="{00000015-1E48-4D34-9093-77D5A245B7F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9"/>
              <c:pt idx="0">
                <c:v>Liquid</c:v>
              </c:pt>
              <c:pt idx="1">
                <c:v>Spray</c:v>
              </c:pt>
              <c:pt idx="2">
                <c:v>Cream &amp; Balm</c:v>
              </c:pt>
              <c:pt idx="3">
                <c:v>Gel</c:v>
              </c:pt>
              <c:pt idx="4">
                <c:v>Foam</c:v>
              </c:pt>
              <c:pt idx="5">
                <c:v>Wipe &amp; Pad</c:v>
              </c:pt>
              <c:pt idx="6">
                <c:v>Powder</c:v>
              </c:pt>
              <c:pt idx="7">
                <c:v>Solid</c:v>
              </c:pt>
              <c:pt idx="8">
                <c:v>Total Absolute $ Opportunity</c:v>
              </c:pt>
            </c:strLit>
          </c:cat>
          <c:val>
            <c:numLit>
              <c:formatCode>General</c:formatCode>
              <c:ptCount val="9"/>
              <c:pt idx="0">
                <c:v>0</c:v>
              </c:pt>
              <c:pt idx="1">
                <c:v>124.68699999999998</c:v>
              </c:pt>
              <c:pt idx="2">
                <c:v>200.58699999999999</c:v>
              </c:pt>
              <c:pt idx="3">
                <c:v>262.78699999999998</c:v>
              </c:pt>
              <c:pt idx="4">
                <c:v>293.55999999999995</c:v>
              </c:pt>
              <c:pt idx="5">
                <c:v>334.52699999999993</c:v>
              </c:pt>
              <c:pt idx="6">
                <c:v>380.54399999999993</c:v>
              </c:pt>
              <c:pt idx="7">
                <c:v>393.83199999999994</c:v>
              </c:pt>
              <c:pt idx="8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CD61-4C42-9D72-72ECE7D6D2E9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2-CD61-4C42-9D72-72ECE7D6D2E9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CD61-4C42-9D72-72ECE7D6D2E9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CD61-4C42-9D72-72ECE7D6D2E9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CD61-4C42-9D72-72ECE7D6D2E9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CD61-4C42-9D72-72ECE7D6D2E9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CD61-4C42-9D72-72ECE7D6D2E9}"/>
              </c:ext>
            </c:extLst>
          </c:dPt>
          <c:dPt>
            <c:idx val="6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E-CD61-4C42-9D72-72ECE7D6D2E9}"/>
              </c:ext>
            </c:extLst>
          </c:dPt>
          <c:dPt>
            <c:idx val="7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0-CD61-4C42-9D72-72ECE7D6D2E9}"/>
              </c:ext>
            </c:extLst>
          </c:dPt>
          <c:dPt>
            <c:idx val="8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12-CD61-4C42-9D72-72ECE7D6D2E9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D61-4C42-9D72-72ECE7D6D2E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D61-4C42-9D72-72ECE7D6D2E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D61-4C42-9D72-72ECE7D6D2E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D61-4C42-9D72-72ECE7D6D2E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CD61-4C42-9D72-72ECE7D6D2E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D61-4C42-9D72-72ECE7D6D2E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D61-4C42-9D72-72ECE7D6D2E9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CD61-4C42-9D72-72ECE7D6D2E9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CD61-4C42-9D72-72ECE7D6D2E9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9"/>
              <c:pt idx="0">
                <c:v>Liquid</c:v>
              </c:pt>
              <c:pt idx="1">
                <c:v>Spray</c:v>
              </c:pt>
              <c:pt idx="2">
                <c:v>Cream &amp; Balm</c:v>
              </c:pt>
              <c:pt idx="3">
                <c:v>Gel</c:v>
              </c:pt>
              <c:pt idx="4">
                <c:v>Foam</c:v>
              </c:pt>
              <c:pt idx="5">
                <c:v>Wipe &amp; Pad</c:v>
              </c:pt>
              <c:pt idx="6">
                <c:v>Powder</c:v>
              </c:pt>
              <c:pt idx="7">
                <c:v>Solid</c:v>
              </c:pt>
              <c:pt idx="8">
                <c:v>Total Absolute $ Opportunity</c:v>
              </c:pt>
            </c:strLit>
          </c:cat>
          <c:val>
            <c:numLit>
              <c:formatCode>General</c:formatCode>
              <c:ptCount val="9"/>
              <c:pt idx="0">
                <c:v>124.68699999999998</c:v>
              </c:pt>
              <c:pt idx="1">
                <c:v>75.899999999999991</c:v>
              </c:pt>
              <c:pt idx="2">
                <c:v>62.199999999999996</c:v>
              </c:pt>
              <c:pt idx="3">
                <c:v>30.772999999999996</c:v>
              </c:pt>
              <c:pt idx="4">
                <c:v>40.966999999999999</c:v>
              </c:pt>
              <c:pt idx="5">
                <c:v>46.01700000000001</c:v>
              </c:pt>
              <c:pt idx="6">
                <c:v>13.287999999999997</c:v>
              </c:pt>
              <c:pt idx="7">
                <c:v>13.018999999999998</c:v>
              </c:pt>
              <c:pt idx="8">
                <c:v>406.85099999999994</c:v>
              </c:pt>
            </c:numLit>
          </c:val>
          <c:extLst>
            <c:ext xmlns:c16="http://schemas.microsoft.com/office/drawing/2014/chart" uri="{C3380CC4-5D6E-409C-BE32-E72D297353CC}">
              <c16:uniqueId val="{00000013-CD61-4C42-9D72-72ECE7D6D2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9"/>
              <c:pt idx="0">
                <c:v>2026</c:v>
              </c:pt>
              <c:pt idx="1">
                <c:v>Cleansing &amp; General Hygiene</c:v>
              </c:pt>
              <c:pt idx="2">
                <c:v>Moisturizing &amp; Skin Barrier Care</c:v>
              </c:pt>
              <c:pt idx="3">
                <c:v>Skin Soothing &amp; Comfort</c:v>
              </c:pt>
              <c:pt idx="4">
                <c:v>Coat Conditioning &amp; Softening</c:v>
              </c:pt>
              <c:pt idx="5">
                <c:v>Dental &amp; Oral Hygiene</c:v>
              </c:pt>
              <c:pt idx="6">
                <c:v>Body &amp; Coat Odor Management</c:v>
              </c:pt>
              <c:pt idx="7">
                <c:v>Ear &amp; Eye-Area Hygiene</c:v>
              </c:pt>
              <c:pt idx="8">
                <c:v>2036 Total</c:v>
              </c:pt>
            </c:strLit>
          </c:cat>
          <c:val>
            <c:numLit>
              <c:formatCode>General</c:formatCode>
              <c:ptCount val="9"/>
              <c:pt idx="0">
                <c:v>0</c:v>
              </c:pt>
              <c:pt idx="1">
                <c:v>523.976</c:v>
              </c:pt>
              <c:pt idx="2">
                <c:v>599.72500000000002</c:v>
              </c:pt>
              <c:pt idx="3">
                <c:v>675.33299999999997</c:v>
              </c:pt>
              <c:pt idx="4">
                <c:v>732.74599999999998</c:v>
              </c:pt>
              <c:pt idx="5">
                <c:v>835.61799999999994</c:v>
              </c:pt>
              <c:pt idx="6">
                <c:v>864.04099999999994</c:v>
              </c:pt>
              <c:pt idx="7">
                <c:v>905.45899999999995</c:v>
              </c:pt>
              <c:pt idx="8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AA1C-44D8-877E-0CD9A80A2AFE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AA1C-44D8-877E-0CD9A80A2AFE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AA1C-44D8-877E-0CD9A80A2AFE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AA1C-44D8-877E-0CD9A80A2AFE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AA1C-44D8-877E-0CD9A80A2AFE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AA1C-44D8-877E-0CD9A80A2AFE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AA1C-44D8-877E-0CD9A80A2AFE}"/>
              </c:ext>
            </c:extLst>
          </c:dPt>
          <c:dPt>
            <c:idx val="6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E-AA1C-44D8-877E-0CD9A80A2AFE}"/>
              </c:ext>
            </c:extLst>
          </c:dPt>
          <c:dPt>
            <c:idx val="7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10-AA1C-44D8-877E-0CD9A80A2AFE}"/>
              </c:ext>
            </c:extLst>
          </c:dPt>
          <c:dPt>
            <c:idx val="8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12-AA1C-44D8-877E-0CD9A80A2AFE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A1C-44D8-877E-0CD9A80A2AFE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A1C-44D8-877E-0CD9A80A2AFE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A1C-44D8-877E-0CD9A80A2AFE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A1C-44D8-877E-0CD9A80A2AFE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AA1C-44D8-877E-0CD9A80A2AFE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AA1C-44D8-877E-0CD9A80A2AFE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AA1C-44D8-877E-0CD9A80A2AFE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AA1C-44D8-877E-0CD9A80A2AFE}"/>
                </c:ext>
              </c:extLst>
            </c:dLbl>
            <c:dLbl>
              <c:idx val="8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AA1C-44D8-877E-0CD9A80A2AFE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9"/>
              <c:pt idx="0">
                <c:v>2026</c:v>
              </c:pt>
              <c:pt idx="1">
                <c:v>Cleansing &amp; General Hygiene</c:v>
              </c:pt>
              <c:pt idx="2">
                <c:v>Moisturizing &amp; Skin Barrier Care</c:v>
              </c:pt>
              <c:pt idx="3">
                <c:v>Skin Soothing &amp; Comfort</c:v>
              </c:pt>
              <c:pt idx="4">
                <c:v>Coat Conditioning &amp; Softening</c:v>
              </c:pt>
              <c:pt idx="5">
                <c:v>Dental &amp; Oral Hygiene</c:v>
              </c:pt>
              <c:pt idx="6">
                <c:v>Body &amp; Coat Odor Management</c:v>
              </c:pt>
              <c:pt idx="7">
                <c:v>Ear &amp; Eye-Area Hygiene</c:v>
              </c:pt>
              <c:pt idx="8">
                <c:v>2036 Total</c:v>
              </c:pt>
            </c:strLit>
          </c:cat>
          <c:val>
            <c:numLit>
              <c:formatCode>General</c:formatCode>
              <c:ptCount val="9"/>
              <c:pt idx="0">
                <c:v>523.976</c:v>
              </c:pt>
              <c:pt idx="1">
                <c:v>75.748999999999995</c:v>
              </c:pt>
              <c:pt idx="2">
                <c:v>75.60799999999999</c:v>
              </c:pt>
              <c:pt idx="3">
                <c:v>57.413000000000011</c:v>
              </c:pt>
              <c:pt idx="4">
                <c:v>102.87199999999999</c:v>
              </c:pt>
              <c:pt idx="5">
                <c:v>28.422999999999995</c:v>
              </c:pt>
              <c:pt idx="6">
                <c:v>41.418000000000006</c:v>
              </c:pt>
              <c:pt idx="7">
                <c:v>25.370000000000005</c:v>
              </c:pt>
              <c:pt idx="8">
                <c:v>930.82899999999995</c:v>
              </c:pt>
            </c:numLit>
          </c:val>
          <c:extLst>
            <c:ext xmlns:c16="http://schemas.microsoft.com/office/drawing/2014/chart" uri="{C3380CC4-5D6E-409C-BE32-E72D297353CC}">
              <c16:uniqueId val="{00000013-AA1C-44D8-877E-0CD9A80A2AF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8"/>
              <c:pt idx="0">
                <c:v>Cleansing &amp; General Hygiene</c:v>
              </c:pt>
              <c:pt idx="1">
                <c:v>Moisturizing &amp; Skin Barrier Care</c:v>
              </c:pt>
              <c:pt idx="2">
                <c:v>Skin Soothing &amp; Comfort</c:v>
              </c:pt>
              <c:pt idx="3">
                <c:v>Coat Conditioning &amp; Softening</c:v>
              </c:pt>
              <c:pt idx="4">
                <c:v>Dental &amp; Oral Hygiene</c:v>
              </c:pt>
              <c:pt idx="5">
                <c:v>Body &amp; Coat Odor Management</c:v>
              </c:pt>
              <c:pt idx="6">
                <c:v>Ear &amp; Eye-Area Hygiene</c:v>
              </c:pt>
              <c:pt idx="7">
                <c:v>Total Absolute $ Opportunity</c:v>
              </c:pt>
            </c:strLit>
          </c:cat>
          <c:val>
            <c:numLit>
              <c:formatCode>General</c:formatCode>
              <c:ptCount val="8"/>
              <c:pt idx="0">
                <c:v>0</c:v>
              </c:pt>
              <c:pt idx="1">
                <c:v>75.748999999999995</c:v>
              </c:pt>
              <c:pt idx="2">
                <c:v>151.35699999999997</c:v>
              </c:pt>
              <c:pt idx="3">
                <c:v>208.76999999999998</c:v>
              </c:pt>
              <c:pt idx="4">
                <c:v>311.64199999999994</c:v>
              </c:pt>
              <c:pt idx="5">
                <c:v>340.06499999999994</c:v>
              </c:pt>
              <c:pt idx="6">
                <c:v>381.48299999999995</c:v>
              </c:pt>
              <c:pt idx="7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6F94-40B7-8E77-810267278FC0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2-6F94-40B7-8E77-810267278FC0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6F94-40B7-8E77-810267278FC0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6F94-40B7-8E77-810267278FC0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6F94-40B7-8E77-810267278FC0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6F94-40B7-8E77-810267278FC0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6F94-40B7-8E77-810267278FC0}"/>
              </c:ext>
            </c:extLst>
          </c:dPt>
          <c:dPt>
            <c:idx val="6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E-6F94-40B7-8E77-810267278FC0}"/>
              </c:ext>
            </c:extLst>
          </c:dPt>
          <c:dPt>
            <c:idx val="7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10-6F94-40B7-8E77-810267278FC0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F94-40B7-8E77-810267278FC0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F94-40B7-8E77-810267278FC0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F94-40B7-8E77-810267278FC0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F94-40B7-8E77-810267278FC0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F94-40B7-8E77-810267278FC0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6F94-40B7-8E77-810267278FC0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6F94-40B7-8E77-810267278FC0}"/>
                </c:ext>
              </c:extLst>
            </c:dLbl>
            <c:dLbl>
              <c:idx val="7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6F94-40B7-8E77-810267278FC0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8"/>
              <c:pt idx="0">
                <c:v>Cleansing &amp; General Hygiene</c:v>
              </c:pt>
              <c:pt idx="1">
                <c:v>Moisturizing &amp; Skin Barrier Care</c:v>
              </c:pt>
              <c:pt idx="2">
                <c:v>Skin Soothing &amp; Comfort</c:v>
              </c:pt>
              <c:pt idx="3">
                <c:v>Coat Conditioning &amp; Softening</c:v>
              </c:pt>
              <c:pt idx="4">
                <c:v>Dental &amp; Oral Hygiene</c:v>
              </c:pt>
              <c:pt idx="5">
                <c:v>Body &amp; Coat Odor Management</c:v>
              </c:pt>
              <c:pt idx="6">
                <c:v>Ear &amp; Eye-Area Hygiene</c:v>
              </c:pt>
              <c:pt idx="7">
                <c:v>Total Absolute $ Opportunity</c:v>
              </c:pt>
            </c:strLit>
          </c:cat>
          <c:val>
            <c:numLit>
              <c:formatCode>General</c:formatCode>
              <c:ptCount val="8"/>
              <c:pt idx="0">
                <c:v>75.748999999999995</c:v>
              </c:pt>
              <c:pt idx="1">
                <c:v>75.60799999999999</c:v>
              </c:pt>
              <c:pt idx="2">
                <c:v>57.413000000000011</c:v>
              </c:pt>
              <c:pt idx="3">
                <c:v>102.87199999999999</c:v>
              </c:pt>
              <c:pt idx="4">
                <c:v>28.422999999999995</c:v>
              </c:pt>
              <c:pt idx="5">
                <c:v>41.418000000000006</c:v>
              </c:pt>
              <c:pt idx="6">
                <c:v>25.370000000000005</c:v>
              </c:pt>
              <c:pt idx="7">
                <c:v>406.85299999999995</c:v>
              </c:pt>
            </c:numLit>
          </c:val>
          <c:extLst>
            <c:ext xmlns:c16="http://schemas.microsoft.com/office/drawing/2014/chart" uri="{C3380CC4-5D6E-409C-BE32-E72D297353CC}">
              <c16:uniqueId val="{00000011-6F94-40B7-8E77-810267278F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4"/>
              <c:pt idx="0">
                <c:v>2026</c:v>
              </c:pt>
              <c:pt idx="1">
                <c:v>Dogs</c:v>
              </c:pt>
              <c:pt idx="2">
                <c:v>Cats</c:v>
              </c:pt>
              <c:pt idx="3">
                <c:v>2036 Total</c:v>
              </c:pt>
            </c:strLit>
          </c:cat>
          <c:val>
            <c:numLit>
              <c:formatCode>General</c:formatCode>
              <c:ptCount val="4"/>
              <c:pt idx="0">
                <c:v>0</c:v>
              </c:pt>
              <c:pt idx="1">
                <c:v>523.97800000000007</c:v>
              </c:pt>
              <c:pt idx="2">
                <c:v>797.75199999999995</c:v>
              </c:pt>
              <c:pt idx="3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C431-4BE2-A269-62304CB865F3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C431-4BE2-A269-62304CB865F3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C431-4BE2-A269-62304CB865F3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C431-4BE2-A269-62304CB865F3}"/>
              </c:ext>
            </c:extLst>
          </c:dPt>
          <c:dPt>
            <c:idx val="3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8-C431-4BE2-A269-62304CB865F3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431-4BE2-A269-62304CB865F3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431-4BE2-A269-62304CB865F3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431-4BE2-A269-62304CB865F3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431-4BE2-A269-62304CB865F3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4"/>
              <c:pt idx="0">
                <c:v>2026</c:v>
              </c:pt>
              <c:pt idx="1">
                <c:v>Dogs</c:v>
              </c:pt>
              <c:pt idx="2">
                <c:v>Cats</c:v>
              </c:pt>
              <c:pt idx="3">
                <c:v>2036 Total</c:v>
              </c:pt>
            </c:strLit>
          </c:cat>
          <c:val>
            <c:numLit>
              <c:formatCode>General</c:formatCode>
              <c:ptCount val="4"/>
              <c:pt idx="0">
                <c:v>523.97800000000007</c:v>
              </c:pt>
              <c:pt idx="1">
                <c:v>273.77399999999994</c:v>
              </c:pt>
              <c:pt idx="2">
                <c:v>133.07600000000002</c:v>
              </c:pt>
              <c:pt idx="3">
                <c:v>930.82799999999997</c:v>
              </c:pt>
            </c:numLit>
          </c:val>
          <c:extLst>
            <c:ext xmlns:c16="http://schemas.microsoft.com/office/drawing/2014/chart" uri="{C3380CC4-5D6E-409C-BE32-E72D297353CC}">
              <c16:uniqueId val="{00000009-C431-4BE2-A269-62304CB865F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3"/>
              <c:pt idx="0">
                <c:v>Dogs</c:v>
              </c:pt>
              <c:pt idx="1">
                <c:v>Cats</c:v>
              </c:pt>
              <c:pt idx="2">
                <c:v>Total Absolute $ Opportunity</c:v>
              </c:pt>
            </c:strLit>
          </c:cat>
          <c:val>
            <c:numLit>
              <c:formatCode>General</c:formatCode>
              <c:ptCount val="3"/>
              <c:pt idx="0">
                <c:v>0</c:v>
              </c:pt>
              <c:pt idx="1">
                <c:v>273.77399999999994</c:v>
              </c:pt>
              <c:pt idx="2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06C1-474B-8A81-C11FC5297AE8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2-06C1-474B-8A81-C11FC5297AE8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06C1-474B-8A81-C11FC5297AE8}"/>
              </c:ext>
            </c:extLst>
          </c:dPt>
          <c:dPt>
            <c:idx val="2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6-06C1-474B-8A81-C11FC5297AE8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06C1-474B-8A81-C11FC5297AE8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6C1-474B-8A81-C11FC5297AE8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6C1-474B-8A81-C11FC5297AE8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3"/>
              <c:pt idx="0">
                <c:v>Dogs</c:v>
              </c:pt>
              <c:pt idx="1">
                <c:v>Cats</c:v>
              </c:pt>
              <c:pt idx="2">
                <c:v>Total Absolute $ Opportunity</c:v>
              </c:pt>
            </c:strLit>
          </c:cat>
          <c:val>
            <c:numLit>
              <c:formatCode>General</c:formatCode>
              <c:ptCount val="3"/>
              <c:pt idx="0">
                <c:v>273.77399999999994</c:v>
              </c:pt>
              <c:pt idx="1">
                <c:v>133.07600000000002</c:v>
              </c:pt>
              <c:pt idx="2">
                <c:v>406.84999999999997</c:v>
              </c:pt>
            </c:numLit>
          </c:val>
          <c:extLst>
            <c:ext xmlns:c16="http://schemas.microsoft.com/office/drawing/2014/chart" uri="{C3380CC4-5D6E-409C-BE32-E72D297353CC}">
              <c16:uniqueId val="{00000007-06C1-474B-8A81-C11FC5297A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5"/>
              <c:pt idx="0">
                <c:v>2026</c:v>
              </c:pt>
              <c:pt idx="1">
                <c:v>Liquid, Gel &amp; Cream Products</c:v>
              </c:pt>
              <c:pt idx="2">
                <c:v>Solid, Powder &amp; Weight-Labeled Products</c:v>
              </c:pt>
              <c:pt idx="3">
                <c:v>Wipes &amp; Other Count-Based Products</c:v>
              </c:pt>
              <c:pt idx="4">
                <c:v>2036 Total</c:v>
              </c:pt>
            </c:strLit>
          </c:cat>
          <c:val>
            <c:numLit>
              <c:formatCode>General</c:formatCode>
              <c:ptCount val="5"/>
              <c:pt idx="0">
                <c:v>0</c:v>
              </c:pt>
              <c:pt idx="1">
                <c:v>523.97699999999998</c:v>
              </c:pt>
              <c:pt idx="2">
                <c:v>746.27700000000004</c:v>
              </c:pt>
              <c:pt idx="3">
                <c:v>812.221</c:v>
              </c:pt>
              <c:pt idx="4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5565-4278-9284-8941AE3067DC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5565-4278-9284-8941AE3067DC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5565-4278-9284-8941AE3067DC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5565-4278-9284-8941AE3067DC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5565-4278-9284-8941AE3067DC}"/>
              </c:ext>
            </c:extLst>
          </c:dPt>
          <c:dPt>
            <c:idx val="4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A-5565-4278-9284-8941AE3067DC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565-4278-9284-8941AE3067DC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565-4278-9284-8941AE3067DC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565-4278-9284-8941AE3067DC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5565-4278-9284-8941AE3067DC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5565-4278-9284-8941AE3067D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2026</c:v>
              </c:pt>
              <c:pt idx="1">
                <c:v>Liquid, Gel &amp; Cream Products</c:v>
              </c:pt>
              <c:pt idx="2">
                <c:v>Solid, Powder &amp; Weight-Labeled Products</c:v>
              </c:pt>
              <c:pt idx="3">
                <c:v>Wipes &amp; Other Count-Based Products</c:v>
              </c:pt>
              <c:pt idx="4">
                <c:v>2036 Total</c:v>
              </c:pt>
            </c:strLit>
          </c:cat>
          <c:val>
            <c:numLit>
              <c:formatCode>General</c:formatCode>
              <c:ptCount val="5"/>
              <c:pt idx="0">
                <c:v>523.97699999999998</c:v>
              </c:pt>
              <c:pt idx="1">
                <c:v>222.3</c:v>
              </c:pt>
              <c:pt idx="2">
                <c:v>65.944000000000003</c:v>
              </c:pt>
              <c:pt idx="3">
                <c:v>118.60600000000002</c:v>
              </c:pt>
              <c:pt idx="4">
                <c:v>930.827</c:v>
              </c:pt>
            </c:numLit>
          </c:val>
          <c:extLst>
            <c:ext xmlns:c16="http://schemas.microsoft.com/office/drawing/2014/chart" uri="{C3380CC4-5D6E-409C-BE32-E72D297353CC}">
              <c16:uniqueId val="{0000000B-5565-4278-9284-8941AE3067D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4"/>
              <c:pt idx="0">
                <c:v>Liquid, Gel &amp; Cream Products</c:v>
              </c:pt>
              <c:pt idx="1">
                <c:v>Solid, Powder &amp; Weight-Labeled Products</c:v>
              </c:pt>
              <c:pt idx="2">
                <c:v>Wipes &amp; Other Count-Based Products</c:v>
              </c:pt>
              <c:pt idx="3">
                <c:v>Total Absolute $ Opportunity</c:v>
              </c:pt>
            </c:strLit>
          </c:cat>
          <c:val>
            <c:numLit>
              <c:formatCode>General</c:formatCode>
              <c:ptCount val="4"/>
              <c:pt idx="0">
                <c:v>0</c:v>
              </c:pt>
              <c:pt idx="1">
                <c:v>222.3</c:v>
              </c:pt>
              <c:pt idx="2">
                <c:v>288.24400000000003</c:v>
              </c:pt>
              <c:pt idx="3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6468-4352-B6F3-9541767A7F50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2-6468-4352-B6F3-9541767A7F50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6468-4352-B6F3-9541767A7F50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6468-4352-B6F3-9541767A7F50}"/>
              </c:ext>
            </c:extLst>
          </c:dPt>
          <c:dPt>
            <c:idx val="3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8-6468-4352-B6F3-9541767A7F50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468-4352-B6F3-9541767A7F50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468-4352-B6F3-9541767A7F50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468-4352-B6F3-9541767A7F50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468-4352-B6F3-9541767A7F50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4"/>
              <c:pt idx="0">
                <c:v>Liquid, Gel &amp; Cream Products</c:v>
              </c:pt>
              <c:pt idx="1">
                <c:v>Solid, Powder &amp; Weight-Labeled Products</c:v>
              </c:pt>
              <c:pt idx="2">
                <c:v>Wipes &amp; Other Count-Based Products</c:v>
              </c:pt>
              <c:pt idx="3">
                <c:v>Total Absolute $ Opportunity</c:v>
              </c:pt>
            </c:strLit>
          </c:cat>
          <c:val>
            <c:numLit>
              <c:formatCode>General</c:formatCode>
              <c:ptCount val="4"/>
              <c:pt idx="0">
                <c:v>222.3</c:v>
              </c:pt>
              <c:pt idx="1">
                <c:v>65.944000000000003</c:v>
              </c:pt>
              <c:pt idx="2">
                <c:v>118.60600000000002</c:v>
              </c:pt>
              <c:pt idx="3">
                <c:v>406.85</c:v>
              </c:pt>
            </c:numLit>
          </c:val>
          <c:extLst>
            <c:ext xmlns:c16="http://schemas.microsoft.com/office/drawing/2014/chart" uri="{C3380CC4-5D6E-409C-BE32-E72D297353CC}">
              <c16:uniqueId val="{00000009-6468-4352-B6F3-9541767A7F5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6"/>
              <c:pt idx="0">
                <c:v>2026</c:v>
              </c:pt>
              <c:pt idx="1">
                <c:v>Economy / Mass-Market: Below US$3</c:v>
              </c:pt>
              <c:pt idx="2">
                <c:v>Mid-Range: US$3 to below US$6</c:v>
              </c:pt>
              <c:pt idx="3">
                <c:v>Premium: US$6 to below US$12</c:v>
              </c:pt>
              <c:pt idx="4">
                <c:v>Super-Premium / Luxury: US$12 and above</c:v>
              </c:pt>
              <c:pt idx="5">
                <c:v>2036 Total</c:v>
              </c:pt>
            </c:strLit>
          </c:cat>
          <c:val>
            <c:numLit>
              <c:formatCode>General</c:formatCode>
              <c:ptCount val="6"/>
              <c:pt idx="0">
                <c:v>0</c:v>
              </c:pt>
              <c:pt idx="1">
                <c:v>523.98</c:v>
              </c:pt>
              <c:pt idx="2">
                <c:v>625.88599999999997</c:v>
              </c:pt>
              <c:pt idx="3">
                <c:v>810.38300000000004</c:v>
              </c:pt>
              <c:pt idx="4">
                <c:v>911.28200000000004</c:v>
              </c:pt>
              <c:pt idx="5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DE7C-4F68-8FEB-C28F8E222A76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DE7C-4F68-8FEB-C28F8E222A76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DE7C-4F68-8FEB-C28F8E222A76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DE7C-4F68-8FEB-C28F8E222A76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DE7C-4F68-8FEB-C28F8E222A76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DE7C-4F68-8FEB-C28F8E222A76}"/>
              </c:ext>
            </c:extLst>
          </c:dPt>
          <c:dPt>
            <c:idx val="5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C-DE7C-4F68-8FEB-C28F8E222A76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E7C-4F68-8FEB-C28F8E222A76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E7C-4F68-8FEB-C28F8E222A76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E7C-4F68-8FEB-C28F8E222A76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E7C-4F68-8FEB-C28F8E222A76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E7C-4F68-8FEB-C28F8E222A76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E7C-4F68-8FEB-C28F8E222A76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2026</c:v>
              </c:pt>
              <c:pt idx="1">
                <c:v>Economy / Mass-Market: Below US$3</c:v>
              </c:pt>
              <c:pt idx="2">
                <c:v>Mid-Range: US$3 to below US$6</c:v>
              </c:pt>
              <c:pt idx="3">
                <c:v>Premium: US$6 to below US$12</c:v>
              </c:pt>
              <c:pt idx="4">
                <c:v>Super-Premium / Luxury: US$12 and above</c:v>
              </c:pt>
              <c:pt idx="5">
                <c:v>2036 Total</c:v>
              </c:pt>
            </c:strLit>
          </c:cat>
          <c:val>
            <c:numLit>
              <c:formatCode>General</c:formatCode>
              <c:ptCount val="6"/>
              <c:pt idx="0">
                <c:v>523.98</c:v>
              </c:pt>
              <c:pt idx="1">
                <c:v>101.90600000000001</c:v>
              </c:pt>
              <c:pt idx="2">
                <c:v>184.49700000000001</c:v>
              </c:pt>
              <c:pt idx="3">
                <c:v>100.899</c:v>
              </c:pt>
              <c:pt idx="4">
                <c:v>19.543999999999997</c:v>
              </c:pt>
              <c:pt idx="5">
                <c:v>930.82600000000014</c:v>
              </c:pt>
            </c:numLit>
          </c:val>
          <c:extLst>
            <c:ext xmlns:c16="http://schemas.microsoft.com/office/drawing/2014/chart" uri="{C3380CC4-5D6E-409C-BE32-E72D297353CC}">
              <c16:uniqueId val="{0000000D-DE7C-4F68-8FEB-C28F8E222A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5"/>
              <c:pt idx="0">
                <c:v>Economy / Mass-Market: Below US$3</c:v>
              </c:pt>
              <c:pt idx="1">
                <c:v>Mid-Range: US$3 to below US$6</c:v>
              </c:pt>
              <c:pt idx="2">
                <c:v>Premium: US$6 to below US$12</c:v>
              </c:pt>
              <c:pt idx="3">
                <c:v>Super-Premium / Luxury: US$12 and above</c:v>
              </c:pt>
              <c:pt idx="4">
                <c:v>Total Absolute $ Opportunity</c:v>
              </c:pt>
            </c:strLit>
          </c:cat>
          <c:val>
            <c:numLit>
              <c:formatCode>General</c:formatCode>
              <c:ptCount val="5"/>
              <c:pt idx="0">
                <c:v>0</c:v>
              </c:pt>
              <c:pt idx="1">
                <c:v>101.90600000000001</c:v>
              </c:pt>
              <c:pt idx="2">
                <c:v>286.40300000000002</c:v>
              </c:pt>
              <c:pt idx="3">
                <c:v>387.30200000000002</c:v>
              </c:pt>
              <c:pt idx="4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6CD6-4FC2-93A6-EA9B05584BE7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2-6CD6-4FC2-93A6-EA9B05584BE7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6CD6-4FC2-93A6-EA9B05584BE7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6CD6-4FC2-93A6-EA9B05584BE7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6CD6-4FC2-93A6-EA9B05584BE7}"/>
              </c:ext>
            </c:extLst>
          </c:dPt>
          <c:dPt>
            <c:idx val="4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A-6CD6-4FC2-93A6-EA9B05584BE7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CD6-4FC2-93A6-EA9B05584BE7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CD6-4FC2-93A6-EA9B05584BE7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CD6-4FC2-93A6-EA9B05584BE7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CD6-4FC2-93A6-EA9B05584BE7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CD6-4FC2-93A6-EA9B05584BE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Economy / Mass-Market: Below US$3</c:v>
              </c:pt>
              <c:pt idx="1">
                <c:v>Mid-Range: US$3 to below US$6</c:v>
              </c:pt>
              <c:pt idx="2">
                <c:v>Premium: US$6 to below US$12</c:v>
              </c:pt>
              <c:pt idx="3">
                <c:v>Super-Premium / Luxury: US$12 and above</c:v>
              </c:pt>
              <c:pt idx="4">
                <c:v>Total Absolute $ Opportunity</c:v>
              </c:pt>
            </c:strLit>
          </c:cat>
          <c:val>
            <c:numLit>
              <c:formatCode>General</c:formatCode>
              <c:ptCount val="5"/>
              <c:pt idx="0">
                <c:v>101.90600000000001</c:v>
              </c:pt>
              <c:pt idx="1">
                <c:v>184.49700000000001</c:v>
              </c:pt>
              <c:pt idx="2">
                <c:v>100.899</c:v>
              </c:pt>
              <c:pt idx="3">
                <c:v>19.543999999999997</c:v>
              </c:pt>
              <c:pt idx="4">
                <c:v>406.846</c:v>
              </c:pt>
            </c:numLit>
          </c:val>
          <c:extLst>
            <c:ext xmlns:c16="http://schemas.microsoft.com/office/drawing/2014/chart" uri="{C3380CC4-5D6E-409C-BE32-E72D297353CC}">
              <c16:uniqueId val="{0000000B-6CD6-4FC2-93A6-EA9B05584B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7"/>
              <c:pt idx="0">
                <c:v>2026</c:v>
              </c:pt>
              <c:pt idx="1">
                <c:v>E-commerce</c:v>
              </c:pt>
              <c:pt idx="2">
                <c:v>Pet Specialty Retail</c:v>
              </c:pt>
              <c:pt idx="3">
                <c:v>Veterinary &amp; Animal Health</c:v>
              </c:pt>
              <c:pt idx="4">
                <c:v>General Retail</c:v>
              </c:pt>
              <c:pt idx="5">
                <c:v>Professional &amp; B2B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0</c:v>
              </c:pt>
              <c:pt idx="1">
                <c:v>523.97700000000009</c:v>
              </c:pt>
              <c:pt idx="2">
                <c:v>722.53100000000006</c:v>
              </c:pt>
              <c:pt idx="3">
                <c:v>799.97700000000009</c:v>
              </c:pt>
              <c:pt idx="4">
                <c:v>840.25100000000009</c:v>
              </c:pt>
              <c:pt idx="5">
                <c:v>883.70600000000013</c:v>
              </c:pt>
              <c:pt idx="6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B890-48B4-A491-9977B6EFEB39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2-B890-48B4-A491-9977B6EFEB39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B890-48B4-A491-9977B6EFEB39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B890-48B4-A491-9977B6EFEB39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B890-48B4-A491-9977B6EFEB39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B890-48B4-A491-9977B6EFEB39}"/>
              </c:ext>
            </c:extLst>
          </c:dPt>
          <c:dPt>
            <c:idx val="5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C-B890-48B4-A491-9977B6EFEB39}"/>
              </c:ext>
            </c:extLst>
          </c:dPt>
          <c:dPt>
            <c:idx val="6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E-B890-48B4-A491-9977B6EFEB39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890-48B4-A491-9977B6EFEB39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890-48B4-A491-9977B6EFEB39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890-48B4-A491-9977B6EFEB39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B890-48B4-A491-9977B6EFEB39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890-48B4-A491-9977B6EFEB39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890-48B4-A491-9977B6EFEB39}"/>
                </c:ext>
              </c:extLst>
            </c:dLbl>
            <c:dLbl>
              <c:idx val="6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B890-48B4-A491-9977B6EFEB39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7"/>
              <c:pt idx="0">
                <c:v>2026</c:v>
              </c:pt>
              <c:pt idx="1">
                <c:v>E-commerce</c:v>
              </c:pt>
              <c:pt idx="2">
                <c:v>Pet Specialty Retail</c:v>
              </c:pt>
              <c:pt idx="3">
                <c:v>Veterinary &amp; Animal Health</c:v>
              </c:pt>
              <c:pt idx="4">
                <c:v>General Retail</c:v>
              </c:pt>
              <c:pt idx="5">
                <c:v>Professional &amp; B2B</c:v>
              </c:pt>
              <c:pt idx="6">
                <c:v>2036 Total</c:v>
              </c:pt>
            </c:strLit>
          </c:cat>
          <c:val>
            <c:numLit>
              <c:formatCode>General</c:formatCode>
              <c:ptCount val="7"/>
              <c:pt idx="0">
                <c:v>523.97700000000009</c:v>
              </c:pt>
              <c:pt idx="1">
                <c:v>198.55399999999997</c:v>
              </c:pt>
              <c:pt idx="2">
                <c:v>77.445999999999998</c:v>
              </c:pt>
              <c:pt idx="3">
                <c:v>40.274000000000001</c:v>
              </c:pt>
              <c:pt idx="4">
                <c:v>43.455000000000013</c:v>
              </c:pt>
              <c:pt idx="5">
                <c:v>47.121000000000002</c:v>
              </c:pt>
              <c:pt idx="6">
                <c:v>930.82700000000011</c:v>
              </c:pt>
            </c:numLit>
          </c:val>
          <c:extLst>
            <c:ext xmlns:c16="http://schemas.microsoft.com/office/drawing/2014/chart" uri="{C3380CC4-5D6E-409C-BE32-E72D297353CC}">
              <c16:uniqueId val="{0000000F-B890-48B4-A491-9977B6EFEB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v>base</c:v>
          </c:tx>
          <c:spPr>
            <a:noFill/>
            <a:ln>
              <a:noFill/>
            </a:ln>
          </c:spPr>
          <c:invertIfNegative val="1"/>
          <c:cat>
            <c:strLit>
              <c:ptCount val="6"/>
              <c:pt idx="0">
                <c:v>E-commerce</c:v>
              </c:pt>
              <c:pt idx="1">
                <c:v>Pet Specialty Retail</c:v>
              </c:pt>
              <c:pt idx="2">
                <c:v>Veterinary &amp; Animal Health</c:v>
              </c:pt>
              <c:pt idx="3">
                <c:v>General Retail</c:v>
              </c:pt>
              <c:pt idx="4">
                <c:v>Professional &amp; B2B</c:v>
              </c:pt>
              <c:pt idx="5">
                <c:v>Total Absolute $ Opportunity</c:v>
              </c:pt>
            </c:strLit>
          </c:cat>
          <c:val>
            <c:numLit>
              <c:formatCode>General</c:formatCode>
              <c:ptCount val="6"/>
              <c:pt idx="0">
                <c:v>0</c:v>
              </c:pt>
              <c:pt idx="1">
                <c:v>198.55399999999997</c:v>
              </c:pt>
              <c:pt idx="2">
                <c:v>276</c:v>
              </c:pt>
              <c:pt idx="3">
                <c:v>316.274</c:v>
              </c:pt>
              <c:pt idx="4">
                <c:v>359.72900000000004</c:v>
              </c:pt>
              <c:pt idx="5">
                <c:v>0</c:v>
              </c:pt>
            </c:numLit>
          </c:val>
          <c:extLst>
            <c:ext xmlns:c16="http://schemas.microsoft.com/office/drawing/2014/chart" uri="{C3380CC4-5D6E-409C-BE32-E72D297353CC}">
              <c16:uniqueId val="{00000000-EF4B-4050-B458-3F5DB455B192}"/>
            </c:ext>
          </c:extLst>
        </c:ser>
        <c:ser>
          <c:idx val="1"/>
          <c:order val="1"/>
          <c:tx>
            <c:v>value</c:v>
          </c:tx>
          <c:invertIfNegative val="1"/>
          <c:dPt>
            <c:idx val="0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2-EF4B-4050-B458-3F5DB455B192}"/>
              </c:ext>
            </c:extLst>
          </c:dPt>
          <c:dPt>
            <c:idx val="1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4-EF4B-4050-B458-3F5DB455B192}"/>
              </c:ext>
            </c:extLst>
          </c:dPt>
          <c:dPt>
            <c:idx val="2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6-EF4B-4050-B458-3F5DB455B192}"/>
              </c:ext>
            </c:extLst>
          </c:dPt>
          <c:dPt>
            <c:idx val="3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8-EF4B-4050-B458-3F5DB455B192}"/>
              </c:ext>
            </c:extLst>
          </c:dPt>
          <c:dPt>
            <c:idx val="4"/>
            <c:invertIfNegative val="1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A-EF4B-4050-B458-3F5DB455B192}"/>
              </c:ext>
            </c:extLst>
          </c:dPt>
          <c:dPt>
            <c:idx val="5"/>
            <c:invertIfNegative val="1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C-EF4B-4050-B458-3F5DB455B192}"/>
              </c:ext>
            </c:extLst>
          </c:dPt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F4B-4050-B458-3F5DB455B192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EF4B-4050-B458-3F5DB455B192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EF4B-4050-B458-3F5DB455B192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EF4B-4050-B458-3F5DB455B192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EF4B-4050-B458-3F5DB455B192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EF4B-4050-B458-3F5DB455B192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E-commerce</c:v>
              </c:pt>
              <c:pt idx="1">
                <c:v>Pet Specialty Retail</c:v>
              </c:pt>
              <c:pt idx="2">
                <c:v>Veterinary &amp; Animal Health</c:v>
              </c:pt>
              <c:pt idx="3">
                <c:v>General Retail</c:v>
              </c:pt>
              <c:pt idx="4">
                <c:v>Professional &amp; B2B</c:v>
              </c:pt>
              <c:pt idx="5">
                <c:v>Total Absolute $ Opportunity</c:v>
              </c:pt>
            </c:strLit>
          </c:cat>
          <c:val>
            <c:numLit>
              <c:formatCode>General</c:formatCode>
              <c:ptCount val="6"/>
              <c:pt idx="0">
                <c:v>198.55399999999997</c:v>
              </c:pt>
              <c:pt idx="1">
                <c:v>77.445999999999998</c:v>
              </c:pt>
              <c:pt idx="2">
                <c:v>40.274000000000001</c:v>
              </c:pt>
              <c:pt idx="3">
                <c:v>43.455000000000013</c:v>
              </c:pt>
              <c:pt idx="4">
                <c:v>47.121000000000002</c:v>
              </c:pt>
              <c:pt idx="5">
                <c:v>406.85</c:v>
              </c:pt>
            </c:numLit>
          </c:val>
          <c:extLst>
            <c:ext xmlns:c16="http://schemas.microsoft.com/office/drawing/2014/chart" uri="{C3380CC4-5D6E-409C-BE32-E72D297353CC}">
              <c16:uniqueId val="{0000000D-EF4B-4050-B458-3F5DB455B19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Cleansing &amp; General Hygiene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55C8-47C2-9E4E-5C44482917E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55C8-47C2-9E4E-5C44482917E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5C8-47C2-9E4E-5C44482917E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55C8-47C2-9E4E-5C44482917E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5C8-47C2-9E4E-5C44482917E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55C8-47C2-9E4E-5C44482917E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20.724286029402222</c:v>
              </c:pt>
              <c:pt idx="1">
                <c:v>22.389721520254209</c:v>
              </c:pt>
              <c:pt idx="2">
                <c:v>23.0057123655914</c:v>
              </c:pt>
              <c:pt idx="3">
                <c:v>20.306014686740184</c:v>
              </c:pt>
              <c:pt idx="4">
                <c:v>24.643243633215501</c:v>
              </c:pt>
              <c:pt idx="5">
                <c:v>21.376778126731942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6-55C8-47C2-9E4E-5C44482917EB}"/>
            </c:ext>
          </c:extLst>
        </c:ser>
        <c:ser>
          <c:idx val="1"/>
          <c:order val="1"/>
          <c:tx>
            <c:v>Coat Conditioning &amp; Softening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55C8-47C2-9E4E-5C44482917E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55C8-47C2-9E4E-5C44482917E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55C8-47C2-9E4E-5C44482917E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55C8-47C2-9E4E-5C44482917E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55C8-47C2-9E4E-5C44482917E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55C8-47C2-9E4E-5C44482917E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21.845791866163221</c:v>
              </c:pt>
              <c:pt idx="1">
                <c:v>18.939374984362097</c:v>
              </c:pt>
              <c:pt idx="2">
                <c:v>20.571236559139784</c:v>
              </c:pt>
              <c:pt idx="3">
                <c:v>21.258933614951989</c:v>
              </c:pt>
              <c:pt idx="4">
                <c:v>18.932255969987736</c:v>
              </c:pt>
              <c:pt idx="5">
                <c:v>20.423055606872346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D-55C8-47C2-9E4E-5C44482917EB}"/>
            </c:ext>
          </c:extLst>
        </c:ser>
        <c:ser>
          <c:idx val="2"/>
          <c:order val="2"/>
          <c:tx>
            <c:v>Moisturizing &amp; Skin Barrier Care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5C8-47C2-9E4E-5C44482917E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55C8-47C2-9E4E-5C44482917E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55C8-47C2-9E4E-5C44482917E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55C8-47C2-9E4E-5C44482917E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55C8-47C2-9E4E-5C44482917E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55C8-47C2-9E4E-5C44482917E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16.496472857655693</c:v>
              </c:pt>
              <c:pt idx="1">
                <c:v>15.704205969925189</c:v>
              </c:pt>
              <c:pt idx="2">
                <c:v>15.840053763440862</c:v>
              </c:pt>
              <c:pt idx="3">
                <c:v>16.739936635803225</c:v>
              </c:pt>
              <c:pt idx="4">
                <c:v>17.535531346944666</c:v>
              </c:pt>
              <c:pt idx="5">
                <c:v>18.45556992425642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4-55C8-47C2-9E4E-5C44482917EB}"/>
            </c:ext>
          </c:extLst>
        </c:ser>
        <c:ser>
          <c:idx val="3"/>
          <c:order val="3"/>
          <c:tx>
            <c:v>Skin Soothing &amp; Comfort</c:v>
          </c:tx>
          <c:spPr>
            <a:solidFill>
              <a:srgbClr val="40315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55C8-47C2-9E4E-5C44482917E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55C8-47C2-9E4E-5C44482917E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55C8-47C2-9E4E-5C44482917E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55C8-47C2-9E4E-5C44482917E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55C8-47C2-9E4E-5C44482917E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55C8-47C2-9E4E-5C44482917E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14.181664049963885</c:v>
              </c:pt>
              <c:pt idx="1">
                <c:v>15.342657692596392</c:v>
              </c:pt>
              <c:pt idx="2">
                <c:v>14.34811827956989</c:v>
              </c:pt>
              <c:pt idx="3">
                <c:v>15.83122528673527</c:v>
              </c:pt>
              <c:pt idx="4">
                <c:v>15.039318952456535</c:v>
              </c:pt>
              <c:pt idx="5">
                <c:v>10.710326990578237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B-55C8-47C2-9E4E-5C44482917EB}"/>
            </c:ext>
          </c:extLst>
        </c:ser>
        <c:ser>
          <c:idx val="4"/>
          <c:order val="4"/>
          <c:tx>
            <c:v>Dental &amp; Oral Hygiene</c:v>
          </c:tx>
          <c:spPr>
            <a:solidFill>
              <a:srgbClr val="A35313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55C8-47C2-9E4E-5C44482917E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55C8-47C2-9E4E-5C44482917E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55C8-47C2-9E4E-5C44482917E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55C8-47C2-9E4E-5C44482917E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55C8-47C2-9E4E-5C44482917E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55C8-47C2-9E4E-5C44482917E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10.370360758973563</c:v>
              </c:pt>
              <c:pt idx="1">
                <c:v>11.400655540821178</c:v>
              </c:pt>
              <c:pt idx="2">
                <c:v>9.7681451612903238</c:v>
              </c:pt>
              <c:pt idx="3">
                <c:v>8.2250656973745606</c:v>
              </c:pt>
              <c:pt idx="4">
                <c:v>8.8608325517639432</c:v>
              </c:pt>
              <c:pt idx="5">
                <c:v>9.9806022538333643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2-55C8-47C2-9E4E-5C44482917EB}"/>
            </c:ext>
          </c:extLst>
        </c:ser>
        <c:ser>
          <c:idx val="5"/>
          <c:order val="5"/>
          <c:tx>
            <c:v>Body &amp; Coat Odor Management</c:v>
          </c:tx>
          <c:spPr>
            <a:solidFill>
              <a:srgbClr val="808080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55C8-47C2-9E4E-5C44482917E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55C8-47C2-9E4E-5C44482917E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55C8-47C2-9E4E-5C44482917E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55C8-47C2-9E4E-5C44482917E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55C8-47C2-9E4E-5C44482917E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55C8-47C2-9E4E-5C44482917E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8.884246584229718</c:v>
              </c:pt>
              <c:pt idx="1">
                <c:v>8.0003502889884164</c:v>
              </c:pt>
              <c:pt idx="2">
                <c:v>9.507728494623656</c:v>
              </c:pt>
              <c:pt idx="3">
                <c:v>10.192302969275733</c:v>
              </c:pt>
              <c:pt idx="4">
                <c:v>8.0196234037948209</c:v>
              </c:pt>
              <c:pt idx="5">
                <c:v>9.5811010530205056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29-55C8-47C2-9E4E-5C44482917EB}"/>
            </c:ext>
          </c:extLst>
        </c:ser>
        <c:ser>
          <c:idx val="6"/>
          <c:order val="6"/>
          <c:tx>
            <c:v>Ear &amp; Eye-Area Hygiene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55C8-47C2-9E4E-5C44482917EB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55C8-47C2-9E4E-5C44482917EB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55C8-47C2-9E4E-5C44482917EB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55C8-47C2-9E4E-5C44482917EB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55C8-47C2-9E4E-5C44482917EB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F-55C8-47C2-9E4E-5C44482917EB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7.4971778536117002</c:v>
              </c:pt>
              <c:pt idx="1">
                <c:v>8.2230340030525184</c:v>
              </c:pt>
              <c:pt idx="2">
                <c:v>6.9590053763440869</c:v>
              </c:pt>
              <c:pt idx="3">
                <c:v>7.4465211091190415</c:v>
              </c:pt>
              <c:pt idx="4">
                <c:v>6.9691941418368097</c:v>
              </c:pt>
              <c:pt idx="5">
                <c:v>9.472566044707186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30-55C8-47C2-9E4E-5C44482917E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v>Regular / Established Ingredients</c:v>
          </c:tx>
          <c:spPr>
            <a:solidFill>
              <a:srgbClr val="3D85C6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8D02-4773-A520-ED7E12481B88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D02-4773-A520-ED7E12481B88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D02-4773-A520-ED7E12481B88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D02-4773-A520-ED7E12481B88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D02-4773-A520-ED7E12481B88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8D02-4773-A520-ED7E12481B88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55.617260723074999</c:v>
              </c:pt>
              <c:pt idx="1">
                <c:v>54.933259942204479</c:v>
              </c:pt>
              <c:pt idx="2">
                <c:v>53.892165263706161</c:v>
              </c:pt>
              <c:pt idx="3">
                <c:v>59.00483827393964</c:v>
              </c:pt>
              <c:pt idx="4">
                <c:v>54.344501197587505</c:v>
              </c:pt>
              <c:pt idx="5">
                <c:v>49.830281478744773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6-8D02-4773-A520-ED7E12481B88}"/>
            </c:ext>
          </c:extLst>
        </c:ser>
        <c:ser>
          <c:idx val="1"/>
          <c:order val="1"/>
          <c:tx>
            <c:v>Niche / Specialized Ingredients</c:v>
          </c:tx>
          <c:spPr>
            <a:solidFill>
              <a:srgbClr val="9E7E0A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D02-4773-A520-ED7E12481B88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D02-4773-A520-ED7E12481B88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D02-4773-A520-ED7E12481B88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D02-4773-A520-ED7E12481B88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8D02-4773-A520-ED7E12481B88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D02-4773-A520-ED7E12481B88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31.879225109966391</c:v>
              </c:pt>
              <c:pt idx="1">
                <c:v>31.564857325143553</c:v>
              </c:pt>
              <c:pt idx="2">
                <c:v>33.666011391703208</c:v>
              </c:pt>
              <c:pt idx="3">
                <c:v>29.154898445366801</c:v>
              </c:pt>
              <c:pt idx="4">
                <c:v>32.844198193518601</c:v>
              </c:pt>
              <c:pt idx="5">
                <c:v>37.381947491167708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D-8D02-4773-A520-ED7E12481B88}"/>
            </c:ext>
          </c:extLst>
        </c:ser>
        <c:ser>
          <c:idx val="2"/>
          <c:order val="2"/>
          <c:tx>
            <c:v>Emerging Ingredients / Innovation Candidates</c:v>
          </c:tx>
          <c:spPr>
            <a:solidFill>
              <a:srgbClr val="008189"/>
            </a:solidFill>
            <a:ln>
              <a:noFill/>
            </a:ln>
          </c:spPr>
          <c:invertIfNegative val="1"/>
          <c:dLbls>
            <c:dLbl>
              <c:idx val="0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8D02-4773-A520-ED7E12481B88}"/>
                </c:ext>
              </c:extLst>
            </c:dLbl>
            <c:dLbl>
              <c:idx val="1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8D02-4773-A520-ED7E12481B88}"/>
                </c:ext>
              </c:extLst>
            </c:dLbl>
            <c:dLbl>
              <c:idx val="2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8D02-4773-A520-ED7E12481B88}"/>
                </c:ext>
              </c:extLst>
            </c:dLbl>
            <c:dLbl>
              <c:idx val="3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8D02-4773-A520-ED7E12481B88}"/>
                </c:ext>
              </c:extLst>
            </c:dLbl>
            <c:dLbl>
              <c:idx val="4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8D02-4773-A520-ED7E12481B88}"/>
                </c:ext>
              </c:extLst>
            </c:dLbl>
            <c:dLbl>
              <c:idx val="5"/>
              <c:numFmt formatCode="&quot;&quot;" sourceLinked="0"/>
              <c:spPr/>
              <c:txPr>
                <a:bodyPr/>
                <a:lstStyle/>
                <a:p>
                  <a:pPr>
                    <a:defRPr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8D02-4773-A520-ED7E12481B88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Ear &amp; Eye Hygiene Products</c:v>
              </c:pt>
              <c:pt idx="4">
                <c:v>Dental &amp; Oral Care Products</c:v>
              </c:pt>
              <c:pt idx="5">
                <c:v>Fragrance &amp; Deodorizing Products</c:v>
              </c:pt>
            </c:strLit>
          </c:cat>
          <c:val>
            <c:numLit>
              <c:formatCode>General</c:formatCode>
              <c:ptCount val="6"/>
              <c:pt idx="0">
                <c:v>12.503514166958613</c:v>
              </c:pt>
              <c:pt idx="1">
                <c:v>13.501882732651966</c:v>
              </c:pt>
              <c:pt idx="2">
                <c:v>12.441823344590622</c:v>
              </c:pt>
              <c:pt idx="3">
                <c:v>11.840263280693568</c:v>
              </c:pt>
              <c:pt idx="4">
                <c:v>12.811300608893891</c:v>
              </c:pt>
              <c:pt idx="5">
                <c:v>12.787771030087514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14-8D02-4773-A520-ED7E12481B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</c:scaling>
        <c:delete val="0"/>
        <c:axPos val="l"/>
        <c:numFmt formatCode="0%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0"/>
    <c:plotArea>
      <c:layout/>
      <c:lineChart>
        <c:grouping val="standard"/>
        <c:varyColors val="0"/>
        <c:ser>
          <c:idx val="0"/>
          <c:order val="0"/>
          <c:tx>
            <c:v>Ear &amp; Eye Hygiene Products</c:v>
          </c:tx>
          <c:spPr>
            <a:ln w="25400">
              <a:solidFill>
                <a:srgbClr val="C55A11"/>
              </a:solidFill>
            </a:ln>
          </c:spPr>
          <c:marker>
            <c:symbol val="none"/>
          </c:marker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18608</c:v>
              </c:pt>
              <c:pt idx="1">
                <c:v>18715</c:v>
              </c:pt>
              <c:pt idx="2">
                <c:v>18823</c:v>
              </c:pt>
              <c:pt idx="3">
                <c:v>18929</c:v>
              </c:pt>
              <c:pt idx="4">
                <c:v>19031</c:v>
              </c:pt>
              <c:pt idx="5">
                <c:v>19142</c:v>
              </c:pt>
              <c:pt idx="6">
                <c:v>19245</c:v>
              </c:pt>
              <c:pt idx="7">
                <c:v>19351</c:v>
              </c:pt>
              <c:pt idx="8">
                <c:v>19455</c:v>
              </c:pt>
              <c:pt idx="9">
                <c:v>19562</c:v>
              </c:pt>
              <c:pt idx="10">
                <c:v>19669</c:v>
              </c:pt>
              <c:pt idx="11">
                <c:v>19777</c:v>
              </c:pt>
              <c:pt idx="12">
                <c:v>19880</c:v>
              </c:pt>
              <c:pt idx="13">
                <c:v>19989</c:v>
              </c:pt>
              <c:pt idx="14">
                <c:v>20096</c:v>
              </c:pt>
              <c:pt idx="15">
                <c:v>20202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0-13AE-4588-AF2D-345D9F65C239}"/>
            </c:ext>
          </c:extLst>
        </c:ser>
        <c:ser>
          <c:idx val="1"/>
          <c:order val="1"/>
          <c:tx>
            <c:v>Coat Conditioning &amp; Grooming Products</c:v>
          </c:tx>
          <c:spPr>
            <a:ln w="25400">
              <a:solidFill>
                <a:srgbClr val="0B2E4A"/>
              </a:solidFill>
            </a:ln>
          </c:spPr>
          <c:marker>
            <c:symbol val="none"/>
          </c:marker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18231</c:v>
              </c:pt>
              <c:pt idx="1">
                <c:v>18337</c:v>
              </c:pt>
              <c:pt idx="2">
                <c:v>18448</c:v>
              </c:pt>
              <c:pt idx="3">
                <c:v>18554</c:v>
              </c:pt>
              <c:pt idx="4">
                <c:v>18659</c:v>
              </c:pt>
              <c:pt idx="5">
                <c:v>18769</c:v>
              </c:pt>
              <c:pt idx="6">
                <c:v>18873</c:v>
              </c:pt>
              <c:pt idx="7">
                <c:v>18979</c:v>
              </c:pt>
              <c:pt idx="8">
                <c:v>19087</c:v>
              </c:pt>
              <c:pt idx="9">
                <c:v>19193</c:v>
              </c:pt>
              <c:pt idx="10">
                <c:v>19301</c:v>
              </c:pt>
              <c:pt idx="11">
                <c:v>19408</c:v>
              </c:pt>
              <c:pt idx="12">
                <c:v>19513</c:v>
              </c:pt>
              <c:pt idx="13">
                <c:v>19621</c:v>
              </c:pt>
              <c:pt idx="14">
                <c:v>19729</c:v>
              </c:pt>
              <c:pt idx="15">
                <c:v>19835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1-13AE-4588-AF2D-345D9F65C239}"/>
            </c:ext>
          </c:extLst>
        </c:ser>
        <c:ser>
          <c:idx val="2"/>
          <c:order val="2"/>
          <c:tx>
            <c:v>Fragrance &amp; Deodorizing Products</c:v>
          </c:tx>
          <c:spPr>
            <a:ln w="25400">
              <a:solidFill>
                <a:srgbClr val="7030A0"/>
              </a:solidFill>
            </a:ln>
          </c:spPr>
          <c:marker>
            <c:symbol val="none"/>
          </c:marker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18165</c:v>
              </c:pt>
              <c:pt idx="1">
                <c:v>18268</c:v>
              </c:pt>
              <c:pt idx="2">
                <c:v>18378</c:v>
              </c:pt>
              <c:pt idx="3">
                <c:v>18483</c:v>
              </c:pt>
              <c:pt idx="4">
                <c:v>18589</c:v>
              </c:pt>
              <c:pt idx="5">
                <c:v>18699</c:v>
              </c:pt>
              <c:pt idx="6">
                <c:v>18803</c:v>
              </c:pt>
              <c:pt idx="7">
                <c:v>18908</c:v>
              </c:pt>
              <c:pt idx="8">
                <c:v>19016</c:v>
              </c:pt>
              <c:pt idx="9">
                <c:v>19123</c:v>
              </c:pt>
              <c:pt idx="10">
                <c:v>19233</c:v>
              </c:pt>
              <c:pt idx="11">
                <c:v>19341</c:v>
              </c:pt>
              <c:pt idx="12">
                <c:v>19446</c:v>
              </c:pt>
              <c:pt idx="13">
                <c:v>19555</c:v>
              </c:pt>
              <c:pt idx="14">
                <c:v>19665</c:v>
              </c:pt>
              <c:pt idx="15">
                <c:v>19772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2-13AE-4588-AF2D-345D9F65C239}"/>
            </c:ext>
          </c:extLst>
        </c:ser>
        <c:ser>
          <c:idx val="3"/>
          <c:order val="3"/>
          <c:tx>
            <c:v>Dental &amp; Oral Care Products</c:v>
          </c:tx>
          <c:spPr>
            <a:ln w="25400">
              <a:solidFill>
                <a:srgbClr val="008189"/>
              </a:solidFill>
            </a:ln>
          </c:spPr>
          <c:marker>
            <c:symbol val="none"/>
          </c:marker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18165</c:v>
              </c:pt>
              <c:pt idx="1">
                <c:v>18268</c:v>
              </c:pt>
              <c:pt idx="2">
                <c:v>18373</c:v>
              </c:pt>
              <c:pt idx="3">
                <c:v>18476</c:v>
              </c:pt>
              <c:pt idx="4">
                <c:v>18577</c:v>
              </c:pt>
              <c:pt idx="5">
                <c:v>18681</c:v>
              </c:pt>
              <c:pt idx="6">
                <c:v>18782</c:v>
              </c:pt>
              <c:pt idx="7">
                <c:v>18884</c:v>
              </c:pt>
              <c:pt idx="8">
                <c:v>18987</c:v>
              </c:pt>
              <c:pt idx="9">
                <c:v>19090</c:v>
              </c:pt>
              <c:pt idx="10">
                <c:v>19194</c:v>
              </c:pt>
              <c:pt idx="11">
                <c:v>19297</c:v>
              </c:pt>
              <c:pt idx="12">
                <c:v>19397</c:v>
              </c:pt>
              <c:pt idx="13">
                <c:v>19502</c:v>
              </c:pt>
              <c:pt idx="14">
                <c:v>19606</c:v>
              </c:pt>
              <c:pt idx="15">
                <c:v>19708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3-13AE-4588-AF2D-345D9F65C239}"/>
            </c:ext>
          </c:extLst>
        </c:ser>
        <c:ser>
          <c:idx val="4"/>
          <c:order val="4"/>
          <c:tx>
            <c:v>Skin, Paw &amp; Nose Care Products</c:v>
          </c:tx>
          <c:spPr>
            <a:ln w="25400">
              <a:solidFill>
                <a:srgbClr val="9E7E0A"/>
              </a:solidFill>
            </a:ln>
          </c:spPr>
          <c:marker>
            <c:symbol val="none"/>
          </c:marker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18102</c:v>
              </c:pt>
              <c:pt idx="1">
                <c:v>18205</c:v>
              </c:pt>
              <c:pt idx="2">
                <c:v>18312</c:v>
              </c:pt>
              <c:pt idx="3">
                <c:v>18412</c:v>
              </c:pt>
              <c:pt idx="4">
                <c:v>18514</c:v>
              </c:pt>
              <c:pt idx="5">
                <c:v>18621</c:v>
              </c:pt>
              <c:pt idx="6">
                <c:v>18721</c:v>
              </c:pt>
              <c:pt idx="7">
                <c:v>18824</c:v>
              </c:pt>
              <c:pt idx="8">
                <c:v>18925</c:v>
              </c:pt>
              <c:pt idx="9">
                <c:v>19029</c:v>
              </c:pt>
              <c:pt idx="10">
                <c:v>19134</c:v>
              </c:pt>
              <c:pt idx="11">
                <c:v>19236</c:v>
              </c:pt>
              <c:pt idx="12">
                <c:v>19338</c:v>
              </c:pt>
              <c:pt idx="13">
                <c:v>19441</c:v>
              </c:pt>
              <c:pt idx="14">
                <c:v>19544</c:v>
              </c:pt>
              <c:pt idx="15">
                <c:v>19646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4-13AE-4588-AF2D-345D9F65C239}"/>
            </c:ext>
          </c:extLst>
        </c:ser>
        <c:ser>
          <c:idx val="5"/>
          <c:order val="5"/>
          <c:tx>
            <c:v>Shampoos &amp; Cleansing Products</c:v>
          </c:tx>
          <c:spPr>
            <a:ln w="25400">
              <a:solidFill>
                <a:srgbClr val="5B7DB1"/>
              </a:solidFill>
            </a:ln>
          </c:spPr>
          <c:marker>
            <c:symbol val="none"/>
          </c:marker>
          <c:cat>
            <c:strLit>
              <c:ptCount val="16"/>
              <c:pt idx="0">
                <c:v>2021</c:v>
              </c:pt>
              <c:pt idx="1">
                <c:v>2022</c:v>
              </c:pt>
              <c:pt idx="2">
                <c:v>2023</c:v>
              </c:pt>
              <c:pt idx="3">
                <c:v>2024</c:v>
              </c:pt>
              <c:pt idx="4">
                <c:v>2025</c:v>
              </c:pt>
              <c:pt idx="5">
                <c:v>2026</c:v>
              </c:pt>
              <c:pt idx="6">
                <c:v>2027</c:v>
              </c:pt>
              <c:pt idx="7">
                <c:v>2028</c:v>
              </c:pt>
              <c:pt idx="8">
                <c:v>2029</c:v>
              </c:pt>
              <c:pt idx="9">
                <c:v>2030</c:v>
              </c:pt>
              <c:pt idx="10">
                <c:v>2031</c:v>
              </c:pt>
              <c:pt idx="11">
                <c:v>2032</c:v>
              </c:pt>
              <c:pt idx="12">
                <c:v>2033</c:v>
              </c:pt>
              <c:pt idx="13">
                <c:v>2034</c:v>
              </c:pt>
              <c:pt idx="14">
                <c:v>2035</c:v>
              </c:pt>
              <c:pt idx="15">
                <c:v>2036</c:v>
              </c:pt>
            </c:strLit>
          </c:cat>
          <c:val>
            <c:numLit>
              <c:formatCode>General</c:formatCode>
              <c:ptCount val="16"/>
              <c:pt idx="0">
                <c:v>18051</c:v>
              </c:pt>
              <c:pt idx="1">
                <c:v>18148</c:v>
              </c:pt>
              <c:pt idx="2">
                <c:v>18249</c:v>
              </c:pt>
              <c:pt idx="3">
                <c:v>18347</c:v>
              </c:pt>
              <c:pt idx="4">
                <c:v>18444</c:v>
              </c:pt>
              <c:pt idx="5">
                <c:v>18546</c:v>
              </c:pt>
              <c:pt idx="6">
                <c:v>18643</c:v>
              </c:pt>
              <c:pt idx="7">
                <c:v>18740</c:v>
              </c:pt>
              <c:pt idx="8">
                <c:v>18840</c:v>
              </c:pt>
              <c:pt idx="9">
                <c:v>18939</c:v>
              </c:pt>
              <c:pt idx="10">
                <c:v>19042</c:v>
              </c:pt>
              <c:pt idx="11">
                <c:v>19142</c:v>
              </c:pt>
              <c:pt idx="12">
                <c:v>19239</c:v>
              </c:pt>
              <c:pt idx="13">
                <c:v>19341</c:v>
              </c:pt>
              <c:pt idx="14">
                <c:v>19442</c:v>
              </c:pt>
              <c:pt idx="15">
                <c:v>19542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5-13AE-4588-AF2D-345D9F65C2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low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900">
                <a:solidFill>
                  <a:srgbClr val="59636E"/>
                </a:solidFill>
                <a:latin typeface="Calibri"/>
              </a:defRPr>
            </a:pPr>
            <a:endParaRPr lang="en-US"/>
          </a:p>
        </c:txPr>
        <c:crossAx val="2140495176"/>
        <c:crosses val="autoZero"/>
        <c:auto val="1"/>
        <c:lblAlgn val="ctr"/>
        <c:lblOffset val="100"/>
        <c:noMultiLvlLbl val="0"/>
      </c:catAx>
      <c:valAx>
        <c:axId val="2140495176"/>
        <c:scaling>
          <c:orientation val="minMax"/>
          <c:max val="20500"/>
          <c:min val="18000"/>
        </c:scaling>
        <c:delete val="0"/>
        <c:axPos val="l"/>
        <c:majorGridlines>
          <c:spPr>
            <a:ln>
              <a:solidFill>
                <a:srgbClr val="D9DEE4"/>
              </a:solidFill>
            </a:ln>
          </c:spPr>
        </c:majorGridlines>
        <c:numFmt formatCode="#,##0" sourceLinked="0"/>
        <c:majorTickMark val="out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900">
                <a:solidFill>
                  <a:srgbClr val="59636E"/>
                </a:solidFill>
                <a:latin typeface="Calibri"/>
              </a:defRPr>
            </a:pPr>
            <a:endParaRPr lang="en-US"/>
          </a:p>
        </c:txPr>
        <c:crossAx val="2118791784"/>
        <c:crosses val="autoZero"/>
        <c:crossBetween val="between"/>
        <c:majorUnit val="500"/>
      </c:valAx>
    </c:plotArea>
    <c:legend>
      <c:legendPos val="b"/>
      <c:overlay val="0"/>
      <c:txPr>
        <a:bodyPr/>
        <a:lstStyle/>
        <a:p>
          <a:pPr>
            <a:defRPr sz="900">
              <a:latin typeface="Calibri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</c:chartSpace>
</file>

<file path=ppt/charts/chart1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1"/>
        <c:ser>
          <c:idx val="0"/>
          <c:order val="0"/>
          <c:tx>
            <c:v>Index</c:v>
          </c:tx>
          <c:invertIfNegative val="1"/>
          <c:dPt>
            <c:idx val="0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01-CF16-49C4-A503-B3B871DBF0DD}"/>
              </c:ext>
            </c:extLst>
          </c:dPt>
          <c:dPt>
            <c:idx val="1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03-CF16-49C4-A503-B3B871DBF0DD}"/>
              </c:ext>
            </c:extLst>
          </c:dPt>
          <c:dPt>
            <c:idx val="2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05-CF16-49C4-A503-B3B871DBF0DD}"/>
              </c:ext>
            </c:extLst>
          </c:dPt>
          <c:dPt>
            <c:idx val="3"/>
            <c:invertIfNegative val="1"/>
            <c:bubble3D val="0"/>
            <c:spPr>
              <a:solidFill>
                <a:srgbClr val="C55A11"/>
              </a:solidFill>
            </c:spPr>
            <c:extLst>
              <c:ext xmlns:c16="http://schemas.microsoft.com/office/drawing/2014/chart" uri="{C3380CC4-5D6E-409C-BE32-E72D297353CC}">
                <c16:uniqueId val="{00000007-CF16-49C4-A503-B3B871DBF0DD}"/>
              </c:ext>
            </c:extLst>
          </c:dPt>
          <c:dPt>
            <c:idx val="4"/>
            <c:invertIfNegative val="1"/>
            <c:bubble3D val="0"/>
            <c:spPr>
              <a:solidFill>
                <a:srgbClr val="C55A11"/>
              </a:solidFill>
            </c:spPr>
            <c:extLst>
              <c:ext xmlns:c16="http://schemas.microsoft.com/office/drawing/2014/chart" uri="{C3380CC4-5D6E-409C-BE32-E72D297353CC}">
                <c16:uniqueId val="{00000009-CF16-49C4-A503-B3B871DBF0DD}"/>
              </c:ext>
            </c:extLst>
          </c:dPt>
          <c:dPt>
            <c:idx val="5"/>
            <c:invertIfNegative val="1"/>
            <c:bubble3D val="0"/>
            <c:spPr>
              <a:solidFill>
                <a:srgbClr val="C55A11"/>
              </a:solidFill>
            </c:spPr>
            <c:extLst>
              <c:ext xmlns:c16="http://schemas.microsoft.com/office/drawing/2014/chart" uri="{C3380CC4-5D6E-409C-BE32-E72D297353CC}">
                <c16:uniqueId val="{0000000B-CF16-49C4-A503-B3B871DBF0DD}"/>
              </c:ext>
            </c:extLst>
          </c:dPt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 b="1">
                    <a:solidFill>
                      <a:srgbClr val="1F1F1F"/>
                    </a:solidFill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6"/>
              <c:pt idx="0">
                <c:v>Shampoos &amp; Cleansing Products</c:v>
              </c:pt>
              <c:pt idx="1">
                <c:v>Skin, Paw &amp; Nose Care Products</c:v>
              </c:pt>
              <c:pt idx="2">
                <c:v>Dental &amp; Oral Care Products</c:v>
              </c:pt>
              <c:pt idx="3">
                <c:v>Fragrance &amp; Deodorizing Products</c:v>
              </c:pt>
              <c:pt idx="4">
                <c:v>Coat Conditioning &amp; Grooming Products</c:v>
              </c:pt>
              <c:pt idx="5">
                <c:v>Ear &amp; Eye Hygiene Products</c:v>
              </c:pt>
            </c:strLit>
          </c:cat>
          <c:val>
            <c:numLit>
              <c:formatCode>General</c:formatCode>
              <c:ptCount val="6"/>
              <c:pt idx="0">
                <c:v>99.3</c:v>
              </c:pt>
              <c:pt idx="1">
                <c:v>99.7</c:v>
              </c:pt>
              <c:pt idx="2">
                <c:v>100</c:v>
              </c:pt>
              <c:pt idx="3">
                <c:v>100.1</c:v>
              </c:pt>
              <c:pt idx="4">
                <c:v>100.4</c:v>
              </c:pt>
              <c:pt idx="5">
                <c:v>102.4</c:v>
              </c:pt>
            </c:numLit>
          </c:val>
          <c:extLst>
            <c:ext xmlns:c16="http://schemas.microsoft.com/office/drawing/2014/chart" uri="{C3380CC4-5D6E-409C-BE32-E72D297353CC}">
              <c16:uniqueId val="{0000000C-CF16-49C4-A503-B3B871DBF0DD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45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850">
                <a:solidFill>
                  <a:srgbClr val="1F1F1F"/>
                </a:solidFill>
                <a:latin typeface="Calibri"/>
              </a:defRPr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104"/>
          <c:min val="96"/>
        </c:scaling>
        <c:delete val="1"/>
        <c:axPos val="b"/>
        <c:numFmt formatCode="General" sourceLinked="1"/>
        <c:majorTickMark val="out"/>
        <c:minorTickMark val="none"/>
        <c:tickLblPos val="none"/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800"/>
      </a:pPr>
      <a:endParaRPr lang="en-US"/>
    </a:p>
  </c:txPr>
</c:chartSpace>
</file>

<file path=ppt/charts/chart1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0"/>
    <c:plotArea>
      <c:layout/>
      <c:barChart>
        <c:barDir val="bar"/>
        <c:grouping val="stacked"/>
        <c:varyColors val="1"/>
        <c:ser>
          <c:idx val="0"/>
          <c:order val="0"/>
          <c:tx>
            <c:v>Base</c:v>
          </c:tx>
          <c:spPr>
            <a:noFill/>
          </c:spPr>
          <c:invertIfNegative val="1"/>
          <c:cat>
            <c:strLit>
              <c:ptCount val="6"/>
              <c:pt idx="0">
                <c:v>Shampoos &amp; Cleansing Products</c:v>
              </c:pt>
              <c:pt idx="1">
                <c:v>Skin, Paw &amp; Nose Care Products</c:v>
              </c:pt>
              <c:pt idx="2">
                <c:v>Dental &amp; Oral Care Products</c:v>
              </c:pt>
              <c:pt idx="3">
                <c:v>Fragrance &amp; Deodorizing Products</c:v>
              </c:pt>
              <c:pt idx="4">
                <c:v>Coat Conditioning &amp; Grooming Products</c:v>
              </c:pt>
              <c:pt idx="5">
                <c:v>Ear &amp; Eye Hygiene Products</c:v>
              </c:pt>
            </c:strLit>
          </c:cat>
          <c:val>
            <c:numLit>
              <c:formatCode>General</c:formatCode>
              <c:ptCount val="6"/>
              <c:pt idx="0">
                <c:v>17483</c:v>
              </c:pt>
              <c:pt idx="1">
                <c:v>16712</c:v>
              </c:pt>
              <c:pt idx="2">
                <c:v>15934</c:v>
              </c:pt>
              <c:pt idx="3">
                <c:v>15207</c:v>
              </c:pt>
              <c:pt idx="4">
                <c:v>17781</c:v>
              </c:pt>
              <c:pt idx="5">
                <c:v>16449</c:v>
              </c:pt>
            </c:numLit>
          </c:val>
          <c:extLst>
            <c:ext xmlns:c16="http://schemas.microsoft.com/office/drawing/2014/chart" uri="{C3380CC4-5D6E-409C-BE32-E72D297353CC}">
              <c16:uniqueId val="{00000000-2592-40FC-896D-71F78CC58106}"/>
            </c:ext>
          </c:extLst>
        </c:ser>
        <c:ser>
          <c:idx val="1"/>
          <c:order val="1"/>
          <c:tx>
            <c:v>Range</c:v>
          </c:tx>
          <c:spPr>
            <a:solidFill>
              <a:srgbClr val="008189"/>
            </a:solidFill>
          </c:spPr>
          <c:invertIfNegative val="1"/>
          <c:cat>
            <c:strLit>
              <c:ptCount val="6"/>
              <c:pt idx="0">
                <c:v>Shampoos &amp; Cleansing Products</c:v>
              </c:pt>
              <c:pt idx="1">
                <c:v>Skin, Paw &amp; Nose Care Products</c:v>
              </c:pt>
              <c:pt idx="2">
                <c:v>Dental &amp; Oral Care Products</c:v>
              </c:pt>
              <c:pt idx="3">
                <c:v>Fragrance &amp; Deodorizing Products</c:v>
              </c:pt>
              <c:pt idx="4">
                <c:v>Coat Conditioning &amp; Grooming Products</c:v>
              </c:pt>
              <c:pt idx="5">
                <c:v>Ear &amp; Eye Hygiene Products</c:v>
              </c:pt>
            </c:strLit>
          </c:cat>
          <c:val>
            <c:numLit>
              <c:formatCode>General</c:formatCode>
              <c:ptCount val="6"/>
              <c:pt idx="0">
                <c:v>2123</c:v>
              </c:pt>
              <c:pt idx="1">
                <c:v>4455</c:v>
              </c:pt>
              <c:pt idx="2">
                <c:v>5053</c:v>
              </c:pt>
              <c:pt idx="3">
                <c:v>8990</c:v>
              </c:pt>
              <c:pt idx="4">
                <c:v>3088</c:v>
              </c:pt>
              <c:pt idx="5">
                <c:v>5116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</c14:spPr>
              </c14:invertSolidFillFmt>
            </c:ext>
            <c:ext xmlns:c16="http://schemas.microsoft.com/office/drawing/2014/chart" uri="{C3380CC4-5D6E-409C-BE32-E72D297353CC}">
              <c16:uniqueId val="{00000001-2592-40FC-896D-71F78CC5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5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850">
                <a:solidFill>
                  <a:srgbClr val="1F1F1F"/>
                </a:solidFill>
                <a:latin typeface="Calibri"/>
              </a:defRPr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26000"/>
          <c:min val="14000"/>
        </c:scaling>
        <c:delete val="0"/>
        <c:axPos val="b"/>
        <c:majorGridlines>
          <c:spPr>
            <a:ln>
              <a:solidFill>
                <a:srgbClr val="D9DEE4"/>
              </a:solidFill>
            </a:ln>
          </c:spPr>
        </c:majorGridlines>
        <c:numFmt formatCode="#,##0" sourceLinked="0"/>
        <c:majorTickMark val="out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800">
                <a:solidFill>
                  <a:srgbClr val="59636E"/>
                </a:solidFill>
                <a:latin typeface="Calibri"/>
              </a:defRPr>
            </a:pPr>
            <a:endParaRPr lang="en-US"/>
          </a:p>
        </c:txPr>
        <c:crossAx val="-2068027336"/>
        <c:crosses val="autoZero"/>
        <c:crossBetween val="between"/>
        <c:majorUnit val="2000"/>
      </c:valAx>
    </c:plotArea>
    <c:plotVisOnly val="1"/>
    <c:dispBlanksAs val="gap"/>
    <c:showDLblsOverMax val="1"/>
  </c:chart>
  <c:txPr>
    <a:bodyPr/>
    <a:lstStyle/>
    <a:p>
      <a:pPr>
        <a:defRPr sz="1800"/>
      </a:pPr>
      <a:endParaRPr lang="en-US"/>
    </a:p>
  </c:txPr>
</c:chartSpace>
</file>

<file path=ppt/charts/chart1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0"/>
    <c:plotArea>
      <c:layout/>
      <c:barChart>
        <c:barDir val="col"/>
        <c:grouping val="stacked"/>
        <c:varyColors val="1"/>
        <c:ser>
          <c:idx val="0"/>
          <c:order val="0"/>
          <c:tx>
            <c:v>Base</c:v>
          </c:tx>
          <c:spPr>
            <a:noFill/>
          </c:spPr>
          <c:invertIfNegative val="1"/>
          <c:cat>
            <c:strLit>
              <c:ptCount val="24"/>
              <c:pt idx="0">
                <c:v>Sweden</c:v>
              </c:pt>
              <c:pt idx="1">
                <c:v>France</c:v>
              </c:pt>
              <c:pt idx="2">
                <c:v>Greece</c:v>
              </c:pt>
              <c:pt idx="3">
                <c:v>Slovenia</c:v>
              </c:pt>
              <c:pt idx="4">
                <c:v>Poland</c:v>
              </c:pt>
              <c:pt idx="5">
                <c:v>Portugal</c:v>
              </c:pt>
              <c:pt idx="6">
                <c:v>Malta</c:v>
              </c:pt>
              <c:pt idx="7">
                <c:v>Croatia</c:v>
              </c:pt>
              <c:pt idx="8">
                <c:v>Italy</c:v>
              </c:pt>
              <c:pt idx="9">
                <c:v>Belgium</c:v>
              </c:pt>
              <c:pt idx="10">
                <c:v>Switzerland</c:v>
              </c:pt>
              <c:pt idx="11">
                <c:v>Czech Republic</c:v>
              </c:pt>
              <c:pt idx="12">
                <c:v>Finland</c:v>
              </c:pt>
              <c:pt idx="13">
                <c:v>Ireland</c:v>
              </c:pt>
              <c:pt idx="14">
                <c:v>Norway</c:v>
              </c:pt>
              <c:pt idx="15">
                <c:v>Spain</c:v>
              </c:pt>
              <c:pt idx="16">
                <c:v>United Kingdom</c:v>
              </c:pt>
              <c:pt idx="17">
                <c:v>Romania</c:v>
              </c:pt>
              <c:pt idx="18">
                <c:v>Denmark</c:v>
              </c:pt>
              <c:pt idx="19">
                <c:v>Netherlands</c:v>
              </c:pt>
              <c:pt idx="20">
                <c:v>Austria</c:v>
              </c:pt>
              <c:pt idx="21">
                <c:v>Germany</c:v>
              </c:pt>
              <c:pt idx="22">
                <c:v>Bulgaria</c:v>
              </c:pt>
              <c:pt idx="23">
                <c:v>Hungary</c:v>
              </c:pt>
            </c:strLit>
          </c:cat>
          <c:val>
            <c:numLit>
              <c:formatCode>General</c:formatCode>
              <c:ptCount val="24"/>
              <c:pt idx="0">
                <c:v>20679</c:v>
              </c:pt>
              <c:pt idx="1">
                <c:v>20194</c:v>
              </c:pt>
              <c:pt idx="2">
                <c:v>20462</c:v>
              </c:pt>
              <c:pt idx="3">
                <c:v>20052</c:v>
              </c:pt>
              <c:pt idx="4">
                <c:v>19529</c:v>
              </c:pt>
              <c:pt idx="5">
                <c:v>19354</c:v>
              </c:pt>
              <c:pt idx="6">
                <c:v>17889</c:v>
              </c:pt>
              <c:pt idx="7">
                <c:v>18099</c:v>
              </c:pt>
              <c:pt idx="8">
                <c:v>18605</c:v>
              </c:pt>
              <c:pt idx="9">
                <c:v>18026</c:v>
              </c:pt>
              <c:pt idx="10">
                <c:v>18319</c:v>
              </c:pt>
              <c:pt idx="11">
                <c:v>18443</c:v>
              </c:pt>
              <c:pt idx="12">
                <c:v>18074</c:v>
              </c:pt>
              <c:pt idx="13">
                <c:v>18484</c:v>
              </c:pt>
              <c:pt idx="14">
                <c:v>18119</c:v>
              </c:pt>
              <c:pt idx="15">
                <c:v>17894</c:v>
              </c:pt>
              <c:pt idx="16">
                <c:v>17825</c:v>
              </c:pt>
              <c:pt idx="17">
                <c:v>16921</c:v>
              </c:pt>
              <c:pt idx="18">
                <c:v>17075</c:v>
              </c:pt>
              <c:pt idx="19">
                <c:v>16640</c:v>
              </c:pt>
              <c:pt idx="20">
                <c:v>16812</c:v>
              </c:pt>
              <c:pt idx="21">
                <c:v>16663</c:v>
              </c:pt>
              <c:pt idx="22">
                <c:v>16143</c:v>
              </c:pt>
              <c:pt idx="23">
                <c:v>15782</c:v>
              </c:pt>
            </c:numLit>
          </c:val>
          <c:extLst>
            <c:ext xmlns:c16="http://schemas.microsoft.com/office/drawing/2014/chart" uri="{C3380CC4-5D6E-409C-BE32-E72D297353CC}">
              <c16:uniqueId val="{00000000-6559-4FB8-B878-3859F0619149}"/>
            </c:ext>
          </c:extLst>
        </c:ser>
        <c:ser>
          <c:idx val="1"/>
          <c:order val="1"/>
          <c:tx>
            <c:v>Range</c:v>
          </c:tx>
          <c:spPr>
            <a:solidFill>
              <a:srgbClr val="008189"/>
            </a:solidFill>
          </c:spPr>
          <c:invertIfNegative val="1"/>
          <c:dPt>
            <c:idx val="15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02-6559-4FB8-B878-3859F0619149}"/>
              </c:ext>
            </c:extLst>
          </c:dPt>
          <c:dPt>
            <c:idx val="16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04-6559-4FB8-B878-3859F0619149}"/>
              </c:ext>
            </c:extLst>
          </c:dPt>
          <c:dPt>
            <c:idx val="17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06-6559-4FB8-B878-3859F0619149}"/>
              </c:ext>
            </c:extLst>
          </c:dPt>
          <c:dPt>
            <c:idx val="18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08-6559-4FB8-B878-3859F0619149}"/>
              </c:ext>
            </c:extLst>
          </c:dPt>
          <c:dPt>
            <c:idx val="19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0A-6559-4FB8-B878-3859F0619149}"/>
              </c:ext>
            </c:extLst>
          </c:dPt>
          <c:dPt>
            <c:idx val="20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0C-6559-4FB8-B878-3859F0619149}"/>
              </c:ext>
            </c:extLst>
          </c:dPt>
          <c:dPt>
            <c:idx val="21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0E-6559-4FB8-B878-3859F0619149}"/>
              </c:ext>
            </c:extLst>
          </c:dPt>
          <c:dPt>
            <c:idx val="22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10-6559-4FB8-B878-3859F0619149}"/>
              </c:ext>
            </c:extLst>
          </c:dPt>
          <c:dPt>
            <c:idx val="23"/>
            <c:invertIfNegative val="1"/>
            <c:bubble3D val="0"/>
            <c:spPr>
              <a:solidFill>
                <a:srgbClr val="5B7DB1"/>
              </a:solidFill>
            </c:spPr>
            <c:extLst>
              <c:ext xmlns:c16="http://schemas.microsoft.com/office/drawing/2014/chart" uri="{C3380CC4-5D6E-409C-BE32-E72D297353CC}">
                <c16:uniqueId val="{00000012-6559-4FB8-B878-3859F0619149}"/>
              </c:ext>
            </c:extLst>
          </c:dPt>
          <c:dLbls>
            <c:dLbl>
              <c:idx val="0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113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3-6559-4FB8-B878-3859F0619149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113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4-6559-4FB8-B878-3859F0619149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111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5-6559-4FB8-B878-3859F0619149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110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6-6559-4FB8-B878-3859F0619149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108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7-6559-4FB8-B878-3859F0619149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108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8-6559-4FB8-B878-3859F0619149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105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9-6559-4FB8-B878-3859F0619149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103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A-6559-4FB8-B878-3859F0619149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102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B-6559-4FB8-B878-3859F0619149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102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C-6559-4FB8-B878-3859F0619149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102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D-6559-4FB8-B878-3859F0619149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102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E-6559-4FB8-B878-3859F0619149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101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F-6559-4FB8-B878-3859F0619149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100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0-6559-4FB8-B878-3859F0619149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100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21-6559-4FB8-B878-3859F0619149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98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6559-4FB8-B878-3859F0619149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97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6559-4FB8-B878-3859F0619149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95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6559-4FB8-B878-3859F0619149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94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6559-4FB8-B878-3859F0619149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93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A-6559-4FB8-B878-3859F0619149}"/>
                </c:ext>
              </c:extLst>
            </c:dLbl>
            <c:dLbl>
              <c:idx val="20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92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6559-4FB8-B878-3859F0619149}"/>
                </c:ext>
              </c:extLst>
            </c:dLbl>
            <c:dLbl>
              <c:idx val="21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91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6559-4FB8-B878-3859F0619149}"/>
                </c:ext>
              </c:extLst>
            </c:dLbl>
            <c:dLbl>
              <c:idx val="22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90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6559-4FB8-B878-3859F0619149}"/>
                </c:ext>
              </c:extLst>
            </c:dLbl>
            <c:dLbl>
              <c:idx val="23"/>
              <c:tx>
                <c:rich>
                  <a:bodyPr/>
                  <a:lstStyle/>
                  <a:p>
                    <a:r>
                      <a:rPr lang="en-US" sz="800" b="1">
                        <a:solidFill>
                          <a:srgbClr val="FFFFFF"/>
                        </a:solidFill>
                        <a:latin typeface="Calibri"/>
                      </a:rPr>
                      <a:t>86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6559-4FB8-B878-3859F0619149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24"/>
              <c:pt idx="0">
                <c:v>Sweden</c:v>
              </c:pt>
              <c:pt idx="1">
                <c:v>France</c:v>
              </c:pt>
              <c:pt idx="2">
                <c:v>Greece</c:v>
              </c:pt>
              <c:pt idx="3">
                <c:v>Slovenia</c:v>
              </c:pt>
              <c:pt idx="4">
                <c:v>Poland</c:v>
              </c:pt>
              <c:pt idx="5">
                <c:v>Portugal</c:v>
              </c:pt>
              <c:pt idx="6">
                <c:v>Malta</c:v>
              </c:pt>
              <c:pt idx="7">
                <c:v>Croatia</c:v>
              </c:pt>
              <c:pt idx="8">
                <c:v>Italy</c:v>
              </c:pt>
              <c:pt idx="9">
                <c:v>Belgium</c:v>
              </c:pt>
              <c:pt idx="10">
                <c:v>Switzerland</c:v>
              </c:pt>
              <c:pt idx="11">
                <c:v>Czech Republic</c:v>
              </c:pt>
              <c:pt idx="12">
                <c:v>Finland</c:v>
              </c:pt>
              <c:pt idx="13">
                <c:v>Ireland</c:v>
              </c:pt>
              <c:pt idx="14">
                <c:v>Norway</c:v>
              </c:pt>
              <c:pt idx="15">
                <c:v>Spain</c:v>
              </c:pt>
              <c:pt idx="16">
                <c:v>United Kingdom</c:v>
              </c:pt>
              <c:pt idx="17">
                <c:v>Romania</c:v>
              </c:pt>
              <c:pt idx="18">
                <c:v>Denmark</c:v>
              </c:pt>
              <c:pt idx="19">
                <c:v>Netherlands</c:v>
              </c:pt>
              <c:pt idx="20">
                <c:v>Austria</c:v>
              </c:pt>
              <c:pt idx="21">
                <c:v>Germany</c:v>
              </c:pt>
              <c:pt idx="22">
                <c:v>Bulgaria</c:v>
              </c:pt>
              <c:pt idx="23">
                <c:v>Hungary</c:v>
              </c:pt>
            </c:strLit>
          </c:cat>
          <c:val>
            <c:numLit>
              <c:formatCode>General</c:formatCode>
              <c:ptCount val="24"/>
              <c:pt idx="0">
                <c:v>1589</c:v>
              </c:pt>
              <c:pt idx="1">
                <c:v>1291</c:v>
              </c:pt>
              <c:pt idx="2">
                <c:v>532</c:v>
              </c:pt>
              <c:pt idx="3">
                <c:v>1334</c:v>
              </c:pt>
              <c:pt idx="4">
                <c:v>1107</c:v>
              </c:pt>
              <c:pt idx="5">
                <c:v>1322</c:v>
              </c:pt>
              <c:pt idx="6">
                <c:v>2933</c:v>
              </c:pt>
              <c:pt idx="7">
                <c:v>2052</c:v>
              </c:pt>
              <c:pt idx="8">
                <c:v>1454</c:v>
              </c:pt>
              <c:pt idx="9">
                <c:v>1425</c:v>
              </c:pt>
              <c:pt idx="10">
                <c:v>1117</c:v>
              </c:pt>
              <c:pt idx="11">
                <c:v>938</c:v>
              </c:pt>
              <c:pt idx="12">
                <c:v>2928</c:v>
              </c:pt>
              <c:pt idx="13">
                <c:v>1141</c:v>
              </c:pt>
              <c:pt idx="14">
                <c:v>969</c:v>
              </c:pt>
              <c:pt idx="15">
                <c:v>1191</c:v>
              </c:pt>
              <c:pt idx="16">
                <c:v>2052</c:v>
              </c:pt>
              <c:pt idx="17">
                <c:v>1571</c:v>
              </c:pt>
              <c:pt idx="18">
                <c:v>1129</c:v>
              </c:pt>
              <c:pt idx="19">
                <c:v>1332</c:v>
              </c:pt>
              <c:pt idx="20">
                <c:v>1400</c:v>
              </c:pt>
              <c:pt idx="21">
                <c:v>872</c:v>
              </c:pt>
              <c:pt idx="22">
                <c:v>1872</c:v>
              </c:pt>
              <c:pt idx="23">
                <c:v>1235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</c14:spPr>
              </c14:invertSolidFillFmt>
            </c:ext>
            <c:ext xmlns:c16="http://schemas.microsoft.com/office/drawing/2014/chart" uri="{C3380CC4-5D6E-409C-BE32-E72D297353CC}">
              <c16:uniqueId val="{00000022-6559-4FB8-B878-3859F061914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D9DEE4"/>
            </a:solidFill>
          </a:ln>
        </c:spPr>
        <c:txPr>
          <a:bodyPr/>
          <a:lstStyle/>
          <a:p>
            <a:pPr>
              <a:defRPr sz="850">
                <a:solidFill>
                  <a:srgbClr val="1F1F1F"/>
                </a:solidFill>
                <a:latin typeface="Calibri"/>
              </a:defRPr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orientation val="minMax"/>
          <c:max val="23000"/>
          <c:min val="15000"/>
        </c:scaling>
        <c:delete val="0"/>
        <c:axPos val="l"/>
        <c:majorGridlines>
          <c:spPr>
            <a:ln>
              <a:solidFill>
                <a:srgbClr val="D9DEE4"/>
              </a:solidFill>
            </a:ln>
          </c:spPr>
        </c:majorGridlines>
        <c:numFmt formatCode="#,##0" sourceLinked="0"/>
        <c:majorTickMark val="out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850">
                <a:solidFill>
                  <a:srgbClr val="59636E"/>
                </a:solidFill>
                <a:latin typeface="Calibri"/>
              </a:defRPr>
            </a:pPr>
            <a:endParaRPr lang="en-US"/>
          </a:p>
        </c:txPr>
        <c:crossAx val="-2068027336"/>
        <c:crosses val="autoZero"/>
        <c:crossBetween val="between"/>
        <c:majorUnit val="1000"/>
      </c:valAx>
    </c:plotArea>
    <c:plotVisOnly val="1"/>
    <c:dispBlanksAs val="gap"/>
    <c:showDLblsOverMax val="1"/>
  </c:chart>
  <c:txPr>
    <a:bodyPr/>
    <a:lstStyle/>
    <a:p>
      <a:pPr>
        <a:defRPr sz="1800"/>
      </a:pPr>
      <a:endParaRPr lang="en-US"/>
    </a:p>
  </c:txPr>
</c:chartSpace>
</file>

<file path=ppt/charts/chart1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187E-40D0-949D-23EDEC1B904E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187E-40D0-949D-23EDEC1B904E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187E-40D0-949D-23EDEC1B904E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187E-40D0-949D-23EDEC1B904E}"/>
              </c:ext>
            </c:extLst>
          </c:dPt>
          <c:dPt>
            <c:idx val="4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09-187E-40D0-949D-23EDEC1B904E}"/>
              </c:ext>
            </c:extLst>
          </c:dPt>
          <c:dPt>
            <c:idx val="5"/>
            <c:bubble3D val="0"/>
            <c:spPr>
              <a:solidFill>
                <a:srgbClr val="808080"/>
              </a:solidFill>
            </c:spPr>
            <c:extLst>
              <c:ext xmlns:c16="http://schemas.microsoft.com/office/drawing/2014/chart" uri="{C3380CC4-5D6E-409C-BE32-E72D297353CC}">
                <c16:uniqueId val="{0000000B-187E-40D0-949D-23EDEC1B904E}"/>
              </c:ext>
            </c:extLst>
          </c:dPt>
          <c:dPt>
            <c:idx val="6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D-187E-40D0-949D-23EDEC1B904E}"/>
              </c:ext>
            </c:extLst>
          </c:dPt>
          <c:dPt>
            <c:idx val="7"/>
            <c:bubble3D val="0"/>
            <c:spPr>
              <a:solidFill>
                <a:srgbClr val="A86F00"/>
              </a:solidFill>
            </c:spPr>
            <c:extLst>
              <c:ext xmlns:c16="http://schemas.microsoft.com/office/drawing/2014/chart" uri="{C3380CC4-5D6E-409C-BE32-E72D297353CC}">
                <c16:uniqueId val="{0000000F-187E-40D0-949D-23EDEC1B904E}"/>
              </c:ext>
            </c:extLst>
          </c:dPt>
          <c:dPt>
            <c:idx val="8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11-187E-40D0-949D-23EDEC1B904E}"/>
              </c:ext>
            </c:extLst>
          </c:dPt>
          <c:dPt>
            <c:idx val="9"/>
            <c:bubble3D val="0"/>
            <c:spPr>
              <a:solidFill>
                <a:srgbClr val="6C7A89"/>
              </a:solidFill>
            </c:spPr>
            <c:extLst>
              <c:ext xmlns:c16="http://schemas.microsoft.com/office/drawing/2014/chart" uri="{C3380CC4-5D6E-409C-BE32-E72D297353CC}">
                <c16:uniqueId val="{00000013-187E-40D0-949D-23EDEC1B904E}"/>
              </c:ext>
            </c:extLst>
          </c:dPt>
          <c:dPt>
            <c:idx val="10"/>
            <c:bubble3D val="0"/>
            <c:spPr>
              <a:solidFill>
                <a:srgbClr val="B9B3AC"/>
              </a:solidFill>
            </c:spPr>
            <c:extLst>
              <c:ext xmlns:c16="http://schemas.microsoft.com/office/drawing/2014/chart" uri="{C3380CC4-5D6E-409C-BE32-E72D297353CC}">
                <c16:uniqueId val="{00000015-187E-40D0-949D-23EDEC1B904E}"/>
              </c:ext>
            </c:extLst>
          </c:dPt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7E-40D0-949D-23EDEC1B904E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7E-40D0-949D-23EDEC1B904E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7E-40D0-949D-23EDEC1B904E}"/>
                </c:ext>
              </c:extLst>
            </c:dLbl>
            <c:dLbl>
              <c:idx val="3"/>
              <c:numFmt formatCode="&quot;MMM&quot;;&quot;MMM&quot;;&quot;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7E-40D0-949D-23EDEC1B904E}"/>
                </c:ext>
              </c:extLst>
            </c:dLbl>
            <c:dLbl>
              <c:idx val="4"/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187E-40D0-949D-23EDEC1B904E}"/>
                </c:ext>
              </c:extLst>
            </c:dLbl>
            <c:dLbl>
              <c:idx val="5"/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187E-40D0-949D-23EDEC1B904E}"/>
                </c:ext>
              </c:extLst>
            </c:dLbl>
            <c:dLbl>
              <c:idx val="6"/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187E-40D0-949D-23EDEC1B904E}"/>
                </c:ext>
              </c:extLst>
            </c:dLbl>
            <c:dLbl>
              <c:idx val="7"/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187E-40D0-949D-23EDEC1B904E}"/>
                </c:ext>
              </c:extLst>
            </c:dLbl>
            <c:dLbl>
              <c:idx val="8"/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187E-40D0-949D-23EDEC1B904E}"/>
                </c:ext>
              </c:extLst>
            </c:dLbl>
            <c:dLbl>
              <c:idx val="9"/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187E-40D0-949D-23EDEC1B904E}"/>
                </c:ext>
              </c:extLst>
            </c:dLbl>
            <c:dLbl>
              <c:idx val="1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187E-40D0-949D-23EDEC1B904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11"/>
              <c:pt idx="0">
                <c:v>Beaphar</c:v>
              </c:pt>
              <c:pt idx="1">
                <c:v>Laboratoire Biogance</c:v>
              </c:pt>
              <c:pt idx="2">
                <c:v>Laboratoire Francodex</c:v>
              </c:pt>
              <c:pt idx="3">
                <c:v>Group55</c:v>
              </c:pt>
              <c:pt idx="4">
                <c:v>Lakeland Cosmetics</c:v>
              </c:pt>
              <c:pt idx="5">
                <c:v>Laboratorios Bilper</c:v>
              </c:pt>
              <c:pt idx="6">
                <c:v>Artero</c:v>
              </c:pt>
              <c:pt idx="7">
                <c:v>Iv San Bernard</c:v>
              </c:pt>
              <c:pt idx="8">
                <c:v>Cosmetica Veneta</c:v>
              </c:pt>
              <c:pt idx="9">
                <c:v>K9 Competition</c:v>
              </c:pt>
              <c:pt idx="10">
                <c:v>Others</c:v>
              </c:pt>
            </c:strLit>
          </c:cat>
          <c:val>
            <c:numLit>
              <c:formatCode>General</c:formatCode>
              <c:ptCount val="11"/>
              <c:pt idx="0">
                <c:v>17.074931814674855</c:v>
              </c:pt>
              <c:pt idx="1">
                <c:v>12.550885260107192</c:v>
              </c:pt>
              <c:pt idx="2">
                <c:v>8.3800435626977183</c:v>
              </c:pt>
              <c:pt idx="3">
                <c:v>7.4449520148603341</c:v>
              </c:pt>
              <c:pt idx="4">
                <c:v>8.0466070830549192</c:v>
              </c:pt>
              <c:pt idx="5">
                <c:v>6.9192142292565153</c:v>
              </c:pt>
              <c:pt idx="6">
                <c:v>4.6910711746823317</c:v>
              </c:pt>
              <c:pt idx="7">
                <c:v>2.8651087985998398</c:v>
              </c:pt>
              <c:pt idx="8">
                <c:v>2.5603699333355889</c:v>
              </c:pt>
              <c:pt idx="9">
                <c:v>2.6169804142295043</c:v>
              </c:pt>
              <c:pt idx="10">
                <c:v>26.849835714501204</c:v>
              </c:pt>
            </c:numLit>
          </c:val>
          <c:extLst>
            <c:ext xmlns:c16="http://schemas.microsoft.com/office/drawing/2014/chart" uri="{C3380CC4-5D6E-409C-BE32-E72D297353CC}">
              <c16:uniqueId val="{00000016-187E-40D0-949D-23EDEC1B904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6D34-466A-A0C3-B6BFD50688AB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6D34-466A-A0C3-B6BFD50688AB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6D34-466A-A0C3-B6BFD50688AB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6D34-466A-A0C3-B6BFD50688AB}"/>
              </c:ext>
            </c:extLst>
          </c:dPt>
          <c:dPt>
            <c:idx val="4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09-6D34-466A-A0C3-B6BFD50688AB}"/>
              </c:ext>
            </c:extLst>
          </c:dPt>
          <c:dPt>
            <c:idx val="5"/>
            <c:bubble3D val="0"/>
            <c:spPr>
              <a:solidFill>
                <a:srgbClr val="808080"/>
              </a:solidFill>
            </c:spPr>
            <c:extLst>
              <c:ext xmlns:c16="http://schemas.microsoft.com/office/drawing/2014/chart" uri="{C3380CC4-5D6E-409C-BE32-E72D297353CC}">
                <c16:uniqueId val="{0000000B-6D34-466A-A0C3-B6BFD50688AB}"/>
              </c:ext>
            </c:extLst>
          </c:dPt>
          <c:dPt>
            <c:idx val="6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D-6D34-466A-A0C3-B6BFD50688AB}"/>
              </c:ext>
            </c:extLst>
          </c:dPt>
          <c:dPt>
            <c:idx val="7"/>
            <c:bubble3D val="0"/>
            <c:spPr>
              <a:solidFill>
                <a:srgbClr val="A86F00"/>
              </a:solidFill>
            </c:spPr>
            <c:extLst>
              <c:ext xmlns:c16="http://schemas.microsoft.com/office/drawing/2014/chart" uri="{C3380CC4-5D6E-409C-BE32-E72D297353CC}">
                <c16:uniqueId val="{0000000F-6D34-466A-A0C3-B6BFD50688AB}"/>
              </c:ext>
            </c:extLst>
          </c:dPt>
          <c:dPt>
            <c:idx val="8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11-6D34-466A-A0C3-B6BFD50688AB}"/>
              </c:ext>
            </c:extLst>
          </c:dPt>
          <c:dPt>
            <c:idx val="9"/>
            <c:bubble3D val="0"/>
            <c:spPr>
              <a:solidFill>
                <a:srgbClr val="6C7A89"/>
              </a:solidFill>
            </c:spPr>
            <c:extLst>
              <c:ext xmlns:c16="http://schemas.microsoft.com/office/drawing/2014/chart" uri="{C3380CC4-5D6E-409C-BE32-E72D297353CC}">
                <c16:uniqueId val="{00000013-6D34-466A-A0C3-B6BFD50688AB}"/>
              </c:ext>
            </c:extLst>
          </c:dPt>
          <c:dPt>
            <c:idx val="10"/>
            <c:bubble3D val="0"/>
            <c:spPr>
              <a:solidFill>
                <a:srgbClr val="B9B3AC"/>
              </a:solidFill>
            </c:spPr>
            <c:extLst>
              <c:ext xmlns:c16="http://schemas.microsoft.com/office/drawing/2014/chart" uri="{C3380CC4-5D6E-409C-BE32-E72D297353CC}">
                <c16:uniqueId val="{00000015-6D34-466A-A0C3-B6BFD50688AB}"/>
              </c:ext>
            </c:extLst>
          </c:dPt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6D34-466A-A0C3-B6BFD50688AB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D34-466A-A0C3-B6BFD50688AB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6D34-466A-A0C3-B6BFD50688AB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D34-466A-A0C3-B6BFD50688AB}"/>
                </c:ext>
              </c:extLst>
            </c:dLbl>
            <c:dLbl>
              <c:idx val="4"/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D34-466A-A0C3-B6BFD50688AB}"/>
                </c:ext>
              </c:extLst>
            </c:dLbl>
            <c:dLbl>
              <c:idx val="5"/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D34-466A-A0C3-B6BFD50688AB}"/>
                </c:ext>
              </c:extLst>
            </c:dLbl>
            <c:dLbl>
              <c:idx val="6"/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6D34-466A-A0C3-B6BFD50688AB}"/>
                </c:ext>
              </c:extLst>
            </c:dLbl>
            <c:dLbl>
              <c:idx val="7"/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6D34-466A-A0C3-B6BFD50688AB}"/>
                </c:ext>
              </c:extLst>
            </c:dLbl>
            <c:dLbl>
              <c:idx val="8"/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6D34-466A-A0C3-B6BFD50688AB}"/>
                </c:ext>
              </c:extLst>
            </c:dLbl>
            <c:dLbl>
              <c:idx val="9"/>
              <c:numFmt formatCode="&quot;MMM&quot;;&quot;MMM&quot;;&quot;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6D34-466A-A0C3-B6BFD50688AB}"/>
                </c:ext>
              </c:extLst>
            </c:dLbl>
            <c:dLbl>
              <c:idx val="1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6D34-466A-A0C3-B6BFD50688A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11"/>
              <c:pt idx="0">
                <c:v>Beaphar</c:v>
              </c:pt>
              <c:pt idx="1">
                <c:v>Laboratoire Biogance</c:v>
              </c:pt>
              <c:pt idx="2">
                <c:v>Laboratoire Francodex</c:v>
              </c:pt>
              <c:pt idx="3">
                <c:v>Group55</c:v>
              </c:pt>
              <c:pt idx="4">
                <c:v>Lakeland Cosmetics</c:v>
              </c:pt>
              <c:pt idx="5">
                <c:v>Laboratorios Bilper</c:v>
              </c:pt>
              <c:pt idx="6">
                <c:v>Artero</c:v>
              </c:pt>
              <c:pt idx="7">
                <c:v>Iv San Bernard</c:v>
              </c:pt>
              <c:pt idx="8">
                <c:v>Cosmetica Veneta</c:v>
              </c:pt>
              <c:pt idx="9">
                <c:v>K9 Competition</c:v>
              </c:pt>
              <c:pt idx="10">
                <c:v>Others</c:v>
              </c:pt>
            </c:strLit>
          </c:cat>
          <c:val>
            <c:numLit>
              <c:formatCode>General</c:formatCode>
              <c:ptCount val="11"/>
              <c:pt idx="0">
                <c:v>11.693602256562977</c:v>
              </c:pt>
              <c:pt idx="1">
                <c:v>9.9890701454987205</c:v>
              </c:pt>
              <c:pt idx="2">
                <c:v>11.264513875278551</c:v>
              </c:pt>
              <c:pt idx="3">
                <c:v>11.542462021743303</c:v>
              </c:pt>
              <c:pt idx="4">
                <c:v>9.1707126254733691</c:v>
              </c:pt>
              <c:pt idx="5">
                <c:v>5.6937156548427303</c:v>
              </c:pt>
              <c:pt idx="6">
                <c:v>3.7515880157620747</c:v>
              </c:pt>
              <c:pt idx="7">
                <c:v>3.2400766712412858</c:v>
              </c:pt>
              <c:pt idx="8">
                <c:v>3.3901784262482124</c:v>
              </c:pt>
              <c:pt idx="9">
                <c:v>3.0300946920704144</c:v>
              </c:pt>
              <c:pt idx="10">
                <c:v>27.23398561527836</c:v>
              </c:pt>
            </c:numLit>
          </c:val>
          <c:extLst>
            <c:ext xmlns:c16="http://schemas.microsoft.com/office/drawing/2014/chart" uri="{C3380CC4-5D6E-409C-BE32-E72D297353CC}">
              <c16:uniqueId val="{00000016-6D34-466A-A0C3-B6BFD50688A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0720-40DA-8832-DE8E824BA2CB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0720-40DA-8832-DE8E824BA2CB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0720-40DA-8832-DE8E824BA2CB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0720-40DA-8832-DE8E824BA2CB}"/>
              </c:ext>
            </c:extLst>
          </c:dPt>
          <c:dPt>
            <c:idx val="4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09-0720-40DA-8832-DE8E824BA2CB}"/>
              </c:ext>
            </c:extLst>
          </c:dPt>
          <c:dPt>
            <c:idx val="5"/>
            <c:bubble3D val="0"/>
            <c:spPr>
              <a:solidFill>
                <a:srgbClr val="808080"/>
              </a:solidFill>
            </c:spPr>
            <c:extLst>
              <c:ext xmlns:c16="http://schemas.microsoft.com/office/drawing/2014/chart" uri="{C3380CC4-5D6E-409C-BE32-E72D297353CC}">
                <c16:uniqueId val="{0000000B-0720-40DA-8832-DE8E824BA2CB}"/>
              </c:ext>
            </c:extLst>
          </c:dPt>
          <c:dPt>
            <c:idx val="6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D-0720-40DA-8832-DE8E824BA2CB}"/>
              </c:ext>
            </c:extLst>
          </c:dPt>
          <c:dPt>
            <c:idx val="7"/>
            <c:bubble3D val="0"/>
            <c:spPr>
              <a:solidFill>
                <a:srgbClr val="A86F00"/>
              </a:solidFill>
            </c:spPr>
            <c:extLst>
              <c:ext xmlns:c16="http://schemas.microsoft.com/office/drawing/2014/chart" uri="{C3380CC4-5D6E-409C-BE32-E72D297353CC}">
                <c16:uniqueId val="{0000000F-0720-40DA-8832-DE8E824BA2CB}"/>
              </c:ext>
            </c:extLst>
          </c:dPt>
          <c:dPt>
            <c:idx val="8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11-0720-40DA-8832-DE8E824BA2CB}"/>
              </c:ext>
            </c:extLst>
          </c:dPt>
          <c:dPt>
            <c:idx val="9"/>
            <c:bubble3D val="0"/>
            <c:spPr>
              <a:solidFill>
                <a:srgbClr val="6C7A89"/>
              </a:solidFill>
            </c:spPr>
            <c:extLst>
              <c:ext xmlns:c16="http://schemas.microsoft.com/office/drawing/2014/chart" uri="{C3380CC4-5D6E-409C-BE32-E72D297353CC}">
                <c16:uniqueId val="{00000013-0720-40DA-8832-DE8E824BA2CB}"/>
              </c:ext>
            </c:extLst>
          </c:dPt>
          <c:dPt>
            <c:idx val="10"/>
            <c:bubble3D val="0"/>
            <c:spPr>
              <a:solidFill>
                <a:srgbClr val="B9B3AC"/>
              </a:solidFill>
            </c:spPr>
            <c:extLst>
              <c:ext xmlns:c16="http://schemas.microsoft.com/office/drawing/2014/chart" uri="{C3380CC4-5D6E-409C-BE32-E72D297353CC}">
                <c16:uniqueId val="{00000015-0720-40DA-8832-DE8E824BA2CB}"/>
              </c:ext>
            </c:extLst>
          </c:dPt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720-40DA-8832-DE8E824BA2CB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720-40DA-8832-DE8E824BA2CB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0720-40DA-8832-DE8E824BA2CB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720-40DA-8832-DE8E824BA2CB}"/>
                </c:ext>
              </c:extLst>
            </c:dLbl>
            <c:dLbl>
              <c:idx val="4"/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720-40DA-8832-DE8E824BA2CB}"/>
                </c:ext>
              </c:extLst>
            </c:dLbl>
            <c:dLbl>
              <c:idx val="5"/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0720-40DA-8832-DE8E824BA2CB}"/>
                </c:ext>
              </c:extLst>
            </c:dLbl>
            <c:dLbl>
              <c:idx val="6"/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0720-40DA-8832-DE8E824BA2CB}"/>
                </c:ext>
              </c:extLst>
            </c:dLbl>
            <c:dLbl>
              <c:idx val="7"/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0720-40DA-8832-DE8E824BA2CB}"/>
                </c:ext>
              </c:extLst>
            </c:dLbl>
            <c:dLbl>
              <c:idx val="8"/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0720-40DA-8832-DE8E824BA2CB}"/>
                </c:ext>
              </c:extLst>
            </c:dLbl>
            <c:dLbl>
              <c:idx val="9"/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0720-40DA-8832-DE8E824BA2CB}"/>
                </c:ext>
              </c:extLst>
            </c:dLbl>
            <c:dLbl>
              <c:idx val="1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0720-40DA-8832-DE8E824BA2C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11"/>
              <c:pt idx="0">
                <c:v>Beaphar</c:v>
              </c:pt>
              <c:pt idx="1">
                <c:v>Laboratoire Biogance</c:v>
              </c:pt>
              <c:pt idx="2">
                <c:v>Laboratoire Francodex</c:v>
              </c:pt>
              <c:pt idx="3">
                <c:v>Group55</c:v>
              </c:pt>
              <c:pt idx="4">
                <c:v>Lakeland Cosmetics</c:v>
              </c:pt>
              <c:pt idx="5">
                <c:v>Laboratorios Bilper</c:v>
              </c:pt>
              <c:pt idx="6">
                <c:v>Artero</c:v>
              </c:pt>
              <c:pt idx="7">
                <c:v>Iv San Bernard</c:v>
              </c:pt>
              <c:pt idx="8">
                <c:v>Cosmetica Veneta</c:v>
              </c:pt>
              <c:pt idx="9">
                <c:v>K9 Competition</c:v>
              </c:pt>
              <c:pt idx="10">
                <c:v>Others</c:v>
              </c:pt>
            </c:strLit>
          </c:cat>
          <c:val>
            <c:numLit>
              <c:formatCode>General</c:formatCode>
              <c:ptCount val="11"/>
              <c:pt idx="0">
                <c:v>12.127056022733685</c:v>
              </c:pt>
              <c:pt idx="1">
                <c:v>13.515963661294228</c:v>
              </c:pt>
              <c:pt idx="2">
                <c:v>13.672509787055716</c:v>
              </c:pt>
              <c:pt idx="3">
                <c:v>10.747277583816313</c:v>
              </c:pt>
              <c:pt idx="4">
                <c:v>6.8538199238753492</c:v>
              </c:pt>
              <c:pt idx="5">
                <c:v>4.5275404515176012</c:v>
              </c:pt>
              <c:pt idx="6">
                <c:v>4.3515045192946022</c:v>
              </c:pt>
              <c:pt idx="7">
                <c:v>4.386878793633664</c:v>
              </c:pt>
              <c:pt idx="8">
                <c:v>3.8343075690671227</c:v>
              </c:pt>
              <c:pt idx="9">
                <c:v>2.614124464284719</c:v>
              </c:pt>
              <c:pt idx="10">
                <c:v>23.369017223427004</c:v>
              </c:pt>
            </c:numLit>
          </c:val>
          <c:extLst>
            <c:ext xmlns:c16="http://schemas.microsoft.com/office/drawing/2014/chart" uri="{C3380CC4-5D6E-409C-BE32-E72D297353CC}">
              <c16:uniqueId val="{00000016-0720-40DA-8832-DE8E824BA2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AB98-4BD3-BD72-7BB405FDD33D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AB98-4BD3-BD72-7BB405FDD33D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AB98-4BD3-BD72-7BB405FDD33D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AB98-4BD3-BD72-7BB405FDD33D}"/>
              </c:ext>
            </c:extLst>
          </c:dPt>
          <c:dPt>
            <c:idx val="4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09-AB98-4BD3-BD72-7BB405FDD33D}"/>
              </c:ext>
            </c:extLst>
          </c:dPt>
          <c:dPt>
            <c:idx val="5"/>
            <c:bubble3D val="0"/>
            <c:spPr>
              <a:solidFill>
                <a:srgbClr val="808080"/>
              </a:solidFill>
            </c:spPr>
            <c:extLst>
              <c:ext xmlns:c16="http://schemas.microsoft.com/office/drawing/2014/chart" uri="{C3380CC4-5D6E-409C-BE32-E72D297353CC}">
                <c16:uniqueId val="{0000000B-AB98-4BD3-BD72-7BB405FDD33D}"/>
              </c:ext>
            </c:extLst>
          </c:dPt>
          <c:dPt>
            <c:idx val="6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D-AB98-4BD3-BD72-7BB405FDD33D}"/>
              </c:ext>
            </c:extLst>
          </c:dPt>
          <c:dPt>
            <c:idx val="7"/>
            <c:bubble3D val="0"/>
            <c:spPr>
              <a:solidFill>
                <a:srgbClr val="A86F00"/>
              </a:solidFill>
            </c:spPr>
            <c:extLst>
              <c:ext xmlns:c16="http://schemas.microsoft.com/office/drawing/2014/chart" uri="{C3380CC4-5D6E-409C-BE32-E72D297353CC}">
                <c16:uniqueId val="{0000000F-AB98-4BD3-BD72-7BB405FDD33D}"/>
              </c:ext>
            </c:extLst>
          </c:dPt>
          <c:dPt>
            <c:idx val="8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11-AB98-4BD3-BD72-7BB405FDD33D}"/>
              </c:ext>
            </c:extLst>
          </c:dPt>
          <c:dPt>
            <c:idx val="9"/>
            <c:bubble3D val="0"/>
            <c:spPr>
              <a:solidFill>
                <a:srgbClr val="6C7A89"/>
              </a:solidFill>
            </c:spPr>
            <c:extLst>
              <c:ext xmlns:c16="http://schemas.microsoft.com/office/drawing/2014/chart" uri="{C3380CC4-5D6E-409C-BE32-E72D297353CC}">
                <c16:uniqueId val="{00000013-AB98-4BD3-BD72-7BB405FDD33D}"/>
              </c:ext>
            </c:extLst>
          </c:dPt>
          <c:dPt>
            <c:idx val="10"/>
            <c:bubble3D val="0"/>
            <c:spPr>
              <a:solidFill>
                <a:srgbClr val="B9B3AC"/>
              </a:solidFill>
            </c:spPr>
            <c:extLst>
              <c:ext xmlns:c16="http://schemas.microsoft.com/office/drawing/2014/chart" uri="{C3380CC4-5D6E-409C-BE32-E72D297353CC}">
                <c16:uniqueId val="{00000015-AB98-4BD3-BD72-7BB405FDD33D}"/>
              </c:ext>
            </c:extLst>
          </c:dPt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B98-4BD3-BD72-7BB405FDD33D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B98-4BD3-BD72-7BB405FDD33D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AB98-4BD3-BD72-7BB405FDD33D}"/>
                </c:ext>
              </c:extLst>
            </c:dLbl>
            <c:dLbl>
              <c:idx val="3"/>
              <c:numFmt formatCode="&quot;MMM&quot;;&quot;MMM&quot;;&quot;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AB98-4BD3-BD72-7BB405FDD33D}"/>
                </c:ext>
              </c:extLst>
            </c:dLbl>
            <c:dLbl>
              <c:idx val="4"/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AB98-4BD3-BD72-7BB405FDD33D}"/>
                </c:ext>
              </c:extLst>
            </c:dLbl>
            <c:dLbl>
              <c:idx val="5"/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AB98-4BD3-BD72-7BB405FDD33D}"/>
                </c:ext>
              </c:extLst>
            </c:dLbl>
            <c:dLbl>
              <c:idx val="6"/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AB98-4BD3-BD72-7BB405FDD33D}"/>
                </c:ext>
              </c:extLst>
            </c:dLbl>
            <c:dLbl>
              <c:idx val="7"/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AB98-4BD3-BD72-7BB405FDD33D}"/>
                </c:ext>
              </c:extLst>
            </c:dLbl>
            <c:dLbl>
              <c:idx val="8"/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AB98-4BD3-BD72-7BB405FDD33D}"/>
                </c:ext>
              </c:extLst>
            </c:dLbl>
            <c:dLbl>
              <c:idx val="9"/>
              <c:numFmt formatCode="&quot;MMM&quot;;&quot;MMM&quot;;&quot;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AB98-4BD3-BD72-7BB405FDD33D}"/>
                </c:ext>
              </c:extLst>
            </c:dLbl>
            <c:dLbl>
              <c:idx val="1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AB98-4BD3-BD72-7BB405FDD33D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11"/>
              <c:pt idx="0">
                <c:v>Beaphar</c:v>
              </c:pt>
              <c:pt idx="1">
                <c:v>Laboratoire Biogance</c:v>
              </c:pt>
              <c:pt idx="2">
                <c:v>Laboratoire Francodex</c:v>
              </c:pt>
              <c:pt idx="3">
                <c:v>Group55</c:v>
              </c:pt>
              <c:pt idx="4">
                <c:v>Lakeland Cosmetics</c:v>
              </c:pt>
              <c:pt idx="5">
                <c:v>Laboratorios Bilper</c:v>
              </c:pt>
              <c:pt idx="6">
                <c:v>Artero</c:v>
              </c:pt>
              <c:pt idx="7">
                <c:v>Iv San Bernard</c:v>
              </c:pt>
              <c:pt idx="8">
                <c:v>Cosmetica Veneta</c:v>
              </c:pt>
              <c:pt idx="9">
                <c:v>K9 Competition</c:v>
              </c:pt>
              <c:pt idx="10">
                <c:v>Others</c:v>
              </c:pt>
            </c:strLit>
          </c:cat>
          <c:val>
            <c:numLit>
              <c:formatCode>General</c:formatCode>
              <c:ptCount val="11"/>
              <c:pt idx="0">
                <c:v>16.616982878130067</c:v>
              </c:pt>
              <c:pt idx="1">
                <c:v>15.838373751146182</c:v>
              </c:pt>
              <c:pt idx="2">
                <c:v>12.226323321243273</c:v>
              </c:pt>
              <c:pt idx="3">
                <c:v>7.9560187929511281</c:v>
              </c:pt>
              <c:pt idx="4">
                <c:v>5.814138033935409</c:v>
              </c:pt>
              <c:pt idx="5">
                <c:v>5.6187624351137169</c:v>
              </c:pt>
              <c:pt idx="6">
                <c:v>5.8512590381909524</c:v>
              </c:pt>
              <c:pt idx="7">
                <c:v>4.7673503513720474</c:v>
              </c:pt>
              <c:pt idx="8">
                <c:v>3.1905899020099833</c:v>
              </c:pt>
              <c:pt idx="9">
                <c:v>1.9266097914653117</c:v>
              </c:pt>
              <c:pt idx="10">
                <c:v>20.193591704441936</c:v>
              </c:pt>
            </c:numLit>
          </c:val>
          <c:extLst>
            <c:ext xmlns:c16="http://schemas.microsoft.com/office/drawing/2014/chart" uri="{C3380CC4-5D6E-409C-BE32-E72D297353CC}">
              <c16:uniqueId val="{00000016-AB98-4BD3-BD72-7BB405FDD33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DD8C-41DC-851F-33FE95E5AFBB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DD8C-41DC-851F-33FE95E5AFBB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DD8C-41DC-851F-33FE95E5AFBB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DD8C-41DC-851F-33FE95E5AFBB}"/>
              </c:ext>
            </c:extLst>
          </c:dPt>
          <c:dPt>
            <c:idx val="4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09-DD8C-41DC-851F-33FE95E5AFBB}"/>
              </c:ext>
            </c:extLst>
          </c:dPt>
          <c:dPt>
            <c:idx val="5"/>
            <c:bubble3D val="0"/>
            <c:spPr>
              <a:solidFill>
                <a:srgbClr val="808080"/>
              </a:solidFill>
            </c:spPr>
            <c:extLst>
              <c:ext xmlns:c16="http://schemas.microsoft.com/office/drawing/2014/chart" uri="{C3380CC4-5D6E-409C-BE32-E72D297353CC}">
                <c16:uniqueId val="{0000000B-DD8C-41DC-851F-33FE95E5AFBB}"/>
              </c:ext>
            </c:extLst>
          </c:dPt>
          <c:dPt>
            <c:idx val="6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D-DD8C-41DC-851F-33FE95E5AFBB}"/>
              </c:ext>
            </c:extLst>
          </c:dPt>
          <c:dPt>
            <c:idx val="7"/>
            <c:bubble3D val="0"/>
            <c:spPr>
              <a:solidFill>
                <a:srgbClr val="A86F00"/>
              </a:solidFill>
            </c:spPr>
            <c:extLst>
              <c:ext xmlns:c16="http://schemas.microsoft.com/office/drawing/2014/chart" uri="{C3380CC4-5D6E-409C-BE32-E72D297353CC}">
                <c16:uniqueId val="{0000000F-DD8C-41DC-851F-33FE95E5AFBB}"/>
              </c:ext>
            </c:extLst>
          </c:dPt>
          <c:dPt>
            <c:idx val="8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11-DD8C-41DC-851F-33FE95E5AFBB}"/>
              </c:ext>
            </c:extLst>
          </c:dPt>
          <c:dPt>
            <c:idx val="9"/>
            <c:bubble3D val="0"/>
            <c:spPr>
              <a:solidFill>
                <a:srgbClr val="6C7A89"/>
              </a:solidFill>
            </c:spPr>
            <c:extLst>
              <c:ext xmlns:c16="http://schemas.microsoft.com/office/drawing/2014/chart" uri="{C3380CC4-5D6E-409C-BE32-E72D297353CC}">
                <c16:uniqueId val="{00000013-DD8C-41DC-851F-33FE95E5AFBB}"/>
              </c:ext>
            </c:extLst>
          </c:dPt>
          <c:dPt>
            <c:idx val="10"/>
            <c:bubble3D val="0"/>
            <c:spPr>
              <a:solidFill>
                <a:srgbClr val="B9B3AC"/>
              </a:solidFill>
            </c:spPr>
            <c:extLst>
              <c:ext xmlns:c16="http://schemas.microsoft.com/office/drawing/2014/chart" uri="{C3380CC4-5D6E-409C-BE32-E72D297353CC}">
                <c16:uniqueId val="{00000015-DD8C-41DC-851F-33FE95E5AFBB}"/>
              </c:ext>
            </c:extLst>
          </c:dPt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D8C-41DC-851F-33FE95E5AFBB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D8C-41DC-851F-33FE95E5AFBB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D8C-41DC-851F-33FE95E5AFBB}"/>
                </c:ext>
              </c:extLst>
            </c:dLbl>
            <c:dLbl>
              <c:idx val="3"/>
              <c:numFmt formatCode="&quot;MMM&quot;;&quot;MMM&quot;;&quot;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D8C-41DC-851F-33FE95E5AFBB}"/>
                </c:ext>
              </c:extLst>
            </c:dLbl>
            <c:dLbl>
              <c:idx val="4"/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D8C-41DC-851F-33FE95E5AFBB}"/>
                </c:ext>
              </c:extLst>
            </c:dLbl>
            <c:dLbl>
              <c:idx val="5"/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DD8C-41DC-851F-33FE95E5AFBB}"/>
                </c:ext>
              </c:extLst>
            </c:dLbl>
            <c:dLbl>
              <c:idx val="6"/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DD8C-41DC-851F-33FE95E5AFBB}"/>
                </c:ext>
              </c:extLst>
            </c:dLbl>
            <c:dLbl>
              <c:idx val="7"/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DD8C-41DC-851F-33FE95E5AFBB}"/>
                </c:ext>
              </c:extLst>
            </c:dLbl>
            <c:dLbl>
              <c:idx val="8"/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DD8C-41DC-851F-33FE95E5AFBB}"/>
                </c:ext>
              </c:extLst>
            </c:dLbl>
            <c:dLbl>
              <c:idx val="9"/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DD8C-41DC-851F-33FE95E5AFBB}"/>
                </c:ext>
              </c:extLst>
            </c:dLbl>
            <c:dLbl>
              <c:idx val="1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DD8C-41DC-851F-33FE95E5AFB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11"/>
              <c:pt idx="0">
                <c:v>Beaphar</c:v>
              </c:pt>
              <c:pt idx="1">
                <c:v>Laboratoire Biogance</c:v>
              </c:pt>
              <c:pt idx="2">
                <c:v>Laboratoire Francodex</c:v>
              </c:pt>
              <c:pt idx="3">
                <c:v>Group55</c:v>
              </c:pt>
              <c:pt idx="4">
                <c:v>Lakeland Cosmetics</c:v>
              </c:pt>
              <c:pt idx="5">
                <c:v>Laboratorios Bilper</c:v>
              </c:pt>
              <c:pt idx="6">
                <c:v>Artero</c:v>
              </c:pt>
              <c:pt idx="7">
                <c:v>Iv San Bernard</c:v>
              </c:pt>
              <c:pt idx="8">
                <c:v>Cosmetica Veneta</c:v>
              </c:pt>
              <c:pt idx="9">
                <c:v>K9 Competition</c:v>
              </c:pt>
              <c:pt idx="10">
                <c:v>Others</c:v>
              </c:pt>
            </c:strLit>
          </c:cat>
          <c:val>
            <c:numLit>
              <c:formatCode>General</c:formatCode>
              <c:ptCount val="11"/>
              <c:pt idx="0">
                <c:v>17.074931814674855</c:v>
              </c:pt>
              <c:pt idx="1">
                <c:v>12.550885260107192</c:v>
              </c:pt>
              <c:pt idx="2">
                <c:v>8.3800435626977183</c:v>
              </c:pt>
              <c:pt idx="3">
                <c:v>7.4449520148603341</c:v>
              </c:pt>
              <c:pt idx="4">
                <c:v>8.0466070830549192</c:v>
              </c:pt>
              <c:pt idx="5">
                <c:v>6.9192142292565153</c:v>
              </c:pt>
              <c:pt idx="6">
                <c:v>4.6910711746823317</c:v>
              </c:pt>
              <c:pt idx="7">
                <c:v>2.8651087985998398</c:v>
              </c:pt>
              <c:pt idx="8">
                <c:v>2.5603699333355889</c:v>
              </c:pt>
              <c:pt idx="9">
                <c:v>2.6169804142295043</c:v>
              </c:pt>
              <c:pt idx="10">
                <c:v>26.849835714501204</c:v>
              </c:pt>
            </c:numLit>
          </c:val>
          <c:extLst>
            <c:ext xmlns:c16="http://schemas.microsoft.com/office/drawing/2014/chart" uri="{C3380CC4-5D6E-409C-BE32-E72D297353CC}">
              <c16:uniqueId val="{00000016-DD8C-41DC-851F-33FE95E5AF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3D3B-45E3-B9D6-3B84A6977D18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3D3B-45E3-B9D6-3B84A6977D18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3D3B-45E3-B9D6-3B84A6977D18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3D3B-45E3-B9D6-3B84A6977D18}"/>
              </c:ext>
            </c:extLst>
          </c:dPt>
          <c:dPt>
            <c:idx val="4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09-3D3B-45E3-B9D6-3B84A6977D18}"/>
              </c:ext>
            </c:extLst>
          </c:dPt>
          <c:dPt>
            <c:idx val="5"/>
            <c:bubble3D val="0"/>
            <c:spPr>
              <a:solidFill>
                <a:srgbClr val="808080"/>
              </a:solidFill>
            </c:spPr>
            <c:extLst>
              <c:ext xmlns:c16="http://schemas.microsoft.com/office/drawing/2014/chart" uri="{C3380CC4-5D6E-409C-BE32-E72D297353CC}">
                <c16:uniqueId val="{0000000B-3D3B-45E3-B9D6-3B84A6977D18}"/>
              </c:ext>
            </c:extLst>
          </c:dPt>
          <c:dPt>
            <c:idx val="6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D-3D3B-45E3-B9D6-3B84A6977D18}"/>
              </c:ext>
            </c:extLst>
          </c:dPt>
          <c:dPt>
            <c:idx val="7"/>
            <c:bubble3D val="0"/>
            <c:spPr>
              <a:solidFill>
                <a:srgbClr val="A86F00"/>
              </a:solidFill>
            </c:spPr>
            <c:extLst>
              <c:ext xmlns:c16="http://schemas.microsoft.com/office/drawing/2014/chart" uri="{C3380CC4-5D6E-409C-BE32-E72D297353CC}">
                <c16:uniqueId val="{0000000F-3D3B-45E3-B9D6-3B84A6977D18}"/>
              </c:ext>
            </c:extLst>
          </c:dPt>
          <c:dPt>
            <c:idx val="8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11-3D3B-45E3-B9D6-3B84A6977D18}"/>
              </c:ext>
            </c:extLst>
          </c:dPt>
          <c:dPt>
            <c:idx val="9"/>
            <c:bubble3D val="0"/>
            <c:spPr>
              <a:solidFill>
                <a:srgbClr val="6C7A89"/>
              </a:solidFill>
            </c:spPr>
            <c:extLst>
              <c:ext xmlns:c16="http://schemas.microsoft.com/office/drawing/2014/chart" uri="{C3380CC4-5D6E-409C-BE32-E72D297353CC}">
                <c16:uniqueId val="{00000013-3D3B-45E3-B9D6-3B84A6977D18}"/>
              </c:ext>
            </c:extLst>
          </c:dPt>
          <c:dPt>
            <c:idx val="10"/>
            <c:bubble3D val="0"/>
            <c:spPr>
              <a:solidFill>
                <a:srgbClr val="B9B3AC"/>
              </a:solidFill>
            </c:spPr>
            <c:extLst>
              <c:ext xmlns:c16="http://schemas.microsoft.com/office/drawing/2014/chart" uri="{C3380CC4-5D6E-409C-BE32-E72D297353CC}">
                <c16:uniqueId val="{00000015-3D3B-45E3-B9D6-3B84A6977D18}"/>
              </c:ext>
            </c:extLst>
          </c:dPt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3D3B-45E3-B9D6-3B84A6977D18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3D3B-45E3-B9D6-3B84A6977D18}"/>
                </c:ext>
              </c:extLst>
            </c:dLbl>
            <c:dLbl>
              <c:idx val="2"/>
              <c:numFmt formatCode="&quot;MMM&quot;;&quot;MMM&quot;;&quot;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3D3B-45E3-B9D6-3B84A6977D18}"/>
                </c:ext>
              </c:extLst>
            </c:dLbl>
            <c:dLbl>
              <c:idx val="3"/>
              <c:numFmt formatCode="&quot;MMM&quot;;&quot;MMM&quot;;&quot;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3D3B-45E3-B9D6-3B84A6977D18}"/>
                </c:ext>
              </c:extLst>
            </c:dLbl>
            <c:dLbl>
              <c:idx val="4"/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3D3B-45E3-B9D6-3B84A6977D18}"/>
                </c:ext>
              </c:extLst>
            </c:dLbl>
            <c:dLbl>
              <c:idx val="5"/>
              <c:numFmt formatCode="&quot;MMM&quot;;&quot;MMM&quot;;&quot;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3D3B-45E3-B9D6-3B84A6977D18}"/>
                </c:ext>
              </c:extLst>
            </c:dLbl>
            <c:dLbl>
              <c:idx val="6"/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3D3B-45E3-B9D6-3B84A6977D18}"/>
                </c:ext>
              </c:extLst>
            </c:dLbl>
            <c:dLbl>
              <c:idx val="7"/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3D3B-45E3-B9D6-3B84A6977D18}"/>
                </c:ext>
              </c:extLst>
            </c:dLbl>
            <c:dLbl>
              <c:idx val="8"/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3D3B-45E3-B9D6-3B84A6977D18}"/>
                </c:ext>
              </c:extLst>
            </c:dLbl>
            <c:dLbl>
              <c:idx val="9"/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3D3B-45E3-B9D6-3B84A6977D18}"/>
                </c:ext>
              </c:extLst>
            </c:dLbl>
            <c:dLbl>
              <c:idx val="1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3D3B-45E3-B9D6-3B84A6977D18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11"/>
              <c:pt idx="0">
                <c:v>Beaphar</c:v>
              </c:pt>
              <c:pt idx="1">
                <c:v>Laboratoire Biogance</c:v>
              </c:pt>
              <c:pt idx="2">
                <c:v>Laboratoire Francodex</c:v>
              </c:pt>
              <c:pt idx="3">
                <c:v>Group55</c:v>
              </c:pt>
              <c:pt idx="4">
                <c:v>Lakeland Cosmetics</c:v>
              </c:pt>
              <c:pt idx="5">
                <c:v>Laboratorios Bilper</c:v>
              </c:pt>
              <c:pt idx="6">
                <c:v>Artero</c:v>
              </c:pt>
              <c:pt idx="7">
                <c:v>Iv San Bernard</c:v>
              </c:pt>
              <c:pt idx="8">
                <c:v>Cosmetica Veneta</c:v>
              </c:pt>
              <c:pt idx="9">
                <c:v>K9 Competition</c:v>
              </c:pt>
              <c:pt idx="10">
                <c:v>Others</c:v>
              </c:pt>
            </c:strLit>
          </c:cat>
          <c:val>
            <c:numLit>
              <c:formatCode>General</c:formatCode>
              <c:ptCount val="11"/>
              <c:pt idx="0">
                <c:v>15.365984237292665</c:v>
              </c:pt>
              <c:pt idx="1">
                <c:v>13.101357133419196</c:v>
              </c:pt>
              <c:pt idx="2">
                <c:v>8.9089506491715547</c:v>
              </c:pt>
              <c:pt idx="3">
                <c:v>6.4344931650847892</c:v>
              </c:pt>
              <c:pt idx="4">
                <c:v>6.5360302078107786</c:v>
              </c:pt>
              <c:pt idx="5">
                <c:v>6.3918741585913033</c:v>
              </c:pt>
              <c:pt idx="6">
                <c:v>4.9844455997250821</c:v>
              </c:pt>
              <c:pt idx="7">
                <c:v>2.9751908755979728</c:v>
              </c:pt>
              <c:pt idx="8">
                <c:v>2.1468817361795249</c:v>
              </c:pt>
              <c:pt idx="9">
                <c:v>2.1554990552100683</c:v>
              </c:pt>
              <c:pt idx="10">
                <c:v>30.999293181917075</c:v>
              </c:pt>
            </c:numLit>
          </c:val>
          <c:extLst>
            <c:ext xmlns:c16="http://schemas.microsoft.com/office/drawing/2014/chart" uri="{C3380CC4-5D6E-409C-BE32-E72D297353CC}">
              <c16:uniqueId val="{00000016-3D3B-45E3-B9D6-3B84A6977D1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823E-4FA7-9E71-09F44A91C2F0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823E-4FA7-9E71-09F44A91C2F0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823E-4FA7-9E71-09F44A91C2F0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823E-4FA7-9E71-09F44A91C2F0}"/>
              </c:ext>
            </c:extLst>
          </c:dPt>
          <c:dPt>
            <c:idx val="4"/>
            <c:bubble3D val="0"/>
            <c:spPr>
              <a:solidFill>
                <a:srgbClr val="A35313"/>
              </a:solidFill>
            </c:spPr>
            <c:extLst>
              <c:ext xmlns:c16="http://schemas.microsoft.com/office/drawing/2014/chart" uri="{C3380CC4-5D6E-409C-BE32-E72D297353CC}">
                <c16:uniqueId val="{00000009-823E-4FA7-9E71-09F44A91C2F0}"/>
              </c:ext>
            </c:extLst>
          </c:dPt>
          <c:dPt>
            <c:idx val="5"/>
            <c:bubble3D val="0"/>
            <c:spPr>
              <a:solidFill>
                <a:srgbClr val="808080"/>
              </a:solidFill>
            </c:spPr>
            <c:extLst>
              <c:ext xmlns:c16="http://schemas.microsoft.com/office/drawing/2014/chart" uri="{C3380CC4-5D6E-409C-BE32-E72D297353CC}">
                <c16:uniqueId val="{0000000B-823E-4FA7-9E71-09F44A91C2F0}"/>
              </c:ext>
            </c:extLst>
          </c:dPt>
          <c:dPt>
            <c:idx val="6"/>
            <c:bubble3D val="0"/>
            <c:spPr>
              <a:solidFill>
                <a:srgbClr val="0E72AE"/>
              </a:solidFill>
            </c:spPr>
            <c:extLst>
              <c:ext xmlns:c16="http://schemas.microsoft.com/office/drawing/2014/chart" uri="{C3380CC4-5D6E-409C-BE32-E72D297353CC}">
                <c16:uniqueId val="{0000000D-823E-4FA7-9E71-09F44A91C2F0}"/>
              </c:ext>
            </c:extLst>
          </c:dPt>
          <c:dPt>
            <c:idx val="7"/>
            <c:bubble3D val="0"/>
            <c:spPr>
              <a:solidFill>
                <a:srgbClr val="A86F00"/>
              </a:solidFill>
            </c:spPr>
            <c:extLst>
              <c:ext xmlns:c16="http://schemas.microsoft.com/office/drawing/2014/chart" uri="{C3380CC4-5D6E-409C-BE32-E72D297353CC}">
                <c16:uniqueId val="{0000000F-823E-4FA7-9E71-09F44A91C2F0}"/>
              </c:ext>
            </c:extLst>
          </c:dPt>
          <c:dPt>
            <c:idx val="8"/>
            <c:bubble3D val="0"/>
            <c:spPr>
              <a:solidFill>
                <a:srgbClr val="0B2E4A"/>
              </a:solidFill>
            </c:spPr>
            <c:extLst>
              <c:ext xmlns:c16="http://schemas.microsoft.com/office/drawing/2014/chart" uri="{C3380CC4-5D6E-409C-BE32-E72D297353CC}">
                <c16:uniqueId val="{00000011-823E-4FA7-9E71-09F44A91C2F0}"/>
              </c:ext>
            </c:extLst>
          </c:dPt>
          <c:dPt>
            <c:idx val="9"/>
            <c:bubble3D val="0"/>
            <c:spPr>
              <a:solidFill>
                <a:srgbClr val="6C7A89"/>
              </a:solidFill>
            </c:spPr>
            <c:extLst>
              <c:ext xmlns:c16="http://schemas.microsoft.com/office/drawing/2014/chart" uri="{C3380CC4-5D6E-409C-BE32-E72D297353CC}">
                <c16:uniqueId val="{00000013-823E-4FA7-9E71-09F44A91C2F0}"/>
              </c:ext>
            </c:extLst>
          </c:dPt>
          <c:dPt>
            <c:idx val="10"/>
            <c:bubble3D val="0"/>
            <c:spPr>
              <a:solidFill>
                <a:srgbClr val="B9B3AC"/>
              </a:solidFill>
            </c:spPr>
            <c:extLst>
              <c:ext xmlns:c16="http://schemas.microsoft.com/office/drawing/2014/chart" uri="{C3380CC4-5D6E-409C-BE32-E72D297353CC}">
                <c16:uniqueId val="{00000015-823E-4FA7-9E71-09F44A91C2F0}"/>
              </c:ext>
            </c:extLst>
          </c:dPt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23E-4FA7-9E71-09F44A91C2F0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23E-4FA7-9E71-09F44A91C2F0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823E-4FA7-9E71-09F44A91C2F0}"/>
                </c:ext>
              </c:extLst>
            </c:dLbl>
            <c:dLbl>
              <c:idx val="3"/>
              <c:numFmt formatCode="&quot;MMMM&quot;;&quot;MMMM&quot;;&quot;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23E-4FA7-9E71-09F44A91C2F0}"/>
                </c:ext>
              </c:extLst>
            </c:dLbl>
            <c:dLbl>
              <c:idx val="4"/>
              <c:numFmt formatCode="&quot;MMM&quot;;&quot;MMM&quot;;&quot;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23E-4FA7-9E71-09F44A91C2F0}"/>
                </c:ext>
              </c:extLst>
            </c:dLbl>
            <c:dLbl>
              <c:idx val="5"/>
              <c:numFmt formatCode="&quot;MMM&quot;;&quot;MMM&quot;;&quot;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823E-4FA7-9E71-09F44A91C2F0}"/>
                </c:ext>
              </c:extLst>
            </c:dLbl>
            <c:dLbl>
              <c:idx val="6"/>
              <c:numFmt formatCode="&quot;MMM&quot;;&quot;MMM&quot;;&quot;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823E-4FA7-9E71-09F44A91C2F0}"/>
                </c:ext>
              </c:extLst>
            </c:dLbl>
            <c:dLbl>
              <c:idx val="7"/>
              <c:numFmt formatCode="&quot;MMM&quot;;&quot;MMM&quot;;&quot;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823E-4FA7-9E71-09F44A91C2F0}"/>
                </c:ext>
              </c:extLst>
            </c:dLbl>
            <c:dLbl>
              <c:idx val="8"/>
              <c:numFmt formatCode="&quot;MMM&quot;;&quot;MMM&quot;;&quot;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823E-4FA7-9E71-09F44A91C2F0}"/>
                </c:ext>
              </c:extLst>
            </c:dLbl>
            <c:dLbl>
              <c:idx val="9"/>
              <c:numFmt formatCode="&quot;MMM&quot;;&quot;MMM&quot;;&quot;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823E-4FA7-9E71-09F44A91C2F0}"/>
                </c:ext>
              </c:extLst>
            </c:dLbl>
            <c:dLbl>
              <c:idx val="1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823E-4FA7-9E71-09F44A91C2F0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11"/>
              <c:pt idx="0">
                <c:v>Beaphar</c:v>
              </c:pt>
              <c:pt idx="1">
                <c:v>Laboratoire Biogance</c:v>
              </c:pt>
              <c:pt idx="2">
                <c:v>Laboratoire Francodex</c:v>
              </c:pt>
              <c:pt idx="3">
                <c:v>Group55</c:v>
              </c:pt>
              <c:pt idx="4">
                <c:v>Lakeland Cosmetics</c:v>
              </c:pt>
              <c:pt idx="5">
                <c:v>Laboratorios Bilper</c:v>
              </c:pt>
              <c:pt idx="6">
                <c:v>Artero</c:v>
              </c:pt>
              <c:pt idx="7">
                <c:v>Iv San Bernard</c:v>
              </c:pt>
              <c:pt idx="8">
                <c:v>Cosmetica Veneta</c:v>
              </c:pt>
              <c:pt idx="9">
                <c:v>K9 Competition</c:v>
              </c:pt>
              <c:pt idx="10">
                <c:v>Others</c:v>
              </c:pt>
            </c:strLit>
          </c:cat>
          <c:val>
            <c:numLit>
              <c:formatCode>General</c:formatCode>
              <c:ptCount val="11"/>
              <c:pt idx="0">
                <c:v>13.257277768762723</c:v>
              </c:pt>
              <c:pt idx="1">
                <c:v>11.068290254169384</c:v>
              </c:pt>
              <c:pt idx="2">
                <c:v>12.589358575079316</c:v>
              </c:pt>
              <c:pt idx="3">
                <c:v>12.215437450069626</c:v>
              </c:pt>
              <c:pt idx="4">
                <c:v>8.6517014910372616</c:v>
              </c:pt>
              <c:pt idx="5">
                <c:v>5.2259161765484574</c:v>
              </c:pt>
              <c:pt idx="6">
                <c:v>4.4928995088464045</c:v>
              </c:pt>
              <c:pt idx="7">
                <c:v>4.585103214436975</c:v>
              </c:pt>
              <c:pt idx="8">
                <c:v>3.9997528784240628</c:v>
              </c:pt>
              <c:pt idx="9">
                <c:v>2.5965461190797754</c:v>
              </c:pt>
              <c:pt idx="10">
                <c:v>21.317716563546018</c:v>
              </c:pt>
            </c:numLit>
          </c:val>
          <c:extLst>
            <c:ext xmlns:c16="http://schemas.microsoft.com/office/drawing/2014/chart" uri="{C3380CC4-5D6E-409C-BE32-E72D297353CC}">
              <c16:uniqueId val="{00000016-823E-4FA7-9E71-09F44A91C2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S1</c:v>
          </c:tx>
          <c:spPr>
            <a:solidFill>
              <a:srgbClr val="1668A8"/>
            </a:solidFill>
            <a:ln>
              <a:noFill/>
            </a:ln>
          </c:spPr>
          <c:invertIfNegative val="1"/>
          <c:dLbls>
            <c:dLbl>
              <c:idx val="0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2F3-4186-B9FF-83D014C6DCF9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2F3-4186-B9FF-83D014C6DCF9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02F3-4186-B9FF-83D014C6DCF9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2F3-4186-B9FF-83D014C6DCF9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4"/>
              <c:pt idx="0">
                <c:v>E-commerce</c:v>
              </c:pt>
              <c:pt idx="1">
                <c:v>Pet Specialty Retail</c:v>
              </c:pt>
              <c:pt idx="2">
                <c:v>Veterinary &amp; Animal Health</c:v>
              </c:pt>
              <c:pt idx="3">
                <c:v>General Retail</c:v>
              </c:pt>
            </c:strLit>
          </c:cat>
          <c:val>
            <c:numLit>
              <c:formatCode>General</c:formatCode>
              <c:ptCount val="4"/>
              <c:pt idx="0">
                <c:v>245.06593474654844</c:v>
              </c:pt>
              <c:pt idx="1">
                <c:v>136.3388649495522</c:v>
              </c:pt>
              <c:pt idx="2">
                <c:v>171.61181912838902</c:v>
              </c:pt>
              <c:pt idx="3">
                <c:v>324.19092878122404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4-02F3-4186-B9FF-83D014C6DCF9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427.93202599121577"/>
          <c:min val="0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S1</c:v>
          </c:tx>
          <c:spPr>
            <a:solidFill>
              <a:srgbClr val="0E3A5F"/>
            </a:solidFill>
            <a:ln>
              <a:noFill/>
            </a:ln>
          </c:spPr>
          <c:invertIfNegative val="1"/>
          <c:dLbls>
            <c:dLbl>
              <c:idx val="0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2F3-4FD6-994B-2A13081B60C9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2F3-4FD6-994B-2A13081B60C9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2F3-4FD6-994B-2A13081B60C9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2F3-4FD6-994B-2A13081B60C9}"/>
                </c:ext>
              </c:extLst>
            </c:dLbl>
            <c:dLbl>
              <c:idx val="4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2F3-4FD6-994B-2A13081B60C9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Germany</c:v>
              </c:pt>
              <c:pt idx="1">
                <c:v>United Kingdom</c:v>
              </c:pt>
              <c:pt idx="2">
                <c:v>France</c:v>
              </c:pt>
              <c:pt idx="3">
                <c:v>Italy</c:v>
              </c:pt>
              <c:pt idx="4">
                <c:v>Rest of Europe</c:v>
              </c:pt>
            </c:strLit>
          </c:cat>
          <c:val>
            <c:numLit>
              <c:formatCode>General</c:formatCode>
              <c:ptCount val="5"/>
              <c:pt idx="0">
                <c:v>291.21650971442705</c:v>
              </c:pt>
              <c:pt idx="1">
                <c:v>177.26284107458014</c:v>
              </c:pt>
              <c:pt idx="2">
                <c:v>95.592711417801041</c:v>
              </c:pt>
              <c:pt idx="3">
                <c:v>108.01244664842503</c:v>
              </c:pt>
              <c:pt idx="4">
                <c:v>205.12303875048048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B2F3-4FD6-994B-2A13081B60C9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384.40579282304373"/>
          <c:min val="0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618C-4727-8336-7418C29E2E39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618C-4727-8336-7418C29E2E39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618C-4727-8336-7418C29E2E39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618C-4727-8336-7418C29E2E39}"/>
              </c:ext>
            </c:extLst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618C-4727-8336-7418C29E2E39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18C-4727-8336-7418C29E2E39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618C-4727-8336-7418C29E2E39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18C-4727-8336-7418C29E2E39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4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Dental &amp; Oral Care Products</c:v>
              </c:pt>
            </c:strLit>
          </c:cat>
          <c:val>
            <c:numLit>
              <c:formatCode>General</c:formatCode>
              <c:ptCount val="4"/>
              <c:pt idx="0">
                <c:v>101.07072628683687</c:v>
              </c:pt>
              <c:pt idx="1">
                <c:v>140.51179942064496</c:v>
              </c:pt>
              <c:pt idx="2">
                <c:v>262.00910885411162</c:v>
              </c:pt>
              <c:pt idx="3">
                <c:v>373.61591304412019</c:v>
              </c:pt>
            </c:numLit>
          </c:val>
          <c:extLst>
            <c:ext xmlns:c16="http://schemas.microsoft.com/office/drawing/2014/chart" uri="{C3380CC4-5D6E-409C-BE32-E72D297353CC}">
              <c16:uniqueId val="{00000008-618C-4727-8336-7418C29E2E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SAM</c:v>
          </c:tx>
          <c:spPr>
            <a:solidFill>
              <a:srgbClr val="69B1E0"/>
            </a:solidFill>
            <a:ln>
              <a:noFill/>
            </a:ln>
          </c:spPr>
          <c:invertIfNegative val="1"/>
          <c:dLbls>
            <c:dLbl>
              <c:idx val="0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D361-4F98-84AC-A8ED9A85F454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361-4F98-84AC-A8ED9A85F454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361-4F98-84AC-A8ED9A85F454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361-4F98-84AC-A8ED9A85F454}"/>
                </c:ext>
              </c:extLst>
            </c:dLbl>
            <c:dLbl>
              <c:idx val="4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361-4F98-84AC-A8ED9A85F454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Germany</c:v>
              </c:pt>
              <c:pt idx="1">
                <c:v>United Kingdom</c:v>
              </c:pt>
              <c:pt idx="2">
                <c:v>France</c:v>
              </c:pt>
              <c:pt idx="3">
                <c:v>Italy</c:v>
              </c:pt>
              <c:pt idx="4">
                <c:v>Rest of Europe</c:v>
              </c:pt>
            </c:strLit>
          </c:cat>
          <c:val>
            <c:numLit>
              <c:formatCode>General</c:formatCode>
              <c:ptCount val="5"/>
              <c:pt idx="0">
                <c:v>888.52826399999992</c:v>
              </c:pt>
              <c:pt idx="1">
                <c:v>798.70004365779641</c:v>
              </c:pt>
              <c:pt idx="2">
                <c:v>583.70397571333547</c:v>
              </c:pt>
              <c:pt idx="3">
                <c:v>373.95379001520899</c:v>
              </c:pt>
              <c:pt idx="4">
                <c:v>296.68113463427289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D361-4F98-84AC-A8ED9A85F454}"/>
            </c:ext>
          </c:extLst>
        </c:ser>
        <c:ser>
          <c:idx val="1"/>
          <c:order val="1"/>
          <c:tx>
            <c:v>SOM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361-4F98-84AC-A8ED9A85F454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361-4F98-84AC-A8ED9A85F454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361-4F98-84AC-A8ED9A85F454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361-4F98-84AC-A8ED9A85F454}"/>
                </c:ext>
              </c:extLst>
            </c:dLbl>
            <c:dLbl>
              <c:idx val="4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361-4F98-84AC-A8ED9A85F454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Germany</c:v>
              </c:pt>
              <c:pt idx="1">
                <c:v>United Kingdom</c:v>
              </c:pt>
              <c:pt idx="2">
                <c:v>France</c:v>
              </c:pt>
              <c:pt idx="3">
                <c:v>Italy</c:v>
              </c:pt>
              <c:pt idx="4">
                <c:v>Rest of Europe</c:v>
              </c:pt>
            </c:strLit>
          </c:cat>
          <c:val>
            <c:numLit>
              <c:formatCode>General</c:formatCode>
              <c:ptCount val="5"/>
              <c:pt idx="0">
                <c:v>291.21650971442705</c:v>
              </c:pt>
              <c:pt idx="1">
                <c:v>177.26284107458014</c:v>
              </c:pt>
              <c:pt idx="2">
                <c:v>95.592711417801041</c:v>
              </c:pt>
              <c:pt idx="3">
                <c:v>108.01244664842503</c:v>
              </c:pt>
              <c:pt idx="4">
                <c:v>205.12303875048048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D361-4F98-84AC-A8ED9A85F45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1137.31617792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S1</c:v>
          </c:tx>
          <c:spPr>
            <a:solidFill>
              <a:srgbClr val="1668A8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E0E8-4BA5-A1DC-EE73C3A921C2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0E8-4BA5-A1DC-EE73C3A921C2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0E8-4BA5-A1DC-EE73C3A921C2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0E8-4BA5-A1DC-EE73C3A921C2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4"/>
              <c:pt idx="0">
                <c:v>E-commerce</c:v>
              </c:pt>
              <c:pt idx="1">
                <c:v>Pet Specialty Retail</c:v>
              </c:pt>
              <c:pt idx="2">
                <c:v>Veterinary &amp; Animal Health</c:v>
              </c:pt>
              <c:pt idx="3">
                <c:v>General Retail</c:v>
              </c:pt>
            </c:strLit>
          </c:cat>
          <c:val>
            <c:numLit>
              <c:formatCode>General</c:formatCode>
              <c:ptCount val="4"/>
              <c:pt idx="0">
                <c:v>88.483381297320747</c:v>
              </c:pt>
              <c:pt idx="1">
                <c:v>123.0124644560787</c:v>
              </c:pt>
              <c:pt idx="2">
                <c:v>229.3785028942541</c:v>
              </c:pt>
              <c:pt idx="3">
                <c:v>327.08579929275714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4-E0E8-4BA5-A1DC-EE73C3A921C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431.75325506643946"/>
          <c:min val="0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S1</c:v>
          </c:tx>
          <c:spPr>
            <a:solidFill>
              <a:srgbClr val="0E3A5F"/>
            </a:solidFill>
            <a:ln>
              <a:noFill/>
            </a:ln>
          </c:spPr>
          <c:invertIfNegative val="1"/>
          <c:dLbls>
            <c:dLbl>
              <c:idx val="0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54-4411-ADE9-D8C6F336E33F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E54-4411-ADE9-D8C6F336E33F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E54-4411-ADE9-D8C6F336E33F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E54-4411-ADE9-D8C6F336E33F}"/>
                </c:ext>
              </c:extLst>
            </c:dLbl>
            <c:dLbl>
              <c:idx val="4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E54-4411-ADE9-D8C6F336E33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Germany</c:v>
              </c:pt>
              <c:pt idx="1">
                <c:v>United Kingdom</c:v>
              </c:pt>
              <c:pt idx="2">
                <c:v>France</c:v>
              </c:pt>
              <c:pt idx="3">
                <c:v>Italy</c:v>
              </c:pt>
              <c:pt idx="4">
                <c:v>Rest of Europe</c:v>
              </c:pt>
            </c:strLit>
          </c:cat>
          <c:val>
            <c:numLit>
              <c:formatCode>General</c:formatCode>
              <c:ptCount val="5"/>
              <c:pt idx="0">
                <c:v>138.81015001893081</c:v>
              </c:pt>
              <c:pt idx="1">
                <c:v>77.2250060647184</c:v>
              </c:pt>
              <c:pt idx="2">
                <c:v>97.204298846634387</c:v>
              </c:pt>
              <c:pt idx="3">
                <c:v>183.62809790532108</c:v>
              </c:pt>
              <c:pt idx="4">
                <c:v>271.09259510480604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7E54-4411-ADE9-D8C6F336E33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357.842225538344"/>
          <c:min val="0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495C-465C-AF4F-D718ED9AC4E2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495C-465C-AF4F-D718ED9AC4E2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495C-465C-AF4F-D718ED9AC4E2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495C-465C-AF4F-D718ED9AC4E2}"/>
              </c:ext>
            </c:extLst>
          </c:dPt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95C-465C-AF4F-D718ED9AC4E2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95C-465C-AF4F-D718ED9AC4E2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495C-465C-AF4F-D718ED9AC4E2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495C-465C-AF4F-D718ED9AC4E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4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Dental &amp; Oral Care Products</c:v>
              </c:pt>
            </c:strLit>
          </c:cat>
          <c:val>
            <c:numLit>
              <c:formatCode>General</c:formatCode>
              <c:ptCount val="4"/>
              <c:pt idx="0">
                <c:v>97.251996990623354</c:v>
              </c:pt>
              <c:pt idx="1">
                <c:v>177.90845212012633</c:v>
              </c:pt>
              <c:pt idx="2">
                <c:v>245.01436968888936</c:v>
              </c:pt>
              <c:pt idx="3">
                <c:v>247.78532914077164</c:v>
              </c:pt>
            </c:numLit>
          </c:val>
          <c:extLst>
            <c:ext xmlns:c16="http://schemas.microsoft.com/office/drawing/2014/chart" uri="{C3380CC4-5D6E-409C-BE32-E72D297353CC}">
              <c16:uniqueId val="{00000008-495C-465C-AF4F-D718ED9AC4E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SAM</c:v>
          </c:tx>
          <c:spPr>
            <a:solidFill>
              <a:srgbClr val="69B1E0"/>
            </a:solidFill>
            <a:ln>
              <a:noFill/>
            </a:ln>
          </c:spPr>
          <c:invertIfNegative val="1"/>
          <c:dLbls>
            <c:dLbl>
              <c:idx val="0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CCAB-4FC7-BED4-FFD0BE4AF602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CAB-4FC7-BED4-FFD0BE4AF602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CAB-4FC7-BED4-FFD0BE4AF602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CAB-4FC7-BED4-FFD0BE4AF602}"/>
                </c:ext>
              </c:extLst>
            </c:dLbl>
            <c:dLbl>
              <c:idx val="4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CAB-4FC7-BED4-FFD0BE4AF602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Germany</c:v>
              </c:pt>
              <c:pt idx="1">
                <c:v>United Kingdom</c:v>
              </c:pt>
              <c:pt idx="2">
                <c:v>France</c:v>
              </c:pt>
              <c:pt idx="3">
                <c:v>Italy</c:v>
              </c:pt>
              <c:pt idx="4">
                <c:v>Rest of Europe</c:v>
              </c:pt>
            </c:strLit>
          </c:cat>
          <c:val>
            <c:numLit>
              <c:formatCode>General</c:formatCode>
              <c:ptCount val="5"/>
              <c:pt idx="0">
                <c:v>939.78950999999995</c:v>
              </c:pt>
              <c:pt idx="1">
                <c:v>844.77889233036171</c:v>
              </c:pt>
              <c:pt idx="2">
                <c:v>617.37920508141247</c:v>
              </c:pt>
              <c:pt idx="3">
                <c:v>395.52804713147106</c:v>
              </c:pt>
              <c:pt idx="4">
                <c:v>313.79735394009634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CCAB-4FC7-BED4-FFD0BE4AF602}"/>
            </c:ext>
          </c:extLst>
        </c:ser>
        <c:ser>
          <c:idx val="1"/>
          <c:order val="1"/>
          <c:tx>
            <c:v>SOM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CAB-4FC7-BED4-FFD0BE4AF602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CCAB-4FC7-BED4-FFD0BE4AF602}"/>
                </c:ext>
              </c:extLst>
            </c:dLbl>
            <c:dLbl>
              <c:idx val="2"/>
              <c:numFmt formatCode="&quot;MMMM&quot;;&quot;MMMM&quot;;&quot;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CAB-4FC7-BED4-FFD0BE4AF602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CCAB-4FC7-BED4-FFD0BE4AF602}"/>
                </c:ext>
              </c:extLst>
            </c:dLbl>
            <c:dLbl>
              <c:idx val="4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CCAB-4FC7-BED4-FFD0BE4AF602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Germany</c:v>
              </c:pt>
              <c:pt idx="1">
                <c:v>United Kingdom</c:v>
              </c:pt>
              <c:pt idx="2">
                <c:v>France</c:v>
              </c:pt>
              <c:pt idx="3">
                <c:v>Italy</c:v>
              </c:pt>
              <c:pt idx="4">
                <c:v>Rest of Europe</c:v>
              </c:pt>
            </c:strLit>
          </c:cat>
          <c:val>
            <c:numLit>
              <c:formatCode>General</c:formatCode>
              <c:ptCount val="5"/>
              <c:pt idx="0">
                <c:v>138.81015001893081</c:v>
              </c:pt>
              <c:pt idx="1">
                <c:v>77.2250060647184</c:v>
              </c:pt>
              <c:pt idx="2">
                <c:v>97.204298846634387</c:v>
              </c:pt>
              <c:pt idx="3">
                <c:v>183.62809790532108</c:v>
              </c:pt>
              <c:pt idx="4">
                <c:v>271.09259510480604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CCAB-4FC7-BED4-FFD0BE4AF60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1202.9305727999999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S1</c:v>
          </c:tx>
          <c:spPr>
            <a:solidFill>
              <a:srgbClr val="1668A8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6795-423B-8837-6DE854C6B4A3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6795-423B-8837-6DE854C6B4A3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795-423B-8837-6DE854C6B4A3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795-423B-8837-6DE854C6B4A3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4"/>
              <c:pt idx="0">
                <c:v>E-commerce</c:v>
              </c:pt>
              <c:pt idx="1">
                <c:v>Pet Specialty Retail</c:v>
              </c:pt>
              <c:pt idx="2">
                <c:v>Veterinary &amp; Animal Health</c:v>
              </c:pt>
              <c:pt idx="3">
                <c:v>General Retail</c:v>
              </c:pt>
            </c:strLit>
          </c:cat>
          <c:val>
            <c:numLit>
              <c:formatCode>General</c:formatCode>
              <c:ptCount val="4"/>
              <c:pt idx="0">
                <c:v>67.074774532483843</c:v>
              </c:pt>
              <c:pt idx="1">
                <c:v>122.70359152142879</c:v>
              </c:pt>
              <c:pt idx="2">
                <c:v>168.98659269367417</c:v>
              </c:pt>
              <c:pt idx="3">
                <c:v>170.89772548503046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4-6795-423B-8837-6DE854C6B4A3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225.58499764024023"/>
          <c:min val="0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S1</c:v>
          </c:tx>
          <c:spPr>
            <a:solidFill>
              <a:srgbClr val="0E3A5F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2D4D-4E6A-BA14-9F51E23A9271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D4D-4E6A-BA14-9F51E23A9271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D4D-4E6A-BA14-9F51E23A9271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D4D-4E6A-BA14-9F51E23A9271}"/>
                </c:ext>
              </c:extLst>
            </c:dLbl>
            <c:dLbl>
              <c:idx val="4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D4D-4E6A-BA14-9F51E23A9271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Germany</c:v>
              </c:pt>
              <c:pt idx="1">
                <c:v>United Kingdom</c:v>
              </c:pt>
              <c:pt idx="2">
                <c:v>France</c:v>
              </c:pt>
              <c:pt idx="3">
                <c:v>Italy</c:v>
              </c:pt>
              <c:pt idx="4">
                <c:v>Rest of Europe</c:v>
              </c:pt>
            </c:strLit>
          </c:cat>
          <c:val>
            <c:numLit>
              <c:formatCode>General</c:formatCode>
              <c:ptCount val="5"/>
              <c:pt idx="0">
                <c:v>42.216168147434118</c:v>
              </c:pt>
              <c:pt idx="1">
                <c:v>58.690285198960041</c:v>
              </c:pt>
              <c:pt idx="2">
                <c:v>109.43842002434585</c:v>
              </c:pt>
              <c:pt idx="3">
                <c:v>156.05539593002689</c:v>
              </c:pt>
              <c:pt idx="4">
                <c:v>163.26241493185043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2D4D-4E6A-BA14-9F51E23A9271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215.50638771004259"/>
          <c:min val="0"/>
        </c:scaling>
        <c:delete val="0"/>
        <c:axPos val="l"/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v>Share</c:v>
          </c:tx>
          <c:dPt>
            <c:idx val="0"/>
            <c:bubble3D val="0"/>
            <c:spPr>
              <a:solidFill>
                <a:srgbClr val="3D85C6"/>
              </a:solidFill>
            </c:spPr>
            <c:extLst>
              <c:ext xmlns:c16="http://schemas.microsoft.com/office/drawing/2014/chart" uri="{C3380CC4-5D6E-409C-BE32-E72D297353CC}">
                <c16:uniqueId val="{00000001-E262-443F-AD5D-4212BA77D6C2}"/>
              </c:ext>
            </c:extLst>
          </c:dPt>
          <c:dPt>
            <c:idx val="1"/>
            <c:bubble3D val="0"/>
            <c:spPr>
              <a:solidFill>
                <a:srgbClr val="9E7E0A"/>
              </a:solidFill>
            </c:spPr>
            <c:extLst>
              <c:ext xmlns:c16="http://schemas.microsoft.com/office/drawing/2014/chart" uri="{C3380CC4-5D6E-409C-BE32-E72D297353CC}">
                <c16:uniqueId val="{00000003-E262-443F-AD5D-4212BA77D6C2}"/>
              </c:ext>
            </c:extLst>
          </c:dPt>
          <c:dPt>
            <c:idx val="2"/>
            <c:bubble3D val="0"/>
            <c:spPr>
              <a:solidFill>
                <a:srgbClr val="008189"/>
              </a:solidFill>
            </c:spPr>
            <c:extLst>
              <c:ext xmlns:c16="http://schemas.microsoft.com/office/drawing/2014/chart" uri="{C3380CC4-5D6E-409C-BE32-E72D297353CC}">
                <c16:uniqueId val="{00000005-E262-443F-AD5D-4212BA77D6C2}"/>
              </c:ext>
            </c:extLst>
          </c:dPt>
          <c:dPt>
            <c:idx val="3"/>
            <c:bubble3D val="0"/>
            <c:spPr>
              <a:solidFill>
                <a:srgbClr val="40315E"/>
              </a:solidFill>
            </c:spPr>
            <c:extLst>
              <c:ext xmlns:c16="http://schemas.microsoft.com/office/drawing/2014/chart" uri="{C3380CC4-5D6E-409C-BE32-E72D297353CC}">
                <c16:uniqueId val="{00000007-E262-443F-AD5D-4212BA77D6C2}"/>
              </c:ext>
            </c:extLst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262-443F-AD5D-4212BA77D6C2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262-443F-AD5D-4212BA77D6C2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E262-443F-AD5D-4212BA77D6C2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E262-443F-AD5D-4212BA77D6C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Lit>
              <c:ptCount val="4"/>
              <c:pt idx="0">
                <c:v>Shampoos &amp; Cleansing Products</c:v>
              </c:pt>
              <c:pt idx="1">
                <c:v>Coat Conditioning &amp; Grooming Products</c:v>
              </c:pt>
              <c:pt idx="2">
                <c:v>Skin, Paw &amp; Nose Care Products</c:v>
              </c:pt>
              <c:pt idx="3">
                <c:v>Dental &amp; Oral Care Products</c:v>
              </c:pt>
            </c:strLit>
          </c:cat>
          <c:val>
            <c:numLit>
              <c:formatCode>General</c:formatCode>
              <c:ptCount val="4"/>
              <c:pt idx="0">
                <c:v>116.06171433202267</c:v>
              </c:pt>
              <c:pt idx="1">
                <c:v>154.37444147057411</c:v>
              </c:pt>
              <c:pt idx="2">
                <c:v>150.91811485939439</c:v>
              </c:pt>
              <c:pt idx="3">
                <c:v>108.30841357062604</c:v>
              </c:pt>
            </c:numLit>
          </c:val>
          <c:extLst>
            <c:ext xmlns:c16="http://schemas.microsoft.com/office/drawing/2014/chart" uri="{C3380CC4-5D6E-409C-BE32-E72D297353CC}">
              <c16:uniqueId val="{00000008-E262-443F-AD5D-4212BA77D6C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c:style val="2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v>SAM</c:v>
          </c:tx>
          <c:spPr>
            <a:solidFill>
              <a:srgbClr val="69B1E0"/>
            </a:solidFill>
            <a:ln>
              <a:noFill/>
            </a:ln>
          </c:spPr>
          <c:invertIfNegative val="1"/>
          <c:dLbls>
            <c:dLbl>
              <c:idx val="0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AE1-48F6-95F6-348336A928CC}"/>
                </c:ext>
              </c:extLst>
            </c:dLbl>
            <c:dLbl>
              <c:idx val="1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AE1-48F6-95F6-348336A928CC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AE1-48F6-95F6-348336A928CC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AE1-48F6-95F6-348336A928CC}"/>
                </c:ext>
              </c:extLst>
            </c:dLbl>
            <c:dLbl>
              <c:idx val="4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AE1-48F6-95F6-348336A928CC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Germany</c:v>
              </c:pt>
              <c:pt idx="1">
                <c:v>United Kingdom</c:v>
              </c:pt>
              <c:pt idx="2">
                <c:v>France</c:v>
              </c:pt>
              <c:pt idx="3">
                <c:v>Italy</c:v>
              </c:pt>
              <c:pt idx="4">
                <c:v>Rest of Europe</c:v>
              </c:pt>
            </c:strLit>
          </c:cat>
          <c:val>
            <c:numLit>
              <c:formatCode>General</c:formatCode>
              <c:ptCount val="5"/>
              <c:pt idx="0">
                <c:v>991.05075599999998</c:v>
              </c:pt>
              <c:pt idx="1">
                <c:v>890.85774100292679</c:v>
              </c:pt>
              <c:pt idx="2">
                <c:v>651.05443444948958</c:v>
              </c:pt>
              <c:pt idx="3">
                <c:v>417.10230424773317</c:v>
              </c:pt>
              <c:pt idx="4">
                <c:v>330.91357324591979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5-1AE1-48F6-95F6-348336A928CC}"/>
            </c:ext>
          </c:extLst>
        </c:ser>
        <c:ser>
          <c:idx val="1"/>
          <c:order val="1"/>
          <c:tx>
            <c:v>SOM</c:v>
          </c:tx>
          <c:spPr>
            <a:solidFill>
              <a:srgbClr val="0E72AE"/>
            </a:solidFill>
            <a:ln>
              <a:noFill/>
            </a:ln>
          </c:spPr>
          <c:invertIfNegative val="1"/>
          <c:dLbls>
            <c:dLbl>
              <c:idx val="0"/>
              <c:numFmt formatCode="&quot;MMMM&quot;;&quot;MMMM&quot;;&quot;MMMM&quot;" sourceLinked="0"/>
              <c:spPr>
                <a:blipFill>
                  <a:blip xmlns:r="http://schemas.openxmlformats.org/officeDocument/2006/relationships"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AE1-48F6-95F6-348336A928CC}"/>
                </c:ext>
              </c:extLst>
            </c:dLbl>
            <c:dLbl>
              <c:idx val="1"/>
              <c:numFmt formatCode="&quot;MMMM&quot;;&quot;MMMM&quot;;&quot;MMMM&quot;" sourceLinked="0"/>
              <c:spPr>
                <a:blipFill>
                  <a:blip xmlns:r="http://schemas.openxmlformats.org/officeDocument/2006/relationships"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AE1-48F6-95F6-348336A928CC}"/>
                </c:ext>
              </c:extLst>
            </c:dLbl>
            <c:dLbl>
              <c:idx val="2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AE1-48F6-95F6-348336A928CC}"/>
                </c:ext>
              </c:extLst>
            </c:dLbl>
            <c:dLbl>
              <c:idx val="3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1AE1-48F6-95F6-348336A928CC}"/>
                </c:ext>
              </c:extLst>
            </c:dLbl>
            <c:dLbl>
              <c:idx val="4"/>
              <c:numFmt formatCode="&quot;MMMMM&quot;;&quot;MMMMM&quot;;&quot;MMMMM&quot;" sourceLinked="0"/>
              <c:spPr>
                <a:blipFill>
                  <a:blip xmlns:r="http://schemas.openxmlformats.org/officeDocument/2006/relationships"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AE1-48F6-95F6-348336A928CC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Lit>
              <c:ptCount val="5"/>
              <c:pt idx="0">
                <c:v>Germany</c:v>
              </c:pt>
              <c:pt idx="1">
                <c:v>United Kingdom</c:v>
              </c:pt>
              <c:pt idx="2">
                <c:v>France</c:v>
              </c:pt>
              <c:pt idx="3">
                <c:v>Italy</c:v>
              </c:pt>
              <c:pt idx="4">
                <c:v>Rest of Europe</c:v>
              </c:pt>
            </c:strLit>
          </c:cat>
          <c:val>
            <c:numLit>
              <c:formatCode>General</c:formatCode>
              <c:ptCount val="5"/>
              <c:pt idx="0">
                <c:v>42.216168147434118</c:v>
              </c:pt>
              <c:pt idx="1">
                <c:v>58.690285198960041</c:v>
              </c:pt>
              <c:pt idx="2">
                <c:v>109.43842002434585</c:v>
              </c:pt>
              <c:pt idx="3">
                <c:v>156.05539593002689</c:v>
              </c:pt>
              <c:pt idx="4">
                <c:v>163.26241493185043</c:v>
              </c:pt>
            </c:numLit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ln>
                    <a:noFill/>
                  </a:ln>
                </c14:spPr>
              </c14:invertSolidFillFmt>
            </c:ext>
            <c:ext xmlns:c16="http://schemas.microsoft.com/office/drawing/2014/chart" uri="{C3380CC4-5D6E-409C-BE32-E72D297353CC}">
              <c16:uniqueId val="{0000000B-1AE1-48F6-95F6-348336A928CC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113994440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-2113994440"/>
        <c:scaling>
          <c:orientation val="minMax"/>
          <c:max val="1268.5449676799999"/>
          <c:min val="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-2068027336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gap"/>
    <c:showDLblsOverMax val="1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IN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4B9EB40-1640-4AF0-9245-0E824A9DB929}" type="datetimeFigureOut">
              <a:rPr lang="en-IN" smtClean="0"/>
              <a:t>07-10-2026</a:t>
            </a:fld>
            <a:endParaRPr lang="en-IN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IN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I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EB185AF-BB19-4653-94B5-C00CE19D6455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30598778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1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1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8.xml"/><Relationship Id="rId1" Type="http://schemas.openxmlformats.org/officeDocument/2006/relationships/notesMaster" Target="../notesMasters/notesMaster1.xml"/></Relationships>
</file>

<file path=ppt/notesSlides/_rels/notesSlide1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.xml"/><Relationship Id="rId1" Type="http://schemas.openxmlformats.org/officeDocument/2006/relationships/notesMaster" Target="../notesMasters/notesMaster1.xml"/></Relationships>
</file>

<file path=ppt/notesSlides/_rels/notesSlide1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0.xml"/><Relationship Id="rId1" Type="http://schemas.openxmlformats.org/officeDocument/2006/relationships/notesMaster" Target="../notesMasters/notesMaster1.xml"/></Relationships>
</file>

<file path=ppt/notesSlides/_rels/notesSlide1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1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1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1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1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1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1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1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1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0.xml"/><Relationship Id="rId1" Type="http://schemas.openxmlformats.org/officeDocument/2006/relationships/notesMaster" Target="../notesMasters/notesMaster1.xml"/></Relationships>
</file>

<file path=ppt/notesSlides/_rels/notesSlide1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1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3.xml"/><Relationship Id="rId1" Type="http://schemas.openxmlformats.org/officeDocument/2006/relationships/notesMaster" Target="../notesMasters/notesMaster1.xml"/></Relationships>
</file>

<file path=ppt/notesSlides/_rels/notesSlide1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4.xml"/><Relationship Id="rId1" Type="http://schemas.openxmlformats.org/officeDocument/2006/relationships/notesMaster" Target="../notesMasters/notesMaster1.xml"/></Relationships>
</file>

<file path=ppt/notesSlides/_rels/notesSlide1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1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6.xml"/><Relationship Id="rId1" Type="http://schemas.openxmlformats.org/officeDocument/2006/relationships/notesMaster" Target="../notesMasters/notesMaster1.xml"/></Relationships>
</file>

<file path=ppt/notesSlides/_rels/notesSlide1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7.xml"/><Relationship Id="rId1" Type="http://schemas.openxmlformats.org/officeDocument/2006/relationships/notesMaster" Target="../notesMasters/notesMaster1.xml"/></Relationships>
</file>

<file path=ppt/notesSlides/_rels/notesSlide1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8.xml"/><Relationship Id="rId1" Type="http://schemas.openxmlformats.org/officeDocument/2006/relationships/notesMaster" Target="../notesMasters/notesMaster1.xml"/></Relationships>
</file>

<file path=ppt/notesSlides/_rels/notesSlide1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9.xml"/><Relationship Id="rId1" Type="http://schemas.openxmlformats.org/officeDocument/2006/relationships/notesMaster" Target="../notesMasters/notesMaster1.xml"/></Relationships>
</file>

<file path=ppt/notesSlides/_rels/notesSlide1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0.xml"/><Relationship Id="rId1" Type="http://schemas.openxmlformats.org/officeDocument/2006/relationships/notesMaster" Target="../notesMasters/notesMaster1.xml"/></Relationships>
</file>

<file path=ppt/notesSlides/_rels/notesSlide1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1.xml"/><Relationship Id="rId1" Type="http://schemas.openxmlformats.org/officeDocument/2006/relationships/notesMaster" Target="../notesMasters/notesMaster1.xml"/></Relationships>
</file>

<file path=ppt/notesSlides/_rels/notesSlide1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2.xml"/><Relationship Id="rId1" Type="http://schemas.openxmlformats.org/officeDocument/2006/relationships/notesMaster" Target="../notesMasters/notesMaster1.xml"/></Relationships>
</file>

<file path=ppt/notesSlides/_rels/notesSlide1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3.xml"/><Relationship Id="rId1" Type="http://schemas.openxmlformats.org/officeDocument/2006/relationships/notesMaster" Target="../notesMasters/notesMaster1.xml"/></Relationships>
</file>

<file path=ppt/notesSlides/_rels/notesSlide1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1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5.xml"/><Relationship Id="rId1" Type="http://schemas.openxmlformats.org/officeDocument/2006/relationships/notesMaster" Target="../notesMasters/notesMaster1.xml"/></Relationships>
</file>

<file path=ppt/notesSlides/_rels/notesSlide1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6.xml"/><Relationship Id="rId1" Type="http://schemas.openxmlformats.org/officeDocument/2006/relationships/notesMaster" Target="../notesMasters/notesMaster1.xml"/></Relationships>
</file>

<file path=ppt/notesSlides/_rels/notesSlide1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7.xml"/><Relationship Id="rId1" Type="http://schemas.openxmlformats.org/officeDocument/2006/relationships/notesMaster" Target="../notesMasters/notesMaster1.xml"/></Relationships>
</file>

<file path=ppt/notesSlides/_rels/notesSlide1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9.xml"/><Relationship Id="rId1" Type="http://schemas.openxmlformats.org/officeDocument/2006/relationships/notesMaster" Target="../notesMasters/notesMaster1.xml"/></Relationships>
</file>

<file path=ppt/notesSlides/_rels/notesSlide1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0.xml"/><Relationship Id="rId1" Type="http://schemas.openxmlformats.org/officeDocument/2006/relationships/notesMaster" Target="../notesMasters/notesMaster1.xml"/></Relationships>
</file>

<file path=ppt/notesSlides/_rels/notesSlide1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1.xml"/><Relationship Id="rId1" Type="http://schemas.openxmlformats.org/officeDocument/2006/relationships/notesMaster" Target="../notesMasters/notesMaster1.xml"/></Relationships>
</file>

<file path=ppt/notesSlides/_rels/notesSlide1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1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4.xml"/><Relationship Id="rId1" Type="http://schemas.openxmlformats.org/officeDocument/2006/relationships/notesMaster" Target="../notesMasters/notesMaster1.xml"/></Relationships>
</file>

<file path=ppt/notesSlides/_rels/notesSlide1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1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1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7.xml"/><Relationship Id="rId1" Type="http://schemas.openxmlformats.org/officeDocument/2006/relationships/notesMaster" Target="../notesMasters/notesMaster1.xml"/></Relationships>
</file>

<file path=ppt/notesSlides/_rels/notesSlide1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1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1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1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1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1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1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1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2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7.xml"/><Relationship Id="rId1" Type="http://schemas.openxmlformats.org/officeDocument/2006/relationships/notesMaster" Target="../notesMasters/notesMaster1.xml"/></Relationships>
</file>

<file path=ppt/notesSlides/_rels/notesSlide2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8.xml"/><Relationship Id="rId1" Type="http://schemas.openxmlformats.org/officeDocument/2006/relationships/notesMaster" Target="../notesMasters/notesMaster1.xml"/></Relationships>
</file>

<file path=ppt/notesSlides/_rels/notesSlide2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9.xml"/><Relationship Id="rId1" Type="http://schemas.openxmlformats.org/officeDocument/2006/relationships/notesMaster" Target="../notesMasters/notesMaster1.xml"/></Relationships>
</file>

<file path=ppt/notesSlides/_rels/notesSlide2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0.xml"/><Relationship Id="rId1" Type="http://schemas.openxmlformats.org/officeDocument/2006/relationships/notesMaster" Target="../notesMasters/notesMaster1.xml"/></Relationships>
</file>

<file path=ppt/notesSlides/_rels/notesSlide2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1.xml"/><Relationship Id="rId1" Type="http://schemas.openxmlformats.org/officeDocument/2006/relationships/notesMaster" Target="../notesMasters/notesMaster1.xml"/></Relationships>
</file>

<file path=ppt/notesSlides/_rels/notesSlide2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2.xml"/><Relationship Id="rId1" Type="http://schemas.openxmlformats.org/officeDocument/2006/relationships/notesMaster" Target="../notesMasters/notesMaster1.xml"/></Relationships>
</file>

<file path=ppt/notesSlides/_rels/notesSlide2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4.xml"/><Relationship Id="rId1" Type="http://schemas.openxmlformats.org/officeDocument/2006/relationships/notesMaster" Target="../notesMasters/notesMaster1.xml"/></Relationships>
</file>

<file path=ppt/notesSlides/_rels/notesSlide2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5.xml"/><Relationship Id="rId1" Type="http://schemas.openxmlformats.org/officeDocument/2006/relationships/notesMaster" Target="../notesMasters/notesMaster1.xml"/></Relationships>
</file>

<file path=ppt/notesSlides/_rels/notesSlide2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2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2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9.xml"/><Relationship Id="rId1" Type="http://schemas.openxmlformats.org/officeDocument/2006/relationships/notesMaster" Target="../notesMasters/notesMaster1.xml"/></Relationships>
</file>

<file path=ppt/notesSlides/_rels/notesSlide2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0.xml"/><Relationship Id="rId1" Type="http://schemas.openxmlformats.org/officeDocument/2006/relationships/notesMaster" Target="../notesMasters/notesMaster1.xml"/></Relationships>
</file>

<file path=ppt/notesSlides/_rels/notesSlide2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1.xml"/><Relationship Id="rId1" Type="http://schemas.openxmlformats.org/officeDocument/2006/relationships/notesMaster" Target="../notesMasters/notesMaster1.xml"/></Relationships>
</file>

<file path=ppt/notesSlides/_rels/notesSlide2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2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4.xml"/><Relationship Id="rId1" Type="http://schemas.openxmlformats.org/officeDocument/2006/relationships/notesMaster" Target="../notesMasters/notesMaster1.xml"/></Relationships>
</file>

<file path=ppt/notesSlides/_rels/notesSlide2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5.xml"/><Relationship Id="rId1" Type="http://schemas.openxmlformats.org/officeDocument/2006/relationships/notesMaster" Target="../notesMasters/notesMaster1.xml"/></Relationships>
</file>

<file path=ppt/notesSlides/_rels/notesSlide2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2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7.xml"/><Relationship Id="rId1" Type="http://schemas.openxmlformats.org/officeDocument/2006/relationships/notesMaster" Target="../notesMasters/notesMaster1.xml"/></Relationships>
</file>

<file path=ppt/notesSlides/_rels/notesSlide2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8.xml"/><Relationship Id="rId1" Type="http://schemas.openxmlformats.org/officeDocument/2006/relationships/notesMaster" Target="../notesMasters/notesMaster1.xml"/></Relationships>
</file>

<file path=ppt/notesSlides/_rels/notesSlide2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2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0.xml"/><Relationship Id="rId1" Type="http://schemas.openxmlformats.org/officeDocument/2006/relationships/notesMaster" Target="../notesMasters/notesMaster1.xml"/></Relationships>
</file>

<file path=ppt/notesSlides/_rels/notesSlide2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1.xml"/><Relationship Id="rId1" Type="http://schemas.openxmlformats.org/officeDocument/2006/relationships/notesMaster" Target="../notesMasters/notesMaster1.xml"/></Relationships>
</file>

<file path=ppt/notesSlides/_rels/notesSlide2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2.xml"/><Relationship Id="rId1" Type="http://schemas.openxmlformats.org/officeDocument/2006/relationships/notesMaster" Target="../notesMasters/notesMaster1.xml"/></Relationships>
</file>

<file path=ppt/notesSlides/_rels/notesSlide2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3.xml"/><Relationship Id="rId1" Type="http://schemas.openxmlformats.org/officeDocument/2006/relationships/notesMaster" Target="../notesMasters/notesMaster1.xml"/></Relationships>
</file>

<file path=ppt/notesSlides/_rels/notesSlide2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4.xml"/><Relationship Id="rId1" Type="http://schemas.openxmlformats.org/officeDocument/2006/relationships/notesMaster" Target="../notesMasters/notesMaster1.xml"/></Relationships>
</file>

<file path=ppt/notesSlides/_rels/notesSlide2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5.xml"/><Relationship Id="rId1" Type="http://schemas.openxmlformats.org/officeDocument/2006/relationships/notesMaster" Target="../notesMasters/notesMaster1.xml"/></Relationships>
</file>

<file path=ppt/notesSlides/_rels/notesSlide2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6.xml"/><Relationship Id="rId1" Type="http://schemas.openxmlformats.org/officeDocument/2006/relationships/notesMaster" Target="../notesMasters/notesMaster1.xml"/></Relationships>
</file>

<file path=ppt/notesSlides/_rels/notesSlide2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7.xml"/><Relationship Id="rId1" Type="http://schemas.openxmlformats.org/officeDocument/2006/relationships/notesMaster" Target="../notesMasters/notesMaster1.xml"/></Relationships>
</file>

<file path=ppt/notesSlides/_rels/notesSlide2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Market Signals Market Signals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Market Overview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Market Taxonomy Geographic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Market Taxonomy Market Segments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Market Taxonomy Market Segments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Market Taxonomy Company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Table of Contents  (1/8)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Table of Contents  (2/8)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Table of Contents  (3/8)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Table of Contents  (4/8)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Table of Contents  (5/8)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Table of Contents  (6/8)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Table of Contents  (7/8)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Table of Contents  (8/8)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List of Figures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List of Figures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List of Figures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List of Figures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List of Tables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List of Tables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List of Tables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List of Tables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Europe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Europe Overview Volume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Europe Overview Pricing &amp; Price Index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Europe Overview Value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Europe Overview Market Volume &amp;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Europe Overview Country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Europe Overview Country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Europe Overview Market Overview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Europe Overview Supply Side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Europe Overview Analysis and Recommendation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Europe Overview Scenario Outlook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By Region Europe Pet Cosmetic Products – Regional Outlook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By Region Europe Pet Cosmetic Products – Regional Outlook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By Region Europe Pet Cosmetic Products – Regional Outlook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By Region Europe Pet Cosmetic Products – Regional Outlook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By Region Market Analysis By Region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By Region Market Analysis By Region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By Region Volume Share Analysis By Region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By Region Volume Share Analysis By Region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By Region Value Share Analysis By Region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By Region Value Share Analysis By Region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By Region Market Trends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By Region Top Countries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By Product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Ingredient Type By Ingredient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Ingredient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Ingredient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Ingredient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Ingredient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Ingredient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Ingredient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Ingredient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Format By Product Format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Format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Format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Format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Format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Format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Format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Format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Format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Primary Product Function / Benefit By Primary Product Function / Benefit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Primary Product Function / Benefit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Primary Product Function / Benefit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Primary Product Function / Benefit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Primary Product Function / Benefit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Primary Product Function / Benefit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Primary Product Function / Benefit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Primary Product Function / Benefit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Primary Product Function / Benefit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Pet Type By Pet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Pet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Pet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Pet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Pet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Pet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Pet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Pet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Pack Size By Pack Size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Pack Size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Pack Size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Pack Size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Pack Size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Pack Size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Pack Size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Pack Size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Price Tier By Price Tier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Price Tier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Price Tier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Price Tier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Price Tier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Price Tier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Price Tier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Price Tier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Sales Channels By Sales Channels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Sales Channels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Sales Channels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Sales Channels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Sales Channels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Sales Channels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Sales Channels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Sales Channels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Sales Channels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Primary Product Function / Benefit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Primary Product Function / Benefit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Ingredient Type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Ingredient Type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Ingredient Type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Ingredient Type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Ingredient Type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Ingredient Type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Country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Overview Volume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Overview Value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Overview Key Segments (Value)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Overview Key Segments (Value)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Product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Product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Product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Ingredient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Ingredient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Ingredient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Product Format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Product Format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Product Format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Product Format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Primary Product Function / Benefit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Primary Product Function / Benefit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Primary Product Function / Benefit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Pet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Pet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Pet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Pack Size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Pack Size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Pack Size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Price Tier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Price Tier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Price Tier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Sales Channels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Sales Channels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Country Sales Channels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Primary Product Function / Benefit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Primary Product Function / Benefit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Ingredient Type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Ingredient Type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Ingredient Type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Ingredient Type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Ingredient Type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Product Type × Ingredient Type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Pricing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Pricing Product Pricing &amp; Regional Price Index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Pricing Europe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Pricing Europe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Pricing Europe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Pricing Price Positioning &amp; Key Findings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Pricing Key Pricing Drivers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Pricing Factors Impacting Pricing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Pricing Regional Price Assessment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Pricing Regional Price Assessment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Pricing Europe Pricing Benchmarking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Pricing Europe Pricing Benchmarking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Pricing Price Forecast &amp; Dynamics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Pricing Price Forecast &amp; Dynamics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Pricing Competitor Pricing Strategies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Supply Chain Analysis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Supply Chain Analysis Value Chain &amp; Stakeholder Mapping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Supply Chain Analysis Operating Margin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Supply Chain Analysis Buyers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Market Dynamics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Market Dynamics Market Dynamics &amp; Forces Market Dynamics by Geography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Market Dynamics Market Dynamics &amp; Forces Market Dynamics by Geography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Market Dynamics Market Dynamics &amp; Forces Driving Factors Supply Side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Market Dynamics Market Dynamics &amp; Forces Driving Factors Demand Side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Market Dynamics Market Dynamics &amp; Forces Market Restraints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Market Dynamics Market Dynamics &amp; Forces Market Opportunities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Market Dynamics Market Dynamics &amp; Forces Recent Developments &amp; Milestones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Market Dynamics Market Dynamics &amp; Forces Five Forces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Competition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Competitive Landscape Competitive Landscape at a Glance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Competitive Landscape Segment Leadership Map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Competitive Landscape Value Chain Positioning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Competitive Landscape Player Landscape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Competitive Landscape Corporate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Competitive Landscape Offering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Competitive Landscape Execution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Competitive Landscape Success Factors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Competitive Landscape Strategic Activity Tracker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Competitive Landscape Strategic Activity by Function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Competitive Landscape Industry Structure Landscape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Competitive Landscape Industry Structure Landscape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Competitive Landscape Competitive Dashboard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Market Share by Leading Players Advice for Vendors &amp; Suppliers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Market Share by Leading Players Company Value Share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Market Share by Leading Players Company Share by Product Type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Market Share by Leading Players Company Share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Market Share by Leading Players Who Shaped Growth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Company Profiles &amp; Strategic Benchmarking Beaphar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Company Profiles &amp; Strategic Benchmarking Beaphar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Company Profiles &amp; Strategic Benchmarking Beaphar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Company Profiles &amp; Strategic Benchmarking Beaphar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Company Profiles &amp; Strategic Benchmarking Beaphar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10/7/2026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10/7/2026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10/7/2026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10/7/2026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10/7/2026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10/7/2026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10/7/2026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10/7/2026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10/7/2026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10/7/2026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10/7/2026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10/7/2026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29.xml"/><Relationship Id="rId13" Type="http://schemas.openxmlformats.org/officeDocument/2006/relationships/slide" Target="slide146.xml"/><Relationship Id="rId18" Type="http://schemas.openxmlformats.org/officeDocument/2006/relationships/slide" Target="slide202.xml"/><Relationship Id="rId3" Type="http://schemas.openxmlformats.org/officeDocument/2006/relationships/slide" Target="slide3.xml"/><Relationship Id="rId21" Type="http://schemas.openxmlformats.org/officeDocument/2006/relationships/slide" Target="slide223.xml"/><Relationship Id="rId7" Type="http://schemas.openxmlformats.org/officeDocument/2006/relationships/slide" Target="slide20.xml"/><Relationship Id="rId12" Type="http://schemas.openxmlformats.org/officeDocument/2006/relationships/slide" Target="slide131.xml"/><Relationship Id="rId17" Type="http://schemas.openxmlformats.org/officeDocument/2006/relationships/slide" Target="slide201.xml"/><Relationship Id="rId25" Type="http://schemas.openxmlformats.org/officeDocument/2006/relationships/slide" Target="slide253.xml"/><Relationship Id="rId2" Type="http://schemas.openxmlformats.org/officeDocument/2006/relationships/image" Target="../media/image1.png"/><Relationship Id="rId16" Type="http://schemas.openxmlformats.org/officeDocument/2006/relationships/slide" Target="slide186.xml"/><Relationship Id="rId20" Type="http://schemas.openxmlformats.org/officeDocument/2006/relationships/slide" Target="slide222.xml"/><Relationship Id="rId1" Type="http://schemas.openxmlformats.org/officeDocument/2006/relationships/slideLayout" Target="../slideLayouts/slideLayout7.xml"/><Relationship Id="rId6" Type="http://schemas.openxmlformats.org/officeDocument/2006/relationships/slide" Target="slide11.xml"/><Relationship Id="rId11" Type="http://schemas.openxmlformats.org/officeDocument/2006/relationships/slide" Target="slide54.xml"/><Relationship Id="rId24" Type="http://schemas.openxmlformats.org/officeDocument/2006/relationships/slide" Target="slide247.xml"/><Relationship Id="rId5" Type="http://schemas.openxmlformats.org/officeDocument/2006/relationships/slide" Target="slide6.xml"/><Relationship Id="rId15" Type="http://schemas.openxmlformats.org/officeDocument/2006/relationships/slide" Target="slide152.xml"/><Relationship Id="rId23" Type="http://schemas.openxmlformats.org/officeDocument/2006/relationships/slide" Target="slide233.xml"/><Relationship Id="rId10" Type="http://schemas.openxmlformats.org/officeDocument/2006/relationships/slide" Target="slide41.xml"/><Relationship Id="rId19" Type="http://schemas.openxmlformats.org/officeDocument/2006/relationships/slide" Target="slide218.xml"/><Relationship Id="rId4" Type="http://schemas.openxmlformats.org/officeDocument/2006/relationships/slide" Target="slide5.xml"/><Relationship Id="rId9" Type="http://schemas.openxmlformats.org/officeDocument/2006/relationships/slide" Target="slide30.xml"/><Relationship Id="rId14" Type="http://schemas.openxmlformats.org/officeDocument/2006/relationships/slide" Target="slide147.xml"/><Relationship Id="rId22" Type="http://schemas.openxmlformats.org/officeDocument/2006/relationships/slide" Target="slide23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2.xml"/><Relationship Id="rId4" Type="http://schemas.openxmlformats.org/officeDocument/2006/relationships/chart" Target="../charts/chart1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6.xml"/><Relationship Id="rId4" Type="http://schemas.openxmlformats.org/officeDocument/2006/relationships/chart" Target="../charts/chart5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8.xml"/><Relationship Id="rId4" Type="http://schemas.openxmlformats.org/officeDocument/2006/relationships/chart" Target="../charts/char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9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10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67.png"/><Relationship Id="rId18" Type="http://schemas.openxmlformats.org/officeDocument/2006/relationships/image" Target="../media/image72.png"/><Relationship Id="rId3" Type="http://schemas.openxmlformats.org/officeDocument/2006/relationships/image" Target="../media/image1.png"/><Relationship Id="rId21" Type="http://schemas.openxmlformats.org/officeDocument/2006/relationships/image" Target="../media/image75.png"/><Relationship Id="rId7" Type="http://schemas.openxmlformats.org/officeDocument/2006/relationships/image" Target="../media/image61.png"/><Relationship Id="rId12" Type="http://schemas.openxmlformats.org/officeDocument/2006/relationships/image" Target="../media/image66.png"/><Relationship Id="rId17" Type="http://schemas.openxmlformats.org/officeDocument/2006/relationships/image" Target="../media/image71.png"/><Relationship Id="rId2" Type="http://schemas.openxmlformats.org/officeDocument/2006/relationships/notesSlide" Target="../notesSlides/notesSlide34.xml"/><Relationship Id="rId16" Type="http://schemas.openxmlformats.org/officeDocument/2006/relationships/image" Target="../media/image70.png"/><Relationship Id="rId20" Type="http://schemas.openxmlformats.org/officeDocument/2006/relationships/image" Target="../media/image7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0.png"/><Relationship Id="rId11" Type="http://schemas.openxmlformats.org/officeDocument/2006/relationships/image" Target="../media/image65.png"/><Relationship Id="rId24" Type="http://schemas.openxmlformats.org/officeDocument/2006/relationships/image" Target="../media/image2.png"/><Relationship Id="rId5" Type="http://schemas.openxmlformats.org/officeDocument/2006/relationships/image" Target="../media/image59.png"/><Relationship Id="rId15" Type="http://schemas.openxmlformats.org/officeDocument/2006/relationships/image" Target="../media/image69.png"/><Relationship Id="rId23" Type="http://schemas.openxmlformats.org/officeDocument/2006/relationships/image" Target="../media/image77.png"/><Relationship Id="rId10" Type="http://schemas.openxmlformats.org/officeDocument/2006/relationships/image" Target="../media/image64.png"/><Relationship Id="rId19" Type="http://schemas.openxmlformats.org/officeDocument/2006/relationships/image" Target="../media/image73.png"/><Relationship Id="rId4" Type="http://schemas.openxmlformats.org/officeDocument/2006/relationships/image" Target="../media/image58.png"/><Relationship Id="rId9" Type="http://schemas.openxmlformats.org/officeDocument/2006/relationships/image" Target="../media/image63.png"/><Relationship Id="rId14" Type="http://schemas.openxmlformats.org/officeDocument/2006/relationships/image" Target="../media/image68.png"/><Relationship Id="rId22" Type="http://schemas.openxmlformats.org/officeDocument/2006/relationships/image" Target="../media/image76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.png"/><Relationship Id="rId13" Type="http://schemas.openxmlformats.org/officeDocument/2006/relationships/image" Target="../media/image86.png"/><Relationship Id="rId18" Type="http://schemas.openxmlformats.org/officeDocument/2006/relationships/image" Target="../media/image91.png"/><Relationship Id="rId3" Type="http://schemas.openxmlformats.org/officeDocument/2006/relationships/image" Target="../media/image1.png"/><Relationship Id="rId21" Type="http://schemas.openxmlformats.org/officeDocument/2006/relationships/image" Target="../media/image94.png"/><Relationship Id="rId7" Type="http://schemas.openxmlformats.org/officeDocument/2006/relationships/image" Target="../media/image81.png"/><Relationship Id="rId12" Type="http://schemas.openxmlformats.org/officeDocument/2006/relationships/image" Target="../media/image63.png"/><Relationship Id="rId17" Type="http://schemas.openxmlformats.org/officeDocument/2006/relationships/image" Target="../media/image90.png"/><Relationship Id="rId25" Type="http://schemas.openxmlformats.org/officeDocument/2006/relationships/image" Target="../media/image2.pn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89.png"/><Relationship Id="rId20" Type="http://schemas.openxmlformats.org/officeDocument/2006/relationships/image" Target="../media/image9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0.png"/><Relationship Id="rId11" Type="http://schemas.openxmlformats.org/officeDocument/2006/relationships/image" Target="../media/image85.png"/><Relationship Id="rId24" Type="http://schemas.openxmlformats.org/officeDocument/2006/relationships/image" Target="../media/image97.png"/><Relationship Id="rId5" Type="http://schemas.openxmlformats.org/officeDocument/2006/relationships/image" Target="../media/image79.png"/><Relationship Id="rId15" Type="http://schemas.openxmlformats.org/officeDocument/2006/relationships/image" Target="../media/image88.png"/><Relationship Id="rId23" Type="http://schemas.openxmlformats.org/officeDocument/2006/relationships/image" Target="../media/image96.png"/><Relationship Id="rId10" Type="http://schemas.openxmlformats.org/officeDocument/2006/relationships/image" Target="../media/image84.png"/><Relationship Id="rId19" Type="http://schemas.openxmlformats.org/officeDocument/2006/relationships/image" Target="../media/image92.png"/><Relationship Id="rId4" Type="http://schemas.openxmlformats.org/officeDocument/2006/relationships/image" Target="../media/image78.png"/><Relationship Id="rId9" Type="http://schemas.openxmlformats.org/officeDocument/2006/relationships/image" Target="../media/image83.png"/><Relationship Id="rId14" Type="http://schemas.openxmlformats.org/officeDocument/2006/relationships/image" Target="../media/image87.png"/><Relationship Id="rId22" Type="http://schemas.openxmlformats.org/officeDocument/2006/relationships/image" Target="../media/image95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13" Type="http://schemas.openxmlformats.org/officeDocument/2006/relationships/image" Target="../media/image106.png"/><Relationship Id="rId18" Type="http://schemas.openxmlformats.org/officeDocument/2006/relationships/image" Target="../media/image110.png"/><Relationship Id="rId3" Type="http://schemas.openxmlformats.org/officeDocument/2006/relationships/image" Target="../media/image1.png"/><Relationship Id="rId21" Type="http://schemas.openxmlformats.org/officeDocument/2006/relationships/image" Target="../media/image113.png"/><Relationship Id="rId7" Type="http://schemas.openxmlformats.org/officeDocument/2006/relationships/image" Target="../media/image101.png"/><Relationship Id="rId12" Type="http://schemas.openxmlformats.org/officeDocument/2006/relationships/image" Target="../media/image105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36.xml"/><Relationship Id="rId16" Type="http://schemas.openxmlformats.org/officeDocument/2006/relationships/image" Target="../media/image108.png"/><Relationship Id="rId20" Type="http://schemas.openxmlformats.org/officeDocument/2006/relationships/image" Target="../media/image11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0.png"/><Relationship Id="rId11" Type="http://schemas.openxmlformats.org/officeDocument/2006/relationships/image" Target="../media/image104.png"/><Relationship Id="rId24" Type="http://schemas.openxmlformats.org/officeDocument/2006/relationships/image" Target="../media/image2.png"/><Relationship Id="rId5" Type="http://schemas.openxmlformats.org/officeDocument/2006/relationships/image" Target="../media/image99.png"/><Relationship Id="rId15" Type="http://schemas.openxmlformats.org/officeDocument/2006/relationships/image" Target="../media/image74.png"/><Relationship Id="rId23" Type="http://schemas.openxmlformats.org/officeDocument/2006/relationships/image" Target="../media/image97.png"/><Relationship Id="rId10" Type="http://schemas.openxmlformats.org/officeDocument/2006/relationships/image" Target="../media/image103.png"/><Relationship Id="rId19" Type="http://schemas.openxmlformats.org/officeDocument/2006/relationships/image" Target="../media/image111.png"/><Relationship Id="rId4" Type="http://schemas.openxmlformats.org/officeDocument/2006/relationships/image" Target="../media/image98.png"/><Relationship Id="rId9" Type="http://schemas.openxmlformats.org/officeDocument/2006/relationships/image" Target="../media/image94.png"/><Relationship Id="rId14" Type="http://schemas.openxmlformats.org/officeDocument/2006/relationships/image" Target="../media/image107.png"/><Relationship Id="rId22" Type="http://schemas.openxmlformats.org/officeDocument/2006/relationships/image" Target="../media/image114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.png"/><Relationship Id="rId13" Type="http://schemas.openxmlformats.org/officeDocument/2006/relationships/image" Target="../media/image121.png"/><Relationship Id="rId3" Type="http://schemas.openxmlformats.org/officeDocument/2006/relationships/image" Target="../media/image1.png"/><Relationship Id="rId7" Type="http://schemas.openxmlformats.org/officeDocument/2006/relationships/image" Target="../media/image51.png"/><Relationship Id="rId12" Type="http://schemas.openxmlformats.org/officeDocument/2006/relationships/image" Target="../media/image120.png"/><Relationship Id="rId2" Type="http://schemas.openxmlformats.org/officeDocument/2006/relationships/notesSlide" Target="../notesSlides/notesSlide37.xml"/><Relationship Id="rId16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16.png"/><Relationship Id="rId11" Type="http://schemas.openxmlformats.org/officeDocument/2006/relationships/image" Target="../media/image119.png"/><Relationship Id="rId5" Type="http://schemas.openxmlformats.org/officeDocument/2006/relationships/image" Target="../media/image113.png"/><Relationship Id="rId15" Type="http://schemas.openxmlformats.org/officeDocument/2006/relationships/image" Target="../media/image100.png"/><Relationship Id="rId10" Type="http://schemas.openxmlformats.org/officeDocument/2006/relationships/image" Target="../media/image118.png"/><Relationship Id="rId4" Type="http://schemas.openxmlformats.org/officeDocument/2006/relationships/image" Target="../media/image115.png"/><Relationship Id="rId9" Type="http://schemas.openxmlformats.org/officeDocument/2006/relationships/image" Target="../media/image71.png"/><Relationship Id="rId14" Type="http://schemas.openxmlformats.org/officeDocument/2006/relationships/image" Target="../media/image122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11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1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14.xml"/><Relationship Id="rId4" Type="http://schemas.openxmlformats.org/officeDocument/2006/relationships/chart" Target="../charts/chart1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0.png"/><Relationship Id="rId13" Type="http://schemas.openxmlformats.org/officeDocument/2006/relationships/image" Target="../media/image172.png"/><Relationship Id="rId18" Type="http://schemas.openxmlformats.org/officeDocument/2006/relationships/image" Target="../media/image174.png"/><Relationship Id="rId3" Type="http://schemas.openxmlformats.org/officeDocument/2006/relationships/image" Target="../media/image1.png"/><Relationship Id="rId21" Type="http://schemas.openxmlformats.org/officeDocument/2006/relationships/image" Target="../media/image2.png"/><Relationship Id="rId7" Type="http://schemas.openxmlformats.org/officeDocument/2006/relationships/image" Target="../media/image169.png"/><Relationship Id="rId12" Type="http://schemas.openxmlformats.org/officeDocument/2006/relationships/image" Target="../media/image63.png"/><Relationship Id="rId17" Type="http://schemas.openxmlformats.org/officeDocument/2006/relationships/image" Target="../media/image55.png"/><Relationship Id="rId2" Type="http://schemas.openxmlformats.org/officeDocument/2006/relationships/notesSlide" Target="../notesSlides/notesSlide46.xml"/><Relationship Id="rId16" Type="http://schemas.openxmlformats.org/officeDocument/2006/relationships/image" Target="../media/image173.png"/><Relationship Id="rId20" Type="http://schemas.openxmlformats.org/officeDocument/2006/relationships/image" Target="../media/image5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8.png"/><Relationship Id="rId11" Type="http://schemas.openxmlformats.org/officeDocument/2006/relationships/image" Target="../media/image54.png"/><Relationship Id="rId5" Type="http://schemas.openxmlformats.org/officeDocument/2006/relationships/image" Target="../media/image167.png"/><Relationship Id="rId15" Type="http://schemas.openxmlformats.org/officeDocument/2006/relationships/image" Target="../media/image97.png"/><Relationship Id="rId10" Type="http://schemas.openxmlformats.org/officeDocument/2006/relationships/image" Target="../media/image171.png"/><Relationship Id="rId19" Type="http://schemas.openxmlformats.org/officeDocument/2006/relationships/image" Target="../media/image175.png"/><Relationship Id="rId4" Type="http://schemas.openxmlformats.org/officeDocument/2006/relationships/image" Target="../media/image166.png"/><Relationship Id="rId9" Type="http://schemas.openxmlformats.org/officeDocument/2006/relationships/image" Target="../media/image110.png"/><Relationship Id="rId14" Type="http://schemas.openxmlformats.org/officeDocument/2006/relationships/image" Target="../media/image56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16.xml"/><Relationship Id="rId4" Type="http://schemas.openxmlformats.org/officeDocument/2006/relationships/chart" Target="../charts/chart15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image" Target="../media/image1.png"/><Relationship Id="rId7" Type="http://schemas.openxmlformats.org/officeDocument/2006/relationships/chart" Target="../charts/chart20.xml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9.xml"/><Relationship Id="rId5" Type="http://schemas.openxmlformats.org/officeDocument/2006/relationships/chart" Target="../charts/chart18.xml"/><Relationship Id="rId4" Type="http://schemas.openxmlformats.org/officeDocument/2006/relationships/chart" Target="../charts/chart17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22.xml"/><Relationship Id="rId4" Type="http://schemas.openxmlformats.org/officeDocument/2006/relationships/chart" Target="../charts/chart21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23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6.png"/><Relationship Id="rId3" Type="http://schemas.openxmlformats.org/officeDocument/2006/relationships/image" Target="../media/image1.png"/><Relationship Id="rId7" Type="http://schemas.openxmlformats.org/officeDocument/2006/relationships/image" Target="../media/image195.png"/><Relationship Id="rId12" Type="http://schemas.openxmlformats.org/officeDocument/2006/relationships/image" Target="../media/image2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4.png"/><Relationship Id="rId11" Type="http://schemas.openxmlformats.org/officeDocument/2006/relationships/image" Target="../media/image198.png"/><Relationship Id="rId5" Type="http://schemas.openxmlformats.org/officeDocument/2006/relationships/image" Target="../media/image194.png"/><Relationship Id="rId10" Type="http://schemas.openxmlformats.org/officeDocument/2006/relationships/image" Target="../media/image197.png"/><Relationship Id="rId4" Type="http://schemas.openxmlformats.org/officeDocument/2006/relationships/image" Target="../media/image193.png"/><Relationship Id="rId9" Type="http://schemas.openxmlformats.org/officeDocument/2006/relationships/image" Target="../media/image174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25.xml"/><Relationship Id="rId4" Type="http://schemas.openxmlformats.org/officeDocument/2006/relationships/chart" Target="../charts/chart24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28.xml"/><Relationship Id="rId5" Type="http://schemas.openxmlformats.org/officeDocument/2006/relationships/chart" Target="../charts/chart27.xml"/><Relationship Id="rId4" Type="http://schemas.openxmlformats.org/officeDocument/2006/relationships/chart" Target="../charts/chart26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29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9.png"/><Relationship Id="rId13" Type="http://schemas.openxmlformats.org/officeDocument/2006/relationships/image" Target="../media/image212.png"/><Relationship Id="rId18" Type="http://schemas.openxmlformats.org/officeDocument/2006/relationships/image" Target="../media/image216.png"/><Relationship Id="rId26" Type="http://schemas.openxmlformats.org/officeDocument/2006/relationships/image" Target="../media/image2.png"/><Relationship Id="rId3" Type="http://schemas.openxmlformats.org/officeDocument/2006/relationships/image" Target="../media/image1.png"/><Relationship Id="rId21" Type="http://schemas.openxmlformats.org/officeDocument/2006/relationships/image" Target="../media/image218.png"/><Relationship Id="rId7" Type="http://schemas.openxmlformats.org/officeDocument/2006/relationships/image" Target="../media/image208.png"/><Relationship Id="rId12" Type="http://schemas.openxmlformats.org/officeDocument/2006/relationships/image" Target="../media/image97.png"/><Relationship Id="rId17" Type="http://schemas.openxmlformats.org/officeDocument/2006/relationships/image" Target="../media/image215.png"/><Relationship Id="rId25" Type="http://schemas.openxmlformats.org/officeDocument/2006/relationships/image" Target="../media/image66.png"/><Relationship Id="rId2" Type="http://schemas.openxmlformats.org/officeDocument/2006/relationships/notesSlide" Target="../notesSlides/notesSlide63.xml"/><Relationship Id="rId16" Type="http://schemas.openxmlformats.org/officeDocument/2006/relationships/image" Target="../media/image214.png"/><Relationship Id="rId20" Type="http://schemas.openxmlformats.org/officeDocument/2006/relationships/image" Target="../media/image6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74.png"/><Relationship Id="rId11" Type="http://schemas.openxmlformats.org/officeDocument/2006/relationships/image" Target="../media/image211.png"/><Relationship Id="rId24" Type="http://schemas.openxmlformats.org/officeDocument/2006/relationships/image" Target="../media/image221.png"/><Relationship Id="rId5" Type="http://schemas.openxmlformats.org/officeDocument/2006/relationships/image" Target="../media/image207.png"/><Relationship Id="rId15" Type="http://schemas.openxmlformats.org/officeDocument/2006/relationships/image" Target="../media/image100.png"/><Relationship Id="rId23" Type="http://schemas.openxmlformats.org/officeDocument/2006/relationships/image" Target="../media/image220.png"/><Relationship Id="rId10" Type="http://schemas.openxmlformats.org/officeDocument/2006/relationships/image" Target="../media/image210.png"/><Relationship Id="rId19" Type="http://schemas.openxmlformats.org/officeDocument/2006/relationships/image" Target="../media/image217.png"/><Relationship Id="rId4" Type="http://schemas.openxmlformats.org/officeDocument/2006/relationships/image" Target="../media/image206.png"/><Relationship Id="rId9" Type="http://schemas.openxmlformats.org/officeDocument/2006/relationships/image" Target="../media/image94.png"/><Relationship Id="rId14" Type="http://schemas.openxmlformats.org/officeDocument/2006/relationships/image" Target="../media/image213.png"/><Relationship Id="rId22" Type="http://schemas.openxmlformats.org/officeDocument/2006/relationships/image" Target="../media/image219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31.xml"/><Relationship Id="rId4" Type="http://schemas.openxmlformats.org/officeDocument/2006/relationships/chart" Target="../charts/chart30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image" Target="../media/image1.png"/><Relationship Id="rId7" Type="http://schemas.openxmlformats.org/officeDocument/2006/relationships/chart" Target="../charts/chart35.xml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34.xml"/><Relationship Id="rId5" Type="http://schemas.openxmlformats.org/officeDocument/2006/relationships/chart" Target="../charts/chart33.xml"/><Relationship Id="rId4" Type="http://schemas.openxmlformats.org/officeDocument/2006/relationships/chart" Target="../charts/chart32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image" Target="../media/image1.png"/><Relationship Id="rId7" Type="http://schemas.openxmlformats.org/officeDocument/2006/relationships/chart" Target="../charts/chart39.xml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38.xml"/><Relationship Id="rId5" Type="http://schemas.openxmlformats.org/officeDocument/2006/relationships/chart" Target="../charts/chart37.xml"/><Relationship Id="rId4" Type="http://schemas.openxmlformats.org/officeDocument/2006/relationships/chart" Target="../charts/chart36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40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9.png"/><Relationship Id="rId13" Type="http://schemas.openxmlformats.org/officeDocument/2006/relationships/image" Target="../media/image242.png"/><Relationship Id="rId18" Type="http://schemas.openxmlformats.org/officeDocument/2006/relationships/image" Target="../media/image246.png"/><Relationship Id="rId3" Type="http://schemas.openxmlformats.org/officeDocument/2006/relationships/image" Target="../media/image1.png"/><Relationship Id="rId21" Type="http://schemas.openxmlformats.org/officeDocument/2006/relationships/image" Target="../media/image249.png"/><Relationship Id="rId7" Type="http://schemas.openxmlformats.org/officeDocument/2006/relationships/image" Target="../media/image238.png"/><Relationship Id="rId12" Type="http://schemas.openxmlformats.org/officeDocument/2006/relationships/image" Target="../media/image174.png"/><Relationship Id="rId17" Type="http://schemas.openxmlformats.org/officeDocument/2006/relationships/image" Target="../media/image63.png"/><Relationship Id="rId2" Type="http://schemas.openxmlformats.org/officeDocument/2006/relationships/notesSlide" Target="../notesSlides/notesSlide72.xml"/><Relationship Id="rId16" Type="http://schemas.openxmlformats.org/officeDocument/2006/relationships/image" Target="../media/image245.png"/><Relationship Id="rId20" Type="http://schemas.openxmlformats.org/officeDocument/2006/relationships/image" Target="../media/image24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4.png"/><Relationship Id="rId11" Type="http://schemas.openxmlformats.org/officeDocument/2006/relationships/image" Target="../media/image241.png"/><Relationship Id="rId5" Type="http://schemas.openxmlformats.org/officeDocument/2006/relationships/image" Target="../media/image237.png"/><Relationship Id="rId15" Type="http://schemas.openxmlformats.org/officeDocument/2006/relationships/image" Target="../media/image244.png"/><Relationship Id="rId10" Type="http://schemas.openxmlformats.org/officeDocument/2006/relationships/image" Target="../media/image240.png"/><Relationship Id="rId19" Type="http://schemas.openxmlformats.org/officeDocument/2006/relationships/image" Target="../media/image247.png"/><Relationship Id="rId4" Type="http://schemas.openxmlformats.org/officeDocument/2006/relationships/image" Target="../media/image236.png"/><Relationship Id="rId9" Type="http://schemas.openxmlformats.org/officeDocument/2006/relationships/image" Target="../media/image100.png"/><Relationship Id="rId14" Type="http://schemas.openxmlformats.org/officeDocument/2006/relationships/image" Target="../media/image243.png"/><Relationship Id="rId22" Type="http://schemas.openxmlformats.org/officeDocument/2006/relationships/image" Target="../media/image2.pn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42.xml"/><Relationship Id="rId4" Type="http://schemas.openxmlformats.org/officeDocument/2006/relationships/chart" Target="../charts/chart41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image" Target="../media/image1.png"/><Relationship Id="rId7" Type="http://schemas.openxmlformats.org/officeDocument/2006/relationships/chart" Target="../charts/chart46.xml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45.xml"/><Relationship Id="rId5" Type="http://schemas.openxmlformats.org/officeDocument/2006/relationships/chart" Target="../charts/chart44.xml"/><Relationship Id="rId4" Type="http://schemas.openxmlformats.org/officeDocument/2006/relationships/chart" Target="../charts/chart43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49.xml"/><Relationship Id="rId5" Type="http://schemas.openxmlformats.org/officeDocument/2006/relationships/chart" Target="../charts/chart48.xml"/><Relationship Id="rId4" Type="http://schemas.openxmlformats.org/officeDocument/2006/relationships/chart" Target="../charts/chart47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50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8.png"/><Relationship Id="rId3" Type="http://schemas.openxmlformats.org/officeDocument/2006/relationships/image" Target="../media/image1.png"/><Relationship Id="rId7" Type="http://schemas.openxmlformats.org/officeDocument/2006/relationships/image" Target="../media/image267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74.png"/><Relationship Id="rId5" Type="http://schemas.openxmlformats.org/officeDocument/2006/relationships/image" Target="../media/image266.png"/><Relationship Id="rId10" Type="http://schemas.openxmlformats.org/officeDocument/2006/relationships/image" Target="../media/image2.png"/><Relationship Id="rId4" Type="http://schemas.openxmlformats.org/officeDocument/2006/relationships/image" Target="../media/image265.png"/><Relationship Id="rId9" Type="http://schemas.openxmlformats.org/officeDocument/2006/relationships/image" Target="../media/image100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52.xml"/><Relationship Id="rId4" Type="http://schemas.openxmlformats.org/officeDocument/2006/relationships/chart" Target="../charts/chart51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54.xml"/><Relationship Id="rId4" Type="http://schemas.openxmlformats.org/officeDocument/2006/relationships/chart" Target="../charts/chart53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55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9.png"/><Relationship Id="rId3" Type="http://schemas.openxmlformats.org/officeDocument/2006/relationships/image" Target="../media/image1.png"/><Relationship Id="rId7" Type="http://schemas.openxmlformats.org/officeDocument/2006/relationships/image" Target="../media/image318.png"/><Relationship Id="rId12" Type="http://schemas.openxmlformats.org/officeDocument/2006/relationships/image" Target="../media/image2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74.png"/><Relationship Id="rId11" Type="http://schemas.openxmlformats.org/officeDocument/2006/relationships/image" Target="../media/image321.png"/><Relationship Id="rId5" Type="http://schemas.openxmlformats.org/officeDocument/2006/relationships/image" Target="../media/image317.png"/><Relationship Id="rId10" Type="http://schemas.openxmlformats.org/officeDocument/2006/relationships/image" Target="../media/image320.png"/><Relationship Id="rId4" Type="http://schemas.openxmlformats.org/officeDocument/2006/relationships/image" Target="../media/image316.png"/><Relationship Id="rId9" Type="http://schemas.openxmlformats.org/officeDocument/2006/relationships/image" Target="../media/image97.pn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57.xml"/><Relationship Id="rId4" Type="http://schemas.openxmlformats.org/officeDocument/2006/relationships/chart" Target="../charts/chart56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60.xml"/><Relationship Id="rId5" Type="http://schemas.openxmlformats.org/officeDocument/2006/relationships/chart" Target="../charts/chart59.xml"/><Relationship Id="rId4" Type="http://schemas.openxmlformats.org/officeDocument/2006/relationships/chart" Target="../charts/chart58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61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0.png"/><Relationship Id="rId13" Type="http://schemas.openxmlformats.org/officeDocument/2006/relationships/image" Target="../media/image333.png"/><Relationship Id="rId3" Type="http://schemas.openxmlformats.org/officeDocument/2006/relationships/image" Target="../media/image1.png"/><Relationship Id="rId7" Type="http://schemas.openxmlformats.org/officeDocument/2006/relationships/image" Target="../media/image329.png"/><Relationship Id="rId12" Type="http://schemas.openxmlformats.org/officeDocument/2006/relationships/image" Target="../media/image168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3.png"/><Relationship Id="rId11" Type="http://schemas.openxmlformats.org/officeDocument/2006/relationships/image" Target="../media/image332.png"/><Relationship Id="rId5" Type="http://schemas.openxmlformats.org/officeDocument/2006/relationships/image" Target="../media/image328.png"/><Relationship Id="rId15" Type="http://schemas.openxmlformats.org/officeDocument/2006/relationships/image" Target="../media/image2.png"/><Relationship Id="rId10" Type="http://schemas.openxmlformats.org/officeDocument/2006/relationships/image" Target="../media/image331.png"/><Relationship Id="rId4" Type="http://schemas.openxmlformats.org/officeDocument/2006/relationships/image" Target="../media/image327.png"/><Relationship Id="rId9" Type="http://schemas.openxmlformats.org/officeDocument/2006/relationships/image" Target="../media/image97.png"/><Relationship Id="rId14" Type="http://schemas.openxmlformats.org/officeDocument/2006/relationships/image" Target="../media/image334.pn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63.xml"/><Relationship Id="rId4" Type="http://schemas.openxmlformats.org/officeDocument/2006/relationships/chart" Target="../charts/chart62.xml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image" Target="../media/image1.png"/><Relationship Id="rId7" Type="http://schemas.openxmlformats.org/officeDocument/2006/relationships/chart" Target="../charts/chart67.xml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66.xml"/><Relationship Id="rId5" Type="http://schemas.openxmlformats.org/officeDocument/2006/relationships/chart" Target="../charts/chart65.xml"/><Relationship Id="rId4" Type="http://schemas.openxmlformats.org/officeDocument/2006/relationships/chart" Target="../charts/chart64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68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7.png"/><Relationship Id="rId13" Type="http://schemas.openxmlformats.org/officeDocument/2006/relationships/image" Target="../media/image351.png"/><Relationship Id="rId18" Type="http://schemas.openxmlformats.org/officeDocument/2006/relationships/image" Target="../media/image2.png"/><Relationship Id="rId3" Type="http://schemas.openxmlformats.org/officeDocument/2006/relationships/image" Target="../media/image1.png"/><Relationship Id="rId7" Type="http://schemas.openxmlformats.org/officeDocument/2006/relationships/image" Target="../media/image346.png"/><Relationship Id="rId12" Type="http://schemas.openxmlformats.org/officeDocument/2006/relationships/image" Target="../media/image350.png"/><Relationship Id="rId17" Type="http://schemas.openxmlformats.org/officeDocument/2006/relationships/image" Target="../media/image354.png"/><Relationship Id="rId2" Type="http://schemas.openxmlformats.org/officeDocument/2006/relationships/notesSlide" Target="../notesSlides/notesSlide105.xml"/><Relationship Id="rId16" Type="http://schemas.openxmlformats.org/officeDocument/2006/relationships/image" Target="../media/image35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4.png"/><Relationship Id="rId11" Type="http://schemas.openxmlformats.org/officeDocument/2006/relationships/image" Target="../media/image349.png"/><Relationship Id="rId5" Type="http://schemas.openxmlformats.org/officeDocument/2006/relationships/image" Target="../media/image345.png"/><Relationship Id="rId15" Type="http://schemas.openxmlformats.org/officeDocument/2006/relationships/image" Target="../media/image63.png"/><Relationship Id="rId10" Type="http://schemas.openxmlformats.org/officeDocument/2006/relationships/image" Target="../media/image348.png"/><Relationship Id="rId4" Type="http://schemas.openxmlformats.org/officeDocument/2006/relationships/image" Target="../media/image344.png"/><Relationship Id="rId9" Type="http://schemas.openxmlformats.org/officeDocument/2006/relationships/image" Target="../media/image66.png"/><Relationship Id="rId14" Type="http://schemas.openxmlformats.org/officeDocument/2006/relationships/image" Target="../media/image352.png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70.xml"/><Relationship Id="rId4" Type="http://schemas.openxmlformats.org/officeDocument/2006/relationships/chart" Target="../charts/chart69.xml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image" Target="../media/image1.png"/><Relationship Id="rId7" Type="http://schemas.openxmlformats.org/officeDocument/2006/relationships/chart" Target="../charts/chart74.xml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73.xml"/><Relationship Id="rId5" Type="http://schemas.openxmlformats.org/officeDocument/2006/relationships/chart" Target="../charts/chart72.xml"/><Relationship Id="rId4" Type="http://schemas.openxmlformats.org/officeDocument/2006/relationships/chart" Target="../charts/chart71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75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76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77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78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image" Target="../media/image1.png"/><Relationship Id="rId7" Type="http://schemas.openxmlformats.org/officeDocument/2006/relationships/chart" Target="../charts/chart82.xml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81.xml"/><Relationship Id="rId5" Type="http://schemas.openxmlformats.org/officeDocument/2006/relationships/chart" Target="../charts/chart80.xml"/><Relationship Id="rId4" Type="http://schemas.openxmlformats.org/officeDocument/2006/relationships/chart" Target="../charts/chart79.xml"/></Relationships>
</file>

<file path=ppt/slides/_rels/slide1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image" Target="../media/image1.png"/><Relationship Id="rId7" Type="http://schemas.openxmlformats.org/officeDocument/2006/relationships/chart" Target="../charts/chart86.xml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85.xml"/><Relationship Id="rId5" Type="http://schemas.openxmlformats.org/officeDocument/2006/relationships/chart" Target="../charts/chart84.xml"/><Relationship Id="rId4" Type="http://schemas.openxmlformats.org/officeDocument/2006/relationships/chart" Target="../charts/chart83.xml"/></Relationships>
</file>

<file path=ppt/slides/_rels/slide150.xml.rels><?xml version="1.0" encoding="UTF-8" standalone="yes"?>
<Relationships xmlns="http://schemas.openxmlformats.org/package/2006/relationships"><Relationship Id="rId8" Type="http://schemas.openxmlformats.org/officeDocument/2006/relationships/chart" Target="../charts/chart91.xml"/><Relationship Id="rId13" Type="http://schemas.openxmlformats.org/officeDocument/2006/relationships/chart" Target="../charts/chart96.xml"/><Relationship Id="rId3" Type="http://schemas.openxmlformats.org/officeDocument/2006/relationships/image" Target="../media/image1.png"/><Relationship Id="rId7" Type="http://schemas.openxmlformats.org/officeDocument/2006/relationships/chart" Target="../charts/chart90.xml"/><Relationship Id="rId12" Type="http://schemas.openxmlformats.org/officeDocument/2006/relationships/chart" Target="../charts/chart95.xml"/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89.xml"/><Relationship Id="rId11" Type="http://schemas.openxmlformats.org/officeDocument/2006/relationships/chart" Target="../charts/chart94.xml"/><Relationship Id="rId5" Type="http://schemas.openxmlformats.org/officeDocument/2006/relationships/chart" Target="../charts/chart88.xml"/><Relationship Id="rId10" Type="http://schemas.openxmlformats.org/officeDocument/2006/relationships/chart" Target="../charts/chart93.xml"/><Relationship Id="rId4" Type="http://schemas.openxmlformats.org/officeDocument/2006/relationships/chart" Target="../charts/chart87.xml"/><Relationship Id="rId9" Type="http://schemas.openxmlformats.org/officeDocument/2006/relationships/chart" Target="../charts/chart92.xml"/><Relationship Id="rId14" Type="http://schemas.openxmlformats.org/officeDocument/2006/relationships/image" Target="../media/image2.png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98.xml"/><Relationship Id="rId4" Type="http://schemas.openxmlformats.org/officeDocument/2006/relationships/chart" Target="../charts/chart97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100.xml"/><Relationship Id="rId4" Type="http://schemas.openxmlformats.org/officeDocument/2006/relationships/chart" Target="../charts/chart99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102.xml"/><Relationship Id="rId4" Type="http://schemas.openxmlformats.org/officeDocument/2006/relationships/chart" Target="../charts/chart101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104.xml"/><Relationship Id="rId4" Type="http://schemas.openxmlformats.org/officeDocument/2006/relationships/chart" Target="../charts/chart103.xml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106.xml"/><Relationship Id="rId4" Type="http://schemas.openxmlformats.org/officeDocument/2006/relationships/chart" Target="../charts/chart105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108.xml"/><Relationship Id="rId4" Type="http://schemas.openxmlformats.org/officeDocument/2006/relationships/chart" Target="../charts/chart107.xml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110.xml"/><Relationship Id="rId4" Type="http://schemas.openxmlformats.org/officeDocument/2006/relationships/chart" Target="../charts/chart109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112.xml"/><Relationship Id="rId4" Type="http://schemas.openxmlformats.org/officeDocument/2006/relationships/chart" Target="../charts/chart111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5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5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5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57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113.xml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5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5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6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6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6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63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114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6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6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6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6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68.xml"/><Relationship Id="rId1" Type="http://schemas.openxmlformats.org/officeDocument/2006/relationships/slideLayout" Target="../slideLayouts/slideLayout7.xml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6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7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chart" Target="../charts/chart116.xml"/><Relationship Id="rId4" Type="http://schemas.openxmlformats.org/officeDocument/2006/relationships/chart" Target="../charts/chart115.xml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7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117.xml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7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118.xml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7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7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7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7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7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7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7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8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8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8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83.xml"/><Relationship Id="rId1" Type="http://schemas.openxmlformats.org/officeDocument/2006/relationships/slideLayout" Target="../slideLayouts/slideLayout7.xml"/></Relationships>
</file>

<file path=ppt/slides/_rels/slide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8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8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8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87.xml"/><Relationship Id="rId1" Type="http://schemas.openxmlformats.org/officeDocument/2006/relationships/slideLayout" Target="../slideLayouts/slideLayout7.xml"/></Relationships>
</file>

<file path=ppt/slides/_rels/slide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8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8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9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9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9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9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9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9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96.xml"/><Relationship Id="rId1" Type="http://schemas.openxmlformats.org/officeDocument/2006/relationships/slideLayout" Target="../slideLayouts/slideLayout7.xml"/></Relationships>
</file>

<file path=ppt/slides/_rels/slide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9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9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9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0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0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0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0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0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0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06.xml"/><Relationship Id="rId1" Type="http://schemas.openxmlformats.org/officeDocument/2006/relationships/slideLayout" Target="../slideLayouts/slideLayout7.xml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0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0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0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1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1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119.xml"/></Relationships>
</file>

<file path=ppt/slides/_rels/slide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212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22.xml"/><Relationship Id="rId5" Type="http://schemas.openxmlformats.org/officeDocument/2006/relationships/chart" Target="../charts/chart121.xml"/><Relationship Id="rId4" Type="http://schemas.openxmlformats.org/officeDocument/2006/relationships/chart" Target="../charts/chart120.xml"/></Relationships>
</file>

<file path=ppt/slides/_rels/slide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213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25.xml"/><Relationship Id="rId5" Type="http://schemas.openxmlformats.org/officeDocument/2006/relationships/chart" Target="../charts/chart124.xml"/><Relationship Id="rId4" Type="http://schemas.openxmlformats.org/officeDocument/2006/relationships/chart" Target="../charts/chart123.xml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1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215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28.xml"/><Relationship Id="rId5" Type="http://schemas.openxmlformats.org/officeDocument/2006/relationships/chart" Target="../charts/chart127.xml"/><Relationship Id="rId4" Type="http://schemas.openxmlformats.org/officeDocument/2006/relationships/chart" Target="../charts/chart126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1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129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1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1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1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220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32.xml"/><Relationship Id="rId5" Type="http://schemas.openxmlformats.org/officeDocument/2006/relationships/chart" Target="../charts/chart131.xml"/><Relationship Id="rId4" Type="http://schemas.openxmlformats.org/officeDocument/2006/relationships/chart" Target="../charts/chart130.xml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2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133.xml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2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2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2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225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36.xml"/><Relationship Id="rId5" Type="http://schemas.openxmlformats.org/officeDocument/2006/relationships/chart" Target="../charts/chart135.xml"/><Relationship Id="rId4" Type="http://schemas.openxmlformats.org/officeDocument/2006/relationships/chart" Target="../charts/chart134.xml"/></Relationships>
</file>

<file path=ppt/slides/_rels/slide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2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chart" Target="../charts/chart137.xml"/></Relationships>
</file>

<file path=ppt/slides/_rels/slide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2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2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2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8F8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Oval 2"/>
          <p:cNvSpPr/>
          <p:nvPr/>
        </p:nvSpPr>
        <p:spPr>
          <a:xfrm>
            <a:off x="-1905000" y="4476750"/>
            <a:ext cx="5334000" cy="5334000"/>
          </a:xfrm>
          <a:prstGeom prst="ellipse">
            <a:avLst/>
          </a:prstGeom>
          <a:solidFill>
            <a:srgbClr val="EAF6FB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Oval 3"/>
          <p:cNvSpPr/>
          <p:nvPr/>
        </p:nvSpPr>
        <p:spPr>
          <a:xfrm>
            <a:off x="8001000" y="-2000250"/>
            <a:ext cx="5334000" cy="533400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Oval 4"/>
          <p:cNvSpPr/>
          <p:nvPr/>
        </p:nvSpPr>
        <p:spPr>
          <a:xfrm>
            <a:off x="8715375" y="-1285875"/>
            <a:ext cx="3905250" cy="39052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Oval 5"/>
          <p:cNvSpPr/>
          <p:nvPr/>
        </p:nvSpPr>
        <p:spPr>
          <a:xfrm>
            <a:off x="9382125" y="-619125"/>
            <a:ext cx="2571750" cy="25717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Oval 6"/>
          <p:cNvSpPr/>
          <p:nvPr/>
        </p:nvSpPr>
        <p:spPr>
          <a:xfrm>
            <a:off x="10096500" y="95250"/>
            <a:ext cx="1143000" cy="1143000"/>
          </a:xfrm>
          <a:prstGeom prst="ellipse">
            <a:avLst/>
          </a:prstGeom>
          <a:solidFill>
            <a:srgbClr val="EAF6FB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" name="Rounded Rectangle 7"/>
          <p:cNvSpPr/>
          <p:nvPr/>
        </p:nvSpPr>
        <p:spPr>
          <a:xfrm>
            <a:off x="9010650" y="5848350"/>
            <a:ext cx="228600" cy="2476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" name="Rounded Rectangle 8"/>
          <p:cNvSpPr/>
          <p:nvPr/>
        </p:nvSpPr>
        <p:spPr>
          <a:xfrm>
            <a:off x="9391650" y="5676900"/>
            <a:ext cx="228600" cy="4191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" name="Rounded Rectangle 9"/>
          <p:cNvSpPr/>
          <p:nvPr/>
        </p:nvSpPr>
        <p:spPr>
          <a:xfrm>
            <a:off x="9772650" y="5772150"/>
            <a:ext cx="228600" cy="3238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Rounded Rectangle 10"/>
          <p:cNvSpPr/>
          <p:nvPr/>
        </p:nvSpPr>
        <p:spPr>
          <a:xfrm>
            <a:off x="10153650" y="5524500"/>
            <a:ext cx="228600" cy="5715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Rounded Rectangle 11"/>
          <p:cNvSpPr/>
          <p:nvPr/>
        </p:nvSpPr>
        <p:spPr>
          <a:xfrm>
            <a:off x="10534650" y="5314950"/>
            <a:ext cx="228600" cy="7810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Rounded Rectangle 12"/>
          <p:cNvSpPr/>
          <p:nvPr/>
        </p:nvSpPr>
        <p:spPr>
          <a:xfrm>
            <a:off x="10915650" y="5600700"/>
            <a:ext cx="228600" cy="4953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Rounded Rectangle 13"/>
          <p:cNvSpPr/>
          <p:nvPr/>
        </p:nvSpPr>
        <p:spPr>
          <a:xfrm>
            <a:off x="11296650" y="5181600"/>
            <a:ext cx="228600" cy="9144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15" name="Picture 14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4400" y="381000"/>
            <a:ext cx="1307592" cy="1325880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1143000" y="2667000"/>
            <a:ext cx="9334500" cy="1809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3400" b="1">
                <a:solidFill>
                  <a:srgbClr val="0B2E4A"/>
                </a:solidFill>
                <a:latin typeface="Calibri"/>
              </a:rPr>
              <a:t>Europe Pet Cosmetic Products Market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162050" y="4686300"/>
            <a:ext cx="9334500" cy="8572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600" b="0">
                <a:solidFill>
                  <a:srgbClr val="6C7A89"/>
                </a:solidFill>
                <a:latin typeface="Calibri"/>
              </a:rPr>
              <a:t>Value (US$ Mn) and Volume (MT) Analysis and Forecast, 2021–2036</a:t>
            </a:r>
          </a:p>
          <a:p>
            <a:pPr algn="l"/>
            <a:r>
              <a:rPr sz="1100" b="0">
                <a:solidFill>
                  <a:srgbClr val="8FCBE6"/>
                </a:solidFill>
                <a:latin typeface="Calibri"/>
              </a:rPr>
              <a:t>Region focus: Europe   ·   Country focus: Germany   ·   Generated 07 Oct 2026   ·   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Agenda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Storyline of the report by section · click a section card to jump to it</a:t>
            </a:r>
          </a:p>
        </p:txBody>
      </p:sp>
      <p:sp>
        <p:nvSpPr>
          <p:cNvPr id="10" name="Rounded Rectangle 9">
            <a:hlinkClick r:id="rId3" action="ppaction://hlinksldjump"/>
          </p:cNvPr>
          <p:cNvSpPr/>
          <p:nvPr/>
        </p:nvSpPr>
        <p:spPr>
          <a:xfrm>
            <a:off x="314325" y="1135037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1. Market Signals</a:t>
            </a:r>
          </a:p>
        </p:txBody>
      </p:sp>
      <p:sp>
        <p:nvSpPr>
          <p:cNvPr id="11" name="Rounded Rectangle 10">
            <a:hlinkClick r:id="rId4" action="ppaction://hlinksldjump"/>
          </p:cNvPr>
          <p:cNvSpPr/>
          <p:nvPr/>
        </p:nvSpPr>
        <p:spPr>
          <a:xfrm>
            <a:off x="142875" y="1698873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ounded Rectangle 11">
            <a:hlinkClick r:id="rId5" action="ppaction://hlinksldjump"/>
          </p:cNvPr>
          <p:cNvSpPr/>
          <p:nvPr/>
        </p:nvSpPr>
        <p:spPr>
          <a:xfrm>
            <a:off x="314325" y="2244456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2. Market Taxonomy</a:t>
            </a:r>
          </a:p>
        </p:txBody>
      </p:sp>
      <p:sp>
        <p:nvSpPr>
          <p:cNvPr id="13" name="Rounded Rectangle 12">
            <a:hlinkClick r:id="rId6" action="ppaction://hlinksldjump"/>
          </p:cNvPr>
          <p:cNvSpPr/>
          <p:nvPr/>
        </p:nvSpPr>
        <p:spPr>
          <a:xfrm>
            <a:off x="314325" y="280829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3. Table of Contents</a:t>
            </a:r>
          </a:p>
        </p:txBody>
      </p:sp>
      <p:sp>
        <p:nvSpPr>
          <p:cNvPr id="14" name="Rounded Rectangle 13">
            <a:hlinkClick r:id="rId7" action="ppaction://hlinksldjump"/>
          </p:cNvPr>
          <p:cNvSpPr/>
          <p:nvPr/>
        </p:nvSpPr>
        <p:spPr>
          <a:xfrm>
            <a:off x="314325" y="3372129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4. List of Figures, List of Tables</a:t>
            </a:r>
          </a:p>
        </p:txBody>
      </p:sp>
      <p:sp>
        <p:nvSpPr>
          <p:cNvPr id="15" name="Rounded Rectangle 14">
            <a:hlinkClick r:id="rId8" action="ppaction://hlinksldjump"/>
          </p:cNvPr>
          <p:cNvSpPr/>
          <p:nvPr/>
        </p:nvSpPr>
        <p:spPr>
          <a:xfrm>
            <a:off x="142875" y="3935966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Market Outlook</a:t>
            </a:r>
          </a:p>
        </p:txBody>
      </p:sp>
      <p:sp>
        <p:nvSpPr>
          <p:cNvPr id="16" name="Rounded Rectangle 15">
            <a:hlinkClick r:id="rId9" action="ppaction://hlinksldjump"/>
          </p:cNvPr>
          <p:cNvSpPr/>
          <p:nvPr/>
        </p:nvSpPr>
        <p:spPr>
          <a:xfrm>
            <a:off x="314325" y="448154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5. Europe Overview</a:t>
            </a:r>
          </a:p>
        </p:txBody>
      </p:sp>
      <p:sp>
        <p:nvSpPr>
          <p:cNvPr id="17" name="Rounded Rectangle 16">
            <a:hlinkClick r:id="rId10" action="ppaction://hlinksldjump"/>
          </p:cNvPr>
          <p:cNvSpPr/>
          <p:nvPr/>
        </p:nvSpPr>
        <p:spPr>
          <a:xfrm>
            <a:off x="314325" y="5045384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6. Europe Market Analysis By Region</a:t>
            </a:r>
          </a:p>
        </p:txBody>
      </p:sp>
      <p:sp>
        <p:nvSpPr>
          <p:cNvPr id="18" name="Rounded Rectangle 17">
            <a:hlinkClick r:id="rId11" action="ppaction://hlinksldjump"/>
          </p:cNvPr>
          <p:cNvSpPr/>
          <p:nvPr/>
        </p:nvSpPr>
        <p:spPr>
          <a:xfrm>
            <a:off x="314325" y="5609221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7. Europe Market Analysis By Segments</a:t>
            </a:r>
          </a:p>
        </p:txBody>
      </p:sp>
      <p:sp>
        <p:nvSpPr>
          <p:cNvPr id="19" name="Rounded Rectangle 18">
            <a:hlinkClick r:id="rId12" action="ppaction://hlinksldjump"/>
          </p:cNvPr>
          <p:cNvSpPr/>
          <p:nvPr/>
        </p:nvSpPr>
        <p:spPr>
          <a:xfrm>
            <a:off x="314325" y="617305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8. Cross-sectional Assessment</a:t>
            </a:r>
          </a:p>
        </p:txBody>
      </p:sp>
      <p:sp>
        <p:nvSpPr>
          <p:cNvPr id="20" name="Rounded Rectangle 19">
            <a:hlinkClick r:id="rId13" action="ppaction://hlinksldjump"/>
          </p:cNvPr>
          <p:cNvSpPr/>
          <p:nvPr/>
        </p:nvSpPr>
        <p:spPr>
          <a:xfrm>
            <a:off x="6219825" y="113503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Country Market Outlook</a:t>
            </a:r>
          </a:p>
        </p:txBody>
      </p:sp>
      <p:sp>
        <p:nvSpPr>
          <p:cNvPr id="21" name="Rounded Rectangle 20">
            <a:hlinkClick r:id="rId14" action="ppaction://hlinksldjump"/>
          </p:cNvPr>
          <p:cNvSpPr/>
          <p:nvPr/>
        </p:nvSpPr>
        <p:spPr>
          <a:xfrm>
            <a:off x="6391275" y="154270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9. Pet Cosmetic Products Market Overview (Volume &amp; Value)</a:t>
            </a:r>
          </a:p>
        </p:txBody>
      </p:sp>
      <p:sp>
        <p:nvSpPr>
          <p:cNvPr id="22" name="Rounded Rectangle 21">
            <a:hlinkClick r:id="rId15" action="ppaction://hlinksldjump"/>
          </p:cNvPr>
          <p:cNvSpPr/>
          <p:nvPr/>
        </p:nvSpPr>
        <p:spPr>
          <a:xfrm>
            <a:off x="6391275" y="196862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10. Segment Overview (Volume &amp; Value)</a:t>
            </a:r>
          </a:p>
        </p:txBody>
      </p:sp>
      <p:sp>
        <p:nvSpPr>
          <p:cNvPr id="23" name="Rounded Rectangle 22">
            <a:hlinkClick r:id="rId16" action="ppaction://hlinksldjump"/>
          </p:cNvPr>
          <p:cNvSpPr/>
          <p:nvPr/>
        </p:nvSpPr>
        <p:spPr>
          <a:xfrm>
            <a:off x="6391275" y="2394542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11. Cross-sectional Assessment</a:t>
            </a:r>
          </a:p>
        </p:txBody>
      </p:sp>
      <p:sp>
        <p:nvSpPr>
          <p:cNvPr id="24" name="Rounded Rectangle 23">
            <a:hlinkClick r:id="rId17" action="ppaction://hlinksldjump"/>
          </p:cNvPr>
          <p:cNvSpPr/>
          <p:nvPr/>
        </p:nvSpPr>
        <p:spPr>
          <a:xfrm>
            <a:off x="6219825" y="2820462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Assessment</a:t>
            </a:r>
          </a:p>
        </p:txBody>
      </p:sp>
      <p:sp>
        <p:nvSpPr>
          <p:cNvPr id="25" name="Rounded Rectangle 24">
            <a:hlinkClick r:id="rId18" action="ppaction://hlinksldjump"/>
          </p:cNvPr>
          <p:cNvSpPr/>
          <p:nvPr/>
        </p:nvSpPr>
        <p:spPr>
          <a:xfrm>
            <a:off x="6391275" y="322812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12. Pet Cosmetic Products Market Pricing Analysis</a:t>
            </a:r>
          </a:p>
        </p:txBody>
      </p:sp>
      <p:sp>
        <p:nvSpPr>
          <p:cNvPr id="26" name="Rounded Rectangle 25">
            <a:hlinkClick r:id="rId19" action="ppaction://hlinksldjump"/>
          </p:cNvPr>
          <p:cNvSpPr/>
          <p:nvPr/>
        </p:nvSpPr>
        <p:spPr>
          <a:xfrm>
            <a:off x="6391275" y="3654047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13. Supply Chain Analysis</a:t>
            </a:r>
          </a:p>
        </p:txBody>
      </p:sp>
      <p:sp>
        <p:nvSpPr>
          <p:cNvPr id="27" name="Rounded Rectangle 26">
            <a:hlinkClick r:id="rId20" action="ppaction://hlinksldjump"/>
          </p:cNvPr>
          <p:cNvSpPr/>
          <p:nvPr/>
        </p:nvSpPr>
        <p:spPr>
          <a:xfrm>
            <a:off x="6219825" y="407996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Dynamics</a:t>
            </a:r>
          </a:p>
        </p:txBody>
      </p:sp>
      <p:sp>
        <p:nvSpPr>
          <p:cNvPr id="28" name="Rounded Rectangle 27">
            <a:hlinkClick r:id="rId21" action="ppaction://hlinksldjump"/>
          </p:cNvPr>
          <p:cNvSpPr/>
          <p:nvPr/>
        </p:nvSpPr>
        <p:spPr>
          <a:xfrm>
            <a:off x="6391275" y="448763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14. Market Dynamics &amp; Forces</a:t>
            </a:r>
          </a:p>
        </p:txBody>
      </p:sp>
      <p:sp>
        <p:nvSpPr>
          <p:cNvPr id="29" name="Rounded Rectangle 28">
            <a:hlinkClick r:id="rId22" action="ppaction://hlinksldjump"/>
          </p:cNvPr>
          <p:cNvSpPr/>
          <p:nvPr/>
        </p:nvSpPr>
        <p:spPr>
          <a:xfrm>
            <a:off x="6219825" y="4913552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Competition Assessment</a:t>
            </a:r>
          </a:p>
        </p:txBody>
      </p:sp>
      <p:sp>
        <p:nvSpPr>
          <p:cNvPr id="30" name="Rounded Rectangle 29">
            <a:hlinkClick r:id="rId23" action="ppaction://hlinksldjump"/>
          </p:cNvPr>
          <p:cNvSpPr/>
          <p:nvPr/>
        </p:nvSpPr>
        <p:spPr>
          <a:xfrm>
            <a:off x="6391275" y="532121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15. Competitive Landscape</a:t>
            </a:r>
          </a:p>
        </p:txBody>
      </p:sp>
      <p:sp>
        <p:nvSpPr>
          <p:cNvPr id="31" name="Rounded Rectangle 30">
            <a:hlinkClick r:id="rId24" action="ppaction://hlinksldjump"/>
          </p:cNvPr>
          <p:cNvSpPr/>
          <p:nvPr/>
        </p:nvSpPr>
        <p:spPr>
          <a:xfrm>
            <a:off x="6391275" y="574713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16. Market Share by Leading Players</a:t>
            </a:r>
          </a:p>
        </p:txBody>
      </p:sp>
      <p:sp>
        <p:nvSpPr>
          <p:cNvPr id="32" name="Rounded Rectangle 31">
            <a:hlinkClick r:id="rId25" action="ppaction://hlinksldjump"/>
          </p:cNvPr>
          <p:cNvSpPr/>
          <p:nvPr/>
        </p:nvSpPr>
        <p:spPr>
          <a:xfrm>
            <a:off x="6391275" y="617305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17. Company Profiles &amp; Strategic Benchmarking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Signals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Signals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Signals Reshaping Pet Cosmetic Products Demand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Signals reshaping Pet Cosmetic Products demand, the evidence behind each and what it implies for the Europe market</a:t>
            </a:r>
          </a:p>
        </p:txBody>
      </p:sp>
      <p:graphicFrame>
        <p:nvGraphicFramePr>
          <p:cNvPr id="10" name="Table 9"/>
          <p:cNvGraphicFramePr>
            <a:graphicFrameLocks noGrp="1"/>
          </p:cNvGraphicFramePr>
          <p:nvPr/>
        </p:nvGraphicFramePr>
        <p:xfrm>
          <a:off x="142875" y="1062022"/>
          <a:ext cx="11906250" cy="55491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71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00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33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468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QUESTIONS WE'RE HEARING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WHAT WE'RE OBSERVING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SELECT DATA POINTS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04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fast is Pet Cosmetic Products demand set to grow through 2036?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/>
                        <a:t> 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404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product type categories are buyers prioritising?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404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is incremental demand concentrating?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404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regions will drive the next wave of Pet Cosmetic Products demand?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404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should suppliers focus investment?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/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784750" y="1761432"/>
            <a:ext cx="17304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demand expands at a</a:t>
            </a:r>
          </a:p>
        </p:txBody>
      </p:sp>
      <p:pic>
        <p:nvPicPr>
          <p:cNvPr id="13" name="Picture 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3300" y="1751653"/>
            <a:ext cx="128699" cy="187198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5630796" y="1761432"/>
            <a:ext cx="270810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 (2026–2036), accelerating from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6957" y="1751653"/>
            <a:ext cx="128699" cy="187198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784750" y="1929072"/>
            <a:ext cx="11378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2021–2025.</a:t>
            </a:r>
          </a:p>
        </p:txBody>
      </p:sp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14228" y="1689042"/>
            <a:ext cx="330041" cy="480060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3784750" y="2801893"/>
            <a:ext cx="319653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leads Product Type, at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9332" y="2792114"/>
            <a:ext cx="128699" cy="187198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96827" y="2801893"/>
            <a:ext cx="136760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value, within a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3784750" y="2969533"/>
            <a:ext cx="164509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mix of 6 tracked categories.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85375" y="2801893"/>
            <a:ext cx="230676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Lead: Shampoos &amp; Cleansing Products ·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40188" y="2792114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11207683" y="2801893"/>
            <a:ext cx="3894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785375" y="2969533"/>
            <a:ext cx="4445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(2036)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3784750" y="3842354"/>
            <a:ext cx="360932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E-commerce is the fastest-growing part of Sales Channels, at a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2126" y="3832575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7509622" y="3842354"/>
            <a:ext cx="88928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3784750" y="4009994"/>
            <a:ext cx="16922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outpacing the wider market.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785375" y="3926174"/>
            <a:ext cx="13298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Fastest: E-commerce ·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63289" y="3916395"/>
            <a:ext cx="128699" cy="18719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0230785" y="3926174"/>
            <a:ext cx="5023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F-CAGR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3784750" y="4882815"/>
            <a:ext cx="224673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is the largest regional market (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79535" y="487303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147031" y="4882815"/>
            <a:ext cx="24873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value), while Europe grows fastest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3784750" y="5050455"/>
            <a:ext cx="1899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780" y="5040676"/>
            <a:ext cx="128699" cy="187198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4090276" y="5050455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785375" y="4966635"/>
            <a:ext cx="10374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Largest: Europe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70882" y="4956856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938378" y="4966635"/>
            <a:ext cx="117054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· Fastest: Europe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6977" y="4956856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224473" y="4966635"/>
            <a:ext cx="11849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784750" y="5923276"/>
            <a:ext cx="9457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 incremental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8579" y="5913497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4846075" y="5923276"/>
            <a:ext cx="312504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 demand is added between 2026 and 2036,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784750" y="6090916"/>
            <a:ext cx="33244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front-loaded in the leading categories and regions above.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785375" y="6007096"/>
            <a:ext cx="8579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$ opportunity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1346" y="5997317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58842" y="6007096"/>
            <a:ext cx="134577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(2026–2036) 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2672" y="5997317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220167" y="6007096"/>
            <a:ext cx="5283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2031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ang="195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Overview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Market Taxonomy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Table of Contents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List of Figures, List of Tables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Taxonomy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Geographic Coverage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Segments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Company Coverage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Regions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Geographic scope of the study: the Europe market broken into 25 countries and the countries assessed under each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6096000" y="1445350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>
            <a:off x="6096000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2111610"/>
            <a:ext cx="0" cy="10039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 flipH="1">
            <a:off x="4086225" y="2212005"/>
            <a:ext cx="2009775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4086225" y="2212005"/>
            <a:ext cx="0" cy="423485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 flipH="1">
            <a:off x="3990975" y="241279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 flipH="1">
            <a:off x="3990975" y="292389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 flipH="1">
            <a:off x="3990975" y="341674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 flipH="1">
            <a:off x="3990975" y="392785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 flipH="1">
            <a:off x="3990975" y="442070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H="1">
            <a:off x="3990975" y="493180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H="1">
            <a:off x="3990975" y="5442910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>
            <a:off x="3990975" y="593575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>
            <a:off x="3990975" y="644686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6096000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6096000" y="2567952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6096000" y="3069929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6096000" y="3571906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096000" y="4073882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6096000" y="4575859"/>
            <a:ext cx="0" cy="20991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6096000" y="5086963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6096000" y="5588939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6096000" y="6090916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6096000" y="2111610"/>
            <a:ext cx="0" cy="10039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6096000" y="2212005"/>
            <a:ext cx="2000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8096250" y="2212005"/>
            <a:ext cx="0" cy="324915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8096250" y="241279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8096250" y="292389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8096250" y="343500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8096250" y="392785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8096250" y="443895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8096250" y="4950060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8096250" y="546116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Rounded Rectangle 42"/>
          <p:cNvSpPr/>
          <p:nvPr/>
        </p:nvSpPr>
        <p:spPr>
          <a:xfrm>
            <a:off x="4667250" y="1080276"/>
            <a:ext cx="2857500" cy="365074"/>
          </a:xfrm>
          <a:prstGeom prst="roundRect">
            <a:avLst>
              <a:gd name="adj" fmla="val 17500"/>
            </a:avLst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1990725" y="1810424"/>
            <a:ext cx="8201025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Europe</a:t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1990725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Austria</a:t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1990725" y="276874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Belgium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1990725" y="327072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Bulgaria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1990725" y="377269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Croatia</a:t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1990725" y="427467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Czech Republic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1990725" y="478577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Denmark</a:t>
            </a:r>
          </a:p>
        </p:txBody>
      </p:sp>
      <p:sp>
        <p:nvSpPr>
          <p:cNvPr id="51" name="Rounded Rectangle 50"/>
          <p:cNvSpPr/>
          <p:nvPr/>
        </p:nvSpPr>
        <p:spPr>
          <a:xfrm>
            <a:off x="1990725" y="528775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Finland</a:t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1990725" y="57897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France</a:t>
            </a:r>
          </a:p>
        </p:txBody>
      </p:sp>
      <p:sp>
        <p:nvSpPr>
          <p:cNvPr id="53" name="Rounded Rectangle 52"/>
          <p:cNvSpPr/>
          <p:nvPr/>
        </p:nvSpPr>
        <p:spPr>
          <a:xfrm>
            <a:off x="1990725" y="62917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5095875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Greece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5095875" y="276874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Hungary</a:t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5095875" y="327072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Ireland</a:t>
            </a:r>
          </a:p>
        </p:txBody>
      </p:sp>
      <p:sp>
        <p:nvSpPr>
          <p:cNvPr id="57" name="Rounded Rectangle 56"/>
          <p:cNvSpPr/>
          <p:nvPr/>
        </p:nvSpPr>
        <p:spPr>
          <a:xfrm>
            <a:off x="5095875" y="377269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Italy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5095875" y="427467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Malta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5095875" y="478577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Netherlands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5095875" y="528775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Norway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5095875" y="57897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Poland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5095875" y="62917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Portugal</a:t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8191500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Romania</a:t>
            </a:r>
          </a:p>
        </p:txBody>
      </p:sp>
      <p:sp>
        <p:nvSpPr>
          <p:cNvPr id="64" name="Rounded Rectangle 63"/>
          <p:cNvSpPr/>
          <p:nvPr/>
        </p:nvSpPr>
        <p:spPr>
          <a:xfrm>
            <a:off x="8191500" y="277787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Slovenia</a:t>
            </a:r>
          </a:p>
        </p:txBody>
      </p:sp>
      <p:sp>
        <p:nvSpPr>
          <p:cNvPr id="65" name="Rounded Rectangle 64"/>
          <p:cNvSpPr/>
          <p:nvPr/>
        </p:nvSpPr>
        <p:spPr>
          <a:xfrm>
            <a:off x="8191500" y="327984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Spain</a:t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8191500" y="378182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Sweden</a:t>
            </a:r>
          </a:p>
        </p:txBody>
      </p:sp>
      <p:sp>
        <p:nvSpPr>
          <p:cNvPr id="67" name="Rounded Rectangle 66"/>
          <p:cNvSpPr/>
          <p:nvPr/>
        </p:nvSpPr>
        <p:spPr>
          <a:xfrm>
            <a:off x="8191500" y="429292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Switzerland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8191500" y="48040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United Kingdom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8191500" y="53060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Other European Countries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8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Type (1/2)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Shampoos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Sensitive &amp; Hypoallergenic Shampoos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37147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61975" y="178879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Functional &amp; Specialized Shampoos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Waterless &amp; Dry Shampoos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Foams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Facial Cleansing Wipes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Rinse-Out Conditioners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302895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Leave-In Conditioners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20611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20611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Detangling Sprays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1975" y="338328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De-shedding Products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56044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Shine Sprays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975" y="373761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Treatments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200025" y="391477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90525" y="391477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409194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409194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Creams &amp; Lotions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71475" y="426910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61975" y="426910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Soothing Treatments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444627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444627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Sprays &amp; Serums</a:t>
            </a:r>
          </a:p>
        </p:txBody>
      </p:sp>
      <p:cxnSp>
        <p:nvCxnSpPr>
          <p:cNvPr id="66" name="Connector 65"/>
          <p:cNvCxnSpPr/>
          <p:nvPr/>
        </p:nvCxnSpPr>
        <p:spPr>
          <a:xfrm>
            <a:off x="1524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/>
          <p:cNvSpPr txBox="1"/>
          <p:nvPr/>
        </p:nvSpPr>
        <p:spPr>
          <a:xfrm>
            <a:off x="371475" y="462343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1975" y="462343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Paw Balms &amp; Creams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524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371475" y="48006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1975" y="480060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Nose Balms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524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561975" y="497776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Sunscreens</a:t>
            </a:r>
          </a:p>
        </p:txBody>
      </p:sp>
      <p:cxnSp>
        <p:nvCxnSpPr>
          <p:cNvPr id="75" name="Connector 74"/>
          <p:cNvCxnSpPr/>
          <p:nvPr/>
        </p:nvCxnSpPr>
        <p:spPr>
          <a:xfrm>
            <a:off x="1524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200025" y="51549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0525" y="515493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1524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371475" y="53320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1975" y="533209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Cleansers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1524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371475" y="55092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61975" y="550926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Eye-Area Cleansers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524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371475" y="56864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61975" y="568642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Tear-Stain Removers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1524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200025" y="58635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90525" y="586359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1524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71475" y="60407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61975" y="604075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Toothpaste</a:t>
            </a:r>
          </a:p>
        </p:txBody>
      </p:sp>
      <p:cxnSp>
        <p:nvCxnSpPr>
          <p:cNvPr id="93" name="Connector 92"/>
          <p:cNvCxnSpPr/>
          <p:nvPr/>
        </p:nvCxnSpPr>
        <p:spPr>
          <a:xfrm>
            <a:off x="1524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TextBox 93"/>
          <p:cNvSpPr txBox="1"/>
          <p:nvPr/>
        </p:nvSpPr>
        <p:spPr>
          <a:xfrm>
            <a:off x="371475" y="62179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561975" y="621792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Oral Gels</a:t>
            </a:r>
          </a:p>
        </p:txBody>
      </p:sp>
      <p:cxnSp>
        <p:nvCxnSpPr>
          <p:cNvPr id="96" name="Connector 95"/>
          <p:cNvCxnSpPr/>
          <p:nvPr/>
        </p:nvCxnSpPr>
        <p:spPr>
          <a:xfrm>
            <a:off x="152400" y="63950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371475" y="63950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61975" y="639508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Sprays</a:t>
            </a:r>
          </a:p>
        </p:txBody>
      </p:sp>
      <p:sp>
        <p:nvSpPr>
          <p:cNvPr id="99" name="Rectangle 98"/>
          <p:cNvSpPr/>
          <p:nvPr/>
        </p:nvSpPr>
        <p:spPr>
          <a:xfrm>
            <a:off x="3152775" y="1028700"/>
            <a:ext cx="2876550" cy="14687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TextBox 100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Type (2/2)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cxnSp>
        <p:nvCxnSpPr>
          <p:cNvPr id="104" name="Connector 103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3381375" y="14344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71875" y="143446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Wipes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Water Additives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320992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400425" y="178879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338137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571875" y="196596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Perfumes &amp; Colognes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2143125"/>
            <a:ext cx="241935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Deodorizing &amp; Odor-Neutralizing Sprays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1626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Rectangle 119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TextBox 120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Ingredient Type (1/2)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cxnSp>
        <p:nvCxnSpPr>
          <p:cNvPr id="124" name="Connector 123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124"/>
          <p:cNvSpPr txBox="1"/>
          <p:nvPr/>
        </p:nvSpPr>
        <p:spPr>
          <a:xfrm>
            <a:off x="6391275" y="14344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6581775" y="143446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Cocamidopropyl Betaine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Alkyl Glucosides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639127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81775" y="178879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Glycerin</a:t>
            </a:r>
          </a:p>
        </p:txBody>
      </p:sp>
      <p:cxnSp>
        <p:nvCxnSpPr>
          <p:cNvPr id="133" name="Connector 132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" name="TextBox 133"/>
          <p:cNvSpPr txBox="1"/>
          <p:nvPr/>
        </p:nvSpPr>
        <p:spPr>
          <a:xfrm>
            <a:off x="639127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6581775" y="196596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Aloe Vera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6391275" y="21431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6581775" y="214312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Colloidal Oatmeal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61722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6391275" y="23202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581775" y="232029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Coconut Oil</a:t>
            </a:r>
          </a:p>
        </p:txBody>
      </p:sp>
      <p:cxnSp>
        <p:nvCxnSpPr>
          <p:cNvPr id="142" name="Connector 141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6391275" y="24974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581775" y="249745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Panthenol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61722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6391275" y="26746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581775" y="267462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Vitamin E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61722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6391275" y="28517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581775" y="285178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Hydrated Silica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61722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6391275" y="302895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581775" y="302895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Sodium Bicarbonate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61722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6219825" y="320611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0325" y="320611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391275" y="338328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581775" y="338328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Ceramides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391275" y="356044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581775" y="356044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Hyaluronic Acid / Sodium Hyaluronate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391275" y="373761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581775" y="373761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Chitosan Derivatives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391275" y="391477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581775" y="391477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Phytosphingosine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391275" y="409194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581775" y="409194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Allantoin</a:t>
            </a:r>
          </a:p>
        </p:txBody>
      </p:sp>
      <p:cxnSp>
        <p:nvCxnSpPr>
          <p:cNvPr id="172" name="Connector 171"/>
          <p:cNvCxnSpPr/>
          <p:nvPr/>
        </p:nvCxnSpPr>
        <p:spPr>
          <a:xfrm>
            <a:off x="61722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/>
          <p:cNvSpPr txBox="1"/>
          <p:nvPr/>
        </p:nvSpPr>
        <p:spPr>
          <a:xfrm>
            <a:off x="6391275" y="426910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581775" y="426910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Hydrolyzed Proteins</a:t>
            </a:r>
          </a:p>
        </p:txBody>
      </p:sp>
      <p:cxnSp>
        <p:nvCxnSpPr>
          <p:cNvPr id="175" name="Connector 174"/>
          <p:cNvCxnSpPr/>
          <p:nvPr/>
        </p:nvCxnSpPr>
        <p:spPr>
          <a:xfrm>
            <a:off x="61722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TextBox 175"/>
          <p:cNvSpPr txBox="1"/>
          <p:nvPr/>
        </p:nvSpPr>
        <p:spPr>
          <a:xfrm>
            <a:off x="6391275" y="444627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6581775" y="444627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Jojoba Oil</a:t>
            </a:r>
          </a:p>
        </p:txBody>
      </p:sp>
      <p:cxnSp>
        <p:nvCxnSpPr>
          <p:cNvPr id="178" name="Connector 177"/>
          <p:cNvCxnSpPr/>
          <p:nvPr/>
        </p:nvCxnSpPr>
        <p:spPr>
          <a:xfrm>
            <a:off x="61722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9" name="TextBox 178"/>
          <p:cNvSpPr txBox="1"/>
          <p:nvPr/>
        </p:nvSpPr>
        <p:spPr>
          <a:xfrm>
            <a:off x="6391275" y="462343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6581775" y="462343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Zinc Salts</a:t>
            </a:r>
          </a:p>
        </p:txBody>
      </p:sp>
      <p:cxnSp>
        <p:nvCxnSpPr>
          <p:cNvPr id="181" name="Connector 180"/>
          <p:cNvCxnSpPr/>
          <p:nvPr/>
        </p:nvCxnSpPr>
        <p:spPr>
          <a:xfrm>
            <a:off x="61722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2" name="TextBox 181"/>
          <p:cNvSpPr txBox="1"/>
          <p:nvPr/>
        </p:nvSpPr>
        <p:spPr>
          <a:xfrm>
            <a:off x="6391275" y="48006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6581775" y="480060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Oral-Care Enzymes</a:t>
            </a:r>
          </a:p>
        </p:txBody>
      </p:sp>
      <p:cxnSp>
        <p:nvCxnSpPr>
          <p:cNvPr id="184" name="Connector 183"/>
          <p:cNvCxnSpPr/>
          <p:nvPr/>
        </p:nvCxnSpPr>
        <p:spPr>
          <a:xfrm>
            <a:off x="61722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5" name="TextBox 184"/>
          <p:cNvSpPr txBox="1"/>
          <p:nvPr/>
        </p:nvSpPr>
        <p:spPr>
          <a:xfrm>
            <a:off x="6391275" y="49777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6581775" y="497776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Cyclodextrins</a:t>
            </a:r>
          </a:p>
        </p:txBody>
      </p:sp>
      <p:cxnSp>
        <p:nvCxnSpPr>
          <p:cNvPr id="187" name="Connector 186"/>
          <p:cNvCxnSpPr/>
          <p:nvPr/>
        </p:nvCxnSpPr>
        <p:spPr>
          <a:xfrm>
            <a:off x="61722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8" name="TextBox 187"/>
          <p:cNvSpPr txBox="1"/>
          <p:nvPr/>
        </p:nvSpPr>
        <p:spPr>
          <a:xfrm>
            <a:off x="6219825" y="51549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6410325" y="5154930"/>
            <a:ext cx="259080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cxnSp>
        <p:nvCxnSpPr>
          <p:cNvPr id="190" name="Connector 189"/>
          <p:cNvCxnSpPr/>
          <p:nvPr/>
        </p:nvCxnSpPr>
        <p:spPr>
          <a:xfrm>
            <a:off x="61722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1" name="TextBox 190"/>
          <p:cNvSpPr txBox="1"/>
          <p:nvPr/>
        </p:nvSpPr>
        <p:spPr>
          <a:xfrm>
            <a:off x="6391275" y="55092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6581775" y="550926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Prebiotics</a:t>
            </a:r>
          </a:p>
        </p:txBody>
      </p:sp>
      <p:cxnSp>
        <p:nvCxnSpPr>
          <p:cNvPr id="193" name="Connector 192"/>
          <p:cNvCxnSpPr/>
          <p:nvPr/>
        </p:nvCxnSpPr>
        <p:spPr>
          <a:xfrm>
            <a:off x="61722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4" name="TextBox 193"/>
          <p:cNvSpPr txBox="1"/>
          <p:nvPr/>
        </p:nvSpPr>
        <p:spPr>
          <a:xfrm>
            <a:off x="6391275" y="56864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6581775" y="568642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Postbiotics</a:t>
            </a:r>
          </a:p>
        </p:txBody>
      </p:sp>
      <p:cxnSp>
        <p:nvCxnSpPr>
          <p:cNvPr id="196" name="Connector 195"/>
          <p:cNvCxnSpPr/>
          <p:nvPr/>
        </p:nvCxnSpPr>
        <p:spPr>
          <a:xfrm>
            <a:off x="61722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7" name="TextBox 196"/>
          <p:cNvSpPr txBox="1"/>
          <p:nvPr/>
        </p:nvSpPr>
        <p:spPr>
          <a:xfrm>
            <a:off x="6391275" y="58635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6581775" y="586359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Live Probiotic Preparations</a:t>
            </a:r>
          </a:p>
        </p:txBody>
      </p:sp>
      <p:cxnSp>
        <p:nvCxnSpPr>
          <p:cNvPr id="199" name="Connector 198"/>
          <p:cNvCxnSpPr/>
          <p:nvPr/>
        </p:nvCxnSpPr>
        <p:spPr>
          <a:xfrm>
            <a:off x="61722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0" name="TextBox 199"/>
          <p:cNvSpPr txBox="1"/>
          <p:nvPr/>
        </p:nvSpPr>
        <p:spPr>
          <a:xfrm>
            <a:off x="6391275" y="60407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581775" y="604075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Sophorolipid Biosurfactants</a:t>
            </a:r>
          </a:p>
        </p:txBody>
      </p:sp>
      <p:cxnSp>
        <p:nvCxnSpPr>
          <p:cNvPr id="202" name="Connector 201"/>
          <p:cNvCxnSpPr/>
          <p:nvPr/>
        </p:nvCxnSpPr>
        <p:spPr>
          <a:xfrm>
            <a:off x="61722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3" name="TextBox 202"/>
          <p:cNvSpPr txBox="1"/>
          <p:nvPr/>
        </p:nvSpPr>
        <p:spPr>
          <a:xfrm>
            <a:off x="6391275" y="62179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6581775" y="621792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Hydroxyapatite</a:t>
            </a:r>
          </a:p>
        </p:txBody>
      </p:sp>
      <p:cxnSp>
        <p:nvCxnSpPr>
          <p:cNvPr id="205" name="Connector 204"/>
          <p:cNvCxnSpPr/>
          <p:nvPr/>
        </p:nvCxnSpPr>
        <p:spPr>
          <a:xfrm>
            <a:off x="6172200" y="63950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6" name="TextBox 205"/>
          <p:cNvSpPr txBox="1"/>
          <p:nvPr/>
        </p:nvSpPr>
        <p:spPr>
          <a:xfrm>
            <a:off x="6391275" y="63950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6581775" y="639508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Lactoferrin</a:t>
            </a:r>
          </a:p>
        </p:txBody>
      </p:sp>
      <p:sp>
        <p:nvSpPr>
          <p:cNvPr id="208" name="Rectangle 207"/>
          <p:cNvSpPr/>
          <p:nvPr/>
        </p:nvSpPr>
        <p:spPr>
          <a:xfrm>
            <a:off x="9172575" y="1028700"/>
            <a:ext cx="2876550" cy="129159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9" name="Rectangle 208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0" name="TextBox 209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Ingredient Type (2/2)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2" name="TextBox 211"/>
          <p:cNvSpPr txBox="1"/>
          <p:nvPr/>
        </p:nvSpPr>
        <p:spPr>
          <a:xfrm>
            <a:off x="9420225" y="1257300"/>
            <a:ext cx="259080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cxnSp>
        <p:nvCxnSpPr>
          <p:cNvPr id="213" name="Connector 212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4" name="TextBox 213"/>
          <p:cNvSpPr txBox="1"/>
          <p:nvPr/>
        </p:nvSpPr>
        <p:spPr>
          <a:xfrm>
            <a:off x="940117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5" name="TextBox 214"/>
          <p:cNvSpPr txBox="1"/>
          <p:nvPr/>
        </p:nvSpPr>
        <p:spPr>
          <a:xfrm>
            <a:off x="9591675" y="161163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Ectoin</a:t>
            </a:r>
          </a:p>
        </p:txBody>
      </p:sp>
      <p:cxnSp>
        <p:nvCxnSpPr>
          <p:cNvPr id="216" name="Connector 215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7" name="TextBox 216"/>
          <p:cNvSpPr txBox="1"/>
          <p:nvPr/>
        </p:nvSpPr>
        <p:spPr>
          <a:xfrm>
            <a:off x="940117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9591675" y="178879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Beta-Glucan</a:t>
            </a:r>
          </a:p>
        </p:txBody>
      </p:sp>
      <p:cxnSp>
        <p:nvCxnSpPr>
          <p:cNvPr id="219" name="Connector 218"/>
          <p:cNvCxnSpPr/>
          <p:nvPr/>
        </p:nvCxnSpPr>
        <p:spPr>
          <a:xfrm>
            <a:off x="91821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0" name="TextBox 219"/>
          <p:cNvSpPr txBox="1"/>
          <p:nvPr/>
        </p:nvSpPr>
        <p:spPr>
          <a:xfrm>
            <a:off x="940117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9591675" y="196596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Plant-Derived Squalane</a:t>
            </a:r>
          </a:p>
        </p:txBody>
      </p:sp>
      <p:cxnSp>
        <p:nvCxnSpPr>
          <p:cNvPr id="222" name="Connector 221"/>
          <p:cNvCxnSpPr/>
          <p:nvPr/>
        </p:nvCxnSpPr>
        <p:spPr>
          <a:xfrm>
            <a:off x="91821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3" name="TextBox 222"/>
          <p:cNvSpPr txBox="1"/>
          <p:nvPr/>
        </p:nvSpPr>
        <p:spPr>
          <a:xfrm>
            <a:off x="9401175" y="21431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9591675" y="214312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Bioactive Peptides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9172575" y="2434590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6" name="Rectangle 225"/>
          <p:cNvSpPr/>
          <p:nvPr/>
        </p:nvSpPr>
        <p:spPr>
          <a:xfrm>
            <a:off x="9172575" y="243459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7" name="TextBox 226"/>
          <p:cNvSpPr txBox="1"/>
          <p:nvPr/>
        </p:nvSpPr>
        <p:spPr>
          <a:xfrm>
            <a:off x="9248775" y="243459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Format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9229725" y="26631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9420225" y="266319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cxnSp>
        <p:nvCxnSpPr>
          <p:cNvPr id="230" name="Connector 229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1" name="TextBox 230"/>
          <p:cNvSpPr txBox="1"/>
          <p:nvPr/>
        </p:nvSpPr>
        <p:spPr>
          <a:xfrm>
            <a:off x="9229725" y="28403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9420225" y="284035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cxnSp>
        <p:nvCxnSpPr>
          <p:cNvPr id="233" name="Connector 232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4" name="TextBox 233"/>
          <p:cNvSpPr txBox="1"/>
          <p:nvPr/>
        </p:nvSpPr>
        <p:spPr>
          <a:xfrm>
            <a:off x="9229725" y="30175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9420225" y="301752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cxnSp>
        <p:nvCxnSpPr>
          <p:cNvPr id="236" name="Connector 235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7" name="TextBox 236"/>
          <p:cNvSpPr txBox="1"/>
          <p:nvPr/>
        </p:nvSpPr>
        <p:spPr>
          <a:xfrm>
            <a:off x="9229725" y="31946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9420225" y="319468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cxnSp>
        <p:nvCxnSpPr>
          <p:cNvPr id="239" name="Connector 238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0" name="TextBox 239"/>
          <p:cNvSpPr txBox="1"/>
          <p:nvPr/>
        </p:nvSpPr>
        <p:spPr>
          <a:xfrm>
            <a:off x="9229725" y="337185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9420225" y="337185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cxnSp>
        <p:nvCxnSpPr>
          <p:cNvPr id="242" name="Connector 241"/>
          <p:cNvCxnSpPr/>
          <p:nvPr/>
        </p:nvCxnSpPr>
        <p:spPr>
          <a:xfrm>
            <a:off x="91821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3" name="TextBox 242"/>
          <p:cNvSpPr txBox="1"/>
          <p:nvPr/>
        </p:nvSpPr>
        <p:spPr>
          <a:xfrm>
            <a:off x="9229725" y="354901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9420225" y="354901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cxnSp>
        <p:nvCxnSpPr>
          <p:cNvPr id="245" name="Connector 244"/>
          <p:cNvCxnSpPr/>
          <p:nvPr/>
        </p:nvCxnSpPr>
        <p:spPr>
          <a:xfrm>
            <a:off x="91821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6" name="TextBox 245"/>
          <p:cNvSpPr txBox="1"/>
          <p:nvPr/>
        </p:nvSpPr>
        <p:spPr>
          <a:xfrm>
            <a:off x="9229725" y="372618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9420225" y="372618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cxnSp>
        <p:nvCxnSpPr>
          <p:cNvPr id="248" name="Connector 247"/>
          <p:cNvCxnSpPr/>
          <p:nvPr/>
        </p:nvCxnSpPr>
        <p:spPr>
          <a:xfrm>
            <a:off x="91821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9" name="TextBox 248"/>
          <p:cNvSpPr txBox="1"/>
          <p:nvPr/>
        </p:nvSpPr>
        <p:spPr>
          <a:xfrm>
            <a:off x="9229725" y="390334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9420225" y="390334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251" name="TextBox 25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8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50120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Primary Product Function / Benefit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Dirt &amp; Sebum Removal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Routine Body &amp; Coat Hygiene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20002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390525" y="178879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Hydration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Barrier Support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Paw &amp; Nose Protection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6746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67462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Sensitive Skin Care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Dryness-Related Discomfort Relief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02895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200025" y="320611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90525" y="320611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38328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Detangling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975" y="356044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Loose-Hair Removal Support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561975" y="373761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Shine Enhancement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391477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391477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Styling &amp; Hold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200025" y="409194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90525" y="409194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426910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426910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Plaque Control</a:t>
            </a:r>
          </a:p>
        </p:txBody>
      </p:sp>
      <p:cxnSp>
        <p:nvCxnSpPr>
          <p:cNvPr id="66" name="Connector 65"/>
          <p:cNvCxnSpPr/>
          <p:nvPr/>
        </p:nvCxnSpPr>
        <p:spPr>
          <a:xfrm>
            <a:off x="1524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/>
          <p:cNvSpPr txBox="1"/>
          <p:nvPr/>
        </p:nvSpPr>
        <p:spPr>
          <a:xfrm>
            <a:off x="371475" y="444627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1975" y="444627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Tartar Control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524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371475" y="462343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1975" y="462343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Breath Freshening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524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00025" y="48006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90525" y="480060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cxnSp>
        <p:nvCxnSpPr>
          <p:cNvPr id="75" name="Connector 74"/>
          <p:cNvCxnSpPr/>
          <p:nvPr/>
        </p:nvCxnSpPr>
        <p:spPr>
          <a:xfrm>
            <a:off x="1524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561975" y="497776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Odor Neutralization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1524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371475" y="51549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1975" y="515493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Enhancement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1524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200025" y="53320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90525" y="533209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524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371475" y="55092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61975" y="550926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Cleansing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1524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371475" y="56864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561975" y="568642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Eye-Area Cleansing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1524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71475" y="58635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61975" y="586359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Tear-Stain Removal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152775" y="1028700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TextBox 94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Pet Type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3381375" y="14344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571875" y="143446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Puppies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Adult Dogs</a:t>
            </a:r>
          </a:p>
        </p:txBody>
      </p:sp>
      <p:cxnSp>
        <p:nvCxnSpPr>
          <p:cNvPr id="104" name="Connector 103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338137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71875" y="178879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Senior Dogs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320992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00425" y="196596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571875" y="214312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Kittens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31623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3381375" y="23202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571875" y="232029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Adult Cats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24974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249745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Senior Cats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162675" y="1028700"/>
            <a:ext cx="2876550" cy="359473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Rectangle 119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TextBox 120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Pack Size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cxnSp>
        <p:nvCxnSpPr>
          <p:cNvPr id="124" name="Connector 123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124"/>
          <p:cNvSpPr txBox="1"/>
          <p:nvPr/>
        </p:nvSpPr>
        <p:spPr>
          <a:xfrm>
            <a:off x="6391275" y="14344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6581775" y="143446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100 ml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101-250 ml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639127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81775" y="178879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251-500 ml</a:t>
            </a:r>
          </a:p>
        </p:txBody>
      </p:sp>
      <p:cxnSp>
        <p:nvCxnSpPr>
          <p:cNvPr id="133" name="Connector 132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" name="TextBox 133"/>
          <p:cNvSpPr txBox="1"/>
          <p:nvPr/>
        </p:nvSpPr>
        <p:spPr>
          <a:xfrm>
            <a:off x="6391275" y="196596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6581775" y="196596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501-1,000 ml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6391275" y="21431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6581775" y="214312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1-5 litres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61722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6391275" y="23202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581775" y="232029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5 litres</a:t>
            </a:r>
          </a:p>
        </p:txBody>
      </p:sp>
      <p:cxnSp>
        <p:nvCxnSpPr>
          <p:cNvPr id="142" name="Connector 141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6219825" y="24974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410325" y="2497455"/>
            <a:ext cx="259080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61722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6391275" y="28517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581775" y="285178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50 g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61722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6391275" y="302895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581775" y="302895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50-100 g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61722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6391275" y="320611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581775" y="320611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101-250 g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61722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6391275" y="338328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581775" y="338328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251-500 g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391275" y="356044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581775" y="356044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500 g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219825" y="373761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410325" y="373761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391275" y="391477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581775" y="391477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20 pieces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391275" y="409194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581775" y="409194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21-50 pieces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391275" y="426910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581775" y="426910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51-100 pieces</a:t>
            </a:r>
          </a:p>
        </p:txBody>
      </p:sp>
      <p:cxnSp>
        <p:nvCxnSpPr>
          <p:cNvPr id="172" name="Connector 171"/>
          <p:cNvCxnSpPr/>
          <p:nvPr/>
        </p:nvCxnSpPr>
        <p:spPr>
          <a:xfrm>
            <a:off x="61722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/>
          <p:cNvSpPr txBox="1"/>
          <p:nvPr/>
        </p:nvSpPr>
        <p:spPr>
          <a:xfrm>
            <a:off x="6391275" y="444627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581775" y="444627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100 pieces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9172575" y="1028700"/>
            <a:ext cx="2876550" cy="111442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6" name="Rectangle 175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7" name="TextBox 176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Price Tier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9420225" y="125730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cxnSp>
        <p:nvCxnSpPr>
          <p:cNvPr id="180" name="Connector 179"/>
          <p:cNvCxnSpPr/>
          <p:nvPr/>
        </p:nvCxnSpPr>
        <p:spPr>
          <a:xfrm>
            <a:off x="91821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1" name="TextBox 180"/>
          <p:cNvSpPr txBox="1"/>
          <p:nvPr/>
        </p:nvSpPr>
        <p:spPr>
          <a:xfrm>
            <a:off x="9229725" y="14344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9420225" y="143446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cxnSp>
        <p:nvCxnSpPr>
          <p:cNvPr id="183" name="Connector 182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TextBox 183"/>
          <p:cNvSpPr txBox="1"/>
          <p:nvPr/>
        </p:nvSpPr>
        <p:spPr>
          <a:xfrm>
            <a:off x="9229725" y="16116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9420225" y="161163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cxnSp>
        <p:nvCxnSpPr>
          <p:cNvPr id="186" name="Connector 185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7" name="TextBox 186"/>
          <p:cNvSpPr txBox="1"/>
          <p:nvPr/>
        </p:nvSpPr>
        <p:spPr>
          <a:xfrm>
            <a:off x="9229725" y="178879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9420225" y="1788795"/>
            <a:ext cx="2590800" cy="35433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9172575" y="2257425"/>
            <a:ext cx="2876550" cy="341757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0" name="Rectangle 189"/>
          <p:cNvSpPr/>
          <p:nvPr/>
        </p:nvSpPr>
        <p:spPr>
          <a:xfrm>
            <a:off x="9172575" y="225742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1" name="TextBox 190"/>
          <p:cNvSpPr txBox="1"/>
          <p:nvPr/>
        </p:nvSpPr>
        <p:spPr>
          <a:xfrm>
            <a:off x="9248775" y="2257425"/>
            <a:ext cx="27241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Sales Channels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9229725" y="248602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9420225" y="248602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cxnSp>
        <p:nvCxnSpPr>
          <p:cNvPr id="194" name="Connector 193"/>
          <p:cNvCxnSpPr/>
          <p:nvPr/>
        </p:nvCxnSpPr>
        <p:spPr>
          <a:xfrm>
            <a:off x="9182100" y="26631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5" name="TextBox 194"/>
          <p:cNvSpPr txBox="1"/>
          <p:nvPr/>
        </p:nvSpPr>
        <p:spPr>
          <a:xfrm>
            <a:off x="9401175" y="266319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9591675" y="266319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Brand-owned Webstores</a:t>
            </a:r>
          </a:p>
        </p:txBody>
      </p:sp>
      <p:cxnSp>
        <p:nvCxnSpPr>
          <p:cNvPr id="197" name="Connector 196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8" name="TextBox 197"/>
          <p:cNvSpPr txBox="1"/>
          <p:nvPr/>
        </p:nvSpPr>
        <p:spPr>
          <a:xfrm>
            <a:off x="9401175" y="284035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9591675" y="284035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Online Marketplaces</a:t>
            </a:r>
          </a:p>
        </p:txBody>
      </p:sp>
      <p:cxnSp>
        <p:nvCxnSpPr>
          <p:cNvPr id="200" name="Connector 199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1" name="TextBox 200"/>
          <p:cNvSpPr txBox="1"/>
          <p:nvPr/>
        </p:nvSpPr>
        <p:spPr>
          <a:xfrm>
            <a:off x="9401175" y="301752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9591675" y="301752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Specialist Pet E-commerce</a:t>
            </a:r>
          </a:p>
        </p:txBody>
      </p:sp>
      <p:cxnSp>
        <p:nvCxnSpPr>
          <p:cNvPr id="203" name="Connector 202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4" name="TextBox 203"/>
          <p:cNvSpPr txBox="1"/>
          <p:nvPr/>
        </p:nvSpPr>
        <p:spPr>
          <a:xfrm>
            <a:off x="9229725" y="319468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9420225" y="319468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cxnSp>
        <p:nvCxnSpPr>
          <p:cNvPr id="206" name="Connector 205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7" name="TextBox 206"/>
          <p:cNvSpPr txBox="1"/>
          <p:nvPr/>
        </p:nvSpPr>
        <p:spPr>
          <a:xfrm>
            <a:off x="9401175" y="337185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9591675" y="337185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Independent Pet Stores</a:t>
            </a:r>
          </a:p>
        </p:txBody>
      </p:sp>
      <p:cxnSp>
        <p:nvCxnSpPr>
          <p:cNvPr id="209" name="Connector 208"/>
          <p:cNvCxnSpPr/>
          <p:nvPr/>
        </p:nvCxnSpPr>
        <p:spPr>
          <a:xfrm>
            <a:off x="91821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TextBox 209"/>
          <p:cNvSpPr txBox="1"/>
          <p:nvPr/>
        </p:nvSpPr>
        <p:spPr>
          <a:xfrm>
            <a:off x="9401175" y="354901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9591675" y="354901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Superstores</a:t>
            </a:r>
          </a:p>
        </p:txBody>
      </p:sp>
      <p:cxnSp>
        <p:nvCxnSpPr>
          <p:cNvPr id="212" name="Connector 211"/>
          <p:cNvCxnSpPr/>
          <p:nvPr/>
        </p:nvCxnSpPr>
        <p:spPr>
          <a:xfrm>
            <a:off x="91821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3" name="TextBox 212"/>
          <p:cNvSpPr txBox="1"/>
          <p:nvPr/>
        </p:nvSpPr>
        <p:spPr>
          <a:xfrm>
            <a:off x="9401175" y="372618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9591675" y="372618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Retail Chains</a:t>
            </a:r>
          </a:p>
        </p:txBody>
      </p:sp>
      <p:cxnSp>
        <p:nvCxnSpPr>
          <p:cNvPr id="215" name="Connector 214"/>
          <p:cNvCxnSpPr/>
          <p:nvPr/>
        </p:nvCxnSpPr>
        <p:spPr>
          <a:xfrm>
            <a:off x="91821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6" name="TextBox 215"/>
          <p:cNvSpPr txBox="1"/>
          <p:nvPr/>
        </p:nvSpPr>
        <p:spPr>
          <a:xfrm>
            <a:off x="9229725" y="390334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9420225" y="390334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cxnSp>
        <p:nvCxnSpPr>
          <p:cNvPr id="218" name="Connector 217"/>
          <p:cNvCxnSpPr/>
          <p:nvPr/>
        </p:nvCxnSpPr>
        <p:spPr>
          <a:xfrm>
            <a:off x="9182100" y="40805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9" name="TextBox 218"/>
          <p:cNvSpPr txBox="1"/>
          <p:nvPr/>
        </p:nvSpPr>
        <p:spPr>
          <a:xfrm>
            <a:off x="9401175" y="408051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9591675" y="408051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Clinics</a:t>
            </a:r>
          </a:p>
        </p:txBody>
      </p:sp>
      <p:cxnSp>
        <p:nvCxnSpPr>
          <p:cNvPr id="221" name="Connector 220"/>
          <p:cNvCxnSpPr/>
          <p:nvPr/>
        </p:nvCxnSpPr>
        <p:spPr>
          <a:xfrm>
            <a:off x="9182100" y="42576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2" name="TextBox 221"/>
          <p:cNvSpPr txBox="1"/>
          <p:nvPr/>
        </p:nvSpPr>
        <p:spPr>
          <a:xfrm>
            <a:off x="9401175" y="425767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9591675" y="425767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Pharmacies</a:t>
            </a:r>
          </a:p>
        </p:txBody>
      </p:sp>
      <p:cxnSp>
        <p:nvCxnSpPr>
          <p:cNvPr id="224" name="Connector 223"/>
          <p:cNvCxnSpPr/>
          <p:nvPr/>
        </p:nvCxnSpPr>
        <p:spPr>
          <a:xfrm>
            <a:off x="9182100" y="44348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5" name="TextBox 224"/>
          <p:cNvSpPr txBox="1"/>
          <p:nvPr/>
        </p:nvSpPr>
        <p:spPr>
          <a:xfrm>
            <a:off x="9229725" y="443484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9420225" y="4434840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cxnSp>
        <p:nvCxnSpPr>
          <p:cNvPr id="227" name="Connector 226"/>
          <p:cNvCxnSpPr/>
          <p:nvPr/>
        </p:nvCxnSpPr>
        <p:spPr>
          <a:xfrm>
            <a:off x="9182100" y="46120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8" name="TextBox 227"/>
          <p:cNvSpPr txBox="1"/>
          <p:nvPr/>
        </p:nvSpPr>
        <p:spPr>
          <a:xfrm>
            <a:off x="9401175" y="461200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9591675" y="461200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Supermarkets &amp; Hypermarkets</a:t>
            </a:r>
          </a:p>
        </p:txBody>
      </p:sp>
      <p:cxnSp>
        <p:nvCxnSpPr>
          <p:cNvPr id="230" name="Connector 229"/>
          <p:cNvCxnSpPr/>
          <p:nvPr/>
        </p:nvCxnSpPr>
        <p:spPr>
          <a:xfrm>
            <a:off x="9182100" y="47891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1" name="TextBox 230"/>
          <p:cNvSpPr txBox="1"/>
          <p:nvPr/>
        </p:nvSpPr>
        <p:spPr>
          <a:xfrm>
            <a:off x="9401175" y="478917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9591675" y="478917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Drugstores &amp; Pharmacies</a:t>
            </a:r>
          </a:p>
        </p:txBody>
      </p:sp>
      <p:cxnSp>
        <p:nvCxnSpPr>
          <p:cNvPr id="233" name="Connector 232"/>
          <p:cNvCxnSpPr/>
          <p:nvPr/>
        </p:nvCxnSpPr>
        <p:spPr>
          <a:xfrm>
            <a:off x="9182100" y="49663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4" name="TextBox 233"/>
          <p:cNvSpPr txBox="1"/>
          <p:nvPr/>
        </p:nvSpPr>
        <p:spPr>
          <a:xfrm>
            <a:off x="9229725" y="496633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9420225" y="4966335"/>
            <a:ext cx="259080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cxnSp>
        <p:nvCxnSpPr>
          <p:cNvPr id="236" name="Connector 235"/>
          <p:cNvCxnSpPr/>
          <p:nvPr/>
        </p:nvCxnSpPr>
        <p:spPr>
          <a:xfrm>
            <a:off x="9182100" y="51435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7" name="TextBox 236"/>
          <p:cNvSpPr txBox="1"/>
          <p:nvPr/>
        </p:nvSpPr>
        <p:spPr>
          <a:xfrm>
            <a:off x="9401175" y="514350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9591675" y="514350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Grooming Salons</a:t>
            </a:r>
          </a:p>
        </p:txBody>
      </p:sp>
      <p:cxnSp>
        <p:nvCxnSpPr>
          <p:cNvPr id="239" name="Connector 238"/>
          <p:cNvCxnSpPr/>
          <p:nvPr/>
        </p:nvCxnSpPr>
        <p:spPr>
          <a:xfrm>
            <a:off x="9182100" y="53206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0" name="TextBox 239"/>
          <p:cNvSpPr txBox="1"/>
          <p:nvPr/>
        </p:nvSpPr>
        <p:spPr>
          <a:xfrm>
            <a:off x="9401175" y="5320665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9591675" y="5320665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Grooming Suppliers</a:t>
            </a:r>
          </a:p>
        </p:txBody>
      </p:sp>
      <p:cxnSp>
        <p:nvCxnSpPr>
          <p:cNvPr id="242" name="Connector 241"/>
          <p:cNvCxnSpPr/>
          <p:nvPr/>
        </p:nvCxnSpPr>
        <p:spPr>
          <a:xfrm>
            <a:off x="9182100" y="54978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3" name="TextBox 242"/>
          <p:cNvSpPr txBox="1"/>
          <p:nvPr/>
        </p:nvSpPr>
        <p:spPr>
          <a:xfrm>
            <a:off x="9401175" y="5497830"/>
            <a:ext cx="190500" cy="17716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9591675" y="5497830"/>
            <a:ext cx="2419350" cy="17716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Boarding &amp; Daycare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Coverage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Companies profiled and benchmarked across the competition assessment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Companies covered in this study of the Pet Cosmetic Products Market profiled and benchmarked in the Competition Assessment section.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Rectangle 11"/>
          <p:cNvSpPr/>
          <p:nvPr/>
        </p:nvSpPr>
        <p:spPr>
          <a:xfrm>
            <a:off x="142875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142875" y="1618760"/>
            <a:ext cx="5857875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33375" y="1828677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81025" y="1828677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52400" y="2193751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7" name="Connector 16"/>
          <p:cNvCxnSpPr/>
          <p:nvPr/>
        </p:nvCxnSpPr>
        <p:spPr>
          <a:xfrm>
            <a:off x="152400" y="21937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33375" y="2193751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81025" y="2193751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2400" y="255882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33375" y="2558825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81025" y="2558825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52400" y="2923899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24" name="Connector 23"/>
          <p:cNvCxnSpPr/>
          <p:nvPr/>
        </p:nvCxnSpPr>
        <p:spPr>
          <a:xfrm>
            <a:off x="152400" y="292389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33375" y="2923899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1025" y="2923899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Group55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33375" y="3288973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81025" y="3288973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Lakeland Cosmetics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52400" y="3654047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31" name="Connector 30"/>
          <p:cNvCxnSpPr/>
          <p:nvPr/>
        </p:nvCxnSpPr>
        <p:spPr>
          <a:xfrm>
            <a:off x="152400" y="36540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333375" y="3654047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581025" y="3654047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52400" y="401912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333375" y="4019121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81025" y="4019121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Artero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52400" y="4384195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38" name="Connector 37"/>
          <p:cNvCxnSpPr/>
          <p:nvPr/>
        </p:nvCxnSpPr>
        <p:spPr>
          <a:xfrm>
            <a:off x="152400" y="438419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333375" y="4384195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81025" y="4384195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Iv San Bernard</a:t>
            </a:r>
          </a:p>
        </p:txBody>
      </p:sp>
      <p:cxnSp>
        <p:nvCxnSpPr>
          <p:cNvPr id="41" name="Connector 40"/>
          <p:cNvCxnSpPr/>
          <p:nvPr/>
        </p:nvCxnSpPr>
        <p:spPr>
          <a:xfrm>
            <a:off x="152400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/>
          <p:cNvSpPr txBox="1"/>
          <p:nvPr/>
        </p:nvSpPr>
        <p:spPr>
          <a:xfrm>
            <a:off x="333375" y="4749269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81025" y="4749269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Cosmetica Veneta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52400" y="5114343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45" name="Connector 44"/>
          <p:cNvCxnSpPr/>
          <p:nvPr/>
        </p:nvCxnSpPr>
        <p:spPr>
          <a:xfrm>
            <a:off x="152400" y="511434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33375" y="5114343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81025" y="5114343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K9 Competition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547941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33375" y="5479417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81025" y="5479417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Anju Beauté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52400" y="5844491"/>
            <a:ext cx="5838825" cy="355947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52" name="Connector 51"/>
          <p:cNvCxnSpPr/>
          <p:nvPr/>
        </p:nvCxnSpPr>
        <p:spPr>
          <a:xfrm>
            <a:off x="152400" y="584449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3375" y="5844491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581025" y="5844491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Petuxe Cosmetics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191250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191250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6191250" y="1618760"/>
            <a:ext cx="5857875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81750" y="1828677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629400" y="1828677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Baldecchi</a:t>
            </a:r>
          </a:p>
        </p:txBody>
      </p:sp>
      <p:sp>
        <p:nvSpPr>
          <p:cNvPr id="60" name="Rectangle 59"/>
          <p:cNvSpPr/>
          <p:nvPr/>
        </p:nvSpPr>
        <p:spPr>
          <a:xfrm>
            <a:off x="6200775" y="2193751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61" name="Connector 60"/>
          <p:cNvCxnSpPr/>
          <p:nvPr/>
        </p:nvCxnSpPr>
        <p:spPr>
          <a:xfrm>
            <a:off x="6200775" y="21937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6381750" y="2193751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629400" y="2193751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Ceva</a:t>
            </a:r>
          </a:p>
        </p:txBody>
      </p:sp>
      <p:cxnSp>
        <p:nvCxnSpPr>
          <p:cNvPr id="64" name="Connector 63"/>
          <p:cNvCxnSpPr/>
          <p:nvPr/>
        </p:nvCxnSpPr>
        <p:spPr>
          <a:xfrm>
            <a:off x="6200775" y="255882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TextBox 64"/>
          <p:cNvSpPr txBox="1"/>
          <p:nvPr/>
        </p:nvSpPr>
        <p:spPr>
          <a:xfrm>
            <a:off x="6381750" y="2558825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629400" y="2558825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 Expert</a:t>
            </a:r>
          </a:p>
        </p:txBody>
      </p:sp>
      <p:sp>
        <p:nvSpPr>
          <p:cNvPr id="67" name="Rectangle 66"/>
          <p:cNvSpPr/>
          <p:nvPr/>
        </p:nvSpPr>
        <p:spPr>
          <a:xfrm>
            <a:off x="6200775" y="2923899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68" name="Connector 67"/>
          <p:cNvCxnSpPr/>
          <p:nvPr/>
        </p:nvCxnSpPr>
        <p:spPr>
          <a:xfrm>
            <a:off x="6200775" y="292389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TextBox 68"/>
          <p:cNvSpPr txBox="1"/>
          <p:nvPr/>
        </p:nvSpPr>
        <p:spPr>
          <a:xfrm>
            <a:off x="6381750" y="2923899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629400" y="2923899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Diamex</a:t>
            </a:r>
          </a:p>
        </p:txBody>
      </p:sp>
      <p:cxnSp>
        <p:nvCxnSpPr>
          <p:cNvPr id="71" name="Connector 70"/>
          <p:cNvCxnSpPr/>
          <p:nvPr/>
        </p:nvCxnSpPr>
        <p:spPr>
          <a:xfrm>
            <a:off x="6200775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TextBox 71"/>
          <p:cNvSpPr txBox="1"/>
          <p:nvPr/>
        </p:nvSpPr>
        <p:spPr>
          <a:xfrm>
            <a:off x="6381750" y="3288973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629400" y="3288973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Virbac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200775" y="3654047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75" name="Connector 74"/>
          <p:cNvCxnSpPr/>
          <p:nvPr/>
        </p:nvCxnSpPr>
        <p:spPr>
          <a:xfrm>
            <a:off x="6200775" y="36540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6381750" y="3654047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629400" y="3654047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Petosan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6200775" y="401912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6381750" y="4019121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6629400" y="4019121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Ecuphar / Animalcare Group</a:t>
            </a:r>
          </a:p>
        </p:txBody>
      </p:sp>
      <p:sp>
        <p:nvSpPr>
          <p:cNvPr id="81" name="Rectangle 80"/>
          <p:cNvSpPr/>
          <p:nvPr/>
        </p:nvSpPr>
        <p:spPr>
          <a:xfrm>
            <a:off x="6200775" y="4384195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82" name="Connector 81"/>
          <p:cNvCxnSpPr/>
          <p:nvPr/>
        </p:nvCxnSpPr>
        <p:spPr>
          <a:xfrm>
            <a:off x="6200775" y="438419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TextBox 82"/>
          <p:cNvSpPr txBox="1"/>
          <p:nvPr/>
        </p:nvSpPr>
        <p:spPr>
          <a:xfrm>
            <a:off x="6381750" y="4384195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6629400" y="4384195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Nextmune</a:t>
            </a:r>
          </a:p>
        </p:txBody>
      </p:sp>
      <p:cxnSp>
        <p:nvCxnSpPr>
          <p:cNvPr id="85" name="Connector 84"/>
          <p:cNvCxnSpPr/>
          <p:nvPr/>
        </p:nvCxnSpPr>
        <p:spPr>
          <a:xfrm>
            <a:off x="6200775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TextBox 85"/>
          <p:cNvSpPr txBox="1"/>
          <p:nvPr/>
        </p:nvSpPr>
        <p:spPr>
          <a:xfrm>
            <a:off x="6381750" y="4749269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6629400" y="4749269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Pubo S.r.l.</a:t>
            </a:r>
          </a:p>
        </p:txBody>
      </p:sp>
      <p:sp>
        <p:nvSpPr>
          <p:cNvPr id="88" name="Rectangle 87"/>
          <p:cNvSpPr/>
          <p:nvPr/>
        </p:nvSpPr>
        <p:spPr>
          <a:xfrm>
            <a:off x="6200775" y="5114343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89" name="Connector 88"/>
          <p:cNvCxnSpPr/>
          <p:nvPr/>
        </p:nvCxnSpPr>
        <p:spPr>
          <a:xfrm>
            <a:off x="6200775" y="511434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0" name="TextBox 89"/>
          <p:cNvSpPr txBox="1"/>
          <p:nvPr/>
        </p:nvSpPr>
        <p:spPr>
          <a:xfrm>
            <a:off x="6381750" y="5114343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629400" y="5114343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Aries</a:t>
            </a:r>
          </a:p>
        </p:txBody>
      </p:sp>
      <p:cxnSp>
        <p:nvCxnSpPr>
          <p:cNvPr id="92" name="Connector 91"/>
          <p:cNvCxnSpPr/>
          <p:nvPr/>
        </p:nvCxnSpPr>
        <p:spPr>
          <a:xfrm>
            <a:off x="6200775" y="547941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TextBox 92"/>
          <p:cNvSpPr txBox="1"/>
          <p:nvPr/>
        </p:nvSpPr>
        <p:spPr>
          <a:xfrm>
            <a:off x="6381750" y="5479417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6629400" y="5479417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Xanapel</a:t>
            </a:r>
          </a:p>
        </p:txBody>
      </p:sp>
      <p:sp>
        <p:nvSpPr>
          <p:cNvPr id="95" name="Rectangle 94"/>
          <p:cNvSpPr/>
          <p:nvPr/>
        </p:nvSpPr>
        <p:spPr>
          <a:xfrm>
            <a:off x="6200775" y="5844491"/>
            <a:ext cx="5838825" cy="355947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96" name="Connector 95"/>
          <p:cNvCxnSpPr/>
          <p:nvPr/>
        </p:nvCxnSpPr>
        <p:spPr>
          <a:xfrm>
            <a:off x="6200775" y="584449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6381750" y="5844491"/>
            <a:ext cx="190500" cy="365074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629400" y="5844491"/>
            <a:ext cx="53244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Linea 101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42875" y="6337341"/>
            <a:ext cx="11906250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B06A2C"/>
                </a:solidFill>
                <a:latin typeface="Calibri"/>
              </a:rPr>
              <a:t>Note: the list of companies is indicative and can be customised on request.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Table of Contents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The full contents of this study, as delivered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(1/8)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Symbol"/>
                        </a:rPr>
                        <a:t>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Executive Summary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Europe Market Snapshot</a:t>
                      </a:r>
                      <a:endParaRPr sz="1100"/>
                    </a:p>
                  </a:txBody>
                  <a:tcPr marL="685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Demand Trends</a:t>
                      </a:r>
                      <a:endParaRPr sz="1100"/>
                    </a:p>
                  </a:txBody>
                  <a:tcPr marL="685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Supply Trends</a:t>
                      </a:r>
                      <a:endParaRPr sz="1100"/>
                    </a:p>
                  </a:txBody>
                  <a:tcPr marL="685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Technology Roadmap</a:t>
                      </a:r>
                      <a:endParaRPr sz="1100"/>
                    </a:p>
                  </a:txBody>
                  <a:tcPr marL="685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Analyst Takeaways &amp; Recommendations</a:t>
                      </a:r>
                      <a:endParaRPr sz="1100"/>
                    </a:p>
                  </a:txBody>
                  <a:tcPr marL="685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Overview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Coverage / Taxonomy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Definition By Segments Covered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Macro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Price Inflation (%)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Household Disposable Income Growth (%)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Household Consumption Expenditure Growth (%)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Micro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Care Consumer Spending Growth (%)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Product 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Cosmetics &amp; Grooming Product Price Index (%)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Care E-commerce Penetration (%)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 Pet-Care Product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Per Capita Spending By Country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1: Europe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2021-2036, By Product Type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SShampoos &amp; Cleansing Products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Regular Shampoos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Sensitive &amp; Hypoallergenic Shampoos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Functional &amp; Specialized Shampoos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Waterless &amp; Dry Shampoos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Cleansing Foams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Body &amp; Facial Cleansing Wipes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Rinse-Out Conditioners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Leave-In Conditioners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Detangling Sprays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De-shedding Products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Shine Sprays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Conditioning Treatments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Creams &amp; Lotions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Moisturizing &amp; Soothing Treatments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Moisturizing Sprays &amp; Serums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Paw Balms &amp; Creams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Nose Balms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Sunscreens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Ear Cleansers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Eye-Area Cleansers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Tear-Stain Removers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(2/8)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Toothpaste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Oral Gels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Dental Sprays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Dental Wipes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Water Additives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Perfumes &amp; Colognes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Deodorizing &amp; Odor-Neutralizing Sprays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Ingredient Type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309235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52578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Ingredients were selected to cover cleansing, grooming, skincare, and dental-care functions. They are grouped as regular, niche, or emerging based on established use, specialized applications, and innovation potential.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Product Format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(3/8)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Primary Product Function / Benefit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Pet Type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Puppies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Adult Dogs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Senior Dogs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Kittens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Adult Cats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Senior Cats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Pack Size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100 ml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101–250 ml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(4/8)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31114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251–500 ml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501–1,000 ml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1–5 litres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5 litres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50 g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50–100 g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101–250 g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251–500 g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500 g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20 pieces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21–50 pieces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51–100 pieces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100 pieces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Price Tier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Proposed study thresholds in USD per 100 ml for liquid products or per 100 g for weight-labeled products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Sales Channels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Brand-owned Webstores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Online Marketplaces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Specialist Pet E-commerce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Independent Pet Stores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Superstores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Retail Chains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Veterinary Clinics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Veterinary Pharmacies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Supermarkets &amp; Hypermarkets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Drugstores &amp; Pharmacies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Grooming Salons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Professional Grooming Suppliers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Boarding &amp; Daycare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Region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Western Europe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(5/8)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Northern Europe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Southern Europe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Central &amp; Eastern Europe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Value &amp; Volume (US$ Mn / MT) for all segments will be provided for each region/ Country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Cross-sectional Assessment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Primary Product Function / Benefit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Ingredient Type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Pet Type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Product Format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Price Tier × 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Cross Sectional Assessment shall be provided on custom request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2: Regional and Country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Western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Northern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(6/8)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Southern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Central &amp; Eastern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3: Pricing Assessment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Pricing Analysis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Price Assessment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Manufacturer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Distributor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Segment-wise Price Comparison (Product Type vs Product Format)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Country-wise Price Comparison (Product Type)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Price Forecast till 2036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Factors Impacting Pricing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Competitor Pricing Strategies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4: Voice of Customer and Decision-driver Analysis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Consumer Perception Analysis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Consumer Need-State and Purchase Drivers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Key Consumer Needs Driving Pet Cosmetics Purchases?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Decision Drivers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Functional Benefits Influencing Product Selection?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Emotional and Pet-Wellness Benefits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Attribute and Claim Preferences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Preferred Product Attributes by Pet Owner Segment?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Ingredient Preferences across Pet Cosmetics Categories?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Claim Preferences across Natural, Sensitive and Functional Benefits?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Packaging, Format and Convenience Attributes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Journey and Channel Behavior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versus Offline Purchase Share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Discovery and Consideration through Online Search?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Channel Preference by Country and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Online Shopping Journey from Search to Repeat Purchase?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Barriers and Consumer Frictions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(7/8)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Key Barriers Limiting Pet Cosmetics Purchase?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Price Sensitivity and Affordability Concerns by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Trust, Safety and Ingredient Concerns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Availability, Product Information and Convenience Barriers?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E-Commerce Opportunity and Consumer Channel Preferences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Penetration for Pet Cosmetics by Country?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Purchase Preference across Online Marketplaces?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Sales Potential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Preferred Retail Channel by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5: Market Dynamics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Innovation Tracker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Major Deals and Strategic Alliance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Joint Ventures, M&amp;A, Licensing &amp; Partnerships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Technology Collaboration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Strategic Divestments/ Investments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Launches &amp; Development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Dynamics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Wise Market Drivers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Supply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Demand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Economic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Restraints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Opportunity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Market Trends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Forecast Factors – Top 20 Drivers by Relevance &amp; Impact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Regulations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6: Competition Assessment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Competition at a Glance- a Dashboard View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(%) Analysis, 2023, 2025, 2026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Breakdown (2026)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Top Players (Tier 1)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Mid-Sized Players (Tier 2)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Emerging/Local Players (Tier 3)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Manufacturers &amp; Branded Product Companies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Beaphar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Company Overview: Ownership, brands and manufacturing locations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Portfolio: Product categories, target pets and age groups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Revenue &amp; Sales Assessment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Cosmetics Revenue (USD Mn)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European Market Share (%)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Sales by Product Category (USD Mn)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Portfolio Revenue Mix (%)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Pricing Assessment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Manufacturer &amp; Wholesale Pricing (USD/unit)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Retail Pricing by Product &amp; Pack Size (USD/pack)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Standardized Unit Pricing &amp; Price Tier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Benchmarking: Ingredients, claims, pack sizes and positioning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Sales Footprint: Country presence, channels and distribution partners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Manufacturing &amp; Quality: Capabilities, certifications and testing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Strategy Overview: Product, marketing, channel and pricing strategies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 &amp; Analyst Assessment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Biogance — Biogance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Francodex — Francodex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Group55 — Animology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Lakeland Cosmetics — Bugalugs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Laboratorios Bilper — Menforsan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(8/8)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Artero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Iv San Bernard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Cosmetica Veneta — Yuup!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K9 Competition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Anju Beauté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Petuxe Cosmetics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Baldecchi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Ceva — DOUXO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Vet Expert — Caryodent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Diamex — Diamex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Virbac — C.E.T.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Petosan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Ecuphar / Animalcare Group — Orozyme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Nextmune — Stomodine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Pubo S.r.l. — Pet Cosmetics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Aries — Aries Bio Pet Cosmetic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Xanapel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Linea 101 — Love for Pet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Private-Label / Contract Manufacturing Partners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Techtron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Company Overview: Ownership and manufacturing locations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Capabilities: Categories, ready-made and custom formulations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Revenue &amp; Sales Assessment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Pet-Care Contract Manufacturing Revenue (USD Mn)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Sales by Product Category (USD Mn)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Portfolio Revenue Mix (%)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European Contract Manufacturing Share (%), Where Assessable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Pricing &amp; Commercial Terms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Pricing by Product &amp; Pack Size (USD/unit)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31495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MOQs, Volume Discounts &amp; Lead Times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Formulation, Development &amp; Packaging Charges</a:t>
                      </a:r>
                      <a:endParaRPr sz="1100"/>
                    </a:p>
                  </a:txBody>
                  <a:tcPr marL="10287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Packaging &amp; Services: Pack formats, filling, labeling and customization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Quality &amp; Compliance: Certifications, testing and documentation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Partner Suitability: Scalability, strengths and limitations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 &amp; Analyst Assessment</a:t>
                      </a:r>
                      <a:endParaRPr sz="1100"/>
                    </a:p>
                  </a:txBody>
                  <a:tcPr marL="771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PURUS.PET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Bergland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OriginItalia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Zetaphar Biolaboratories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Celmax Italia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NOESIS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CRAZYPETS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Statfold Natural Products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Masder Cosmetics Labs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FarmaP Industry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HeW Pharma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Valquer Laboratorios — Happy Pets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Emil Kiessling — head2tail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Vivere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Tojo Cosmetics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Cosmetic Service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L.A. Schmitt Cosmetics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The Very Lab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 Maga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Multiservizi Wet Wipes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Assumptions and Acronyms Used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Research Methodology</a:t>
                      </a:r>
                      <a:endParaRPr sz="1100"/>
                    </a:p>
                  </a:txBody>
                  <a:tcPr marL="171450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Every figure in the full study, by analysis block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Every table in the full study, by analysis block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2: Europe Market Value Snapshot,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3: Europe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4: Europe Market Share by Product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5: Europe Market Share by Ingredient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6: Europe Market Share by Product Format,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7: Europe Market Share by Primary Product Function / Benefit,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8: Europe Market Share by Pet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9: Europe Market Share by Pack Size,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10: Europe Market Historical Value,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11: Europe Market Forecast Value,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12: Europe Market YoY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13: Europe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14: Europe Market Volume vs Value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16: Europe Market Absolute $ Opportunity,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17: Europe Market Incremental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18: Europe Market Historical vs Forecast CAGR,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19: Europe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20: Europe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21: Europe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22: Europe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23: Europe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24: Europe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25: Europe Market Value by Pack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26: Europe Market Value by Price Tier,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27: Europe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28: Europe Market Share by Product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29: Europe Market Share by Ingredient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30: Europe Market Share by Product Format,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31: Europe Market Share by Primary Product Function / Benefit,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32: Europe Market Share by Pet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33: Europe Market Share by Pack Size,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34: Europe Market Share by Price Tier,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35: Europe Market Share by Sales Channels,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36: Europe Market Absolute $ Opportunity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37: Europe Market Absolute $ Opportunity by Ingredient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38: Europe Market Absolute $ Opportunity by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3285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39: Europe Market Absolute $ Opportunity by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40: Europe Market Absolute $ Opportunity by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41: Europe Market Absolute $ Opportunity by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42: Europe Market Absolute $ Opportunity by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43: Europe Market Absolute $ Opportunity by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44: Europe Market BPS Share Change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45: Europe Market BPS Share Change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46: Europe Market BPS Share Change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47: Europe Market BPS Share Change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48: Europe Market BPS Share Change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49: Europe Market BPS Share Change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50: Europe Market BPS Share Change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51: Europe Market BPS Share Change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52: Europe Market YoY Growth by Product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53: Europe Market YoY Growth by Ingredient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54: Europe Market YoY Growth by Product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55: Europe Market YoY Growth by Primary Product Function / Benefit,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56: Europe Market YoY Growth by Pet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57: Europe Market YoY Growth by Pack Size,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58: Europe Market YoY Growth by Price Tier,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59: Europe Market YoY Growth by Sales Channels,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60: Europe Market Attractiveness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61: Europe Market Attractiveness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62: Europe Market Attractiveness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63: Europe Market Attractiveness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64: Europe Market Attractiveness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65: Europe Market Attractiveness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66: Europe Market Attractiveness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67: Europe Market Attractiveness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68: Europe Market Volume by Product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69: Europe Market Volume by Ingredient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70: Europe Market Volume by Product Format,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71: Europe Market Volume by Primary Product Function / Benefit,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72: Europe Market Volume by Pet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73: Europe Market Volume by Pack Size,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74: Europe Market Volume by Price Tier,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75: Europe Market Volume by Sales Channels,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76: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77: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78: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3372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79: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80: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81: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82: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83: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3372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84: Europe Market Value and YoY Growth, Shampoos &amp; Cleansing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3372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85: Europe Market Value and YoY Growth, Regular / Established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86: Product Type × Ingredient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87: Product Type × Product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88: Product Type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026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89: Product Type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90: Product Type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91: Product Type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92: Product Type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93: Ingredient Type × Product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94: Ingredient Type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95: Ingredient Type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96: Ingredient Type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97: Ingredient Type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98: Ingredient Type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99: Product Format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100: Product Format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101: Product Format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102: Product Format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103: Product Format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104: Primary Product Function / Benefit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105: Primary Product Function / Benefit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106: Primary Product Function / Benefit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107: Primary Product Function / Benefit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108: Germany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109: Germany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110: Germany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111: Germany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112: Germany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113: Germany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114: Germany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115: Germany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116: United Kingdom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117: United Kingdom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118: United Kingdom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119: United Kingdom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120: United Kingdom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121: United Kingdom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285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122: United Kingdom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123: United Kingdom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124: France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125: France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126: France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127: France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128: France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129: France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130: France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131: France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132: Italy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133: Italy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134: Italy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135: Italy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136: Italy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137: Italy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138: Italy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139: Italy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140: Spain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141: Spain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142: Spain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143: Netherlands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144: Netherlands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145: Poland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146: Poland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147: Other European Countries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148: Other European Countries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149: Sweden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150: Sweden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151: Austria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152: Austria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153: Switzerland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154: Switzerland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155: Europe Market Average Selling Price Trend,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156: Europe Market Average Selling Price Outlook, US$/MT,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157: Europe Market Average Selling Price by Product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158: Europe Market Average Selling Price by Ingredient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159: Europe Market Average Selling Price by Product Format,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3285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160: Europe Market Average Selling Price by Primary Product Function / Benefit,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161: Europe Market Average Selling Price by Pet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162: Europe Market Average Selling Price by Pack Size,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163: Europe Market Average Selling Price by Price Tier,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164: Europe Market Average Selling Price by Sales Channels,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165: Europe Market Value Chain Structure,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166: Europe Market Margin Distribution across the Value Chain,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167: Europe Market Cost Structure Breakdown,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168: Europe Market Pricing Pressure Assessment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169: Company Market Share in the Europe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170: Competitive Positioning of Leading Pet Cosmetic Products Manufacturers,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171: Company Revenue from the Europe Market, US$ Mn,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172: Europe Market Concentration by Company Tier,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173: Europe Market Competitive Intensity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174: Beaphar: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175: Laboratoire Biogance: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176: Laboratoire Francodex: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177: Group55: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178: Lakeland Cosmetics: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179: Laboratorios Bilper: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6982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180: Artero: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33909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181: Iv San Bernard: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182: Cosmetica Veneta: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183: K9 Competition: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184: Europe Market Strategic Developments by Type, %, 2025–2026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185: Europe Market Company Footprint by Region,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186: Europe Market Value Forecast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187: Europe Market YoY Growth by Scenario,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188: Europe Market Key Trends Impact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189: Europe Market Drivers, Restraints and Opportunities Impact,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190: Europe Market Opportunity Map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191: Europe Market Technology Adoption Roadmap,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192: Europe Market Emerging Opportunity Pockets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193: Europe Market Risk and Sensitivity Analysis,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194: Europe Market Regulatory Landscape Timeline,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195: Europe Market Investment Hotspots,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196: Europe Market White-Space Opportunity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197: Europe Market Customer Purchase Criteria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198: Europe Market Go-to-Market Priority,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199: Europe Market Unmet Needs Analysis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200: Europe Market Right-to-Win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1: Europe Market Snapshot: Value, Volume and CAGR, US$ Mn, 2025–2036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2: Europe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3: Europe Market Scope: Inclusions and Exclusions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4: Europe Market Key Demand Drivers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5: Europe Market Key Restraints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6: Europe Market Analyst Recommendations by Segment,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7: Europe Market Key Market Signals and Data Points,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9: Europe Market Historical Value Analysis,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10: Europe Market Forecast Value Analysis,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11: Europe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12: Europe Market Volume Forecast, MT,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14: Europe Market Average Selling Price YoY Change,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15: Europe Market CAGR and Absolute $ Opportunity,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16: Europe Market Absolute $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17: Europe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18: Europe Market Scenario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19: Europe Market Historical vs Forecast Growth Comparison,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20: Europe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21: Europe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22: Europe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23: Europe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24: Europe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25: Europe Market Value by Pack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26: Europe Market Value by Price Tier,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27: Europe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28: Europe Market CAGR and Absolute $ Opportunity by Product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29: Europe Market CAGR and Absolute $ Opportunity by Ingredient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260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30: Europe Market CAGR and Absolute $ Opportunity by Product Format,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9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33289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31: Europe Market CAGR and Absolute $ Opportunity by Primary Product Function / Benefit,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32: Europe Market CAGR and Absolute $ Opportunity by Pet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33: Europe Market CAGR and Absolute $ Opportunity by Pack Size,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34: Europe Market CAGR and Absolute $ Opportunity by Price Tier,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35: Europe Market CAGR and Absolute $ Opportunity by Sales Channels,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36: Europe Market Share and BPS Change by Product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37: Europe Market Share and BPS Change by Ingredient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38: Europe Market Share and BPS Change by Product Format,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33289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39: Europe Market Share and BPS Change by Primary Product Function / Benefit,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40: Europe Market Share and BPS Change by Pet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41: Europe Market Share and BPS Change by Pack Size,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42: Europe Market Share and BPS Change by Price Tier,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43: Europe Market Share and BPS Change by Sales Channels,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44: Europe Market YoY Growth by Product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45: Europe Market YoY Growth by Ingredient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46: Europe Market YoY Growth by Product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47: Europe Market YoY Growth by Primary Product Function / Benefit,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48: Europe Market YoY Growth by Pet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49: Europe Market YoY Growth by Pack Size,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50: Europe Market YoY Growth by Price Tier,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51: Europe Market YoY Growth by Sales Channels,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52: Europe Market Volume by Product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53: Europe Market Volume by Ingredient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54: Europe Market Volume by Product Format,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55: Europe Market Volume by Primary Product Function / Benefit,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56: Europe Market Volume by Pet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57: Europe Market Volume by Pack Size,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58: Europe Market Volume by Price Tier,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59: Europe Market Volume by Sales Channels,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97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60: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61: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62: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5459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63: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64: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65: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66: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67: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68: Europe Market Attractiveness Index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69: Europe Market Attractiveness Index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70: Europe Market Attractiveness Index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71: Europe Market Attractiveness Index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72: Europe Market Attractiveness Index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73: Europe Market Attractiveness Index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74: Europe Market Attractiveness Index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75: Europe Market Attractiveness Index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35459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76: Europe Market Value and YoY Growth, Shampoos &amp; Cleansing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35459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77: Europe Market Value and YoY Growth, Regular / Established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78: Europe Market Value and YoY Growth, Liquid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35459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79: Europe Market Value and YoY Growth, Cleansing &amp; General Hygiene (Primary Product Function / Benefit),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1152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80: Europe Market Value and YoY Growth, Dogs (Pet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35459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81: Europe Market Value and YoY Growth, Liquid, Gel &amp; Cream Products (Pack Size),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35459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82: Europe Market Value and YoY Growth, Economy / Mass-Market: Below US$3 (Price Tier),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35459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83: Europe Market Value and YoY Growth, E-commerce (Sales Channels),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97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3721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84: Europe Market Value and YoY Growth, Coat Conditioning &amp; Grooming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721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85: Europe Market Value and YoY Growth, Niche / Specialized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204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86: Europe Market Value and YoY Growth, Spray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721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87: Europe Market Value and YoY Growth, Moisturizing &amp; Skin Barrier Care (Primary Product Function / Benefit),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204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88: Europe Market Value and YoY Growth, Cats (Pet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3721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89: Europe Market Value and YoY Growth, Solid, Powder &amp; Weight-Labeled Products (Pack Size),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3721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90: Europe Market Value and YoY Growth, Mid-Range: US$3 to below US$6 (Price Tier),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3721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91: Europe Market Value and YoY Growth, Pet Specialty Retail (Sales Channels),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3721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92: Europe Market Value and YoY Growth, Skin, Paw &amp; Nose Care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3721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93: Europe Market Value and YoY Growth, Emerging Ingredients / Innovation Candidates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3721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94: Europe Market Value and YoY Growth, Cream &amp; Balm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204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95: Europe Market Value by Product Type and Ingredient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204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96: Europe Market Value by Product Type and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3721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97: Europe Market Value by Product Type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204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98: Europe Market Value by Product Type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204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99: Europe Market Value by Product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204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100: Europe Market Value by Product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204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101: Europe Market Value by Product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204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102: Europe Market Value by Ingredient Type and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3721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103: Europe Market Value by Ingredient Type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104: Europe Market Value by Ingredient Type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105: Europe Market Value by Ingredient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106: Europe Market Value by Ingredient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107: Europe Market Value by Ingredient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34587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108: Europe Market Value by Product Format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109: Europe Market Value by Product Format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110: Europe Market Value by Product Format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111: Europe Market Value by Product Format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112: Europe Market Value by Product Format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34587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113: Europe Market Value by Primary Product Function / Benefit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34587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114: Europe Market Value by Primary Product Function / Benefit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34587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115: Europe Market Value by Primary Product Function / Benefit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34587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116: Europe Market Value by Primary Product Function / Benefit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117: Europe Market Value by Pet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118: Europe Market Value by Pet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119: Europe Market Value by Pet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120: Europe Market Value by Pack Size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121: Europe Market Value by Pack Size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122: Germany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123: Germany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124: Germany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125: Germany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126: Germany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127: Germany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128: Germany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070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129: Germany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130: United Kingdom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131: United Kingdom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132: United Kingdom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133: United Kingdom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134: United Kingdom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135: United Kingdom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136: United Kingdom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137: United Kingdom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138: France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139: France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140: France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141: France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142: France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143: France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144: France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145: France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146: Italy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147: Italy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148: Italy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149: Italy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150: Italy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151: Italy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152: Italy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153: Italy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154: Spain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155: Spain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156: Spain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157: Netherlands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158: Netherlands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159: Poland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69606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160: Poland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9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161: Other European Countries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162: Other European Countries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163: Sweden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164: Sweden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165: Market Product Price Comparison by Company and Product Type, US$/MT,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166: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167: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168: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169: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33289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170: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171: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172: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173: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174: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175: Supplier-to-Customer Relationship Mapping in Germany,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176: Europe Market Value Chain Participants by Stage,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177: Europe Market Margin Analysis by Value Chain Stage,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178: Europe Market Cost Structure by Component,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179: Europe Market Import Value by Leading Country,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33289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180: Leading Pet Cosmetic Products Manufacturers: Product Portfolio and Geographic Presence,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181: Company Revenue from the Europe Market, US$ Mn, 2025–2026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182: Company Market Share in the Europe Market by Region, %,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183: Europe Market Competitive Benchmarking Matrix,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184: Europe Market Mergers, Acquisitions and Partnerships, 2021–2026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185: Beaphar: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186: Laboratoire Biogance: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187: Laboratoire Francodex: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188: Group55: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0045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189: Lakeland Cosmetics: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1864995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190: Laboratorios Bilper: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191: Artero: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192: Iv San Bernard: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193: Cosmetica Veneta: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194: K9 Competition: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195: Europe Market Value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196: Europe Market Key Trends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197: Europe Market Opportunity Assessment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198: Europe Market Scenario Assumptions,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199: Europe Market Client Opportunity Prioritisation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6688">
                <a:tc>
                  <a:txBody>
                    <a:bodyPr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200: Europe Market Customer Purchase Criteria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ang="195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189801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202815"/>
            <a:ext cx="72390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Europe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2907665"/>
            <a:ext cx="5067300" cy="348107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Europe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Europe Market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Europe Market Analysis By Segments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Ingredient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Product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Pet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Pack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Price Tier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By Sales Channels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096000" y="2907665"/>
            <a:ext cx="5067300" cy="104013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Cross-sectional Assessment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Product Type × 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Product Type ×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Overview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Volume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Pricing &amp; Price Index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Value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Volume &amp; Value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Country Outlook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Summary, By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Europe market volume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(MT)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5093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volume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070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682203" y="2450085"/>
            <a:ext cx="194660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9330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2026–2036 more than the previous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5009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7246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volume: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224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97570" y="3256280"/>
            <a:ext cx="14109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7627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432736" y="3256280"/>
            <a:ext cx="1489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325392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1707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048625" y="4631734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859572"/>
            <a:ext cx="36227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'Shampoos &amp; Cleansing Products'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5034832"/>
            <a:ext cx="13084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Product Type.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262670"/>
            <a:ext cx="32912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048625" y="5490508"/>
            <a:ext cx="27413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Pricing &amp; Regional Price Index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average price by sub-segment and price variation by country, highlighting where pricing power sits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7696200" cy="2665040"/>
          </a:xfrm>
          <a:prstGeom prst="roundRect">
            <a:avLst>
              <a:gd name="adj" fmla="val 28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by Product Type  ·  range across 2021–2036 (US$/MT)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657225" y="310071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657225" y="2688773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657225" y="2276830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657225" y="1864888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7225" y="145294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657225" y="1452945"/>
            <a:ext cx="0" cy="164777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628650" y="310071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628650" y="268877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628650" y="2276830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628650" y="186488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628650" y="14529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FMI Scale tick"/>
          <p:cNvSpPr txBox="1"/>
          <p:nvPr/>
        </p:nvSpPr>
        <p:spPr>
          <a:xfrm>
            <a:off x="111919" y="3034040"/>
            <a:ext cx="488156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25" name="FMI Scale tick"/>
          <p:cNvSpPr txBox="1"/>
          <p:nvPr/>
        </p:nvSpPr>
        <p:spPr>
          <a:xfrm>
            <a:off x="111919" y="2210155"/>
            <a:ext cx="488156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26" name="FMI Scale tick"/>
          <p:cNvSpPr txBox="1"/>
          <p:nvPr/>
        </p:nvSpPr>
        <p:spPr>
          <a:xfrm>
            <a:off x="111919" y="1386270"/>
            <a:ext cx="488156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cxnSp>
        <p:nvCxnSpPr>
          <p:cNvPr id="27" name="Connector 26"/>
          <p:cNvCxnSpPr/>
          <p:nvPr/>
        </p:nvCxnSpPr>
        <p:spPr>
          <a:xfrm flipV="1">
            <a:off x="1241425" y="2031633"/>
            <a:ext cx="0" cy="878955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1109980" y="2910588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1109980" y="203163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022350" y="2253432"/>
            <a:ext cx="438150" cy="439952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31" name="Connector 30"/>
          <p:cNvCxnSpPr/>
          <p:nvPr/>
        </p:nvCxnSpPr>
        <p:spPr>
          <a:xfrm>
            <a:off x="1022350" y="2475134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657225" y="1879233"/>
            <a:ext cx="11684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3" name="Connector 32"/>
          <p:cNvCxnSpPr/>
          <p:nvPr/>
        </p:nvCxnSpPr>
        <p:spPr>
          <a:xfrm flipV="1">
            <a:off x="2409825" y="1859518"/>
            <a:ext cx="0" cy="945216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2278380" y="2804734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2278380" y="1859518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190750" y="2095376"/>
            <a:ext cx="438150" cy="472592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37" name="Connector 36"/>
          <p:cNvCxnSpPr/>
          <p:nvPr/>
        </p:nvCxnSpPr>
        <p:spPr>
          <a:xfrm>
            <a:off x="2190750" y="2332153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1825625" y="1707118"/>
            <a:ext cx="11684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9" name="Connector 38"/>
          <p:cNvCxnSpPr/>
          <p:nvPr/>
        </p:nvCxnSpPr>
        <p:spPr>
          <a:xfrm flipV="1">
            <a:off x="3578225" y="1970830"/>
            <a:ext cx="0" cy="909535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3446780" y="2880365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3446780" y="197083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Rectangle 41"/>
          <p:cNvSpPr/>
          <p:nvPr/>
        </p:nvSpPr>
        <p:spPr>
          <a:xfrm>
            <a:off x="3359150" y="2197139"/>
            <a:ext cx="438150" cy="455624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43" name="Connector 42"/>
          <p:cNvCxnSpPr/>
          <p:nvPr/>
        </p:nvCxnSpPr>
        <p:spPr>
          <a:xfrm>
            <a:off x="3359150" y="2425179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2994025" y="1818430"/>
            <a:ext cx="11684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45" name="Connector 44"/>
          <p:cNvCxnSpPr/>
          <p:nvPr/>
        </p:nvCxnSpPr>
        <p:spPr>
          <a:xfrm flipV="1">
            <a:off x="4746625" y="1643073"/>
            <a:ext cx="0" cy="939046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4615180" y="258211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4615180" y="164307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Rectangle 47"/>
          <p:cNvSpPr/>
          <p:nvPr/>
        </p:nvSpPr>
        <p:spPr>
          <a:xfrm>
            <a:off x="4527550" y="1878370"/>
            <a:ext cx="438150" cy="469540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49" name="Connector 48"/>
          <p:cNvCxnSpPr/>
          <p:nvPr/>
        </p:nvCxnSpPr>
        <p:spPr>
          <a:xfrm>
            <a:off x="4527550" y="211394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4162425" y="1490673"/>
            <a:ext cx="11684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51" name="Connector 50"/>
          <p:cNvCxnSpPr/>
          <p:nvPr/>
        </p:nvCxnSpPr>
        <p:spPr>
          <a:xfrm flipV="1">
            <a:off x="5915025" y="1934229"/>
            <a:ext cx="0" cy="909332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783580" y="2843561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5783580" y="193422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Rectangle 53"/>
          <p:cNvSpPr/>
          <p:nvPr/>
        </p:nvSpPr>
        <p:spPr>
          <a:xfrm>
            <a:off x="5695950" y="2161453"/>
            <a:ext cx="438150" cy="453975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55" name="Connector 54"/>
          <p:cNvCxnSpPr/>
          <p:nvPr/>
        </p:nvCxnSpPr>
        <p:spPr>
          <a:xfrm>
            <a:off x="5695950" y="2389319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TextBox 55"/>
          <p:cNvSpPr txBox="1"/>
          <p:nvPr/>
        </p:nvSpPr>
        <p:spPr>
          <a:xfrm>
            <a:off x="5330825" y="1781829"/>
            <a:ext cx="11684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57" name="Connector 56"/>
          <p:cNvCxnSpPr/>
          <p:nvPr/>
        </p:nvCxnSpPr>
        <p:spPr>
          <a:xfrm flipV="1">
            <a:off x="7083425" y="1896196"/>
            <a:ext cx="0" cy="947494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6951980" y="284369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6951980" y="1896196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6864350" y="2134736"/>
            <a:ext cx="438150" cy="474620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61" name="Connector 60"/>
          <p:cNvCxnSpPr/>
          <p:nvPr/>
        </p:nvCxnSpPr>
        <p:spPr>
          <a:xfrm>
            <a:off x="6864350" y="237368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6499225" y="1743796"/>
            <a:ext cx="11684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57225" y="3129290"/>
            <a:ext cx="11684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Shampoos &amp; Cleansing…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825625" y="3129290"/>
            <a:ext cx="11684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Coat Conditioning &amp; G…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994025" y="3129290"/>
            <a:ext cx="11684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Skin, Paw &amp; Nose Care…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162425" y="3129290"/>
            <a:ext cx="11684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Ear &amp; Eye Hygiene Pro…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330825" y="3129290"/>
            <a:ext cx="11684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Dental &amp; Oral Care Pr…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499225" y="3129290"/>
            <a:ext cx="11684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Fragrance &amp; Deodorizi…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142875" y="3772696"/>
            <a:ext cx="7696200" cy="2783689"/>
          </a:xfrm>
          <a:prstGeom prst="roundRect">
            <a:avLst>
              <a:gd name="adj" fmla="val 27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TextBox 69"/>
          <p:cNvSpPr txBox="1"/>
          <p:nvPr/>
        </p:nvSpPr>
        <p:spPr>
          <a:xfrm>
            <a:off x="238125" y="3829846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Country vs Europe  ·  2026–2036</a:t>
            </a:r>
          </a:p>
        </p:txBody>
      </p:sp>
      <p:cxnSp>
        <p:nvCxnSpPr>
          <p:cNvPr id="71" name="Connector 70"/>
          <p:cNvCxnSpPr/>
          <p:nvPr/>
        </p:nvCxnSpPr>
        <p:spPr>
          <a:xfrm>
            <a:off x="619125" y="428167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619125" y="458404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619125" y="488641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619125" y="5188777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619125" y="5491143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619125" y="4281679"/>
            <a:ext cx="0" cy="1209464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590550" y="428167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590550" y="45840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590550" y="488641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590550" y="5188777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590550" y="549114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FMI Scale tick"/>
          <p:cNvSpPr txBox="1"/>
          <p:nvPr/>
        </p:nvSpPr>
        <p:spPr>
          <a:xfrm>
            <a:off x="219075" y="4215004"/>
            <a:ext cx="361950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+15%</a:t>
            </a:r>
          </a:p>
        </p:txBody>
      </p:sp>
      <p:sp>
        <p:nvSpPr>
          <p:cNvPr id="83" name="FMI Scale tick"/>
          <p:cNvSpPr txBox="1"/>
          <p:nvPr/>
        </p:nvSpPr>
        <p:spPr>
          <a:xfrm>
            <a:off x="219075" y="4517370"/>
            <a:ext cx="361950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+8%</a:t>
            </a:r>
          </a:p>
        </p:txBody>
      </p:sp>
      <p:sp>
        <p:nvSpPr>
          <p:cNvPr id="84" name="FMI Scale tick"/>
          <p:cNvSpPr txBox="1"/>
          <p:nvPr/>
        </p:nvSpPr>
        <p:spPr>
          <a:xfrm>
            <a:off x="66675" y="4819736"/>
            <a:ext cx="514350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1">
                <a:solidFill>
                  <a:srgbClr val="6C7A89"/>
                </a:solidFill>
                <a:latin typeface="Calibri"/>
              </a:rPr>
              <a:t>Europe</a:t>
            </a:r>
          </a:p>
        </p:txBody>
      </p:sp>
      <p:sp>
        <p:nvSpPr>
          <p:cNvPr id="85" name="FMI Scale tick"/>
          <p:cNvSpPr txBox="1"/>
          <p:nvPr/>
        </p:nvSpPr>
        <p:spPr>
          <a:xfrm>
            <a:off x="219075" y="5122102"/>
            <a:ext cx="361950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-8%</a:t>
            </a:r>
          </a:p>
        </p:txBody>
      </p:sp>
      <p:sp>
        <p:nvSpPr>
          <p:cNvPr id="86" name="FMI Scale tick"/>
          <p:cNvSpPr txBox="1"/>
          <p:nvPr/>
        </p:nvSpPr>
        <p:spPr>
          <a:xfrm>
            <a:off x="219075" y="5424468"/>
            <a:ext cx="361950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-15%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619125" y="4886411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Rectangle 87"/>
          <p:cNvSpPr/>
          <p:nvPr/>
        </p:nvSpPr>
        <p:spPr>
          <a:xfrm>
            <a:off x="667055" y="4886411"/>
            <a:ext cx="186080" cy="286400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FMI Dense Label"/>
          <p:cNvSpPr txBox="1"/>
          <p:nvPr/>
        </p:nvSpPr>
        <p:spPr>
          <a:xfrm>
            <a:off x="564348" y="5182335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0" name="Rectangle 89"/>
          <p:cNvSpPr/>
          <p:nvPr/>
        </p:nvSpPr>
        <p:spPr>
          <a:xfrm>
            <a:off x="948995" y="4838774"/>
            <a:ext cx="186080" cy="47637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FMI Dense Label"/>
          <p:cNvSpPr txBox="1"/>
          <p:nvPr/>
        </p:nvSpPr>
        <p:spPr>
          <a:xfrm>
            <a:off x="846288" y="4724474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230935" y="4886411"/>
            <a:ext cx="186080" cy="376021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FMI Dense Label"/>
          <p:cNvSpPr txBox="1"/>
          <p:nvPr/>
        </p:nvSpPr>
        <p:spPr>
          <a:xfrm>
            <a:off x="1128228" y="5271957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512875" y="4786837"/>
            <a:ext cx="186080" cy="9957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FMI Dense Label"/>
          <p:cNvSpPr txBox="1"/>
          <p:nvPr/>
        </p:nvSpPr>
        <p:spPr>
          <a:xfrm>
            <a:off x="1410168" y="4672537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6" name="Rectangle 95"/>
          <p:cNvSpPr/>
          <p:nvPr/>
        </p:nvSpPr>
        <p:spPr>
          <a:xfrm>
            <a:off x="1794815" y="4787646"/>
            <a:ext cx="186080" cy="9876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FMI Dense Label"/>
          <p:cNvSpPr txBox="1"/>
          <p:nvPr/>
        </p:nvSpPr>
        <p:spPr>
          <a:xfrm>
            <a:off x="1692108" y="4444746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8" name="Rectangle 97"/>
          <p:cNvSpPr/>
          <p:nvPr/>
        </p:nvSpPr>
        <p:spPr>
          <a:xfrm>
            <a:off x="2076755" y="4886411"/>
            <a:ext cx="186080" cy="255558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FMI Dense Label"/>
          <p:cNvSpPr txBox="1"/>
          <p:nvPr/>
        </p:nvSpPr>
        <p:spPr>
          <a:xfrm>
            <a:off x="1974048" y="5151494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2358695" y="4822058"/>
            <a:ext cx="186080" cy="6435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FMI Dense Label"/>
          <p:cNvSpPr txBox="1"/>
          <p:nvPr/>
        </p:nvSpPr>
        <p:spPr>
          <a:xfrm>
            <a:off x="2255988" y="4707758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640635" y="4382110"/>
            <a:ext cx="186080" cy="504300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FMI Dense Label"/>
          <p:cNvSpPr txBox="1"/>
          <p:nvPr/>
        </p:nvSpPr>
        <p:spPr>
          <a:xfrm>
            <a:off x="2537928" y="4267810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922575" y="4886411"/>
            <a:ext cx="186080" cy="326204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FMI Dense Label"/>
          <p:cNvSpPr txBox="1"/>
          <p:nvPr/>
        </p:nvSpPr>
        <p:spPr>
          <a:xfrm>
            <a:off x="2819868" y="5222140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3204515" y="4467676"/>
            <a:ext cx="186080" cy="41873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FMI Dense Label"/>
          <p:cNvSpPr txBox="1"/>
          <p:nvPr/>
        </p:nvSpPr>
        <p:spPr>
          <a:xfrm>
            <a:off x="3101808" y="4353376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3486455" y="4886411"/>
            <a:ext cx="186080" cy="528640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FMI Dense Label"/>
          <p:cNvSpPr txBox="1"/>
          <p:nvPr/>
        </p:nvSpPr>
        <p:spPr>
          <a:xfrm>
            <a:off x="3383748" y="5424576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3768395" y="4840409"/>
            <a:ext cx="186080" cy="4600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FMI Dense Label"/>
          <p:cNvSpPr txBox="1"/>
          <p:nvPr/>
        </p:nvSpPr>
        <p:spPr>
          <a:xfrm>
            <a:off x="3665688" y="4726109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4050335" y="4803160"/>
            <a:ext cx="186080" cy="8325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FMI Dense Label"/>
          <p:cNvSpPr txBox="1"/>
          <p:nvPr/>
        </p:nvSpPr>
        <p:spPr>
          <a:xfrm>
            <a:off x="3947628" y="4574560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4332275" y="4642062"/>
            <a:ext cx="186080" cy="244349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FMI Dense Label"/>
          <p:cNvSpPr txBox="1"/>
          <p:nvPr/>
        </p:nvSpPr>
        <p:spPr>
          <a:xfrm>
            <a:off x="4229568" y="4413462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614215" y="4886411"/>
            <a:ext cx="186080" cy="304755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FMI Dense Label"/>
          <p:cNvSpPr txBox="1"/>
          <p:nvPr/>
        </p:nvSpPr>
        <p:spPr>
          <a:xfrm>
            <a:off x="4511508" y="5200691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896155" y="4886411"/>
            <a:ext cx="186080" cy="49875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FMI Dense Label"/>
          <p:cNvSpPr txBox="1"/>
          <p:nvPr/>
        </p:nvSpPr>
        <p:spPr>
          <a:xfrm>
            <a:off x="4793448" y="4945810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5178095" y="4631868"/>
            <a:ext cx="186080" cy="25454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FMI Dense Label"/>
          <p:cNvSpPr txBox="1"/>
          <p:nvPr/>
        </p:nvSpPr>
        <p:spPr>
          <a:xfrm>
            <a:off x="5075388" y="4517568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2" name="Rectangle 121"/>
          <p:cNvSpPr/>
          <p:nvPr/>
        </p:nvSpPr>
        <p:spPr>
          <a:xfrm>
            <a:off x="5460035" y="4630160"/>
            <a:ext cx="186080" cy="25625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FMI Dense Label"/>
          <p:cNvSpPr txBox="1"/>
          <p:nvPr/>
        </p:nvSpPr>
        <p:spPr>
          <a:xfrm>
            <a:off x="5357328" y="4401560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5741975" y="4886411"/>
            <a:ext cx="186080" cy="229253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FMI Dense Label"/>
          <p:cNvSpPr txBox="1"/>
          <p:nvPr/>
        </p:nvSpPr>
        <p:spPr>
          <a:xfrm>
            <a:off x="5639268" y="5125188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6023915" y="4558310"/>
            <a:ext cx="186080" cy="32810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FMI Dense Label"/>
          <p:cNvSpPr txBox="1"/>
          <p:nvPr/>
        </p:nvSpPr>
        <p:spPr>
          <a:xfrm>
            <a:off x="5921208" y="4444010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6305855" y="4886411"/>
            <a:ext cx="186080" cy="79273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FMI Dense Label"/>
          <p:cNvSpPr txBox="1"/>
          <p:nvPr/>
        </p:nvSpPr>
        <p:spPr>
          <a:xfrm>
            <a:off x="6203148" y="4975209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6587795" y="4392286"/>
            <a:ext cx="186080" cy="4941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FMI Dense Label"/>
          <p:cNvSpPr txBox="1"/>
          <p:nvPr/>
        </p:nvSpPr>
        <p:spPr>
          <a:xfrm>
            <a:off x="6485088" y="4277986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6869735" y="4797025"/>
            <a:ext cx="186080" cy="89386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FMI Dense Label"/>
          <p:cNvSpPr txBox="1"/>
          <p:nvPr/>
        </p:nvSpPr>
        <p:spPr>
          <a:xfrm>
            <a:off x="6767028" y="4682725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7151675" y="4886411"/>
            <a:ext cx="186080" cy="107027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FMI Dense Label"/>
          <p:cNvSpPr txBox="1"/>
          <p:nvPr/>
        </p:nvSpPr>
        <p:spPr>
          <a:xfrm>
            <a:off x="7048968" y="5002963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433615" y="4414379"/>
            <a:ext cx="186080" cy="47203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FMI Dense Label"/>
          <p:cNvSpPr txBox="1"/>
          <p:nvPr/>
        </p:nvSpPr>
        <p:spPr>
          <a:xfrm>
            <a:off x="7330908" y="4300079"/>
            <a:ext cx="391495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FMI Dense Label"/>
          <p:cNvSpPr txBox="1"/>
          <p:nvPr/>
        </p:nvSpPr>
        <p:spPr>
          <a:xfrm>
            <a:off x="49244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139" name="FMI Dense Label"/>
          <p:cNvSpPr txBox="1"/>
          <p:nvPr/>
        </p:nvSpPr>
        <p:spPr>
          <a:xfrm>
            <a:off x="774383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40" name="FMI Dense Label"/>
          <p:cNvSpPr txBox="1"/>
          <p:nvPr/>
        </p:nvSpPr>
        <p:spPr>
          <a:xfrm>
            <a:off x="105632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141" name="FMI Dense Label"/>
          <p:cNvSpPr txBox="1"/>
          <p:nvPr/>
        </p:nvSpPr>
        <p:spPr>
          <a:xfrm>
            <a:off x="1338263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142" name="FMI Dense Label"/>
          <p:cNvSpPr txBox="1"/>
          <p:nvPr/>
        </p:nvSpPr>
        <p:spPr>
          <a:xfrm>
            <a:off x="1620203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143" name="FMI Dense Label"/>
          <p:cNvSpPr txBox="1"/>
          <p:nvPr/>
        </p:nvSpPr>
        <p:spPr>
          <a:xfrm>
            <a:off x="1902143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144" name="FMI Dense Label"/>
          <p:cNvSpPr txBox="1"/>
          <p:nvPr/>
        </p:nvSpPr>
        <p:spPr>
          <a:xfrm>
            <a:off x="218408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145" name="FMI Dense Label"/>
          <p:cNvSpPr txBox="1"/>
          <p:nvPr/>
        </p:nvSpPr>
        <p:spPr>
          <a:xfrm>
            <a:off x="246602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146" name="FMI Dense Label"/>
          <p:cNvSpPr txBox="1"/>
          <p:nvPr/>
        </p:nvSpPr>
        <p:spPr>
          <a:xfrm>
            <a:off x="274796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47" name="FMI Dense Label"/>
          <p:cNvSpPr txBox="1"/>
          <p:nvPr/>
        </p:nvSpPr>
        <p:spPr>
          <a:xfrm>
            <a:off x="302990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148" name="FMI Dense Label"/>
          <p:cNvSpPr txBox="1"/>
          <p:nvPr/>
        </p:nvSpPr>
        <p:spPr>
          <a:xfrm>
            <a:off x="331184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149" name="FMI Dense Label"/>
          <p:cNvSpPr txBox="1"/>
          <p:nvPr/>
        </p:nvSpPr>
        <p:spPr>
          <a:xfrm>
            <a:off x="359378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150" name="FMI Dense Label"/>
          <p:cNvSpPr txBox="1"/>
          <p:nvPr/>
        </p:nvSpPr>
        <p:spPr>
          <a:xfrm>
            <a:off x="387572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151" name="FMI Dense Label"/>
          <p:cNvSpPr txBox="1"/>
          <p:nvPr/>
        </p:nvSpPr>
        <p:spPr>
          <a:xfrm>
            <a:off x="415766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152" name="FMI Dense Label"/>
          <p:cNvSpPr txBox="1"/>
          <p:nvPr/>
        </p:nvSpPr>
        <p:spPr>
          <a:xfrm>
            <a:off x="4308395" y="5628650"/>
            <a:ext cx="797719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153" name="FMI Dense Label"/>
          <p:cNvSpPr txBox="1"/>
          <p:nvPr/>
        </p:nvSpPr>
        <p:spPr>
          <a:xfrm>
            <a:off x="472154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154" name="FMI Dense Label"/>
          <p:cNvSpPr txBox="1"/>
          <p:nvPr/>
        </p:nvSpPr>
        <p:spPr>
          <a:xfrm>
            <a:off x="5003483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55" name="FMI Dense Label"/>
          <p:cNvSpPr txBox="1"/>
          <p:nvPr/>
        </p:nvSpPr>
        <p:spPr>
          <a:xfrm>
            <a:off x="528542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156" name="FMI Dense Label"/>
          <p:cNvSpPr txBox="1"/>
          <p:nvPr/>
        </p:nvSpPr>
        <p:spPr>
          <a:xfrm>
            <a:off x="556736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157" name="FMI Dense Label"/>
          <p:cNvSpPr txBox="1"/>
          <p:nvPr/>
        </p:nvSpPr>
        <p:spPr>
          <a:xfrm>
            <a:off x="584930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158" name="FMI Dense Label"/>
          <p:cNvSpPr txBox="1"/>
          <p:nvPr/>
        </p:nvSpPr>
        <p:spPr>
          <a:xfrm>
            <a:off x="613124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59" name="FMI Dense Label"/>
          <p:cNvSpPr txBox="1"/>
          <p:nvPr/>
        </p:nvSpPr>
        <p:spPr>
          <a:xfrm>
            <a:off x="641318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160" name="FMI Dense Label"/>
          <p:cNvSpPr txBox="1"/>
          <p:nvPr/>
        </p:nvSpPr>
        <p:spPr>
          <a:xfrm>
            <a:off x="6581775" y="5628650"/>
            <a:ext cx="762000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161" name="FMI Dense Label"/>
          <p:cNvSpPr txBox="1"/>
          <p:nvPr/>
        </p:nvSpPr>
        <p:spPr>
          <a:xfrm>
            <a:off x="697706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62" name="FMI Dense Label"/>
          <p:cNvSpPr txBox="1"/>
          <p:nvPr/>
        </p:nvSpPr>
        <p:spPr>
          <a:xfrm>
            <a:off x="725900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163" name="Rounded Rectangle 162"/>
          <p:cNvSpPr/>
          <p:nvPr/>
        </p:nvSpPr>
        <p:spPr>
          <a:xfrm>
            <a:off x="7915275" y="1052895"/>
            <a:ext cx="4133850" cy="5503490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TextBox 163"/>
          <p:cNvSpPr txBox="1"/>
          <p:nvPr/>
        </p:nvSpPr>
        <p:spPr>
          <a:xfrm>
            <a:off x="8048625" y="1138620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048625" y="137674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TextBox 165"/>
          <p:cNvSpPr txBox="1"/>
          <p:nvPr/>
        </p:nvSpPr>
        <p:spPr>
          <a:xfrm>
            <a:off x="8048625" y="1462470"/>
            <a:ext cx="3867150" cy="501771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67" name="TextBox 1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7075" y="1852309"/>
            <a:ext cx="128699" cy="187198"/>
          </a:xfrm>
          <a:prstGeom prst="rect">
            <a:avLst/>
          </a:prstGeom>
        </p:spPr>
      </p:pic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680194"/>
            <a:ext cx="128699" cy="187198"/>
          </a:xfrm>
          <a:prstGeom prst="rect">
            <a:avLst/>
          </a:prstGeom>
        </p:spPr>
      </p:pic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875" y="1791506"/>
            <a:ext cx="128699" cy="187198"/>
          </a:xfrm>
          <a:prstGeom prst="rect">
            <a:avLst/>
          </a:prstGeom>
        </p:spPr>
      </p:pic>
      <p:pic>
        <p:nvPicPr>
          <p:cNvPr id="171" name="Picture 1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2275" y="1463749"/>
            <a:ext cx="128699" cy="187198"/>
          </a:xfrm>
          <a:prstGeom prst="rect">
            <a:avLst/>
          </a:prstGeom>
        </p:spPr>
      </p:pic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1754905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9075" y="1716872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296" y="5180938"/>
            <a:ext cx="93599" cy="136144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5236" y="4723077"/>
            <a:ext cx="93599" cy="136144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77176" y="5270560"/>
            <a:ext cx="93599" cy="136144"/>
          </a:xfrm>
          <a:prstGeom prst="rect">
            <a:avLst/>
          </a:prstGeom>
        </p:spPr>
      </p:pic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9116" y="4671140"/>
            <a:ext cx="93599" cy="136144"/>
          </a:xfrm>
          <a:prstGeom prst="rect">
            <a:avLst/>
          </a:prstGeom>
        </p:spPr>
      </p:pic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1056" y="4443349"/>
            <a:ext cx="93599" cy="136144"/>
          </a:xfrm>
          <a:prstGeom prst="rect">
            <a:avLst/>
          </a:prstGeom>
        </p:spPr>
      </p:pic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22996" y="5150097"/>
            <a:ext cx="93599" cy="136144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4936" y="4706361"/>
            <a:ext cx="93599" cy="136144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6876" y="4266413"/>
            <a:ext cx="93599" cy="136144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8816" y="5220743"/>
            <a:ext cx="93599" cy="136144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0755" y="4351979"/>
            <a:ext cx="93599" cy="136144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696" y="5423179"/>
            <a:ext cx="93599" cy="136144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14635" y="4724712"/>
            <a:ext cx="93599" cy="136144"/>
          </a:xfrm>
          <a:prstGeom prst="rect">
            <a:avLst/>
          </a:prstGeom>
        </p:spPr>
      </p:pic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96576" y="4573163"/>
            <a:ext cx="93599" cy="136144"/>
          </a:xfrm>
          <a:prstGeom prst="rect">
            <a:avLst/>
          </a:prstGeom>
        </p:spPr>
      </p:pic>
      <p:pic>
        <p:nvPicPr>
          <p:cNvPr id="187" name="Picture 1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78516" y="4412065"/>
            <a:ext cx="93599" cy="136144"/>
          </a:xfrm>
          <a:prstGeom prst="rect">
            <a:avLst/>
          </a:prstGeom>
        </p:spPr>
      </p:pic>
      <p:pic>
        <p:nvPicPr>
          <p:cNvPr id="188" name="Picture 1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0456" y="5199294"/>
            <a:ext cx="93599" cy="136144"/>
          </a:xfrm>
          <a:prstGeom prst="rect">
            <a:avLst/>
          </a:prstGeom>
        </p:spPr>
      </p:pic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42396" y="4944413"/>
            <a:ext cx="93599" cy="136144"/>
          </a:xfrm>
          <a:prstGeom prst="rect">
            <a:avLst/>
          </a:prstGeom>
        </p:spPr>
      </p:pic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24336" y="4516171"/>
            <a:ext cx="93599" cy="136144"/>
          </a:xfrm>
          <a:prstGeom prst="rect">
            <a:avLst/>
          </a:prstGeom>
        </p:spPr>
      </p:pic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06276" y="4400163"/>
            <a:ext cx="93599" cy="136144"/>
          </a:xfrm>
          <a:prstGeom prst="rect">
            <a:avLst/>
          </a:prstGeom>
        </p:spPr>
      </p:pic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88216" y="5123791"/>
            <a:ext cx="93599" cy="136144"/>
          </a:xfrm>
          <a:prstGeom prst="rect">
            <a:avLst/>
          </a:prstGeom>
        </p:spPr>
      </p:pic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0156" y="4442613"/>
            <a:ext cx="93599" cy="136144"/>
          </a:xfrm>
          <a:prstGeom prst="rect">
            <a:avLst/>
          </a:prstGeom>
        </p:spPr>
      </p:pic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2095" y="4973812"/>
            <a:ext cx="93599" cy="136144"/>
          </a:xfrm>
          <a:prstGeom prst="rect">
            <a:avLst/>
          </a:prstGeom>
        </p:spPr>
      </p:pic>
      <p:pic>
        <p:nvPicPr>
          <p:cNvPr id="195" name="Picture 1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4036" y="4276589"/>
            <a:ext cx="93599" cy="136144"/>
          </a:xfrm>
          <a:prstGeom prst="rect">
            <a:avLst/>
          </a:prstGeom>
        </p:spPr>
      </p:pic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5976" y="4681328"/>
            <a:ext cx="93599" cy="136144"/>
          </a:xfrm>
          <a:prstGeom prst="rect">
            <a:avLst/>
          </a:prstGeom>
        </p:spPr>
      </p:pic>
      <p:pic>
        <p:nvPicPr>
          <p:cNvPr id="197" name="Picture 1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7916" y="5001566"/>
            <a:ext cx="93599" cy="136144"/>
          </a:xfrm>
          <a:prstGeom prst="rect">
            <a:avLst/>
          </a:prstGeom>
        </p:spPr>
      </p:pic>
      <p:pic>
        <p:nvPicPr>
          <p:cNvPr id="198" name="Picture 1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79856" y="4298682"/>
            <a:ext cx="93599" cy="136144"/>
          </a:xfrm>
          <a:prstGeom prst="rect">
            <a:avLst/>
          </a:prstGeom>
        </p:spPr>
      </p:pic>
      <p:sp>
        <p:nvSpPr>
          <p:cNvPr id="199" name="TextBox 198"/>
          <p:cNvSpPr txBox="1"/>
          <p:nvPr/>
        </p:nvSpPr>
        <p:spPr>
          <a:xfrm>
            <a:off x="8048625" y="1471995"/>
            <a:ext cx="379178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selling price is derived as Value ÷ Volume; 'Ear &amp; Eye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8048625" y="1647255"/>
            <a:ext cx="381502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Hygiene Products' commands the highest product type price at</a:t>
            </a:r>
          </a:p>
        </p:txBody>
      </p:sp>
      <p:pic>
        <p:nvPicPr>
          <p:cNvPr id="201" name="Picture 2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34545" y="1812291"/>
            <a:ext cx="134549" cy="195707"/>
          </a:xfrm>
          <a:prstGeom prst="rect">
            <a:avLst/>
          </a:prstGeom>
        </p:spPr>
      </p:pic>
      <p:sp>
        <p:nvSpPr>
          <p:cNvPr id="202" name="TextBox 201"/>
          <p:cNvSpPr txBox="1"/>
          <p:nvPr/>
        </p:nvSpPr>
        <p:spPr>
          <a:xfrm>
            <a:off x="8209654" y="1822515"/>
            <a:ext cx="107401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2036.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8048625" y="2050353"/>
            <a:ext cx="37596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Products' shows the steepest price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8048625" y="2225613"/>
            <a:ext cx="153955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uplift over 2026–2036 (+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37331" y="2215389"/>
            <a:ext cx="134549" cy="195707"/>
          </a:xfrm>
          <a:prstGeom prst="rect">
            <a:avLst/>
          </a:prstGeom>
        </p:spPr>
      </p:pic>
      <p:sp>
        <p:nvSpPr>
          <p:cNvPr id="206" name="TextBox 205"/>
          <p:cNvSpPr txBox="1"/>
          <p:nvPr/>
        </p:nvSpPr>
        <p:spPr>
          <a:xfrm>
            <a:off x="9712440" y="2225613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8048625" y="2453451"/>
            <a:ext cx="177602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Against the europe price of</a:t>
            </a:r>
          </a:p>
        </p:txBody>
      </p:sp>
      <p:pic>
        <p:nvPicPr>
          <p:cNvPr id="208" name="Picture 2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73806" y="2443227"/>
            <a:ext cx="134549" cy="195707"/>
          </a:xfrm>
          <a:prstGeom prst="rect">
            <a:avLst/>
          </a:prstGeom>
        </p:spPr>
      </p:pic>
      <p:sp>
        <p:nvSpPr>
          <p:cNvPr id="209" name="TextBox 208"/>
          <p:cNvSpPr txBox="1"/>
          <p:nvPr/>
        </p:nvSpPr>
        <p:spPr>
          <a:xfrm>
            <a:off x="9948916" y="2453451"/>
            <a:ext cx="17069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US$/MT, 15 of 25 countries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8048625" y="2628711"/>
            <a:ext cx="16399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above and 10 below.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8048625" y="2856548"/>
            <a:ext cx="17204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'France' is the dearest at +</a:t>
            </a:r>
          </a:p>
        </p:txBody>
      </p:sp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18182" y="2846325"/>
            <a:ext cx="134549" cy="195707"/>
          </a:xfrm>
          <a:prstGeom prst="rect">
            <a:avLst/>
          </a:prstGeom>
        </p:spPr>
      </p:pic>
      <p:sp>
        <p:nvSpPr>
          <p:cNvPr id="213" name="TextBox 212"/>
          <p:cNvSpPr txBox="1"/>
          <p:nvPr/>
        </p:nvSpPr>
        <p:spPr>
          <a:xfrm>
            <a:off x="9893291" y="2856548"/>
            <a:ext cx="17814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versus Europe, 'Hungary' the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8048625" y="3031808"/>
            <a:ext cx="84296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cheapest at -</a:t>
            </a:r>
          </a:p>
        </p:txBody>
      </p:sp>
      <p:pic>
        <p:nvPicPr>
          <p:cNvPr id="215" name="Picture 2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40741" y="3021585"/>
            <a:ext cx="134549" cy="195707"/>
          </a:xfrm>
          <a:prstGeom prst="rect">
            <a:avLst/>
          </a:prstGeom>
        </p:spPr>
      </p:pic>
      <p:sp>
        <p:nvSpPr>
          <p:cNvPr id="216" name="TextBox 215"/>
          <p:cNvSpPr txBox="1"/>
          <p:nvPr/>
        </p:nvSpPr>
        <p:spPr>
          <a:xfrm>
            <a:off x="9015850" y="3031808"/>
            <a:ext cx="272820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pointing to premiumisation headroom in the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8048625" y="3207068"/>
            <a:ext cx="14585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lower-priced countries.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Summary, By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Europe market value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3855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value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32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58403" y="2450085"/>
            <a:ext cx="22201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6625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2026–2036 more than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104492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previous 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6008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value: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86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73770" y="3256280"/>
            <a:ext cx="16844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07385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82495" y="3256280"/>
            <a:ext cx="1489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325392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1707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048625" y="4631734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859572"/>
            <a:ext cx="36227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'Shampoos &amp; Cleansing Products'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5034832"/>
            <a:ext cx="13084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Product Type.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262670"/>
            <a:ext cx="32912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048625" y="5490508"/>
            <a:ext cx="27413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Volume &amp; Value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and value growth of the Europe market and the incremental $ opportunity it creates,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4695825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4505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Market, 2021–2025 (Historical)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4505325" cy="22288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991100" y="981075"/>
            <a:ext cx="7048500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5086350" y="1038225"/>
            <a:ext cx="6858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Market, 2026–2036 (Forecast)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5086350" y="1266825"/>
          <a:ext cx="6858000" cy="22288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2809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4768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2026–2031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88296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142875" y="455295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276225" y="463867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&amp; Value Analysis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276225" y="48768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276225" y="4962525"/>
            <a:ext cx="11639550" cy="1571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33894" y="2050946"/>
            <a:ext cx="205327" cy="298657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30846" y="2011501"/>
            <a:ext cx="259564" cy="377547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21594" y="402240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88594" y="4022407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98494" y="402240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51294" y="4022407"/>
            <a:ext cx="157162" cy="228600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76225" y="4972050"/>
            <a:ext cx="13455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expands from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70958" y="4961826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746068" y="4972050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897504" y="496182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072613" y="4972050"/>
            <a:ext cx="10517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73535" y="4961826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248645" y="4972050"/>
            <a:ext cx="15238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 accelerating from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21644" y="4961826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896754" y="4972050"/>
            <a:ext cx="92254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199888"/>
            <a:ext cx="124773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Volume rises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473116" y="5189664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648226" y="5199888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99662" y="5189664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974771" y="5199888"/>
            <a:ext cx="16539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the same decade.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27725"/>
            <a:ext cx="8883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grows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696" y="5417502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288806" y="5427725"/>
            <a:ext cx="307277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CAGR faster than volume firming price/mix.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655563"/>
            <a:ext cx="167533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forecast decade adds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00712" y="5645340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2075821" y="5655563"/>
            <a:ext cx="226894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incremental opportunity (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93922" y="5645340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469031" y="5655563"/>
            <a:ext cx="25165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the first five years) the market reaches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34732" y="5645340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7109841" y="5655563"/>
            <a:ext cx="104035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its 2026 value.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266825"/>
            <a:ext cx="4505325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lockshield_16"/>
          <p:cNvSpPr/>
          <p:nvPr/>
        </p:nvSpPr>
        <p:spPr>
          <a:xfrm>
            <a:off x="5086350" y="1266825"/>
            <a:ext cx="6858000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 Country Indices (Value)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3933825" cy="2445995"/>
          </a:xfrm>
          <a:prstGeom prst="roundRect">
            <a:avLst>
              <a:gd name="adj" fmla="val 311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64411"/>
            <a:ext cx="3743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CAGR Index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93011"/>
          <a:ext cx="3743325" cy="21030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489764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3565964"/>
          <a:ext cx="3914775" cy="213206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79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75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5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5329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3891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63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863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863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3863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3863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5707558"/>
            <a:ext cx="37814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4114800" y="1007261"/>
            <a:ext cx="3933825" cy="4928498"/>
          </a:xfrm>
          <a:prstGeom prst="roundRect">
            <a:avLst>
              <a:gd name="adj" fmla="val 19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4210050" y="1064411"/>
            <a:ext cx="3743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2036 Market By Country (US$ Mn)  ·  Top 10</a:t>
            </a:r>
          </a:p>
        </p:txBody>
      </p:sp>
      <p:sp>
        <p:nvSpPr>
          <p:cNvPr id="18" name="Rectangle 17"/>
          <p:cNvSpPr/>
          <p:nvPr/>
        </p:nvSpPr>
        <p:spPr>
          <a:xfrm>
            <a:off x="4210050" y="1293011"/>
            <a:ext cx="1900499" cy="1814588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110549" y="1293011"/>
            <a:ext cx="1842826" cy="1814588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210050" y="3107599"/>
            <a:ext cx="1795092" cy="1594947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210050" y="4702546"/>
            <a:ext cx="1795092" cy="1176063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005142" y="3107599"/>
            <a:ext cx="1177899" cy="1320628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Rectangle 22"/>
          <p:cNvSpPr/>
          <p:nvPr/>
        </p:nvSpPr>
        <p:spPr>
          <a:xfrm>
            <a:off x="7183041" y="3107599"/>
            <a:ext cx="770334" cy="1320628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005142" y="4428227"/>
            <a:ext cx="1113259" cy="764689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005142" y="5192916"/>
            <a:ext cx="1113259" cy="685693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118401" y="4428227"/>
            <a:ext cx="834974" cy="806912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7" name="Rectangle 26"/>
          <p:cNvSpPr/>
          <p:nvPr/>
        </p:nvSpPr>
        <p:spPr>
          <a:xfrm>
            <a:off x="7118401" y="5235139"/>
            <a:ext cx="834974" cy="643470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8086725" y="1007261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8181975" y="1064411"/>
            <a:ext cx="3743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Absolute Index</a:t>
            </a:r>
          </a:p>
        </p:txBody>
      </p:sp>
      <p:graphicFrame>
        <p:nvGraphicFramePr>
          <p:cNvPr id="30" name="Chart 29"/>
          <p:cNvGraphicFramePr>
            <a:graphicFrameLocks noGrp="1"/>
          </p:cNvGraphicFramePr>
          <p:nvPr/>
        </p:nvGraphicFramePr>
        <p:xfrm>
          <a:off x="8181975" y="1293011"/>
          <a:ext cx="3743325" cy="209396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1" name="Rounded Rectangle 30"/>
          <p:cNvSpPr/>
          <p:nvPr/>
        </p:nvSpPr>
        <p:spPr>
          <a:xfrm>
            <a:off x="8086725" y="3471510"/>
            <a:ext cx="3933825" cy="2464249"/>
          </a:xfrm>
          <a:prstGeom prst="roundRect">
            <a:avLst>
              <a:gd name="adj" fmla="val 30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graphicFrame>
        <p:nvGraphicFramePr>
          <p:cNvPr id="32" name="Table 31"/>
          <p:cNvGraphicFramePr>
            <a:graphicFrameLocks noGrp="1"/>
          </p:cNvGraphicFramePr>
          <p:nvPr/>
        </p:nvGraphicFramePr>
        <p:xfrm>
          <a:off x="8096250" y="3547710"/>
          <a:ext cx="3914774" cy="21594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11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86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844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204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266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266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266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266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266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3" name="TextBox 32"/>
          <p:cNvSpPr txBox="1"/>
          <p:nvPr/>
        </p:nvSpPr>
        <p:spPr>
          <a:xfrm>
            <a:off x="8162925" y="5716684"/>
            <a:ext cx="37814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142875" y="6027028"/>
            <a:ext cx="10858500" cy="602372"/>
          </a:xfrm>
          <a:prstGeom prst="roundRect">
            <a:avLst>
              <a:gd name="adj" fmla="val 1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88017" y="2125483"/>
            <a:ext cx="183356" cy="26670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781466" y="4611423"/>
            <a:ext cx="330041" cy="480060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02673" y="2200305"/>
            <a:ext cx="115252" cy="16763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74336" y="2200305"/>
            <a:ext cx="115252" cy="167639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49970" y="3905072"/>
            <a:ext cx="115252" cy="167639"/>
          </a:xfrm>
          <a:prstGeom prst="rect">
            <a:avLst/>
          </a:prstGeom>
        </p:spPr>
      </p:pic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49970" y="5290577"/>
            <a:ext cx="115252" cy="167639"/>
          </a:xfrm>
          <a:prstGeom prst="rect">
            <a:avLst/>
          </a:prstGeom>
        </p:spPr>
      </p:pic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36465" y="3767913"/>
            <a:ext cx="115252" cy="167639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0582" y="3767913"/>
            <a:ext cx="115252" cy="167639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4145" y="4810571"/>
            <a:ext cx="115252" cy="167639"/>
          </a:xfrm>
          <a:prstGeom prst="rect">
            <a:avLst/>
          </a:prstGeom>
        </p:spPr>
      </p:pic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4145" y="5535762"/>
            <a:ext cx="115252" cy="167639"/>
          </a:xfrm>
          <a:prstGeom prst="rect">
            <a:avLst/>
          </a:prstGeom>
        </p:spPr>
      </p:pic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78262" y="4831683"/>
            <a:ext cx="115252" cy="167639"/>
          </a:xfrm>
          <a:prstGeom prst="rect">
            <a:avLst/>
          </a:prstGeom>
        </p:spPr>
      </p:pic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78262" y="5556874"/>
            <a:ext cx="115252" cy="167639"/>
          </a:xfrm>
          <a:prstGeom prst="rect">
            <a:avLst/>
          </a:prstGeom>
        </p:spPr>
      </p:pic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1867" y="2120920"/>
            <a:ext cx="183356" cy="266700"/>
          </a:xfrm>
          <a:prstGeom prst="rect">
            <a:avLst/>
          </a:prstGeom>
        </p:spPr>
      </p:pic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56209" y="4510468"/>
            <a:ext cx="330041" cy="480060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57175" y="6160574"/>
            <a:ext cx="33375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Other European Countries posts the highest CAGR Index (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42804" y="6150795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3710300" y="6160574"/>
            <a:ext cx="7899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growing at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48331" y="6150795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4615827" y="6160574"/>
            <a:ext cx="497606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the Europe benchmark, while Germany offers the largest absolute opportunity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39947" y="6150795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707442" y="6160574"/>
            <a:ext cx="67347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57175" y="6328214"/>
            <a:ext cx="268302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incremental market between 2026 and 2036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888250" y="6318435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3055746" y="6328214"/>
            <a:ext cx="15465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increment).</a:t>
            </a:r>
          </a:p>
        </p:txBody>
      </p:sp>
      <p:sp>
        <p:nvSpPr>
          <p:cNvPr id="60" name="lockshield_12"/>
          <p:cNvSpPr/>
          <p:nvPr/>
        </p:nvSpPr>
        <p:spPr>
          <a:xfrm>
            <a:off x="238125" y="1293011"/>
            <a:ext cx="3743325" cy="210309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lockshield_30"/>
          <p:cNvSpPr/>
          <p:nvPr/>
        </p:nvSpPr>
        <p:spPr>
          <a:xfrm>
            <a:off x="8181975" y="1293011"/>
            <a:ext cx="3743325" cy="209396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 Country Indices (Value)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graphicFrame>
        <p:nvGraphicFramePr>
          <p:cNvPr id="11" name="Table 10"/>
          <p:cNvGraphicFramePr>
            <a:graphicFrameLocks noGrp="1"/>
          </p:cNvGraphicFramePr>
          <p:nvPr/>
        </p:nvGraphicFramePr>
        <p:xfrm>
          <a:off x="152400" y="105727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177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231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231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3231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2" name="TextBox 11"/>
          <p:cNvSpPr txBox="1"/>
          <p:nvPr/>
        </p:nvSpPr>
        <p:spPr>
          <a:xfrm>
            <a:off x="219075" y="25527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290512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298132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048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941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941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59411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44767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68190" y="1656588"/>
            <a:ext cx="366712" cy="533400"/>
          </a:xfrm>
          <a:prstGeom prst="rect">
            <a:avLst/>
          </a:prstGeom>
        </p:spPr>
      </p:pic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61731" y="35806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Overview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market size, competitive landscape and the drivers, restraints and trends shaping demand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609725"/>
          </a:xfrm>
          <a:prstGeom prst="roundRect">
            <a:avLst>
              <a:gd name="adj" fmla="val 47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11239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4" name="Rounded Rectangle 13"/>
          <p:cNvSpPr/>
          <p:nvPr/>
        </p:nvSpPr>
        <p:spPr>
          <a:xfrm>
            <a:off x="142875" y="2724150"/>
            <a:ext cx="11906250" cy="1609725"/>
          </a:xfrm>
          <a:prstGeom prst="roundRect">
            <a:avLst>
              <a:gd name="adj" fmla="val 47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280987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Landscape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0480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3133725"/>
            <a:ext cx="11639550" cy="11239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Rounded Rectangle 17"/>
          <p:cNvSpPr/>
          <p:nvPr/>
        </p:nvSpPr>
        <p:spPr>
          <a:xfrm>
            <a:off x="142875" y="4467225"/>
            <a:ext cx="3943350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76225" y="4552950"/>
            <a:ext cx="36766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Drivers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4791075"/>
            <a:ext cx="3676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76225" y="4876800"/>
            <a:ext cx="3676650" cy="16764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2" name="Rounded Rectangle 21"/>
          <p:cNvSpPr/>
          <p:nvPr/>
        </p:nvSpPr>
        <p:spPr>
          <a:xfrm>
            <a:off x="4238625" y="4467225"/>
            <a:ext cx="3819525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4371975" y="4552950"/>
            <a:ext cx="35528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24" name="Rectangle 23"/>
          <p:cNvSpPr/>
          <p:nvPr/>
        </p:nvSpPr>
        <p:spPr>
          <a:xfrm>
            <a:off x="4371975" y="47910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4371975" y="4876800"/>
            <a:ext cx="3552825" cy="16764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6" name="Rounded Rectangle 25"/>
          <p:cNvSpPr/>
          <p:nvPr/>
        </p:nvSpPr>
        <p:spPr>
          <a:xfrm>
            <a:off x="8210550" y="4467225"/>
            <a:ext cx="3819525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8343900" y="4552950"/>
            <a:ext cx="35528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Trends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8343900" y="47910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8343900" y="4876800"/>
            <a:ext cx="3552825" cy="16764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Mix shifting toward 'Shampoos &amp; Cleansing Products' and higher-growth tiers.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Other European Countries outpacing the Europe average.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Demand broadening across 6 product type categories.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337173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Europe Pet Cosmetic Products market is valued at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97117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3772226" y="1400175"/>
            <a:ext cx="244038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in 2026 and is forecast to reach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61764" y="1389951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336874" y="1400175"/>
            <a:ext cx="10885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1628013"/>
            <a:ext cx="98815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That implies a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13535" y="1617789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1388644" y="1628013"/>
            <a:ext cx="21639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forecast CAGR (2026–2036), versus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1754" y="161778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676863" y="1628013"/>
            <a:ext cx="107886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1855851"/>
            <a:ext cx="10700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An incremental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403" y="184562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470512" y="1855851"/>
            <a:ext cx="298493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is created over the forecast a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4600" y="184562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579710" y="1855851"/>
            <a:ext cx="82270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3143250"/>
            <a:ext cx="686210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is moderately fragmented: the leading product type category 'Shampoos &amp; Cleansing Products' holds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87484" y="3133026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262593" y="3143250"/>
            <a:ext cx="9162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371087"/>
            <a:ext cx="517825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spans 25 countries and 10 segmentation lenses (6 product type categories).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3598925"/>
            <a:ext cx="25998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 market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25220" y="3588702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3000329" y="3598925"/>
            <a:ext cx="9162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4886325"/>
            <a:ext cx="35035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Accelerating uptake of 'Shampoos &amp; Cleansing Products'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5061585"/>
            <a:ext cx="1204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5793" y="505136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520902" y="5061585"/>
            <a:ext cx="4909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CAGR).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76225" y="5289422"/>
            <a:ext cx="326213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Fast-growing demand in Other European Countries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7517" y="5279199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3662626" y="5289422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5517260"/>
            <a:ext cx="31614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Momentum in E-commerce within sales channels (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6853" y="5507037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3561963" y="5517260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371975" y="4886325"/>
            <a:ext cx="333437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Slower momentum in 'Coat Conditioning &amp; Grooming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371975" y="5061585"/>
            <a:ext cx="7108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2018" y="5051361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5207128" y="5061585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371975" y="5289422"/>
            <a:ext cx="32641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Maturing demand in established categories caps the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4371975" y="5464682"/>
            <a:ext cx="5622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83401" y="5454459"/>
            <a:ext cx="134549" cy="195707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058510" y="5464682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371975" y="5692520"/>
            <a:ext cx="35137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concentration in 'Shampoos &amp; Cleansing Products'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371975" y="5867780"/>
            <a:ext cx="19788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raises barriers for new entrants.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Supply Side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recent developments, investments and R&amp;D activity shaping the supply side of the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Recent Developments &amp; Key Industry Activities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477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Capacity and product development are concentrating in 'Shampoos &amp; Cleansing Products' and Other European Countries.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Portfolio expansion tracks the shift toward higher-growth product type categories.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Commercial focus is intensifying across Germany and Other European Countries.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477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18" name="Rounded Rectangle 17"/>
          <p:cNvSpPr/>
          <p:nvPr/>
        </p:nvSpPr>
        <p:spPr>
          <a:xfrm>
            <a:off x="142875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76225" y="29337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Acquisitions &amp; New Investments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76225" y="3257550"/>
            <a:ext cx="5610225" cy="9429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22" name="Rounded Rectangle 21"/>
          <p:cNvSpPr/>
          <p:nvPr/>
        </p:nvSpPr>
        <p:spPr>
          <a:xfrm>
            <a:off x="6172200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6305550" y="29337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Substantial Investment in R&amp;D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6305550" y="3257550"/>
            <a:ext cx="5610225" cy="9429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26" name="Rounded Rectangle 25"/>
          <p:cNvSpPr/>
          <p:nvPr/>
        </p:nvSpPr>
        <p:spPr>
          <a:xfrm>
            <a:off x="142875" y="4410075"/>
            <a:ext cx="11906250" cy="2209800"/>
          </a:xfrm>
          <a:prstGeom prst="roundRect">
            <a:avLst>
              <a:gd name="adj" fmla="val 344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238125" y="4467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structure product type share (2036)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238125" y="4695825"/>
          <a:ext cx="11715750" cy="18669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9" name="TextBox 28"/>
          <p:cNvSpPr txBox="1"/>
          <p:nvPr/>
        </p:nvSpPr>
        <p:spPr>
          <a:xfrm>
            <a:off x="3892075" y="5514975"/>
            <a:ext cx="89312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43964" y="5349744"/>
            <a:ext cx="366052" cy="532439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305550" y="1400175"/>
            <a:ext cx="68411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2026 size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37714" y="1390396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105210" y="1400175"/>
            <a:ext cx="87838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Mn; 2036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1645" y="139039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99141" y="1400175"/>
            <a:ext cx="56078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1618107"/>
            <a:ext cx="9918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Forecast CAGR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45444" y="1608328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412940" y="1618107"/>
            <a:ext cx="83309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1836039"/>
            <a:ext cx="28710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category 'Shampoos &amp; Cleansing Products'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24620" y="182626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292115" y="1836039"/>
            <a:ext cx="5430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05550" y="2053970"/>
            <a:ext cx="144946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country Germany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03063" y="20441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870559" y="2053970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2271903"/>
            <a:ext cx="15547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Incremental opportunity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08384" y="22621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975880" y="2271903"/>
            <a:ext cx="56078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267075"/>
            <a:ext cx="51725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Investment is flowing toward the fastest-growing tier 'Shampoos &amp; Cleansing Products' (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96798" y="3257296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5564293" y="3267075"/>
            <a:ext cx="1536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3485007"/>
            <a:ext cx="172013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Other European Countries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44407" y="3475228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2111903" y="3485007"/>
            <a:ext cx="226283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is a priority country for new capacity.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3702939"/>
            <a:ext cx="375123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Scale players anchor around 'Shampoos &amp; Cleansing Products'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75514" y="369316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143010" y="3702939"/>
            <a:ext cx="46692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05550" y="3267075"/>
            <a:ext cx="556924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R&amp;D aligns with the migration to 'Shampoos &amp; Cleansing Products' and adjacent premium tiers.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305550" y="3485007"/>
            <a:ext cx="440635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Development spend targets product type categories gaining share to 2036.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305550" y="3702939"/>
            <a:ext cx="15943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Innovation underpins the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47947" y="3693160"/>
            <a:ext cx="128699" cy="187198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8015443" y="3702939"/>
            <a:ext cx="92447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CAGR.</a:t>
            </a:r>
          </a:p>
        </p:txBody>
      </p:sp>
      <p:sp>
        <p:nvSpPr>
          <p:cNvPr id="63" name="lockshield_28"/>
          <p:cNvSpPr/>
          <p:nvPr/>
        </p:nvSpPr>
        <p:spPr>
          <a:xfrm>
            <a:off x="238125" y="4695825"/>
            <a:ext cx="11715750" cy="18669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Analysis and Recommendation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the market approach, differentiating strategy and FMI's analysis and recommendation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Overall Market Approach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001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Differentiating Strategy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001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Differentiate through the high-growth 'Shampoos &amp; Cleansing Products' tier and E-commerce within sales channels.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76225" y="2886075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Segment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76225" y="3209925"/>
            <a:ext cx="5610225" cy="12001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2" name="Rounded Rectangle 21"/>
          <p:cNvSpPr/>
          <p:nvPr/>
        </p:nvSpPr>
        <p:spPr>
          <a:xfrm>
            <a:off x="6172200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6305550" y="2886075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Country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6305550" y="3209925"/>
            <a:ext cx="5610225" cy="12001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6" name="Rounded Rectangle 25"/>
          <p:cNvSpPr/>
          <p:nvPr/>
        </p:nvSpPr>
        <p:spPr>
          <a:xfrm>
            <a:off x="142875" y="4619625"/>
            <a:ext cx="11906250" cy="2000250"/>
          </a:xfrm>
          <a:prstGeom prst="roundRect">
            <a:avLst>
              <a:gd name="adj" fmla="val 38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276225" y="470535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Fact.MR Analysis &amp; Recommendation</a:t>
            </a:r>
          </a:p>
        </p:txBody>
      </p:sp>
      <p:sp>
        <p:nvSpPr>
          <p:cNvPr id="28" name="Rectangle 27"/>
          <p:cNvSpPr/>
          <p:nvPr/>
        </p:nvSpPr>
        <p:spPr>
          <a:xfrm>
            <a:off x="276225" y="49434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276225" y="5029200"/>
            <a:ext cx="11639550" cy="15144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53636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Balance scale in 'Shampoos &amp; Cleansing Products' with targeted growth in 'Shampoos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575435"/>
            <a:ext cx="20524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Cleansing Products', pursuing the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7818" y="1565211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452927" y="1575435"/>
            <a:ext cx="15518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trajectory to 2036.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3219450"/>
            <a:ext cx="277955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'Shampoos &amp; Cleansing Products' (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04930" y="320922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180039" y="3219450"/>
            <a:ext cx="266972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'Shampoos &amp; Cleansing Products' anchors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145" y="3384486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37254" y="3394710"/>
            <a:ext cx="5865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3219450"/>
            <a:ext cx="139435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 with Germany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49062" y="3209226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7824171" y="3219450"/>
            <a:ext cx="28879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capture upside in Other European Countries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1273" y="3209226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836382" y="3219450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76225" y="5038725"/>
            <a:ext cx="18091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Pet Cosmetic Products adds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4496" y="5028501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2209605" y="5038725"/>
            <a:ext cx="181510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to 2036 a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3867" y="5028501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4148976" y="5038725"/>
            <a:ext cx="82270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5266563"/>
            <a:ext cx="634436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Concentrate resources on the leading segment/country while seeding the fastest-growing pockets early.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494400"/>
            <a:ext cx="527095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share in 'Shampoos &amp; Cleansing Products' as the value anchor of the portfolio.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Scenario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Scenario outlook comparing optimistic, likely and conservative outcomes for 2036 and the CAGR behind each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3943350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OPTIMISTIC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7.5%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4238625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LIKELY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6.1%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8210550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CONSERVATIVE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4.5%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238125" y="18669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Pet Cosmetic Products Market Value (US$ Mn) Scenario Forecast, 2025 &amp; 2036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38125" y="4305300"/>
            <a:ext cx="5686425" cy="0"/>
          </a:xfrm>
          <a:prstGeom prst="line">
            <a:avLst/>
          </a:prstGeom>
          <a:ln w="9525">
            <a:solidFill>
              <a:srgbClr val="BFBFB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/>
        </p:nvSpPr>
        <p:spPr>
          <a:xfrm>
            <a:off x="706342" y="3546706"/>
            <a:ext cx="635826" cy="758594"/>
          </a:xfrm>
          <a:prstGeom prst="rect">
            <a:avLst/>
          </a:prstGeom>
          <a:solidFill>
            <a:srgbClr val="4031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Rectangle 16"/>
          <p:cNvSpPr/>
          <p:nvPr/>
        </p:nvSpPr>
        <p:spPr>
          <a:xfrm>
            <a:off x="3043936" y="3065429"/>
            <a:ext cx="635826" cy="1239871"/>
          </a:xfrm>
          <a:prstGeom prst="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Rectangle 17"/>
          <p:cNvSpPr/>
          <p:nvPr/>
        </p:nvSpPr>
        <p:spPr>
          <a:xfrm>
            <a:off x="4025725" y="2851744"/>
            <a:ext cx="635826" cy="1453556"/>
          </a:xfrm>
          <a:prstGeom prst="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Rectangle 18"/>
          <p:cNvSpPr/>
          <p:nvPr/>
        </p:nvSpPr>
        <p:spPr>
          <a:xfrm>
            <a:off x="5007515" y="2605088"/>
            <a:ext cx="635826" cy="1700212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20" name="Connector 19"/>
          <p:cNvCxnSpPr/>
          <p:nvPr/>
        </p:nvCxnSpPr>
        <p:spPr>
          <a:xfrm>
            <a:off x="1456468" y="2932079"/>
            <a:ext cx="1568418" cy="0"/>
          </a:xfrm>
          <a:prstGeom prst="line">
            <a:avLst/>
          </a:prstGeom>
          <a:ln w="15875">
            <a:solidFill>
              <a:srgbClr val="92D05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ounded Rectangle 20"/>
          <p:cNvSpPr/>
          <p:nvPr/>
        </p:nvSpPr>
        <p:spPr>
          <a:xfrm>
            <a:off x="1570768" y="2827304"/>
            <a:ext cx="1358868" cy="209550"/>
          </a:xfrm>
          <a:prstGeom prst="round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9050" tIns="0" rIns="19050" bIns="0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4.5%</a:t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1456468" y="2674904"/>
            <a:ext cx="2550207" cy="0"/>
          </a:xfrm>
          <a:prstGeom prst="line">
            <a:avLst/>
          </a:prstGeom>
          <a:ln w="15875">
            <a:solidFill>
              <a:srgbClr val="0078D4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Rounded Rectangle 22"/>
          <p:cNvSpPr/>
          <p:nvPr/>
        </p:nvSpPr>
        <p:spPr>
          <a:xfrm>
            <a:off x="1570768" y="2570129"/>
            <a:ext cx="1358868" cy="209550"/>
          </a:xfrm>
          <a:prstGeom prst="round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9050" tIns="0" rIns="19050" bIns="0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6.1%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456468" y="2417729"/>
            <a:ext cx="3531997" cy="0"/>
          </a:xfrm>
          <a:prstGeom prst="line">
            <a:avLst/>
          </a:prstGeom>
          <a:ln w="15875">
            <a:solidFill>
              <a:srgbClr val="80808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ounded Rectangle 24"/>
          <p:cNvSpPr/>
          <p:nvPr/>
        </p:nvSpPr>
        <p:spPr>
          <a:xfrm>
            <a:off x="1570768" y="2312954"/>
            <a:ext cx="1358868" cy="209550"/>
          </a:xfrm>
          <a:prstGeom prst="round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9050" tIns="0" rIns="19050" bIns="0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7.5%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43255" y="4333875"/>
            <a:ext cx="762000" cy="1809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2025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962638" y="4333875"/>
            <a:ext cx="762000" cy="1809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2036</a:t>
            </a:r>
          </a:p>
        </p:txBody>
      </p:sp>
      <p:sp>
        <p:nvSpPr>
          <p:cNvPr id="28" name="Oval 27"/>
          <p:cNvSpPr/>
          <p:nvPr/>
        </p:nvSpPr>
        <p:spPr>
          <a:xfrm>
            <a:off x="304800" y="4572000"/>
            <a:ext cx="133350" cy="133350"/>
          </a:xfrm>
          <a:prstGeom prst="ellipse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485775" y="4543425"/>
            <a:ext cx="1647825" cy="190500"/>
          </a:xfrm>
          <a:prstGeom prst="rect">
            <a:avLst/>
          </a:prstGeom>
          <a:noFill/>
        </p:spPr>
        <p:txBody>
          <a:bodyPr wrap="non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Conservative Scenario</a:t>
            </a:r>
          </a:p>
        </p:txBody>
      </p:sp>
      <p:sp>
        <p:nvSpPr>
          <p:cNvPr id="30" name="Oval 29"/>
          <p:cNvSpPr/>
          <p:nvPr/>
        </p:nvSpPr>
        <p:spPr>
          <a:xfrm>
            <a:off x="2200275" y="4572000"/>
            <a:ext cx="133350" cy="133350"/>
          </a:xfrm>
          <a:prstGeom prst="ellipse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2381250" y="4543425"/>
            <a:ext cx="1647825" cy="190500"/>
          </a:xfrm>
          <a:prstGeom prst="rect">
            <a:avLst/>
          </a:prstGeom>
          <a:noFill/>
        </p:spPr>
        <p:txBody>
          <a:bodyPr wrap="non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Likely Scenario</a:t>
            </a:r>
          </a:p>
        </p:txBody>
      </p:sp>
      <p:sp>
        <p:nvSpPr>
          <p:cNvPr id="32" name="Oval 31"/>
          <p:cNvSpPr/>
          <p:nvPr/>
        </p:nvSpPr>
        <p:spPr>
          <a:xfrm>
            <a:off x="4095750" y="4572000"/>
            <a:ext cx="133350" cy="133350"/>
          </a:xfrm>
          <a:prstGeom prst="ellipse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TextBox 32"/>
          <p:cNvSpPr txBox="1"/>
          <p:nvPr/>
        </p:nvSpPr>
        <p:spPr>
          <a:xfrm>
            <a:off x="4276725" y="4543425"/>
            <a:ext cx="1647825" cy="190500"/>
          </a:xfrm>
          <a:prstGeom prst="rect">
            <a:avLst/>
          </a:prstGeom>
          <a:noFill/>
        </p:spPr>
        <p:txBody>
          <a:bodyPr wrap="non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Optimistic Scenario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172200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6267450" y="18669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Pet Cosmetic Products Market Attractiveness Analysis By Region, 2026–2036</a:t>
            </a:r>
          </a:p>
        </p:txBody>
      </p:sp>
      <p:graphicFrame>
        <p:nvGraphicFramePr>
          <p:cNvPr id="36" name="Chart 35"/>
          <p:cNvGraphicFramePr>
            <a:graphicFrameLocks noGrp="1"/>
          </p:cNvGraphicFramePr>
          <p:nvPr/>
        </p:nvGraphicFramePr>
        <p:xfrm>
          <a:off x="6267450" y="2266950"/>
          <a:ext cx="5686425" cy="24955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7" name="Rounded Rectangle 36"/>
          <p:cNvSpPr/>
          <p:nvPr/>
        </p:nvSpPr>
        <p:spPr>
          <a:xfrm>
            <a:off x="142875" y="4953000"/>
            <a:ext cx="1190625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276225" y="503872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Scenario Assumptions &amp; Outlook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276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276225" y="5362575"/>
            <a:ext cx="11639550" cy="1190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35969" y="1214437"/>
            <a:ext cx="157162" cy="228600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69806" y="1214437"/>
            <a:ext cx="157162" cy="228600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41731" y="1214437"/>
            <a:ext cx="157162" cy="22860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276225" y="5372100"/>
            <a:ext cx="8081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Optimistic: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3540" y="5361876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1208649" y="5372100"/>
            <a:ext cx="19300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 at 7.5% CAGR.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599938"/>
            <a:ext cx="144827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Likely (base forecast):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3650" y="5589714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1848759" y="5599938"/>
            <a:ext cx="14242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 6.1% CAGR.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27775"/>
            <a:ext cx="9696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Conservative: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94994" y="5817552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370103" y="5827775"/>
            <a:ext cx="14242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 4.5% CAGR.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6055613"/>
            <a:ext cx="366013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Scenarios flex the base forecast's year-on-year growth by ±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85509" y="6045390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060618" y="6055613"/>
            <a:ext cx="19006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across the 2026–2036 horizon.</a:t>
            </a:r>
          </a:p>
        </p:txBody>
      </p:sp>
      <p:sp>
        <p:nvSpPr>
          <p:cNvPr id="57" name="lockshield_36"/>
          <p:cNvSpPr/>
          <p:nvPr/>
        </p:nvSpPr>
        <p:spPr>
          <a:xfrm>
            <a:off x="6267450" y="2266950"/>
            <a:ext cx="5686425" cy="2495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Market Analysis By Region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Europe Pet Cosmetic Products – Regional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Analysis By Region (1/2)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Analysis By Region (2/2)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Volume Share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Value Share Analysis By Region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6" name="Oval 25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Rectangle 27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Rectangle 31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0" name="Oval 39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7" name="Oval 46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4" name="Oval 53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1" name="Oval 60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8" name="Oval 67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TextBox 69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TextBox 71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73" name="Rounded Rectangle 72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TextBox 73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TextBox 75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77" name="Rounded Rectangle 76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TextBox 77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9" name="Rectangle 78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By Country split shows where market value concentrates and where growth is fastest.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demand and access dynamics are rebalancing the geographic mix through 2036.</a:t>
            </a:r>
          </a:p>
        </p:txBody>
      </p:sp>
      <p:sp>
        <p:nvSpPr>
          <p:cNvPr id="81" name="Rectangle 80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TextBox 81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83" name="TextBox 82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5" name="Picture 84" descr="524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86" name="Picture 85" descr="930_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87" name="Picture 86" descr="5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88" name="Picture 87" descr="514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9504" y="2286582"/>
            <a:ext cx="1195728" cy="361950"/>
          </a:xfrm>
          <a:prstGeom prst="rect">
            <a:avLst/>
          </a:prstGeom>
        </p:spPr>
      </p:pic>
      <p:pic>
        <p:nvPicPr>
          <p:cNvPr id="89" name="Picture 88" descr="902_6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90" name="Picture 89" descr="5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91" name="Picture 90" descr="414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4582" y="2286582"/>
            <a:ext cx="1195728" cy="361950"/>
          </a:xfrm>
          <a:prstGeom prst="rect">
            <a:avLst/>
          </a:prstGeom>
        </p:spPr>
      </p:pic>
      <p:pic>
        <p:nvPicPr>
          <p:cNvPr id="92" name="Picture 91" descr="772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93" name="Picture 92" descr="6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94" name="Picture 93" descr="321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95" name="Picture 94" descr="569_8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96" name="Picture 95" descr="5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97" name="Picture 96" descr="218_6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714739" y="2286582"/>
            <a:ext cx="1195728" cy="361950"/>
          </a:xfrm>
          <a:prstGeom prst="rect">
            <a:avLst/>
          </a:prstGeom>
        </p:spPr>
      </p:pic>
      <p:pic>
        <p:nvPicPr>
          <p:cNvPr id="98" name="Picture 97" descr="419_9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99" name="Picture 98" descr="6_7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100" name="Picture 99" descr="141_4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9818" y="2286582"/>
            <a:ext cx="1195728" cy="361950"/>
          </a:xfrm>
          <a:prstGeom prst="rect">
            <a:avLst/>
          </a:prstGeom>
        </p:spPr>
      </p:pic>
      <p:pic>
        <p:nvPicPr>
          <p:cNvPr id="101" name="Picture 100" descr="274_6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159818" y="2779432"/>
            <a:ext cx="1195728" cy="361950"/>
          </a:xfrm>
          <a:prstGeom prst="rect">
            <a:avLst/>
          </a:prstGeom>
        </p:spPr>
      </p:pic>
      <p:pic>
        <p:nvPicPr>
          <p:cNvPr id="102" name="Picture 101" descr="6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103" name="Picture 102" descr="140_1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04896" y="2286582"/>
            <a:ext cx="1195728" cy="361950"/>
          </a:xfrm>
          <a:prstGeom prst="rect">
            <a:avLst/>
          </a:prstGeom>
        </p:spPr>
      </p:pic>
      <p:pic>
        <p:nvPicPr>
          <p:cNvPr id="104" name="Picture 103" descr="229_8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604896" y="2779432"/>
            <a:ext cx="1195728" cy="361950"/>
          </a:xfrm>
          <a:prstGeom prst="rect">
            <a:avLst/>
          </a:prstGeom>
        </p:spPr>
      </p:pic>
      <p:pic>
        <p:nvPicPr>
          <p:cNvPr id="105" name="Picture 104" descr="5_1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485775" y="4229437"/>
            <a:ext cx="251494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'Germany' holds the largest share in 2026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948773" y="4219658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3116269" y="4229437"/>
            <a:ext cx="19243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4397077"/>
            <a:ext cx="85546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value.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'Other European Countries' is the fastest-growing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4782649"/>
            <a:ext cx="6603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country at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94201" y="4772870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1261697" y="4782649"/>
            <a:ext cx="123307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485775" y="5000581"/>
            <a:ext cx="17209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Market value expands from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54775" y="4990801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2322271" y="5000581"/>
            <a:ext cx="1968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67123" y="4990801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2634619" y="5000581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86153"/>
            <a:ext cx="290239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25 countries make up the geographic landscape.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4229437"/>
            <a:ext cx="75123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Germany: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537861" y="4219658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705357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564807" y="4219658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5732303" y="4229437"/>
            <a:ext cx="14194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market.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3838575" y="4447369"/>
            <a:ext cx="11490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United Kingdom: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935678" y="4437590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5103174" y="444736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962624" y="4437590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6130120" y="4447369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838575" y="4665301"/>
            <a:ext cx="61153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France: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398161" y="4655522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4565657" y="4665301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425107" y="4655522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5592603" y="4665301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838575" y="4883233"/>
            <a:ext cx="47401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Italy: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260644" y="4873454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4428139" y="4883233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287590" y="4873454"/>
            <a:ext cx="128699" cy="187198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5455086" y="4883233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838575" y="5101165"/>
            <a:ext cx="53950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Spain: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326128" y="5091385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4493624" y="5101165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53074" y="5091385"/>
            <a:ext cx="128699" cy="187198"/>
          </a:xfrm>
          <a:prstGeom prst="rect">
            <a:avLst/>
          </a:prstGeom>
        </p:spPr>
      </p:pic>
      <p:sp>
        <p:nvSpPr>
          <p:cNvPr id="152" name="TextBox 151"/>
          <p:cNvSpPr txBox="1"/>
          <p:nvPr/>
        </p:nvSpPr>
        <p:spPr>
          <a:xfrm>
            <a:off x="5520570" y="5101165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3838575" y="5319097"/>
            <a:ext cx="9285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Netherlands: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715214" y="5309317"/>
            <a:ext cx="128699" cy="187198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4882710" y="531909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742160" y="5309317"/>
            <a:ext cx="128699" cy="187198"/>
          </a:xfrm>
          <a:prstGeom prst="rect">
            <a:avLst/>
          </a:prstGeom>
        </p:spPr>
      </p:pic>
      <p:sp>
        <p:nvSpPr>
          <p:cNvPr id="157" name="TextBox 156"/>
          <p:cNvSpPr txBox="1"/>
          <p:nvPr/>
        </p:nvSpPr>
        <p:spPr>
          <a:xfrm>
            <a:off x="5909656" y="5319097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3838575" y="5537029"/>
            <a:ext cx="62135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Poland: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407984" y="5527249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4575479" y="553702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434930" y="5527249"/>
            <a:ext cx="128699" cy="187198"/>
          </a:xfrm>
          <a:prstGeom prst="rect">
            <a:avLst/>
          </a:prstGeom>
        </p:spPr>
      </p:pic>
      <p:sp>
        <p:nvSpPr>
          <p:cNvPr id="162" name="TextBox 161"/>
          <p:cNvSpPr txBox="1"/>
          <p:nvPr/>
        </p:nvSpPr>
        <p:spPr>
          <a:xfrm>
            <a:off x="5602425" y="5537029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8524875" y="5842641"/>
            <a:ext cx="311983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Europe market is projected to grow at a CAGR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524875" y="6017901"/>
            <a:ext cx="2008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of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674884" y="6007677"/>
            <a:ext cx="134549" cy="195707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8849994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Oval 24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9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10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Belgium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11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Rectangle 47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Switzerland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3" name="Oval 52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12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Czech Republic</a:t>
            </a:r>
          </a:p>
        </p:txBody>
      </p:sp>
      <p:sp>
        <p:nvSpPr>
          <p:cNvPr id="57" name="Rectangle 56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0" name="Oval 59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13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Portugal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5" name="Rectangle 64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7" name="Oval 66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14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TextBox 70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72" name="TextBox 7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4" name="Picture 73" descr="102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75" name="Picture 74" descr="206_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76" name="Picture 75" descr="7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91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86150" y="2286582"/>
            <a:ext cx="982436" cy="361950"/>
          </a:xfrm>
          <a:prstGeom prst="rect">
            <a:avLst/>
          </a:prstGeom>
        </p:spPr>
      </p:pic>
      <p:pic>
        <p:nvPicPr>
          <p:cNvPr id="78" name="Picture 77" descr="181_9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7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82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228" y="2286582"/>
            <a:ext cx="982436" cy="361950"/>
          </a:xfrm>
          <a:prstGeom prst="rect">
            <a:avLst/>
          </a:prstGeom>
        </p:spPr>
      </p:pic>
      <p:pic>
        <p:nvPicPr>
          <p:cNvPr id="81" name="Picture 80" descr="145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82_1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76307" y="2286582"/>
            <a:ext cx="982436" cy="361950"/>
          </a:xfrm>
          <a:prstGeom prst="rect">
            <a:avLst/>
          </a:prstGeom>
        </p:spPr>
      </p:pic>
      <p:pic>
        <p:nvPicPr>
          <p:cNvPr id="84" name="Picture 83" descr="129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4_7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80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21385" y="2286582"/>
            <a:ext cx="982436" cy="361950"/>
          </a:xfrm>
          <a:prstGeom prst="rect">
            <a:avLst/>
          </a:prstGeom>
        </p:spPr>
      </p:pic>
      <p:pic>
        <p:nvPicPr>
          <p:cNvPr id="87" name="Picture 86" descr="135_4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88" name="Picture 87" descr="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52_1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66464" y="2286582"/>
            <a:ext cx="982436" cy="361950"/>
          </a:xfrm>
          <a:prstGeom prst="rect">
            <a:avLst/>
          </a:prstGeom>
        </p:spPr>
      </p:pic>
      <p:pic>
        <p:nvPicPr>
          <p:cNvPr id="90" name="Picture 89" descr="94_6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2779432"/>
            <a:ext cx="982436" cy="361950"/>
          </a:xfrm>
          <a:prstGeom prst="rect">
            <a:avLst/>
          </a:prstGeom>
        </p:spPr>
      </p:pic>
      <p:pic>
        <p:nvPicPr>
          <p:cNvPr id="91" name="Picture 90" descr="6_1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50_2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11542" y="2286582"/>
            <a:ext cx="982436" cy="361950"/>
          </a:xfrm>
          <a:prstGeom prst="rect">
            <a:avLst/>
          </a:prstGeom>
        </p:spPr>
      </p:pic>
      <p:pic>
        <p:nvPicPr>
          <p:cNvPr id="93" name="Picture 92" descr="92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2779432"/>
            <a:ext cx="982436" cy="361950"/>
          </a:xfrm>
          <a:prstGeom prst="rect">
            <a:avLst/>
          </a:prstGeom>
        </p:spPr>
      </p:pic>
      <p:pic>
        <p:nvPicPr>
          <p:cNvPr id="94" name="Picture 93" descr="6_3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171849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European Countries: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52320" y="421965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2319815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179266" y="4219658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3346762" y="4229437"/>
            <a:ext cx="12186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447369"/>
            <a:ext cx="6794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Sweden: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13301" y="443759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280797" y="444736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40247" y="4437590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307743" y="4447369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85775" y="4665301"/>
            <a:ext cx="63309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Austria: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66916" y="4655522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1234412" y="4665301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093862" y="4655522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2261358" y="4665301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883233"/>
            <a:ext cx="6903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Belgium: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24215" y="4873454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291711" y="4883233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51161" y="4873454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2318657" y="4883233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485775" y="5101165"/>
            <a:ext cx="89202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Switzerland: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325852" y="509138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1493348" y="5101165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352798" y="5091385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520294" y="5101165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19097"/>
            <a:ext cx="10822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Czech Republic: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516030" y="5309317"/>
            <a:ext cx="128699" cy="187198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1683526" y="531909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542976" y="5309317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2710472" y="5319097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85775" y="5537029"/>
            <a:ext cx="7094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Portugal: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43315" y="5527249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1310810" y="553702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70261" y="5527249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2337756" y="5537029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Norway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Oval 24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15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Denmark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Finland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17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Romania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18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Rectangle 47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Ireland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3" name="Oval 52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19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Hungary</a:t>
            </a:r>
          </a:p>
        </p:txBody>
      </p:sp>
      <p:sp>
        <p:nvSpPr>
          <p:cNvPr id="57" name="Rectangle 56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0" name="Oval 59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20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Greece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5" name="Rectangle 64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7" name="Oval 66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21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TextBox 70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72" name="TextBox 7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4" name="Picture 73" descr="48_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41071" y="2286582"/>
            <a:ext cx="982436" cy="361950"/>
          </a:xfrm>
          <a:prstGeom prst="rect">
            <a:avLst/>
          </a:prstGeom>
        </p:spPr>
      </p:pic>
      <p:pic>
        <p:nvPicPr>
          <p:cNvPr id="75" name="Picture 74" descr="87_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41071" y="2779432"/>
            <a:ext cx="982436" cy="361950"/>
          </a:xfrm>
          <a:prstGeom prst="rect">
            <a:avLst/>
          </a:prstGeom>
        </p:spPr>
      </p:pic>
      <p:pic>
        <p:nvPicPr>
          <p:cNvPr id="76" name="Picture 75" descr="6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46_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86150" y="2286582"/>
            <a:ext cx="982436" cy="361950"/>
          </a:xfrm>
          <a:prstGeom prst="rect">
            <a:avLst/>
          </a:prstGeom>
        </p:spPr>
      </p:pic>
      <p:pic>
        <p:nvPicPr>
          <p:cNvPr id="78" name="Picture 77" descr="84_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86150" y="2779432"/>
            <a:ext cx="982436" cy="361950"/>
          </a:xfrm>
          <a:prstGeom prst="rect">
            <a:avLst/>
          </a:prstGeom>
        </p:spPr>
      </p:pic>
      <p:pic>
        <p:nvPicPr>
          <p:cNvPr id="79" name="Picture 78" descr="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39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228" y="2286582"/>
            <a:ext cx="982436" cy="361950"/>
          </a:xfrm>
          <a:prstGeom prst="rect">
            <a:avLst/>
          </a:prstGeom>
        </p:spPr>
      </p:pic>
      <p:pic>
        <p:nvPicPr>
          <p:cNvPr id="81" name="Picture 80" descr="64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931228" y="2779432"/>
            <a:ext cx="982436" cy="361950"/>
          </a:xfrm>
          <a:prstGeom prst="rect">
            <a:avLst/>
          </a:prstGeom>
        </p:spPr>
      </p:pic>
      <p:pic>
        <p:nvPicPr>
          <p:cNvPr id="82" name="Picture 81" descr="5_2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38_7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76307" y="2286582"/>
            <a:ext cx="982436" cy="361950"/>
          </a:xfrm>
          <a:prstGeom prst="rect">
            <a:avLst/>
          </a:prstGeom>
        </p:spPr>
      </p:pic>
      <p:pic>
        <p:nvPicPr>
          <p:cNvPr id="84" name="Picture 83" descr="75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376307" y="2779432"/>
            <a:ext cx="982436" cy="361950"/>
          </a:xfrm>
          <a:prstGeom prst="rect">
            <a:avLst/>
          </a:prstGeom>
        </p:spPr>
      </p:pic>
      <p:pic>
        <p:nvPicPr>
          <p:cNvPr id="85" name="Picture 84" descr="6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37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21385" y="2286582"/>
            <a:ext cx="982436" cy="361950"/>
          </a:xfrm>
          <a:prstGeom prst="rect">
            <a:avLst/>
          </a:prstGeom>
        </p:spPr>
      </p:pic>
      <p:pic>
        <p:nvPicPr>
          <p:cNvPr id="87" name="Picture 86" descr="64_1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2779432"/>
            <a:ext cx="982436" cy="361950"/>
          </a:xfrm>
          <a:prstGeom prst="rect">
            <a:avLst/>
          </a:prstGeom>
        </p:spPr>
      </p:pic>
      <p:pic>
        <p:nvPicPr>
          <p:cNvPr id="88" name="Picture 87" descr="5_6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34_1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66464" y="2286582"/>
            <a:ext cx="982436" cy="361950"/>
          </a:xfrm>
          <a:prstGeom prst="rect">
            <a:avLst/>
          </a:prstGeom>
        </p:spPr>
      </p:pic>
      <p:pic>
        <p:nvPicPr>
          <p:cNvPr id="90" name="Picture 89" descr="62_1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2779432"/>
            <a:ext cx="982436" cy="361950"/>
          </a:xfrm>
          <a:prstGeom prst="rect">
            <a:avLst/>
          </a:prstGeom>
        </p:spPr>
      </p:pic>
      <p:pic>
        <p:nvPicPr>
          <p:cNvPr id="91" name="Picture 90" descr="6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32_4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711542" y="2286582"/>
            <a:ext cx="982436" cy="361950"/>
          </a:xfrm>
          <a:prstGeom prst="rect">
            <a:avLst/>
          </a:prstGeom>
        </p:spPr>
      </p:pic>
      <p:pic>
        <p:nvPicPr>
          <p:cNvPr id="93" name="Picture 92" descr="59_7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11542" y="2779432"/>
            <a:ext cx="982436" cy="361950"/>
          </a:xfrm>
          <a:prstGeom prst="rect">
            <a:avLst/>
          </a:prstGeom>
        </p:spPr>
      </p:pic>
      <p:pic>
        <p:nvPicPr>
          <p:cNvPr id="94" name="Picture 93" descr="6_3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67238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Norway: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06207" y="421965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1273703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33153" y="4219658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2300649" y="4229437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447369"/>
            <a:ext cx="7493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Denmark: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83151" y="443759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350647" y="444736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210097" y="4437590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377593" y="4447369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85775" y="4665301"/>
            <a:ext cx="6450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Finland: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8922" y="4655522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1246417" y="4665301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05868" y="4655522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2273363" y="4665301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883233"/>
            <a:ext cx="72995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Romania: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63778" y="4873454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331274" y="4883233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90724" y="4873454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2358220" y="4883233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485775" y="5101165"/>
            <a:ext cx="6289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Ireland: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2823" y="509138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1230319" y="5101165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89769" y="5091385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257265" y="5101165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19097"/>
            <a:ext cx="7081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Hungary: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41950" y="5309317"/>
            <a:ext cx="128699" cy="187198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1309446" y="531909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68896" y="5309317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2336392" y="5319097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85775" y="5537029"/>
            <a:ext cx="63445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Greece: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8280" y="5527249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1235776" y="553702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95226" y="5527249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2262722" y="5537029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Bulgaria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Oval 24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22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Croatia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23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Malta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24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Slovenia</a:t>
            </a:r>
          </a:p>
        </p:txBody>
      </p:sp>
      <p:sp>
        <p:nvSpPr>
          <p:cNvPr id="43" name="Rectangle 42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25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19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2976" y="2286582"/>
            <a:ext cx="982436" cy="361950"/>
          </a:xfrm>
          <a:prstGeom prst="rect">
            <a:avLst/>
          </a:prstGeom>
        </p:spPr>
      </p:pic>
      <p:pic>
        <p:nvPicPr>
          <p:cNvPr id="54" name="Picture 53" descr="32_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82976" y="2779432"/>
            <a:ext cx="982436" cy="361950"/>
          </a:xfrm>
          <a:prstGeom prst="rect">
            <a:avLst/>
          </a:prstGeom>
        </p:spPr>
      </p:pic>
      <p:pic>
        <p:nvPicPr>
          <p:cNvPr id="55" name="Picture 54" descr="5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16_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11864" y="2286582"/>
            <a:ext cx="982436" cy="361950"/>
          </a:xfrm>
          <a:prstGeom prst="rect">
            <a:avLst/>
          </a:prstGeom>
        </p:spPr>
      </p:pic>
      <p:pic>
        <p:nvPicPr>
          <p:cNvPr id="57" name="Picture 56" descr="30_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111864" y="2779432"/>
            <a:ext cx="982436" cy="361950"/>
          </a:xfrm>
          <a:prstGeom prst="rect">
            <a:avLst/>
          </a:prstGeom>
        </p:spPr>
      </p:pic>
      <p:pic>
        <p:nvPicPr>
          <p:cNvPr id="58" name="Picture 57" descr="6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13_3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640751" y="2286582"/>
            <a:ext cx="982436" cy="361950"/>
          </a:xfrm>
          <a:prstGeom prst="rect">
            <a:avLst/>
          </a:prstGeom>
        </p:spPr>
      </p:pic>
      <p:pic>
        <p:nvPicPr>
          <p:cNvPr id="60" name="Picture 59" descr="25_5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640751" y="2779432"/>
            <a:ext cx="982436" cy="361950"/>
          </a:xfrm>
          <a:prstGeom prst="rect">
            <a:avLst/>
          </a:prstGeom>
        </p:spPr>
      </p:pic>
      <p:pic>
        <p:nvPicPr>
          <p:cNvPr id="61" name="Picture 60" descr="6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12_7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69638" y="2286582"/>
            <a:ext cx="982436" cy="361950"/>
          </a:xfrm>
          <a:prstGeom prst="rect">
            <a:avLst/>
          </a:prstGeom>
        </p:spPr>
      </p:pic>
      <p:pic>
        <p:nvPicPr>
          <p:cNvPr id="63" name="Picture 62" descr="23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169638" y="2779432"/>
            <a:ext cx="982436" cy="361950"/>
          </a:xfrm>
          <a:prstGeom prst="rect">
            <a:avLst/>
          </a:prstGeom>
        </p:spPr>
      </p:pic>
      <p:pic>
        <p:nvPicPr>
          <p:cNvPr id="64" name="Picture 63" descr="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69175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Bulgaria: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125579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293075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52525" y="4219658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320021" y="4229437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447369"/>
            <a:ext cx="6393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Croatia: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73192" y="443759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240688" y="444736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00138" y="443759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2267634" y="4447369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485775" y="4665301"/>
            <a:ext cx="5618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Malta: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95702" y="4655522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163198" y="4665301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022648" y="4655522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2190144" y="4665301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883233"/>
            <a:ext cx="7045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Slovenia: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138403" y="4873454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305899" y="4883233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65349" y="4873454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2332845" y="4883233"/>
            <a:ext cx="14156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Analysis, By Country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6" name="FMI Legend Chip"/>
          <p:cNvSpPr/>
          <p:nvPr/>
        </p:nvSpPr>
        <p:spPr>
          <a:xfrm>
            <a:off x="4551045" y="1613535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Isosceles Triangle 16"/>
          <p:cNvSpPr/>
          <p:nvPr/>
        </p:nvSpPr>
        <p:spPr>
          <a:xfrm>
            <a:off x="4717732" y="161353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BPS Name 1"/>
          <p:cNvSpPr txBox="1"/>
          <p:nvPr/>
        </p:nvSpPr>
        <p:spPr>
          <a:xfrm>
            <a:off x="4855845" y="158115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58115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176403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Isosceles Triangle 20"/>
          <p:cNvSpPr/>
          <p:nvPr/>
        </p:nvSpPr>
        <p:spPr>
          <a:xfrm>
            <a:off x="4717732" y="176403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BPS Name 2"/>
          <p:cNvSpPr txBox="1"/>
          <p:nvPr/>
        </p:nvSpPr>
        <p:spPr>
          <a:xfrm>
            <a:off x="4855845" y="173164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173164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551045" y="191452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Isosceles Triangle 24"/>
          <p:cNvSpPr/>
          <p:nvPr/>
        </p:nvSpPr>
        <p:spPr>
          <a:xfrm>
            <a:off x="4717732" y="19145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BPS Name 3"/>
          <p:cNvSpPr txBox="1"/>
          <p:nvPr/>
        </p:nvSpPr>
        <p:spPr>
          <a:xfrm>
            <a:off x="4855845" y="188214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305550" y="188214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551045" y="206502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Isosceles Triangle 28"/>
          <p:cNvSpPr/>
          <p:nvPr/>
        </p:nvSpPr>
        <p:spPr>
          <a:xfrm>
            <a:off x="4717732" y="206502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BPS Name 4"/>
          <p:cNvSpPr txBox="1"/>
          <p:nvPr/>
        </p:nvSpPr>
        <p:spPr>
          <a:xfrm>
            <a:off x="4855845" y="203263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305550" y="203263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551045" y="2215515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Isosceles Triangle 32"/>
          <p:cNvSpPr/>
          <p:nvPr/>
        </p:nvSpPr>
        <p:spPr>
          <a:xfrm>
            <a:off x="4717732" y="221551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BPS Name 5"/>
          <p:cNvSpPr txBox="1"/>
          <p:nvPr/>
        </p:nvSpPr>
        <p:spPr>
          <a:xfrm>
            <a:off x="4855845" y="218313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305550" y="218313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551045" y="236601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Isosceles Triangle 36"/>
          <p:cNvSpPr/>
          <p:nvPr/>
        </p:nvSpPr>
        <p:spPr>
          <a:xfrm>
            <a:off x="4717732" y="236601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BPS Name 6"/>
          <p:cNvSpPr txBox="1"/>
          <p:nvPr/>
        </p:nvSpPr>
        <p:spPr>
          <a:xfrm>
            <a:off x="4855845" y="233362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305550" y="233362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551045" y="251650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Isosceles Triangle 40"/>
          <p:cNvSpPr/>
          <p:nvPr/>
        </p:nvSpPr>
        <p:spPr>
          <a:xfrm>
            <a:off x="4717732" y="251650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BPS Name 7"/>
          <p:cNvSpPr txBox="1"/>
          <p:nvPr/>
        </p:nvSpPr>
        <p:spPr>
          <a:xfrm>
            <a:off x="4855845" y="248412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305550" y="248412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551045" y="266700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Isosceles Triangle 44"/>
          <p:cNvSpPr/>
          <p:nvPr/>
        </p:nvSpPr>
        <p:spPr>
          <a:xfrm>
            <a:off x="4717732" y="26670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BPS Name 8"/>
          <p:cNvSpPr txBox="1"/>
          <p:nvPr/>
        </p:nvSpPr>
        <p:spPr>
          <a:xfrm>
            <a:off x="4855845" y="263461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305550" y="263461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8" name="FMI Legend Chip"/>
          <p:cNvSpPr/>
          <p:nvPr/>
        </p:nvSpPr>
        <p:spPr>
          <a:xfrm>
            <a:off x="4551045" y="281749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Isosceles Triangle 48"/>
          <p:cNvSpPr/>
          <p:nvPr/>
        </p:nvSpPr>
        <p:spPr>
          <a:xfrm>
            <a:off x="4717732" y="281749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BPS Name 9"/>
          <p:cNvSpPr txBox="1"/>
          <p:nvPr/>
        </p:nvSpPr>
        <p:spPr>
          <a:xfrm>
            <a:off x="4855845" y="278511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51" name="BPS Value 9"/>
          <p:cNvSpPr txBox="1"/>
          <p:nvPr/>
        </p:nvSpPr>
        <p:spPr>
          <a:xfrm>
            <a:off x="6305550" y="278511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2" name="FMI Legend Chip"/>
          <p:cNvSpPr/>
          <p:nvPr/>
        </p:nvSpPr>
        <p:spPr>
          <a:xfrm>
            <a:off x="4551045" y="2967990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Isosceles Triangle 52"/>
          <p:cNvSpPr/>
          <p:nvPr/>
        </p:nvSpPr>
        <p:spPr>
          <a:xfrm>
            <a:off x="4717732" y="296799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BPS Name 10"/>
          <p:cNvSpPr txBox="1"/>
          <p:nvPr/>
        </p:nvSpPr>
        <p:spPr>
          <a:xfrm>
            <a:off x="4855845" y="293560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55" name="BPS Value 10"/>
          <p:cNvSpPr txBox="1"/>
          <p:nvPr/>
        </p:nvSpPr>
        <p:spPr>
          <a:xfrm>
            <a:off x="6305550" y="293560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6" name="FMI Legend Chip"/>
          <p:cNvSpPr/>
          <p:nvPr/>
        </p:nvSpPr>
        <p:spPr>
          <a:xfrm>
            <a:off x="4551045" y="311848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Isosceles Triangle 56"/>
          <p:cNvSpPr/>
          <p:nvPr/>
        </p:nvSpPr>
        <p:spPr>
          <a:xfrm>
            <a:off x="4717732" y="311848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BPS Name 11"/>
          <p:cNvSpPr txBox="1"/>
          <p:nvPr/>
        </p:nvSpPr>
        <p:spPr>
          <a:xfrm>
            <a:off x="4855845" y="308610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59" name="BPS Value 11"/>
          <p:cNvSpPr txBox="1"/>
          <p:nvPr/>
        </p:nvSpPr>
        <p:spPr>
          <a:xfrm>
            <a:off x="6305550" y="308610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0" name="FMI Legend Chip"/>
          <p:cNvSpPr/>
          <p:nvPr/>
        </p:nvSpPr>
        <p:spPr>
          <a:xfrm>
            <a:off x="4551045" y="326898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Isosceles Triangle 60"/>
          <p:cNvSpPr/>
          <p:nvPr/>
        </p:nvSpPr>
        <p:spPr>
          <a:xfrm>
            <a:off x="4717732" y="326898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BPS Name 12"/>
          <p:cNvSpPr txBox="1"/>
          <p:nvPr/>
        </p:nvSpPr>
        <p:spPr>
          <a:xfrm>
            <a:off x="4855845" y="323659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63" name="BPS Value 12"/>
          <p:cNvSpPr txBox="1"/>
          <p:nvPr/>
        </p:nvSpPr>
        <p:spPr>
          <a:xfrm>
            <a:off x="6305550" y="323659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4" name="FMI Legend Chip"/>
          <p:cNvSpPr/>
          <p:nvPr/>
        </p:nvSpPr>
        <p:spPr>
          <a:xfrm>
            <a:off x="4551045" y="341947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Isosceles Triangle 64"/>
          <p:cNvSpPr/>
          <p:nvPr/>
        </p:nvSpPr>
        <p:spPr>
          <a:xfrm>
            <a:off x="4717732" y="34194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BPS Name 13"/>
          <p:cNvSpPr txBox="1"/>
          <p:nvPr/>
        </p:nvSpPr>
        <p:spPr>
          <a:xfrm>
            <a:off x="4855845" y="338709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67" name="BPS Value 13"/>
          <p:cNvSpPr txBox="1"/>
          <p:nvPr/>
        </p:nvSpPr>
        <p:spPr>
          <a:xfrm>
            <a:off x="6305550" y="338709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8" name="FMI Legend Chip"/>
          <p:cNvSpPr/>
          <p:nvPr/>
        </p:nvSpPr>
        <p:spPr>
          <a:xfrm>
            <a:off x="4551045" y="356997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Isosceles Triangle 68"/>
          <p:cNvSpPr/>
          <p:nvPr/>
        </p:nvSpPr>
        <p:spPr>
          <a:xfrm rot="10800000">
            <a:off x="4717732" y="356997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BPS Name 14"/>
          <p:cNvSpPr txBox="1"/>
          <p:nvPr/>
        </p:nvSpPr>
        <p:spPr>
          <a:xfrm>
            <a:off x="4855845" y="353758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71" name="BPS Value 14"/>
          <p:cNvSpPr txBox="1"/>
          <p:nvPr/>
        </p:nvSpPr>
        <p:spPr>
          <a:xfrm>
            <a:off x="6305550" y="353758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2" name="FMI Legend Chip"/>
          <p:cNvSpPr/>
          <p:nvPr/>
        </p:nvSpPr>
        <p:spPr>
          <a:xfrm>
            <a:off x="4551045" y="372046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Isosceles Triangle 72"/>
          <p:cNvSpPr/>
          <p:nvPr/>
        </p:nvSpPr>
        <p:spPr>
          <a:xfrm rot="10800000">
            <a:off x="4717732" y="372046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BPS Name 15"/>
          <p:cNvSpPr txBox="1"/>
          <p:nvPr/>
        </p:nvSpPr>
        <p:spPr>
          <a:xfrm>
            <a:off x="4855845" y="368808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75" name="BPS Value 15"/>
          <p:cNvSpPr txBox="1"/>
          <p:nvPr/>
        </p:nvSpPr>
        <p:spPr>
          <a:xfrm>
            <a:off x="6305550" y="368808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6" name="FMI Legend Chip"/>
          <p:cNvSpPr/>
          <p:nvPr/>
        </p:nvSpPr>
        <p:spPr>
          <a:xfrm>
            <a:off x="4551045" y="387096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Isosceles Triangle 76"/>
          <p:cNvSpPr/>
          <p:nvPr/>
        </p:nvSpPr>
        <p:spPr>
          <a:xfrm rot="10800000">
            <a:off x="4717732" y="387096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BPS Name 16"/>
          <p:cNvSpPr txBox="1"/>
          <p:nvPr/>
        </p:nvSpPr>
        <p:spPr>
          <a:xfrm>
            <a:off x="4855845" y="383857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79" name="BPS Value 16"/>
          <p:cNvSpPr txBox="1"/>
          <p:nvPr/>
        </p:nvSpPr>
        <p:spPr>
          <a:xfrm>
            <a:off x="6305550" y="383857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0" name="FMI Legend Chip"/>
          <p:cNvSpPr/>
          <p:nvPr/>
        </p:nvSpPr>
        <p:spPr>
          <a:xfrm>
            <a:off x="4551045" y="402145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Isosceles Triangle 80"/>
          <p:cNvSpPr/>
          <p:nvPr/>
        </p:nvSpPr>
        <p:spPr>
          <a:xfrm rot="10800000">
            <a:off x="4717732" y="402145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BPS Name 17"/>
          <p:cNvSpPr txBox="1"/>
          <p:nvPr/>
        </p:nvSpPr>
        <p:spPr>
          <a:xfrm>
            <a:off x="4855845" y="398907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83" name="BPS Value 17"/>
          <p:cNvSpPr txBox="1"/>
          <p:nvPr/>
        </p:nvSpPr>
        <p:spPr>
          <a:xfrm>
            <a:off x="6305550" y="398907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4" name="FMI Legend Chip"/>
          <p:cNvSpPr/>
          <p:nvPr/>
        </p:nvSpPr>
        <p:spPr>
          <a:xfrm>
            <a:off x="4551045" y="4171950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Isosceles Triangle 84"/>
          <p:cNvSpPr/>
          <p:nvPr/>
        </p:nvSpPr>
        <p:spPr>
          <a:xfrm rot="10800000">
            <a:off x="4717732" y="41719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BPS Name 18"/>
          <p:cNvSpPr txBox="1"/>
          <p:nvPr/>
        </p:nvSpPr>
        <p:spPr>
          <a:xfrm>
            <a:off x="4855845" y="413956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87" name="BPS Value 18"/>
          <p:cNvSpPr txBox="1"/>
          <p:nvPr/>
        </p:nvSpPr>
        <p:spPr>
          <a:xfrm>
            <a:off x="6305550" y="413956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8" name="FMI Legend Chip"/>
          <p:cNvSpPr/>
          <p:nvPr/>
        </p:nvSpPr>
        <p:spPr>
          <a:xfrm>
            <a:off x="4551045" y="4322445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Isosceles Triangle 88"/>
          <p:cNvSpPr/>
          <p:nvPr/>
        </p:nvSpPr>
        <p:spPr>
          <a:xfrm rot="10800000">
            <a:off x="4717732" y="432244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BPS Name 19"/>
          <p:cNvSpPr txBox="1"/>
          <p:nvPr/>
        </p:nvSpPr>
        <p:spPr>
          <a:xfrm>
            <a:off x="4855845" y="429006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91" name="BPS Value 19"/>
          <p:cNvSpPr txBox="1"/>
          <p:nvPr/>
        </p:nvSpPr>
        <p:spPr>
          <a:xfrm>
            <a:off x="6305550" y="429006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2" name="FMI Legend Chip"/>
          <p:cNvSpPr/>
          <p:nvPr/>
        </p:nvSpPr>
        <p:spPr>
          <a:xfrm>
            <a:off x="4551045" y="4472940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Isosceles Triangle 92"/>
          <p:cNvSpPr/>
          <p:nvPr/>
        </p:nvSpPr>
        <p:spPr>
          <a:xfrm rot="10800000">
            <a:off x="4717732" y="447294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BPS Name 20"/>
          <p:cNvSpPr txBox="1"/>
          <p:nvPr/>
        </p:nvSpPr>
        <p:spPr>
          <a:xfrm>
            <a:off x="4855845" y="444055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95" name="BPS Value 20"/>
          <p:cNvSpPr txBox="1"/>
          <p:nvPr/>
        </p:nvSpPr>
        <p:spPr>
          <a:xfrm>
            <a:off x="6305550" y="444055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6" name="FMI Legend Chip"/>
          <p:cNvSpPr/>
          <p:nvPr/>
        </p:nvSpPr>
        <p:spPr>
          <a:xfrm>
            <a:off x="4551045" y="462343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Isosceles Triangle 96"/>
          <p:cNvSpPr/>
          <p:nvPr/>
        </p:nvSpPr>
        <p:spPr>
          <a:xfrm rot="10800000">
            <a:off x="4717732" y="462343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BPS Name 21"/>
          <p:cNvSpPr txBox="1"/>
          <p:nvPr/>
        </p:nvSpPr>
        <p:spPr>
          <a:xfrm>
            <a:off x="4855845" y="459105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99" name="BPS Value 21"/>
          <p:cNvSpPr txBox="1"/>
          <p:nvPr/>
        </p:nvSpPr>
        <p:spPr>
          <a:xfrm>
            <a:off x="6305550" y="459105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0" name="FMI Legend Chip"/>
          <p:cNvSpPr/>
          <p:nvPr/>
        </p:nvSpPr>
        <p:spPr>
          <a:xfrm>
            <a:off x="4551045" y="4773930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Isosceles Triangle 100"/>
          <p:cNvSpPr/>
          <p:nvPr/>
        </p:nvSpPr>
        <p:spPr>
          <a:xfrm rot="10800000">
            <a:off x="4717732" y="477393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BPS Name 22"/>
          <p:cNvSpPr txBox="1"/>
          <p:nvPr/>
        </p:nvSpPr>
        <p:spPr>
          <a:xfrm>
            <a:off x="4855845" y="474154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03" name="BPS Value 22"/>
          <p:cNvSpPr txBox="1"/>
          <p:nvPr/>
        </p:nvSpPr>
        <p:spPr>
          <a:xfrm>
            <a:off x="6305550" y="474154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4" name="FMI Legend Chip"/>
          <p:cNvSpPr/>
          <p:nvPr/>
        </p:nvSpPr>
        <p:spPr>
          <a:xfrm>
            <a:off x="4551045" y="492442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Isosceles Triangle 104"/>
          <p:cNvSpPr/>
          <p:nvPr/>
        </p:nvSpPr>
        <p:spPr>
          <a:xfrm rot="10800000">
            <a:off x="4717732" y="49244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BPS Name 23"/>
          <p:cNvSpPr txBox="1"/>
          <p:nvPr/>
        </p:nvSpPr>
        <p:spPr>
          <a:xfrm>
            <a:off x="4855845" y="489204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07" name="BPS Value 23"/>
          <p:cNvSpPr txBox="1"/>
          <p:nvPr/>
        </p:nvSpPr>
        <p:spPr>
          <a:xfrm>
            <a:off x="6305550" y="489204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8" name="FMI Legend Chip"/>
          <p:cNvSpPr/>
          <p:nvPr/>
        </p:nvSpPr>
        <p:spPr>
          <a:xfrm>
            <a:off x="4551045" y="507492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Isosceles Triangle 108"/>
          <p:cNvSpPr/>
          <p:nvPr/>
        </p:nvSpPr>
        <p:spPr>
          <a:xfrm rot="10800000">
            <a:off x="4717732" y="507492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BPS Name 24"/>
          <p:cNvSpPr txBox="1"/>
          <p:nvPr/>
        </p:nvSpPr>
        <p:spPr>
          <a:xfrm>
            <a:off x="4855845" y="504253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11" name="BPS Value 24"/>
          <p:cNvSpPr txBox="1"/>
          <p:nvPr/>
        </p:nvSpPr>
        <p:spPr>
          <a:xfrm>
            <a:off x="6305550" y="504253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2" name="FMI Legend Chip"/>
          <p:cNvSpPr/>
          <p:nvPr/>
        </p:nvSpPr>
        <p:spPr>
          <a:xfrm>
            <a:off x="4551045" y="522541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Isosceles Triangle 112"/>
          <p:cNvSpPr/>
          <p:nvPr/>
        </p:nvSpPr>
        <p:spPr>
          <a:xfrm rot="10800000">
            <a:off x="4717732" y="522541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BPS Name 25"/>
          <p:cNvSpPr txBox="1"/>
          <p:nvPr/>
        </p:nvSpPr>
        <p:spPr>
          <a:xfrm>
            <a:off x="4855845" y="519303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15" name="BPS Value 25"/>
          <p:cNvSpPr txBox="1"/>
          <p:nvPr/>
        </p:nvSpPr>
        <p:spPr>
          <a:xfrm>
            <a:off x="6305550" y="519303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6" name="Rounded Rectangle 115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TextBox 116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TextBox 118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20" name="Rounded Rectangle 119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</p:txBody>
      </p:sp>
      <p:sp>
        <p:nvSpPr>
          <p:cNvPr id="121" name="Rounded Rectangle 120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</p:txBody>
      </p:sp>
      <p:sp>
        <p:nvSpPr>
          <p:cNvPr id="122" name="Rounded Rectangle 121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7239000" y="1400175"/>
            <a:ext cx="21773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country, at</a:t>
            </a:r>
          </a:p>
        </p:txBody>
      </p:sp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65534" y="1389951"/>
            <a:ext cx="134549" cy="195707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9540643" y="1400175"/>
            <a:ext cx="10400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7239000" y="1628013"/>
            <a:ext cx="19195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'Spain' gains the most share +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07664" y="1617789"/>
            <a:ext cx="134549" cy="195707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9282773" y="1628013"/>
            <a:ext cx="234254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7239000" y="2031111"/>
            <a:ext cx="220333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'United Kingdom' cedes the most -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1492" y="2020887"/>
            <a:ext cx="134549" cy="195707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9566601" y="2031111"/>
            <a:ext cx="19177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7239000" y="2258949"/>
            <a:ext cx="25413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Other European Countries grows fastest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29518" y="2248725"/>
            <a:ext cx="134549" cy="195707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9904627" y="2258949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8778660" y="2486787"/>
            <a:ext cx="14867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25 countries.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613208" y="5877496"/>
            <a:ext cx="10788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2026 TOTAL (MT)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84327" y="6077648"/>
            <a:ext cx="233998" cy="340360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5647046" y="5877496"/>
            <a:ext cx="10788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2036 TOTAL (MT)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8165" y="6077648"/>
            <a:ext cx="233998" cy="340360"/>
          </a:xfrm>
          <a:prstGeom prst="rect">
            <a:avLst/>
          </a:prstGeom>
        </p:spPr>
      </p:pic>
      <p:sp>
        <p:nvSpPr>
          <p:cNvPr id="148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Analysis, By Country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6" name="FMI Legend Chip"/>
          <p:cNvSpPr/>
          <p:nvPr/>
        </p:nvSpPr>
        <p:spPr>
          <a:xfrm>
            <a:off x="4551045" y="1613535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Isosceles Triangle 16"/>
          <p:cNvSpPr/>
          <p:nvPr/>
        </p:nvSpPr>
        <p:spPr>
          <a:xfrm>
            <a:off x="4717732" y="161353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BPS Name 1"/>
          <p:cNvSpPr txBox="1"/>
          <p:nvPr/>
        </p:nvSpPr>
        <p:spPr>
          <a:xfrm>
            <a:off x="4855845" y="158115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58115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176403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Isosceles Triangle 20"/>
          <p:cNvSpPr/>
          <p:nvPr/>
        </p:nvSpPr>
        <p:spPr>
          <a:xfrm>
            <a:off x="4717732" y="176403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BPS Name 2"/>
          <p:cNvSpPr txBox="1"/>
          <p:nvPr/>
        </p:nvSpPr>
        <p:spPr>
          <a:xfrm>
            <a:off x="4855845" y="173164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173164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551045" y="191452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Isosceles Triangle 24"/>
          <p:cNvSpPr/>
          <p:nvPr/>
        </p:nvSpPr>
        <p:spPr>
          <a:xfrm>
            <a:off x="4717732" y="19145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BPS Name 3"/>
          <p:cNvSpPr txBox="1"/>
          <p:nvPr/>
        </p:nvSpPr>
        <p:spPr>
          <a:xfrm>
            <a:off x="4855845" y="188214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305550" y="188214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551045" y="206502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Isosceles Triangle 28"/>
          <p:cNvSpPr/>
          <p:nvPr/>
        </p:nvSpPr>
        <p:spPr>
          <a:xfrm>
            <a:off x="4717732" y="206502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BPS Name 4"/>
          <p:cNvSpPr txBox="1"/>
          <p:nvPr/>
        </p:nvSpPr>
        <p:spPr>
          <a:xfrm>
            <a:off x="4855845" y="203263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305550" y="203263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551045" y="2215515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Isosceles Triangle 32"/>
          <p:cNvSpPr/>
          <p:nvPr/>
        </p:nvSpPr>
        <p:spPr>
          <a:xfrm>
            <a:off x="4717732" y="221551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BPS Name 5"/>
          <p:cNvSpPr txBox="1"/>
          <p:nvPr/>
        </p:nvSpPr>
        <p:spPr>
          <a:xfrm>
            <a:off x="4855845" y="218313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305550" y="218313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551045" y="236601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Isosceles Triangle 36"/>
          <p:cNvSpPr/>
          <p:nvPr/>
        </p:nvSpPr>
        <p:spPr>
          <a:xfrm>
            <a:off x="4717732" y="236601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BPS Name 6"/>
          <p:cNvSpPr txBox="1"/>
          <p:nvPr/>
        </p:nvSpPr>
        <p:spPr>
          <a:xfrm>
            <a:off x="4855845" y="233362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305550" y="233362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551045" y="251650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Isosceles Triangle 40"/>
          <p:cNvSpPr/>
          <p:nvPr/>
        </p:nvSpPr>
        <p:spPr>
          <a:xfrm>
            <a:off x="4717732" y="251650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BPS Name 7"/>
          <p:cNvSpPr txBox="1"/>
          <p:nvPr/>
        </p:nvSpPr>
        <p:spPr>
          <a:xfrm>
            <a:off x="4855845" y="248412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305550" y="248412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551045" y="266700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Isosceles Triangle 44"/>
          <p:cNvSpPr/>
          <p:nvPr/>
        </p:nvSpPr>
        <p:spPr>
          <a:xfrm>
            <a:off x="4717732" y="26670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BPS Name 8"/>
          <p:cNvSpPr txBox="1"/>
          <p:nvPr/>
        </p:nvSpPr>
        <p:spPr>
          <a:xfrm>
            <a:off x="4855845" y="263461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305550" y="263461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8" name="FMI Legend Chip"/>
          <p:cNvSpPr/>
          <p:nvPr/>
        </p:nvSpPr>
        <p:spPr>
          <a:xfrm>
            <a:off x="4551045" y="281749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Isosceles Triangle 48"/>
          <p:cNvSpPr/>
          <p:nvPr/>
        </p:nvSpPr>
        <p:spPr>
          <a:xfrm>
            <a:off x="4717732" y="281749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BPS Name 9"/>
          <p:cNvSpPr txBox="1"/>
          <p:nvPr/>
        </p:nvSpPr>
        <p:spPr>
          <a:xfrm>
            <a:off x="4855845" y="278511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51" name="BPS Value 9"/>
          <p:cNvSpPr txBox="1"/>
          <p:nvPr/>
        </p:nvSpPr>
        <p:spPr>
          <a:xfrm>
            <a:off x="6305550" y="278511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2" name="FMI Legend Chip"/>
          <p:cNvSpPr/>
          <p:nvPr/>
        </p:nvSpPr>
        <p:spPr>
          <a:xfrm>
            <a:off x="4551045" y="2967990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Isosceles Triangle 52"/>
          <p:cNvSpPr/>
          <p:nvPr/>
        </p:nvSpPr>
        <p:spPr>
          <a:xfrm>
            <a:off x="4717732" y="296799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BPS Name 10"/>
          <p:cNvSpPr txBox="1"/>
          <p:nvPr/>
        </p:nvSpPr>
        <p:spPr>
          <a:xfrm>
            <a:off x="4855845" y="293560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55" name="BPS Value 10"/>
          <p:cNvSpPr txBox="1"/>
          <p:nvPr/>
        </p:nvSpPr>
        <p:spPr>
          <a:xfrm>
            <a:off x="6305550" y="293560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6" name="FMI Legend Chip"/>
          <p:cNvSpPr/>
          <p:nvPr/>
        </p:nvSpPr>
        <p:spPr>
          <a:xfrm>
            <a:off x="4551045" y="311848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Isosceles Triangle 56"/>
          <p:cNvSpPr/>
          <p:nvPr/>
        </p:nvSpPr>
        <p:spPr>
          <a:xfrm>
            <a:off x="4717732" y="311848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BPS Name 11"/>
          <p:cNvSpPr txBox="1"/>
          <p:nvPr/>
        </p:nvSpPr>
        <p:spPr>
          <a:xfrm>
            <a:off x="4855845" y="308610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59" name="BPS Value 11"/>
          <p:cNvSpPr txBox="1"/>
          <p:nvPr/>
        </p:nvSpPr>
        <p:spPr>
          <a:xfrm>
            <a:off x="6305550" y="308610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0" name="FMI Legend Chip"/>
          <p:cNvSpPr/>
          <p:nvPr/>
        </p:nvSpPr>
        <p:spPr>
          <a:xfrm>
            <a:off x="4551045" y="3268980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Isosceles Triangle 60"/>
          <p:cNvSpPr/>
          <p:nvPr/>
        </p:nvSpPr>
        <p:spPr>
          <a:xfrm>
            <a:off x="4717732" y="326898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BPS Name 12"/>
          <p:cNvSpPr txBox="1"/>
          <p:nvPr/>
        </p:nvSpPr>
        <p:spPr>
          <a:xfrm>
            <a:off x="4855845" y="323659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63" name="BPS Value 12"/>
          <p:cNvSpPr txBox="1"/>
          <p:nvPr/>
        </p:nvSpPr>
        <p:spPr>
          <a:xfrm>
            <a:off x="6305550" y="323659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4" name="FMI Legend Chip"/>
          <p:cNvSpPr/>
          <p:nvPr/>
        </p:nvSpPr>
        <p:spPr>
          <a:xfrm>
            <a:off x="4551045" y="341947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Isosceles Triangle 64"/>
          <p:cNvSpPr/>
          <p:nvPr/>
        </p:nvSpPr>
        <p:spPr>
          <a:xfrm>
            <a:off x="4717732" y="34194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BPS Name 13"/>
          <p:cNvSpPr txBox="1"/>
          <p:nvPr/>
        </p:nvSpPr>
        <p:spPr>
          <a:xfrm>
            <a:off x="4855845" y="338709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67" name="BPS Value 13"/>
          <p:cNvSpPr txBox="1"/>
          <p:nvPr/>
        </p:nvSpPr>
        <p:spPr>
          <a:xfrm>
            <a:off x="6305550" y="338709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8" name="FMI Legend Chip"/>
          <p:cNvSpPr/>
          <p:nvPr/>
        </p:nvSpPr>
        <p:spPr>
          <a:xfrm>
            <a:off x="4551045" y="356997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Isosceles Triangle 68"/>
          <p:cNvSpPr/>
          <p:nvPr/>
        </p:nvSpPr>
        <p:spPr>
          <a:xfrm>
            <a:off x="4717732" y="356997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BPS Name 14"/>
          <p:cNvSpPr txBox="1"/>
          <p:nvPr/>
        </p:nvSpPr>
        <p:spPr>
          <a:xfrm>
            <a:off x="4855845" y="353758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71" name="BPS Value 14"/>
          <p:cNvSpPr txBox="1"/>
          <p:nvPr/>
        </p:nvSpPr>
        <p:spPr>
          <a:xfrm>
            <a:off x="6305550" y="353758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72" name="FMI Legend Chip"/>
          <p:cNvSpPr/>
          <p:nvPr/>
        </p:nvSpPr>
        <p:spPr>
          <a:xfrm>
            <a:off x="4551045" y="372046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Isosceles Triangle 72"/>
          <p:cNvSpPr/>
          <p:nvPr/>
        </p:nvSpPr>
        <p:spPr>
          <a:xfrm rot="10800000">
            <a:off x="4717732" y="372046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BPS Name 15"/>
          <p:cNvSpPr txBox="1"/>
          <p:nvPr/>
        </p:nvSpPr>
        <p:spPr>
          <a:xfrm>
            <a:off x="4855845" y="368808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75" name="BPS Value 15"/>
          <p:cNvSpPr txBox="1"/>
          <p:nvPr/>
        </p:nvSpPr>
        <p:spPr>
          <a:xfrm>
            <a:off x="6305550" y="368808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6" name="FMI Legend Chip"/>
          <p:cNvSpPr/>
          <p:nvPr/>
        </p:nvSpPr>
        <p:spPr>
          <a:xfrm>
            <a:off x="4551045" y="387096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Isosceles Triangle 76"/>
          <p:cNvSpPr/>
          <p:nvPr/>
        </p:nvSpPr>
        <p:spPr>
          <a:xfrm rot="10800000">
            <a:off x="4717732" y="387096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BPS Name 16"/>
          <p:cNvSpPr txBox="1"/>
          <p:nvPr/>
        </p:nvSpPr>
        <p:spPr>
          <a:xfrm>
            <a:off x="4855845" y="383857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79" name="BPS Value 16"/>
          <p:cNvSpPr txBox="1"/>
          <p:nvPr/>
        </p:nvSpPr>
        <p:spPr>
          <a:xfrm>
            <a:off x="6305550" y="383857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0" name="FMI Legend Chip"/>
          <p:cNvSpPr/>
          <p:nvPr/>
        </p:nvSpPr>
        <p:spPr>
          <a:xfrm>
            <a:off x="4551045" y="402145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Isosceles Triangle 80"/>
          <p:cNvSpPr/>
          <p:nvPr/>
        </p:nvSpPr>
        <p:spPr>
          <a:xfrm rot="10800000">
            <a:off x="4717732" y="402145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BPS Name 17"/>
          <p:cNvSpPr txBox="1"/>
          <p:nvPr/>
        </p:nvSpPr>
        <p:spPr>
          <a:xfrm>
            <a:off x="4855845" y="398907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83" name="BPS Value 17"/>
          <p:cNvSpPr txBox="1"/>
          <p:nvPr/>
        </p:nvSpPr>
        <p:spPr>
          <a:xfrm>
            <a:off x="6305550" y="398907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4" name="FMI Legend Chip"/>
          <p:cNvSpPr/>
          <p:nvPr/>
        </p:nvSpPr>
        <p:spPr>
          <a:xfrm>
            <a:off x="4551045" y="417195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Isosceles Triangle 84"/>
          <p:cNvSpPr/>
          <p:nvPr/>
        </p:nvSpPr>
        <p:spPr>
          <a:xfrm rot="10800000">
            <a:off x="4717732" y="41719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BPS Name 18"/>
          <p:cNvSpPr txBox="1"/>
          <p:nvPr/>
        </p:nvSpPr>
        <p:spPr>
          <a:xfrm>
            <a:off x="4855845" y="413956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87" name="BPS Value 18"/>
          <p:cNvSpPr txBox="1"/>
          <p:nvPr/>
        </p:nvSpPr>
        <p:spPr>
          <a:xfrm>
            <a:off x="6305550" y="413956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8" name="FMI Legend Chip"/>
          <p:cNvSpPr/>
          <p:nvPr/>
        </p:nvSpPr>
        <p:spPr>
          <a:xfrm>
            <a:off x="4551045" y="4322445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Isosceles Triangle 88"/>
          <p:cNvSpPr/>
          <p:nvPr/>
        </p:nvSpPr>
        <p:spPr>
          <a:xfrm rot="10800000">
            <a:off x="4717732" y="432244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BPS Name 19"/>
          <p:cNvSpPr txBox="1"/>
          <p:nvPr/>
        </p:nvSpPr>
        <p:spPr>
          <a:xfrm>
            <a:off x="4855845" y="429006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91" name="BPS Value 19"/>
          <p:cNvSpPr txBox="1"/>
          <p:nvPr/>
        </p:nvSpPr>
        <p:spPr>
          <a:xfrm>
            <a:off x="6305550" y="429006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2" name="FMI Legend Chip"/>
          <p:cNvSpPr/>
          <p:nvPr/>
        </p:nvSpPr>
        <p:spPr>
          <a:xfrm>
            <a:off x="4551045" y="4472940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Isosceles Triangle 92"/>
          <p:cNvSpPr/>
          <p:nvPr/>
        </p:nvSpPr>
        <p:spPr>
          <a:xfrm rot="10800000">
            <a:off x="4717732" y="447294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BPS Name 20"/>
          <p:cNvSpPr txBox="1"/>
          <p:nvPr/>
        </p:nvSpPr>
        <p:spPr>
          <a:xfrm>
            <a:off x="4855845" y="444055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95" name="BPS Value 20"/>
          <p:cNvSpPr txBox="1"/>
          <p:nvPr/>
        </p:nvSpPr>
        <p:spPr>
          <a:xfrm>
            <a:off x="6305550" y="444055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6" name="FMI Legend Chip"/>
          <p:cNvSpPr/>
          <p:nvPr/>
        </p:nvSpPr>
        <p:spPr>
          <a:xfrm>
            <a:off x="4551045" y="462343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Isosceles Triangle 96"/>
          <p:cNvSpPr/>
          <p:nvPr/>
        </p:nvSpPr>
        <p:spPr>
          <a:xfrm rot="10800000">
            <a:off x="4717732" y="462343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BPS Name 21"/>
          <p:cNvSpPr txBox="1"/>
          <p:nvPr/>
        </p:nvSpPr>
        <p:spPr>
          <a:xfrm>
            <a:off x="4855845" y="459105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99" name="BPS Value 21"/>
          <p:cNvSpPr txBox="1"/>
          <p:nvPr/>
        </p:nvSpPr>
        <p:spPr>
          <a:xfrm>
            <a:off x="6305550" y="459105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0" name="FMI Legend Chip"/>
          <p:cNvSpPr/>
          <p:nvPr/>
        </p:nvSpPr>
        <p:spPr>
          <a:xfrm>
            <a:off x="4551045" y="477393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Isosceles Triangle 100"/>
          <p:cNvSpPr/>
          <p:nvPr/>
        </p:nvSpPr>
        <p:spPr>
          <a:xfrm rot="10800000">
            <a:off x="4717732" y="477393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BPS Name 22"/>
          <p:cNvSpPr txBox="1"/>
          <p:nvPr/>
        </p:nvSpPr>
        <p:spPr>
          <a:xfrm>
            <a:off x="4855845" y="474154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03" name="BPS Value 22"/>
          <p:cNvSpPr txBox="1"/>
          <p:nvPr/>
        </p:nvSpPr>
        <p:spPr>
          <a:xfrm>
            <a:off x="6305550" y="474154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4" name="FMI Legend Chip"/>
          <p:cNvSpPr/>
          <p:nvPr/>
        </p:nvSpPr>
        <p:spPr>
          <a:xfrm>
            <a:off x="4551045" y="492442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Isosceles Triangle 104"/>
          <p:cNvSpPr/>
          <p:nvPr/>
        </p:nvSpPr>
        <p:spPr>
          <a:xfrm rot="10800000">
            <a:off x="4717732" y="49244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BPS Name 23"/>
          <p:cNvSpPr txBox="1"/>
          <p:nvPr/>
        </p:nvSpPr>
        <p:spPr>
          <a:xfrm>
            <a:off x="4855845" y="489204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07" name="BPS Value 23"/>
          <p:cNvSpPr txBox="1"/>
          <p:nvPr/>
        </p:nvSpPr>
        <p:spPr>
          <a:xfrm>
            <a:off x="6305550" y="489204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8" name="FMI Legend Chip"/>
          <p:cNvSpPr/>
          <p:nvPr/>
        </p:nvSpPr>
        <p:spPr>
          <a:xfrm>
            <a:off x="4551045" y="5074920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Isosceles Triangle 108"/>
          <p:cNvSpPr/>
          <p:nvPr/>
        </p:nvSpPr>
        <p:spPr>
          <a:xfrm rot="10800000">
            <a:off x="4717732" y="507492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BPS Name 24"/>
          <p:cNvSpPr txBox="1"/>
          <p:nvPr/>
        </p:nvSpPr>
        <p:spPr>
          <a:xfrm>
            <a:off x="4855845" y="5042535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11" name="BPS Value 24"/>
          <p:cNvSpPr txBox="1"/>
          <p:nvPr/>
        </p:nvSpPr>
        <p:spPr>
          <a:xfrm>
            <a:off x="6305550" y="5042535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2" name="FMI Legend Chip"/>
          <p:cNvSpPr/>
          <p:nvPr/>
        </p:nvSpPr>
        <p:spPr>
          <a:xfrm>
            <a:off x="4551045" y="522541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Isosceles Triangle 112"/>
          <p:cNvSpPr/>
          <p:nvPr/>
        </p:nvSpPr>
        <p:spPr>
          <a:xfrm rot="10800000">
            <a:off x="4717732" y="522541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BPS Name 25"/>
          <p:cNvSpPr txBox="1"/>
          <p:nvPr/>
        </p:nvSpPr>
        <p:spPr>
          <a:xfrm>
            <a:off x="4855845" y="5193030"/>
            <a:ext cx="1449705" cy="150495"/>
          </a:xfrm>
          <a:prstGeom prst="rect">
            <a:avLst/>
          </a:prstGeom>
          <a:noFill/>
        </p:spPr>
        <p:txBody>
          <a:bodyPr wrap="non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15" name="BPS Value 25"/>
          <p:cNvSpPr txBox="1"/>
          <p:nvPr/>
        </p:nvSpPr>
        <p:spPr>
          <a:xfrm>
            <a:off x="6305550" y="5193030"/>
            <a:ext cx="514350" cy="15049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6" name="Rounded Rectangle 115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TextBox 116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TextBox 118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20" name="Rounded Rectangle 119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1" name="Rounded Rectangle 120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2" name="Rounded Rectangle 121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09775" y="6070282"/>
            <a:ext cx="209550" cy="304800"/>
          </a:xfrm>
          <a:prstGeom prst="rect">
            <a:avLst/>
          </a:prstGeom>
        </p:spPr>
      </p:pic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3612" y="6070282"/>
            <a:ext cx="209550" cy="304800"/>
          </a:xfrm>
          <a:prstGeom prst="rect">
            <a:avLst/>
          </a:prstGeom>
        </p:spPr>
      </p:pic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7239000" y="1400175"/>
            <a:ext cx="21773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country, at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65534" y="1389951"/>
            <a:ext cx="134549" cy="195707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9540643" y="1400175"/>
            <a:ext cx="9162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7239000" y="1628013"/>
            <a:ext cx="19195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'Spain' gains the most share +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07664" y="1617789"/>
            <a:ext cx="134549" cy="195707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9282773" y="1628013"/>
            <a:ext cx="234254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7239000" y="2031111"/>
            <a:ext cx="220333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'United Kingdom' cedes the most -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1492" y="2020887"/>
            <a:ext cx="134549" cy="195707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9566601" y="2031111"/>
            <a:ext cx="19177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7239000" y="2258949"/>
            <a:ext cx="25413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Other European Countries grows fastest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29518" y="2248725"/>
            <a:ext cx="134549" cy="195707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9904627" y="2258949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8778660" y="2486787"/>
            <a:ext cx="17603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25 countries.</a:t>
            </a:r>
          </a:p>
        </p:txBody>
      </p:sp>
      <p:sp>
        <p:nvSpPr>
          <p:cNvPr id="146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Volume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38800"/>
          </a:xfrm>
          <a:prstGeom prst="roundRect">
            <a:avLst>
              <a:gd name="adj" fmla="val 13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2" cy="51720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43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4198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1480" y="368064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Volume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3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222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97936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Share Read-out, By Country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0447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0532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'Germany' is the largest country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8673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453783" y="3724275"/>
            <a:ext cx="10805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3515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658625" y="3724275"/>
            <a:ext cx="3534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5787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grows fastest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83250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58360" y="3952112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18824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'Spain'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0780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282915" y="4179950"/>
            <a:ext cx="24458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'United Kingdom'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7874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852983" y="4179950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5646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4407788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4407788"/>
            <a:ext cx="14867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25 countries.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Value (US$ Mn)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38800"/>
          </a:xfrm>
          <a:prstGeom prst="roundRect">
            <a:avLst>
              <a:gd name="adj" fmla="val 13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2" cy="51720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43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3193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462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4198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1480" y="368064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Value (US$ Mn)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00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93360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Share Read-out, By Country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9355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0532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'Germany' is the largest country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8673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453783" y="3724275"/>
            <a:ext cx="95677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59715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534825" y="3724275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5787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grows fastest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83250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58360" y="3952112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18824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'Spain'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0780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282915" y="4179950"/>
            <a:ext cx="24458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'United Kingdom'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7874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852983" y="4179950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167888" y="4407788"/>
            <a:ext cx="17603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25 countries.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Trends, By Country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country volume and value shares shift over 2021–2036, highlighting who gains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By Country (MT)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9448800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9763125" y="1304925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FMI Dense Legend"/>
          <p:cNvSpPr txBox="1"/>
          <p:nvPr/>
        </p:nvSpPr>
        <p:spPr>
          <a:xfrm>
            <a:off x="9839325" y="1362075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850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16" name="FMI Dense Legend"/>
          <p:cNvSpPr txBox="1"/>
          <p:nvPr/>
        </p:nvSpPr>
        <p:spPr>
          <a:xfrm>
            <a:off x="9839325" y="1533525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Germany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United Kingdom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France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Italy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Spain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Netherlands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Other European Countries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Sweden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Austria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Switzerland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Belgium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Czech Republic</a:t>
            </a:r>
          </a:p>
        </p:txBody>
      </p:sp>
      <p:sp>
        <p:nvSpPr>
          <p:cNvPr id="17" name="FMI Dense Legend"/>
          <p:cNvSpPr txBox="1"/>
          <p:nvPr/>
        </p:nvSpPr>
        <p:spPr>
          <a:xfrm>
            <a:off x="10896600" y="1533525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Denmark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Norway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Portugal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Romania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Hungary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Finland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Ireland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Greece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Bulgaria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Croatia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Malta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Slovenia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By Country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9448800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9763125" y="4191000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FMI Dense Legend"/>
          <p:cNvSpPr txBox="1"/>
          <p:nvPr/>
        </p:nvSpPr>
        <p:spPr>
          <a:xfrm>
            <a:off x="9839325" y="4248150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850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23" name="FMI Dense Legend"/>
          <p:cNvSpPr txBox="1"/>
          <p:nvPr/>
        </p:nvSpPr>
        <p:spPr>
          <a:xfrm>
            <a:off x="9839325" y="4419600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Germany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United Kingdom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France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Italy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Spain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Netherlands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Other European Countries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Sweden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Austria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Switzerland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Belgium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Czech Republic</a:t>
            </a:r>
          </a:p>
        </p:txBody>
      </p:sp>
      <p:sp>
        <p:nvSpPr>
          <p:cNvPr id="24" name="FMI Dense Legend"/>
          <p:cNvSpPr txBox="1"/>
          <p:nvPr/>
        </p:nvSpPr>
        <p:spPr>
          <a:xfrm>
            <a:off x="10896600" y="4419600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Portugal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Norway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Denmark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Romania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Finland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Ireland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Hungary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Greece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Bulgaria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Croatia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Malta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Slovenia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33434" y="2176405"/>
            <a:ext cx="347145" cy="504938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33434" y="5062480"/>
            <a:ext cx="347145" cy="504938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lockshield_20"/>
          <p:cNvSpPr/>
          <p:nvPr/>
        </p:nvSpPr>
        <p:spPr>
          <a:xfrm>
            <a:off x="238125" y="4152900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Top 10 Countries (2036)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hierarchy of the Europe market in 2036, highlighting the leading countries within each region by value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by country  ·  2036 (US$ Mn)  ·  tile size = market value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38125" y="1266825"/>
            <a:ext cx="4636091" cy="2693584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38125" y="3960409"/>
            <a:ext cx="4636091" cy="2611841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5" name="Rectangle 14"/>
          <p:cNvSpPr/>
          <p:nvPr/>
        </p:nvSpPr>
        <p:spPr>
          <a:xfrm>
            <a:off x="4874216" y="1266825"/>
            <a:ext cx="3395021" cy="3053719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6" name="Rectangle 15"/>
          <p:cNvSpPr/>
          <p:nvPr/>
        </p:nvSpPr>
        <p:spPr>
          <a:xfrm>
            <a:off x="4874216" y="4320544"/>
            <a:ext cx="3395021" cy="2251706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269237" y="1266825"/>
            <a:ext cx="2227726" cy="2528502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0496963" y="1266825"/>
            <a:ext cx="1456912" cy="2528502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8269237" y="3795327"/>
            <a:ext cx="2105479" cy="1464082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8269237" y="5259409"/>
            <a:ext cx="2105479" cy="1312841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374715" y="3795327"/>
            <a:ext cx="1579160" cy="1544935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0374715" y="5340262"/>
            <a:ext cx="1579160" cy="1231988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1732" y="2613617"/>
            <a:ext cx="308877" cy="449275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1732" y="5266329"/>
            <a:ext cx="308877" cy="449275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7288" y="2793684"/>
            <a:ext cx="308877" cy="449275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7288" y="5446396"/>
            <a:ext cx="308877" cy="449275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28661" y="2531076"/>
            <a:ext cx="308877" cy="449275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0980" y="2531076"/>
            <a:ext cx="308877" cy="449275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67538" y="4527368"/>
            <a:ext cx="308877" cy="449275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67538" y="5915829"/>
            <a:ext cx="308877" cy="449275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09856" y="4567794"/>
            <a:ext cx="308877" cy="449275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09856" y="5956256"/>
            <a:ext cx="308877" cy="449275"/>
          </a:xfrm>
          <a:prstGeom prst="rect">
            <a:avLst/>
          </a:prstGeom>
        </p:spPr>
      </p:pic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7684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11137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Market Analysis By Segments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797175"/>
            <a:ext cx="8458200" cy="32448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Ingredient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Product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Pet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Pack Size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Price Tier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Sales Channels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Product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6 sub-segments of Product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Type segment categorizes the market by product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57162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6" name="Oval 25"/>
          <p:cNvSpPr/>
          <p:nvPr/>
        </p:nvSpPr>
        <p:spPr>
          <a:xfrm>
            <a:off x="2490788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5528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Rectangle 27"/>
          <p:cNvSpPr/>
          <p:nvPr/>
        </p:nvSpPr>
        <p:spPr>
          <a:xfrm>
            <a:off x="3552825" y="1992961"/>
            <a:ext cx="157162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3590925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Coat Conditioning &amp; Grooming Prod…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5528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35528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Rectangle 31"/>
          <p:cNvSpPr/>
          <p:nvPr/>
        </p:nvSpPr>
        <p:spPr>
          <a:xfrm>
            <a:off x="35528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23875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5238750" y="1992961"/>
            <a:ext cx="1571625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5276850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23875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23875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23875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0" name="Oval 39"/>
          <p:cNvSpPr/>
          <p:nvPr/>
        </p:nvSpPr>
        <p:spPr>
          <a:xfrm>
            <a:off x="5862638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92467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6924675" y="1992961"/>
            <a:ext cx="1571625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6962775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92467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692467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692467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7" name="Oval 46"/>
          <p:cNvSpPr/>
          <p:nvPr/>
        </p:nvSpPr>
        <p:spPr>
          <a:xfrm>
            <a:off x="7548562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86106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8610600" y="1992961"/>
            <a:ext cx="1571625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8648700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06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86106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86106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4" name="Oval 53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102965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10296525" y="1992961"/>
            <a:ext cx="1571625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10334625" y="1773916"/>
            <a:ext cx="149542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102965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102965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1" name="Oval 60"/>
          <p:cNvSpPr/>
          <p:nvPr/>
        </p:nvSpPr>
        <p:spPr>
          <a:xfrm>
            <a:off x="10920412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66" name="Rounded Rectangle 65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TextBox 66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70" name="Rounded Rectangle 69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TextBox 70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2" name="Rectangle 71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TextBox 72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Type split shows how demand is distributed across product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74" name="Rectangle 73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TextBox 74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76" name="TextBox 75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8" name="Picture 77" descr="1_09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4848" y="2286582"/>
            <a:ext cx="1195728" cy="361950"/>
          </a:xfrm>
          <a:prstGeom prst="rect">
            <a:avLst/>
          </a:prstGeom>
        </p:spPr>
      </p:pic>
      <p:pic>
        <p:nvPicPr>
          <p:cNvPr id="79" name="Picture 78" descr="2_05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4848" y="2779432"/>
            <a:ext cx="1195728" cy="361950"/>
          </a:xfrm>
          <a:prstGeom prst="rect">
            <a:avLst/>
          </a:prstGeom>
        </p:spPr>
      </p:pic>
      <p:pic>
        <p:nvPicPr>
          <p:cNvPr id="80" name="Picture 79" descr="6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61494" y="3272281"/>
            <a:ext cx="982436" cy="361950"/>
          </a:xfrm>
          <a:prstGeom prst="rect">
            <a:avLst/>
          </a:prstGeom>
        </p:spPr>
      </p:pic>
      <p:pic>
        <p:nvPicPr>
          <p:cNvPr id="81" name="Picture 80" descr="648_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82" name="Picture 81" descr="1_118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83" name="Picture 82" descr="5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84" name="Picture 83" descr="468_1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26698" y="2286582"/>
            <a:ext cx="1195728" cy="361950"/>
          </a:xfrm>
          <a:prstGeom prst="rect">
            <a:avLst/>
          </a:prstGeom>
        </p:spPr>
      </p:pic>
      <p:pic>
        <p:nvPicPr>
          <p:cNvPr id="85" name="Picture 84" descr="826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26698" y="2779432"/>
            <a:ext cx="1195728" cy="361950"/>
          </a:xfrm>
          <a:prstGeom prst="rect">
            <a:avLst/>
          </a:prstGeom>
        </p:spPr>
      </p:pic>
      <p:pic>
        <p:nvPicPr>
          <p:cNvPr id="86" name="Picture 85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533344" y="3272281"/>
            <a:ext cx="982436" cy="361950"/>
          </a:xfrm>
          <a:prstGeom prst="rect">
            <a:avLst/>
          </a:prstGeom>
        </p:spPr>
      </p:pic>
      <p:pic>
        <p:nvPicPr>
          <p:cNvPr id="87" name="Picture 86" descr="378_9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112623" y="2286582"/>
            <a:ext cx="1195728" cy="361950"/>
          </a:xfrm>
          <a:prstGeom prst="rect">
            <a:avLst/>
          </a:prstGeom>
        </p:spPr>
      </p:pic>
      <p:pic>
        <p:nvPicPr>
          <p:cNvPr id="88" name="Picture 87" descr="697_6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12623" y="2779432"/>
            <a:ext cx="1195728" cy="361950"/>
          </a:xfrm>
          <a:prstGeom prst="rect">
            <a:avLst/>
          </a:prstGeom>
        </p:spPr>
      </p:pic>
      <p:pic>
        <p:nvPicPr>
          <p:cNvPr id="89" name="Picture 88" descr="6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219269" y="3272281"/>
            <a:ext cx="982436" cy="361950"/>
          </a:xfrm>
          <a:prstGeom prst="rect">
            <a:avLst/>
          </a:prstGeom>
        </p:spPr>
      </p:pic>
      <p:pic>
        <p:nvPicPr>
          <p:cNvPr id="90" name="Picture 89" descr="293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91" name="Picture 90" descr="525_4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92" name="Picture 91" descr="6_0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93" name="Picture 92" descr="268_5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84473" y="2286582"/>
            <a:ext cx="1195728" cy="361950"/>
          </a:xfrm>
          <a:prstGeom prst="rect">
            <a:avLst/>
          </a:prstGeom>
        </p:spPr>
      </p:pic>
      <p:pic>
        <p:nvPicPr>
          <p:cNvPr id="94" name="Picture 93" descr="474_0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484473" y="2779432"/>
            <a:ext cx="1195728" cy="361950"/>
          </a:xfrm>
          <a:prstGeom prst="rect">
            <a:avLst/>
          </a:prstGeom>
        </p:spPr>
      </p:pic>
      <p:pic>
        <p:nvPicPr>
          <p:cNvPr id="95" name="Picture 94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591119" y="3272281"/>
            <a:ext cx="982436" cy="36195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9367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245292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931217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617142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30306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988992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26055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holds the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4615009"/>
            <a:ext cx="23850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is the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5553793"/>
            <a:ext cx="25586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6 sub-segments make up the product type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838575" y="4229437"/>
            <a:ext cx="1897375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Shampoos &amp; Cleansing Products: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82061" y="4220440"/>
            <a:ext cx="118403" cy="172222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5836157" y="4229437"/>
            <a:ext cx="844582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626851" y="4220440"/>
            <a:ext cx="118403" cy="172222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6780948" y="4229437"/>
            <a:ext cx="875693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838575" y="4383665"/>
            <a:ext cx="560675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3838575" y="4584163"/>
            <a:ext cx="2313069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Coat Conditioning &amp; Grooming Products: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097756" y="4575166"/>
            <a:ext cx="118403" cy="172222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6251852" y="4584163"/>
            <a:ext cx="844582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042546" y="4575166"/>
            <a:ext cx="118403" cy="172222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7196642" y="4584163"/>
            <a:ext cx="369881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3838575" y="4738392"/>
            <a:ext cx="842825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3838575" y="4938889"/>
            <a:ext cx="1883317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Skin, Paw &amp; Nose Care Products: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68004" y="4929892"/>
            <a:ext cx="118403" cy="172222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5822100" y="4938889"/>
            <a:ext cx="844582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612794" y="4929892"/>
            <a:ext cx="118403" cy="172222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6766890" y="4938889"/>
            <a:ext cx="820970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3838575" y="5093118"/>
            <a:ext cx="39173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838575" y="5293615"/>
            <a:ext cx="1688523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Dental &amp; Oral Care Products: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73210" y="5284619"/>
            <a:ext cx="118403" cy="172222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5627306" y="5293615"/>
            <a:ext cx="844582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418000" y="5284619"/>
            <a:ext cx="118403" cy="172222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6572096" y="5293615"/>
            <a:ext cx="116562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838575" y="5494113"/>
            <a:ext cx="1661585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Ear &amp; Eye Hygiene Products: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46272" y="5485116"/>
            <a:ext cx="118403" cy="172222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5600368" y="5494113"/>
            <a:ext cx="844582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391062" y="5485116"/>
            <a:ext cx="118403" cy="172222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6545158" y="5494113"/>
            <a:ext cx="116562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3838575" y="5694610"/>
            <a:ext cx="2001800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Fragrance &amp; Deodorizing Products:</a:t>
            </a:r>
          </a:p>
        </p:txBody>
      </p:sp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786487" y="5685613"/>
            <a:ext cx="118403" cy="172222"/>
          </a:xfrm>
          <a:prstGeom prst="rect">
            <a:avLst/>
          </a:prstGeom>
        </p:spPr>
      </p:pic>
      <p:sp>
        <p:nvSpPr>
          <p:cNvPr id="149" name="TextBox 148"/>
          <p:cNvSpPr txBox="1"/>
          <p:nvPr/>
        </p:nvSpPr>
        <p:spPr>
          <a:xfrm>
            <a:off x="5940583" y="5694610"/>
            <a:ext cx="844582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731277" y="5685613"/>
            <a:ext cx="118403" cy="172222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6885373" y="5694610"/>
            <a:ext cx="820970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838575" y="5848839"/>
            <a:ext cx="39173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Type segment is projected to grow at a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Product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339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'Shampoos &amp; Cleansing Products' gains the most share in the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06583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147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182255" y="5582698"/>
            <a:ext cx="339925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'Coat Conditioning &amp; Grooming Products'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529565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000875" y="5750338"/>
            <a:ext cx="46562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Type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Shampoos &amp; Cleansing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Coat Conditioning &amp; Grooming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Skin, Paw &amp; Nose Care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Ear &amp; Eye Hygiene Products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Type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Dental &amp; Oral Care Products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Fragrance &amp; Deodorizing Products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Product Type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305550" y="1400175"/>
            <a:ext cx="301488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6 sub-segments, by product type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69589" y="13899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444698" y="1400175"/>
            <a:ext cx="18544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1575435"/>
            <a:ext cx="15541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1803273"/>
            <a:ext cx="244808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02790" y="179304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8877899" y="1803273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50370" y="17930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625479" y="1803273"/>
            <a:ext cx="11547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031111"/>
            <a:ext cx="29204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75170" y="202088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350279" y="2031111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922750" y="202088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097860" y="2031111"/>
            <a:ext cx="11547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2258949"/>
            <a:ext cx="24321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'Skin, Paw &amp; Nose Care Products'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86815" y="2248725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861925" y="2258949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34396" y="224872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609505" y="2258949"/>
            <a:ext cx="11547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2486787"/>
            <a:ext cx="315294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Products' adds the least: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07652" y="2476563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582761" y="2486787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55232" y="2476563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330342" y="2486787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lockshield_15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Product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044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5192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1526" y="208045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87749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2872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277981" y="3971925"/>
            <a:ext cx="10805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07714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482823" y="3971925"/>
            <a:ext cx="3534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95840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3784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358893" y="4199763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34675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'Shampoos &amp; Cleansing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962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68071" y="4427600"/>
            <a:ext cx="38660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'Coat Conditioning &amp; Grooming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83309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58418" y="4427600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5646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655438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655438"/>
            <a:ext cx="147052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6 categories.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Product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Product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918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530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530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530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53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53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60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19350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3902" y="2080450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87749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2872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277981" y="3971925"/>
            <a:ext cx="95677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3914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359023" y="3971925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95840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3784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358893" y="4199763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34675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'Shampoos &amp; Cleansing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962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68071" y="4427600"/>
            <a:ext cx="38660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'Coat Conditioning &amp; Grooming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83309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58418" y="4427600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4408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655438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655438"/>
            <a:ext cx="17440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6 categories.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Product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6" name="FMI Legend Chip"/>
          <p:cNvSpPr/>
          <p:nvPr/>
        </p:nvSpPr>
        <p:spPr>
          <a:xfrm>
            <a:off x="4928997" y="1861515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85675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BPS Name 1"/>
          <p:cNvSpPr txBox="1"/>
          <p:nvPr/>
        </p:nvSpPr>
        <p:spPr>
          <a:xfrm>
            <a:off x="5233797" y="1780553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42465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262659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25789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BPS Name 2"/>
          <p:cNvSpPr txBox="1"/>
          <p:nvPr/>
        </p:nvSpPr>
        <p:spPr>
          <a:xfrm>
            <a:off x="5233797" y="2181697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4360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75353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Isosceles Triangle 24"/>
          <p:cNvSpPr/>
          <p:nvPr/>
        </p:nvSpPr>
        <p:spPr>
          <a:xfrm>
            <a:off x="5090922" y="274877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BPS Name 3"/>
          <p:cNvSpPr txBox="1"/>
          <p:nvPr/>
        </p:nvSpPr>
        <p:spPr>
          <a:xfrm>
            <a:off x="5233797" y="2672573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734485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3365154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336039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BPS Name 4"/>
          <p:cNvSpPr txBox="1"/>
          <p:nvPr/>
        </p:nvSpPr>
        <p:spPr>
          <a:xfrm>
            <a:off x="5233797" y="3284191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3346104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414549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414073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BPS Name 5"/>
          <p:cNvSpPr txBox="1"/>
          <p:nvPr/>
        </p:nvSpPr>
        <p:spPr>
          <a:xfrm>
            <a:off x="5233797" y="4064537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412644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541892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Isosceles Triangle 36"/>
          <p:cNvSpPr/>
          <p:nvPr/>
        </p:nvSpPr>
        <p:spPr>
          <a:xfrm>
            <a:off x="5090922" y="541416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BPS Name 6"/>
          <p:cNvSpPr txBox="1"/>
          <p:nvPr/>
        </p:nvSpPr>
        <p:spPr>
          <a:xfrm>
            <a:off x="5233797" y="5337965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5399877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Product Type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829550" y="1400175"/>
            <a:ext cx="35046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gains the most share +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83370" y="1389951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458479" y="1400175"/>
            <a:ext cx="2984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1803273"/>
            <a:ext cx="362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cedes the most -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02321" y="1793049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77430" y="1803273"/>
            <a:ext cx="2984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978533"/>
            <a:ext cx="18961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206371"/>
            <a:ext cx="394994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fastest-growing product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381631"/>
            <a:ext cx="4929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 at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1659" y="237140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8446769" y="2381631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5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Product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Product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0D629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11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0D64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7E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69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Product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Product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0D619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0D59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A9C9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24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65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Ingredient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Ingredient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Ingredient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Ingredient Type segment categorizes the market by ingredient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Emerging Ingredients / Innovation…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Ingredient Type split shows how demand is distributed across ingredient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1_8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287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918_1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1_64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0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422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765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64891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'Regular / Established Ingredients' holds the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42845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'Regular / Established Ingredients'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6950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ingredient type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838575" y="4229437"/>
            <a:ext cx="20991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Regular / Established Ingredients: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885748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6053243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912694" y="421965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7080189" y="4229437"/>
            <a:ext cx="72365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3838575" y="4615009"/>
            <a:ext cx="19738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Niche / Specialized Ingredients: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760509" y="4605230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5928005" y="461500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87455" y="4605230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6954951" y="4615009"/>
            <a:ext cx="8857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782649"/>
            <a:ext cx="4191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838575" y="5000581"/>
            <a:ext cx="289584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● Emerging Ingredients / Innovation Candidates: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682474" y="4990801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849970" y="5000581"/>
            <a:ext cx="92640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of 2026 value ·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825107" y="5158441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3992603" y="5168221"/>
            <a:ext cx="12846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CAGR serves a niche.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5842641"/>
            <a:ext cx="309418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Ingredient Type segment is projected to grow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Ingredient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Ingredient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Ingredient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Ingredient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017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'Regular / Established Ingredients' gains the most share in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2873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236314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403810" y="5582698"/>
            <a:ext cx="286556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'Niche / Specialized Ingredients'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17423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384919" y="5582698"/>
            <a:ext cx="3239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43768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Bubbles right 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Ingredient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Regular / Established Ingredients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Niche / Specialized Ingredients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Emerging Ingredients / Innovation Candidates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Ingredient Type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1575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ingredient type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12216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587325" y="4286250"/>
            <a:ext cx="18544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4934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48145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923254" y="4689347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95725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670835" y="4689347"/>
            <a:ext cx="11547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3625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'Niche / Specialized Ingredients'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17213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792323" y="4917185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64794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539903" y="4917185"/>
            <a:ext cx="11547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325934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'Emerging Ingredients / Innovation Candidates'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1405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689161" y="5145023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261632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436741" y="5145023"/>
            <a:ext cx="11547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Ingredient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Ingredient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Ingredient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188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4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4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4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4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42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42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42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3542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3542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3542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3542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3542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3542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3542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3542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35424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01539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Ingredient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8747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40654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largest ingredient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0854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465964" y="3238500"/>
            <a:ext cx="10805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95697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670806" y="3238500"/>
            <a:ext cx="3534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00376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9139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404249" y="3466337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5129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'Regular / Established Ingredients'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83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913427" y="3694175"/>
            <a:ext cx="33081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'Niche / Specialized Ingredients'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0707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345817" y="3694175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5646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922013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922013"/>
            <a:ext cx="147052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Ingredient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Ingredient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Ingredient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032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6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64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64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6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6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905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99291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Ingredient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60910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40654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largest ingredient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0854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465964" y="3238500"/>
            <a:ext cx="95677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1896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547006" y="3238500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00376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9139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404249" y="3466337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5129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'Regular / Established Ingredients'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83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913427" y="3694175"/>
            <a:ext cx="33081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'Niche / Specialized Ingredients'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0707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345817" y="3694175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Ingredient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Ingredient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6" name="FMI Legend Chip"/>
          <p:cNvSpPr/>
          <p:nvPr/>
        </p:nvSpPr>
        <p:spPr>
          <a:xfrm>
            <a:off x="4928997" y="197839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Isosceles Triangle 16"/>
          <p:cNvSpPr/>
          <p:nvPr/>
        </p:nvSpPr>
        <p:spPr>
          <a:xfrm>
            <a:off x="5090922" y="197363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BPS Name 1"/>
          <p:cNvSpPr txBox="1"/>
          <p:nvPr/>
        </p:nvSpPr>
        <p:spPr>
          <a:xfrm>
            <a:off x="5233797" y="1897432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59345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945268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94050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BPS Name 2"/>
          <p:cNvSpPr txBox="1"/>
          <p:nvPr/>
        </p:nvSpPr>
        <p:spPr>
          <a:xfrm>
            <a:off x="5233797" y="2864306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926218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92432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Isosceles Triangle 24"/>
          <p:cNvSpPr/>
          <p:nvPr/>
        </p:nvSpPr>
        <p:spPr>
          <a:xfrm>
            <a:off x="5090922" y="491955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BPS Name 3"/>
          <p:cNvSpPr txBox="1"/>
          <p:nvPr/>
        </p:nvSpPr>
        <p:spPr>
          <a:xfrm>
            <a:off x="5233797" y="4843358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905270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Ingredient Type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55002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28726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1503835" y="1400175"/>
            <a:ext cx="2984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306566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'Niche / Specialized Ingredients'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44364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019474" y="1803273"/>
            <a:ext cx="8298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349297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fastest-growing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2381631"/>
            <a:ext cx="11379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type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16618" y="237140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091728" y="2381631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3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Ingredient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Ingredient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Ingredient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23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4C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E72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28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4C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Ingredient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Ingredient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Ingredient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10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F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Product Format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Format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8 sub-segments of Product Format,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Format segment categorizes the market by product format.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150144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073944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Liquid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6" name="Oval 25"/>
          <p:cNvSpPr/>
          <p:nvPr/>
        </p:nvSpPr>
        <p:spPr>
          <a:xfrm>
            <a:off x="2280047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131344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Rectangle 27"/>
          <p:cNvSpPr/>
          <p:nvPr/>
        </p:nvSpPr>
        <p:spPr>
          <a:xfrm>
            <a:off x="3131344" y="1992961"/>
            <a:ext cx="1150144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3169444" y="1773916"/>
            <a:ext cx="1073944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Spray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131344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3131344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Rectangle 31"/>
          <p:cNvSpPr/>
          <p:nvPr/>
        </p:nvSpPr>
        <p:spPr>
          <a:xfrm>
            <a:off x="3131344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3544491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395788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4395788" y="1992961"/>
            <a:ext cx="1150144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4433888" y="1773916"/>
            <a:ext cx="1073944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Cream &amp; Balm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95788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4395788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4395788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0" name="Oval 39"/>
          <p:cNvSpPr/>
          <p:nvPr/>
        </p:nvSpPr>
        <p:spPr>
          <a:xfrm>
            <a:off x="480893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5660231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5660231" y="1992961"/>
            <a:ext cx="1150144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5698331" y="1773916"/>
            <a:ext cx="1073944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Wipe &amp; Pad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5660231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5660231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5660231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7" name="Oval 46"/>
          <p:cNvSpPr/>
          <p:nvPr/>
        </p:nvSpPr>
        <p:spPr>
          <a:xfrm>
            <a:off x="6073378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6924675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6924675" y="1992961"/>
            <a:ext cx="1150144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6962775" y="1773916"/>
            <a:ext cx="1073944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Foam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924675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6924675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6924675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4" name="Oval 53"/>
          <p:cNvSpPr/>
          <p:nvPr/>
        </p:nvSpPr>
        <p:spPr>
          <a:xfrm>
            <a:off x="7337822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8189119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8189119" y="1992961"/>
            <a:ext cx="1150144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8227219" y="1773916"/>
            <a:ext cx="1073944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Gel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189119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189119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189119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1" name="Oval 60"/>
          <p:cNvSpPr/>
          <p:nvPr/>
        </p:nvSpPr>
        <p:spPr>
          <a:xfrm>
            <a:off x="8602266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9453562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9453562" y="1992961"/>
            <a:ext cx="1150144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9491662" y="1773916"/>
            <a:ext cx="1073944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Powder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453562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9453562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9453562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8" name="Oval 67"/>
          <p:cNvSpPr/>
          <p:nvPr/>
        </p:nvSpPr>
        <p:spPr>
          <a:xfrm>
            <a:off x="9866709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10718006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10718006" y="1992961"/>
            <a:ext cx="1150144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TextBox 70"/>
          <p:cNvSpPr txBox="1"/>
          <p:nvPr/>
        </p:nvSpPr>
        <p:spPr>
          <a:xfrm>
            <a:off x="10756106" y="1773916"/>
            <a:ext cx="1073944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Solid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0718006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10718006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10718006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75" name="Oval 74"/>
          <p:cNvSpPr/>
          <p:nvPr/>
        </p:nvSpPr>
        <p:spPr>
          <a:xfrm>
            <a:off x="11131153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TextBox 76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TextBox 78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80" name="Rounded Rectangle 79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TextBox 80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82" name="Rectangle 81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TextBox 82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84" name="Rounded Rectangle 83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TextBox 84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86" name="Rectangle 85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TextBox 86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Format split shows how demand is distributed across product format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88" name="Rectangle 87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TextBox 88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90" name="TextBox 89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2" name="Picture 91" descr="991_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4108" y="2286582"/>
            <a:ext cx="1195728" cy="361950"/>
          </a:xfrm>
          <a:prstGeom prst="rect">
            <a:avLst/>
          </a:prstGeom>
        </p:spPr>
      </p:pic>
      <p:pic>
        <p:nvPicPr>
          <p:cNvPr id="93" name="Picture 92" descr="1_77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844108" y="2779432"/>
            <a:ext cx="1195728" cy="361950"/>
          </a:xfrm>
          <a:prstGeom prst="rect">
            <a:avLst/>
          </a:prstGeom>
        </p:spPr>
      </p:pic>
      <p:pic>
        <p:nvPicPr>
          <p:cNvPr id="94" name="Picture 93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50754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671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8552" y="2286582"/>
            <a:ext cx="1195728" cy="361950"/>
          </a:xfrm>
          <a:prstGeom prst="rect">
            <a:avLst/>
          </a:prstGeom>
        </p:spPr>
      </p:pic>
      <p:pic>
        <p:nvPicPr>
          <p:cNvPr id="96" name="Picture 95" descr="1_21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8552" y="2779432"/>
            <a:ext cx="1195728" cy="361950"/>
          </a:xfrm>
          <a:prstGeom prst="rect">
            <a:avLst/>
          </a:prstGeom>
        </p:spPr>
      </p:pic>
      <p:pic>
        <p:nvPicPr>
          <p:cNvPr id="97" name="Picture 96" descr="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215198" y="3272281"/>
            <a:ext cx="982436" cy="361950"/>
          </a:xfrm>
          <a:prstGeom prst="rect">
            <a:avLst/>
          </a:prstGeom>
        </p:spPr>
      </p:pic>
      <p:pic>
        <p:nvPicPr>
          <p:cNvPr id="98" name="Picture 97" descr="397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372996" y="2286582"/>
            <a:ext cx="1195728" cy="361950"/>
          </a:xfrm>
          <a:prstGeom prst="rect">
            <a:avLst/>
          </a:prstGeom>
        </p:spPr>
      </p:pic>
      <p:pic>
        <p:nvPicPr>
          <p:cNvPr id="99" name="Picture 98" descr="731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372996" y="2779432"/>
            <a:ext cx="1195728" cy="361950"/>
          </a:xfrm>
          <a:prstGeom prst="rect">
            <a:avLst/>
          </a:prstGeom>
        </p:spPr>
      </p:pic>
      <p:pic>
        <p:nvPicPr>
          <p:cNvPr id="100" name="Picture 99" descr="6_3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479642" y="3272281"/>
            <a:ext cx="982436" cy="361950"/>
          </a:xfrm>
          <a:prstGeom prst="rect">
            <a:avLst/>
          </a:prstGeom>
        </p:spPr>
      </p:pic>
      <p:pic>
        <p:nvPicPr>
          <p:cNvPr id="101" name="Picture 100" descr="391_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37439" y="2286582"/>
            <a:ext cx="1195728" cy="361950"/>
          </a:xfrm>
          <a:prstGeom prst="rect">
            <a:avLst/>
          </a:prstGeom>
        </p:spPr>
      </p:pic>
      <p:pic>
        <p:nvPicPr>
          <p:cNvPr id="102" name="Picture 101" descr="714_4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5637439" y="2779432"/>
            <a:ext cx="1195728" cy="361950"/>
          </a:xfrm>
          <a:prstGeom prst="rect">
            <a:avLst/>
          </a:prstGeom>
        </p:spPr>
      </p:pic>
      <p:pic>
        <p:nvPicPr>
          <p:cNvPr id="103" name="Picture 102" descr="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744085" y="3272281"/>
            <a:ext cx="982436" cy="361950"/>
          </a:xfrm>
          <a:prstGeom prst="rect">
            <a:avLst/>
          </a:prstGeom>
        </p:spPr>
      </p:pic>
      <p:pic>
        <p:nvPicPr>
          <p:cNvPr id="104" name="Picture 103" descr="248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901883" y="2286582"/>
            <a:ext cx="1195728" cy="361950"/>
          </a:xfrm>
          <a:prstGeom prst="rect">
            <a:avLst/>
          </a:prstGeom>
        </p:spPr>
      </p:pic>
      <p:pic>
        <p:nvPicPr>
          <p:cNvPr id="105" name="Picture 104" descr="443_9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6901883" y="2779432"/>
            <a:ext cx="1195728" cy="361950"/>
          </a:xfrm>
          <a:prstGeom prst="rect">
            <a:avLst/>
          </a:prstGeom>
        </p:spPr>
      </p:pic>
      <p:pic>
        <p:nvPicPr>
          <p:cNvPr id="106" name="Picture 105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008529" y="3272281"/>
            <a:ext cx="982436" cy="361950"/>
          </a:xfrm>
          <a:prstGeom prst="rect">
            <a:avLst/>
          </a:prstGeom>
        </p:spPr>
      </p:pic>
      <p:pic>
        <p:nvPicPr>
          <p:cNvPr id="107" name="Picture 106" descr="199_3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166327" y="2286582"/>
            <a:ext cx="1195728" cy="361950"/>
          </a:xfrm>
          <a:prstGeom prst="rect">
            <a:avLst/>
          </a:prstGeom>
        </p:spPr>
      </p:pic>
      <p:pic>
        <p:nvPicPr>
          <p:cNvPr id="108" name="Picture 107" descr="354_9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166327" y="2779432"/>
            <a:ext cx="1195728" cy="361950"/>
          </a:xfrm>
          <a:prstGeom prst="rect">
            <a:avLst/>
          </a:prstGeom>
        </p:spPr>
      </p:pic>
      <p:pic>
        <p:nvPicPr>
          <p:cNvPr id="109" name="Picture 108" descr="5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8272973" y="3272281"/>
            <a:ext cx="982436" cy="361950"/>
          </a:xfrm>
          <a:prstGeom prst="rect">
            <a:avLst/>
          </a:prstGeom>
        </p:spPr>
      </p:pic>
      <p:pic>
        <p:nvPicPr>
          <p:cNvPr id="110" name="Picture 109" descr="128_5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430770" y="2286582"/>
            <a:ext cx="1195728" cy="361950"/>
          </a:xfrm>
          <a:prstGeom prst="rect">
            <a:avLst/>
          </a:prstGeom>
        </p:spPr>
      </p:pic>
      <p:pic>
        <p:nvPicPr>
          <p:cNvPr id="111" name="Picture 110" descr="228_7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430770" y="2779432"/>
            <a:ext cx="1195728" cy="361950"/>
          </a:xfrm>
          <a:prstGeom prst="rect">
            <a:avLst/>
          </a:prstGeom>
        </p:spPr>
      </p:pic>
      <p:pic>
        <p:nvPicPr>
          <p:cNvPr id="112" name="Picture 111" descr="5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537416" y="3272281"/>
            <a:ext cx="982436" cy="361950"/>
          </a:xfrm>
          <a:prstGeom prst="rect">
            <a:avLst/>
          </a:prstGeom>
        </p:spPr>
      </p:pic>
      <p:pic>
        <p:nvPicPr>
          <p:cNvPr id="113" name="Picture 112" descr="124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695214" y="2286582"/>
            <a:ext cx="1195728" cy="361950"/>
          </a:xfrm>
          <a:prstGeom prst="rect">
            <a:avLst/>
          </a:prstGeom>
        </p:spPr>
      </p:pic>
      <p:pic>
        <p:nvPicPr>
          <p:cNvPr id="114" name="Picture 113" descr="230_7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95214" y="2779432"/>
            <a:ext cx="1195728" cy="361950"/>
          </a:xfrm>
          <a:prstGeom prst="rect">
            <a:avLst/>
          </a:prstGeom>
        </p:spPr>
      </p:pic>
      <p:pic>
        <p:nvPicPr>
          <p:cNvPr id="115" name="Picture 114" descr="6_4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801860" y="3272281"/>
            <a:ext cx="982436" cy="361950"/>
          </a:xfrm>
          <a:prstGeom prst="rect">
            <a:avLst/>
          </a:prstGeom>
        </p:spPr>
      </p:pic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348626" y="2827057"/>
            <a:ext cx="183356" cy="266700"/>
          </a:xfrm>
          <a:prstGeom prst="rect">
            <a:avLst/>
          </a:prstGeom>
        </p:spPr>
      </p:pic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613071" y="2827057"/>
            <a:ext cx="183356" cy="266700"/>
          </a:xfrm>
          <a:prstGeom prst="rect">
            <a:avLst/>
          </a:prstGeom>
        </p:spPr>
      </p:pic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877515" y="2827057"/>
            <a:ext cx="183356" cy="266700"/>
          </a:xfrm>
          <a:prstGeom prst="rect">
            <a:avLst/>
          </a:prstGeom>
        </p:spPr>
      </p:pic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6141958" y="2827057"/>
            <a:ext cx="183356" cy="266700"/>
          </a:xfrm>
          <a:prstGeom prst="rect">
            <a:avLst/>
          </a:prstGeom>
        </p:spPr>
      </p:pic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7406402" y="2827057"/>
            <a:ext cx="183356" cy="266700"/>
          </a:xfrm>
          <a:prstGeom prst="rect">
            <a:avLst/>
          </a:prstGeom>
        </p:spPr>
      </p:pic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8670846" y="2827057"/>
            <a:ext cx="183356" cy="266700"/>
          </a:xfrm>
          <a:prstGeom prst="rect">
            <a:avLst/>
          </a:prstGeom>
        </p:spPr>
      </p:pic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935289" y="2827057"/>
            <a:ext cx="183356" cy="266700"/>
          </a:xfrm>
          <a:prstGeom prst="rect">
            <a:avLst/>
          </a:prstGeom>
        </p:spPr>
      </p:pic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199733" y="2827057"/>
            <a:ext cx="183356" cy="266700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485775" y="4229437"/>
            <a:ext cx="233650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'Liquid' holds the largest share in 2026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770328" y="4219658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937824" y="4229437"/>
            <a:ext cx="19243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485775" y="4615009"/>
            <a:ext cx="266310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'Solid' is the fastest-growing sub-segment at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096932" y="4605230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85775" y="4782649"/>
            <a:ext cx="123307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485775" y="5386153"/>
            <a:ext cx="269584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8 sub-segments make up the product format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838575" y="4229437"/>
            <a:ext cx="5727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Liquid: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59416" y="4219658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4526912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86362" y="4219658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5553858" y="4229437"/>
            <a:ext cx="15034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838575" y="4447369"/>
            <a:ext cx="5460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Spray: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32676" y="4437590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4500172" y="444736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59623" y="4437590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5527118" y="4447369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838575" y="4665301"/>
            <a:ext cx="104618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Cream &amp; Balm: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832813" y="4655522"/>
            <a:ext cx="128699" cy="187198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5000309" y="4665301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859759" y="4655522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6027255" y="4665301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838575" y="4883233"/>
            <a:ext cx="9002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Wipe &amp; Pad: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686838" y="4873454"/>
            <a:ext cx="128699" cy="187198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4854334" y="4883233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713784" y="4873454"/>
            <a:ext cx="128699" cy="187198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5881280" y="4883233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838575" y="5101165"/>
            <a:ext cx="54574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Foam:</a:t>
            </a:r>
          </a:p>
        </p:txBody>
      </p:sp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32374" y="5091385"/>
            <a:ext cx="128699" cy="187198"/>
          </a:xfrm>
          <a:prstGeom prst="rect">
            <a:avLst/>
          </a:prstGeom>
        </p:spPr>
      </p:pic>
      <p:sp>
        <p:nvSpPr>
          <p:cNvPr id="161" name="TextBox 160"/>
          <p:cNvSpPr txBox="1"/>
          <p:nvPr/>
        </p:nvSpPr>
        <p:spPr>
          <a:xfrm>
            <a:off x="4499870" y="5101165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59320" y="5091385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5526816" y="5101165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3838575" y="5319097"/>
            <a:ext cx="41944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Gel: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206073" y="5309317"/>
            <a:ext cx="128699" cy="187198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4373569" y="531909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33019" y="5309317"/>
            <a:ext cx="128699" cy="187198"/>
          </a:xfrm>
          <a:prstGeom prst="rect">
            <a:avLst/>
          </a:prstGeom>
        </p:spPr>
      </p:pic>
      <p:sp>
        <p:nvSpPr>
          <p:cNvPr id="168" name="TextBox 167"/>
          <p:cNvSpPr txBox="1"/>
          <p:nvPr/>
        </p:nvSpPr>
        <p:spPr>
          <a:xfrm>
            <a:off x="5400515" y="5319097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3838575" y="5537029"/>
            <a:ext cx="66719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Powder:</a:t>
            </a:r>
          </a:p>
        </p:txBody>
      </p:sp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453823" y="5527249"/>
            <a:ext cx="128699" cy="187198"/>
          </a:xfrm>
          <a:prstGeom prst="rect">
            <a:avLst/>
          </a:prstGeom>
        </p:spPr>
      </p:pic>
      <p:sp>
        <p:nvSpPr>
          <p:cNvPr id="171" name="TextBox 170"/>
          <p:cNvSpPr txBox="1"/>
          <p:nvPr/>
        </p:nvSpPr>
        <p:spPr>
          <a:xfrm>
            <a:off x="4621318" y="553702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480769" y="5527249"/>
            <a:ext cx="128699" cy="187198"/>
          </a:xfrm>
          <a:prstGeom prst="rect">
            <a:avLst/>
          </a:prstGeom>
        </p:spPr>
      </p:pic>
      <p:sp>
        <p:nvSpPr>
          <p:cNvPr id="173" name="TextBox 172"/>
          <p:cNvSpPr txBox="1"/>
          <p:nvPr/>
        </p:nvSpPr>
        <p:spPr>
          <a:xfrm>
            <a:off x="5648264" y="5537029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38575" y="5754961"/>
            <a:ext cx="5051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Solid:</a:t>
            </a:r>
          </a:p>
        </p:txBody>
      </p:sp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291749" y="5745181"/>
            <a:ext cx="128699" cy="187198"/>
          </a:xfrm>
          <a:prstGeom prst="rect">
            <a:avLst/>
          </a:prstGeom>
        </p:spPr>
      </p:pic>
      <p:sp>
        <p:nvSpPr>
          <p:cNvPr id="176" name="TextBox 175"/>
          <p:cNvSpPr txBox="1"/>
          <p:nvPr/>
        </p:nvSpPr>
        <p:spPr>
          <a:xfrm>
            <a:off x="4459245" y="5754961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18695" y="5745181"/>
            <a:ext cx="128699" cy="187198"/>
          </a:xfrm>
          <a:prstGeom prst="rect">
            <a:avLst/>
          </a:prstGeom>
        </p:spPr>
      </p:pic>
      <p:sp>
        <p:nvSpPr>
          <p:cNvPr id="178" name="TextBox 177"/>
          <p:cNvSpPr txBox="1"/>
          <p:nvPr/>
        </p:nvSpPr>
        <p:spPr>
          <a:xfrm>
            <a:off x="5486191" y="5754961"/>
            <a:ext cx="12186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8524875" y="5842641"/>
            <a:ext cx="308702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Format segment is projected to grow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82" name="TextBox 181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Product Format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Format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Format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Format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481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'Cream &amp; Balm' gains the most share in the Europe market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880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36995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7304491" y="5582698"/>
            <a:ext cx="146446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'Liquid'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17011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884507" y="5582698"/>
            <a:ext cx="27411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19596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Liquid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Spray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Cream &amp; Balm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Gel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Foam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Wipe &amp; Pad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Powder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Solid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lockshield_15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lockshield_18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21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Product Format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Product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328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3260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Product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75742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247062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is the largest product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6000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71109" y="4467225"/>
            <a:ext cx="10805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00842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075951" y="4467225"/>
            <a:ext cx="3534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133730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2686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37795" y="4695063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4121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'Cream &amp; Balm'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7523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12632" y="4922900"/>
            <a:ext cx="18433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5134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80243" y="4922900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5646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150738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150738"/>
            <a:ext cx="147052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8 categories.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Product Format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Product Format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Product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247062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is the largest product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6000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71109" y="4467225"/>
            <a:ext cx="95677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77042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52151" y="4467225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133730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2686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37795" y="4695063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4121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'Cream &amp; Balm'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7523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12632" y="4922900"/>
            <a:ext cx="18433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5134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80243" y="4922900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4408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150738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150738"/>
            <a:ext cx="17440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8 categories.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Format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Product Format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6" name="FMI Legend Chip"/>
          <p:cNvSpPr/>
          <p:nvPr/>
        </p:nvSpPr>
        <p:spPr>
          <a:xfrm>
            <a:off x="4928997" y="1763062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5829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BPS Name 1"/>
          <p:cNvSpPr txBox="1"/>
          <p:nvPr/>
        </p:nvSpPr>
        <p:spPr>
          <a:xfrm>
            <a:off x="5233797" y="1682099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44012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194747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Isosceles Triangle 20"/>
          <p:cNvSpPr/>
          <p:nvPr/>
        </p:nvSpPr>
        <p:spPr>
          <a:xfrm>
            <a:off x="5090922" y="194271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BPS Name 2"/>
          <p:cNvSpPr txBox="1"/>
          <p:nvPr/>
        </p:nvSpPr>
        <p:spPr>
          <a:xfrm>
            <a:off x="5233797" y="1866512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1928425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182528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17776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BPS Name 3"/>
          <p:cNvSpPr txBox="1"/>
          <p:nvPr/>
        </p:nvSpPr>
        <p:spPr>
          <a:xfrm>
            <a:off x="5233797" y="2101565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163478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2503151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249838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BPS Name 4"/>
          <p:cNvSpPr txBox="1"/>
          <p:nvPr/>
        </p:nvSpPr>
        <p:spPr>
          <a:xfrm>
            <a:off x="5233797" y="2422189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2484101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296806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Isosceles Triangle 32"/>
          <p:cNvSpPr/>
          <p:nvPr/>
        </p:nvSpPr>
        <p:spPr>
          <a:xfrm>
            <a:off x="5090922" y="296330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BPS Name 5"/>
          <p:cNvSpPr txBox="1"/>
          <p:nvPr/>
        </p:nvSpPr>
        <p:spPr>
          <a:xfrm>
            <a:off x="5233797" y="2887107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294901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354829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Isosceles Triangle 36"/>
          <p:cNvSpPr/>
          <p:nvPr/>
        </p:nvSpPr>
        <p:spPr>
          <a:xfrm>
            <a:off x="5090922" y="354353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BPS Name 6"/>
          <p:cNvSpPr txBox="1"/>
          <p:nvPr/>
        </p:nvSpPr>
        <p:spPr>
          <a:xfrm>
            <a:off x="5233797" y="3467333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3529245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433043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Isosceles Triangle 40"/>
          <p:cNvSpPr/>
          <p:nvPr/>
        </p:nvSpPr>
        <p:spPr>
          <a:xfrm>
            <a:off x="5090922" y="432567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BPS Name 7"/>
          <p:cNvSpPr txBox="1"/>
          <p:nvPr/>
        </p:nvSpPr>
        <p:spPr>
          <a:xfrm>
            <a:off x="5233797" y="4249477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431138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928997" y="553136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Isosceles Triangle 44"/>
          <p:cNvSpPr/>
          <p:nvPr/>
        </p:nvSpPr>
        <p:spPr>
          <a:xfrm rot="10800000">
            <a:off x="5090922" y="552660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BPS Name 8"/>
          <p:cNvSpPr txBox="1"/>
          <p:nvPr/>
        </p:nvSpPr>
        <p:spPr>
          <a:xfrm>
            <a:off x="5233797" y="5450405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896100" y="5512317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Product Format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829550" y="1400175"/>
            <a:ext cx="24492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'Cream &amp; Balm' gains the most share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27931" y="13899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403040" y="1400175"/>
            <a:ext cx="144285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1803273"/>
            <a:ext cx="16008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cedes the most -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79586" y="1793049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554695" y="1803273"/>
            <a:ext cx="215142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829550" y="2031111"/>
            <a:ext cx="292217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is the fastest-growing product format at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700882" y="2020887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0875991" y="2031111"/>
            <a:ext cx="4099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829550" y="2206371"/>
            <a:ext cx="8674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829550" y="2434209"/>
            <a:ext cx="154896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423985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9502779" y="2434209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423985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829324" y="2434209"/>
            <a:ext cx="1689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829550" y="2662047"/>
            <a:ext cx="39325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829550" y="2837307"/>
            <a:ext cx="11772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7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Product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Product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41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0C43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Product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Product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52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D4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15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0D5E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C7DA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0E6FA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E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Primary Product Function / Benefit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Primary Product Function / Benefit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7 sub-segments of Primary Product Function / Benefit,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Primary Product Function / Benefit segment categorizes the market by primary product function / benefit.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6" name="Oval 25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Rectangle 27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Rectangle 31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0" name="Oval 39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7" name="Oval 46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4" name="Oval 53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1" name="Oval 60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68" name="Oval 67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TextBox 69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TextBox 71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73" name="Rounded Rectangle 72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TextBox 73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TextBox 75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77" name="Rounded Rectangle 76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TextBox 77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9" name="Rectangle 78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Primary Product Function / Benefit split shows how demand is distributed across primary product function / benefit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81" name="Rectangle 80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TextBox 81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83" name="TextBox 82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5" name="Picture 84" descr="880_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86" name="Picture 85" descr="1_59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87" name="Picture 86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88" name="Picture 87" descr="542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9504" y="2286582"/>
            <a:ext cx="1195728" cy="361950"/>
          </a:xfrm>
          <a:prstGeom prst="rect">
            <a:avLst/>
          </a:prstGeom>
        </p:spPr>
      </p:pic>
      <p:pic>
        <p:nvPicPr>
          <p:cNvPr id="89" name="Picture 88" descr="986_9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90" name="Picture 89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91" name="Picture 90" descr="440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4582" y="2286582"/>
            <a:ext cx="1195728" cy="361950"/>
          </a:xfrm>
          <a:prstGeom prst="rect">
            <a:avLst/>
          </a:prstGeom>
        </p:spPr>
      </p:pic>
      <p:pic>
        <p:nvPicPr>
          <p:cNvPr id="92" name="Picture 91" descr="789_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93" name="Picture 92" descr="6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94" name="Picture 93" descr="410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95" name="Picture 94" descr="747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96" name="Picture 95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97" name="Picture 96" descr="351_4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714739" y="2286582"/>
            <a:ext cx="1195728" cy="361950"/>
          </a:xfrm>
          <a:prstGeom prst="rect">
            <a:avLst/>
          </a:prstGeom>
        </p:spPr>
      </p:pic>
      <p:pic>
        <p:nvPicPr>
          <p:cNvPr id="98" name="Picture 97" descr="615_7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99" name="Picture 98" descr="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100" name="Picture 99" descr="299_6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9818" y="2286582"/>
            <a:ext cx="1195728" cy="361950"/>
          </a:xfrm>
          <a:prstGeom prst="rect">
            <a:avLst/>
          </a:prstGeom>
        </p:spPr>
      </p:pic>
      <p:pic>
        <p:nvPicPr>
          <p:cNvPr id="101" name="Picture 100" descr="545_0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159818" y="2779432"/>
            <a:ext cx="1195728" cy="361950"/>
          </a:xfrm>
          <a:prstGeom prst="rect">
            <a:avLst/>
          </a:prstGeom>
        </p:spPr>
      </p:pic>
      <p:pic>
        <p:nvPicPr>
          <p:cNvPr id="102" name="Picture 101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103" name="Picture 102" descr="227_5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604896" y="2286582"/>
            <a:ext cx="1195728" cy="361950"/>
          </a:xfrm>
          <a:prstGeom prst="rect">
            <a:avLst/>
          </a:prstGeom>
        </p:spPr>
      </p:pic>
      <p:pic>
        <p:nvPicPr>
          <p:cNvPr id="104" name="Picture 103" descr="415_2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04896" y="2779432"/>
            <a:ext cx="1195728" cy="361950"/>
          </a:xfrm>
          <a:prstGeom prst="rect">
            <a:avLst/>
          </a:prstGeom>
        </p:spPr>
      </p:pic>
      <p:pic>
        <p:nvPicPr>
          <p:cNvPr id="105" name="Picture 104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485775" y="4229437"/>
            <a:ext cx="283773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'Cleansing &amp; General Hygiene' holds the largest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615009"/>
            <a:ext cx="281963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'Ear &amp; Eye-Area Hygiene' is the fastest-growing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86153"/>
            <a:ext cx="27504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7 sub-segments make up the primary product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485775" y="5553793"/>
            <a:ext cx="171221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function / benefit landscape.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3838575" y="4229437"/>
            <a:ext cx="1727934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Cleansing &amp; General Hygiene: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12620" y="4220440"/>
            <a:ext cx="118403" cy="172222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5666716" y="4229437"/>
            <a:ext cx="844582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457411" y="4220440"/>
            <a:ext cx="118403" cy="172222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6611507" y="4229437"/>
            <a:ext cx="875693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3838575" y="4383665"/>
            <a:ext cx="560675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3838575" y="4584163"/>
            <a:ext cx="1798220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Coat Conditioning &amp; Softening: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82907" y="4575166"/>
            <a:ext cx="118403" cy="172222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5737003" y="4584163"/>
            <a:ext cx="844582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527697" y="4575166"/>
            <a:ext cx="118403" cy="172222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6681793" y="4584163"/>
            <a:ext cx="116562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838575" y="4784660"/>
            <a:ext cx="1886078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Moisturizing &amp; Skin Barrier Care: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670765" y="4775664"/>
            <a:ext cx="118403" cy="172222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5824861" y="4784660"/>
            <a:ext cx="844582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615555" y="4775664"/>
            <a:ext cx="118403" cy="172222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6769651" y="4784660"/>
            <a:ext cx="820970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3838575" y="4938889"/>
            <a:ext cx="39173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838575" y="5139386"/>
            <a:ext cx="1503770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Skin Soothing &amp; Comfort: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88456" y="5130390"/>
            <a:ext cx="118403" cy="172222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5442552" y="5139386"/>
            <a:ext cx="844582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233247" y="5130390"/>
            <a:ext cx="118403" cy="172222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6387343" y="5139386"/>
            <a:ext cx="116562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838575" y="5339884"/>
            <a:ext cx="1382274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Dental &amp; Oral Hygiene: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166961" y="5330887"/>
            <a:ext cx="118403" cy="172222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5321057" y="5339884"/>
            <a:ext cx="844582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11751" y="5330887"/>
            <a:ext cx="118403" cy="172222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6265847" y="5339884"/>
            <a:ext cx="116562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3838575" y="5540381"/>
            <a:ext cx="1893609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Body &amp; Coat Odor Management: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678296" y="5531385"/>
            <a:ext cx="118403" cy="172222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5832392" y="5540381"/>
            <a:ext cx="844582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623086" y="5531385"/>
            <a:ext cx="118403" cy="172222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6777182" y="5540381"/>
            <a:ext cx="820970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3838575" y="5694610"/>
            <a:ext cx="39173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3838575" y="5895108"/>
            <a:ext cx="1454491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Ear &amp; Eye-Area Hygiene:</a:t>
            </a:r>
          </a:p>
        </p:txBody>
      </p:sp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39177" y="5886111"/>
            <a:ext cx="118403" cy="172222"/>
          </a:xfrm>
          <a:prstGeom prst="rect">
            <a:avLst/>
          </a:prstGeom>
        </p:spPr>
      </p:pic>
      <p:sp>
        <p:nvSpPr>
          <p:cNvPr id="164" name="TextBox 163"/>
          <p:cNvSpPr txBox="1"/>
          <p:nvPr/>
        </p:nvSpPr>
        <p:spPr>
          <a:xfrm>
            <a:off x="5393273" y="5895108"/>
            <a:ext cx="844582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83968" y="5886111"/>
            <a:ext cx="118403" cy="172222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6338064" y="5895108"/>
            <a:ext cx="1127219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524875" y="5856661"/>
            <a:ext cx="2891325" cy="1802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The Primary Product Function / Benefit segment is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8524875" y="6017901"/>
            <a:ext cx="1806400" cy="1802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projected to grow at a CAGR of</a:t>
            </a:r>
          </a:p>
        </p:txBody>
      </p:sp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278400" y="6008495"/>
            <a:ext cx="123784" cy="180050"/>
          </a:xfrm>
          <a:prstGeom prst="rect">
            <a:avLst/>
          </a:prstGeom>
        </p:spPr>
      </p:pic>
      <p:sp>
        <p:nvSpPr>
          <p:cNvPr id="170" name="TextBox 169"/>
          <p:cNvSpPr txBox="1"/>
          <p:nvPr/>
        </p:nvSpPr>
        <p:spPr>
          <a:xfrm>
            <a:off x="10439501" y="6017901"/>
            <a:ext cx="1140105" cy="1802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Primary Product Function / Benefit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Primary Product Function / Benefit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Product Function / Benefit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Primary Product Function / Benefit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721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'Coat Conditioning &amp; Softening' gains the most share in the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06583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147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182255" y="5582698"/>
            <a:ext cx="238752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'Dental &amp; Oral Hygiene'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17832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0685328" y="5582698"/>
            <a:ext cx="11070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359378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Primary Product Function / Benefit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Product Function / Benefit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Cleansing &amp; General Hygiene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Moisturizing &amp; Skin Barrier Care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Skin Soothing &amp; Comfort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Coat Conditioning &amp; Softening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Primary Product Function / Benefit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Product Function / Benefit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Dental &amp; Oral Hygiene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Body &amp; Coat Odor Management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Ear &amp; Eye-Area Hygiene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Primary Product Function / Benefit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6305550" y="4286250"/>
            <a:ext cx="42936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7 sub-segments, by primary product function / benefit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548382" y="4276026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0723492" y="4286250"/>
            <a:ext cx="93681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4461510"/>
            <a:ext cx="247176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market between 2026 and 2036.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689347"/>
            <a:ext cx="22555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adds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10243" y="4679124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685353" y="4689347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57823" y="4679124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9432933" y="4689347"/>
            <a:ext cx="11547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05550" y="4917185"/>
            <a:ext cx="23354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adds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90114" y="4906962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765224" y="4917185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37695" y="4906962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512804" y="4917185"/>
            <a:ext cx="11547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05550" y="5145023"/>
            <a:ext cx="243524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'Moisturizing &amp; Skin Barrier Care' adds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89953" y="5134800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865063" y="5145023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37533" y="5134800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612643" y="5145023"/>
            <a:ext cx="11547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5372861"/>
            <a:ext cx="253100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adds the least: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85709" y="5362638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960819" y="5372861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33290" y="5362638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08399" y="5372861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1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Primary Product Function / Benefit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Primary Product Function / Benefit,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Primary Product Function / Benefit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823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0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830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830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830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830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830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830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830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830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830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830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830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830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830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830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8304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476109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43891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Primary Product Function / Benefit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50462" y="239591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49637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is the largest primary product function / benefit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9119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364228" y="4410075"/>
            <a:ext cx="10805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93961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569070" y="4410075"/>
            <a:ext cx="3534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37913"/>
            <a:ext cx="245512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0507" y="46276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855616" y="4637913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65750"/>
            <a:ext cx="33549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'Coat Conditioning &amp; Softening'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80287" y="48555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755396" y="4865750"/>
            <a:ext cx="28083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'Dental &amp; Oral Hygiene'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2912" y="48555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688021" y="4865750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093588"/>
            <a:ext cx="15646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0833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093588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0833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093588"/>
            <a:ext cx="147052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7 categories.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Primary Product Function / Benefit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Primary Product Function / Benefit,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Primary Product Function / Benefit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Primary Product Function / Benefit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220427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49637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is the largest primary product function / benefit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9119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364228" y="4219575"/>
            <a:ext cx="95677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0161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445270" y="4219575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245512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0507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855616" y="4447413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33549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'Coat Conditioning &amp; Softening'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80287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755396" y="4675250"/>
            <a:ext cx="28083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'Dental &amp; Oral Hygiene'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2912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688021" y="4675250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4408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903088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903088"/>
            <a:ext cx="17440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7 categories.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Primary Product Function / Benefit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Primary Product Function / Benefit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6" name="FMI Legend Chip"/>
          <p:cNvSpPr/>
          <p:nvPr/>
        </p:nvSpPr>
        <p:spPr>
          <a:xfrm>
            <a:off x="4928997" y="1837929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Isosceles Triangle 16"/>
          <p:cNvSpPr/>
          <p:nvPr/>
        </p:nvSpPr>
        <p:spPr>
          <a:xfrm>
            <a:off x="5090922" y="183316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BPS Name 1"/>
          <p:cNvSpPr txBox="1"/>
          <p:nvPr/>
        </p:nvSpPr>
        <p:spPr>
          <a:xfrm>
            <a:off x="5233797" y="1756967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1887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223348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Isosceles Triangle 20"/>
          <p:cNvSpPr/>
          <p:nvPr/>
        </p:nvSpPr>
        <p:spPr>
          <a:xfrm>
            <a:off x="5090922" y="221858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BPS Name 2"/>
          <p:cNvSpPr txBox="1"/>
          <p:nvPr/>
        </p:nvSpPr>
        <p:spPr>
          <a:xfrm>
            <a:off x="5233797" y="2142385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04298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689224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68446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BPS Name 3"/>
          <p:cNvSpPr txBox="1"/>
          <p:nvPr/>
        </p:nvSpPr>
        <p:spPr>
          <a:xfrm>
            <a:off x="5233797" y="2608262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670174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323629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Isosceles Triangle 28"/>
          <p:cNvSpPr/>
          <p:nvPr/>
        </p:nvSpPr>
        <p:spPr>
          <a:xfrm>
            <a:off x="5090922" y="323153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BPS Name 4"/>
          <p:cNvSpPr txBox="1"/>
          <p:nvPr/>
        </p:nvSpPr>
        <p:spPr>
          <a:xfrm>
            <a:off x="5233797" y="3155336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321724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85330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384854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BPS Name 5"/>
          <p:cNvSpPr txBox="1"/>
          <p:nvPr/>
        </p:nvSpPr>
        <p:spPr>
          <a:xfrm>
            <a:off x="5233797" y="3772346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83425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456651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Isosceles Triangle 36"/>
          <p:cNvSpPr/>
          <p:nvPr/>
        </p:nvSpPr>
        <p:spPr>
          <a:xfrm>
            <a:off x="5090922" y="456175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BPS Name 6"/>
          <p:cNvSpPr txBox="1"/>
          <p:nvPr/>
        </p:nvSpPr>
        <p:spPr>
          <a:xfrm>
            <a:off x="5233797" y="4485554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4547466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5603148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Isosceles Triangle 40"/>
          <p:cNvSpPr/>
          <p:nvPr/>
        </p:nvSpPr>
        <p:spPr>
          <a:xfrm>
            <a:off x="5090922" y="559838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BPS Name 7"/>
          <p:cNvSpPr txBox="1"/>
          <p:nvPr/>
        </p:nvSpPr>
        <p:spPr>
          <a:xfrm>
            <a:off x="5233797" y="5522185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5584098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Primary Product Function / Benefit</a:t>
            </a:r>
          </a:p>
        </p:txBody>
      </p:sp>
      <p:sp>
        <p:nvSpPr>
          <p:cNvPr id="46" name="Rectangle 4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7829550" y="1400175"/>
            <a:ext cx="33919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the most share +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70695" y="1389951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345804" y="1400175"/>
            <a:ext cx="2984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1803273"/>
            <a:ext cx="25658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'Dental &amp; Oral Hygiene' cedes the most -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44600" y="1793049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519709" y="1803273"/>
            <a:ext cx="117927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206371"/>
            <a:ext cx="394500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is the fastest-growing primary product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829550" y="2381631"/>
            <a:ext cx="12734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function / benefit at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52114" y="2371407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227223" y="2381631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9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Primary Product Function / Benefit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Primary Product Function / Benefit,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Primary Product Function / Benefit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F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A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0C43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0E6FA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Primary Product Function / Benefit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Primary Product Function / Benefit,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Primary Product Function / Benefit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11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4C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0D57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Pet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Pet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Pet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Pet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Pet Type segment categorizes the market by pet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Dogs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Pet Type split shows how demand is distributed across pet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2_21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3_983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937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1_71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2732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'Dogs' holds the largest share in 2026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707027" y="421965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2874523" y="4229437"/>
            <a:ext cx="19243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615009"/>
            <a:ext cx="26303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'Cats' is the fastest-growing sub-segment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064190" y="4605230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85775" y="4782649"/>
            <a:ext cx="123307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86153"/>
            <a:ext cx="2914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pet type landscape.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838575" y="4229437"/>
            <a:ext cx="5094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Dogs: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96114" y="4219658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4463610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323060" y="421965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490556" y="4229437"/>
            <a:ext cx="15034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838575" y="4447369"/>
            <a:ext cx="47238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Cats: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59007" y="4437590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4426502" y="444736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285953" y="4437590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5453448" y="4447369"/>
            <a:ext cx="12186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8524875" y="5842641"/>
            <a:ext cx="29281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Pet Type segment is projected to grow at a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Pet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Pet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Pet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Pet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41781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'Cats' gains the most share in the Europe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366740" y="5405279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11534236" y="5415058"/>
            <a:ext cx="33104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000875" y="5582698"/>
            <a:ext cx="111467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while 'Dogs'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63599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231095" y="5582698"/>
            <a:ext cx="36158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108493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Pet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Dogs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Cats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5305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3384" y="3583939"/>
            <a:ext cx="402511" cy="58547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lockshield_16"/>
          <p:cNvSpPr/>
          <p:nvPr/>
        </p:nvSpPr>
        <p:spPr>
          <a:xfrm>
            <a:off x="6267450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Pet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Pet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Pet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074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5763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Pet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63028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9902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is the largest pet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15632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390741" y="2990850"/>
            <a:ext cx="10805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20474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595584" y="2990850"/>
            <a:ext cx="3534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3030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8455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03565" y="3218687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8122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7634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12743" y="3446525"/>
            <a:ext cx="177716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'Dogs'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39066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175" y="3446525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5646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674363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674363"/>
            <a:ext cx="147052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Pet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Pet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Pet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Pet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9902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is the largest pet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15632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390741" y="2990850"/>
            <a:ext cx="95677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6674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471783" y="2990850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3030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8455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03565" y="3218687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8122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7634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12743" y="3446525"/>
            <a:ext cx="177716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'Dogs'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39066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175" y="3446525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4408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674363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674363"/>
            <a:ext cx="17440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Pet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Pet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6" name="FMI Legend Chip"/>
          <p:cNvSpPr/>
          <p:nvPr/>
        </p:nvSpPr>
        <p:spPr>
          <a:xfrm>
            <a:off x="4928997" y="2218952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Isosceles Triangle 16"/>
          <p:cNvSpPr/>
          <p:nvPr/>
        </p:nvSpPr>
        <p:spPr>
          <a:xfrm>
            <a:off x="5090922" y="221418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BPS Name 1"/>
          <p:cNvSpPr txBox="1"/>
          <p:nvPr/>
        </p:nvSpPr>
        <p:spPr>
          <a:xfrm>
            <a:off x="5233797" y="2137989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199902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587438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458267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BPS Name 2"/>
          <p:cNvSpPr txBox="1"/>
          <p:nvPr/>
        </p:nvSpPr>
        <p:spPr>
          <a:xfrm>
            <a:off x="5233797" y="4506476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568388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Pet Type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184933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28042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803151" y="1400175"/>
            <a:ext cx="17726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13974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15347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13407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488516" y="1803273"/>
            <a:ext cx="215142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2031111"/>
            <a:ext cx="247375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is the fastest-growing pet type at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52463" y="2020887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10427572" y="2031111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829550" y="2258949"/>
            <a:ext cx="154896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248725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02779" y="2258949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248725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829324" y="2258949"/>
            <a:ext cx="1689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486787"/>
            <a:ext cx="39325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62047"/>
            <a:ext cx="11772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Pet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Pet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Pet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Pet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Pet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Pet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Pack Size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Pack Size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Pack Size,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Pack Size segment categorizes the market by pack size.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Solid, Powder &amp; Weight-Labeled Pr…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Pack Size split shows how demand is distributed across pack size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2_038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65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712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1_30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401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737_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85928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'Liquid, Gel &amp; Cream Products' holds the largest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'Solid, Powder &amp; Weight-Labeled Products'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914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pack size landscape.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8931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Liquid, Gel &amp; Cream Products: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679745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847240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06691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874187" y="4229437"/>
            <a:ext cx="9452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615009"/>
            <a:ext cx="23643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Wipes &amp; Other Count-Based Products: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150959" y="4605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6318455" y="461500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177905" y="460523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7345401" y="4615009"/>
            <a:ext cx="3954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782649"/>
            <a:ext cx="9094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5000581"/>
            <a:ext cx="26006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Solid, Powder &amp; Weight-Labeled Products: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87249" y="4990801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6554745" y="5000581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414195" y="4990801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3838575" y="5168221"/>
            <a:ext cx="12186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42641"/>
            <a:ext cx="295013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Pack Size segment is projected to grow at a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Pack Size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Pack Size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Size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Pack Size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2968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'Wipes &amp; Other Count-Based Products' gains the most share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42463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735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541054" y="5582698"/>
            <a:ext cx="27847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'Liquid, Gel &amp; Cream Products'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73903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41399" y="5582698"/>
            <a:ext cx="3239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43768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Bubbles right 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Pack Size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Liquid, Gel &amp; Cream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Solid, Powder &amp; Weight-Labeled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Wipes &amp; Other Count-Based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Pack Size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27769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pack size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31687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206797" y="4286250"/>
            <a:ext cx="24127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 between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99585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27807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32778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707888" y="4689347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80359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455468" y="4689347"/>
            <a:ext cx="11547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7707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25412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9200521" y="4917185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772992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948101" y="4917185"/>
            <a:ext cx="11547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301773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244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447551" y="5145023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020022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195131" y="5145023"/>
            <a:ext cx="11547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Pack Size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Pack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860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Pack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2343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34695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is the largest pack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4959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0068" y="3238500"/>
            <a:ext cx="10805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99801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074910" y="3238500"/>
            <a:ext cx="3534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2810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6406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1515" y="3466337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79020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'Wipes &amp; Other Count-Based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5584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0694" y="3694175"/>
            <a:ext cx="32236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'Liquid, Gel &amp; Cream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63539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538648" y="3694175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5646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922013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922013"/>
            <a:ext cx="147052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Pack Size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Pack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Pack Size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963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0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006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00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006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04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1340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Pack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57488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34695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is the largest pack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4959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0068" y="3238500"/>
            <a:ext cx="95677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76001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951110" y="3238500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52805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53436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928545" y="3466337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79020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'Wipes &amp; Other Count-Based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5584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0694" y="3694175"/>
            <a:ext cx="32236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'Liquid, Gel &amp; Cream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63539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538648" y="3694175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Pack Size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Pack Size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6" name="FMI Legend Chip"/>
          <p:cNvSpPr/>
          <p:nvPr/>
        </p:nvSpPr>
        <p:spPr>
          <a:xfrm>
            <a:off x="4928997" y="181350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Isosceles Triangle 16"/>
          <p:cNvSpPr/>
          <p:nvPr/>
        </p:nvSpPr>
        <p:spPr>
          <a:xfrm>
            <a:off x="5090922" y="180874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BPS Name 1"/>
          <p:cNvSpPr txBox="1"/>
          <p:nvPr/>
        </p:nvSpPr>
        <p:spPr>
          <a:xfrm>
            <a:off x="5233797" y="1732546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9445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66393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Isosceles Triangle 20"/>
          <p:cNvSpPr/>
          <p:nvPr/>
        </p:nvSpPr>
        <p:spPr>
          <a:xfrm>
            <a:off x="5090922" y="265916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BPS Name 2"/>
          <p:cNvSpPr txBox="1"/>
          <p:nvPr/>
        </p:nvSpPr>
        <p:spPr>
          <a:xfrm>
            <a:off x="5233797" y="2582969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644881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725573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472081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BPS Name 3"/>
          <p:cNvSpPr txBox="1"/>
          <p:nvPr/>
        </p:nvSpPr>
        <p:spPr>
          <a:xfrm>
            <a:off x="5233797" y="4644611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706523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Pack Size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82728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605992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829550" y="1575435"/>
            <a:ext cx="312699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803273"/>
            <a:ext cx="29812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cedes the most -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759929" y="1793049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10935038" y="1803273"/>
            <a:ext cx="8298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206371"/>
            <a:ext cx="401726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is the fastest-growing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381631"/>
            <a:ext cx="75738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pack size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36090" y="237140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711199" y="2381631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Pack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Pack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47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E6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Pack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Pack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D50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3B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Tier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Price Tier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Price Tier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Price Tier,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Price Tier segment categorizes the market by price tier.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Super-Premium / Luxury: US$12 and…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Price Tier split shows how demand is distributed across price tier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1_21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2_13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834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1_53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766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1_43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6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336_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592_5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5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6235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'Mid-Range: US$3 to below US$6' holds the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7007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'Economy / Mass-Market: Below US$3' is the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2914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price tier landscape.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229437"/>
            <a:ext cx="20737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Mid-Range: US$3 to below US$6: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60372" y="4219658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6027868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887318" y="4219658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7054814" y="4229437"/>
            <a:ext cx="72365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4615009"/>
            <a:ext cx="20448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Premium: US$6 to below US$12: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31450" y="460523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5998946" y="461500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858396" y="4605230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025892" y="4615009"/>
            <a:ext cx="78723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782649"/>
            <a:ext cx="51767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niche.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3838575" y="5000581"/>
            <a:ext cx="237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Economy / Mass-Market: Below US$3: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158024" y="4990801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6325519" y="5000581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184970" y="4990801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7352465" y="5000581"/>
            <a:ext cx="3954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838575" y="5168221"/>
            <a:ext cx="8677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grows fastest.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838575" y="5386153"/>
            <a:ext cx="26759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Super-Premium / Luxury: US$12 and above: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462556" y="5376373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6630052" y="5386153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489502" y="5376373"/>
            <a:ext cx="128699" cy="187198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3838575" y="5553793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8524875" y="5842641"/>
            <a:ext cx="29663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Price Tier segment is projected to grow at a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Price Tier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Tier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Tier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Price Tier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339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'Economy / Mass-Market: Below US$3' gains the most share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42463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735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541054" y="5582698"/>
            <a:ext cx="296542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'Mid-Range: US$3 to below US$6'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54531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000875" y="5750338"/>
            <a:ext cx="46562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Price Tier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Economy / Mass-Market: Below US$3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Mid-Range: US$3 to below US$6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Premium: US$6 to below US$12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Super-Premium / Luxury: US$12 and above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Price Tier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Price Tier,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Price Tier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591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49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49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49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49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49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449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449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44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449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449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449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449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449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449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449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4494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08849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Price Tier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8892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6649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is the largest price tier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0358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065467" y="3486150"/>
            <a:ext cx="10805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5200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270309" y="3486150"/>
            <a:ext cx="3534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32884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791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8901" y="3713987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7975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'Economy / Mass-Market: Below US$3'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2970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8079" y="3941825"/>
            <a:ext cx="34125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'Mid-Range: US$3 to below US$6'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59763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734872" y="3941825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5646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169663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169663"/>
            <a:ext cx="147052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Price Tier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Price Tier,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Price Tier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657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0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0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0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170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0867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Price Tier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2163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6649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is the largest price tier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0358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065467" y="3486150"/>
            <a:ext cx="95677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1400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146509" y="3486150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32884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791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8901" y="3713987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7975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'Economy / Mass-Market: Below US$3'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2970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8079" y="3941825"/>
            <a:ext cx="34125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'Mid-Range: US$3 to below US$6'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59763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734872" y="3941825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Price Tier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Price Tier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6" name="FMI Legend Chip"/>
          <p:cNvSpPr/>
          <p:nvPr/>
        </p:nvSpPr>
        <p:spPr>
          <a:xfrm>
            <a:off x="4928997" y="175305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4829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BPS Name 1"/>
          <p:cNvSpPr txBox="1"/>
          <p:nvPr/>
        </p:nvSpPr>
        <p:spPr>
          <a:xfrm>
            <a:off x="5233797" y="1672097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3400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59765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Isosceles Triangle 20"/>
          <p:cNvSpPr/>
          <p:nvPr/>
        </p:nvSpPr>
        <p:spPr>
          <a:xfrm>
            <a:off x="5090922" y="259289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BPS Name 2"/>
          <p:cNvSpPr txBox="1"/>
          <p:nvPr/>
        </p:nvSpPr>
        <p:spPr>
          <a:xfrm>
            <a:off x="5233797" y="2516696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578609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83349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Isosceles Triangle 24"/>
          <p:cNvSpPr/>
          <p:nvPr/>
        </p:nvSpPr>
        <p:spPr>
          <a:xfrm>
            <a:off x="5090922" y="382872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BPS Name 3"/>
          <p:cNvSpPr txBox="1"/>
          <p:nvPr/>
        </p:nvSpPr>
        <p:spPr>
          <a:xfrm>
            <a:off x="5233797" y="3752527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814440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35737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535261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BPS Name 4"/>
          <p:cNvSpPr txBox="1"/>
          <p:nvPr/>
        </p:nvSpPr>
        <p:spPr>
          <a:xfrm>
            <a:off x="5233797" y="5276414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338327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Price Tier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383467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613378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829550" y="1575435"/>
            <a:ext cx="312699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803273"/>
            <a:ext cx="31700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cedes the most -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948767" y="179304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123877" y="1803273"/>
            <a:ext cx="5982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829550" y="1978533"/>
            <a:ext cx="159631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206371"/>
            <a:ext cx="40576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is the fastest-growing price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381631"/>
            <a:ext cx="4347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tier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13468" y="2371407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388577" y="2381631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Price Tier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Price Tier,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Price Tier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64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93BE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99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Price Tier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Price Tier,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Price Tier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D5D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By Sales Channels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Sales Channels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5 sub-segments of Sales Channels,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Sales Channels segment categorizes the market by sales channels.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90881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Pet Specialty Retail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26" name="Oval 25"/>
          <p:cNvSpPr/>
          <p:nvPr/>
        </p:nvSpPr>
        <p:spPr>
          <a:xfrm>
            <a:off x="265938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89001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Rectangle 27"/>
          <p:cNvSpPr/>
          <p:nvPr/>
        </p:nvSpPr>
        <p:spPr>
          <a:xfrm>
            <a:off x="3890010" y="1992961"/>
            <a:ext cx="190881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392811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E-commerce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89001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389001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2" name="Rectangle 31"/>
          <p:cNvSpPr/>
          <p:nvPr/>
        </p:nvSpPr>
        <p:spPr>
          <a:xfrm>
            <a:off x="389001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468249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91312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5913120" y="1992961"/>
            <a:ext cx="190881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595122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General Retail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91312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91312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91312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0" name="Oval 39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793623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936230" y="1992961"/>
            <a:ext cx="1908810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797433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44" name="Rectangle 43"/>
          <p:cNvSpPr/>
          <p:nvPr/>
        </p:nvSpPr>
        <p:spPr>
          <a:xfrm>
            <a:off x="793623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793623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793623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47" name="Oval 46"/>
          <p:cNvSpPr/>
          <p:nvPr/>
        </p:nvSpPr>
        <p:spPr>
          <a:xfrm>
            <a:off x="872871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995934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9959340" y="1992961"/>
            <a:ext cx="1908810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9997440" y="1773916"/>
            <a:ext cx="1832610" cy="43808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Professional &amp; B2B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95934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995934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995934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endParaRPr/>
          </a:p>
        </p:txBody>
      </p:sp>
      <p:sp>
        <p:nvSpPr>
          <p:cNvPr id="54" name="Oval 53"/>
          <p:cNvSpPr/>
          <p:nvPr/>
        </p:nvSpPr>
        <p:spPr>
          <a:xfrm>
            <a:off x="10751820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TextBox 57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59" name="Rounded Rectangle 58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TextBox 59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63" name="Rounded Rectangle 62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TextBox 65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Sales Channels split shows how demand is distributed across sales channels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7" name="Rectangle 66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1" name="Picture 70" descr="965_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23441" y="2286582"/>
            <a:ext cx="1195728" cy="361950"/>
          </a:xfrm>
          <a:prstGeom prst="rect">
            <a:avLst/>
          </a:prstGeom>
        </p:spPr>
      </p:pic>
      <p:pic>
        <p:nvPicPr>
          <p:cNvPr id="72" name="Picture 71" descr="1_73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23441" y="2779432"/>
            <a:ext cx="1195728" cy="361950"/>
          </a:xfrm>
          <a:prstGeom prst="rect">
            <a:avLst/>
          </a:prstGeom>
        </p:spPr>
      </p:pic>
      <p:pic>
        <p:nvPicPr>
          <p:cNvPr id="73" name="Picture 72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30087" y="3272281"/>
            <a:ext cx="982436" cy="361950"/>
          </a:xfrm>
          <a:prstGeom prst="rect">
            <a:avLst/>
          </a:prstGeom>
        </p:spPr>
      </p:pic>
      <p:pic>
        <p:nvPicPr>
          <p:cNvPr id="74" name="Picture 73" descr="957_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46551" y="2286582"/>
            <a:ext cx="1195728" cy="361950"/>
          </a:xfrm>
          <a:prstGeom prst="rect">
            <a:avLst/>
          </a:prstGeom>
        </p:spPr>
      </p:pic>
      <p:pic>
        <p:nvPicPr>
          <p:cNvPr id="75" name="Picture 74" descr="1_78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246551" y="2779432"/>
            <a:ext cx="1195728" cy="361950"/>
          </a:xfrm>
          <a:prstGeom prst="rect">
            <a:avLst/>
          </a:prstGeom>
        </p:spPr>
      </p:pic>
      <p:pic>
        <p:nvPicPr>
          <p:cNvPr id="76" name="Picture 75" descr="6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353197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535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78" name="Picture 77" descr="935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5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394_5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292771" y="2286582"/>
            <a:ext cx="1195728" cy="361950"/>
          </a:xfrm>
          <a:prstGeom prst="rect">
            <a:avLst/>
          </a:prstGeom>
        </p:spPr>
      </p:pic>
      <p:pic>
        <p:nvPicPr>
          <p:cNvPr id="81" name="Picture 80" descr="695_2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292771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5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399417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299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315881" y="2286582"/>
            <a:ext cx="1195728" cy="361950"/>
          </a:xfrm>
          <a:prstGeom prst="rect">
            <a:avLst/>
          </a:prstGeom>
        </p:spPr>
      </p:pic>
      <p:pic>
        <p:nvPicPr>
          <p:cNvPr id="84" name="Picture 83" descr="542_8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315881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2252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727960" y="2827057"/>
            <a:ext cx="183356" cy="266700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751070" y="2827057"/>
            <a:ext cx="183356" cy="266700"/>
          </a:xfrm>
          <a:prstGeom prst="rect">
            <a:avLst/>
          </a:prstGeom>
        </p:spPr>
      </p:pic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797290" y="2827057"/>
            <a:ext cx="183356" cy="266700"/>
          </a:xfrm>
          <a:prstGeom prst="rect">
            <a:avLst/>
          </a:prstGeom>
        </p:spPr>
      </p:pic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820400" y="2827057"/>
            <a:ext cx="183356" cy="266700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85775" y="4229437"/>
            <a:ext cx="276133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'Pet Specialty Retail' holds the largest share in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'E-commerce' is the fastest-growing sub-segment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485775" y="5386153"/>
            <a:ext cx="26369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 sub-segments make up the sales channels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229437"/>
            <a:ext cx="131303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Pet Specialty Retail: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99662" y="4219658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267158" y="4229437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126608" y="421965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6294104" y="4229437"/>
            <a:ext cx="15034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838575" y="4447369"/>
            <a:ext cx="94383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E-commerce: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730464" y="4437590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4897960" y="4447369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757410" y="4437590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5924906" y="4447369"/>
            <a:ext cx="121861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838575" y="4665301"/>
            <a:ext cx="10333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General Retail: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819989" y="4655522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4987485" y="4665301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846935" y="4655522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6014431" y="4665301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838575" y="4883233"/>
            <a:ext cx="179161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Veterinary &amp; Animal Health: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578244" y="4873454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5745740" y="4883233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605190" y="4873454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6772686" y="4883233"/>
            <a:ext cx="8857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838575" y="5050873"/>
            <a:ext cx="4191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5268805"/>
            <a:ext cx="13056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Professional &amp; B2B: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92295" y="5259026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5259791" y="5268805"/>
            <a:ext cx="9113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119241" y="525902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6286737" y="5268805"/>
            <a:ext cx="12603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Sales Channels segment is projected to grow at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Sales Channels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Sales Channels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Channels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Sales Channels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74575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'E-commerce' gains the most share in the Europe market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880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36995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7304491" y="5582698"/>
            <a:ext cx="19250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'General Retail'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77585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345081" y="5582698"/>
            <a:ext cx="24213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22794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Sales Channels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E-commerce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Pet Specialty Retail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Veterinary &amp; Animal Health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General Retail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Sales Channels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Professional &amp; B2B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Sales Channels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6305550" y="1400175"/>
            <a:ext cx="30967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5 sub-segments, by sales channels adds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1457" y="1389951"/>
            <a:ext cx="134549" cy="195707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9526566" y="1400175"/>
            <a:ext cx="18544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305550" y="1575435"/>
            <a:ext cx="15541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05550" y="1803273"/>
            <a:ext cx="12856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40349" y="1793049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458" y="1803273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87929" y="179304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8463038" y="1803273"/>
            <a:ext cx="11547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305550" y="2031111"/>
            <a:ext cx="16716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'Pet Specialty Retail'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26329" y="202088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8101438" y="2031111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73909" y="202088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8849018" y="2031111"/>
            <a:ext cx="11547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6305550" y="2258949"/>
            <a:ext cx="13792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'General Retail' adds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33943" y="224872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7809053" y="2258949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81523" y="224872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556633" y="2258949"/>
            <a:ext cx="11547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05550" y="2486787"/>
            <a:ext cx="225012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'Professional &amp; B2B' adds the least: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04823" y="2476563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679933" y="2486787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52404" y="247656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427513" y="2486787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3" name="lockshield_12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Sales Channels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Sales Channels,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Sales Channels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948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9366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Sales Channels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6751" y="195662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724275"/>
            <a:ext cx="279692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largest sales channels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2299" y="37140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97408" y="3724275"/>
            <a:ext cx="10805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7141" y="37140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02250" y="3724275"/>
            <a:ext cx="3534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52112"/>
            <a:ext cx="17959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1343" y="39418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6452" y="3952112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79950"/>
            <a:ext cx="230514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'E-commerce'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0521" y="41697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05631" y="4179950"/>
            <a:ext cx="232485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'General Retail'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9641" y="41697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154750" y="4179950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407788"/>
            <a:ext cx="15646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975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407788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975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407788"/>
            <a:ext cx="147052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5 categories.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Sales Channels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Sales Channels,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Sales Channels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Sales Channels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724275"/>
            <a:ext cx="279692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largest sales channels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2299" y="37140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97408" y="3724275"/>
            <a:ext cx="95677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3341" y="37140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278450" y="3724275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52112"/>
            <a:ext cx="17959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1343" y="39418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6452" y="3952112"/>
            <a:ext cx="12343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79950"/>
            <a:ext cx="230514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'E-commerce'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0521" y="41697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05631" y="4179950"/>
            <a:ext cx="232485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'General Retail'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9641" y="41697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154750" y="4179950"/>
            <a:ext cx="18536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407788"/>
            <a:ext cx="17440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5 categories.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Sales Channels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Sales Channels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endParaRPr/>
          </a:p>
        </p:txBody>
      </p:sp>
      <p:sp>
        <p:nvSpPr>
          <p:cNvPr id="16" name="FMI Legend Chip"/>
          <p:cNvSpPr/>
          <p:nvPr/>
        </p:nvSpPr>
        <p:spPr>
          <a:xfrm>
            <a:off x="4928997" y="1889127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Isosceles Triangle 16"/>
          <p:cNvSpPr/>
          <p:nvPr/>
        </p:nvSpPr>
        <p:spPr>
          <a:xfrm>
            <a:off x="5090922" y="188436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BPS Name 1"/>
          <p:cNvSpPr txBox="1"/>
          <p:nvPr/>
        </p:nvSpPr>
        <p:spPr>
          <a:xfrm>
            <a:off x="5233797" y="1808165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70077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38602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38126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BPS Name 2"/>
          <p:cNvSpPr txBox="1"/>
          <p:nvPr/>
        </p:nvSpPr>
        <p:spPr>
          <a:xfrm>
            <a:off x="5233797" y="2305063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366975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04035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303558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BPS Name 3"/>
          <p:cNvSpPr txBox="1"/>
          <p:nvPr/>
        </p:nvSpPr>
        <p:spPr>
          <a:xfrm>
            <a:off x="5233797" y="2959387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021300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411342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410866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BPS Name 4"/>
          <p:cNvSpPr txBox="1"/>
          <p:nvPr/>
        </p:nvSpPr>
        <p:spPr>
          <a:xfrm>
            <a:off x="5233797" y="4032464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4094376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552742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Isosceles Triangle 32"/>
          <p:cNvSpPr/>
          <p:nvPr/>
        </p:nvSpPr>
        <p:spPr>
          <a:xfrm>
            <a:off x="5090922" y="552265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BPS Name 5"/>
          <p:cNvSpPr txBox="1"/>
          <p:nvPr/>
        </p:nvSpPr>
        <p:spPr>
          <a:xfrm>
            <a:off x="5233797" y="5446459"/>
            <a:ext cx="1528953" cy="247650"/>
          </a:xfrm>
          <a:prstGeom prst="rect">
            <a:avLst/>
          </a:prstGeom>
          <a:noFill/>
        </p:spPr>
        <p:txBody>
          <a:bodyPr wrap="square" lIns="19050" tIns="0" rIns="1905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5508372"/>
            <a:ext cx="5143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Rounded Rectangle 35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Sales Channels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7829550" y="1400175"/>
            <a:ext cx="23422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gains the most share +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20929" y="1389951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296039" y="1400175"/>
            <a:ext cx="144285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1803273"/>
            <a:ext cx="208239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'General Retail' cedes the most -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861094" y="179304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0036203" y="1803273"/>
            <a:ext cx="16853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206371"/>
            <a:ext cx="331922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fastest-growing sales channels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97924" y="219614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273033" y="2206371"/>
            <a:ext cx="4099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1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Sales Channels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Sales Channels,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Sales Channels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495675"/>
            <a:ext cx="1590675" cy="61531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495675"/>
            <a:ext cx="643890" cy="615315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501265" y="3495675"/>
            <a:ext cx="643890" cy="615315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3145155" y="3495675"/>
            <a:ext cx="643890" cy="61531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3789045" y="3495675"/>
            <a:ext cx="643890" cy="61531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432935" y="3495675"/>
            <a:ext cx="643890" cy="615315"/>
          </a:xfrm>
          <a:prstGeom prst="rect">
            <a:avLst/>
          </a:prstGeom>
          <a:solidFill>
            <a:srgbClr val="0D629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076825" y="3495675"/>
            <a:ext cx="643890" cy="615315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720715" y="3495675"/>
            <a:ext cx="643890" cy="615315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6364605" y="3495675"/>
            <a:ext cx="643890" cy="61531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008495" y="3495675"/>
            <a:ext cx="643890" cy="61531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652385" y="3495675"/>
            <a:ext cx="643890" cy="615315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8296275" y="3495675"/>
            <a:ext cx="643890" cy="615315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8940165" y="3495675"/>
            <a:ext cx="643890" cy="61531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584055" y="3495675"/>
            <a:ext cx="643890" cy="61531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227945" y="3495675"/>
            <a:ext cx="643890" cy="61531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871835" y="3495675"/>
            <a:ext cx="643890" cy="615315"/>
          </a:xfrm>
          <a:prstGeom prst="rect">
            <a:avLst/>
          </a:prstGeom>
          <a:solidFill>
            <a:srgbClr val="0C3F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4110990"/>
            <a:ext cx="1590675" cy="61531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10990"/>
            <a:ext cx="643890" cy="615315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ectangle 49"/>
          <p:cNvSpPr/>
          <p:nvPr/>
        </p:nvSpPr>
        <p:spPr>
          <a:xfrm>
            <a:off x="2501265" y="4110990"/>
            <a:ext cx="643890" cy="61531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3145155" y="4110990"/>
            <a:ext cx="643890" cy="615315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3789045" y="4110990"/>
            <a:ext cx="643890" cy="615315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4432935" y="4110990"/>
            <a:ext cx="643890" cy="61531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Rectangle 53"/>
          <p:cNvSpPr/>
          <p:nvPr/>
        </p:nvSpPr>
        <p:spPr>
          <a:xfrm>
            <a:off x="5076825" y="4110990"/>
            <a:ext cx="643890" cy="615315"/>
          </a:xfrm>
          <a:prstGeom prst="rect">
            <a:avLst/>
          </a:prstGeom>
          <a:solidFill>
            <a:srgbClr val="5A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5720715" y="4110990"/>
            <a:ext cx="643890" cy="61531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364605" y="4110990"/>
            <a:ext cx="643890" cy="61531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7008495" y="4110990"/>
            <a:ext cx="643890" cy="615315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7652385" y="4110990"/>
            <a:ext cx="643890" cy="615315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296275" y="4110990"/>
            <a:ext cx="643890" cy="61531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940165" y="4110990"/>
            <a:ext cx="643890" cy="61531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9584055" y="4110990"/>
            <a:ext cx="643890" cy="615315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22794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87183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38125" y="4726305"/>
            <a:ext cx="1590675" cy="61531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6305"/>
            <a:ext cx="643890" cy="61531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2501265" y="4726305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3145155" y="4726305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3789045" y="4726305"/>
            <a:ext cx="643890" cy="61531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Rectangle 68"/>
          <p:cNvSpPr/>
          <p:nvPr/>
        </p:nvSpPr>
        <p:spPr>
          <a:xfrm>
            <a:off x="4432935" y="4726305"/>
            <a:ext cx="643890" cy="615315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5076825" y="4726305"/>
            <a:ext cx="643890" cy="615315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Rectangle 70"/>
          <p:cNvSpPr/>
          <p:nvPr/>
        </p:nvSpPr>
        <p:spPr>
          <a:xfrm>
            <a:off x="5720715" y="4726305"/>
            <a:ext cx="643890" cy="61531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6364605" y="4726305"/>
            <a:ext cx="643890" cy="615315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7008495" y="4726305"/>
            <a:ext cx="643890" cy="61531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7652385" y="4726305"/>
            <a:ext cx="643890" cy="615315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Rectangle 74"/>
          <p:cNvSpPr/>
          <p:nvPr/>
        </p:nvSpPr>
        <p:spPr>
          <a:xfrm>
            <a:off x="8296275" y="4726305"/>
            <a:ext cx="643890" cy="615315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Rectangle 75"/>
          <p:cNvSpPr/>
          <p:nvPr/>
        </p:nvSpPr>
        <p:spPr>
          <a:xfrm>
            <a:off x="8940165" y="4726305"/>
            <a:ext cx="643890" cy="615315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9584055" y="4726305"/>
            <a:ext cx="643890" cy="615315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10227945" y="4726305"/>
            <a:ext cx="643890" cy="61531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Rectangle 78"/>
          <p:cNvSpPr/>
          <p:nvPr/>
        </p:nvSpPr>
        <p:spPr>
          <a:xfrm>
            <a:off x="10871835" y="4726305"/>
            <a:ext cx="643890" cy="615315"/>
          </a:xfrm>
          <a:prstGeom prst="rect">
            <a:avLst/>
          </a:prstGeom>
          <a:solidFill>
            <a:srgbClr val="5D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238125" y="5341620"/>
            <a:ext cx="1590675" cy="61531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341620"/>
            <a:ext cx="643890" cy="61531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250126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3145155" y="5341620"/>
            <a:ext cx="643890" cy="61531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ectangle 83"/>
          <p:cNvSpPr/>
          <p:nvPr/>
        </p:nvSpPr>
        <p:spPr>
          <a:xfrm>
            <a:off x="3789045" y="5341620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4432935" y="5341620"/>
            <a:ext cx="643890" cy="615315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5076825" y="5341620"/>
            <a:ext cx="643890" cy="615315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5720715" y="5341620"/>
            <a:ext cx="643890" cy="61531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6364605" y="5341620"/>
            <a:ext cx="643890" cy="615315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7008495" y="5341620"/>
            <a:ext cx="643890" cy="61531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7652385" y="5341620"/>
            <a:ext cx="643890" cy="615315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8296275" y="5341620"/>
            <a:ext cx="643890" cy="615315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8940165" y="5341620"/>
            <a:ext cx="643890" cy="615315"/>
          </a:xfrm>
          <a:prstGeom prst="rect">
            <a:avLst/>
          </a:prstGeom>
          <a:solidFill>
            <a:srgbClr val="82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9584055" y="5341620"/>
            <a:ext cx="643890" cy="615315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0227945" y="5341620"/>
            <a:ext cx="643890" cy="615315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0871835" y="5341620"/>
            <a:ext cx="643890" cy="615315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TextBox 95"/>
          <p:cNvSpPr txBox="1"/>
          <p:nvPr/>
        </p:nvSpPr>
        <p:spPr>
          <a:xfrm>
            <a:off x="238125" y="5956935"/>
            <a:ext cx="1590675" cy="61531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956935"/>
            <a:ext cx="643890" cy="615315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2501265" y="5956935"/>
            <a:ext cx="643890" cy="61531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3145155" y="5956935"/>
            <a:ext cx="643890" cy="615315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3789045" y="5956935"/>
            <a:ext cx="643890" cy="615315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4432935" y="5956935"/>
            <a:ext cx="643890" cy="61531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5076825" y="5956935"/>
            <a:ext cx="643890" cy="61531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5720715" y="5956935"/>
            <a:ext cx="643890" cy="61531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6364605" y="5956935"/>
            <a:ext cx="643890" cy="61531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ectangle 104"/>
          <p:cNvSpPr/>
          <p:nvPr/>
        </p:nvSpPr>
        <p:spPr>
          <a:xfrm>
            <a:off x="7008495" y="5956935"/>
            <a:ext cx="643890" cy="615315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7652385" y="5956935"/>
            <a:ext cx="643890" cy="61531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Rectangle 106"/>
          <p:cNvSpPr/>
          <p:nvPr/>
        </p:nvSpPr>
        <p:spPr>
          <a:xfrm>
            <a:off x="8296275" y="5956935"/>
            <a:ext cx="643890" cy="61531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Rectangle 107"/>
          <p:cNvSpPr/>
          <p:nvPr/>
        </p:nvSpPr>
        <p:spPr>
          <a:xfrm>
            <a:off x="8940165" y="5956935"/>
            <a:ext cx="643890" cy="615315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Rectangle 108"/>
          <p:cNvSpPr/>
          <p:nvPr/>
        </p:nvSpPr>
        <p:spPr>
          <a:xfrm>
            <a:off x="9584055" y="5956935"/>
            <a:ext cx="643890" cy="615315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Rectangle 109"/>
          <p:cNvSpPr/>
          <p:nvPr/>
        </p:nvSpPr>
        <p:spPr>
          <a:xfrm>
            <a:off x="10227945" y="5956935"/>
            <a:ext cx="643890" cy="61531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Rectangle 110"/>
          <p:cNvSpPr/>
          <p:nvPr/>
        </p:nvSpPr>
        <p:spPr>
          <a:xfrm>
            <a:off x="10871835" y="5956935"/>
            <a:ext cx="643890" cy="61531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Rectangle 111"/>
          <p:cNvSpPr/>
          <p:nvPr/>
        </p:nvSpPr>
        <p:spPr>
          <a:xfrm>
            <a:off x="11572875" y="3533775"/>
            <a:ext cx="104775" cy="8262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Rectangle 112"/>
          <p:cNvSpPr/>
          <p:nvPr/>
        </p:nvSpPr>
        <p:spPr>
          <a:xfrm>
            <a:off x="11572875" y="3608784"/>
            <a:ext cx="104775" cy="8262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Rectangle 113"/>
          <p:cNvSpPr/>
          <p:nvPr/>
        </p:nvSpPr>
        <p:spPr>
          <a:xfrm>
            <a:off x="11572875" y="3683794"/>
            <a:ext cx="104775" cy="8262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Rectangle 114"/>
          <p:cNvSpPr/>
          <p:nvPr/>
        </p:nvSpPr>
        <p:spPr>
          <a:xfrm>
            <a:off x="11572875" y="3758803"/>
            <a:ext cx="104775" cy="8262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Rectangle 115"/>
          <p:cNvSpPr/>
          <p:nvPr/>
        </p:nvSpPr>
        <p:spPr>
          <a:xfrm>
            <a:off x="11572875" y="3833812"/>
            <a:ext cx="104775" cy="8262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Rectangle 116"/>
          <p:cNvSpPr/>
          <p:nvPr/>
        </p:nvSpPr>
        <p:spPr>
          <a:xfrm>
            <a:off x="11572875" y="3908822"/>
            <a:ext cx="104775" cy="8262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Rectangle 117"/>
          <p:cNvSpPr/>
          <p:nvPr/>
        </p:nvSpPr>
        <p:spPr>
          <a:xfrm>
            <a:off x="11572875" y="3983831"/>
            <a:ext cx="104775" cy="8262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Rectangle 118"/>
          <p:cNvSpPr/>
          <p:nvPr/>
        </p:nvSpPr>
        <p:spPr>
          <a:xfrm>
            <a:off x="11572875" y="4058841"/>
            <a:ext cx="104775" cy="8262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Rectangle 119"/>
          <p:cNvSpPr/>
          <p:nvPr/>
        </p:nvSpPr>
        <p:spPr>
          <a:xfrm>
            <a:off x="11572875" y="4133850"/>
            <a:ext cx="104775" cy="8262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Rectangle 120"/>
          <p:cNvSpPr/>
          <p:nvPr/>
        </p:nvSpPr>
        <p:spPr>
          <a:xfrm>
            <a:off x="11572875" y="4208859"/>
            <a:ext cx="104775" cy="8262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Rectangle 121"/>
          <p:cNvSpPr/>
          <p:nvPr/>
        </p:nvSpPr>
        <p:spPr>
          <a:xfrm>
            <a:off x="11572875" y="4283869"/>
            <a:ext cx="104775" cy="8262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Rectangle 122"/>
          <p:cNvSpPr/>
          <p:nvPr/>
        </p:nvSpPr>
        <p:spPr>
          <a:xfrm>
            <a:off x="11572875" y="4358878"/>
            <a:ext cx="104775" cy="8262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Rectangle 123"/>
          <p:cNvSpPr/>
          <p:nvPr/>
        </p:nvSpPr>
        <p:spPr>
          <a:xfrm>
            <a:off x="11572875" y="4433888"/>
            <a:ext cx="104775" cy="8262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Rectangle 124"/>
          <p:cNvSpPr/>
          <p:nvPr/>
        </p:nvSpPr>
        <p:spPr>
          <a:xfrm>
            <a:off x="11572875" y="4508897"/>
            <a:ext cx="104775" cy="8262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Rectangle 125"/>
          <p:cNvSpPr/>
          <p:nvPr/>
        </p:nvSpPr>
        <p:spPr>
          <a:xfrm>
            <a:off x="11572875" y="4583906"/>
            <a:ext cx="104775" cy="8262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Rectangle 126"/>
          <p:cNvSpPr/>
          <p:nvPr/>
        </p:nvSpPr>
        <p:spPr>
          <a:xfrm>
            <a:off x="11572875" y="4658916"/>
            <a:ext cx="104775" cy="8262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Rectangle 127"/>
          <p:cNvSpPr/>
          <p:nvPr/>
        </p:nvSpPr>
        <p:spPr>
          <a:xfrm>
            <a:off x="11572875" y="4733925"/>
            <a:ext cx="104775" cy="8262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Rectangle 128"/>
          <p:cNvSpPr/>
          <p:nvPr/>
        </p:nvSpPr>
        <p:spPr>
          <a:xfrm>
            <a:off x="11572875" y="4808934"/>
            <a:ext cx="104775" cy="8262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Rectangle 129"/>
          <p:cNvSpPr/>
          <p:nvPr/>
        </p:nvSpPr>
        <p:spPr>
          <a:xfrm>
            <a:off x="11572875" y="4883944"/>
            <a:ext cx="104775" cy="8262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Rectangle 130"/>
          <p:cNvSpPr/>
          <p:nvPr/>
        </p:nvSpPr>
        <p:spPr>
          <a:xfrm>
            <a:off x="11572875" y="4958953"/>
            <a:ext cx="104775" cy="8262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Rectangle 131"/>
          <p:cNvSpPr/>
          <p:nvPr/>
        </p:nvSpPr>
        <p:spPr>
          <a:xfrm>
            <a:off x="11572875" y="5033962"/>
            <a:ext cx="104775" cy="8262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Rectangle 132"/>
          <p:cNvSpPr/>
          <p:nvPr/>
        </p:nvSpPr>
        <p:spPr>
          <a:xfrm>
            <a:off x="11572875" y="5108972"/>
            <a:ext cx="104775" cy="8262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Rectangle 133"/>
          <p:cNvSpPr/>
          <p:nvPr/>
        </p:nvSpPr>
        <p:spPr>
          <a:xfrm>
            <a:off x="11572875" y="5183981"/>
            <a:ext cx="104775" cy="8262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Rectangle 134"/>
          <p:cNvSpPr/>
          <p:nvPr/>
        </p:nvSpPr>
        <p:spPr>
          <a:xfrm>
            <a:off x="11572875" y="5258991"/>
            <a:ext cx="104775" cy="8262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Rectangle 135"/>
          <p:cNvSpPr/>
          <p:nvPr/>
        </p:nvSpPr>
        <p:spPr>
          <a:xfrm>
            <a:off x="11572875" y="5334000"/>
            <a:ext cx="104775" cy="8262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Rectangle 136"/>
          <p:cNvSpPr/>
          <p:nvPr/>
        </p:nvSpPr>
        <p:spPr>
          <a:xfrm>
            <a:off x="11572875" y="5409009"/>
            <a:ext cx="104775" cy="8262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Rectangle 137"/>
          <p:cNvSpPr/>
          <p:nvPr/>
        </p:nvSpPr>
        <p:spPr>
          <a:xfrm>
            <a:off x="11572875" y="5484019"/>
            <a:ext cx="104775" cy="8262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9" name="Rectangle 138"/>
          <p:cNvSpPr/>
          <p:nvPr/>
        </p:nvSpPr>
        <p:spPr>
          <a:xfrm>
            <a:off x="11572875" y="5559028"/>
            <a:ext cx="104775" cy="8262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Rectangle 139"/>
          <p:cNvSpPr/>
          <p:nvPr/>
        </p:nvSpPr>
        <p:spPr>
          <a:xfrm>
            <a:off x="11572875" y="5634038"/>
            <a:ext cx="104775" cy="8262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Rectangle 140"/>
          <p:cNvSpPr/>
          <p:nvPr/>
        </p:nvSpPr>
        <p:spPr>
          <a:xfrm>
            <a:off x="11572875" y="5709047"/>
            <a:ext cx="104775" cy="8262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Rectangle 141"/>
          <p:cNvSpPr/>
          <p:nvPr/>
        </p:nvSpPr>
        <p:spPr>
          <a:xfrm>
            <a:off x="11572875" y="5784056"/>
            <a:ext cx="104775" cy="8262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Rectangle 142"/>
          <p:cNvSpPr/>
          <p:nvPr/>
        </p:nvSpPr>
        <p:spPr>
          <a:xfrm>
            <a:off x="11572875" y="5859066"/>
            <a:ext cx="104775" cy="8262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Rectangle 143"/>
          <p:cNvSpPr/>
          <p:nvPr/>
        </p:nvSpPr>
        <p:spPr>
          <a:xfrm>
            <a:off x="11572875" y="5934075"/>
            <a:ext cx="104775" cy="8262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Rectangle 144"/>
          <p:cNvSpPr/>
          <p:nvPr/>
        </p:nvSpPr>
        <p:spPr>
          <a:xfrm>
            <a:off x="11572875" y="6009084"/>
            <a:ext cx="104775" cy="8262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Rectangle 145"/>
          <p:cNvSpPr/>
          <p:nvPr/>
        </p:nvSpPr>
        <p:spPr>
          <a:xfrm>
            <a:off x="11572875" y="6084094"/>
            <a:ext cx="104775" cy="8262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Rectangle 146"/>
          <p:cNvSpPr/>
          <p:nvPr/>
        </p:nvSpPr>
        <p:spPr>
          <a:xfrm>
            <a:off x="11572875" y="6159103"/>
            <a:ext cx="104775" cy="8262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8" name="Rectangle 147"/>
          <p:cNvSpPr/>
          <p:nvPr/>
        </p:nvSpPr>
        <p:spPr>
          <a:xfrm>
            <a:off x="11572875" y="6234112"/>
            <a:ext cx="104775" cy="8262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Rectangle 148"/>
          <p:cNvSpPr/>
          <p:nvPr/>
        </p:nvSpPr>
        <p:spPr>
          <a:xfrm>
            <a:off x="11572875" y="6309122"/>
            <a:ext cx="104775" cy="8262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Rectangle 149"/>
          <p:cNvSpPr/>
          <p:nvPr/>
        </p:nvSpPr>
        <p:spPr>
          <a:xfrm>
            <a:off x="11572875" y="6384131"/>
            <a:ext cx="104775" cy="8262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Rectangle 150"/>
          <p:cNvSpPr/>
          <p:nvPr/>
        </p:nvSpPr>
        <p:spPr>
          <a:xfrm>
            <a:off x="11572875" y="6459141"/>
            <a:ext cx="104775" cy="8262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Rectangle 151"/>
          <p:cNvSpPr/>
          <p:nvPr/>
        </p:nvSpPr>
        <p:spPr>
          <a:xfrm>
            <a:off x="11572875" y="3533775"/>
            <a:ext cx="104775" cy="30003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TextBox 152"/>
          <p:cNvSpPr txBox="1"/>
          <p:nvPr/>
        </p:nvSpPr>
        <p:spPr>
          <a:xfrm>
            <a:off x="11687175" y="3467100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1687175" y="4967288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Sales Channels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Sales Channels,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Sales Channels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352800"/>
            <a:ext cx="643890" cy="14287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495675"/>
            <a:ext cx="1590675" cy="61531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495675"/>
            <a:ext cx="643890" cy="615315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501265" y="3495675"/>
            <a:ext cx="643890" cy="615315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3145155" y="3495675"/>
            <a:ext cx="643890" cy="615315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3789045" y="3495675"/>
            <a:ext cx="643890" cy="615315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4432935" y="3495675"/>
            <a:ext cx="643890" cy="61531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Rectangle 37"/>
          <p:cNvSpPr/>
          <p:nvPr/>
        </p:nvSpPr>
        <p:spPr>
          <a:xfrm>
            <a:off x="5076825" y="3495675"/>
            <a:ext cx="643890" cy="61531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5720715" y="3495675"/>
            <a:ext cx="643890" cy="615315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6364605" y="3495675"/>
            <a:ext cx="643890" cy="61531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7008495" y="3495675"/>
            <a:ext cx="643890" cy="61531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7652385" y="3495675"/>
            <a:ext cx="643890" cy="615315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8296275" y="3495675"/>
            <a:ext cx="643890" cy="61531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8940165" y="3495675"/>
            <a:ext cx="643890" cy="61531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9584055" y="3495675"/>
            <a:ext cx="643890" cy="615315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227945" y="3495675"/>
            <a:ext cx="643890" cy="61531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0871835" y="3495675"/>
            <a:ext cx="643890" cy="61531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38125" y="4110990"/>
            <a:ext cx="1590675" cy="61531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10990"/>
            <a:ext cx="643890" cy="615315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ectangle 49"/>
          <p:cNvSpPr/>
          <p:nvPr/>
        </p:nvSpPr>
        <p:spPr>
          <a:xfrm>
            <a:off x="2501265" y="4110990"/>
            <a:ext cx="643890" cy="61531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Rectangle 50"/>
          <p:cNvSpPr/>
          <p:nvPr/>
        </p:nvSpPr>
        <p:spPr>
          <a:xfrm>
            <a:off x="3145155" y="4110990"/>
            <a:ext cx="643890" cy="61531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Rectangle 51"/>
          <p:cNvSpPr/>
          <p:nvPr/>
        </p:nvSpPr>
        <p:spPr>
          <a:xfrm>
            <a:off x="3789045" y="4110990"/>
            <a:ext cx="643890" cy="615315"/>
          </a:xfrm>
          <a:prstGeom prst="rect">
            <a:avLst/>
          </a:prstGeom>
          <a:solidFill>
            <a:srgbClr val="D6E6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Rectangle 52"/>
          <p:cNvSpPr/>
          <p:nvPr/>
        </p:nvSpPr>
        <p:spPr>
          <a:xfrm>
            <a:off x="4432935" y="4110990"/>
            <a:ext cx="643890" cy="61531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Rectangle 53"/>
          <p:cNvSpPr/>
          <p:nvPr/>
        </p:nvSpPr>
        <p:spPr>
          <a:xfrm>
            <a:off x="5076825" y="4110990"/>
            <a:ext cx="643890" cy="61531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Rectangle 54"/>
          <p:cNvSpPr/>
          <p:nvPr/>
        </p:nvSpPr>
        <p:spPr>
          <a:xfrm>
            <a:off x="5720715" y="4110990"/>
            <a:ext cx="643890" cy="615315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6364605" y="4110990"/>
            <a:ext cx="643890" cy="61531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7008495" y="4110990"/>
            <a:ext cx="643890" cy="615315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7652385" y="4110990"/>
            <a:ext cx="643890" cy="61531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ectangle 58"/>
          <p:cNvSpPr/>
          <p:nvPr/>
        </p:nvSpPr>
        <p:spPr>
          <a:xfrm>
            <a:off x="8296275" y="4110990"/>
            <a:ext cx="643890" cy="61531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Rectangle 59"/>
          <p:cNvSpPr/>
          <p:nvPr/>
        </p:nvSpPr>
        <p:spPr>
          <a:xfrm>
            <a:off x="8940165" y="4110990"/>
            <a:ext cx="643890" cy="61531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9584055" y="4110990"/>
            <a:ext cx="643890" cy="61531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Rectangle 61"/>
          <p:cNvSpPr/>
          <p:nvPr/>
        </p:nvSpPr>
        <p:spPr>
          <a:xfrm>
            <a:off x="1022794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ectangle 62"/>
          <p:cNvSpPr/>
          <p:nvPr/>
        </p:nvSpPr>
        <p:spPr>
          <a:xfrm>
            <a:off x="10871835" y="4110990"/>
            <a:ext cx="643890" cy="61531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38125" y="4726305"/>
            <a:ext cx="1590675" cy="61531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6305"/>
            <a:ext cx="643890" cy="61531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2501265" y="4726305"/>
            <a:ext cx="643890" cy="61531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3145155" y="4726305"/>
            <a:ext cx="643890" cy="615315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3789045" y="4726305"/>
            <a:ext cx="643890" cy="615315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Rectangle 68"/>
          <p:cNvSpPr/>
          <p:nvPr/>
        </p:nvSpPr>
        <p:spPr>
          <a:xfrm>
            <a:off x="4432935" y="4726305"/>
            <a:ext cx="643890" cy="61531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5076825" y="4726305"/>
            <a:ext cx="643890" cy="615315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Rectangle 70"/>
          <p:cNvSpPr/>
          <p:nvPr/>
        </p:nvSpPr>
        <p:spPr>
          <a:xfrm>
            <a:off x="5720715" y="4726305"/>
            <a:ext cx="643890" cy="61531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6364605" y="4726305"/>
            <a:ext cx="643890" cy="615315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Rectangle 72"/>
          <p:cNvSpPr/>
          <p:nvPr/>
        </p:nvSpPr>
        <p:spPr>
          <a:xfrm>
            <a:off x="7008495" y="4726305"/>
            <a:ext cx="643890" cy="615315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Rectangle 73"/>
          <p:cNvSpPr/>
          <p:nvPr/>
        </p:nvSpPr>
        <p:spPr>
          <a:xfrm>
            <a:off x="7652385" y="4726305"/>
            <a:ext cx="643890" cy="615315"/>
          </a:xfrm>
          <a:prstGeom prst="rect">
            <a:avLst/>
          </a:prstGeom>
          <a:solidFill>
            <a:srgbClr val="7F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Rectangle 74"/>
          <p:cNvSpPr/>
          <p:nvPr/>
        </p:nvSpPr>
        <p:spPr>
          <a:xfrm>
            <a:off x="8296275" y="4726305"/>
            <a:ext cx="643890" cy="615315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Rectangle 75"/>
          <p:cNvSpPr/>
          <p:nvPr/>
        </p:nvSpPr>
        <p:spPr>
          <a:xfrm>
            <a:off x="8940165" y="4726305"/>
            <a:ext cx="643890" cy="615315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9584055" y="4726305"/>
            <a:ext cx="643890" cy="615315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10227945" y="4726305"/>
            <a:ext cx="643890" cy="615315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Rectangle 78"/>
          <p:cNvSpPr/>
          <p:nvPr/>
        </p:nvSpPr>
        <p:spPr>
          <a:xfrm>
            <a:off x="10871835" y="4726305"/>
            <a:ext cx="643890" cy="61531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238125" y="5341620"/>
            <a:ext cx="1590675" cy="61531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341620"/>
            <a:ext cx="643890" cy="61531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250126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Rectangle 82"/>
          <p:cNvSpPr/>
          <p:nvPr/>
        </p:nvSpPr>
        <p:spPr>
          <a:xfrm>
            <a:off x="314515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ectangle 83"/>
          <p:cNvSpPr/>
          <p:nvPr/>
        </p:nvSpPr>
        <p:spPr>
          <a:xfrm>
            <a:off x="3789045" y="5341620"/>
            <a:ext cx="643890" cy="61531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4432935" y="5341620"/>
            <a:ext cx="643890" cy="61531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5076825" y="5341620"/>
            <a:ext cx="643890" cy="61531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Rectangle 86"/>
          <p:cNvSpPr/>
          <p:nvPr/>
        </p:nvSpPr>
        <p:spPr>
          <a:xfrm>
            <a:off x="5720715" y="5341620"/>
            <a:ext cx="643890" cy="615315"/>
          </a:xfrm>
          <a:prstGeom prst="rect">
            <a:avLst/>
          </a:prstGeom>
          <a:solidFill>
            <a:srgbClr val="7C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6364605" y="5341620"/>
            <a:ext cx="643890" cy="61531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7008495" y="5341620"/>
            <a:ext cx="643890" cy="61531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Rectangle 89"/>
          <p:cNvSpPr/>
          <p:nvPr/>
        </p:nvSpPr>
        <p:spPr>
          <a:xfrm>
            <a:off x="7652385" y="5341620"/>
            <a:ext cx="643890" cy="615315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8296275" y="5341620"/>
            <a:ext cx="643890" cy="61531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Rectangle 91"/>
          <p:cNvSpPr/>
          <p:nvPr/>
        </p:nvSpPr>
        <p:spPr>
          <a:xfrm>
            <a:off x="8940165" y="5341620"/>
            <a:ext cx="643890" cy="615315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Rectangle 92"/>
          <p:cNvSpPr/>
          <p:nvPr/>
        </p:nvSpPr>
        <p:spPr>
          <a:xfrm>
            <a:off x="9584055" y="5341620"/>
            <a:ext cx="643890" cy="615315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Rectangle 93"/>
          <p:cNvSpPr/>
          <p:nvPr/>
        </p:nvSpPr>
        <p:spPr>
          <a:xfrm>
            <a:off x="10227945" y="5341620"/>
            <a:ext cx="643890" cy="615315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0871835" y="5341620"/>
            <a:ext cx="643890" cy="615315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TextBox 95"/>
          <p:cNvSpPr txBox="1"/>
          <p:nvPr/>
        </p:nvSpPr>
        <p:spPr>
          <a:xfrm>
            <a:off x="238125" y="5956935"/>
            <a:ext cx="1590675" cy="61531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956935"/>
            <a:ext cx="643890" cy="615315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2501265" y="5956935"/>
            <a:ext cx="643890" cy="61531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Rectangle 98"/>
          <p:cNvSpPr/>
          <p:nvPr/>
        </p:nvSpPr>
        <p:spPr>
          <a:xfrm>
            <a:off x="3145155" y="5956935"/>
            <a:ext cx="643890" cy="61531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3789045" y="5956935"/>
            <a:ext cx="643890" cy="61531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Rectangle 100"/>
          <p:cNvSpPr/>
          <p:nvPr/>
        </p:nvSpPr>
        <p:spPr>
          <a:xfrm>
            <a:off x="4432935" y="5956935"/>
            <a:ext cx="643890" cy="61531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Rectangle 101"/>
          <p:cNvSpPr/>
          <p:nvPr/>
        </p:nvSpPr>
        <p:spPr>
          <a:xfrm>
            <a:off x="5076825" y="5956935"/>
            <a:ext cx="643890" cy="61531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5720715" y="5956935"/>
            <a:ext cx="643890" cy="61531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Rectangle 103"/>
          <p:cNvSpPr/>
          <p:nvPr/>
        </p:nvSpPr>
        <p:spPr>
          <a:xfrm>
            <a:off x="6364605" y="5956935"/>
            <a:ext cx="643890" cy="615315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ectangle 104"/>
          <p:cNvSpPr/>
          <p:nvPr/>
        </p:nvSpPr>
        <p:spPr>
          <a:xfrm>
            <a:off x="7008495" y="5956935"/>
            <a:ext cx="643890" cy="615315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7652385" y="5956935"/>
            <a:ext cx="643890" cy="61531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Rectangle 106"/>
          <p:cNvSpPr/>
          <p:nvPr/>
        </p:nvSpPr>
        <p:spPr>
          <a:xfrm>
            <a:off x="8296275" y="5956935"/>
            <a:ext cx="643890" cy="61531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Rectangle 107"/>
          <p:cNvSpPr/>
          <p:nvPr/>
        </p:nvSpPr>
        <p:spPr>
          <a:xfrm>
            <a:off x="8940165" y="5956935"/>
            <a:ext cx="643890" cy="61531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Rectangle 108"/>
          <p:cNvSpPr/>
          <p:nvPr/>
        </p:nvSpPr>
        <p:spPr>
          <a:xfrm>
            <a:off x="9584055" y="5956935"/>
            <a:ext cx="643890" cy="61531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Rectangle 109"/>
          <p:cNvSpPr/>
          <p:nvPr/>
        </p:nvSpPr>
        <p:spPr>
          <a:xfrm>
            <a:off x="10227945" y="5956935"/>
            <a:ext cx="643890" cy="615315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Rectangle 110"/>
          <p:cNvSpPr/>
          <p:nvPr/>
        </p:nvSpPr>
        <p:spPr>
          <a:xfrm>
            <a:off x="10871835" y="5956935"/>
            <a:ext cx="643890" cy="615315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Rectangle 111"/>
          <p:cNvSpPr/>
          <p:nvPr/>
        </p:nvSpPr>
        <p:spPr>
          <a:xfrm>
            <a:off x="11572875" y="3533775"/>
            <a:ext cx="104775" cy="8262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Rectangle 112"/>
          <p:cNvSpPr/>
          <p:nvPr/>
        </p:nvSpPr>
        <p:spPr>
          <a:xfrm>
            <a:off x="11572875" y="3608784"/>
            <a:ext cx="104775" cy="8262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Rectangle 113"/>
          <p:cNvSpPr/>
          <p:nvPr/>
        </p:nvSpPr>
        <p:spPr>
          <a:xfrm>
            <a:off x="11572875" y="3683794"/>
            <a:ext cx="104775" cy="8262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Rectangle 114"/>
          <p:cNvSpPr/>
          <p:nvPr/>
        </p:nvSpPr>
        <p:spPr>
          <a:xfrm>
            <a:off x="11572875" y="3758803"/>
            <a:ext cx="104775" cy="8262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Rectangle 115"/>
          <p:cNvSpPr/>
          <p:nvPr/>
        </p:nvSpPr>
        <p:spPr>
          <a:xfrm>
            <a:off x="11572875" y="3833812"/>
            <a:ext cx="104775" cy="8262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Rectangle 116"/>
          <p:cNvSpPr/>
          <p:nvPr/>
        </p:nvSpPr>
        <p:spPr>
          <a:xfrm>
            <a:off x="11572875" y="3908822"/>
            <a:ext cx="104775" cy="8262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Rectangle 117"/>
          <p:cNvSpPr/>
          <p:nvPr/>
        </p:nvSpPr>
        <p:spPr>
          <a:xfrm>
            <a:off x="11572875" y="3983831"/>
            <a:ext cx="104775" cy="8262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Rectangle 118"/>
          <p:cNvSpPr/>
          <p:nvPr/>
        </p:nvSpPr>
        <p:spPr>
          <a:xfrm>
            <a:off x="11572875" y="4058841"/>
            <a:ext cx="104775" cy="8262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Rectangle 119"/>
          <p:cNvSpPr/>
          <p:nvPr/>
        </p:nvSpPr>
        <p:spPr>
          <a:xfrm>
            <a:off x="11572875" y="4133850"/>
            <a:ext cx="104775" cy="8262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Rectangle 120"/>
          <p:cNvSpPr/>
          <p:nvPr/>
        </p:nvSpPr>
        <p:spPr>
          <a:xfrm>
            <a:off x="11572875" y="4208859"/>
            <a:ext cx="104775" cy="8262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Rectangle 121"/>
          <p:cNvSpPr/>
          <p:nvPr/>
        </p:nvSpPr>
        <p:spPr>
          <a:xfrm>
            <a:off x="11572875" y="4283869"/>
            <a:ext cx="104775" cy="8262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Rectangle 122"/>
          <p:cNvSpPr/>
          <p:nvPr/>
        </p:nvSpPr>
        <p:spPr>
          <a:xfrm>
            <a:off x="11572875" y="4358878"/>
            <a:ext cx="104775" cy="8262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Rectangle 123"/>
          <p:cNvSpPr/>
          <p:nvPr/>
        </p:nvSpPr>
        <p:spPr>
          <a:xfrm>
            <a:off x="11572875" y="4433888"/>
            <a:ext cx="104775" cy="8262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Rectangle 124"/>
          <p:cNvSpPr/>
          <p:nvPr/>
        </p:nvSpPr>
        <p:spPr>
          <a:xfrm>
            <a:off x="11572875" y="4508897"/>
            <a:ext cx="104775" cy="8262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Rectangle 125"/>
          <p:cNvSpPr/>
          <p:nvPr/>
        </p:nvSpPr>
        <p:spPr>
          <a:xfrm>
            <a:off x="11572875" y="4583906"/>
            <a:ext cx="104775" cy="8262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Rectangle 126"/>
          <p:cNvSpPr/>
          <p:nvPr/>
        </p:nvSpPr>
        <p:spPr>
          <a:xfrm>
            <a:off x="11572875" y="4658916"/>
            <a:ext cx="104775" cy="8262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Rectangle 127"/>
          <p:cNvSpPr/>
          <p:nvPr/>
        </p:nvSpPr>
        <p:spPr>
          <a:xfrm>
            <a:off x="11572875" y="4733925"/>
            <a:ext cx="104775" cy="8262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Rectangle 128"/>
          <p:cNvSpPr/>
          <p:nvPr/>
        </p:nvSpPr>
        <p:spPr>
          <a:xfrm>
            <a:off x="11572875" y="4808934"/>
            <a:ext cx="104775" cy="8262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Rectangle 129"/>
          <p:cNvSpPr/>
          <p:nvPr/>
        </p:nvSpPr>
        <p:spPr>
          <a:xfrm>
            <a:off x="11572875" y="4883944"/>
            <a:ext cx="104775" cy="8262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Rectangle 130"/>
          <p:cNvSpPr/>
          <p:nvPr/>
        </p:nvSpPr>
        <p:spPr>
          <a:xfrm>
            <a:off x="11572875" y="4958953"/>
            <a:ext cx="104775" cy="8262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Rectangle 131"/>
          <p:cNvSpPr/>
          <p:nvPr/>
        </p:nvSpPr>
        <p:spPr>
          <a:xfrm>
            <a:off x="11572875" y="5033962"/>
            <a:ext cx="104775" cy="8262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Rectangle 132"/>
          <p:cNvSpPr/>
          <p:nvPr/>
        </p:nvSpPr>
        <p:spPr>
          <a:xfrm>
            <a:off x="11572875" y="5108972"/>
            <a:ext cx="104775" cy="8262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Rectangle 133"/>
          <p:cNvSpPr/>
          <p:nvPr/>
        </p:nvSpPr>
        <p:spPr>
          <a:xfrm>
            <a:off x="11572875" y="5183981"/>
            <a:ext cx="104775" cy="8262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Rectangle 134"/>
          <p:cNvSpPr/>
          <p:nvPr/>
        </p:nvSpPr>
        <p:spPr>
          <a:xfrm>
            <a:off x="11572875" y="5258991"/>
            <a:ext cx="104775" cy="8262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Rectangle 135"/>
          <p:cNvSpPr/>
          <p:nvPr/>
        </p:nvSpPr>
        <p:spPr>
          <a:xfrm>
            <a:off x="11572875" y="5334000"/>
            <a:ext cx="104775" cy="8262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Rectangle 136"/>
          <p:cNvSpPr/>
          <p:nvPr/>
        </p:nvSpPr>
        <p:spPr>
          <a:xfrm>
            <a:off x="11572875" y="5409009"/>
            <a:ext cx="104775" cy="8262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Rectangle 137"/>
          <p:cNvSpPr/>
          <p:nvPr/>
        </p:nvSpPr>
        <p:spPr>
          <a:xfrm>
            <a:off x="11572875" y="5484019"/>
            <a:ext cx="104775" cy="8262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9" name="Rectangle 138"/>
          <p:cNvSpPr/>
          <p:nvPr/>
        </p:nvSpPr>
        <p:spPr>
          <a:xfrm>
            <a:off x="11572875" y="5559028"/>
            <a:ext cx="104775" cy="8262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Rectangle 139"/>
          <p:cNvSpPr/>
          <p:nvPr/>
        </p:nvSpPr>
        <p:spPr>
          <a:xfrm>
            <a:off x="11572875" y="5634038"/>
            <a:ext cx="104775" cy="8262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Rectangle 140"/>
          <p:cNvSpPr/>
          <p:nvPr/>
        </p:nvSpPr>
        <p:spPr>
          <a:xfrm>
            <a:off x="11572875" y="5709047"/>
            <a:ext cx="104775" cy="8262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Rectangle 141"/>
          <p:cNvSpPr/>
          <p:nvPr/>
        </p:nvSpPr>
        <p:spPr>
          <a:xfrm>
            <a:off x="11572875" y="5784056"/>
            <a:ext cx="104775" cy="8262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Rectangle 142"/>
          <p:cNvSpPr/>
          <p:nvPr/>
        </p:nvSpPr>
        <p:spPr>
          <a:xfrm>
            <a:off x="11572875" y="5859066"/>
            <a:ext cx="104775" cy="8262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Rectangle 143"/>
          <p:cNvSpPr/>
          <p:nvPr/>
        </p:nvSpPr>
        <p:spPr>
          <a:xfrm>
            <a:off x="11572875" y="5934075"/>
            <a:ext cx="104775" cy="8262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Rectangle 144"/>
          <p:cNvSpPr/>
          <p:nvPr/>
        </p:nvSpPr>
        <p:spPr>
          <a:xfrm>
            <a:off x="11572875" y="6009084"/>
            <a:ext cx="104775" cy="8262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Rectangle 145"/>
          <p:cNvSpPr/>
          <p:nvPr/>
        </p:nvSpPr>
        <p:spPr>
          <a:xfrm>
            <a:off x="11572875" y="6084094"/>
            <a:ext cx="104775" cy="8262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Rectangle 146"/>
          <p:cNvSpPr/>
          <p:nvPr/>
        </p:nvSpPr>
        <p:spPr>
          <a:xfrm>
            <a:off x="11572875" y="6159103"/>
            <a:ext cx="104775" cy="8262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8" name="Rectangle 147"/>
          <p:cNvSpPr/>
          <p:nvPr/>
        </p:nvSpPr>
        <p:spPr>
          <a:xfrm>
            <a:off x="11572875" y="6234112"/>
            <a:ext cx="104775" cy="8262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Rectangle 148"/>
          <p:cNvSpPr/>
          <p:nvPr/>
        </p:nvSpPr>
        <p:spPr>
          <a:xfrm>
            <a:off x="11572875" y="6309122"/>
            <a:ext cx="104775" cy="8262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Rectangle 149"/>
          <p:cNvSpPr/>
          <p:nvPr/>
        </p:nvSpPr>
        <p:spPr>
          <a:xfrm>
            <a:off x="11572875" y="6384131"/>
            <a:ext cx="104775" cy="8262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Rectangle 150"/>
          <p:cNvSpPr/>
          <p:nvPr/>
        </p:nvSpPr>
        <p:spPr>
          <a:xfrm>
            <a:off x="11572875" y="6459141"/>
            <a:ext cx="104775" cy="8262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Rectangle 151"/>
          <p:cNvSpPr/>
          <p:nvPr/>
        </p:nvSpPr>
        <p:spPr>
          <a:xfrm>
            <a:off x="11572875" y="3533775"/>
            <a:ext cx="104775" cy="30003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TextBox 152"/>
          <p:cNvSpPr txBox="1"/>
          <p:nvPr/>
        </p:nvSpPr>
        <p:spPr>
          <a:xfrm>
            <a:off x="11687175" y="3467100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1687175" y="4967288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Product Type ×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Product Type × Ingredient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Snapshot: Product Type × Primary Product Function / Benefit,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Europe market value (US$ Mn) for each product type sub-segment across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Value, Product Type × Primary Product Function / Benefit,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744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631697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269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11639550" cy="1952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6536" y="271595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10100"/>
            <a:ext cx="628845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Europe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838" y="4599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688947" y="4610100"/>
            <a:ext cx="5825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627" y="4599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395736" y="4610100"/>
            <a:ext cx="391600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'Cleansing &amp; General Hygiene' its leading primary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5360"/>
            <a:ext cx="257787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function / benefit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03255" y="477513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78364" y="4785360"/>
            <a:ext cx="5828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13197"/>
            <a:ext cx="638259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Cleansing &amp; General Hygiene'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7972" y="50029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783081" y="5013197"/>
            <a:ext cx="47292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Coat Conditioning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188457"/>
            <a:ext cx="30559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Softening'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323" y="517823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456432" y="5188457"/>
            <a:ext cx="121700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416295"/>
            <a:ext cx="72029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primary product function / benefit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8362" y="5406072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603471" y="5416295"/>
            <a:ext cx="115538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Share, Product Type × Primary Product Function / Benefit,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3622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14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505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2219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077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2681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48443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6928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4380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6316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21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21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21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21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21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721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721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099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43350"/>
            <a:ext cx="7286625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4000500"/>
            <a:ext cx="70961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Primary Product Function / Benefit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4229100"/>
          <a:ext cx="7096125" cy="23431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943350"/>
            <a:ext cx="445770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7715250" y="4029075"/>
            <a:ext cx="4191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42672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7715250" y="4352925"/>
            <a:ext cx="4191000" cy="22002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739" y="246850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700397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4362450"/>
            <a:ext cx="385010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holds the highest share of 'Coat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537710"/>
            <a:ext cx="23351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Grooming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99529" y="452748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174638" y="4537710"/>
            <a:ext cx="5694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765547"/>
            <a:ext cx="412395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is the most concentrated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940807"/>
            <a:ext cx="19788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type 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43247" y="493058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818356" y="4940807"/>
            <a:ext cx="16901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'Cleansing &amp;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5116067"/>
            <a:ext cx="11290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General Hygiene'.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715250" y="5343905"/>
            <a:ext cx="24669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31316" y="5333682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306426" y="5343905"/>
            <a:ext cx="11998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715250" y="5519165"/>
            <a:ext cx="192129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cross-section by 2036F.</a:t>
            </a:r>
          </a:p>
        </p:txBody>
      </p:sp>
      <p:sp>
        <p:nvSpPr>
          <p:cNvPr id="38" name="lockshield_17"/>
          <p:cNvSpPr/>
          <p:nvPr/>
        </p:nvSpPr>
        <p:spPr>
          <a:xfrm>
            <a:off x="238125" y="4229100"/>
            <a:ext cx="7096125" cy="23431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939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0219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13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8999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47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6789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079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46537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46126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2841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1144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214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399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560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889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1722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47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9470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46126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2841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91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919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3919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46126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650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65047" y="232760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&amp; Attractiveness: Product Type × Primary Product Function / Benefit,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Primary Product Function / Benefit,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293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631697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269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560070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5334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5334000" cy="1952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19" name="Rounded Rectangle 18"/>
          <p:cNvSpPr/>
          <p:nvPr/>
        </p:nvSpPr>
        <p:spPr>
          <a:xfrm>
            <a:off x="5895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029325" y="4276725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029325" y="4600575"/>
            <a:ext cx="1676400" cy="1952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3" name="Rounded Rectangle 22"/>
          <p:cNvSpPr/>
          <p:nvPr/>
        </p:nvSpPr>
        <p:spPr>
          <a:xfrm>
            <a:off x="79914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8124825" y="4276725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8124825" y="4600575"/>
            <a:ext cx="1676400" cy="1952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7" name="Rounded Rectangle 26"/>
          <p:cNvSpPr/>
          <p:nvPr/>
        </p:nvSpPr>
        <p:spPr>
          <a:xfrm>
            <a:off x="10086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10220325" y="4276725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10220325" y="4600575"/>
            <a:ext cx="1676400" cy="1952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Cleansing &amp; General Hygiene' ranks highest (5/5); 'Fragrance &amp; Deodorizing Products × Dental &amp; Oral Hygiene'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3976" y="2715958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610100"/>
            <a:ext cx="39973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Cleansing &amp; General Hygiene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1626" y="4600321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389122" y="4610100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8571" y="4600321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616067" y="4610100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828032"/>
            <a:ext cx="407374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Coat Conditioning &amp; Softening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8024" y="4818253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65520" y="4828032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4970" y="4818253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692465" y="4828032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045964"/>
            <a:ext cx="444919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Coat Conditioning &amp; Grooming Products × Cleansing &amp; General Hygiene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3468" y="5036184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840964" y="5045964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0413" y="5036184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5067909" y="5045964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263896"/>
            <a:ext cx="41692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Moisturizing &amp; Skin Barrier Care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3522" y="5254116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561018" y="5263896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0468" y="5254116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787963" y="5263896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81828"/>
            <a:ext cx="375369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Shampoos &amp; Cleansing Products × Skin Soothing &amp; Comfort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7969" y="5472048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4145465" y="5481828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04915" y="5472048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372411" y="5481828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4610100"/>
            <a:ext cx="15441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785360"/>
            <a:ext cx="143999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Cleansing &amp;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960620"/>
            <a:ext cx="14057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General Hygiene' adds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4247" y="4950396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6029325" y="5135879"/>
            <a:ext cx="122463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 –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3111" y="512565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7378220" y="5135879"/>
            <a:ext cx="19771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311139"/>
            <a:ext cx="13664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total opportunity.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124825" y="4610100"/>
            <a:ext cx="15441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4785360"/>
            <a:ext cx="10141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4960620"/>
            <a:ext cx="15980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5135879"/>
            <a:ext cx="68949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5125656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8938584" y="5135879"/>
            <a:ext cx="4464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512565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124825" y="5311139"/>
            <a:ext cx="9254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124825" y="5486399"/>
            <a:ext cx="8900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Snapshot: Product Type × Ingredient Type,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Europe market value (US$ Mn) for each product type sub-segment across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Value, Product Type × Ingredient Type,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828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11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911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11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911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9111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9111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9111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9111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438912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64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8453" y="2519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628845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Europe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838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688947" y="4410075"/>
            <a:ext cx="5825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627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395736" y="4410075"/>
            <a:ext cx="43005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'Regular / Established Ingredients' its leading ingredient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585335"/>
            <a:ext cx="12950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0468" y="457511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695578" y="4585335"/>
            <a:ext cx="5828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13172"/>
            <a:ext cx="662049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Regular / Established Ingredients'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5874" y="48029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7020983" y="4813172"/>
            <a:ext cx="47968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Emerging Ingredients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988432"/>
            <a:ext cx="391227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Innovation Candidates'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7655" y="497820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4312764" y="4988432"/>
            <a:ext cx="121700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216270"/>
            <a:ext cx="60668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ingredient type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2196" y="5206047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467305" y="5216270"/>
            <a:ext cx="115538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Share, Product Type × Ingredient Type,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946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94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306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4188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85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7286625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70961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Ingredient Type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838575"/>
          <a:ext cx="7096125" cy="27336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552825"/>
            <a:ext cx="445770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7715250" y="3638550"/>
            <a:ext cx="4191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87667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7715250" y="3962400"/>
            <a:ext cx="4191000" cy="25908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06648" y="208045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442650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3971925"/>
            <a:ext cx="41390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holds the highest share of 'Ear &amp;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147185"/>
            <a:ext cx="15437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Eye Hygiene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08181" y="413696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9383291" y="4147185"/>
            <a:ext cx="5694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375022"/>
            <a:ext cx="41719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 Hygiene Products' is the most concentrated product type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550282"/>
            <a:ext cx="11787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4540059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018219" y="4550282"/>
            <a:ext cx="22398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'Regular / Established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4725542"/>
            <a:ext cx="8172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715250" y="4953380"/>
            <a:ext cx="26249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89347" y="494315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464456" y="4953380"/>
            <a:ext cx="11998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715250" y="5128640"/>
            <a:ext cx="192129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cross-section by 2036F.</a:t>
            </a:r>
          </a:p>
        </p:txBody>
      </p:sp>
      <p:sp>
        <p:nvSpPr>
          <p:cNvPr id="38" name="lockshield_17"/>
          <p:cNvSpPr/>
          <p:nvPr/>
        </p:nvSpPr>
        <p:spPr>
          <a:xfrm>
            <a:off x="238125" y="3838575"/>
            <a:ext cx="7096125" cy="27336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337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78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021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633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1622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64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2285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6825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6838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2718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246126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9150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002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702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728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765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172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6477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19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3630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477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1416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246126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2841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07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649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379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3434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9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7754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0598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372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7694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246126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9150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&amp; Attractiveness: Product Type × Ingredient Type,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Ingredient Type,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711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5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45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645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450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6450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6450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6450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6450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438912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64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560070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5334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5334000" cy="21526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19" name="Rounded Rectangle 18"/>
          <p:cNvSpPr/>
          <p:nvPr/>
        </p:nvSpPr>
        <p:spPr>
          <a:xfrm>
            <a:off x="5895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029325" y="4076700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029325" y="4400550"/>
            <a:ext cx="1676400" cy="21526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3" name="Rounded Rectangle 22"/>
          <p:cNvSpPr/>
          <p:nvPr/>
        </p:nvSpPr>
        <p:spPr>
          <a:xfrm>
            <a:off x="79914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8124825" y="4076700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8124825" y="4400550"/>
            <a:ext cx="1676400" cy="21526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7" name="Rounded Rectangle 26"/>
          <p:cNvSpPr/>
          <p:nvPr/>
        </p:nvSpPr>
        <p:spPr>
          <a:xfrm>
            <a:off x="10086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10220325" y="4076700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10220325" y="4400550"/>
            <a:ext cx="1676400" cy="21526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Regular / Established Ingredients' ranks highest (5/5); 'Coat Conditioning &amp; Grooming Products × Emerging Ingredients / Innovation Candidates'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4877" y="2519100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410075"/>
            <a:ext cx="422490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Regular / Established Ingredients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84" y="440029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616680" y="4410075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6129" y="4400296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843625" y="4410075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628007"/>
            <a:ext cx="40996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Niche / Specialized Ingredients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23945" y="4618228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91441" y="4628007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0891" y="4618228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18386" y="4628007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4845939"/>
            <a:ext cx="46767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Coat Conditioning &amp; Grooming Products × Regular / Established Ingredients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1026" y="4836160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5068522" y="4845939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27972" y="4836160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5295467" y="4845939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013579"/>
            <a:ext cx="27210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3/5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231511"/>
            <a:ext cx="420962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Skin, Paw &amp; Nose Care Products × Regular / Established Ingredients –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33904" y="5221731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4601400" y="5231511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0850" y="5221731"/>
            <a:ext cx="128699" cy="187198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828346" y="5231511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5449443"/>
            <a:ext cx="39978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Dental &amp; Oral Care Products × Regular / Established Ingredients –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2172" y="5439663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389667" y="5449443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17" y="5439663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616613" y="5449443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410075"/>
            <a:ext cx="15441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585335"/>
            <a:ext cx="12819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4760595"/>
            <a:ext cx="14882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4935854"/>
            <a:ext cx="3566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4925631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510192" y="4935854"/>
            <a:ext cx="11188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111114"/>
            <a:ext cx="1489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100891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302527" y="5111114"/>
            <a:ext cx="7411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029325" y="5286374"/>
            <a:ext cx="8229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410075"/>
            <a:ext cx="15441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585335"/>
            <a:ext cx="12999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Emerging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4760595"/>
            <a:ext cx="151045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 / Innovation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124825" y="4935854"/>
            <a:ext cx="141518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Candidates' grows at a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89160" y="4925631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124825" y="5111114"/>
            <a:ext cx="4464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20420" y="5100891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695529" y="5111114"/>
            <a:ext cx="9254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124825" y="5286374"/>
            <a:ext cx="8900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ang="195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209486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399665"/>
            <a:ext cx="72390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Country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3104515"/>
            <a:ext cx="7124700" cy="308737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Overview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Segment Overview (Volume &amp; Value)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Ingredient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Product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Pet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Pack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Price Tier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Sales Channels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Volume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Value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Key Segments (Value)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Volume Overview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Germany market in volume: size, growth, YoY momentum and gap to the Europe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505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(MT), 2021–2036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505325" cy="14382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91100" y="1819275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5086350" y="1876425"/>
            <a:ext cx="6858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 &amp; Growth Deviation from Regional Benchmark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86350" y="2105025"/>
          <a:ext cx="2880360" cy="14382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8042910" y="2124075"/>
            <a:ext cx="3901440" cy="7048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22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Europe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042910" y="2867025"/>
            <a:ext cx="3901440" cy="638175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endParaRPr/>
          </a:p>
        </p:txBody>
      </p:sp>
      <p:sp>
        <p:nvSpPr>
          <p:cNvPr id="23" name="Rounded Rectangle 22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(MT)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Share, 2026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142875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30" name="Rounded Rectangle 29"/>
          <p:cNvSpPr/>
          <p:nvPr/>
        </p:nvSpPr>
        <p:spPr>
          <a:xfrm>
            <a:off x="6172200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2661285"/>
            <a:ext cx="165021" cy="24003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26888" y="2548413"/>
            <a:ext cx="261282" cy="380047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78378" y="2141220"/>
            <a:ext cx="230504" cy="33527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4575810"/>
            <a:ext cx="165021" cy="240030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63959" y="4389011"/>
            <a:ext cx="362932" cy="527901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071485" y="2876550"/>
            <a:ext cx="306638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Germany's pet cosmetic products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085916" y="2866771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253412" y="2876550"/>
            <a:ext cx="3954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71485" y="3044190"/>
            <a:ext cx="27916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through 2036, trailing the Europe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811155" y="303441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978651" y="3044190"/>
            <a:ext cx="2128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39601" y="3034411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307097" y="3044190"/>
            <a:ext cx="3239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57175" y="5966460"/>
            <a:ext cx="93677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42000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1309496" y="5966460"/>
            <a:ext cx="41714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pet cosmetic products market in 2026; by 2036 that share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57175" y="6134100"/>
            <a:ext cx="60089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moves 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06120" y="612432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73615" y="6134100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286500" y="5966460"/>
            <a:ext cx="15869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821530" y="595668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7989026" y="5966460"/>
            <a:ext cx="341453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MT between 2026 and 2036 the Germany market grows to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351616" y="5956680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11519112" y="5966460"/>
            <a:ext cx="1457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286500" y="6134100"/>
            <a:ext cx="175560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its 2026 size over the decade.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2105025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lockshield_20"/>
          <p:cNvSpPr/>
          <p:nvPr/>
        </p:nvSpPr>
        <p:spPr>
          <a:xfrm>
            <a:off x="5086350" y="2105025"/>
            <a:ext cx="288036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lockshield_25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lockshield_28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Value Overview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Germany market in value: size, growth, YoY momentum and gap to the Europe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505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(US$ Mn), 2021–2036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505325" cy="14382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91100" y="1819275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5086350" y="1876425"/>
            <a:ext cx="6858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 &amp; Growth Deviation from Regional Benchmark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86350" y="2105025"/>
          <a:ext cx="2880360" cy="14382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8042910" y="2124075"/>
            <a:ext cx="3901440" cy="7048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22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Europe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042910" y="2867025"/>
            <a:ext cx="3901440" cy="638175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endParaRPr/>
          </a:p>
        </p:txBody>
      </p:sp>
      <p:sp>
        <p:nvSpPr>
          <p:cNvPr id="23" name="Rounded Rectangle 22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(US$ Mn)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Share, 2026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142875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30" name="Rounded Rectangle 29"/>
          <p:cNvSpPr/>
          <p:nvPr/>
        </p:nvSpPr>
        <p:spPr>
          <a:xfrm>
            <a:off x="6172200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2661285"/>
            <a:ext cx="165021" cy="24003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26888" y="2548413"/>
            <a:ext cx="261282" cy="380047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78378" y="2141220"/>
            <a:ext cx="230504" cy="33527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4575810"/>
            <a:ext cx="165021" cy="240030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63959" y="4389011"/>
            <a:ext cx="362932" cy="527901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071485" y="2876550"/>
            <a:ext cx="306638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Germany's pet cosmetic products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085916" y="2866771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253412" y="2876550"/>
            <a:ext cx="3954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71485" y="3044190"/>
            <a:ext cx="27916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through 2036, trailing the Europe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811155" y="303441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978651" y="3044190"/>
            <a:ext cx="2128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39601" y="3034411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307097" y="3044190"/>
            <a:ext cx="3239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57175" y="5966460"/>
            <a:ext cx="93677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42000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1309496" y="5966460"/>
            <a:ext cx="41714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pet cosmetic products market in 2026; by 2036 that share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57175" y="6134100"/>
            <a:ext cx="60089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moves 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06120" y="612432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73615" y="6134100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286500" y="5966460"/>
            <a:ext cx="15869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821530" y="595668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7989026" y="5966460"/>
            <a:ext cx="36762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 2036 the Germany market grows to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73032" y="6124320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6440528" y="6134100"/>
            <a:ext cx="18568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its 2026 size over the decade.</a:t>
            </a:r>
          </a:p>
        </p:txBody>
      </p:sp>
      <p:sp>
        <p:nvSpPr>
          <p:cNvPr id="60" name="lockshield_17"/>
          <p:cNvSpPr/>
          <p:nvPr/>
        </p:nvSpPr>
        <p:spPr>
          <a:xfrm>
            <a:off x="238125" y="2105025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lockshield_20"/>
          <p:cNvSpPr/>
          <p:nvPr/>
        </p:nvSpPr>
        <p:spPr>
          <a:xfrm>
            <a:off x="5086350" y="2105025"/>
            <a:ext cx="288036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lockshield_25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lockshield_28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Key Segments Overview, By Value (2026)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Germany's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2667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2667000" cy="144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31527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3248025" y="1038225"/>
            <a:ext cx="2667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Ingredient Type  (US$ Mn)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3248025" y="1266825"/>
          <a:ext cx="2667000" cy="144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1626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6257925" y="1038225"/>
            <a:ext cx="2667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Format  (US$ Mn)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6257925" y="1266825"/>
          <a:ext cx="2667000" cy="144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91725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9267825" y="1038225"/>
            <a:ext cx="266700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Product Function / Benefit  (US$ Mn)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9267825" y="1438275"/>
          <a:ext cx="2667000" cy="12763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3" name="Rounded Rectangle 22"/>
          <p:cNvSpPr/>
          <p:nvPr/>
        </p:nvSpPr>
        <p:spPr>
          <a:xfrm>
            <a:off x="1428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238125" y="2962275"/>
            <a:ext cx="2667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Pet Type  (US$ Mn)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3190875"/>
          <a:ext cx="2667000" cy="144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31527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3248025" y="2962275"/>
            <a:ext cx="2667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Size  (US$ Mn)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3248025" y="3190875"/>
          <a:ext cx="2667000" cy="144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61626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6257925" y="2962275"/>
            <a:ext cx="2667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Tier  (US$ Mn)</a:t>
            </a:r>
          </a:p>
        </p:txBody>
      </p:sp>
      <p:graphicFrame>
        <p:nvGraphicFramePr>
          <p:cNvPr id="31" name="Chart 30"/>
          <p:cNvGraphicFramePr>
            <a:graphicFrameLocks noGrp="1"/>
          </p:cNvGraphicFramePr>
          <p:nvPr/>
        </p:nvGraphicFramePr>
        <p:xfrm>
          <a:off x="6257925" y="3190875"/>
          <a:ext cx="2667000" cy="144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sp>
        <p:nvSpPr>
          <p:cNvPr id="32" name="Rounded Rectangle 31"/>
          <p:cNvSpPr/>
          <p:nvPr/>
        </p:nvSpPr>
        <p:spPr>
          <a:xfrm>
            <a:off x="91725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TextBox 32"/>
          <p:cNvSpPr txBox="1"/>
          <p:nvPr/>
        </p:nvSpPr>
        <p:spPr>
          <a:xfrm>
            <a:off x="9267825" y="2962275"/>
            <a:ext cx="2667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Channels  (US$ Mn)</a:t>
            </a:r>
          </a:p>
        </p:txBody>
      </p:sp>
      <p:graphicFrame>
        <p:nvGraphicFramePr>
          <p:cNvPr id="34" name="Chart 33"/>
          <p:cNvGraphicFramePr>
            <a:graphicFrameLocks noGrp="1"/>
          </p:cNvGraphicFramePr>
          <p:nvPr/>
        </p:nvGraphicFramePr>
        <p:xfrm>
          <a:off x="9267825" y="3190875"/>
          <a:ext cx="2667000" cy="144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sp>
        <p:nvSpPr>
          <p:cNvPr id="35" name="Rounded Rectangle 34"/>
          <p:cNvSpPr/>
          <p:nvPr/>
        </p:nvSpPr>
        <p:spPr>
          <a:xfrm>
            <a:off x="142875" y="4829175"/>
            <a:ext cx="29337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238125" y="4886325"/>
            <a:ext cx="274320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× Primary Product Function / Benefit  (US$ Mn)</a:t>
            </a:r>
          </a:p>
        </p:txBody>
      </p:sp>
      <p:graphicFrame>
        <p:nvGraphicFramePr>
          <p:cNvPr id="37" name="Chart 36"/>
          <p:cNvGraphicFramePr>
            <a:graphicFrameLocks noGrp="1"/>
          </p:cNvGraphicFramePr>
          <p:nvPr/>
        </p:nvGraphicFramePr>
        <p:xfrm>
          <a:off x="238125" y="5286375"/>
          <a:ext cx="2743200" cy="12763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  <p:sp>
        <p:nvSpPr>
          <p:cNvPr id="38" name="Rounded Rectangle 37"/>
          <p:cNvSpPr/>
          <p:nvPr/>
        </p:nvSpPr>
        <p:spPr>
          <a:xfrm>
            <a:off x="3228975" y="4829175"/>
            <a:ext cx="29337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3324225" y="4886325"/>
            <a:ext cx="2743200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× Ingredient Type  (US$ Mn)</a:t>
            </a:r>
          </a:p>
        </p:txBody>
      </p:sp>
      <p:graphicFrame>
        <p:nvGraphicFramePr>
          <p:cNvPr id="40" name="Chart 39"/>
          <p:cNvGraphicFramePr>
            <a:graphicFrameLocks noGrp="1"/>
          </p:cNvGraphicFramePr>
          <p:nvPr/>
        </p:nvGraphicFramePr>
        <p:xfrm>
          <a:off x="3324225" y="5286375"/>
          <a:ext cx="2743200" cy="12763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3"/>
          </a:graphicData>
        </a:graphic>
      </p:graphicFrame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811655" y="1771650"/>
            <a:ext cx="183356" cy="266700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4821555" y="1771650"/>
            <a:ext cx="183356" cy="266700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831455" y="1771650"/>
            <a:ext cx="183356" cy="266700"/>
          </a:xfrm>
          <a:prstGeom prst="rect">
            <a:avLst/>
          </a:prstGeom>
        </p:spPr>
      </p:pic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841355" y="1857375"/>
            <a:ext cx="183356" cy="266700"/>
          </a:xfrm>
          <a:prstGeom prst="rect">
            <a:avLst/>
          </a:prstGeom>
        </p:spPr>
      </p:pic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811655" y="3695700"/>
            <a:ext cx="183356" cy="266700"/>
          </a:xfrm>
          <a:prstGeom prst="rect">
            <a:avLst/>
          </a:prstGeom>
        </p:spPr>
      </p:pic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4821555" y="3695700"/>
            <a:ext cx="183356" cy="266700"/>
          </a:xfrm>
          <a:prstGeom prst="rect">
            <a:avLst/>
          </a:prstGeom>
        </p:spPr>
      </p:pic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831455" y="3695700"/>
            <a:ext cx="183356" cy="266700"/>
          </a:xfrm>
          <a:prstGeom prst="rect">
            <a:avLst/>
          </a:prstGeom>
        </p:spPr>
      </p:pic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841355" y="3695700"/>
            <a:ext cx="183356" cy="266700"/>
          </a:xfrm>
          <a:prstGeom prst="rect">
            <a:avLst/>
          </a:prstGeom>
        </p:spPr>
      </p:pic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849755" y="5705475"/>
            <a:ext cx="183356" cy="266700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4935855" y="5705475"/>
            <a:ext cx="183356" cy="266700"/>
          </a:xfrm>
          <a:prstGeom prst="rect">
            <a:avLst/>
          </a:prstGeom>
        </p:spPr>
      </p:pic>
      <p:sp>
        <p:nvSpPr>
          <p:cNvPr id="52" name="lockshield_13"/>
          <p:cNvSpPr/>
          <p:nvPr/>
        </p:nvSpPr>
        <p:spPr>
          <a:xfrm>
            <a:off x="2381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lockshield_16"/>
          <p:cNvSpPr/>
          <p:nvPr/>
        </p:nvSpPr>
        <p:spPr>
          <a:xfrm>
            <a:off x="32480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lockshield_19"/>
          <p:cNvSpPr/>
          <p:nvPr/>
        </p:nvSpPr>
        <p:spPr>
          <a:xfrm>
            <a:off x="62579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lockshield_22"/>
          <p:cNvSpPr/>
          <p:nvPr/>
        </p:nvSpPr>
        <p:spPr>
          <a:xfrm>
            <a:off x="9267825" y="1438275"/>
            <a:ext cx="26670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lockshield_25"/>
          <p:cNvSpPr/>
          <p:nvPr/>
        </p:nvSpPr>
        <p:spPr>
          <a:xfrm>
            <a:off x="2381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lockshield_28"/>
          <p:cNvSpPr/>
          <p:nvPr/>
        </p:nvSpPr>
        <p:spPr>
          <a:xfrm>
            <a:off x="32480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lockshield_31"/>
          <p:cNvSpPr/>
          <p:nvPr/>
        </p:nvSpPr>
        <p:spPr>
          <a:xfrm>
            <a:off x="62579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lockshield_34"/>
          <p:cNvSpPr/>
          <p:nvPr/>
        </p:nvSpPr>
        <p:spPr>
          <a:xfrm>
            <a:off x="92678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lockshield_37"/>
          <p:cNvSpPr/>
          <p:nvPr/>
        </p:nvSpPr>
        <p:spPr>
          <a:xfrm>
            <a:off x="238125" y="5286375"/>
            <a:ext cx="27432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lockshield_40"/>
          <p:cNvSpPr/>
          <p:nvPr/>
        </p:nvSpPr>
        <p:spPr>
          <a:xfrm>
            <a:off x="3324225" y="5286375"/>
            <a:ext cx="27432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Key Segments Overview, By Value (2026)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Germany's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endParaRPr/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5162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76225" y="1076325"/>
            <a:ext cx="1468037" cy="16169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Key Takeaways · 2026 Total: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8698" y="1068003"/>
            <a:ext cx="109510" cy="159288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>
          <a:xfrm>
            <a:off x="1831222" y="1076325"/>
            <a:ext cx="465087" cy="16169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US$ Mn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76225" y="1400175"/>
            <a:ext cx="36663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Type, 'Shampoos &amp; Cleansing Products' leads at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1762" y="1389951"/>
            <a:ext cx="134549" cy="195707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4066871" y="1400175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39342" y="13899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14451" y="1400175"/>
            <a:ext cx="359452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58127" y="13899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533236" y="1400175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1628013"/>
            <a:ext cx="38586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Ingredient Type, 'Regular / Established Ingredients' leads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84023" y="16177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4259132" y="1628013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1603" y="161778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5006712" y="1628013"/>
            <a:ext cx="303656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'Niche / Specialized Ingredients'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2431" y="161778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8167541" y="1628013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855851"/>
            <a:ext cx="225976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Format, 'Liquid' leads at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5144" y="184562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660253" y="1855851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2724" y="184562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3407833" y="1855851"/>
            <a:ext cx="154383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'Spray' (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0818" y="184562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5075928" y="1855851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76225" y="2083689"/>
            <a:ext cx="47546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Primary Product Function / Benefit, 'Cleansing &amp; General Hygiene' leads at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80005" y="207346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5155115" y="2083689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27586" y="207346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5902695" y="2083689"/>
            <a:ext cx="300946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Softening'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61315" y="207346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036424" y="2083689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2311527"/>
            <a:ext cx="17791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Pet Type, 'Dogs' leads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04522" y="2301303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2179631" y="2311527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52102" y="2301303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927211" y="2311527"/>
            <a:ext cx="14668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'Cats' (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43178" y="2301303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518287" y="2311527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2539365"/>
            <a:ext cx="32462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Pack Size, 'Liquid, Gel &amp; Cream Products' leads at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1583" y="2529141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3646692" y="2539365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19163" y="2529141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394272" y="2539365"/>
            <a:ext cx="34447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'Wipes &amp; Other Count-Based Products'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88190" y="2529141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7963299" y="2539365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2767203"/>
            <a:ext cx="345386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Price Tier, 'Mid-Range: US$3 to below US$6' leads at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9248" y="2756979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3854357" y="2767203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26828" y="2756979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601937" y="2767203"/>
            <a:ext cx="311073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'Premium: US$6 to below US$12'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61822" y="27569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7836931" y="2767203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2995040"/>
            <a:ext cx="259065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Sales Channels, 'E-commerce' leads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6038" y="2984817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991147" y="2995040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3618" y="2984817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3738728" y="2995040"/>
            <a:ext cx="23456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'Pet Specialty Retail' (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3562" y="2984817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6208671" y="2995040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76225" y="3222878"/>
            <a:ext cx="587424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 × Primary Product Function / Benefit, 'Shampoos &amp; Cleansing Products' leads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99627" y="3212655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6274736" y="3222878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7207" y="3212655"/>
            <a:ext cx="134549" cy="195707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7022317" y="3222878"/>
            <a:ext cx="359452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65992" y="3212655"/>
            <a:ext cx="134549" cy="195707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0741101" y="3222878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76225" y="3450716"/>
            <a:ext cx="47403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 × Ingredient Type, 'Shampoos &amp; Cleansing Products' leads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65743" y="3440493"/>
            <a:ext cx="134549" cy="195707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5140852" y="3450716"/>
            <a:ext cx="6233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13323" y="3440493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5888432" y="3450716"/>
            <a:ext cx="359452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2108" y="3440493"/>
            <a:ext cx="134549" cy="195707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9607217" y="3450716"/>
            <a:ext cx="6270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276225" y="3678554"/>
            <a:ext cx="697791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Use the Country slicer in the top band to switch country the selection stays synced across every page of the report.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7684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11137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Segment 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797175"/>
            <a:ext cx="8458200" cy="32448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Ingredient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Product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Pet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Pack Size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Price Tier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Sales Channels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Product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06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13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113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2459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79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Type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06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13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113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2459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79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3997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40108" y="2238757"/>
            <a:ext cx="365138" cy="53111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40108" y="5124832"/>
            <a:ext cx="365138" cy="53111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611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99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99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99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99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99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996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996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399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399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3996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3996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3996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3996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3996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3996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39960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86710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Product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2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918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530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530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530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53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53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60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2060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19350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9880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3902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Product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623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1141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2959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42807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Ingredient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Ingredient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Ingredient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65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879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87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9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44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3891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1569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1569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1569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Ingredient Type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Ingredient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65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879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87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9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44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38912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1569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1569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1569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73611" y="2357418"/>
            <a:ext cx="334520" cy="486574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73611" y="5243493"/>
            <a:ext cx="334520" cy="486574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Ingredient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Ingredient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446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33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3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33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33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33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33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33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33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33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33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33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336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2336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2336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2336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2336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6867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Ingredient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19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032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6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64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64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6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6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905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03744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99291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1657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60910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Ingredient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9224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3181116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Product Format: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Format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Format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6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41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9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9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92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92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49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49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49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49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49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49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49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49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Format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Format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6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41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9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9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92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92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49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49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49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49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49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49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49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498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41053" y="2237612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41053" y="5123687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Product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Product Format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2941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76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Product Format,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558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Primary Product Function / Benefit: growth contribution, share variance and absolute $…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Primary Product Function / Benefit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Primary Product Function / Benefit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0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91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9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50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42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1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1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1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1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1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1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Primary Product Function / Benefit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Primary Product Function / Benefit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0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91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9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50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42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1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1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1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1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1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1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4106" y="2237614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4106" y="5123689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lockshield_20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Primary Product Function / Benefit,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Primary Product Function / Benefit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Primary Product Function / Benefit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66786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Primary Product Function / Benefit,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292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Pet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Pet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Pet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Pet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94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21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21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6210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6210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1993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1993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Pet Type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Pet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94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21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21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6210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6210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1993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1993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28700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28700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Pet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Pet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Pet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55557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158991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318058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Pet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581275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3789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41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3337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505" y="2819758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Pack Size: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Pack Size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Pack Size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890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66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66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060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95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799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799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799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Pack Size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Pack Size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890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66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66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060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95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799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799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799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70989" y="2241170"/>
            <a:ext cx="361820" cy="526284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70989" y="5127245"/>
            <a:ext cx="361820" cy="526284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Pack Size,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Pack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45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0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0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04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04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504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504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3504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3504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3504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3504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3504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35046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3504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3504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3504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81370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Pack Size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963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00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006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00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006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104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1560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1340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81863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57488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Pack Size,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0573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15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318058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Tier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Price Tier: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Price Tier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Price Tier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347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851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51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91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12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96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996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0996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0996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Price Tier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Price Tier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347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851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51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91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12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96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996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0996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0996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95192" y="2243075"/>
            <a:ext cx="359200" cy="522472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95192" y="5129150"/>
            <a:ext cx="359200" cy="522472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Price Tier,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Price Tier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119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11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11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11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11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11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311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113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3113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3113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3113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311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3113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3113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3113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3113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3113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7711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Price Tier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20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657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9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59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90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90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0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170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11630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60867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5294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2163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Price Tier,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0121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Sales Channels: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Sales Channels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Sales Channels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197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095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095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095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0953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797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797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797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797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797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Sales Channels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Sales Channels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197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095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095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095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0953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797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797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797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797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797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33848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33848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Sales Channels,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Sales Channels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Sales Channels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623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88931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1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2959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42807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Sales Channels,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5607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Product Type ×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Product Type × Ingredient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Snapshot: Product Type × Primary Product Function / Benefit,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market value (US$ Mn) for each product type sub-segment across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Value, Product Type × Primary Product Function / Benefit,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744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57046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631697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269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11639550" cy="1952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6536" y="271595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10100"/>
            <a:ext cx="64082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Germany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3645" y="4599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808754" y="4610100"/>
            <a:ext cx="5825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0434" y="4599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15543" y="4610100"/>
            <a:ext cx="399587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'Coat Conditioning &amp; Softening' its leading primary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5360"/>
            <a:ext cx="257787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function / benefit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03255" y="477513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78364" y="4785360"/>
            <a:ext cx="5828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13197"/>
            <a:ext cx="64624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Coat Conditioning &amp; Softening'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7843" y="50029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862952" y="5013197"/>
            <a:ext cx="47292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Coat Conditioning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188457"/>
            <a:ext cx="30559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Softening'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323" y="517823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456432" y="5188457"/>
            <a:ext cx="121700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416295"/>
            <a:ext cx="720298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primary product function / benefit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8362" y="5406072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603471" y="5416295"/>
            <a:ext cx="115538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Share, Product Type × Primary Product Function / Benefit,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3622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14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505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2219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077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2681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48443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6928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4380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6316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21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21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21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21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21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721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721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099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43350"/>
            <a:ext cx="7286625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4000500"/>
            <a:ext cx="70961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Primary Product Function / Benefit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4229100"/>
          <a:ext cx="7096125" cy="23431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943350"/>
            <a:ext cx="445770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7715250" y="4029075"/>
            <a:ext cx="4191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42672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7715250" y="4352925"/>
            <a:ext cx="4191000" cy="22002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739" y="246850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700397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4362450"/>
            <a:ext cx="41008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holds the highest share of 'Dental &amp;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537710"/>
            <a:ext cx="13746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Oral Care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39079" y="452748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9214188" y="4537710"/>
            <a:ext cx="5694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765547"/>
            <a:ext cx="41719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'Dental &amp; Oral Care Products' is the most concentrated product type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940807"/>
            <a:ext cx="11787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493058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018219" y="4940807"/>
            <a:ext cx="277612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'Cleansing &amp; General Hygiene'.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5168645"/>
            <a:ext cx="24669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+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31316" y="5158422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0306426" y="5168645"/>
            <a:ext cx="11998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715250" y="5343905"/>
            <a:ext cx="20411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Germany cross-section by 2036F.</a:t>
            </a:r>
          </a:p>
        </p:txBody>
      </p:sp>
      <p:sp>
        <p:nvSpPr>
          <p:cNvPr id="37" name="lockshield_17"/>
          <p:cNvSpPr/>
          <p:nvPr/>
        </p:nvSpPr>
        <p:spPr>
          <a:xfrm>
            <a:off x="238125" y="4229100"/>
            <a:ext cx="7096125" cy="23431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939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0219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13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8999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47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6789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079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46537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46126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2841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1144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214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399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560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889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1722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47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9470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46126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2841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91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919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3919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46126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650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6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65047" y="232760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Absolute $ Opportunity &amp; Attractiveness: Product Type × Primary Product Function / Benefit,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Primary Product Function / Benefit,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293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58486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631697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269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560070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5334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5334000" cy="1952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19" name="Rounded Rectangle 18"/>
          <p:cNvSpPr/>
          <p:nvPr/>
        </p:nvSpPr>
        <p:spPr>
          <a:xfrm>
            <a:off x="5895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029325" y="4276725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029325" y="4600575"/>
            <a:ext cx="1676400" cy="1952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3" name="Rounded Rectangle 22"/>
          <p:cNvSpPr/>
          <p:nvPr/>
        </p:nvSpPr>
        <p:spPr>
          <a:xfrm>
            <a:off x="79914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8124825" y="4276725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8124825" y="4600575"/>
            <a:ext cx="1676400" cy="1952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7" name="Rounded Rectangle 26"/>
          <p:cNvSpPr/>
          <p:nvPr/>
        </p:nvSpPr>
        <p:spPr>
          <a:xfrm>
            <a:off x="10086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10220325" y="4276725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10220325" y="4600575"/>
            <a:ext cx="1676400" cy="19526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Moisturizing &amp; Skin Barrier Care' ranks highest (5/5); 'Coat Conditioning &amp; Grooming Products × Dental &amp; Oral Hygiene'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3976" y="2715958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610100"/>
            <a:ext cx="407374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Coat Conditioning &amp; Softening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8024" y="4600321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465520" y="4610100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4970" y="4600321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692465" y="4610100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828032"/>
            <a:ext cx="41692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Moisturizing &amp; Skin Barrier Care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3522" y="4818253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561018" y="4828032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0468" y="4818253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87963" y="4828032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045964"/>
            <a:ext cx="39973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Shampoos &amp; Cleansing Products × Cleansing &amp; General Hygiene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1626" y="5036184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389122" y="5045964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8571" y="5036184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616067" y="5045964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263896"/>
            <a:ext cx="375369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Skin Soothing &amp; Comfort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7969" y="5254116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145465" y="5263896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04915" y="5254116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372411" y="5263896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81828"/>
            <a:ext cx="41774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Shampoos &amp; Cleansing Products × Body &amp; Coat Odor Management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1708" y="5472048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4569204" y="5481828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8653" y="5472048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796149" y="5481828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4610100"/>
            <a:ext cx="15441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785360"/>
            <a:ext cx="10141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960620"/>
            <a:ext cx="15980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5135879"/>
            <a:ext cx="3566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5125656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6510192" y="5135879"/>
            <a:ext cx="11188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029325" y="5311139"/>
            <a:ext cx="1489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300916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6302527" y="5311139"/>
            <a:ext cx="7411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6029325" y="5486399"/>
            <a:ext cx="8229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4610100"/>
            <a:ext cx="15441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785360"/>
            <a:ext cx="10141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960620"/>
            <a:ext cx="15980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5135879"/>
            <a:ext cx="68949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512565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938584" y="5135879"/>
            <a:ext cx="4464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5125656"/>
            <a:ext cx="134549" cy="195707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8124825" y="5311139"/>
            <a:ext cx="9254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124825" y="5486399"/>
            <a:ext cx="8900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Snapshot: Product Type × Ingredient Type,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market value (US$ Mn) for each product type sub-segment across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Value, Product Type × Ingredient Type,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828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11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911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11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911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9111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9111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9111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9111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438912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64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8453" y="2519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64082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Germany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3645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808754" y="4410075"/>
            <a:ext cx="5825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0434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15543" y="4410075"/>
            <a:ext cx="36555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'Regular / Established Ingredients' its leading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585335"/>
            <a:ext cx="194004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type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5427" y="457511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40537" y="4585335"/>
            <a:ext cx="5828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13172"/>
            <a:ext cx="662049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Regular / Established Ingredients'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5874" y="48029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7020983" y="4813172"/>
            <a:ext cx="47814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Regular / Established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988432"/>
            <a:ext cx="316177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7152" y="497820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562261" y="4988432"/>
            <a:ext cx="121700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216270"/>
            <a:ext cx="606681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ingredient type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2196" y="5206047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467305" y="5216270"/>
            <a:ext cx="115538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Share, Product Type × Ingredient Type,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946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94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306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4188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85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0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7286625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709612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Ingredient Type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838575"/>
          <a:ext cx="7096125" cy="27336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552825"/>
            <a:ext cx="445770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7715250" y="3638550"/>
            <a:ext cx="4191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87667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7715250" y="3962400"/>
            <a:ext cx="4191000" cy="259080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06648" y="208045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442650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3971925"/>
            <a:ext cx="41390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holds the highest share of 'Ear &amp;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147185"/>
            <a:ext cx="154377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Eye Hygiene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08181" y="413696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9383291" y="4147185"/>
            <a:ext cx="5694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375022"/>
            <a:ext cx="41719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 Hygiene Products' is the most concentrated product type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550282"/>
            <a:ext cx="11787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4540059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018219" y="4550282"/>
            <a:ext cx="223985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'Regular / Established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4725542"/>
            <a:ext cx="81728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715250" y="4953380"/>
            <a:ext cx="262494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89347" y="494315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464456" y="4953380"/>
            <a:ext cx="11998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715250" y="5128640"/>
            <a:ext cx="20411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Germany cross-section by 2036F.</a:t>
            </a:r>
          </a:p>
        </p:txBody>
      </p:sp>
      <p:sp>
        <p:nvSpPr>
          <p:cNvPr id="38" name="lockshield_17"/>
          <p:cNvSpPr/>
          <p:nvPr/>
        </p:nvSpPr>
        <p:spPr>
          <a:xfrm>
            <a:off x="238125" y="3838575"/>
            <a:ext cx="7096125" cy="27336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337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78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021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633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1622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64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2285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6825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6838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2718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246126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9150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002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702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728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765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172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6477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019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3630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477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1416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246126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2841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726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07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649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379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3434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209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7754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0598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372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7694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246126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9150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Absolute $ Opportunity &amp; Attractiveness: Product Type × Ingredient Type,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Ingredient Type,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711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5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45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645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450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6450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6450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6450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6450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438912">
                <a:tc rowSpan="2"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364">
                <a:tc vMerge="1"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36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560070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5334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5334000" cy="21526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19" name="Rounded Rectangle 18"/>
          <p:cNvSpPr/>
          <p:nvPr/>
        </p:nvSpPr>
        <p:spPr>
          <a:xfrm>
            <a:off x="5895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029325" y="4076700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029325" y="4400550"/>
            <a:ext cx="1676400" cy="21526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3" name="Rounded Rectangle 22"/>
          <p:cNvSpPr/>
          <p:nvPr/>
        </p:nvSpPr>
        <p:spPr>
          <a:xfrm>
            <a:off x="79914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8124825" y="4076700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8124825" y="4400550"/>
            <a:ext cx="1676400" cy="21526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7" name="Rounded Rectangle 26"/>
          <p:cNvSpPr/>
          <p:nvPr/>
        </p:nvSpPr>
        <p:spPr>
          <a:xfrm>
            <a:off x="10086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10220325" y="4076700"/>
            <a:ext cx="16764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10220325" y="4400550"/>
            <a:ext cx="1676400" cy="21526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Regular / Established Ingredients' ranks highest (5/5); 'Coat Conditioning &amp; Grooming Products × Emerging Ingredients / Innovation Candidates'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4877" y="2519100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410075"/>
            <a:ext cx="422490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Regular / Established Ingredients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84" y="440029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616680" y="4410075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6129" y="4400296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843625" y="4410075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628007"/>
            <a:ext cx="40996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Niche / Specialized Ingredients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23945" y="4618228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91441" y="4628007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0891" y="4618228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18386" y="4628007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4845939"/>
            <a:ext cx="39978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Dental &amp; Oral Care Products × Regular / Established Ingredients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2172" y="4836160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389667" y="4845939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17" y="4836160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616613" y="4845939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063871"/>
            <a:ext cx="495751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Emerging Ingredients / Innovation Candidates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1791" y="5054091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349286" y="5063871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757" y="5221731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30253" y="5231511"/>
            <a:ext cx="3389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49443"/>
            <a:ext cx="46767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Coat Conditioning &amp; Grooming Products × Regular / Established Ingredients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1026" y="5439663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5068522" y="5449443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27972" y="5439663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5295467" y="5449443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76225" y="5617083"/>
            <a:ext cx="27210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3/5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410075"/>
            <a:ext cx="15441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585335"/>
            <a:ext cx="12819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4760595"/>
            <a:ext cx="14882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4935854"/>
            <a:ext cx="35660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4925631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510192" y="4935854"/>
            <a:ext cx="11188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111114"/>
            <a:ext cx="14893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100891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302527" y="5111114"/>
            <a:ext cx="7411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029325" y="5286374"/>
            <a:ext cx="8229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410075"/>
            <a:ext cx="15441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585335"/>
            <a:ext cx="12819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4760595"/>
            <a:ext cx="14882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124825" y="4935854"/>
            <a:ext cx="68949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4925631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938584" y="4935854"/>
            <a:ext cx="4464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4925631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124825" y="5111114"/>
            <a:ext cx="9254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124825" y="5286374"/>
            <a:ext cx="89002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ang="195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Pricing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Market Pricing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Product Pricing &amp; Regional Price Index Trends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Europe Pricing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Price Positioning &amp; Key Findings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Key Pricing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Factors Impacting Pricing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Product Pricing &amp; Price Index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range by sub-segment and indexed regional price movement, highlighting dispersion and structural shifts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average USD pricing by product type and indexed regional price movement with base-year inflation adjustments.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Pricing by Product Type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57150" y="3471051"/>
            <a:ext cx="559594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17728.6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7150" y="2561000"/>
            <a:ext cx="559594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19126.5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7150" y="1650949"/>
            <a:ext cx="559594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20524.3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241425" y="2356833"/>
            <a:ext cx="0" cy="970881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Rectangle 16"/>
          <p:cNvSpPr/>
          <p:nvPr/>
        </p:nvSpPr>
        <p:spPr>
          <a:xfrm>
            <a:off x="1022350" y="2356833"/>
            <a:ext cx="438150" cy="970881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657225" y="2204433"/>
            <a:ext cx="11684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57225" y="3566301"/>
            <a:ext cx="11684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Shampoos &amp; Cleansing…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2409825" y="2166718"/>
            <a:ext cx="0" cy="1044072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ectangle 20"/>
          <p:cNvSpPr/>
          <p:nvPr/>
        </p:nvSpPr>
        <p:spPr>
          <a:xfrm>
            <a:off x="2190750" y="2166718"/>
            <a:ext cx="438150" cy="1044072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825625" y="2014318"/>
            <a:ext cx="11684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825625" y="3566301"/>
            <a:ext cx="11684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Coat Conditioning &amp; G…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3578225" y="2289672"/>
            <a:ext cx="0" cy="1004659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3359150" y="2289672"/>
            <a:ext cx="438150" cy="1004659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2994025" y="2137272"/>
            <a:ext cx="11684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994025" y="3566301"/>
            <a:ext cx="11684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Skin, Paw &amp; Nose Care…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4746625" y="1927636"/>
            <a:ext cx="0" cy="1037256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4527550" y="1927636"/>
            <a:ext cx="438150" cy="1037256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4162425" y="1775236"/>
            <a:ext cx="11684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162425" y="3566301"/>
            <a:ext cx="11684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Ear &amp; Eye Hygiene Pro…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5915025" y="2249242"/>
            <a:ext cx="0" cy="1004435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Rectangle 32"/>
          <p:cNvSpPr/>
          <p:nvPr/>
        </p:nvSpPr>
        <p:spPr>
          <a:xfrm>
            <a:off x="5695950" y="2249242"/>
            <a:ext cx="438150" cy="1004435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5330825" y="2096842"/>
            <a:ext cx="11684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330825" y="3566301"/>
            <a:ext cx="11684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Dental &amp; Oral Care Pr…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7083425" y="2207232"/>
            <a:ext cx="0" cy="1046588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6864350" y="2207232"/>
            <a:ext cx="438150" cy="1046588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6499225" y="2054832"/>
            <a:ext cx="11684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499225" y="3566301"/>
            <a:ext cx="1168400" cy="2857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Fragrance &amp; Deodorizi…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142875" y="3991741"/>
            <a:ext cx="7696200" cy="2564645"/>
          </a:xfrm>
          <a:prstGeom prst="roundRect">
            <a:avLst>
              <a:gd name="adj" fmla="val 29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238125" y="4048891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Country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619125" y="448049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619125" y="473821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619125" y="4995933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619125" y="5253650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619125" y="5511367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619125" y="4480499"/>
            <a:ext cx="0" cy="1030868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590550" y="448049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90550" y="473821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590550" y="499593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590550" y="5253650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90550" y="5511367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FMI Scale tick"/>
          <p:cNvSpPr txBox="1"/>
          <p:nvPr/>
        </p:nvSpPr>
        <p:spPr>
          <a:xfrm>
            <a:off x="138112" y="4413824"/>
            <a:ext cx="442912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+8.8%</a:t>
            </a:r>
          </a:p>
        </p:txBody>
      </p:sp>
      <p:sp>
        <p:nvSpPr>
          <p:cNvPr id="54" name="FMI Scale tick"/>
          <p:cNvSpPr txBox="1"/>
          <p:nvPr/>
        </p:nvSpPr>
        <p:spPr>
          <a:xfrm>
            <a:off x="138112" y="4671541"/>
            <a:ext cx="442912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+4.4%</a:t>
            </a:r>
          </a:p>
        </p:txBody>
      </p:sp>
      <p:sp>
        <p:nvSpPr>
          <p:cNvPr id="55" name="FMI Scale tick"/>
          <p:cNvSpPr txBox="1"/>
          <p:nvPr/>
        </p:nvSpPr>
        <p:spPr>
          <a:xfrm>
            <a:off x="219075" y="4929258"/>
            <a:ext cx="361950" cy="1333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56" name="FMI Scale tick"/>
          <p:cNvSpPr txBox="1"/>
          <p:nvPr/>
        </p:nvSpPr>
        <p:spPr>
          <a:xfrm>
            <a:off x="164306" y="5186975"/>
            <a:ext cx="416719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-4.4%</a:t>
            </a:r>
          </a:p>
        </p:txBody>
      </p:sp>
      <p:sp>
        <p:nvSpPr>
          <p:cNvPr id="57" name="FMI Scale tick"/>
          <p:cNvSpPr txBox="1"/>
          <p:nvPr/>
        </p:nvSpPr>
        <p:spPr>
          <a:xfrm>
            <a:off x="164306" y="5444692"/>
            <a:ext cx="416719" cy="1333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-8.8%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619125" y="4995933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667055" y="4575642"/>
            <a:ext cx="186080" cy="42029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FMI Dense Label"/>
          <p:cNvSpPr txBox="1"/>
          <p:nvPr/>
        </p:nvSpPr>
        <p:spPr>
          <a:xfrm>
            <a:off x="584897" y="4461342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1" name="Rectangle 60"/>
          <p:cNvSpPr/>
          <p:nvPr/>
        </p:nvSpPr>
        <p:spPr>
          <a:xfrm>
            <a:off x="948995" y="4739641"/>
            <a:ext cx="186080" cy="25629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FMI Dense Label"/>
          <p:cNvSpPr txBox="1"/>
          <p:nvPr/>
        </p:nvSpPr>
        <p:spPr>
          <a:xfrm>
            <a:off x="866837" y="4625341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3" name="Rectangle 62"/>
          <p:cNvSpPr/>
          <p:nvPr/>
        </p:nvSpPr>
        <p:spPr>
          <a:xfrm>
            <a:off x="1230935" y="4574076"/>
            <a:ext cx="186080" cy="421857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FMI Dense Label"/>
          <p:cNvSpPr txBox="1"/>
          <p:nvPr/>
        </p:nvSpPr>
        <p:spPr>
          <a:xfrm>
            <a:off x="1148777" y="4459776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512875" y="4686535"/>
            <a:ext cx="186080" cy="309398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FMI Dense Label"/>
          <p:cNvSpPr txBox="1"/>
          <p:nvPr/>
        </p:nvSpPr>
        <p:spPr>
          <a:xfrm>
            <a:off x="1430717" y="4343635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7" name="Rectangle 66"/>
          <p:cNvSpPr/>
          <p:nvPr/>
        </p:nvSpPr>
        <p:spPr>
          <a:xfrm>
            <a:off x="1794815" y="4563849"/>
            <a:ext cx="186080" cy="43208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FMI Dense Label"/>
          <p:cNvSpPr txBox="1"/>
          <p:nvPr/>
        </p:nvSpPr>
        <p:spPr>
          <a:xfrm>
            <a:off x="1712657" y="4220949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9" name="Rectangle 68"/>
          <p:cNvSpPr/>
          <p:nvPr/>
        </p:nvSpPr>
        <p:spPr>
          <a:xfrm>
            <a:off x="2076755" y="4750169"/>
            <a:ext cx="186080" cy="24576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FMI Dense Label"/>
          <p:cNvSpPr txBox="1"/>
          <p:nvPr/>
        </p:nvSpPr>
        <p:spPr>
          <a:xfrm>
            <a:off x="1994597" y="4635869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1" name="Rectangle 70"/>
          <p:cNvSpPr/>
          <p:nvPr/>
        </p:nvSpPr>
        <p:spPr>
          <a:xfrm>
            <a:off x="2358695" y="4611405"/>
            <a:ext cx="186080" cy="384528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FMI Dense Label"/>
          <p:cNvSpPr txBox="1"/>
          <p:nvPr/>
        </p:nvSpPr>
        <p:spPr>
          <a:xfrm>
            <a:off x="2276537" y="4497105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640635" y="4661268"/>
            <a:ext cx="186080" cy="33466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FMI Dense Label"/>
          <p:cNvSpPr txBox="1"/>
          <p:nvPr/>
        </p:nvSpPr>
        <p:spPr>
          <a:xfrm>
            <a:off x="2558477" y="4318368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5" name="Rectangle 74"/>
          <p:cNvSpPr/>
          <p:nvPr/>
        </p:nvSpPr>
        <p:spPr>
          <a:xfrm>
            <a:off x="2922575" y="4634405"/>
            <a:ext cx="186080" cy="361528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FMI Dense Label"/>
          <p:cNvSpPr txBox="1"/>
          <p:nvPr/>
        </p:nvSpPr>
        <p:spPr>
          <a:xfrm>
            <a:off x="2840417" y="4520105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7" name="Rectangle 76"/>
          <p:cNvSpPr/>
          <p:nvPr/>
        </p:nvSpPr>
        <p:spPr>
          <a:xfrm>
            <a:off x="3204515" y="4714245"/>
            <a:ext cx="186080" cy="281688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FMI Dense Label"/>
          <p:cNvSpPr txBox="1"/>
          <p:nvPr/>
        </p:nvSpPr>
        <p:spPr>
          <a:xfrm>
            <a:off x="3122357" y="4371345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79" name="Rectangle 78"/>
          <p:cNvSpPr/>
          <p:nvPr/>
        </p:nvSpPr>
        <p:spPr>
          <a:xfrm>
            <a:off x="3486455" y="4599600"/>
            <a:ext cx="186080" cy="39633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FMI Dense Label"/>
          <p:cNvSpPr txBox="1"/>
          <p:nvPr/>
        </p:nvSpPr>
        <p:spPr>
          <a:xfrm>
            <a:off x="3404297" y="4256700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1" name="Rectangle 80"/>
          <p:cNvSpPr/>
          <p:nvPr/>
        </p:nvSpPr>
        <p:spPr>
          <a:xfrm>
            <a:off x="3768395" y="4583881"/>
            <a:ext cx="186080" cy="41205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FMI Dense Label"/>
          <p:cNvSpPr txBox="1"/>
          <p:nvPr/>
        </p:nvSpPr>
        <p:spPr>
          <a:xfrm>
            <a:off x="3686237" y="4469581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3" name="Rectangle 82"/>
          <p:cNvSpPr/>
          <p:nvPr/>
        </p:nvSpPr>
        <p:spPr>
          <a:xfrm>
            <a:off x="4050335" y="4704976"/>
            <a:ext cx="186080" cy="290957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FMI Dense Label"/>
          <p:cNvSpPr txBox="1"/>
          <p:nvPr/>
        </p:nvSpPr>
        <p:spPr>
          <a:xfrm>
            <a:off x="3968177" y="4590676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5" name="Rectangle 84"/>
          <p:cNvSpPr/>
          <p:nvPr/>
        </p:nvSpPr>
        <p:spPr>
          <a:xfrm>
            <a:off x="4332275" y="4548420"/>
            <a:ext cx="186080" cy="44751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FMI Dense Label"/>
          <p:cNvSpPr txBox="1"/>
          <p:nvPr/>
        </p:nvSpPr>
        <p:spPr>
          <a:xfrm>
            <a:off x="4250117" y="4434120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7" name="Rectangle 86"/>
          <p:cNvSpPr/>
          <p:nvPr/>
        </p:nvSpPr>
        <p:spPr>
          <a:xfrm>
            <a:off x="4614215" y="4730525"/>
            <a:ext cx="186080" cy="265408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FMI Dense Label"/>
          <p:cNvSpPr txBox="1"/>
          <p:nvPr/>
        </p:nvSpPr>
        <p:spPr>
          <a:xfrm>
            <a:off x="4532057" y="4616225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9" name="Rectangle 88"/>
          <p:cNvSpPr/>
          <p:nvPr/>
        </p:nvSpPr>
        <p:spPr>
          <a:xfrm>
            <a:off x="4896155" y="4823463"/>
            <a:ext cx="186080" cy="172470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FMI Dense Label"/>
          <p:cNvSpPr txBox="1"/>
          <p:nvPr/>
        </p:nvSpPr>
        <p:spPr>
          <a:xfrm>
            <a:off x="4813997" y="4480563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1" name="Rectangle 90"/>
          <p:cNvSpPr/>
          <p:nvPr/>
        </p:nvSpPr>
        <p:spPr>
          <a:xfrm>
            <a:off x="5178095" y="4803770"/>
            <a:ext cx="186080" cy="19216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FMI Dense Label"/>
          <p:cNvSpPr txBox="1"/>
          <p:nvPr/>
        </p:nvSpPr>
        <p:spPr>
          <a:xfrm>
            <a:off x="5095937" y="4689470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3" name="Rectangle 92"/>
          <p:cNvSpPr/>
          <p:nvPr/>
        </p:nvSpPr>
        <p:spPr>
          <a:xfrm>
            <a:off x="5460035" y="4795157"/>
            <a:ext cx="186080" cy="200776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FMI Dense Label"/>
          <p:cNvSpPr txBox="1"/>
          <p:nvPr/>
        </p:nvSpPr>
        <p:spPr>
          <a:xfrm>
            <a:off x="5377877" y="4566557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5" name="Rectangle 94"/>
          <p:cNvSpPr/>
          <p:nvPr/>
        </p:nvSpPr>
        <p:spPr>
          <a:xfrm>
            <a:off x="5741975" y="4800790"/>
            <a:ext cx="186080" cy="19514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FMI Dense Label"/>
          <p:cNvSpPr txBox="1"/>
          <p:nvPr/>
        </p:nvSpPr>
        <p:spPr>
          <a:xfrm>
            <a:off x="5659817" y="4686490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023915" y="4827692"/>
            <a:ext cx="186080" cy="16824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FMI Dense Label"/>
          <p:cNvSpPr txBox="1"/>
          <p:nvPr/>
        </p:nvSpPr>
        <p:spPr>
          <a:xfrm>
            <a:off x="5941757" y="4484792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305855" y="4649143"/>
            <a:ext cx="186080" cy="346790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FMI Dense Label"/>
          <p:cNvSpPr txBox="1"/>
          <p:nvPr/>
        </p:nvSpPr>
        <p:spPr>
          <a:xfrm>
            <a:off x="6223697" y="4306243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6587795" y="4740582"/>
            <a:ext cx="186080" cy="25535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FMI Dense Label"/>
          <p:cNvSpPr txBox="1"/>
          <p:nvPr/>
        </p:nvSpPr>
        <p:spPr>
          <a:xfrm>
            <a:off x="6505637" y="4626282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869735" y="4622884"/>
            <a:ext cx="186080" cy="373049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FMI Dense Label"/>
          <p:cNvSpPr txBox="1"/>
          <p:nvPr/>
        </p:nvSpPr>
        <p:spPr>
          <a:xfrm>
            <a:off x="6787577" y="4508584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7151675" y="4684005"/>
            <a:ext cx="186080" cy="311928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FMI Dense Label"/>
          <p:cNvSpPr txBox="1"/>
          <p:nvPr/>
        </p:nvSpPr>
        <p:spPr>
          <a:xfrm>
            <a:off x="7069517" y="4341105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7433615" y="4709741"/>
            <a:ext cx="186080" cy="28619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FMI Dense Label"/>
          <p:cNvSpPr txBox="1"/>
          <p:nvPr/>
        </p:nvSpPr>
        <p:spPr>
          <a:xfrm>
            <a:off x="7351457" y="4595441"/>
            <a:ext cx="350396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9" name="FMI Dense Label"/>
          <p:cNvSpPr txBox="1"/>
          <p:nvPr/>
        </p:nvSpPr>
        <p:spPr>
          <a:xfrm>
            <a:off x="49244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110" name="FMI Dense Label"/>
          <p:cNvSpPr txBox="1"/>
          <p:nvPr/>
        </p:nvSpPr>
        <p:spPr>
          <a:xfrm>
            <a:off x="774383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11" name="FMI Dense Label"/>
          <p:cNvSpPr txBox="1"/>
          <p:nvPr/>
        </p:nvSpPr>
        <p:spPr>
          <a:xfrm>
            <a:off x="105632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112" name="FMI Dense Label"/>
          <p:cNvSpPr txBox="1"/>
          <p:nvPr/>
        </p:nvSpPr>
        <p:spPr>
          <a:xfrm>
            <a:off x="1338263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113" name="FMI Dense Label"/>
          <p:cNvSpPr txBox="1"/>
          <p:nvPr/>
        </p:nvSpPr>
        <p:spPr>
          <a:xfrm>
            <a:off x="1620203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114" name="FMI Dense Label"/>
          <p:cNvSpPr txBox="1"/>
          <p:nvPr/>
        </p:nvSpPr>
        <p:spPr>
          <a:xfrm>
            <a:off x="1902143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115" name="FMI Dense Label"/>
          <p:cNvSpPr txBox="1"/>
          <p:nvPr/>
        </p:nvSpPr>
        <p:spPr>
          <a:xfrm>
            <a:off x="218408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116" name="FMI Dense Label"/>
          <p:cNvSpPr txBox="1"/>
          <p:nvPr/>
        </p:nvSpPr>
        <p:spPr>
          <a:xfrm>
            <a:off x="246602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117" name="FMI Dense Label"/>
          <p:cNvSpPr txBox="1"/>
          <p:nvPr/>
        </p:nvSpPr>
        <p:spPr>
          <a:xfrm>
            <a:off x="274796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18" name="FMI Dense Label"/>
          <p:cNvSpPr txBox="1"/>
          <p:nvPr/>
        </p:nvSpPr>
        <p:spPr>
          <a:xfrm>
            <a:off x="302990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119" name="FMI Dense Label"/>
          <p:cNvSpPr txBox="1"/>
          <p:nvPr/>
        </p:nvSpPr>
        <p:spPr>
          <a:xfrm>
            <a:off x="331184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120" name="FMI Dense Label"/>
          <p:cNvSpPr txBox="1"/>
          <p:nvPr/>
        </p:nvSpPr>
        <p:spPr>
          <a:xfrm>
            <a:off x="359378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121" name="FMI Dense Label"/>
          <p:cNvSpPr txBox="1"/>
          <p:nvPr/>
        </p:nvSpPr>
        <p:spPr>
          <a:xfrm>
            <a:off x="387572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122" name="FMI Dense Label"/>
          <p:cNvSpPr txBox="1"/>
          <p:nvPr/>
        </p:nvSpPr>
        <p:spPr>
          <a:xfrm>
            <a:off x="415766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123" name="FMI Dense Label"/>
          <p:cNvSpPr txBox="1"/>
          <p:nvPr/>
        </p:nvSpPr>
        <p:spPr>
          <a:xfrm>
            <a:off x="4308395" y="5628650"/>
            <a:ext cx="797719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124" name="FMI Dense Label"/>
          <p:cNvSpPr txBox="1"/>
          <p:nvPr/>
        </p:nvSpPr>
        <p:spPr>
          <a:xfrm>
            <a:off x="472154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125" name="FMI Dense Label"/>
          <p:cNvSpPr txBox="1"/>
          <p:nvPr/>
        </p:nvSpPr>
        <p:spPr>
          <a:xfrm>
            <a:off x="5003483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26" name="FMI Dense Label"/>
          <p:cNvSpPr txBox="1"/>
          <p:nvPr/>
        </p:nvSpPr>
        <p:spPr>
          <a:xfrm>
            <a:off x="528542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127" name="FMI Dense Label"/>
          <p:cNvSpPr txBox="1"/>
          <p:nvPr/>
        </p:nvSpPr>
        <p:spPr>
          <a:xfrm>
            <a:off x="556736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128" name="FMI Dense Label"/>
          <p:cNvSpPr txBox="1"/>
          <p:nvPr/>
        </p:nvSpPr>
        <p:spPr>
          <a:xfrm>
            <a:off x="584930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129" name="FMI Dense Label"/>
          <p:cNvSpPr txBox="1"/>
          <p:nvPr/>
        </p:nvSpPr>
        <p:spPr>
          <a:xfrm>
            <a:off x="613124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30" name="FMI Dense Label"/>
          <p:cNvSpPr txBox="1"/>
          <p:nvPr/>
        </p:nvSpPr>
        <p:spPr>
          <a:xfrm>
            <a:off x="641318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131" name="FMI Dense Label"/>
          <p:cNvSpPr txBox="1"/>
          <p:nvPr/>
        </p:nvSpPr>
        <p:spPr>
          <a:xfrm>
            <a:off x="6581775" y="5628650"/>
            <a:ext cx="762000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132" name="FMI Dense Label"/>
          <p:cNvSpPr txBox="1"/>
          <p:nvPr/>
        </p:nvSpPr>
        <p:spPr>
          <a:xfrm>
            <a:off x="6977062" y="605918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33" name="FMI Dense Label"/>
          <p:cNvSpPr txBox="1"/>
          <p:nvPr/>
        </p:nvSpPr>
        <p:spPr>
          <a:xfrm>
            <a:off x="7259002" y="5628650"/>
            <a:ext cx="535305" cy="430530"/>
          </a:xfrm>
          <a:prstGeom prst="rect">
            <a:avLst/>
          </a:prstGeom>
          <a:noFill/>
        </p:spPr>
        <p:txBody>
          <a:bodyPr wrap="square" lIns="9525" tIns="0" rIns="9525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134" name="Rounded Rectangle 133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TextBox 134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TextBox 136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38" name="TextBox 13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7075" y="2177509"/>
            <a:ext cx="128699" cy="187198"/>
          </a:xfrm>
          <a:prstGeom prst="rect">
            <a:avLst/>
          </a:prstGeom>
        </p:spPr>
      </p:pic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987394"/>
            <a:ext cx="128699" cy="187198"/>
          </a:xfrm>
          <a:prstGeom prst="rect">
            <a:avLst/>
          </a:prstGeom>
        </p:spPr>
      </p:pic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875" y="2110348"/>
            <a:ext cx="128699" cy="187198"/>
          </a:xfrm>
          <a:prstGeom prst="rect">
            <a:avLst/>
          </a:prstGeom>
        </p:spPr>
      </p:pic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2275" y="1748312"/>
            <a:ext cx="128699" cy="187198"/>
          </a:xfrm>
          <a:prstGeom prst="rect">
            <a:avLst/>
          </a:prstGeom>
        </p:spPr>
      </p:pic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2069918"/>
            <a:ext cx="128699" cy="187198"/>
          </a:xfrm>
          <a:prstGeom prst="rect">
            <a:avLst/>
          </a:prstGeom>
        </p:spPr>
      </p:pic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9075" y="2027908"/>
            <a:ext cx="128699" cy="187198"/>
          </a:xfrm>
          <a:prstGeom prst="rect">
            <a:avLst/>
          </a:prstGeom>
        </p:spPr>
      </p:pic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295" y="4459945"/>
            <a:ext cx="93599" cy="136144"/>
          </a:xfrm>
          <a:prstGeom prst="rect">
            <a:avLst/>
          </a:prstGeom>
        </p:spPr>
      </p:pic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5235" y="4623944"/>
            <a:ext cx="93599" cy="136144"/>
          </a:xfrm>
          <a:prstGeom prst="rect">
            <a:avLst/>
          </a:prstGeom>
        </p:spPr>
      </p:pic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77175" y="4458379"/>
            <a:ext cx="93599" cy="136144"/>
          </a:xfrm>
          <a:prstGeom prst="rect">
            <a:avLst/>
          </a:prstGeom>
        </p:spPr>
      </p:pic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9115" y="4342238"/>
            <a:ext cx="93599" cy="136144"/>
          </a:xfrm>
          <a:prstGeom prst="rect">
            <a:avLst/>
          </a:prstGeom>
        </p:spPr>
      </p:pic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1055" y="4219552"/>
            <a:ext cx="93599" cy="136144"/>
          </a:xfrm>
          <a:prstGeom prst="rect">
            <a:avLst/>
          </a:prstGeom>
        </p:spPr>
      </p:pic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22995" y="4634472"/>
            <a:ext cx="93599" cy="136144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4935" y="4495708"/>
            <a:ext cx="93599" cy="136144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6875" y="4316971"/>
            <a:ext cx="93599" cy="136144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8815" y="4518708"/>
            <a:ext cx="93599" cy="136144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0755" y="4369948"/>
            <a:ext cx="93599" cy="136144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695" y="4255303"/>
            <a:ext cx="93599" cy="136144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14635" y="4468184"/>
            <a:ext cx="93599" cy="136144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96575" y="4589279"/>
            <a:ext cx="93599" cy="136144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78515" y="4432723"/>
            <a:ext cx="93599" cy="136144"/>
          </a:xfrm>
          <a:prstGeom prst="rect">
            <a:avLst/>
          </a:prstGeom>
        </p:spPr>
      </p:pic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0455" y="4614828"/>
            <a:ext cx="93599" cy="136144"/>
          </a:xfrm>
          <a:prstGeom prst="rect">
            <a:avLst/>
          </a:prstGeom>
        </p:spPr>
      </p:pic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42395" y="4479166"/>
            <a:ext cx="93599" cy="136144"/>
          </a:xfrm>
          <a:prstGeom prst="rect">
            <a:avLst/>
          </a:prstGeom>
        </p:spPr>
      </p:pic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24335" y="4688073"/>
            <a:ext cx="93599" cy="136144"/>
          </a:xfrm>
          <a:prstGeom prst="rect">
            <a:avLst/>
          </a:prstGeom>
        </p:spPr>
      </p:pic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06275" y="4565160"/>
            <a:ext cx="93599" cy="136144"/>
          </a:xfrm>
          <a:prstGeom prst="rect">
            <a:avLst/>
          </a:prstGeom>
        </p:spPr>
      </p:pic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88215" y="4685093"/>
            <a:ext cx="93599" cy="136144"/>
          </a:xfrm>
          <a:prstGeom prst="rect">
            <a:avLst/>
          </a:prstGeom>
        </p:spPr>
      </p:pic>
      <p:pic>
        <p:nvPicPr>
          <p:cNvPr id="164" name="Picture 1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0155" y="4483395"/>
            <a:ext cx="93599" cy="136144"/>
          </a:xfrm>
          <a:prstGeom prst="rect">
            <a:avLst/>
          </a:prstGeom>
        </p:spPr>
      </p:pic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2095" y="4304846"/>
            <a:ext cx="93599" cy="136144"/>
          </a:xfrm>
          <a:prstGeom prst="rect">
            <a:avLst/>
          </a:prstGeom>
        </p:spPr>
      </p:pic>
      <p:pic>
        <p:nvPicPr>
          <p:cNvPr id="166" name="Picture 1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4035" y="4624885"/>
            <a:ext cx="93599" cy="136144"/>
          </a:xfrm>
          <a:prstGeom prst="rect">
            <a:avLst/>
          </a:prstGeom>
        </p:spPr>
      </p:pic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5975" y="4507187"/>
            <a:ext cx="93599" cy="136144"/>
          </a:xfrm>
          <a:prstGeom prst="rect">
            <a:avLst/>
          </a:prstGeom>
        </p:spPr>
      </p:pic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7915" y="4339708"/>
            <a:ext cx="93599" cy="136144"/>
          </a:xfrm>
          <a:prstGeom prst="rect">
            <a:avLst/>
          </a:prstGeom>
        </p:spPr>
      </p:pic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79855" y="4594044"/>
            <a:ext cx="93599" cy="136144"/>
          </a:xfrm>
          <a:prstGeom prst="rect">
            <a:avLst/>
          </a:prstGeom>
        </p:spPr>
      </p:pic>
      <p:sp>
        <p:nvSpPr>
          <p:cNvPr id="170" name="TextBox 169"/>
          <p:cNvSpPr txBox="1"/>
          <p:nvPr/>
        </p:nvSpPr>
        <p:spPr>
          <a:xfrm>
            <a:off x="8048625" y="1736673"/>
            <a:ext cx="372031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chart shows Europe average pricing of key product type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8048625" y="1911934"/>
            <a:ext cx="38481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types in USD, harmonised across regions. Each candlestick spans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8048625" y="2087194"/>
            <a:ext cx="38481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minimum-to-maximum observed price within the base year,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8048625" y="2262454"/>
            <a:ext cx="340625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giving a clear read of price range and market dispersion.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8048625" y="2490292"/>
            <a:ext cx="379305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Wider bodies mark a larger gap between opening and closing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8048625" y="2665551"/>
            <a:ext cx="383641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levels 'Fragrance &amp; Deodorizing Products' shows the most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8048625" y="2840811"/>
            <a:ext cx="87376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movement (+</a:t>
            </a:r>
          </a:p>
        </p:txBody>
      </p:sp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1548" y="2830588"/>
            <a:ext cx="134549" cy="195707"/>
          </a:xfrm>
          <a:prstGeom prst="rect">
            <a:avLst/>
          </a:prstGeom>
        </p:spPr>
      </p:pic>
      <p:sp>
        <p:nvSpPr>
          <p:cNvPr id="178" name="TextBox 177"/>
          <p:cNvSpPr txBox="1"/>
          <p:nvPr/>
        </p:nvSpPr>
        <p:spPr>
          <a:xfrm>
            <a:off x="9046658" y="2840811"/>
            <a:ext cx="26152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and 'Shampoos &amp; Cleansing Products' the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8048625" y="3016071"/>
            <a:ext cx="5086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least (+</a:t>
            </a:r>
          </a:p>
        </p:txBody>
      </p:sp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06423" y="3005848"/>
            <a:ext cx="134549" cy="195707"/>
          </a:xfrm>
          <a:prstGeom prst="rect">
            <a:avLst/>
          </a:prstGeom>
        </p:spPr>
      </p:pic>
      <p:sp>
        <p:nvSpPr>
          <p:cNvPr id="181" name="TextBox 180"/>
          <p:cNvSpPr txBox="1"/>
          <p:nvPr/>
        </p:nvSpPr>
        <p:spPr>
          <a:xfrm>
            <a:off x="8681533" y="3016071"/>
            <a:ext cx="283916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variability stakeholders should monitor when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8048625" y="3191331"/>
            <a:ext cx="203817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planning procurement or pricing.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8048625" y="3419169"/>
            <a:ext cx="379733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lower chart indexes country-level price movement to the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8048625" y="3594429"/>
            <a:ext cx="37166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base year, applied consistently across the horizon to strip out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8048625" y="3769689"/>
            <a:ext cx="36932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year-on-year inflationary volatility and reveal structural price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8048625" y="3944949"/>
            <a:ext cx="4310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shifts.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8048625" y="4172787"/>
            <a:ext cx="240672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Country price indices diverge by up to</a:t>
            </a:r>
          </a:p>
        </p:txBody>
      </p:sp>
      <p:pic>
        <p:nvPicPr>
          <p:cNvPr id="188" name="Picture 1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04503" y="4162564"/>
            <a:ext cx="134549" cy="195707"/>
          </a:xfrm>
          <a:prstGeom prst="rect">
            <a:avLst/>
          </a:prstGeom>
        </p:spPr>
      </p:pic>
      <p:sp>
        <p:nvSpPr>
          <p:cNvPr id="189" name="TextBox 188"/>
          <p:cNvSpPr txBox="1"/>
          <p:nvPr/>
        </p:nvSpPr>
        <p:spPr>
          <a:xfrm>
            <a:off x="10579612" y="4172787"/>
            <a:ext cx="118754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8048625" y="4348047"/>
            <a:ext cx="367268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2036: higher-priced countries start higher and grow steadily,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8048625" y="4523307"/>
            <a:ext cx="33300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while lower-priced countries start lower and converge,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8048625" y="4698567"/>
            <a:ext cx="168874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reflecting catch-up growth.</a:t>
            </a: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Pricing Assessment: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Average price (US$/MT) by product type, 2021 to 2036, with 2026 price index and growth outlook</a:t>
            </a:r>
          </a:p>
        </p:txBody>
      </p:sp>
      <p:sp>
        <p:nvSpPr>
          <p:cNvPr id="10" name="Rectangle 9"/>
          <p:cNvSpPr/>
          <p:nvPr/>
        </p:nvSpPr>
        <p:spPr>
          <a:xfrm>
            <a:off x="274320" y="981075"/>
            <a:ext cx="11640312" cy="457200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square" lIns="137160" rtlCol="0" anchor="ctr"/>
          <a:lstStyle/>
          <a:p>
            <a:pPr algn="l"/>
            <a:endParaRPr/>
          </a:p>
        </p:txBody>
      </p:sp>
      <p:sp>
        <p:nvSpPr>
          <p:cNvPr id="11" name="Rectangle 10"/>
          <p:cNvSpPr/>
          <p:nvPr/>
        </p:nvSpPr>
        <p:spPr>
          <a:xfrm>
            <a:off x="274320" y="1529715"/>
            <a:ext cx="6446520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384048" y="1575435"/>
            <a:ext cx="6217920" cy="25717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Trend by Product Type, 2021 to 2036 (US$/MT)</a:t>
            </a:r>
          </a:p>
        </p:txBody>
      </p:sp>
      <p:graphicFrame>
        <p:nvGraphicFramePr>
          <p:cNvPr id="13" name="FMI Price Chart"/>
          <p:cNvGraphicFramePr>
            <a:graphicFrameLocks noGrp="1"/>
          </p:cNvGraphicFramePr>
          <p:nvPr/>
        </p:nvGraphicFramePr>
        <p:xfrm>
          <a:off x="347472" y="1831467"/>
          <a:ext cx="6309360" cy="31821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572000" y="1593723"/>
            <a:ext cx="2103120" cy="2286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r"/>
            <a:r>
              <a:rPr sz="850" b="0" i="1">
                <a:solidFill>
                  <a:srgbClr val="59636E"/>
                </a:solidFill>
                <a:latin typeface="Calibri"/>
              </a:rPr>
              <a:t>Forecast period: 2026 to 2036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858000" y="1529715"/>
            <a:ext cx="5056632" cy="160020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6967728" y="1575435"/>
            <a:ext cx="4846320" cy="25717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2026 Price Index vs Europe Average (= 100)</a:t>
            </a:r>
          </a:p>
        </p:txBody>
      </p:sp>
      <p:graphicFrame>
        <p:nvGraphicFramePr>
          <p:cNvPr id="17" name="FMI Open Chart"/>
          <p:cNvGraphicFramePr>
            <a:graphicFrameLocks noGrp="1"/>
          </p:cNvGraphicFramePr>
          <p:nvPr/>
        </p:nvGraphicFramePr>
        <p:xfrm>
          <a:off x="6903720" y="1785747"/>
          <a:ext cx="4965192" cy="13258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8" name="Table 17"/>
          <p:cNvGraphicFramePr>
            <a:graphicFrameLocks noGrp="1"/>
          </p:cNvGraphicFramePr>
          <p:nvPr/>
        </p:nvGraphicFramePr>
        <p:xfrm>
          <a:off x="6858000" y="3203067"/>
          <a:ext cx="5056632" cy="1893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305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86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86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86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72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29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0886">
                <a:tc>
                  <a:txBody>
                    <a:bodyPr/>
                    <a:lstStyle/>
                    <a:p>
                      <a:pPr algn="l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Product Type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2021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2026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2036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CAGR 2026 to 2036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1">
                          <a:solidFill>
                            <a:srgbClr val="FFFFFF"/>
                          </a:solidFill>
                          <a:latin typeface="Calibri"/>
                        </a:rPr>
                        <a:t>Index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86">
                <a:tc>
                  <a:txBody>
                    <a:bodyPr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Ear &amp; Eye Hygiene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0.54%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102.4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886">
                <a:tc>
                  <a:txBody>
                    <a:bodyPr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Coat Conditioning &amp; Grooming Products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0.55%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100.4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0886">
                <a:tc>
                  <a:txBody>
                    <a:bodyPr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Fragrance &amp; Deodorizing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0.56%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100.1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886">
                <a:tc>
                  <a:txBody>
                    <a:bodyPr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Dental &amp; Oral Care Products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0.54%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100.0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886">
                <a:tc>
                  <a:txBody>
                    <a:bodyPr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Skin, Paw &amp; Nose Care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0.54%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99.7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0886">
                <a:tc>
                  <a:txBody>
                    <a:bodyPr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Shampoos &amp; Cleansing Products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0.52%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99.3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0886">
                <a:tc>
                  <a:txBody>
                    <a:bodyPr/>
                    <a:lstStyle/>
                    <a:p>
                      <a:pPr algn="l"/>
                      <a:r>
                        <a:rPr sz="850" b="1">
                          <a:solidFill>
                            <a:srgbClr val="1F1F1F"/>
                          </a:solidFill>
                          <a:latin typeface="Calibri"/>
                        </a:rPr>
                        <a:t>Europe Average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0.54%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50" b="0">
                          <a:solidFill>
                            <a:srgbClr val="1F1F1F"/>
                          </a:solidFill>
                          <a:latin typeface="Calibri"/>
                        </a:rPr>
                        <a:t>100.0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9" name="Rectangle 18"/>
          <p:cNvSpPr/>
          <p:nvPr/>
        </p:nvSpPr>
        <p:spPr>
          <a:xfrm>
            <a:off x="274320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Oval 19"/>
          <p:cNvSpPr/>
          <p:nvPr/>
        </p:nvSpPr>
        <p:spPr>
          <a:xfrm>
            <a:off x="388620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79145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Hierarchy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79145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>Ear &amp; Eye Hygiene Products sit at the top of the 2026 price ladder at an index of 102.4, while Shampoos &amp; Cleansing Products trade at 99.3, which keeps the full product type spread within 3.2%.</a:t>
            </a:r>
          </a:p>
        </p:txBody>
      </p:sp>
      <p:sp>
        <p:nvSpPr>
          <p:cNvPr id="23" name="Rectangle 22"/>
          <p:cNvSpPr/>
          <p:nvPr/>
        </p:nvSpPr>
        <p:spPr>
          <a:xfrm>
            <a:off x="4200144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Oval 23"/>
          <p:cNvSpPr/>
          <p:nvPr/>
        </p:nvSpPr>
        <p:spPr>
          <a:xfrm>
            <a:off x="4314444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704969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Momentum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704969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>Fragrance &amp; Deodorizing Products post the fastest price growth at a 0.56% CAGR between 2026 and 2036, compared with 0.52% for Shampoos &amp; Cleansing Products.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125968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Oval 27"/>
          <p:cNvSpPr/>
          <p:nvPr/>
        </p:nvSpPr>
        <p:spPr>
          <a:xfrm>
            <a:off x="8240268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8630793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Outlook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630793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274320" y="6363843"/>
            <a:ext cx="11612880" cy="20955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Source: FMI analysis. Average price = market value (US$) / market volume (MT). 2021 to 2025 historical, 2026 to 2036 forecast.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643491" y="4002023"/>
            <a:ext cx="330041" cy="48006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411480" y="1110615"/>
            <a:ext cx="5131641" cy="2171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Ear &amp; Eye Hygiene Products command the highest 2026 price point at US$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495582" y="1099058"/>
            <a:ext cx="152098" cy="221234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693532" y="1110615"/>
            <a:ext cx="4201442" cy="2171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/MT, a 3.2% premium over Shampoos &amp; Cleansing Products.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658225" y="5530976"/>
            <a:ext cx="2274651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The Europe average price rises from US$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879826" y="5521642"/>
            <a:ext cx="122849" cy="178689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11039708" y="5530976"/>
            <a:ext cx="739043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in 2026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658225" y="5690996"/>
            <a:ext cx="436140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to US$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41315" y="5681662"/>
            <a:ext cx="122849" cy="178689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201197" y="5690996"/>
            <a:ext cx="2593181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in 2036, and the gap between the highest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658225" y="5851016"/>
            <a:ext cx="3143250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and lowest priced product type moves from 3.1% in 2021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658225" y="6011036"/>
            <a:ext cx="951569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to 3.4% in 2036.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18190" y="3048804"/>
            <a:ext cx="454926" cy="661711"/>
          </a:xfrm>
          <a:prstGeom prst="rect">
            <a:avLst/>
          </a:prstGeom>
        </p:spPr>
      </p:pic>
      <p:sp>
        <p:nvSpPr>
          <p:cNvPr id="46" name="lockshield_13"/>
          <p:cNvSpPr/>
          <p:nvPr/>
        </p:nvSpPr>
        <p:spPr>
          <a:xfrm>
            <a:off x="347472" y="1831467"/>
            <a:ext cx="6309360" cy="3182112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lockshield_17"/>
          <p:cNvSpPr/>
          <p:nvPr/>
        </p:nvSpPr>
        <p:spPr>
          <a:xfrm>
            <a:off x="6903720" y="1785747"/>
            <a:ext cx="4965192" cy="132588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Price Matrix: Product Type ×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Average price (US$/MT) for every product type and primary product function / benefit combination, 2026</a:t>
            </a:r>
          </a:p>
        </p:txBody>
      </p:sp>
      <p:sp>
        <p:nvSpPr>
          <p:cNvPr id="10" name="Rectangle 9"/>
          <p:cNvSpPr/>
          <p:nvPr/>
        </p:nvSpPr>
        <p:spPr>
          <a:xfrm>
            <a:off x="274320" y="981075"/>
            <a:ext cx="11640312" cy="457200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square" lIns="137160" rtlCol="0" anchor="ctr"/>
          <a:lstStyle/>
          <a:p>
            <a:pPr algn="l"/>
            <a:endParaRPr/>
          </a:p>
        </p:txBody>
      </p:sp>
      <p:sp>
        <p:nvSpPr>
          <p:cNvPr id="11" name="Rectangle 10"/>
          <p:cNvSpPr/>
          <p:nvPr/>
        </p:nvSpPr>
        <p:spPr>
          <a:xfrm>
            <a:off x="274320" y="1529715"/>
            <a:ext cx="7543800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384048" y="1575435"/>
            <a:ext cx="7315200" cy="25717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2026 Price Matrix (US$/MT), Shaded by Index vs Europe Average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365760" y="1868043"/>
          <a:ext cx="7360923" cy="28643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544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327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327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327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327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32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327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327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350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354330">
                <a:tc>
                  <a:txBody>
                    <a:bodyPr/>
                    <a:lstStyle/>
                    <a:p>
                      <a:pPr algn="l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Product Type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Cleansing &amp; General Hygiene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Moisturizing &amp; Skin Barrier Care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Skin Soothing &amp; Comfort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Coat Conditioning &amp; Softening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Dental &amp; Oral Hygiene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Body &amp; Coat Odor Management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Ear &amp; Eye-Area Hygiene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800" b="1">
                          <a:solidFill>
                            <a:srgbClr val="FFFFFF"/>
                          </a:solidFill>
                          <a:latin typeface="Calibri"/>
                        </a:rPr>
                        <a:t>Row Avg.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433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Ear &amp; Eye Hygiene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433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Coat Conditioning &amp; Grooming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33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Fragrance &amp; Deodorizing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433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Dental &amp; Oral Care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33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Skin, Paw &amp; Nose Care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433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Shampoos &amp; Cleansing Products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BE3D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D9E6F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7F7F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433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Column Avg.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4" name="Rectangle 13"/>
          <p:cNvSpPr/>
          <p:nvPr/>
        </p:nvSpPr>
        <p:spPr>
          <a:xfrm>
            <a:off x="384048" y="4794123"/>
            <a:ext cx="180975" cy="142875"/>
          </a:xfrm>
          <a:prstGeom prst="rect">
            <a:avLst/>
          </a:prstGeom>
          <a:solidFill>
            <a:srgbClr val="9DC0E0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FMI Scale legend"/>
          <p:cNvSpPr txBox="1"/>
          <p:nvPr/>
        </p:nvSpPr>
        <p:spPr>
          <a:xfrm>
            <a:off x="593598" y="4739259"/>
            <a:ext cx="1276350" cy="23812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Index below 97.5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50898" y="4794123"/>
            <a:ext cx="180975" cy="142875"/>
          </a:xfrm>
          <a:prstGeom prst="rect">
            <a:avLst/>
          </a:prstGeom>
          <a:solidFill>
            <a:srgbClr val="D9E6F2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FMI Scale legend"/>
          <p:cNvSpPr txBox="1"/>
          <p:nvPr/>
        </p:nvSpPr>
        <p:spPr>
          <a:xfrm>
            <a:off x="2060448" y="4739259"/>
            <a:ext cx="1276350" cy="23812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97.5 to 99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317748" y="4794123"/>
            <a:ext cx="180975" cy="142875"/>
          </a:xfrm>
          <a:prstGeom prst="rect">
            <a:avLst/>
          </a:prstGeom>
          <a:solidFill>
            <a:srgbClr val="F7F7F7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FMI Scale legend"/>
          <p:cNvSpPr txBox="1"/>
          <p:nvPr/>
        </p:nvSpPr>
        <p:spPr>
          <a:xfrm>
            <a:off x="3527298" y="4739259"/>
            <a:ext cx="1276350" cy="23812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Parity: 99 to 101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784598" y="4794123"/>
            <a:ext cx="180975" cy="142875"/>
          </a:xfrm>
          <a:prstGeom prst="rect">
            <a:avLst/>
          </a:prstGeom>
          <a:solidFill>
            <a:srgbClr val="FBE3D3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FMI Scale legend"/>
          <p:cNvSpPr txBox="1"/>
          <p:nvPr/>
        </p:nvSpPr>
        <p:spPr>
          <a:xfrm>
            <a:off x="4994148" y="4739259"/>
            <a:ext cx="1276350" cy="23812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101 to 102.5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251448" y="4794123"/>
            <a:ext cx="180975" cy="142875"/>
          </a:xfrm>
          <a:prstGeom prst="rect">
            <a:avLst/>
          </a:prstGeom>
          <a:solidFill>
            <a:srgbClr val="F4B183"/>
          </a:solidFill>
          <a:ln w="9525">
            <a:solidFill>
              <a:srgbClr val="D9DEE4"/>
            </a:solidFill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FMI Scale legend"/>
          <p:cNvSpPr txBox="1"/>
          <p:nvPr/>
        </p:nvSpPr>
        <p:spPr>
          <a:xfrm>
            <a:off x="6460998" y="4739259"/>
            <a:ext cx="1276350" cy="23812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Index above 102.5</a:t>
            </a:r>
          </a:p>
        </p:txBody>
      </p:sp>
      <p:sp>
        <p:nvSpPr>
          <p:cNvPr id="24" name="Rectangle 23"/>
          <p:cNvSpPr/>
          <p:nvPr/>
        </p:nvSpPr>
        <p:spPr>
          <a:xfrm>
            <a:off x="7955280" y="1529715"/>
            <a:ext cx="3959352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8065008" y="1575435"/>
            <a:ext cx="3749040" cy="25717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Price Range Across All Primary Product Function / Benefit Sub-Types, 2026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065008" y="1965579"/>
            <a:ext cx="3749040" cy="21907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1">
                <a:solidFill>
                  <a:srgbClr val="59636E"/>
                </a:solidFill>
                <a:latin typeface="Calibri"/>
              </a:rPr>
              <a:t>Bar spans lowest to highest price (US$/MT) at the finest data level.</a:t>
            </a:r>
          </a:p>
        </p:txBody>
      </p:sp>
      <p:graphicFrame>
        <p:nvGraphicFramePr>
          <p:cNvPr id="27" name="FMI Price Chart"/>
          <p:cNvGraphicFramePr>
            <a:graphicFrameLocks noGrp="1"/>
          </p:cNvGraphicFramePr>
          <p:nvPr/>
        </p:nvGraphicFramePr>
        <p:xfrm>
          <a:off x="8001000" y="2032635"/>
          <a:ext cx="3867912" cy="2971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8" name="Rectangle 27"/>
          <p:cNvSpPr/>
          <p:nvPr/>
        </p:nvSpPr>
        <p:spPr>
          <a:xfrm>
            <a:off x="274320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Oval 28"/>
          <p:cNvSpPr/>
          <p:nvPr/>
        </p:nvSpPr>
        <p:spPr>
          <a:xfrm>
            <a:off x="388620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9145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Premium Pockets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79145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>Fragrance &amp; Deodorizing Products positioned on Cleansing &amp; General Hygiene carry the strongest premium at an index of 113.7, which signals room for value-added claims in this combination.</a:t>
            </a:r>
          </a:p>
        </p:txBody>
      </p:sp>
      <p:sp>
        <p:nvSpPr>
          <p:cNvPr id="32" name="Rectangle 31"/>
          <p:cNvSpPr/>
          <p:nvPr/>
        </p:nvSpPr>
        <p:spPr>
          <a:xfrm>
            <a:off x="4200144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4314444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704969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Value Pockets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4704969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8125968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Oval 36"/>
          <p:cNvSpPr/>
          <p:nvPr/>
        </p:nvSpPr>
        <p:spPr>
          <a:xfrm>
            <a:off x="8240268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630793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Within-Type Spread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630793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274320" y="6363843"/>
            <a:ext cx="11612880" cy="20955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36771" y="3195828"/>
            <a:ext cx="366712" cy="533400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411480" y="1110615"/>
            <a:ext cx="8011318" cy="2171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Fragrance &amp; Deodorizing Products for Cleansing &amp; General Hygiene is the highest priced combination in 2026 at US$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75259" y="1099058"/>
            <a:ext cx="152098" cy="221234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573209" y="1110615"/>
            <a:ext cx="2828081" cy="2171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/MT, +13.7% above the Europe average.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732401" y="5530976"/>
            <a:ext cx="2884363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Fragrance &amp; Deodorizing Products for Dental &amp; Oral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732401" y="5690996"/>
            <a:ext cx="3084648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Hygiene is the lowest priced combination at an index of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4732401" y="5851016"/>
            <a:ext cx="2914315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89.7, sitting 10.3% below the Europe average of US$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719545" y="6001702"/>
            <a:ext cx="122849" cy="178689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879428" y="6011036"/>
            <a:ext cx="340555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8658225" y="5530976"/>
            <a:ext cx="2846858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Fragrance &amp; Deodorizing Products show the widest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658225" y="5690996"/>
            <a:ext cx="2709862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internal price spread at 59.1%, ranging from US$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15036" y="5681662"/>
            <a:ext cx="122849" cy="178689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1474919" y="5690996"/>
            <a:ext cx="306958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8658225" y="5851016"/>
            <a:ext cx="436140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to US$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41315" y="5841682"/>
            <a:ext cx="122849" cy="178689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9201197" y="5851016"/>
            <a:ext cx="1269317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across sub-types.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01752" y="6391275"/>
            <a:ext cx="5800855" cy="14340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16" b="0">
                <a:solidFill>
                  <a:srgbClr val="59636E"/>
                </a:solidFill>
                <a:latin typeface="Calibri"/>
              </a:rPr>
              <a:t>Source: FMI analysis. Cell price = combined value (US$) / combined volume (MT); shading shows the index vs the Europe average of US$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4398" y="6384020"/>
            <a:ext cx="95470" cy="138866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6168649" y="6391275"/>
            <a:ext cx="281642" cy="14340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16" b="0">
                <a:solidFill>
                  <a:srgbClr val="59636E"/>
                </a:solidFill>
                <a:latin typeface="Calibri"/>
              </a:rPr>
              <a:t>/MT.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13437" y="3234020"/>
            <a:ext cx="332271" cy="483303"/>
          </a:xfrm>
          <a:prstGeom prst="rect">
            <a:avLst/>
          </a:prstGeom>
        </p:spPr>
      </p:pic>
      <p:sp>
        <p:nvSpPr>
          <p:cNvPr id="62" name="lockshield_27"/>
          <p:cNvSpPr/>
          <p:nvPr/>
        </p:nvSpPr>
        <p:spPr>
          <a:xfrm>
            <a:off x="8001000" y="2032635"/>
            <a:ext cx="3867912" cy="2971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Pricing Assessment: Country Benchmarking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average price and price range across product types, 2026 (US$/MT)</a:t>
            </a:r>
          </a:p>
        </p:txBody>
      </p:sp>
      <p:sp>
        <p:nvSpPr>
          <p:cNvPr id="10" name="Rectangle 9"/>
          <p:cNvSpPr/>
          <p:nvPr/>
        </p:nvSpPr>
        <p:spPr>
          <a:xfrm>
            <a:off x="274320" y="981075"/>
            <a:ext cx="11640312" cy="457200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square" lIns="137160" rtlCol="0" anchor="ctr"/>
          <a:lstStyle/>
          <a:p>
            <a:pPr algn="l"/>
            <a:endParaRPr/>
          </a:p>
        </p:txBody>
      </p:sp>
      <p:sp>
        <p:nvSpPr>
          <p:cNvPr id="11" name="Rectangle 10"/>
          <p:cNvSpPr/>
          <p:nvPr/>
        </p:nvSpPr>
        <p:spPr>
          <a:xfrm>
            <a:off x="274320" y="1529715"/>
            <a:ext cx="7543800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384048" y="1575435"/>
            <a:ext cx="7315200" cy="25717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2026 Price Range Across Product Types by Country (US$/MT), Ranked by Average</a:t>
            </a:r>
          </a:p>
        </p:txBody>
      </p:sp>
      <p:graphicFrame>
        <p:nvGraphicFramePr>
          <p:cNvPr id="13" name="FMI Axis Chart"/>
          <p:cNvGraphicFramePr>
            <a:graphicFrameLocks noGrp="1"/>
          </p:cNvGraphicFramePr>
          <p:nvPr/>
        </p:nvGraphicFramePr>
        <p:xfrm>
          <a:off x="347472" y="2014347"/>
          <a:ext cx="7406640" cy="301752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384048" y="1804035"/>
            <a:ext cx="7223760" cy="21907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1">
                <a:solidFill>
                  <a:srgbClr val="59636E"/>
                </a:solidFill>
                <a:latin typeface="Calibri"/>
              </a:rPr>
              <a:t>Bar spans the lowest to highest product type price in each country; label = country price index (Europe = 100). Teal = above Europe average, blue = below.</a:t>
            </a:r>
          </a:p>
        </p:txBody>
      </p:sp>
      <p:sp>
        <p:nvSpPr>
          <p:cNvPr id="15" name="Rectangle 14"/>
          <p:cNvSpPr/>
          <p:nvPr/>
        </p:nvSpPr>
        <p:spPr>
          <a:xfrm>
            <a:off x="7955280" y="1529715"/>
            <a:ext cx="3959352" cy="3520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8065008" y="1575435"/>
            <a:ext cx="3749040" cy="257175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Premium and Discount Markets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8046720" y="1868043"/>
          <a:ext cx="3776472" cy="31023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173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863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8097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Country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Avg. 2026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Index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1">
                          <a:solidFill>
                            <a:srgbClr val="FFFFFF"/>
                          </a:solidFill>
                          <a:latin typeface="Calibri"/>
                        </a:rPr>
                        <a:t>CAGR 2026 to 2036</a:t>
                      </a:r>
                    </a:p>
                  </a:txBody>
                  <a:tcPr marL="36576" marR="36576" marT="9144" marB="9144" anchor="ctr">
                    <a:solidFill>
                      <a:srgbClr val="0B2E4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097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Sweden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113.2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0.43%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097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France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112.7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0.56%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097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Greece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111.1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0.47%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097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Slovenia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109.9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0.28%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097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Poland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107.8</a:t>
                      </a:r>
                    </a:p>
                  </a:txBody>
                  <a:tcPr marL="36576" marR="36576" marT="9144" marB="9144" anchor="ctr"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0.32%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097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Netherlands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92.7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0.44%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097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Austria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91.9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0.70%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097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Germany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91.4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0.60%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097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Bulgaria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89.6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0.70%</a:t>
                      </a:r>
                    </a:p>
                  </a:txBody>
                  <a:tcPr marL="36576" marR="36576" marT="9144" marB="9144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0970">
                <a:tc>
                  <a:txBody>
                    <a:bodyPr/>
                    <a:lstStyle/>
                    <a:p>
                      <a:pPr algn="l"/>
                      <a:r>
                        <a:rPr sz="900" b="1">
                          <a:solidFill>
                            <a:srgbClr val="1F1F1F"/>
                          </a:solidFill>
                          <a:latin typeface="Calibri"/>
                        </a:rPr>
                        <a:t>Hungary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/>
                        <a:t> 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85.9</a:t>
                      </a:r>
                    </a:p>
                  </a:txBody>
                  <a:tcPr marL="36576" marR="36576" marT="9144" marB="9144" anchor="ctr">
                    <a:solidFill>
                      <a:srgbClr val="9DC0E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900" b="0">
                          <a:solidFill>
                            <a:srgbClr val="1F1F1F"/>
                          </a:solidFill>
                          <a:latin typeface="Calibri"/>
                        </a:rPr>
                        <a:t>0.66%</a:t>
                      </a:r>
                    </a:p>
                  </a:txBody>
                  <a:tcPr marL="36576" marR="36576" marT="9144" marB="9144" anchor="ctr">
                    <a:solidFill>
                      <a:srgbClr val="F3F6F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8" name="Rectangle 17"/>
          <p:cNvSpPr/>
          <p:nvPr/>
        </p:nvSpPr>
        <p:spPr>
          <a:xfrm>
            <a:off x="274320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Oval 18"/>
          <p:cNvSpPr/>
          <p:nvPr/>
        </p:nvSpPr>
        <p:spPr>
          <a:xfrm>
            <a:off x="388620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79145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Country Spread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79145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endParaRPr/>
          </a:p>
        </p:txBody>
      </p:sp>
      <p:sp>
        <p:nvSpPr>
          <p:cNvPr id="22" name="Rectangle 21"/>
          <p:cNvSpPr/>
          <p:nvPr/>
        </p:nvSpPr>
        <p:spPr>
          <a:xfrm>
            <a:off x="4200144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Oval 22"/>
          <p:cNvSpPr/>
          <p:nvPr/>
        </p:nvSpPr>
        <p:spPr>
          <a:xfrm>
            <a:off x="4314444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4704969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Growth Leader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704969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>Malta records the fastest average price growth at a 0.74% CAGR between 2026 and 2036, against 0.54% for Europe as a whole.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125968" y="5141595"/>
            <a:ext cx="3788664" cy="1234440"/>
          </a:xfrm>
          <a:prstGeom prst="rect">
            <a:avLst/>
          </a:prstGeom>
          <a:solidFill>
            <a:srgbClr val="F3F6F9"/>
          </a:solidFill>
          <a:ln>
            <a:noFill/>
          </a:ln>
          <a:effectLst/>
        </p:spPr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Oval 26"/>
          <p:cNvSpPr/>
          <p:nvPr/>
        </p:nvSpPr>
        <p:spPr>
          <a:xfrm>
            <a:off x="8240268" y="5265420"/>
            <a:ext cx="314325" cy="31432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txBody>
          <a:bodyPr wrap="none" lIns="0" tIns="0" rIns="0" bIns="0" rtlCol="0" anchor="ctr"/>
          <a:lstStyle/>
          <a:p>
            <a:pPr algn="ctr"/>
            <a:r>
              <a:rPr sz="12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630793" y="5227320"/>
            <a:ext cx="3198114" cy="26670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150" b="1" i="0">
                <a:solidFill>
                  <a:srgbClr val="0B2E4A"/>
                </a:solidFill>
                <a:latin typeface="Calibri"/>
              </a:rPr>
              <a:t>Mix Exposure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8630793" y="5503545"/>
            <a:ext cx="3198114" cy="83439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1050" b="0" i="0">
                <a:solidFill>
                  <a:srgbClr val="1F1F1F"/>
                </a:solidFill>
                <a:latin typeface="Calibri"/>
              </a:rPr>
              <a:t>Malta shows the widest gap between its cheapest and most expensive product type at 16.4%, so product mix shifts move its average price the most.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74320" y="6363843"/>
            <a:ext cx="11612880" cy="209550"/>
          </a:xfrm>
          <a:prstGeom prst="rect">
            <a:avLst/>
          </a:prstGeom>
          <a:noFill/>
        </p:spPr>
        <p:txBody>
          <a:bodyPr wrap="square" lIns="27432" tIns="27432" rIns="27432" bIns="27432" anchor="t">
            <a:spAutoFit/>
          </a:bodyPr>
          <a:lstStyle/>
          <a:p>
            <a:pPr algn="l"/>
            <a:r>
              <a:rPr sz="850" b="0" i="0">
                <a:solidFill>
                  <a:srgbClr val="59636E"/>
                </a:solidFill>
                <a:latin typeface="Calibri"/>
              </a:rPr>
              <a:t>Source: FMI analysis. Range = lowest to highest product type price in each country; ranked by average price. Other geographies grouped as 'Other' are excluded from the ranking.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89210" y="3313833"/>
            <a:ext cx="330041" cy="48006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80" y="1110615"/>
            <a:ext cx="3622947" cy="2171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Sweden is the most premium Europe market at US$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86888" y="1099058"/>
            <a:ext cx="152098" cy="221234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184838" y="1110615"/>
            <a:ext cx="5884688" cy="2171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300" b="1">
                <a:solidFill>
                  <a:srgbClr val="FFFFFF"/>
                </a:solidFill>
                <a:latin typeface="Calibri"/>
              </a:rPr>
              <a:t>/MT in 2026, +13.2% above the regional average, while Hungary is the lowest priced.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06576" y="5530976"/>
            <a:ext cx="2886931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Average prices across the ranked countries differ by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06576" y="5690996"/>
            <a:ext cx="1412825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31.7% in 2026, from US$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66351" y="5681662"/>
            <a:ext cx="122849" cy="178689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2326234" y="5690996"/>
            <a:ext cx="1315156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in Hungary to US$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721" y="5841682"/>
            <a:ext cx="122849" cy="178689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53604" y="5851016"/>
            <a:ext cx="931254" cy="17906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0" b="0">
                <a:solidFill>
                  <a:srgbClr val="1F1F1F"/>
                </a:solidFill>
                <a:latin typeface="Calibri"/>
              </a:rPr>
              <a:t>/MT in Sweden.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2821" y="3129375"/>
            <a:ext cx="482444" cy="701737"/>
          </a:xfrm>
          <a:prstGeom prst="rect">
            <a:avLst/>
          </a:prstGeom>
        </p:spPr>
      </p:pic>
      <p:sp>
        <p:nvSpPr>
          <p:cNvPr id="43" name="lockshield_13"/>
          <p:cNvSpPr/>
          <p:nvPr/>
        </p:nvSpPr>
        <p:spPr>
          <a:xfrm>
            <a:off x="347472" y="2014347"/>
            <a:ext cx="7406640" cy="301752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Positioning &amp; Key Findings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positioning of each country on a common axis with FMI's key findings on where premiums and discounts sit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Average selling price and price range by region on a shared price scale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&amp; Range by Region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3620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114425" y="6289685"/>
            <a:ext cx="495300" cy="1143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14,865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61175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2364105" y="6289685"/>
            <a:ext cx="495300" cy="1143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16,541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386143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613785" y="6289685"/>
            <a:ext cx="495300" cy="1143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18,218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511111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863465" y="6289685"/>
            <a:ext cx="495300" cy="1143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19,894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636079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6113145" y="6289685"/>
            <a:ext cx="495300" cy="1143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21,571</a:t>
            </a:r>
          </a:p>
        </p:txBody>
      </p:sp>
      <p:cxnSp>
        <p:nvCxnSpPr>
          <p:cNvPr id="23" name="Connector 22"/>
          <p:cNvCxnSpPr/>
          <p:nvPr/>
        </p:nvCxnSpPr>
        <p:spPr>
          <a:xfrm>
            <a:off x="76104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7362825" y="6289685"/>
            <a:ext cx="495300" cy="1143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23,247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1928318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Austria</a:t>
            </a:r>
          </a:p>
        </p:txBody>
      </p:sp>
      <p:sp>
        <p:nvSpPr>
          <p:cNvPr id="26" name="Rectangle 25"/>
          <p:cNvSpPr/>
          <p:nvPr/>
        </p:nvSpPr>
        <p:spPr>
          <a:xfrm>
            <a:off x="2813491" y="1968871"/>
            <a:ext cx="1043326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Oval 26"/>
          <p:cNvSpPr/>
          <p:nvPr/>
        </p:nvSpPr>
        <p:spPr>
          <a:xfrm>
            <a:off x="3098317" y="1952131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238125" y="2102057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Belgium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718277" y="2142610"/>
            <a:ext cx="1062316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Oval 29"/>
          <p:cNvSpPr/>
          <p:nvPr/>
        </p:nvSpPr>
        <p:spPr>
          <a:xfrm>
            <a:off x="4238144" y="2125869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238125" y="2275795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Bulgaria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14878" y="2316348"/>
            <a:ext cx="1395316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2946659" y="2299608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238125" y="2449534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Croatia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772763" y="2490087"/>
            <a:ext cx="1529724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Oval 35"/>
          <p:cNvSpPr/>
          <p:nvPr/>
        </p:nvSpPr>
        <p:spPr>
          <a:xfrm>
            <a:off x="4487806" y="2473346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238125" y="2623272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Czech Republic</a:t>
            </a:r>
          </a:p>
        </p:txBody>
      </p:sp>
      <p:sp>
        <p:nvSpPr>
          <p:cNvPr id="38" name="Rectangle 37"/>
          <p:cNvSpPr/>
          <p:nvPr/>
        </p:nvSpPr>
        <p:spPr>
          <a:xfrm>
            <a:off x="4029132" y="2663825"/>
            <a:ext cx="699349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4318725" y="2647084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238125" y="2797010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Denmark</a:t>
            </a:r>
          </a:p>
        </p:txBody>
      </p:sp>
      <p:sp>
        <p:nvSpPr>
          <p:cNvPr id="41" name="Rectangle 40"/>
          <p:cNvSpPr/>
          <p:nvPr/>
        </p:nvSpPr>
        <p:spPr>
          <a:xfrm>
            <a:off x="3009492" y="2837563"/>
            <a:ext cx="841356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Oval 41"/>
          <p:cNvSpPr/>
          <p:nvPr/>
        </p:nvSpPr>
        <p:spPr>
          <a:xfrm>
            <a:off x="3450945" y="2820823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238125" y="2970749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Finland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754428" y="3011302"/>
            <a:ext cx="2182387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Oval 44"/>
          <p:cNvSpPr/>
          <p:nvPr/>
        </p:nvSpPr>
        <p:spPr>
          <a:xfrm>
            <a:off x="4549984" y="2994561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TextBox 45"/>
          <p:cNvSpPr txBox="1"/>
          <p:nvPr/>
        </p:nvSpPr>
        <p:spPr>
          <a:xfrm>
            <a:off x="238125" y="3144487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France</a:t>
            </a:r>
          </a:p>
        </p:txBody>
      </p:sp>
      <p:sp>
        <p:nvSpPr>
          <p:cNvPr id="47" name="Rectangle 46"/>
          <p:cNvSpPr/>
          <p:nvPr/>
        </p:nvSpPr>
        <p:spPr>
          <a:xfrm>
            <a:off x="5334590" y="3185040"/>
            <a:ext cx="962547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Oval 47"/>
          <p:cNvSpPr/>
          <p:nvPr/>
        </p:nvSpPr>
        <p:spPr>
          <a:xfrm>
            <a:off x="5857703" y="3168300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238125" y="3318226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50" name="Rectangle 49"/>
          <p:cNvSpPr/>
          <p:nvPr/>
        </p:nvSpPr>
        <p:spPr>
          <a:xfrm>
            <a:off x="2702231" y="3358779"/>
            <a:ext cx="650165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Oval 50"/>
          <p:cNvSpPr/>
          <p:nvPr/>
        </p:nvSpPr>
        <p:spPr>
          <a:xfrm>
            <a:off x="2954908" y="3342038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238125" y="3491964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Greece</a:t>
            </a:r>
          </a:p>
        </p:txBody>
      </p:sp>
      <p:sp>
        <p:nvSpPr>
          <p:cNvPr id="53" name="Rectangle 52"/>
          <p:cNvSpPr/>
          <p:nvPr/>
        </p:nvSpPr>
        <p:spPr>
          <a:xfrm>
            <a:off x="5534576" y="3532517"/>
            <a:ext cx="396408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Oval 53"/>
          <p:cNvSpPr/>
          <p:nvPr/>
        </p:nvSpPr>
        <p:spPr>
          <a:xfrm>
            <a:off x="5710522" y="351577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238125" y="3665703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Hungary</a:t>
            </a:r>
          </a:p>
        </p:txBody>
      </p:sp>
      <p:sp>
        <p:nvSpPr>
          <p:cNvPr id="56" name="Rectangle 55"/>
          <p:cNvSpPr/>
          <p:nvPr/>
        </p:nvSpPr>
        <p:spPr>
          <a:xfrm>
            <a:off x="2045494" y="3706256"/>
            <a:ext cx="920577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Oval 56"/>
          <p:cNvSpPr/>
          <p:nvPr/>
        </p:nvSpPr>
        <p:spPr>
          <a:xfrm>
            <a:off x="2308655" y="3689515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TextBox 57"/>
          <p:cNvSpPr txBox="1"/>
          <p:nvPr/>
        </p:nvSpPr>
        <p:spPr>
          <a:xfrm>
            <a:off x="238125" y="3839441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Ireland</a:t>
            </a:r>
          </a:p>
        </p:txBody>
      </p:sp>
      <p:sp>
        <p:nvSpPr>
          <p:cNvPr id="59" name="Rectangle 58"/>
          <p:cNvSpPr/>
          <p:nvPr/>
        </p:nvSpPr>
        <p:spPr>
          <a:xfrm>
            <a:off x="4059884" y="3879994"/>
            <a:ext cx="850192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Oval 59"/>
          <p:cNvSpPr/>
          <p:nvPr/>
        </p:nvSpPr>
        <p:spPr>
          <a:xfrm>
            <a:off x="4307372" y="3863254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238125" y="4013180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Italy</a:t>
            </a:r>
          </a:p>
        </p:txBody>
      </p:sp>
      <p:sp>
        <p:nvSpPr>
          <p:cNvPr id="62" name="Rectangle 61"/>
          <p:cNvSpPr/>
          <p:nvPr/>
        </p:nvSpPr>
        <p:spPr>
          <a:xfrm>
            <a:off x="4149941" y="4053733"/>
            <a:ext cx="1083578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Oval 62"/>
          <p:cNvSpPr/>
          <p:nvPr/>
        </p:nvSpPr>
        <p:spPr>
          <a:xfrm>
            <a:off x="4616921" y="4036992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38125" y="4186918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Malta</a:t>
            </a:r>
          </a:p>
        </p:txBody>
      </p:sp>
      <p:sp>
        <p:nvSpPr>
          <p:cNvPr id="65" name="Rectangle 64"/>
          <p:cNvSpPr/>
          <p:nvPr/>
        </p:nvSpPr>
        <p:spPr>
          <a:xfrm>
            <a:off x="3616797" y="4227471"/>
            <a:ext cx="2186125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Oval 65"/>
          <p:cNvSpPr/>
          <p:nvPr/>
        </p:nvSpPr>
        <p:spPr>
          <a:xfrm>
            <a:off x="4831535" y="4210731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TextBox 66"/>
          <p:cNvSpPr txBox="1"/>
          <p:nvPr/>
        </p:nvSpPr>
        <p:spPr>
          <a:xfrm>
            <a:off x="238125" y="4360656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Netherlands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2685073" y="4401209"/>
            <a:ext cx="993221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Oval 68"/>
          <p:cNvSpPr/>
          <p:nvPr/>
        </p:nvSpPr>
        <p:spPr>
          <a:xfrm>
            <a:off x="3186120" y="4384469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TextBox 69"/>
          <p:cNvSpPr txBox="1"/>
          <p:nvPr/>
        </p:nvSpPr>
        <p:spPr>
          <a:xfrm>
            <a:off x="238125" y="4534395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Norway</a:t>
            </a:r>
          </a:p>
        </p:txBody>
      </p:sp>
      <p:sp>
        <p:nvSpPr>
          <p:cNvPr id="71" name="Rectangle 70"/>
          <p:cNvSpPr/>
          <p:nvPr/>
        </p:nvSpPr>
        <p:spPr>
          <a:xfrm>
            <a:off x="3788217" y="4574948"/>
            <a:ext cx="722402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Oval 71"/>
          <p:cNvSpPr/>
          <p:nvPr/>
        </p:nvSpPr>
        <p:spPr>
          <a:xfrm>
            <a:off x="4126521" y="455820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TextBox 72"/>
          <p:cNvSpPr txBox="1"/>
          <p:nvPr/>
        </p:nvSpPr>
        <p:spPr>
          <a:xfrm>
            <a:off x="238125" y="4708133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Poland</a:t>
            </a:r>
          </a:p>
        </p:txBody>
      </p:sp>
      <p:sp>
        <p:nvSpPr>
          <p:cNvPr id="74" name="Rectangle 73"/>
          <p:cNvSpPr/>
          <p:nvPr/>
        </p:nvSpPr>
        <p:spPr>
          <a:xfrm>
            <a:off x="4838761" y="4748686"/>
            <a:ext cx="824999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Oval 74"/>
          <p:cNvSpPr/>
          <p:nvPr/>
        </p:nvSpPr>
        <p:spPr>
          <a:xfrm>
            <a:off x="5137483" y="4731946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TextBox 75"/>
          <p:cNvSpPr txBox="1"/>
          <p:nvPr/>
        </p:nvSpPr>
        <p:spPr>
          <a:xfrm>
            <a:off x="238125" y="4881872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Portugal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708547" y="4922425"/>
            <a:ext cx="985484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Oval 77"/>
          <p:cNvSpPr/>
          <p:nvPr/>
        </p:nvSpPr>
        <p:spPr>
          <a:xfrm>
            <a:off x="5247053" y="4905684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TextBox 78"/>
          <p:cNvSpPr txBox="1"/>
          <p:nvPr/>
        </p:nvSpPr>
        <p:spPr>
          <a:xfrm>
            <a:off x="238125" y="5055610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Romania</a:t>
            </a:r>
          </a:p>
        </p:txBody>
      </p:sp>
      <p:sp>
        <p:nvSpPr>
          <p:cNvPr id="80" name="Rectangle 79"/>
          <p:cNvSpPr/>
          <p:nvPr/>
        </p:nvSpPr>
        <p:spPr>
          <a:xfrm>
            <a:off x="2895173" y="5096163"/>
            <a:ext cx="1171085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Oval 80"/>
          <p:cNvSpPr/>
          <p:nvPr/>
        </p:nvSpPr>
        <p:spPr>
          <a:xfrm>
            <a:off x="3525620" y="5079423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TextBox 81"/>
          <p:cNvSpPr txBox="1"/>
          <p:nvPr/>
        </p:nvSpPr>
        <p:spPr>
          <a:xfrm>
            <a:off x="238125" y="5229349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Slovenia</a:t>
            </a:r>
          </a:p>
        </p:txBody>
      </p:sp>
      <p:sp>
        <p:nvSpPr>
          <p:cNvPr id="83" name="Rectangle 82"/>
          <p:cNvSpPr/>
          <p:nvPr/>
        </p:nvSpPr>
        <p:spPr>
          <a:xfrm>
            <a:off x="5229054" y="5269902"/>
            <a:ext cx="994084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Oval 83"/>
          <p:cNvSpPr/>
          <p:nvPr/>
        </p:nvSpPr>
        <p:spPr>
          <a:xfrm>
            <a:off x="5668694" y="5253161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TextBox 84"/>
          <p:cNvSpPr txBox="1"/>
          <p:nvPr/>
        </p:nvSpPr>
        <p:spPr>
          <a:xfrm>
            <a:off x="238125" y="5403087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Spain</a:t>
            </a:r>
          </a:p>
        </p:txBody>
      </p:sp>
      <p:sp>
        <p:nvSpPr>
          <p:cNvPr id="86" name="Rectangle 85"/>
          <p:cNvSpPr/>
          <p:nvPr/>
        </p:nvSpPr>
        <p:spPr>
          <a:xfrm>
            <a:off x="3620033" y="5443640"/>
            <a:ext cx="887538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Oval 86"/>
          <p:cNvSpPr/>
          <p:nvPr/>
        </p:nvSpPr>
        <p:spPr>
          <a:xfrm>
            <a:off x="3870102" y="5426900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TextBox 87"/>
          <p:cNvSpPr txBox="1"/>
          <p:nvPr/>
        </p:nvSpPr>
        <p:spPr>
          <a:xfrm>
            <a:off x="238125" y="5576826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Sweden</a:t>
            </a:r>
          </a:p>
        </p:txBody>
      </p:sp>
      <p:sp>
        <p:nvSpPr>
          <p:cNvPr id="89" name="Rectangle 88"/>
          <p:cNvSpPr/>
          <p:nvPr/>
        </p:nvSpPr>
        <p:spPr>
          <a:xfrm>
            <a:off x="5696308" y="5617379"/>
            <a:ext cx="1184224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Oval 89"/>
          <p:cNvSpPr/>
          <p:nvPr/>
        </p:nvSpPr>
        <p:spPr>
          <a:xfrm>
            <a:off x="6136695" y="5600638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TextBox 90"/>
          <p:cNvSpPr txBox="1"/>
          <p:nvPr/>
        </p:nvSpPr>
        <p:spPr>
          <a:xfrm>
            <a:off x="238125" y="5750564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Switzerland</a:t>
            </a:r>
          </a:p>
        </p:txBody>
      </p:sp>
      <p:sp>
        <p:nvSpPr>
          <p:cNvPr id="92" name="Rectangle 91"/>
          <p:cNvSpPr/>
          <p:nvPr/>
        </p:nvSpPr>
        <p:spPr>
          <a:xfrm>
            <a:off x="3937201" y="5791117"/>
            <a:ext cx="832602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Oval 92"/>
          <p:cNvSpPr/>
          <p:nvPr/>
        </p:nvSpPr>
        <p:spPr>
          <a:xfrm>
            <a:off x="4314580" y="5774377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TextBox 93"/>
          <p:cNvSpPr txBox="1"/>
          <p:nvPr/>
        </p:nvSpPr>
        <p:spPr>
          <a:xfrm>
            <a:off x="238125" y="5924303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United Kingdom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568823" y="5964856"/>
            <a:ext cx="1529266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Oval 95"/>
          <p:cNvSpPr/>
          <p:nvPr/>
        </p:nvSpPr>
        <p:spPr>
          <a:xfrm>
            <a:off x="3880851" y="5948115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TextBox 96"/>
          <p:cNvSpPr txBox="1"/>
          <p:nvPr/>
        </p:nvSpPr>
        <p:spPr>
          <a:xfrm>
            <a:off x="238125" y="6098041"/>
            <a:ext cx="10668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Other European Countries</a:t>
            </a:r>
          </a:p>
        </p:txBody>
      </p:sp>
      <p:sp>
        <p:nvSpPr>
          <p:cNvPr id="98" name="Rectangle 97"/>
          <p:cNvSpPr/>
          <p:nvPr/>
        </p:nvSpPr>
        <p:spPr>
          <a:xfrm>
            <a:off x="5059058" y="6138594"/>
            <a:ext cx="1867998" cy="90344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Oval 98"/>
          <p:cNvSpPr/>
          <p:nvPr/>
        </p:nvSpPr>
        <p:spPr>
          <a:xfrm>
            <a:off x="5863813" y="6121853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Oval 99"/>
          <p:cNvSpPr/>
          <p:nvPr/>
        </p:nvSpPr>
        <p:spPr>
          <a:xfrm>
            <a:off x="1362075" y="1727149"/>
            <a:ext cx="114300" cy="114300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TextBox 100"/>
          <p:cNvSpPr txBox="1"/>
          <p:nvPr/>
        </p:nvSpPr>
        <p:spPr>
          <a:xfrm>
            <a:off x="1495425" y="1717624"/>
            <a:ext cx="8382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Average Price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390775" y="1736674"/>
            <a:ext cx="190500" cy="114300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TextBox 102"/>
          <p:cNvSpPr txBox="1"/>
          <p:nvPr/>
        </p:nvSpPr>
        <p:spPr>
          <a:xfrm>
            <a:off x="2619375" y="1717624"/>
            <a:ext cx="8001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Price Range</a:t>
            </a:r>
          </a:p>
        </p:txBody>
      </p:sp>
      <p:sp>
        <p:nvSpPr>
          <p:cNvPr id="104" name="Rounded Rectangle 103"/>
          <p:cNvSpPr/>
          <p:nvPr/>
        </p:nvSpPr>
        <p:spPr>
          <a:xfrm>
            <a:off x="7915275" y="1317574"/>
            <a:ext cx="413385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TextBox 104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TextBox 106"/>
          <p:cNvSpPr txBox="1"/>
          <p:nvPr/>
        </p:nvSpPr>
        <p:spPr>
          <a:xfrm>
            <a:off x="8048625" y="1727149"/>
            <a:ext cx="3867150" cy="343877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08" name="Rounded Rectangle 107"/>
          <p:cNvSpPr/>
          <p:nvPr/>
        </p:nvSpPr>
        <p:spPr>
          <a:xfrm>
            <a:off x="7915275" y="5351641"/>
            <a:ext cx="4133850" cy="1204744"/>
          </a:xfrm>
          <a:prstGeom prst="roundRect">
            <a:avLst>
              <a:gd name="adj" fmla="val 63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the above information is indicative in nature and does not constitute any form of analysis.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8048625" y="1736673"/>
            <a:ext cx="375165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prices sit within a tight band across regions, ranging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8048625" y="1911934"/>
            <a:ext cx="47127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from ~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69055" y="1901710"/>
            <a:ext cx="134549" cy="195707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8644164" y="1911934"/>
            <a:ext cx="157035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'Hungary' to ~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63678" y="1901710"/>
            <a:ext cx="134549" cy="195707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10338788" y="1911934"/>
            <a:ext cx="14274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'Sweden' at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048625" y="2087194"/>
            <a:ext cx="40966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8048625" y="2315032"/>
            <a:ext cx="38481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'Sweden' commands the premium a signal of stronger demand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8048625" y="2490292"/>
            <a:ext cx="371518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limited price-competitive supply while 'Hungary' remains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8048625" y="2665551"/>
            <a:ext cx="25522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most accessible, value-led geography.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048625" y="2893389"/>
            <a:ext cx="381359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orange dot is each region's average selling price; the blue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8048625" y="3068649"/>
            <a:ext cx="364016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band is its full low-to-high price range, all derived as Value ÷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8048625" y="3243909"/>
            <a:ext cx="5728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Volume.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8048625" y="3471747"/>
            <a:ext cx="37765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Narrow bands point to commoditised, price-led competition;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8048625" y="3647007"/>
            <a:ext cx="381217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wider bands flag premiumisation headroom to trade buyers up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8048625" y="3822267"/>
            <a:ext cx="55827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mix.</a:t>
            </a: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Key Pricing Drivers Influencing Pet Cosmetic Products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input costs, market conditions and competitive forces shaping pricing strategies and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input costs, market conditions, and competitive forces shaping pricing strategies and profitability across the value chain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02945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68389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Impacting Factors</a:t>
            </a:r>
          </a:p>
        </p:txBody>
      </p:sp>
      <p:sp>
        <p:nvSpPr>
          <p:cNvPr id="14" name="Freeform 13"/>
          <p:cNvSpPr/>
          <p:nvPr/>
        </p:nvSpPr>
        <p:spPr>
          <a:xfrm>
            <a:off x="3295650" y="3705225"/>
            <a:ext cx="723900" cy="752475"/>
          </a:xfrm>
          <a:custGeom>
            <a:avLst/>
            <a:gdLst/>
            <a:ahLst/>
            <a:cxnLst/>
            <a:rect l="l" t="t" r="r" b="b"/>
            <a:pathLst>
              <a:path w="76" h="79">
                <a:moveTo>
                  <a:pt x="38" y="0"/>
                </a:moveTo>
                <a:lnTo>
                  <a:pt x="61" y="7"/>
                </a:lnTo>
                <a:lnTo>
                  <a:pt x="76" y="27"/>
                </a:lnTo>
                <a:lnTo>
                  <a:pt x="76" y="51"/>
                </a:lnTo>
                <a:lnTo>
                  <a:pt x="61" y="71"/>
                </a:lnTo>
                <a:lnTo>
                  <a:pt x="38" y="79"/>
                </a:lnTo>
                <a:lnTo>
                  <a:pt x="15" y="71"/>
                </a:lnTo>
                <a:lnTo>
                  <a:pt x="0" y="51"/>
                </a:lnTo>
                <a:lnTo>
                  <a:pt x="0" y="27"/>
                </a:lnTo>
                <a:lnTo>
                  <a:pt x="15" y="7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Freeform 14"/>
          <p:cNvSpPr/>
          <p:nvPr/>
        </p:nvSpPr>
        <p:spPr>
          <a:xfrm>
            <a:off x="2943225" y="3324225"/>
            <a:ext cx="1428750" cy="1504950"/>
          </a:xfrm>
          <a:custGeom>
            <a:avLst/>
            <a:gdLst/>
            <a:ahLst/>
            <a:cxnLst/>
            <a:rect l="l" t="t" r="r" b="b"/>
            <a:pathLst>
              <a:path w="150" h="158">
                <a:moveTo>
                  <a:pt x="75" y="0"/>
                </a:moveTo>
                <a:lnTo>
                  <a:pt x="122" y="15"/>
                </a:lnTo>
                <a:lnTo>
                  <a:pt x="150" y="55"/>
                </a:lnTo>
                <a:lnTo>
                  <a:pt x="150" y="104"/>
                </a:lnTo>
                <a:lnTo>
                  <a:pt x="122" y="143"/>
                </a:lnTo>
                <a:lnTo>
                  <a:pt x="75" y="158"/>
                </a:lnTo>
                <a:lnTo>
                  <a:pt x="28" y="143"/>
                </a:lnTo>
                <a:lnTo>
                  <a:pt x="0" y="104"/>
                </a:lnTo>
                <a:lnTo>
                  <a:pt x="0" y="55"/>
                </a:lnTo>
                <a:lnTo>
                  <a:pt x="28" y="15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Freeform 15"/>
          <p:cNvSpPr/>
          <p:nvPr/>
        </p:nvSpPr>
        <p:spPr>
          <a:xfrm>
            <a:off x="2581275" y="2943225"/>
            <a:ext cx="2152650" cy="2266950"/>
          </a:xfrm>
          <a:custGeom>
            <a:avLst/>
            <a:gdLst/>
            <a:ahLst/>
            <a:cxnLst/>
            <a:rect l="l" t="t" r="r" b="b"/>
            <a:pathLst>
              <a:path w="226" h="238">
                <a:moveTo>
                  <a:pt x="113" y="0"/>
                </a:moveTo>
                <a:lnTo>
                  <a:pt x="183" y="23"/>
                </a:lnTo>
                <a:lnTo>
                  <a:pt x="226" y="82"/>
                </a:lnTo>
                <a:lnTo>
                  <a:pt x="226" y="156"/>
                </a:lnTo>
                <a:lnTo>
                  <a:pt x="183" y="215"/>
                </a:lnTo>
                <a:lnTo>
                  <a:pt x="113" y="238"/>
                </a:lnTo>
                <a:lnTo>
                  <a:pt x="43" y="215"/>
                </a:lnTo>
                <a:lnTo>
                  <a:pt x="0" y="156"/>
                </a:lnTo>
                <a:lnTo>
                  <a:pt x="0" y="82"/>
                </a:lnTo>
                <a:lnTo>
                  <a:pt x="43" y="23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Freeform 16"/>
          <p:cNvSpPr/>
          <p:nvPr/>
        </p:nvSpPr>
        <p:spPr>
          <a:xfrm>
            <a:off x="2219325" y="2571750"/>
            <a:ext cx="2876550" cy="3019425"/>
          </a:xfrm>
          <a:custGeom>
            <a:avLst/>
            <a:gdLst/>
            <a:ahLst/>
            <a:cxnLst/>
            <a:rect l="l" t="t" r="r" b="b"/>
            <a:pathLst>
              <a:path w="302" h="317">
                <a:moveTo>
                  <a:pt x="151" y="0"/>
                </a:moveTo>
                <a:lnTo>
                  <a:pt x="244" y="30"/>
                </a:lnTo>
                <a:lnTo>
                  <a:pt x="302" y="109"/>
                </a:lnTo>
                <a:lnTo>
                  <a:pt x="302" y="207"/>
                </a:lnTo>
                <a:lnTo>
                  <a:pt x="244" y="286"/>
                </a:lnTo>
                <a:lnTo>
                  <a:pt x="151" y="317"/>
                </a:lnTo>
                <a:lnTo>
                  <a:pt x="58" y="286"/>
                </a:lnTo>
                <a:lnTo>
                  <a:pt x="0" y="207"/>
                </a:lnTo>
                <a:lnTo>
                  <a:pt x="0" y="109"/>
                </a:lnTo>
                <a:lnTo>
                  <a:pt x="58" y="30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Freeform 17"/>
          <p:cNvSpPr/>
          <p:nvPr/>
        </p:nvSpPr>
        <p:spPr>
          <a:xfrm>
            <a:off x="1866900" y="2190750"/>
            <a:ext cx="3581400" cy="3771900"/>
          </a:xfrm>
          <a:custGeom>
            <a:avLst/>
            <a:gdLst/>
            <a:ahLst/>
            <a:cxnLst/>
            <a:rect l="l" t="t" r="r" b="b"/>
            <a:pathLst>
              <a:path w="376" h="396">
                <a:moveTo>
                  <a:pt x="188" y="0"/>
                </a:moveTo>
                <a:lnTo>
                  <a:pt x="304" y="38"/>
                </a:lnTo>
                <a:lnTo>
                  <a:pt x="376" y="137"/>
                </a:lnTo>
                <a:lnTo>
                  <a:pt x="376" y="259"/>
                </a:lnTo>
                <a:lnTo>
                  <a:pt x="304" y="358"/>
                </a:lnTo>
                <a:lnTo>
                  <a:pt x="188" y="396"/>
                </a:lnTo>
                <a:lnTo>
                  <a:pt x="72" y="358"/>
                </a:lnTo>
                <a:lnTo>
                  <a:pt x="0" y="259"/>
                </a:lnTo>
                <a:lnTo>
                  <a:pt x="0" y="137"/>
                </a:lnTo>
                <a:lnTo>
                  <a:pt x="72" y="38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9" name="Connector 18"/>
          <p:cNvCxnSpPr/>
          <p:nvPr/>
        </p:nvCxnSpPr>
        <p:spPr>
          <a:xfrm flipV="1">
            <a:off x="3657600" y="2192281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V="1">
            <a:off x="3657600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V="1">
            <a:off x="3657600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3657600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3657600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3657600" y="4078660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548814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1863547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 flipV="1">
            <a:off x="1863547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 flipH="1" flipV="1">
            <a:off x="2548814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495550" y="2381250"/>
            <a:ext cx="2505075" cy="3209925"/>
          </a:xfrm>
          <a:custGeom>
            <a:avLst/>
            <a:gdLst/>
            <a:ahLst/>
            <a:cxnLst/>
            <a:rect l="l" t="t" r="r" b="b"/>
            <a:pathLst>
              <a:path w="263" h="337">
                <a:moveTo>
                  <a:pt x="122" y="0"/>
                </a:moveTo>
                <a:lnTo>
                  <a:pt x="203" y="66"/>
                </a:lnTo>
                <a:lnTo>
                  <a:pt x="244" y="138"/>
                </a:lnTo>
                <a:lnTo>
                  <a:pt x="263" y="224"/>
                </a:lnTo>
                <a:lnTo>
                  <a:pt x="221" y="314"/>
                </a:lnTo>
                <a:lnTo>
                  <a:pt x="122" y="337"/>
                </a:lnTo>
                <a:lnTo>
                  <a:pt x="52" y="274"/>
                </a:lnTo>
                <a:lnTo>
                  <a:pt x="18" y="212"/>
                </a:lnTo>
                <a:lnTo>
                  <a:pt x="0" y="138"/>
                </a:lnTo>
                <a:lnTo>
                  <a:pt x="70" y="106"/>
                </a:lnTo>
                <a:close/>
              </a:path>
            </a:pathLst>
          </a:custGeom>
          <a:solidFill>
            <a:srgbClr val="2B5F8E">
              <a:alpha val="62000"/>
            </a:srgbClr>
          </a:solidFill>
          <a:ln w="27940">
            <a:solidFill>
              <a:srgbClr val="2B5F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Oval 29"/>
          <p:cNvSpPr/>
          <p:nvPr/>
        </p:nvSpPr>
        <p:spPr>
          <a:xfrm>
            <a:off x="3624262" y="234758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Oval 30"/>
          <p:cNvSpPr/>
          <p:nvPr/>
        </p:nvSpPr>
        <p:spPr>
          <a:xfrm>
            <a:off x="4400412" y="2977044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4790397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4969802" y="4482515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Oval 33"/>
          <p:cNvSpPr/>
          <p:nvPr/>
        </p:nvSpPr>
        <p:spPr>
          <a:xfrm>
            <a:off x="4566730" y="5342518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Oval 34"/>
          <p:cNvSpPr/>
          <p:nvPr/>
        </p:nvSpPr>
        <p:spPr>
          <a:xfrm>
            <a:off x="3624262" y="5554426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Oval 35"/>
          <p:cNvSpPr/>
          <p:nvPr/>
        </p:nvSpPr>
        <p:spPr>
          <a:xfrm>
            <a:off x="2958991" y="496099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Oval 36"/>
          <p:cNvSpPr/>
          <p:nvPr/>
        </p:nvSpPr>
        <p:spPr>
          <a:xfrm>
            <a:off x="2637533" y="436593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Oval 37"/>
          <p:cNvSpPr/>
          <p:nvPr/>
        </p:nvSpPr>
        <p:spPr>
          <a:xfrm>
            <a:off x="2458128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3125309" y="335857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3686175" y="3634709"/>
            <a:ext cx="2857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686175" y="3257434"/>
            <a:ext cx="2857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686175" y="2880158"/>
            <a:ext cx="2857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686175" y="2502882"/>
            <a:ext cx="2857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686175" y="2125606"/>
            <a:ext cx="285750" cy="1238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000375" y="1839856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6" name="TextBox 45"/>
          <p:cNvSpPr txBox="1"/>
          <p:nvPr/>
        </p:nvSpPr>
        <p:spPr>
          <a:xfrm>
            <a:off x="4232331" y="2240143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4993722" y="3288108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4993722" y="4583463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9" name="TextBox 48"/>
          <p:cNvSpPr txBox="1"/>
          <p:nvPr/>
        </p:nvSpPr>
        <p:spPr>
          <a:xfrm>
            <a:off x="4232331" y="5631427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3000375" y="6031714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1768419" y="5631427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1007028" y="4583463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1007028" y="3288108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1768419" y="2240143"/>
            <a:ext cx="1314450" cy="2857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5" name="Rounded Rectangle 54"/>
          <p:cNvSpPr/>
          <p:nvPr/>
        </p:nvSpPr>
        <p:spPr>
          <a:xfrm>
            <a:off x="7248525" y="1354081"/>
            <a:ext cx="4800600" cy="3479443"/>
          </a:xfrm>
          <a:prstGeom prst="roundRect">
            <a:avLst>
              <a:gd name="adj" fmla="val 219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7381875" y="1439806"/>
            <a:ext cx="45339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7381875" y="1677931"/>
            <a:ext cx="45339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TextBox 57"/>
          <p:cNvSpPr txBox="1"/>
          <p:nvPr/>
        </p:nvSpPr>
        <p:spPr>
          <a:xfrm>
            <a:off x="7381875" y="1763656"/>
            <a:ext cx="4533900" cy="2993668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Pricing across the Pet Cosmetic Products Market is shaped by a mix of input costs, operational efficiency and market dynamics with raw-material and input costs carrying the single heaviest weight on selling prices today.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Raw-material and input costs and demand and broader market conditions are the dominant cost pressures; as they fluctuate they feed directly into prices and squeeze margins along the value chain.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Competitive intensity and supply-chain and logistics conditions are the next most influential forces helping offset cost inflation and setting how aggressively players can price without ceding share.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Demand strength, competitive intensity and supply-chain reliability together define the ceiling on pricing power across the Pet Cosmetic Products Market.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Regulatory, currency and brand factors add second-order effects while aftermarket and service costs exert the least pressure collectively creating a pricing balance that must be monitored to stay competitive and profitable.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7248525" y="4943046"/>
            <a:ext cx="4800600" cy="1686354"/>
          </a:xfrm>
          <a:prstGeom prst="roundRect">
            <a:avLst>
              <a:gd name="adj" fmla="val 45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TextBox 59"/>
          <p:cNvSpPr txBox="1"/>
          <p:nvPr/>
        </p:nvSpPr>
        <p:spPr>
          <a:xfrm>
            <a:off x="7381875" y="5028771"/>
            <a:ext cx="45339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Highest-Impact Drivers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381875" y="5266896"/>
            <a:ext cx="45339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7381875" y="5352621"/>
            <a:ext cx="4533900" cy="1200579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288771" y="1898910"/>
            <a:ext cx="6598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Input Cost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6652" y="1889132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4314683" y="2322667"/>
            <a:ext cx="1115044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Labor &amp; Production Costs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0988" y="2315626"/>
            <a:ext cx="92663" cy="134782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5083343" y="3370632"/>
            <a:ext cx="1100506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Technology &amp; Innovation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5111" y="3363591"/>
            <a:ext cx="92663" cy="13478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072546" y="4662634"/>
            <a:ext cx="1115939" cy="14645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Supply Chain &amp; Logistics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30716" y="4655202"/>
            <a:ext cx="97811" cy="14227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4279667" y="5653601"/>
            <a:ext cx="1238538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Demand &amp; Market Conditions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7988" y="5767261"/>
            <a:ext cx="92663" cy="13478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3097033" y="6110885"/>
            <a:ext cx="1080271" cy="14645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Competitive Landscape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9536" y="6103453"/>
            <a:ext cx="97811" cy="142270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906713" y="5653601"/>
            <a:ext cx="1114061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Regulatory &amp; Compliance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260671" y="5774302"/>
            <a:ext cx="295245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Costs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97177" y="5767261"/>
            <a:ext cx="92663" cy="134782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097191" y="4605637"/>
            <a:ext cx="1195711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Currency &amp; Trade Dynamics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12685" y="4719297"/>
            <a:ext cx="92663" cy="134782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079852" y="3370632"/>
            <a:ext cx="113410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Brand &amp; Value Perception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55213" y="3363591"/>
            <a:ext cx="92663" cy="134782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850723" y="2262317"/>
            <a:ext cx="1203570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Aftermarket &amp; Service Costs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74076" y="2375977"/>
            <a:ext cx="92663" cy="134782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7381875" y="5362146"/>
            <a:ext cx="74086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Input Cost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70793" y="5352366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8238288" y="5362146"/>
            <a:ext cx="174414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dominant cost pressure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381875" y="5580078"/>
            <a:ext cx="185137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 &amp; Market Conditions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81298" y="557029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9348794" y="5580078"/>
            <a:ext cx="15272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major cost pressure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7381875" y="5798010"/>
            <a:ext cx="147838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Landscape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08310" y="5788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8975806" y="5798010"/>
            <a:ext cx="133022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7381875" y="6015942"/>
            <a:ext cx="152531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Chain &amp; Logistics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55241" y="600616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022737" y="6015942"/>
            <a:ext cx="133022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381875" y="6233874"/>
            <a:ext cx="16000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Labor &amp; Production Costs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30002" y="6224094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9097498" y="6233874"/>
            <a:ext cx="13875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supporting factor</a:t>
            </a: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Factors Impacting Pricing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Factors affecting the pricing decision of the product: category, price impact, direction of pressure and rationale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The cost, demand, efficiency and regulatory forces shaping and impacting achievable selling prices grouped by category, with each factor's direction, impact and score.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3286125"/>
          </a:xfrm>
          <a:prstGeom prst="roundRect">
            <a:avLst>
              <a:gd name="adj" fmla="val 23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0650"/>
          <a:ext cx="11887199" cy="2981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615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976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98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136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9818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22032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Impact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Score (0–10)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It Shapes Price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Raw-material and input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Labour and production expenses.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Supply-chain and logistics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and broader market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intensity.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strength and value perception.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Technology and process innovation.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Aftermarket and service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 and compliance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7352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Currency and trade dynamics.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3815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7529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48387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the Factors Imply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5076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5162550"/>
            <a:ext cx="11639550" cy="13049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02155" y="2764346"/>
            <a:ext cx="330041" cy="48006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5172075"/>
            <a:ext cx="542556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Input Cost and Demand &amp; Market Conditions carry the heaviest weight on selling prices (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50945" y="51618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826054" y="5172075"/>
            <a:ext cx="2995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762" y="51618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249871" y="5172075"/>
            <a:ext cx="3951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10).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5399913"/>
            <a:ext cx="83334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8 of 10 factors exert upward pressure on price; the rest pull prices down chiefly Technology &amp; Innovation and the Competitive Landscape.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627750"/>
            <a:ext cx="805361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Cost-side factors set the price floor; demand, brand and competitive forces determine how much of that cost can be passed through.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6225" y="5855588"/>
            <a:ext cx="70483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Aftermarket &amp; Service Costs exerts the least pressure a second-order effect to monitor rather than actively manage.</a:t>
            </a: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Regional Price Assessment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price assessment across the value chain, from manufacturer to retail, and average price by geography,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price assessment across the value chain (US$/MT) and price trajectory to 2036.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5905500" cy="2750734"/>
          </a:xfrm>
          <a:prstGeom prst="roundRect">
            <a:avLst>
              <a:gd name="adj" fmla="val 277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Regional Price by Value-Chain Level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5886450" cy="22840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937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81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81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981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981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Distribution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47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47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47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47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47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47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47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47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68283"/>
            <a:ext cx="575310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200775" y="1317574"/>
            <a:ext cx="5848350" cy="2750734"/>
          </a:xfrm>
          <a:prstGeom prst="roundRect">
            <a:avLst>
              <a:gd name="adj" fmla="val 277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6296025" y="1374724"/>
            <a:ext cx="56578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by Geography (US$/MT)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6210300" y="1574749"/>
          <a:ext cx="5829299" cy="22840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475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04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704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704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7044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47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47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47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47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47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47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47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4735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6276975" y="3868283"/>
            <a:ext cx="56959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201658"/>
            <a:ext cx="119062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276225" y="4287383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This Section Covers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525508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276225" y="4611233"/>
            <a:ext cx="11639550" cy="1868952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Manufacturer-level pricing ex-works / producer price benchmarked for each geography.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Distribution &amp; channel pricing logistics and channel margin layered onto the producer price.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Retail / end-market pricing the average price paid by the end customer across geographies.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Value-chain margin build-up cumulative margin from manufacturer to retail, by geography (prices derived as Value ÷ Volume).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55832" y="2573114"/>
            <a:ext cx="366712" cy="533399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12016" y="2573114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Regional Price Assessment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price assessment across the value chain, from manufacturer to retail, and average price by geography,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905500" cy="4905375"/>
          </a:xfrm>
          <a:prstGeom prst="roundRect">
            <a:avLst>
              <a:gd name="adj" fmla="val 155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Regional Price by Value-Chain Level (US$/MT)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5886449" cy="44386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821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09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30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96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346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Distribution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686425"/>
            <a:ext cx="575310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200775" y="981075"/>
            <a:ext cx="5848350" cy="4905375"/>
          </a:xfrm>
          <a:prstGeom prst="roundRect">
            <a:avLst>
              <a:gd name="adj" fmla="val 155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96025" y="1038225"/>
            <a:ext cx="56578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by Geography (US$/MT)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210300" y="1238250"/>
          <a:ext cx="5829301" cy="44386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984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772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0772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0772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0772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4661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76975" y="5686425"/>
            <a:ext cx="56959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53039" y="3313937"/>
            <a:ext cx="366712" cy="533399"/>
          </a:xfrm>
          <a:prstGeom prst="rect">
            <a:avLst/>
          </a:prstGeom>
        </p:spPr>
      </p:pic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37469" y="3313937"/>
            <a:ext cx="366712" cy="533399"/>
          </a:xfrm>
          <a:prstGeom prst="rect">
            <a:avLst/>
          </a:prstGeom>
        </p:spPr>
      </p:pic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Europe Pricing Benchmarking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price range by country and sub-segment against the weighted average price of each country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Development-stage price assumptions and manufacturer benchmarking price range by product type type and region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11906250" cy="3663419"/>
          </a:xfrm>
          <a:prstGeom prst="roundRect">
            <a:avLst>
              <a:gd name="adj" fmla="val 20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Benchmarking by Region &amp;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11887200" cy="319668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024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755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965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663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53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592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72849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1313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316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Weighted Avg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649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649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49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649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649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649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649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649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649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649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4780968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5114343"/>
            <a:ext cx="11906250" cy="1515057"/>
          </a:xfrm>
          <a:prstGeom prst="roundRect">
            <a:avLst>
              <a:gd name="adj" fmla="val 50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76225" y="5200068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Benchmarking Insights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5438193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76225" y="5523918"/>
            <a:ext cx="11639550" cy="1029282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0539" y="322224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5533443"/>
            <a:ext cx="405928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On a weighted-average basis 'Sweden' is the highest-priced region (~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83563" y="5523664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451059" y="5533443"/>
            <a:ext cx="279571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US$/MT) and 'Hungary' the most competitive (~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4822" y="5523664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362318" y="5533443"/>
            <a:ext cx="62026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US$/MT).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751375"/>
            <a:ext cx="567511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Price ranges are benchmarked per product type type at 2026, derived as Value ÷ Volume with a ±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99390" y="5741596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066886" y="5751375"/>
            <a:ext cx="139516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observed trading band.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969307"/>
            <a:ext cx="20510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Cross-region price dispersion of ~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5376" y="5959527"/>
            <a:ext cx="128699" cy="187198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442872" y="5969307"/>
            <a:ext cx="34726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reflects differences in mix, logistics and channel structure.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6187239"/>
            <a:ext cx="544755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Benchmarks support price-corridor setting and margin-defence decisions across geographies.</a:t>
            </a: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Europe Pricing Benchmarking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price range by country and sub-segment against the weighted average price of each country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4791075"/>
          </a:xfrm>
          <a:prstGeom prst="roundRect">
            <a:avLst>
              <a:gd name="adj" fmla="val 159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Benchmarking by Region &amp; Product Type (US$/MT)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43243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79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702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190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6403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8260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9194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6058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402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3169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Weighted Avg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17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17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17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17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17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17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17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17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17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17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17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17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617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617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617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5721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49010" y="344957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Forecast &amp; Dynamics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Forward price trajectory to 2036 by product type type and the structural factors shaping it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11887202" cy="15046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1087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93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93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293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293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293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2938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58548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88948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Factors Impacting Pricing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74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094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94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Pricing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Impact (H/M/L)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79820"/>
            <a:ext cx="575310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3398495"/>
            <a:ext cx="5848350" cy="3157890"/>
          </a:xfrm>
          <a:prstGeom prst="roundRect">
            <a:avLst>
              <a:gd name="adj" fmla="val 241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334125" y="3484220"/>
            <a:ext cx="55816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Dynamics &amp; Outlook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34125" y="3722345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6334125" y="3808070"/>
            <a:ext cx="5581650" cy="267211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64748" y="2183449"/>
            <a:ext cx="366712" cy="53340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334125" y="3817595"/>
            <a:ext cx="334060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product type price is projected to rise from ~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23884" y="3807371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798993" y="3817595"/>
            <a:ext cx="30811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 ~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56259" y="3807371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0231368" y="3817595"/>
            <a:ext cx="127854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by 2036 a 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9067" y="3807371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334125" y="3992855"/>
            <a:ext cx="44672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34125" y="4220692"/>
            <a:ext cx="51925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Produ…' shows the strongest forecast price appreciation (+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793" y="421046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1650902" y="4220692"/>
            <a:ext cx="12041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34125" y="4395952"/>
            <a:ext cx="109427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horizon.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34125" y="4623790"/>
            <a:ext cx="524243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Upward pressure is led by input cost and demand &amp; market conditions; efficiency and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34125" y="4799050"/>
            <a:ext cx="256703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competitive intensity work the other way.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34125" y="5026888"/>
            <a:ext cx="520363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Net outlook: modest, structural price appreciation mix and geography will determine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34125" y="5202148"/>
            <a:ext cx="101611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realised pricing.</a:t>
            </a: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Forecast &amp; Dynamics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Product Type (US$/MT)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70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94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194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1947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1947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1947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1947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954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94497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Competitor Pricing Strategies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leading players position price: tier, price position versus peers and strategy focus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769620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Competitor pricing strategies how leading players position price and the levers they use to sustain it.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3774"/>
          <a:ext cx="7677149" cy="36197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3658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09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2139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337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948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ASP vs Peers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Strategy Focus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227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Beaphar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Premium, brand-led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6227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Laboratoire Biogance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Value-based premium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6227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Laboratoire Francodex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Innovation-led price leadership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6227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Group55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 pricing with mix upsell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6227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Lakeland Cosmetics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Penetration &amp; share-led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6227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Laboratorios Bilper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/ discount-led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023044"/>
            <a:ext cx="754380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5351641"/>
            <a:ext cx="7696200" cy="365074"/>
          </a:xfrm>
          <a:prstGeom prst="roundRect">
            <a:avLst>
              <a:gd name="adj" fmla="val 2087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Pricing Themes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Tier 1 players anchor premium pricing, defending ASP through brand, product development and certification rather than discounting.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Mid-tier players price at or just below parity, using launches and expansion to win share in fast-growing segments.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Emerging players compete on value pricing, trading margin for access and volume in price-sensitive regions.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Across tiers, R&amp;D investment and selective M&amp;A are the primary levers to move up the price ladder over time.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5034" y="308668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ang="195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Supply Chain Analysis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Supply Chain Analysis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Supply Chain Analysis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Value Chain &amp; Stakeholder Mapping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Operating Margin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Buyers Assessment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Value Chain &amp; Stakeholder Mapping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Mapping of the value chain stages, the stakeholders at each stage and the value added along the chain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668000" cy="164283"/>
          </a:xfrm>
          <a:prstGeom prst="rect">
            <a:avLst/>
          </a:prstGeom>
          <a:noFill/>
        </p:spPr>
        <p:txBody>
          <a:bodyPr wrap="square" lIns="0" tIns="0" rIns="1905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End-to-end value chain with the key stakeholders at each stage and their indicative contribution to value addition.</a:t>
            </a:r>
          </a:p>
        </p:txBody>
      </p:sp>
      <p:sp>
        <p:nvSpPr>
          <p:cNvPr id="11" name="Right Arrow 10"/>
          <p:cNvSpPr/>
          <p:nvPr/>
        </p:nvSpPr>
        <p:spPr>
          <a:xfrm>
            <a:off x="1885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Right Arrow 11"/>
          <p:cNvSpPr/>
          <p:nvPr/>
        </p:nvSpPr>
        <p:spPr>
          <a:xfrm>
            <a:off x="4171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Right Arrow 12"/>
          <p:cNvSpPr/>
          <p:nvPr/>
        </p:nvSpPr>
        <p:spPr>
          <a:xfrm>
            <a:off x="6457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Right Arrow 13"/>
          <p:cNvSpPr/>
          <p:nvPr/>
        </p:nvSpPr>
        <p:spPr>
          <a:xfrm>
            <a:off x="8743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419100" y="1262813"/>
            <a:ext cx="2209800" cy="346820"/>
          </a:xfrm>
          <a:prstGeom prst="rect">
            <a:avLst/>
          </a:prstGeom>
          <a:noFill/>
        </p:spPr>
        <p:txBody>
          <a:bodyPr wrap="square" lIns="28575" tIns="9525" rIns="2857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Raw Material</a:t>
            </a:r>
          </a:p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Suppliers</a:t>
            </a:r>
          </a:p>
        </p:txBody>
      </p:sp>
      <p:sp>
        <p:nvSpPr>
          <p:cNvPr id="16" name="Oval 15"/>
          <p:cNvSpPr/>
          <p:nvPr/>
        </p:nvSpPr>
        <p:spPr>
          <a:xfrm>
            <a:off x="1076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Oval 16"/>
          <p:cNvSpPr/>
          <p:nvPr/>
        </p:nvSpPr>
        <p:spPr>
          <a:xfrm>
            <a:off x="1123950" y="1719155"/>
            <a:ext cx="800100" cy="76665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Rectangle 17"/>
          <p:cNvSpPr/>
          <p:nvPr/>
        </p:nvSpPr>
        <p:spPr>
          <a:xfrm>
            <a:off x="1509712" y="2084229"/>
            <a:ext cx="28575" cy="15515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Oval 18"/>
          <p:cNvSpPr/>
          <p:nvPr/>
        </p:nvSpPr>
        <p:spPr>
          <a:xfrm rot="19500000">
            <a:off x="1381125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Oval 19"/>
          <p:cNvSpPr/>
          <p:nvPr/>
        </p:nvSpPr>
        <p:spPr>
          <a:xfrm rot="2100000">
            <a:off x="1524000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Rounded Rectangle 20"/>
          <p:cNvSpPr/>
          <p:nvPr/>
        </p:nvSpPr>
        <p:spPr>
          <a:xfrm>
            <a:off x="1000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57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457200" y="2905646"/>
            <a:ext cx="2133600" cy="4563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542925" y="3015168"/>
            <a:ext cx="1962150" cy="219044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Raw Material Suppliers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42925" y="3234212"/>
            <a:ext cx="19621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2925" y="3453257"/>
            <a:ext cx="1962150" cy="164283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Growers and primary producers supply core inputs; some forward-integrate into small-scale processing.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05100" y="1262813"/>
            <a:ext cx="2209800" cy="346820"/>
          </a:xfrm>
          <a:prstGeom prst="rect">
            <a:avLst/>
          </a:prstGeom>
          <a:noFill/>
        </p:spPr>
        <p:txBody>
          <a:bodyPr wrap="square" lIns="28575" tIns="9525" rIns="2857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Manufacturers</a:t>
            </a:r>
          </a:p>
        </p:txBody>
      </p:sp>
      <p:sp>
        <p:nvSpPr>
          <p:cNvPr id="28" name="Oval 27"/>
          <p:cNvSpPr/>
          <p:nvPr/>
        </p:nvSpPr>
        <p:spPr>
          <a:xfrm>
            <a:off x="3362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Oval 28"/>
          <p:cNvSpPr/>
          <p:nvPr/>
        </p:nvSpPr>
        <p:spPr>
          <a:xfrm>
            <a:off x="3409950" y="1719155"/>
            <a:ext cx="800100" cy="766655"/>
          </a:xfrm>
          <a:prstGeom prst="ellipse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3638550" y="2084229"/>
            <a:ext cx="34290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Rectangle 30"/>
          <p:cNvSpPr/>
          <p:nvPr/>
        </p:nvSpPr>
        <p:spPr>
          <a:xfrm>
            <a:off x="3667125" y="1983834"/>
            <a:ext cx="66675" cy="10952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Rectangle 31"/>
          <p:cNvSpPr/>
          <p:nvPr/>
        </p:nvSpPr>
        <p:spPr>
          <a:xfrm>
            <a:off x="3771900" y="2020341"/>
            <a:ext cx="66675" cy="7301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Rectangle 32"/>
          <p:cNvSpPr/>
          <p:nvPr/>
        </p:nvSpPr>
        <p:spPr>
          <a:xfrm>
            <a:off x="3876675" y="1992961"/>
            <a:ext cx="66675" cy="10039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Rounded Rectangle 33"/>
          <p:cNvSpPr/>
          <p:nvPr/>
        </p:nvSpPr>
        <p:spPr>
          <a:xfrm>
            <a:off x="3286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2743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Rectangle 35"/>
          <p:cNvSpPr/>
          <p:nvPr/>
        </p:nvSpPr>
        <p:spPr>
          <a:xfrm>
            <a:off x="2743200" y="2905646"/>
            <a:ext cx="2133600" cy="4563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2828925" y="3015168"/>
            <a:ext cx="1962150" cy="219044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Manufacturers / Processors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28925" y="3234212"/>
            <a:ext cx="19621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28925" y="3453257"/>
            <a:ext cx="1962150" cy="164283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Convert inputs into finished and semi-finished product the single largest value-addition stage.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991100" y="1262813"/>
            <a:ext cx="2209800" cy="346820"/>
          </a:xfrm>
          <a:prstGeom prst="rect">
            <a:avLst/>
          </a:prstGeom>
          <a:noFill/>
        </p:spPr>
        <p:txBody>
          <a:bodyPr wrap="square" lIns="28575" tIns="9525" rIns="2857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Distributors</a:t>
            </a:r>
          </a:p>
        </p:txBody>
      </p:sp>
      <p:sp>
        <p:nvSpPr>
          <p:cNvPr id="41" name="Oval 40"/>
          <p:cNvSpPr/>
          <p:nvPr/>
        </p:nvSpPr>
        <p:spPr>
          <a:xfrm>
            <a:off x="5648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Oval 41"/>
          <p:cNvSpPr/>
          <p:nvPr/>
        </p:nvSpPr>
        <p:spPr>
          <a:xfrm>
            <a:off x="5695950" y="1719155"/>
            <a:ext cx="800100" cy="766655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5915025" y="2002088"/>
            <a:ext cx="20955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Rectangle 43"/>
          <p:cNvSpPr/>
          <p:nvPr/>
        </p:nvSpPr>
        <p:spPr>
          <a:xfrm>
            <a:off x="6134100" y="2075102"/>
            <a:ext cx="123825" cy="9126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Oval 44"/>
          <p:cNvSpPr/>
          <p:nvPr/>
        </p:nvSpPr>
        <p:spPr>
          <a:xfrm>
            <a:off x="5972175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6153150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Rounded Rectangle 46"/>
          <p:cNvSpPr/>
          <p:nvPr/>
        </p:nvSpPr>
        <p:spPr>
          <a:xfrm>
            <a:off x="5572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5029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5029200" y="2905646"/>
            <a:ext cx="2133600" cy="4563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5114925" y="3015168"/>
            <a:ext cx="1962150" cy="219044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Distributors &amp; Wholesalers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114925" y="3234212"/>
            <a:ext cx="19621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114925" y="3453257"/>
            <a:ext cx="1962150" cy="164283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Move product to market, hold inventory and provide logistics, reach and credit to downstream channels.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277100" y="1262813"/>
            <a:ext cx="2209800" cy="346820"/>
          </a:xfrm>
          <a:prstGeom prst="rect">
            <a:avLst/>
          </a:prstGeom>
          <a:noFill/>
        </p:spPr>
        <p:txBody>
          <a:bodyPr wrap="square" lIns="28575" tIns="9525" rIns="2857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Retailers</a:t>
            </a:r>
          </a:p>
        </p:txBody>
      </p:sp>
      <p:sp>
        <p:nvSpPr>
          <p:cNvPr id="54" name="Oval 53"/>
          <p:cNvSpPr/>
          <p:nvPr/>
        </p:nvSpPr>
        <p:spPr>
          <a:xfrm>
            <a:off x="7934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Oval 54"/>
          <p:cNvSpPr/>
          <p:nvPr/>
        </p:nvSpPr>
        <p:spPr>
          <a:xfrm>
            <a:off x="7981950" y="1719155"/>
            <a:ext cx="800100" cy="766655"/>
          </a:xfrm>
          <a:prstGeom prst="ellipse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Isosceles Triangle 55"/>
          <p:cNvSpPr/>
          <p:nvPr/>
        </p:nvSpPr>
        <p:spPr>
          <a:xfrm>
            <a:off x="8201025" y="1965580"/>
            <a:ext cx="361950" cy="109522"/>
          </a:xfrm>
          <a:prstGeom prst="triangl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8239125" y="2065976"/>
            <a:ext cx="285750" cy="18253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Rectangle 57"/>
          <p:cNvSpPr/>
          <p:nvPr/>
        </p:nvSpPr>
        <p:spPr>
          <a:xfrm>
            <a:off x="8343900" y="2138990"/>
            <a:ext cx="76200" cy="109522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Rounded Rectangle 58"/>
          <p:cNvSpPr/>
          <p:nvPr/>
        </p:nvSpPr>
        <p:spPr>
          <a:xfrm>
            <a:off x="7858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7315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7315200" y="2905646"/>
            <a:ext cx="2133600" cy="4563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7400925" y="3015168"/>
            <a:ext cx="1962150" cy="219044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Retailers &amp; Channels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400925" y="3234212"/>
            <a:ext cx="19621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400925" y="3453257"/>
            <a:ext cx="1962150" cy="164283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Sell to end customers across offline and online channels, capturing point-of-sale margin and brand visibility.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9563100" y="1262813"/>
            <a:ext cx="2209800" cy="346820"/>
          </a:xfrm>
          <a:prstGeom prst="rect">
            <a:avLst/>
          </a:prstGeom>
          <a:noFill/>
        </p:spPr>
        <p:txBody>
          <a:bodyPr wrap="square" lIns="28575" tIns="9525" rIns="2857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66" name="Oval 65"/>
          <p:cNvSpPr/>
          <p:nvPr/>
        </p:nvSpPr>
        <p:spPr>
          <a:xfrm>
            <a:off x="10220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Oval 66"/>
          <p:cNvSpPr/>
          <p:nvPr/>
        </p:nvSpPr>
        <p:spPr>
          <a:xfrm>
            <a:off x="10267950" y="1719155"/>
            <a:ext cx="800100" cy="766655"/>
          </a:xfrm>
          <a:prstGeom prst="ellipse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Oval 67"/>
          <p:cNvSpPr/>
          <p:nvPr/>
        </p:nvSpPr>
        <p:spPr>
          <a:xfrm>
            <a:off x="10601325" y="1956453"/>
            <a:ext cx="133350" cy="127776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Freeform 68"/>
          <p:cNvSpPr/>
          <p:nvPr/>
        </p:nvSpPr>
        <p:spPr>
          <a:xfrm>
            <a:off x="10544175" y="2111610"/>
            <a:ext cx="247650" cy="127776"/>
          </a:xfrm>
          <a:custGeom>
            <a:avLst/>
            <a:gdLst/>
            <a:ahLst/>
            <a:cxnLst/>
            <a:rect l="l" t="t" r="r" b="b"/>
            <a:pathLst>
              <a:path w="26" h="14">
                <a:moveTo>
                  <a:pt x="0" y="14"/>
                </a:moveTo>
                <a:lnTo>
                  <a:pt x="4" y="0"/>
                </a:lnTo>
                <a:lnTo>
                  <a:pt x="22" y="0"/>
                </a:lnTo>
                <a:lnTo>
                  <a:pt x="26" y="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ounded Rectangle 69"/>
          <p:cNvSpPr/>
          <p:nvPr/>
        </p:nvSpPr>
        <p:spPr>
          <a:xfrm>
            <a:off x="10144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71" name="Rounded Rectangle 70"/>
          <p:cNvSpPr/>
          <p:nvPr/>
        </p:nvSpPr>
        <p:spPr>
          <a:xfrm>
            <a:off x="9601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Rectangle 71"/>
          <p:cNvSpPr/>
          <p:nvPr/>
        </p:nvSpPr>
        <p:spPr>
          <a:xfrm>
            <a:off x="9601200" y="2905646"/>
            <a:ext cx="2133600" cy="4563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TextBox 72"/>
          <p:cNvSpPr txBox="1"/>
          <p:nvPr/>
        </p:nvSpPr>
        <p:spPr>
          <a:xfrm>
            <a:off x="9686925" y="3015168"/>
            <a:ext cx="1962150" cy="219044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9686925" y="3234212"/>
            <a:ext cx="1962150" cy="182537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9686925" y="3453257"/>
            <a:ext cx="1962150" cy="1642833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Consumers and downstream industries; large end users sometimes backward-integrate to secure supply and cost.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81000" y="5315134"/>
            <a:ext cx="11430000" cy="1204744"/>
          </a:xfrm>
          <a:prstGeom prst="roundRect">
            <a:avLst>
              <a:gd name="adj" fmla="val 606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TextBox 76"/>
          <p:cNvSpPr txBox="1"/>
          <p:nvPr/>
        </p:nvSpPr>
        <p:spPr>
          <a:xfrm>
            <a:off x="514350" y="5397275"/>
            <a:ext cx="11163300" cy="200791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Value-Added Read-out</a:t>
            </a:r>
          </a:p>
        </p:txBody>
      </p:sp>
      <p:sp>
        <p:nvSpPr>
          <p:cNvPr id="78" name="Rectangle 77"/>
          <p:cNvSpPr/>
          <p:nvPr/>
        </p:nvSpPr>
        <p:spPr>
          <a:xfrm>
            <a:off x="514350" y="5625447"/>
            <a:ext cx="111633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TextBox 78"/>
          <p:cNvSpPr txBox="1"/>
          <p:nvPr/>
        </p:nvSpPr>
        <p:spPr>
          <a:xfrm>
            <a:off x="514350" y="5707588"/>
            <a:ext cx="11163300" cy="73927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650" y="2611256"/>
            <a:ext cx="128699" cy="187198"/>
          </a:xfrm>
          <a:prstGeom prst="rect">
            <a:avLst/>
          </a:prstGeom>
        </p:spPr>
      </p:pic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5650" y="2611256"/>
            <a:ext cx="128699" cy="187198"/>
          </a:xfrm>
          <a:prstGeom prst="rect">
            <a:avLst/>
          </a:prstGeom>
        </p:spPr>
      </p:pic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1650" y="2611256"/>
            <a:ext cx="128699" cy="187198"/>
          </a:xfrm>
          <a:prstGeom prst="rect">
            <a:avLst/>
          </a:prstGeom>
        </p:spPr>
      </p:pic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17650" y="2611256"/>
            <a:ext cx="128699" cy="187198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03650" y="2611256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514350" y="5717113"/>
            <a:ext cx="6647993" cy="153161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The Pet Cosmetic Products Market value chain runs from raw-material suppliers through manufacturers, distributors and retailers to end users.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14350" y="5891458"/>
            <a:ext cx="3108563" cy="153161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'Manufacturers / Processors' captures the largest value addition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6114" y="5883635"/>
            <a:ext cx="102959" cy="14975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3700111" y="5891458"/>
            <a:ext cx="2123678" cy="153161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), reflecting processing and scale advantages.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14350" y="6065804"/>
            <a:ext cx="5690369" cy="153161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Forward and backward integration is common some suppliers process, and some large end users produce their own input.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14350" y="6240149"/>
            <a:ext cx="3730228" cy="153161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Percentages show each stage's indicative share of value added along the chain.</a:t>
            </a: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Industry-Wide Operating Margin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Operating margin by region and value chain node, highlighting where value concentrates along the chain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Pet Cosmetic Products Market Operating Margin by Region &amp; Node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825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997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997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79973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997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Node of Supply Chain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Operating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Comparison to Parent Market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 Material Suppliers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Commodity-linked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Highest margins (value-add + scale)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Volume-led, thin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031">
                <a:tc>
                  <a:txBody>
                    <a:bodyPr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Channel-dependent PoS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How to Read This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Node of Supply Chain: each major stage, from raw-material suppliers through to retailers.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Operating Margin: the indicative margin earned at each node, by region.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Comparison to Parent Market: margin versus the parent / associated market (e.g. the broader food or pharmaceutical value chain).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Margins are broken down by both region and node to surface where value concentrates along the chain.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69364" y="1736490"/>
            <a:ext cx="335428" cy="487895"/>
          </a:xfrm>
          <a:prstGeom prst="rect">
            <a:avLst/>
          </a:prstGeom>
        </p:spPr>
      </p:pic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Buyers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Assessment of buyers and end users by volume, average price and revenue, highlighting purchasing power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Pet Cosmetic Products Market Buyers / End-User Assessment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25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45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312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346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535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9976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353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47642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64449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/ End-User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Procurement Vol.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Avg Price (US$/MT)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Revenue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Selection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4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5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7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8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9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85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10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2957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76225" y="438150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Notes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619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4705350"/>
            <a:ext cx="11639550" cy="18478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This is a representative subset the full assessment lists 20–30 active participants (with brands, specifications, procurement strategies and SWOT). Note: value-chain economics are indicative derived from market modelling and expert validation, not company disclosures.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02641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ang="195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Dynamics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Market Dynamics &amp; Forces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Restraints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Market Opportunities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Recent Developments &amp; Milestones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Five Forces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Dynamics by Country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country of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80975" y="876300"/>
            <a:ext cx="8572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Country  ·  ranked by 2036 value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42875" y="1123950"/>
            <a:ext cx="11906250" cy="266700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00025" y="1123950"/>
            <a:ext cx="1428750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724025" y="1123950"/>
            <a:ext cx="3714750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534025" y="1123950"/>
            <a:ext cx="2762250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8391525" y="1123950"/>
            <a:ext cx="3619500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42875" y="1390650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200025" y="1390650"/>
            <a:ext cx="1428750" cy="7334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724025" y="1419225"/>
            <a:ext cx="3676650" cy="6762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5534025" y="1419225"/>
            <a:ext cx="2724150" cy="6762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8391525" y="1419225"/>
            <a:ext cx="3581400" cy="6762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2" name="Rectangle 21"/>
          <p:cNvSpPr/>
          <p:nvPr/>
        </p:nvSpPr>
        <p:spPr>
          <a:xfrm>
            <a:off x="142875" y="2124075"/>
            <a:ext cx="11906250" cy="73342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200025" y="2124075"/>
            <a:ext cx="1428750" cy="7334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724025" y="2152650"/>
            <a:ext cx="3676650" cy="6762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5534025" y="2152650"/>
            <a:ext cx="2724150" cy="6762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8391525" y="2152650"/>
            <a:ext cx="3581400" cy="6762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7" name="Rectangle 26"/>
          <p:cNvSpPr/>
          <p:nvPr/>
        </p:nvSpPr>
        <p:spPr>
          <a:xfrm>
            <a:off x="142875" y="2857500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200025" y="2857500"/>
            <a:ext cx="1428750" cy="7334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724025" y="2886075"/>
            <a:ext cx="3676650" cy="6762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5534025" y="2886075"/>
            <a:ext cx="2724150" cy="6762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8391525" y="2886075"/>
            <a:ext cx="3581400" cy="6762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2" name="Rectangle 31"/>
          <p:cNvSpPr/>
          <p:nvPr/>
        </p:nvSpPr>
        <p:spPr>
          <a:xfrm>
            <a:off x="142875" y="3590925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TextBox 32"/>
          <p:cNvSpPr txBox="1"/>
          <p:nvPr/>
        </p:nvSpPr>
        <p:spPr>
          <a:xfrm>
            <a:off x="200025" y="3590925"/>
            <a:ext cx="1428750" cy="5334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724025" y="3619500"/>
            <a:ext cx="36766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5534025" y="3619500"/>
            <a:ext cx="27241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8391525" y="3619500"/>
            <a:ext cx="358140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7" name="Rectangle 36"/>
          <p:cNvSpPr/>
          <p:nvPr/>
        </p:nvSpPr>
        <p:spPr>
          <a:xfrm>
            <a:off x="142875" y="4124325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200025" y="4124325"/>
            <a:ext cx="1428750" cy="5334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24025" y="4152900"/>
            <a:ext cx="36766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5534025" y="4152900"/>
            <a:ext cx="27241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8391525" y="4152900"/>
            <a:ext cx="358140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2" name="Rectangle 41"/>
          <p:cNvSpPr/>
          <p:nvPr/>
        </p:nvSpPr>
        <p:spPr>
          <a:xfrm>
            <a:off x="142875" y="4657725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200025" y="4657725"/>
            <a:ext cx="1428750" cy="5334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724025" y="4686300"/>
            <a:ext cx="36766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5534025" y="4686300"/>
            <a:ext cx="27241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391525" y="4686300"/>
            <a:ext cx="358140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142875" y="5191125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00025" y="5191125"/>
            <a:ext cx="1428750" cy="7334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724025" y="5219700"/>
            <a:ext cx="3676650" cy="6762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5534025" y="5219700"/>
            <a:ext cx="2724150" cy="6762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8391525" y="5219700"/>
            <a:ext cx="3581400" cy="6762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cxnSp>
        <p:nvCxnSpPr>
          <p:cNvPr id="52" name="Connector 51"/>
          <p:cNvCxnSpPr/>
          <p:nvPr/>
        </p:nvCxnSpPr>
        <p:spPr>
          <a:xfrm>
            <a:off x="142875" y="5924550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00025" y="5943600"/>
            <a:ext cx="3810000" cy="1905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752600" y="1505902"/>
            <a:ext cx="73813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1496123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2606285" y="1505902"/>
            <a:ext cx="15564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1496123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4278252" y="1505902"/>
            <a:ext cx="47263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752600" y="1673542"/>
            <a:ext cx="332258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demand, Accelerating vs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52600" y="1841182"/>
            <a:ext cx="50430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history.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562600" y="1589722"/>
            <a:ext cx="12871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1579943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965262" y="1589722"/>
            <a:ext cx="6892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562600" y="1757362"/>
            <a:ext cx="74741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1747583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425562" y="1757362"/>
            <a:ext cx="1536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420100" y="1589722"/>
            <a:ext cx="229994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1579943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0835587" y="1589722"/>
            <a:ext cx="1534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1579943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1104552" y="1589722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420100" y="1757362"/>
            <a:ext cx="7023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752600" y="2239327"/>
            <a:ext cx="73813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222954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606285" y="2239327"/>
            <a:ext cx="15564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2229548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4278252" y="2239327"/>
            <a:ext cx="47263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752600" y="2406967"/>
            <a:ext cx="332258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demand, Accelerating vs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752600" y="2574607"/>
            <a:ext cx="50430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history.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5562600" y="2323147"/>
            <a:ext cx="12871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231336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6965262" y="2323147"/>
            <a:ext cx="6892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5562600" y="2490787"/>
            <a:ext cx="74741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2481008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6425562" y="2490787"/>
            <a:ext cx="1536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420100" y="2323147"/>
            <a:ext cx="229994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231336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10835587" y="2323147"/>
            <a:ext cx="1534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2313368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1104552" y="2323147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8420100" y="2490787"/>
            <a:ext cx="7023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752600" y="3056572"/>
            <a:ext cx="73813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3046793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2606285" y="3056572"/>
            <a:ext cx="168356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Above-market pace (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37905" y="3046793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405401" y="3056572"/>
            <a:ext cx="90321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752600" y="3224212"/>
            <a:ext cx="30325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Cleansing Products demand, Accelerating vs history.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5562600" y="3140392"/>
            <a:ext cx="111303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3130613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6791183" y="3140392"/>
            <a:ext cx="1536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420100" y="3056572"/>
            <a:ext cx="207292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Dental &amp; Oral Care Products (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41079" y="3046793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10608575" y="3056572"/>
            <a:ext cx="83090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Mix shift to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420100" y="3224212"/>
            <a:ext cx="193732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Products,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05472" y="3214433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10472967" y="3224212"/>
            <a:ext cx="11834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752600" y="3689985"/>
            <a:ext cx="11343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3680206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3002465" y="3689985"/>
            <a:ext cx="23304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Shampoos &amp; Cleansing Products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752600" y="3857625"/>
            <a:ext cx="192449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5562600" y="3773805"/>
            <a:ext cx="12871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3764026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6965262" y="3773805"/>
            <a:ext cx="3239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420100" y="3689985"/>
            <a:ext cx="229994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3680206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10835587" y="3689985"/>
            <a:ext cx="1534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3680206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1104552" y="3689985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420100" y="3857625"/>
            <a:ext cx="7023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752600" y="4223385"/>
            <a:ext cx="126146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4213606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3129614" y="4223385"/>
            <a:ext cx="20112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752600" y="4391025"/>
            <a:ext cx="192449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5562600" y="4307205"/>
            <a:ext cx="111303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4297426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6791183" y="4307205"/>
            <a:ext cx="1536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8420100" y="4223385"/>
            <a:ext cx="204364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Ear &amp; Eye Hygiene Products (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11798" y="4213606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10579294" y="4223385"/>
            <a:ext cx="1534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80763" y="421360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10848259" y="4223385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8420100" y="4391025"/>
            <a:ext cx="7023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752600" y="4756785"/>
            <a:ext cx="126146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4747006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3129614" y="4756785"/>
            <a:ext cx="20112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1752600" y="4924425"/>
            <a:ext cx="192449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420100" y="4756785"/>
            <a:ext cx="27517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Coat Conditioning &amp; Grooming Products (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19934" y="4747006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11287429" y="4756785"/>
            <a:ext cx="1534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8898" y="4747006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1556394" y="4756785"/>
            <a:ext cx="3010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8420100" y="4924425"/>
            <a:ext cx="92695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headroom.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752600" y="5390197"/>
            <a:ext cx="11343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5380418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3002465" y="5390197"/>
            <a:ext cx="224835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Coat Conditioning &amp; Grooming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752600" y="5557837"/>
            <a:ext cx="245846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Products demand, Accelerating vs history.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5562600" y="5474017"/>
            <a:ext cx="12871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5464238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6965262" y="5474017"/>
            <a:ext cx="12227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Sub-scale base.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420100" y="5306377"/>
            <a:ext cx="24134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Fragrance &amp; Deodorizing Products (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81598" y="5296598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10949093" y="5306377"/>
            <a:ext cx="83090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Mix shift to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420100" y="5474017"/>
            <a:ext cx="238916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Products,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57314" y="5464238"/>
            <a:ext cx="128699" cy="187198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10924810" y="5474017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8420100" y="5641657"/>
            <a:ext cx="7023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Dynamics by Country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country of the Europe market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80975" y="876300"/>
            <a:ext cx="8572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Country  ·  ranked by 2036 value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123950"/>
            <a:ext cx="11906250" cy="266700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00025" y="1123950"/>
            <a:ext cx="1428750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24025" y="1123950"/>
            <a:ext cx="3714750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534025" y="1123950"/>
            <a:ext cx="2762250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8391525" y="1123950"/>
            <a:ext cx="3619500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2875" y="1390650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00025" y="1390650"/>
            <a:ext cx="1428750" cy="5334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724025" y="1419225"/>
            <a:ext cx="36766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5534025" y="1419225"/>
            <a:ext cx="27241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391525" y="1419225"/>
            <a:ext cx="358140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1" name="Rectangle 20"/>
          <p:cNvSpPr/>
          <p:nvPr/>
        </p:nvSpPr>
        <p:spPr>
          <a:xfrm>
            <a:off x="142875" y="1924050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200025" y="1924050"/>
            <a:ext cx="1428750" cy="5334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724025" y="1952625"/>
            <a:ext cx="36766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5534025" y="1952625"/>
            <a:ext cx="27241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391525" y="1952625"/>
            <a:ext cx="358140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6" name="Rectangle 25"/>
          <p:cNvSpPr/>
          <p:nvPr/>
        </p:nvSpPr>
        <p:spPr>
          <a:xfrm>
            <a:off x="142875" y="2457450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200025" y="2457450"/>
            <a:ext cx="1428750" cy="5334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724025" y="2486025"/>
            <a:ext cx="36766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5534025" y="2486025"/>
            <a:ext cx="27241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8391525" y="2486025"/>
            <a:ext cx="358140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cxnSp>
        <p:nvCxnSpPr>
          <p:cNvPr id="31" name="Connector 30"/>
          <p:cNvCxnSpPr/>
          <p:nvPr/>
        </p:nvCxnSpPr>
        <p:spPr>
          <a:xfrm>
            <a:off x="142875" y="2990850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00025" y="3009900"/>
            <a:ext cx="3810000" cy="1905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142875" y="3276600"/>
            <a:ext cx="11906250" cy="1038225"/>
          </a:xfrm>
          <a:prstGeom prst="roundRect">
            <a:avLst>
              <a:gd name="adj" fmla="val 479"/>
            </a:avLst>
          </a:prstGeom>
          <a:solidFill>
            <a:srgbClr val="FFFFFF"/>
          </a:solidFill>
          <a:ln w="1270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276225" y="3314700"/>
            <a:ext cx="38100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KEY TAKEAWAY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76225" y="3562350"/>
            <a:ext cx="11639550" cy="0"/>
          </a:xfrm>
          <a:prstGeom prst="line">
            <a:avLst/>
          </a:prstGeom>
          <a:ln w="15875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76225" y="3619500"/>
            <a:ext cx="11525250" cy="61912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52600" y="1489710"/>
            <a:ext cx="126146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1479931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129614" y="1489710"/>
            <a:ext cx="20112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52600" y="1657350"/>
            <a:ext cx="192449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420100" y="1489710"/>
            <a:ext cx="229994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1479931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835587" y="1489710"/>
            <a:ext cx="1534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147993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1104552" y="1489710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420100" y="1657350"/>
            <a:ext cx="7023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752600" y="2023110"/>
            <a:ext cx="126146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2013331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129614" y="2023110"/>
            <a:ext cx="20112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52600" y="2190750"/>
            <a:ext cx="192449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420100" y="2023110"/>
            <a:ext cx="228466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Skin, Paw &amp; Nose Care Products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52812" y="2013331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0820307" y="2023110"/>
            <a:ext cx="1534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21776" y="2013331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089272" y="2023110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420100" y="2190750"/>
            <a:ext cx="7023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52600" y="2556510"/>
            <a:ext cx="11343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254673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3002465" y="2556510"/>
            <a:ext cx="23304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Shampoos &amp; Cleansing Products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52600" y="2724150"/>
            <a:ext cx="192449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562600" y="2556510"/>
            <a:ext cx="12871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2546731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965262" y="2556510"/>
            <a:ext cx="122244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Sub-scale base,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562600" y="2724150"/>
            <a:ext cx="111303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271437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791183" y="2724150"/>
            <a:ext cx="1536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420100" y="2556510"/>
            <a:ext cx="27517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Coat Conditioning &amp; Grooming Products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19934" y="2546731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1287429" y="2556510"/>
            <a:ext cx="1534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8898" y="2546731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1556394" y="2556510"/>
            <a:ext cx="3010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420100" y="2724150"/>
            <a:ext cx="92695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headroom.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04800" y="3677602"/>
            <a:ext cx="38352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Germany, United Kingdom, France anchor scale with a combined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88127" y="3667823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4255623" y="3677602"/>
            <a:ext cx="503200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Europe value in 2036, while 'Other European Countries' offers the steepest upside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35677" y="3667823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9403173" y="3677602"/>
            <a:ext cx="181970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a market pace of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70929" y="3667823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1338425" y="3677602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04800" y="3845242"/>
            <a:ext cx="1127293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14 of 25 countries grow at or above that pace, so entry logic has to differ by country scale defence in the leaders, mix and premiumisation in the mid-tier, and availability-led expansion in the fastest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04800" y="4012882"/>
            <a:ext cx="53268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movers.</a:t>
            </a: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Driving Factors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economic and supply-side factors scored by their impact on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Oval 10"/>
          <p:cNvSpPr/>
          <p:nvPr/>
        </p:nvSpPr>
        <p:spPr>
          <a:xfrm>
            <a:off x="2381250" y="1609633"/>
            <a:ext cx="4762500" cy="4563424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Oval 11"/>
          <p:cNvSpPr/>
          <p:nvPr/>
        </p:nvSpPr>
        <p:spPr>
          <a:xfrm>
            <a:off x="2619375" y="1837804"/>
            <a:ext cx="4286250" cy="410708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Oval 12"/>
          <p:cNvSpPr/>
          <p:nvPr/>
        </p:nvSpPr>
        <p:spPr>
          <a:xfrm>
            <a:off x="2857500" y="2065976"/>
            <a:ext cx="3810000" cy="365074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Oval 13"/>
          <p:cNvSpPr/>
          <p:nvPr/>
        </p:nvSpPr>
        <p:spPr>
          <a:xfrm>
            <a:off x="3095625" y="2294147"/>
            <a:ext cx="3333750" cy="319439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Oval 14"/>
          <p:cNvSpPr/>
          <p:nvPr/>
        </p:nvSpPr>
        <p:spPr>
          <a:xfrm>
            <a:off x="3333750" y="2522318"/>
            <a:ext cx="2857500" cy="273805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Oval 15"/>
          <p:cNvSpPr/>
          <p:nvPr/>
        </p:nvSpPr>
        <p:spPr>
          <a:xfrm>
            <a:off x="3571875" y="2750489"/>
            <a:ext cx="2381250" cy="228171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Oval 16"/>
          <p:cNvSpPr/>
          <p:nvPr/>
        </p:nvSpPr>
        <p:spPr>
          <a:xfrm>
            <a:off x="3810000" y="2978660"/>
            <a:ext cx="1905000" cy="182537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Oval 17"/>
          <p:cNvSpPr/>
          <p:nvPr/>
        </p:nvSpPr>
        <p:spPr>
          <a:xfrm>
            <a:off x="4048125" y="3206832"/>
            <a:ext cx="1428750" cy="136902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Oval 18"/>
          <p:cNvSpPr/>
          <p:nvPr/>
        </p:nvSpPr>
        <p:spPr>
          <a:xfrm>
            <a:off x="4286250" y="3435003"/>
            <a:ext cx="952500" cy="91268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Oval 19"/>
          <p:cNvSpPr/>
          <p:nvPr/>
        </p:nvSpPr>
        <p:spPr>
          <a:xfrm>
            <a:off x="4524375" y="3663174"/>
            <a:ext cx="476250" cy="45634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21" name="Connector 20"/>
          <p:cNvCxnSpPr/>
          <p:nvPr/>
        </p:nvCxnSpPr>
        <p:spPr>
          <a:xfrm flipV="1">
            <a:off x="4762500" y="1609633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 flipV="1">
            <a:off x="3729314" y="1835594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 flipV="1">
            <a:off x="2900764" y="2468721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H="1" flipV="1">
            <a:off x="2440953" y="3383617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440953" y="3891345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2900764" y="3891345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>
            <a:off x="3729314" y="3891345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4762500" y="3891345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438400" y="2312400"/>
            <a:ext cx="2324100" cy="2783689"/>
          </a:xfrm>
          <a:custGeom>
            <a:avLst/>
            <a:gdLst/>
            <a:ahLst/>
            <a:cxnLst/>
            <a:rect l="l" t="t" r="r" b="b"/>
            <a:pathLst>
              <a:path w="244" h="305">
                <a:moveTo>
                  <a:pt x="244" y="0"/>
                </a:moveTo>
                <a:lnTo>
                  <a:pt x="180" y="40"/>
                </a:lnTo>
                <a:lnTo>
                  <a:pt x="70" y="34"/>
                </a:lnTo>
                <a:lnTo>
                  <a:pt x="164" y="155"/>
                </a:lnTo>
                <a:lnTo>
                  <a:pt x="0" y="229"/>
                </a:lnTo>
                <a:lnTo>
                  <a:pt x="78" y="305"/>
                </a:lnTo>
                <a:lnTo>
                  <a:pt x="190" y="286"/>
                </a:lnTo>
                <a:lnTo>
                  <a:pt x="244" y="270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Oval 29"/>
          <p:cNvSpPr/>
          <p:nvPr/>
        </p:nvSpPr>
        <p:spPr>
          <a:xfrm>
            <a:off x="4714875" y="1563999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2400300" y="1281067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3681689" y="178996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TextBox 32"/>
          <p:cNvSpPr txBox="1"/>
          <p:nvPr/>
        </p:nvSpPr>
        <p:spPr>
          <a:xfrm>
            <a:off x="1385456" y="1519681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34" name="Oval 33"/>
          <p:cNvSpPr/>
          <p:nvPr/>
        </p:nvSpPr>
        <p:spPr>
          <a:xfrm>
            <a:off x="2853139" y="2423087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510507" y="2270405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36" name="Oval 35"/>
          <p:cNvSpPr/>
          <p:nvPr/>
        </p:nvSpPr>
        <p:spPr>
          <a:xfrm>
            <a:off x="2393328" y="3337982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24946" y="3236535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38" name="Oval 37"/>
          <p:cNvSpPr/>
          <p:nvPr/>
        </p:nvSpPr>
        <p:spPr>
          <a:xfrm>
            <a:off x="2393328" y="435344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24946" y="4308858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40" name="Oval 39"/>
          <p:cNvSpPr/>
          <p:nvPr/>
        </p:nvSpPr>
        <p:spPr>
          <a:xfrm>
            <a:off x="2853139" y="5268335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510507" y="5274987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42" name="Oval 41"/>
          <p:cNvSpPr/>
          <p:nvPr/>
        </p:nvSpPr>
        <p:spPr>
          <a:xfrm>
            <a:off x="3681689" y="590146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1385456" y="6025711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44" name="Oval 43"/>
          <p:cNvSpPr/>
          <p:nvPr/>
        </p:nvSpPr>
        <p:spPr>
          <a:xfrm>
            <a:off x="4714875" y="612742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2400300" y="6264326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476250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FMI Scale 0"/>
          <p:cNvSpPr txBox="1"/>
          <p:nvPr/>
        </p:nvSpPr>
        <p:spPr>
          <a:xfrm>
            <a:off x="4286250" y="3818331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4286250" y="3590159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4286250" y="3361988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4286250" y="3133817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4286250" y="2905646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4286250" y="2677474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4286250" y="2449303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4286250" y="2221132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4286250" y="1992961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4286250" y="1764790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4286250" y="1536618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4762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4972050" y="1080276"/>
            <a:ext cx="7077075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Economic and Supply-side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4972050" y="1335828"/>
            <a:ext cx="70770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4972050" y="1427096"/>
            <a:ext cx="70770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4972050" y="1883439"/>
            <a:ext cx="70770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4972050" y="2339781"/>
            <a:ext cx="7077075" cy="29205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4972050" y="2613586"/>
            <a:ext cx="70770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Portfolio breadth spans 6 product type lines and 5 sales channels routes, giving producers wide reformulation and channel latitude.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972050" y="3069929"/>
            <a:ext cx="7077075" cy="29205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6" name="TextBox 65"/>
          <p:cNvSpPr txBox="1"/>
          <p:nvPr/>
        </p:nvSpPr>
        <p:spPr>
          <a:xfrm>
            <a:off x="4972050" y="3343734"/>
            <a:ext cx="70770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466991" y="1322601"/>
            <a:ext cx="112522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Production Scale-up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2482772" y="1561215"/>
            <a:ext cx="1094602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Input Cost Pressure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943191" y="2311939"/>
            <a:ext cx="759234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Capacity Add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1014573" y="3278069"/>
            <a:ext cx="1202291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Supply Concentration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148118" y="4350392"/>
            <a:ext cx="106874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Geographic Spread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1722039" y="5316521"/>
            <a:ext cx="98038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Portfolio Breadth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838472" y="6067245"/>
            <a:ext cx="738901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Route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616852" y="6305860"/>
            <a:ext cx="975365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Value Realisation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5000625" y="1496754"/>
            <a:ext cx="321044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Supply-side conditions are led by Geographic Spread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59122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326618" y="1496754"/>
            <a:ext cx="119734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Capacity Add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72016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9639512" y="1496754"/>
            <a:ext cx="14377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Portfolio Breadth (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25293" y="1486975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11192789" y="1496754"/>
            <a:ext cx="5916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00625" y="1664394"/>
            <a:ext cx="282845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0-10 scale scored from the europe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00625" y="1953097"/>
            <a:ext cx="124591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Volume expands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4591" y="194331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6362087" y="1953097"/>
            <a:ext cx="30027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(2026–2036) while average realisation moves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12927" y="1943318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480423" y="1953097"/>
            <a:ext cx="23465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the balance of those two sets the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5000625" y="2120737"/>
            <a:ext cx="157142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cost-pass-through picture.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00625" y="2401990"/>
            <a:ext cx="222790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is dispersed: 'Germany' holds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6584" y="2392211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7344079" y="2401990"/>
            <a:ext cx="20060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25 countries.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5000625" y="3132138"/>
            <a:ext cx="293159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Capacity added between 2026 and 2036 is worth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80268" y="3122359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8047764" y="3132138"/>
            <a:ext cx="65901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54826" y="3122359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8822322" y="3132138"/>
            <a:ext cx="18019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expansion on the 2026 base.</a:t>
            </a: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Driving Factors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demand-side factors scored by their impact on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Oval 10"/>
          <p:cNvSpPr/>
          <p:nvPr/>
        </p:nvSpPr>
        <p:spPr>
          <a:xfrm>
            <a:off x="5048250" y="1609633"/>
            <a:ext cx="4762500" cy="4563424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Oval 11"/>
          <p:cNvSpPr/>
          <p:nvPr/>
        </p:nvSpPr>
        <p:spPr>
          <a:xfrm>
            <a:off x="5286375" y="1837804"/>
            <a:ext cx="4286250" cy="410708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Oval 12"/>
          <p:cNvSpPr/>
          <p:nvPr/>
        </p:nvSpPr>
        <p:spPr>
          <a:xfrm>
            <a:off x="5524500" y="2065976"/>
            <a:ext cx="3810000" cy="365074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Oval 13"/>
          <p:cNvSpPr/>
          <p:nvPr/>
        </p:nvSpPr>
        <p:spPr>
          <a:xfrm>
            <a:off x="5762625" y="2294147"/>
            <a:ext cx="3333750" cy="319439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Oval 14"/>
          <p:cNvSpPr/>
          <p:nvPr/>
        </p:nvSpPr>
        <p:spPr>
          <a:xfrm>
            <a:off x="6000750" y="2522318"/>
            <a:ext cx="2857500" cy="273805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Oval 15"/>
          <p:cNvSpPr/>
          <p:nvPr/>
        </p:nvSpPr>
        <p:spPr>
          <a:xfrm>
            <a:off x="6238875" y="2750489"/>
            <a:ext cx="2381250" cy="228171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Oval 16"/>
          <p:cNvSpPr/>
          <p:nvPr/>
        </p:nvSpPr>
        <p:spPr>
          <a:xfrm>
            <a:off x="6477000" y="2978660"/>
            <a:ext cx="1905000" cy="182537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Oval 17"/>
          <p:cNvSpPr/>
          <p:nvPr/>
        </p:nvSpPr>
        <p:spPr>
          <a:xfrm>
            <a:off x="6715125" y="3206832"/>
            <a:ext cx="1428750" cy="136902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Oval 18"/>
          <p:cNvSpPr/>
          <p:nvPr/>
        </p:nvSpPr>
        <p:spPr>
          <a:xfrm>
            <a:off x="6953250" y="3435003"/>
            <a:ext cx="952500" cy="91268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Oval 19"/>
          <p:cNvSpPr/>
          <p:nvPr/>
        </p:nvSpPr>
        <p:spPr>
          <a:xfrm>
            <a:off x="7191375" y="3663174"/>
            <a:ext cx="476250" cy="45634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21" name="Connector 20"/>
          <p:cNvCxnSpPr/>
          <p:nvPr/>
        </p:nvCxnSpPr>
        <p:spPr>
          <a:xfrm flipV="1">
            <a:off x="7429500" y="1609633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V="1">
            <a:off x="7429500" y="1835594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V="1">
            <a:off x="7429500" y="2468721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V="1">
            <a:off x="7429500" y="3383617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7429500" y="3891345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7429500" y="3891345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7429500" y="3891345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7429500" y="3891345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7429500" y="2504064"/>
            <a:ext cx="1485900" cy="3267412"/>
          </a:xfrm>
          <a:custGeom>
            <a:avLst/>
            <a:gdLst/>
            <a:ahLst/>
            <a:cxnLst/>
            <a:rect l="l" t="t" r="r" b="b"/>
            <a:pathLst>
              <a:path w="156" h="358">
                <a:moveTo>
                  <a:pt x="0" y="0"/>
                </a:moveTo>
                <a:lnTo>
                  <a:pt x="64" y="18"/>
                </a:lnTo>
                <a:lnTo>
                  <a:pt x="98" y="74"/>
                </a:lnTo>
                <a:lnTo>
                  <a:pt x="109" y="127"/>
                </a:lnTo>
                <a:lnTo>
                  <a:pt x="156" y="188"/>
                </a:lnTo>
                <a:lnTo>
                  <a:pt x="129" y="255"/>
                </a:lnTo>
                <a:lnTo>
                  <a:pt x="56" y="269"/>
                </a:lnTo>
                <a:lnTo>
                  <a:pt x="0" y="358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Oval 29"/>
          <p:cNvSpPr/>
          <p:nvPr/>
        </p:nvSpPr>
        <p:spPr>
          <a:xfrm>
            <a:off x="7381875" y="1563999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7505700" y="1281067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8415061" y="178996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TextBox 32"/>
          <p:cNvSpPr txBox="1"/>
          <p:nvPr/>
        </p:nvSpPr>
        <p:spPr>
          <a:xfrm>
            <a:off x="8520544" y="1519681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34" name="Oval 33"/>
          <p:cNvSpPr/>
          <p:nvPr/>
        </p:nvSpPr>
        <p:spPr>
          <a:xfrm>
            <a:off x="9243611" y="2423087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9395493" y="2270405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36" name="Oval 35"/>
          <p:cNvSpPr/>
          <p:nvPr/>
        </p:nvSpPr>
        <p:spPr>
          <a:xfrm>
            <a:off x="9703422" y="3337982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9881054" y="3236535"/>
            <a:ext cx="2168071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38" name="Oval 37"/>
          <p:cNvSpPr/>
          <p:nvPr/>
        </p:nvSpPr>
        <p:spPr>
          <a:xfrm>
            <a:off x="9703422" y="435344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9881054" y="4308858"/>
            <a:ext cx="2168071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40" name="Oval 39"/>
          <p:cNvSpPr/>
          <p:nvPr/>
        </p:nvSpPr>
        <p:spPr>
          <a:xfrm>
            <a:off x="9243611" y="5268335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9395493" y="5274987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42" name="Oval 41"/>
          <p:cNvSpPr/>
          <p:nvPr/>
        </p:nvSpPr>
        <p:spPr>
          <a:xfrm>
            <a:off x="8415061" y="590146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8520544" y="6025711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44" name="Oval 43"/>
          <p:cNvSpPr/>
          <p:nvPr/>
        </p:nvSpPr>
        <p:spPr>
          <a:xfrm>
            <a:off x="7381875" y="612742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7505700" y="6264326"/>
            <a:ext cx="2286000" cy="23729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FMI Scale 0"/>
          <p:cNvSpPr txBox="1"/>
          <p:nvPr/>
        </p:nvSpPr>
        <p:spPr>
          <a:xfrm>
            <a:off x="7486650" y="3818331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7486650" y="3590159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7486650" y="3361988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7486650" y="3133817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7486650" y="2905646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7486650" y="2677474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7486650" y="2449303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7486650" y="2221132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7486650" y="1992961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7486650" y="1764790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7486650" y="1536618"/>
            <a:ext cx="419100" cy="14603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7429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180975" y="1080276"/>
            <a:ext cx="7038975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Demand-side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80975" y="1335828"/>
            <a:ext cx="70389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180975" y="1427096"/>
            <a:ext cx="70389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180975" y="1883439"/>
            <a:ext cx="7038975" cy="29205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180975" y="2157244"/>
            <a:ext cx="70389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180975" y="2613586"/>
            <a:ext cx="70389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180975" y="3069929"/>
            <a:ext cx="70389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66" name="TextBox 65"/>
          <p:cNvSpPr txBox="1"/>
          <p:nvPr/>
        </p:nvSpPr>
        <p:spPr>
          <a:xfrm>
            <a:off x="180975" y="3526271"/>
            <a:ext cx="7038975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7534275" y="1322601"/>
            <a:ext cx="943988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Demand Growth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24374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8549119" y="1561215"/>
            <a:ext cx="903573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Premiumisation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98803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424068" y="2311939"/>
            <a:ext cx="765761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App. Breadth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35940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9909628" y="3278069"/>
            <a:ext cx="791114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Emerging Pull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855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9909628" y="4350392"/>
            <a:ext cx="1135267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Volume Momentum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1008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9424068" y="5316521"/>
            <a:ext cx="1032097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Category Maturity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02276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8549119" y="6067245"/>
            <a:ext cx="911857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Adoption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07087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7534275" y="6305860"/>
            <a:ext cx="955786" cy="17327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Consumer Reach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36172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209550" y="1496754"/>
            <a:ext cx="318861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Demand-side conditions are led by Consumer Reach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6219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513715" y="1496754"/>
            <a:ext cx="149393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Category Maturity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55703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123199" y="1496754"/>
            <a:ext cx="153213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Volume Momentum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09550" y="1664394"/>
            <a:ext cx="11849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6093" y="1654615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43589" y="1664394"/>
            <a:ext cx="33755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 0-10 scale scored from the europe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09550" y="1945648"/>
            <a:ext cx="99843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Value grows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6039" y="1935869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1323535" y="1945648"/>
            <a:ext cx="10832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volume at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4882" y="1935869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2522378" y="1945648"/>
            <a:ext cx="223009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premiumising market through 2036.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209550" y="2226902"/>
            <a:ext cx="245682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carries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14431" y="2217123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2781927" y="2226902"/>
            <a:ext cx="371603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product type demand while 'Shampoos &amp; Cleansing Products'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09550" y="2394542"/>
            <a:ext cx="13015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compounds fastest at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177" y="2384763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1626673" y="2394542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9550" y="2683244"/>
            <a:ext cx="28450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Pull is strongest in 'Other European Countries' (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02699" y="2673465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3170195" y="2683244"/>
            <a:ext cx="53157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+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49818" y="2673465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3817314" y="2683244"/>
            <a:ext cx="30641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versus the market), with 14 of 25 countries at or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209550" y="2850884"/>
            <a:ext cx="75860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 pace.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209550" y="3223407"/>
            <a:ext cx="397903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Reach runs through 5 sales channels routes, led by 'E-commerce' at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6640" y="321362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4304136" y="3223407"/>
            <a:ext cx="24316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with 'E-commerce' growing fastest at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3885" y="3213628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6851381" y="3223407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Restraints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restraints on the Europe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C0603A"/>
          </a:solidFill>
          <a:ln w="12700">
            <a:solidFill>
              <a:srgbClr val="C060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Restraints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Coat Conditioning &amp; Grooming Products Lags the Category and Dilutes Blended Growth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77578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Uneven Country Performance Caps the Blended Rate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Fragmented Demand Raises Cost-to-Serve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77578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753513"/>
            <a:ext cx="32099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'Coat Conditioning &amp; Grooming Products' grows at only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8451" y="1743734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3515947" y="1753513"/>
            <a:ext cx="601807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the market's 6.1%, a -51 BPS gap, and 'Coat Conditioning &amp; Grooming Products' surrenders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032" y="1911374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344528" y="1921153"/>
            <a:ext cx="886529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 product type share between 2026 and 2036. Because these lines still carry meaningful volume, the drag is absorbed by the whole category: blended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90500" y="2088793"/>
            <a:ext cx="90985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sits below what the leading lines achieve on their own. Rationalising or repositioning the lagging end of a 6-line portfolio is therefore a precondition for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256433"/>
            <a:ext cx="182463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realising the headline forecast.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90500" y="3498419"/>
            <a:ext cx="135860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'Belgium' grows at just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153" y="3488640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1664649" y="3498419"/>
            <a:ext cx="46990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-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82609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250104" y="3498419"/>
            <a:ext cx="687265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against the market and 11 of 25 countries sit below the market pace altogether. Demand is therefore not uniformly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841972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available: suppliers carrying a broad geographic footprint fund presence in slow countries out of returns earned in the fast ones. With 'Germany'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58279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8725775" y="3666059"/>
            <a:ext cx="6625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value, a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51471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shortfall in a single leading country is difficult to offset elsewhere in the forecast window.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342043"/>
            <a:ext cx="271958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is fragmented: no country exceeds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58137" y="5332264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025633" y="5342043"/>
            <a:ext cx="636375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and demand spreads across 6 product type lines and 5 sales channels routes. Average realisation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90500" y="5509683"/>
            <a:ext cx="4486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7193" y="5499904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754689" y="5509683"/>
            <a:ext cx="864892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year, so cost movements cannot be passed on evenly across 25 countries. The practical constraint is the same in either case commercial terms set for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190500" y="5677323"/>
            <a:ext cx="685246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as a whole underserve part of it, and margin is lost in the mismatch rather than in the headline growth rate.</a:t>
            </a: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Opportunities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opportunities in the Europe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Opportunities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Germany Carries the Largest Absolute Opportunity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Romania Offers Under-penetrated, Above-pace Headroom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E-commerce Opens the Fastest Route to Market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746064"/>
            <a:ext cx="95942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'Germany' adds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7972" y="1736285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1265467" y="1746064"/>
            <a:ext cx="78429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 2036 the single largest absolute increment of any geography in the dataset. Capturing it is a question of scale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90500" y="1913704"/>
            <a:ext cx="435942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execution rather than market creation: demand already exists and grows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97975" y="1903925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665471" y="1913704"/>
            <a:ext cx="466010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 the market level. Prioritising supply, channel coverage and service levels there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081344"/>
            <a:ext cx="19176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converts the largest share of the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6226" y="2071565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2223722" y="2081344"/>
            <a:ext cx="33064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the whole market adds over the forecast period.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90500" y="3498419"/>
            <a:ext cx="14816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'Romania' compounds 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20209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1787705" y="3498419"/>
            <a:ext cx="760224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from a below-median base one of 7 geographies in the dataset combining above-median growth with below-median size. That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71384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profile is where share is cheapest to buy: competitive intensity is lower than in the 16.3%-share leaders, while growth runs +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76968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7444464" y="3666059"/>
            <a:ext cx="182514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ahead of the market. Early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45566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distribution and reference accounts established here compound through 2036.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250774"/>
            <a:ext cx="13719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'E-commerce' grows at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10493" y="5240995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1677989" y="5250774"/>
            <a:ext cx="313839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the fastest of 5 sales channels routes, and adds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64437" y="5240995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4931933" y="5250774"/>
            <a:ext cx="37184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over the forecast period while 'E-commerce' still carries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8450" y="524099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765946" y="5250774"/>
            <a:ext cx="19243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90500" y="5418414"/>
            <a:ext cx="81602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 today. Pairing the incumbent route for volume with the fastest route for growth and leading with 'Shampoos &amp; Cleansing Products' at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98797" y="5408635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8466293" y="5418414"/>
            <a:ext cx="3845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90500" y="5586054"/>
            <a:ext cx="279762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highest-yield combination the dataset supports.</a:t>
            </a: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Recent Developments &amp; Milestones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Recent developments and milestones shaping the Europe market, by year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025515"/>
            <a:ext cx="11906250" cy="29205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1428750" cy="29205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Year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14500" y="1025515"/>
            <a:ext cx="10239375" cy="292059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Recent Development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42875" y="1317574"/>
            <a:ext cx="11906250" cy="1296013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142875" y="1317574"/>
            <a:ext cx="1428750" cy="129601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2022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571625" y="1317574"/>
            <a:ext cx="0" cy="1296013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1714500" y="1668957"/>
            <a:ext cx="10210800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8" name="Rectangle 17"/>
          <p:cNvSpPr/>
          <p:nvPr/>
        </p:nvSpPr>
        <p:spPr>
          <a:xfrm>
            <a:off x="142875" y="2613586"/>
            <a:ext cx="11906250" cy="985700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42875" y="2613586"/>
            <a:ext cx="1428750" cy="985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2026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71625" y="26135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714500" y="2905646"/>
            <a:ext cx="10210800" cy="401581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2" name="Rectangle 21"/>
          <p:cNvSpPr/>
          <p:nvPr/>
        </p:nvSpPr>
        <p:spPr>
          <a:xfrm>
            <a:off x="142875" y="3599286"/>
            <a:ext cx="11906250" cy="985700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142875" y="3599286"/>
            <a:ext cx="1428750" cy="985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2033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71625" y="35992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1714500" y="3891345"/>
            <a:ext cx="10210800" cy="401581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6" name="Rectangle 25"/>
          <p:cNvSpPr/>
          <p:nvPr/>
        </p:nvSpPr>
        <p:spPr>
          <a:xfrm>
            <a:off x="142875" y="4584986"/>
            <a:ext cx="11906250" cy="985700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142875" y="4584986"/>
            <a:ext cx="1428750" cy="985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2031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571625" y="45849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1714500" y="4877045"/>
            <a:ext cx="10210800" cy="401581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0" name="Rectangle 29"/>
          <p:cNvSpPr/>
          <p:nvPr/>
        </p:nvSpPr>
        <p:spPr>
          <a:xfrm>
            <a:off x="142875" y="5570686"/>
            <a:ext cx="11906250" cy="985700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142875" y="5570686"/>
            <a:ext cx="1428750" cy="985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1571625" y="55706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714500" y="5862745"/>
            <a:ext cx="10210800" cy="401581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743075" y="1797939"/>
            <a:ext cx="355724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Strongest historical expansion on record: Europe value rose +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48366" y="1788160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415862" y="1797939"/>
            <a:ext cx="93595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on year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9869" y="1788160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6467365" y="1797939"/>
            <a:ext cx="52650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the steepest single-year move of the 2021–2025 period. Demand for 'Shampoos &amp;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43075" y="1965579"/>
            <a:ext cx="11834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Cleansing Products'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74558" y="195580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042054" y="1965579"/>
            <a:ext cx="71755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product type value by 2036 set the pace, and the 5 sales channels routes tracked here all carried volume through the year.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743075" y="2945502"/>
            <a:ext cx="340228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Base year for the forecast: the europe market is estimated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2438" y="2936114"/>
            <a:ext cx="123551" cy="17971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5253234" y="2945502"/>
            <a:ext cx="182568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having compounded at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25996" y="2936114"/>
            <a:ext cx="123551" cy="179710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7186792" y="2945502"/>
            <a:ext cx="201113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across 2021–2025. 'Germany' holds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45006" y="2936114"/>
            <a:ext cx="123551" cy="179710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305802" y="2945502"/>
            <a:ext cx="2073997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value across 25 countries, and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743075" y="3106436"/>
            <a:ext cx="422162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is built from 10 segment breakdowns covering 6 product type lines.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43075" y="3931201"/>
            <a:ext cx="1089374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The market passes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9530" y="3921813"/>
            <a:ext cx="123551" cy="179710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2940326" y="3931201"/>
            <a:ext cx="2945201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one and a half times the 2026 base reaching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32609" y="3921813"/>
            <a:ext cx="123551" cy="179710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5993405" y="3931201"/>
            <a:ext cx="4150375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Mn. Growth by this point is led by 'Shampoos &amp; Cleansing Products' at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90863" y="3921813"/>
            <a:ext cx="123551" cy="179710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251659" y="3931201"/>
            <a:ext cx="1157723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and by 'Other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43075" y="4092135"/>
            <a:ext cx="2273331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European Countries' among countries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63488" y="4082747"/>
            <a:ext cx="123551" cy="179710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4124284" y="4092135"/>
            <a:ext cx="3423499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with 14 of 25 countries running at or above the market rate.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43075" y="4916901"/>
            <a:ext cx="2190297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Mid-horizon checkpoint: value reaches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80454" y="4907513"/>
            <a:ext cx="123551" cy="179710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4041250" y="4916901"/>
            <a:ext cx="541139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9470" y="4907513"/>
            <a:ext cx="123551" cy="179710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4690266" y="4916901"/>
            <a:ext cx="2581333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the 2026 base. Average realisation stands at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18681" y="4907513"/>
            <a:ext cx="123551" cy="179710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7379477" y="4916901"/>
            <a:ext cx="1740288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US$/MT, and mix has moved +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66848" y="4907513"/>
            <a:ext cx="123551" cy="17971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227644" y="4916901"/>
            <a:ext cx="2004321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toward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743075" y="5077835"/>
            <a:ext cx="3665267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Products' while 'Coat Conditioning &amp; Grooming Products' gives up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5424" y="5068447"/>
            <a:ext cx="123551" cy="17971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5516220" y="5077835"/>
            <a:ext cx="314039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743075" y="5902601"/>
            <a:ext cx="2605963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outcome: the europe market reaches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6120" y="5893213"/>
            <a:ext cx="123551" cy="179710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456916" y="5902601"/>
            <a:ext cx="635698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9696" y="5893213"/>
            <a:ext cx="123551" cy="179710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5200492" y="5902601"/>
            <a:ext cx="1437751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expansion on 2026 and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5324" y="5893213"/>
            <a:ext cx="123551" cy="179710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6746120" y="5902601"/>
            <a:ext cx="1799224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of incremental value at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92427" y="5893213"/>
            <a:ext cx="123551" cy="179710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8653223" y="5902601"/>
            <a:ext cx="1678717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CAGR. Volume compounds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79022" y="5893213"/>
            <a:ext cx="123551" cy="179710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0439818" y="5902601"/>
            <a:ext cx="854678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over the same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743075" y="6063535"/>
            <a:ext cx="156505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window, leaving realisation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5209" y="6054147"/>
            <a:ext cx="123551" cy="179710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416005" y="6063535"/>
            <a:ext cx="4255412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 year the gap between the two is the premiumisation the forecast assumes.</a:t>
            </a: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Porter's Five Forces Analysis Europe Pet Cosmetic Products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supplier power, buyer power, competition, substitutes and entry barriers shaping the market's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875" y="989007"/>
            <a:ext cx="11906250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2" name="Oval 11"/>
          <p:cNvSpPr/>
          <p:nvPr/>
        </p:nvSpPr>
        <p:spPr>
          <a:xfrm>
            <a:off x="876300" y="1427096"/>
            <a:ext cx="914400" cy="876177"/>
          </a:xfrm>
          <a:prstGeom prst="ellipse">
            <a:avLst/>
          </a:prstGeom>
          <a:solidFill>
            <a:srgbClr val="F2D24B"/>
          </a:solidFill>
          <a:ln w="12700">
            <a:solidFill>
              <a:srgbClr val="F2D24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1047750" y="1664394"/>
            <a:ext cx="571500" cy="40158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3400" b="1">
                <a:solidFill>
                  <a:srgbClr val="8A6A00"/>
                </a:solidFill>
                <a:latin typeface="Calibri"/>
              </a:rPr>
              <a:t>$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19075" y="2376288"/>
            <a:ext cx="2228850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Suppliers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47650" y="2796123"/>
            <a:ext cx="2171700" cy="77578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47650" y="3663174"/>
            <a:ext cx="2171700" cy="77578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47650" y="4530225"/>
            <a:ext cx="2171700" cy="77578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Buyers can rebalance across 6 product type lines, which caps supplier leverage in commodity grades.</a:t>
            </a:r>
          </a:p>
        </p:txBody>
      </p:sp>
      <p:sp>
        <p:nvSpPr>
          <p:cNvPr id="18" name="Oval 17"/>
          <p:cNvSpPr/>
          <p:nvPr/>
        </p:nvSpPr>
        <p:spPr>
          <a:xfrm>
            <a:off x="3257550" y="1427096"/>
            <a:ext cx="914400" cy="876177"/>
          </a:xfrm>
          <a:prstGeom prst="ellipse">
            <a:avLst/>
          </a:prstGeom>
          <a:solidFill>
            <a:srgbClr val="D9D9D9"/>
          </a:solidFill>
          <a:ln w="12700">
            <a:solidFill>
              <a:srgbClr val="D9D9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Freeform 18"/>
          <p:cNvSpPr/>
          <p:nvPr/>
        </p:nvSpPr>
        <p:spPr>
          <a:xfrm>
            <a:off x="3476625" y="1710028"/>
            <a:ext cx="152400" cy="209918"/>
          </a:xfrm>
          <a:custGeom>
            <a:avLst/>
            <a:gdLst/>
            <a:ahLst/>
            <a:cxnLst/>
            <a:rect l="l" t="t" r="r" b="b"/>
            <a:pathLst>
              <a:path w="16" h="23">
                <a:moveTo>
                  <a:pt x="0" y="0"/>
                </a:moveTo>
                <a:lnTo>
                  <a:pt x="8" y="0"/>
                </a:lnTo>
                <a:lnTo>
                  <a:pt x="16" y="23"/>
                </a:lnTo>
              </a:path>
            </a:pathLst>
          </a:custGeom>
          <a:noFill/>
          <a:ln w="4318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Freeform 19"/>
          <p:cNvSpPr/>
          <p:nvPr/>
        </p:nvSpPr>
        <p:spPr>
          <a:xfrm>
            <a:off x="3609975" y="1783043"/>
            <a:ext cx="342900" cy="155156"/>
          </a:xfrm>
          <a:custGeom>
            <a:avLst/>
            <a:gdLst/>
            <a:ahLst/>
            <a:cxnLst/>
            <a:rect l="l" t="t" r="r" b="b"/>
            <a:pathLst>
              <a:path w="36" h="17">
                <a:moveTo>
                  <a:pt x="0" y="0"/>
                </a:moveTo>
                <a:lnTo>
                  <a:pt x="36" y="0"/>
                </a:lnTo>
                <a:lnTo>
                  <a:pt x="31" y="17"/>
                </a:lnTo>
                <a:lnTo>
                  <a:pt x="5" y="17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Oval 20"/>
          <p:cNvSpPr/>
          <p:nvPr/>
        </p:nvSpPr>
        <p:spPr>
          <a:xfrm>
            <a:off x="3648075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Oval 21"/>
          <p:cNvSpPr/>
          <p:nvPr/>
        </p:nvSpPr>
        <p:spPr>
          <a:xfrm>
            <a:off x="3829050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2600325" y="2376288"/>
            <a:ext cx="2228850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Buyers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2628900" y="2796123"/>
            <a:ext cx="2171700" cy="96744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2628900" y="3854838"/>
            <a:ext cx="2171700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2628900" y="4539352"/>
            <a:ext cx="2171700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Switching is easiest where 6 comparable product type lines compete for the same demand.</a:t>
            </a:r>
          </a:p>
        </p:txBody>
      </p:sp>
      <p:sp>
        <p:nvSpPr>
          <p:cNvPr id="27" name="Oval 26"/>
          <p:cNvSpPr/>
          <p:nvPr/>
        </p:nvSpPr>
        <p:spPr>
          <a:xfrm>
            <a:off x="5638800" y="1427096"/>
            <a:ext cx="914400" cy="876177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Oval 27"/>
          <p:cNvSpPr/>
          <p:nvPr/>
        </p:nvSpPr>
        <p:spPr>
          <a:xfrm>
            <a:off x="5876925" y="1655267"/>
            <a:ext cx="438150" cy="419835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Oval 28"/>
          <p:cNvSpPr/>
          <p:nvPr/>
        </p:nvSpPr>
        <p:spPr>
          <a:xfrm>
            <a:off x="5943600" y="1719155"/>
            <a:ext cx="304800" cy="292059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Oval 29"/>
          <p:cNvSpPr/>
          <p:nvPr/>
        </p:nvSpPr>
        <p:spPr>
          <a:xfrm>
            <a:off x="6010275" y="1783043"/>
            <a:ext cx="171450" cy="164283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Oval 30"/>
          <p:cNvSpPr/>
          <p:nvPr/>
        </p:nvSpPr>
        <p:spPr>
          <a:xfrm>
            <a:off x="6062662" y="1833240"/>
            <a:ext cx="66675" cy="63888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Freeform 31"/>
          <p:cNvSpPr/>
          <p:nvPr/>
        </p:nvSpPr>
        <p:spPr>
          <a:xfrm>
            <a:off x="6134100" y="1627887"/>
            <a:ext cx="209550" cy="200791"/>
          </a:xfrm>
          <a:custGeom>
            <a:avLst/>
            <a:gdLst/>
            <a:ahLst/>
            <a:cxnLst/>
            <a:rect l="l" t="t" r="r" b="b"/>
            <a:pathLst>
              <a:path w="22" h="22">
                <a:moveTo>
                  <a:pt x="0" y="22"/>
                </a:moveTo>
                <a:lnTo>
                  <a:pt x="22" y="0"/>
                </a:lnTo>
              </a:path>
            </a:pathLst>
          </a:custGeom>
          <a:noFill/>
          <a:ln w="381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Freeform 32"/>
          <p:cNvSpPr/>
          <p:nvPr/>
        </p:nvSpPr>
        <p:spPr>
          <a:xfrm>
            <a:off x="6267450" y="1591379"/>
            <a:ext cx="114300" cy="109522"/>
          </a:xfrm>
          <a:custGeom>
            <a:avLst/>
            <a:gdLst/>
            <a:ahLst/>
            <a:cxnLst/>
            <a:rect l="l" t="t" r="r" b="b"/>
            <a:pathLst>
              <a:path w="12" h="12">
                <a:moveTo>
                  <a:pt x="0" y="0"/>
                </a:moveTo>
                <a:lnTo>
                  <a:pt x="12" y="0"/>
                </a:lnTo>
                <a:lnTo>
                  <a:pt x="12" y="12"/>
                </a:lnTo>
                <a:close/>
              </a:path>
            </a:pathLst>
          </a:custGeom>
          <a:solidFill>
            <a:srgbClr val="B23A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4981575" y="2376288"/>
            <a:ext cx="2228850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Intensity of Competition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010150" y="2796123"/>
            <a:ext cx="2171700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5010150" y="3480637"/>
            <a:ext cx="2171700" cy="96744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5010150" y="4539352"/>
            <a:ext cx="2171700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8" name="Oval 37"/>
          <p:cNvSpPr/>
          <p:nvPr/>
        </p:nvSpPr>
        <p:spPr>
          <a:xfrm>
            <a:off x="8020050" y="1427096"/>
            <a:ext cx="914400" cy="876177"/>
          </a:xfrm>
          <a:prstGeom prst="ellipse">
            <a:avLst/>
          </a:prstGeom>
          <a:solidFill>
            <a:srgbClr val="C9C0E0"/>
          </a:solidFill>
          <a:ln w="12700">
            <a:solidFill>
              <a:srgbClr val="C9C0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Rounded Rectangle 38"/>
          <p:cNvSpPr/>
          <p:nvPr/>
        </p:nvSpPr>
        <p:spPr>
          <a:xfrm>
            <a:off x="8382000" y="1637014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ounded Rectangle 39"/>
          <p:cNvSpPr/>
          <p:nvPr/>
        </p:nvSpPr>
        <p:spPr>
          <a:xfrm>
            <a:off x="82486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Rounded Rectangle 40"/>
          <p:cNvSpPr/>
          <p:nvPr/>
        </p:nvSpPr>
        <p:spPr>
          <a:xfrm>
            <a:off x="85153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7362825" y="2376288"/>
            <a:ext cx="2228850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Substitutes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391400" y="2796123"/>
            <a:ext cx="2171700" cy="11499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7391400" y="4037375"/>
            <a:ext cx="2171700" cy="401581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7391400" y="4530225"/>
            <a:ext cx="2171700" cy="59324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6" name="Oval 45"/>
          <p:cNvSpPr/>
          <p:nvPr/>
        </p:nvSpPr>
        <p:spPr>
          <a:xfrm>
            <a:off x="10401300" y="1427096"/>
            <a:ext cx="914400" cy="876177"/>
          </a:xfrm>
          <a:prstGeom prst="ellipse">
            <a:avLst/>
          </a:prstGeom>
          <a:solidFill>
            <a:srgbClr val="BFDCEA"/>
          </a:solidFill>
          <a:ln w="12700">
            <a:solidFill>
              <a:srgbClr val="BFDC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Oval 46"/>
          <p:cNvSpPr/>
          <p:nvPr/>
        </p:nvSpPr>
        <p:spPr>
          <a:xfrm>
            <a:off x="10610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Freeform 47"/>
          <p:cNvSpPr/>
          <p:nvPr/>
        </p:nvSpPr>
        <p:spPr>
          <a:xfrm>
            <a:off x="10563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Oval 48"/>
          <p:cNvSpPr/>
          <p:nvPr/>
        </p:nvSpPr>
        <p:spPr>
          <a:xfrm>
            <a:off x="10991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Freeform 49"/>
          <p:cNvSpPr/>
          <p:nvPr/>
        </p:nvSpPr>
        <p:spPr>
          <a:xfrm>
            <a:off x="10944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Oval 50"/>
          <p:cNvSpPr/>
          <p:nvPr/>
        </p:nvSpPr>
        <p:spPr>
          <a:xfrm>
            <a:off x="10782300" y="1609633"/>
            <a:ext cx="152400" cy="146030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Freeform 51"/>
          <p:cNvSpPr/>
          <p:nvPr/>
        </p:nvSpPr>
        <p:spPr>
          <a:xfrm>
            <a:off x="10715625" y="1783043"/>
            <a:ext cx="285750" cy="255552"/>
          </a:xfrm>
          <a:custGeom>
            <a:avLst/>
            <a:gdLst/>
            <a:ahLst/>
            <a:cxnLst/>
            <a:rect l="l" t="t" r="r" b="b"/>
            <a:pathLst>
              <a:path w="30" h="28">
                <a:moveTo>
                  <a:pt x="0" y="28"/>
                </a:moveTo>
                <a:lnTo>
                  <a:pt x="4" y="0"/>
                </a:lnTo>
                <a:lnTo>
                  <a:pt x="26" y="0"/>
                </a:lnTo>
                <a:lnTo>
                  <a:pt x="30" y="28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9744075" y="2376288"/>
            <a:ext cx="2228850" cy="36507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New Entrants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9772650" y="2796123"/>
            <a:ext cx="2171700" cy="77578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9772650" y="3663174"/>
            <a:ext cx="2171700" cy="77578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9772650" y="4530225"/>
            <a:ext cx="2171700" cy="77578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1450" y="1069470"/>
            <a:ext cx="1031004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Supplier power, buyer power, competitive intensity, substitution and entry barriers scored from the europe dataset 6 product type lines, 5 sales channels routes and 25 countries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29545" y="105969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597040" y="1069470"/>
            <a:ext cx="43061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CAGR.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76225" y="2848734"/>
            <a:ext cx="19326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moderate. 'Germany'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276225" y="3016374"/>
            <a:ext cx="53950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supplies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3778" y="3006595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931274" y="3016374"/>
            <a:ext cx="14074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25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6225" y="3184014"/>
            <a:ext cx="204073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countries, concentrating upstream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6225" y="3351654"/>
            <a:ext cx="5968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leverage.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3799605"/>
            <a:ext cx="16761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Average realisation moves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00439" y="3789826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067935" y="3799605"/>
            <a:ext cx="14304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3967245"/>
            <a:ext cx="203118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(2026–2036), indicating input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6225" y="4134885"/>
            <a:ext cx="187429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costs are being passed through.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657475" y="2860746"/>
            <a:ext cx="17463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 to high.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657475" y="3028386"/>
            <a:ext cx="18546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 routes through 5 sales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657475" y="3196026"/>
            <a:ext cx="148820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channels channels led by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657475" y="3363666"/>
            <a:ext cx="9975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'E-commerce' at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3116" y="3353887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770612" y="3363666"/>
            <a:ext cx="7899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giving large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657475" y="3531306"/>
            <a:ext cx="8085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buyers scale.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657475" y="3900000"/>
            <a:ext cx="206201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Price sensitivity tracks realisation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657475" y="4067640"/>
            <a:ext cx="49584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moving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01372" y="405786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268868" y="4067640"/>
            <a:ext cx="131658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against volume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657475" y="4235280"/>
            <a:ext cx="63254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8070" y="4225501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3405566" y="4235280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038725" y="2841285"/>
            <a:ext cx="21145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high. 6 product type lines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038725" y="3008925"/>
            <a:ext cx="195069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compete inside the segment; the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5038725" y="3176565"/>
            <a:ext cx="7755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leader holds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62295" y="3166786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5929790" y="3176565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38725" y="3629080"/>
            <a:ext cx="193404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Growth is unevenly distributed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38725" y="3796720"/>
            <a:ext cx="21094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Products'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5257" y="3954581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5192753" y="3964360"/>
            <a:ext cx="16903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'Coat Conditioning &amp;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5038725" y="4132000"/>
            <a:ext cx="135369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Grooming Products' at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40467" y="4122221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6507963" y="4132000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38725" y="4584514"/>
            <a:ext cx="182490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14 of 25 countries grow at or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5038725" y="4752154"/>
            <a:ext cx="6442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 the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31053" y="4742375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798549" y="4752154"/>
            <a:ext cx="129830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pace, keeping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5038725" y="4919794"/>
            <a:ext cx="102354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contested.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7419975" y="2952014"/>
            <a:ext cx="21145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low. 'Coat Conditioning &amp;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419975" y="3119654"/>
            <a:ext cx="152449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Grooming Products' loses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92522" y="310987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060018" y="3119654"/>
            <a:ext cx="43663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7419975" y="3287294"/>
            <a:ext cx="189639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to 'Shampoos &amp; Cleansing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7419975" y="3454934"/>
            <a:ext cx="75287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Products' (+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20898" y="3445155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8288394" y="3454934"/>
            <a:ext cx="81480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by 2036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7419975" y="3622574"/>
            <a:ext cx="21145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substitution is visible inside the mix.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7419975" y="4077231"/>
            <a:ext cx="1550384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▸ The slowest line grows at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17440" y="4067843"/>
            <a:ext cx="123551" cy="179710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9078236" y="4077231"/>
            <a:ext cx="181236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-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06555" y="4067843"/>
            <a:ext cx="123551" cy="179710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7419975" y="4238165"/>
            <a:ext cx="1368861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against the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7419975" y="4575387"/>
            <a:ext cx="125437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Realisation moving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22399" y="4565608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8789895" y="4575387"/>
            <a:ext cx="42326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7419975" y="4743027"/>
            <a:ext cx="19113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widens the price gap substitutes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7419975" y="4910667"/>
            <a:ext cx="71876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must close.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9801225" y="2932554"/>
            <a:ext cx="205819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high. The market grows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9801225" y="3100194"/>
            <a:ext cx="1899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39255" y="3090415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10106751" y="3100194"/>
            <a:ext cx="9405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and adds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5379" y="3090415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11162875" y="3100194"/>
            <a:ext cx="5255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801225" y="3267834"/>
            <a:ext cx="15176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2036, attracting entry.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9801225" y="3799605"/>
            <a:ext cx="21145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Demand spreads over 25 countries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9801225" y="3967245"/>
            <a:ext cx="149311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with no single one above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42394" y="395746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11409890" y="3967245"/>
            <a:ext cx="27101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so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9801225" y="4134885"/>
            <a:ext cx="14985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regional entry is feasible.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9801225" y="4582836"/>
            <a:ext cx="21064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Incumbent scale in 'Germany' and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9801225" y="4750476"/>
            <a:ext cx="196405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Products'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9801225" y="4918116"/>
            <a:ext cx="11849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67768" y="4908336"/>
            <a:ext cx="128699" cy="187198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10035264" y="4918116"/>
            <a:ext cx="14680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segment) remains the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9801225" y="5085756"/>
            <a:ext cx="102326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principal barrier.</a:t>
            </a: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ang="195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Competition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Competitive Landscape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Market Share by Leading Players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Company Profiles &amp; Strategic Benchmarking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Competitive Landscape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Pipeline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Strategic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Competition Dashboard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Competitive Landscape at a Glance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Market concentration, segment leadership and the moves that will shift share, 2026–2036, in one page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190500" y="10477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247650" y="11049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47650" y="1295400"/>
            <a:ext cx="1381125" cy="4000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6668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724025" y="11049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724025" y="1295400"/>
            <a:ext cx="1381125" cy="4000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31432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3200400" y="11049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product types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3200400" y="1295400"/>
            <a:ext cx="1381125" cy="4000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46196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676775" y="11049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end use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676775" y="1295400"/>
            <a:ext cx="1381125" cy="4000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cxnSp>
        <p:nvCxnSpPr>
          <p:cNvPr id="22" name="Connector 21"/>
          <p:cNvCxnSpPr/>
          <p:nvPr/>
        </p:nvCxnSpPr>
        <p:spPr>
          <a:xfrm>
            <a:off x="609600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6153150" y="11049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Named competitors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153150" y="1295400"/>
            <a:ext cx="1381125" cy="4000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10</a:t>
            </a:r>
          </a:p>
        </p:txBody>
      </p:sp>
      <p:cxnSp>
        <p:nvCxnSpPr>
          <p:cNvPr id="25" name="Connector 24"/>
          <p:cNvCxnSpPr/>
          <p:nvPr/>
        </p:nvCxnSpPr>
        <p:spPr>
          <a:xfrm>
            <a:off x="75723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TextBox 25"/>
          <p:cNvSpPr txBox="1"/>
          <p:nvPr/>
        </p:nvSpPr>
        <p:spPr>
          <a:xfrm>
            <a:off x="7629525" y="11049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Moves tracked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629525" y="1295400"/>
            <a:ext cx="1381125" cy="4000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50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90487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9105900" y="11049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player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9105900" y="1295400"/>
            <a:ext cx="1381125" cy="4000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Beaphar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05251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10582275" y="11049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0582275" y="1295400"/>
            <a:ext cx="1381125" cy="4000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90500" y="1733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95300" y="1905000"/>
            <a:ext cx="541020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Leadership is concentrated in value, spread in capability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95300" y="2114550"/>
            <a:ext cx="5410200" cy="762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9" name="Rectangle 38"/>
          <p:cNvSpPr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95300" y="3009900"/>
            <a:ext cx="541020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The tier structure is steep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5300" y="3219450"/>
            <a:ext cx="5410200" cy="762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5300" y="4114800"/>
            <a:ext cx="541020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Growth is shifting inside the product mix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5300" y="4324350"/>
            <a:ext cx="5410200" cy="762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591300" y="1905000"/>
            <a:ext cx="541020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Reach divides the field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591300" y="2114550"/>
            <a:ext cx="5410200" cy="762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players compete globally, 2 regionally and 4 in one market or niche.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591300" y="3009900"/>
            <a:ext cx="541020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Consolidation is an active lever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6591300" y="3219450"/>
            <a:ext cx="5410200" cy="762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is an active strategy at 5 of 10 named players; the independent target list is shrinking.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591300" y="4114800"/>
            <a:ext cx="541020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Success factors, in order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591300" y="4324350"/>
            <a:ext cx="5410200" cy="762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 segment breadth, 2 scale and share, 3 geographic reach, 4 innovation pipeline, 5 strategic momentum.  Ranking leads: Laboratoire Biogance, Beaphar, Laboratoire Francodex.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190500" y="5276850"/>
            <a:ext cx="38100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THIS SECTION IS BUILT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90500" y="5448300"/>
            <a:ext cx="11811000" cy="571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Pages 2 to 4 show where the market is and who plays.  Pages 5 to 7 rate every named company on twenty Ps (who they are, what they sell, how they win); a cell reads n/a where no evidence exists.  Page 8 turns the pattern into five success factors and a ranking.  Pages 9 and 10 list what each player is doing and what each of your departments should do about it.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3863" y="1401826"/>
            <a:ext cx="128699" cy="187198"/>
          </a:xfrm>
          <a:prstGeom prst="rect">
            <a:avLst/>
          </a:prstGeom>
        </p:spPr>
      </p:pic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0238" y="1401826"/>
            <a:ext cx="128699" cy="187198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6613" y="1401826"/>
            <a:ext cx="128699" cy="187198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8488" y="1401826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4705350" y="1304925"/>
            <a:ext cx="1180790" cy="179984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055" b="1">
                <a:solidFill>
                  <a:srgbClr val="0F2D52"/>
                </a:solidFill>
                <a:latin typeface="Calibri"/>
              </a:rPr>
              <a:t>Pet Specialty Retail,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92421" y="1456471"/>
            <a:ext cx="123551" cy="17971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23875" y="2124075"/>
            <a:ext cx="11373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three hold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9246" y="2114296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776742" y="2124075"/>
            <a:ext cx="394932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2026 value, but 3 companies lead the 8 sub-segments tracked; no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3875" y="2291715"/>
            <a:ext cx="13864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one leads more than 5.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23875" y="3228975"/>
            <a:ext cx="136405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Tier 1 (4 players) holds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35985" y="3219196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003481" y="3228975"/>
            <a:ext cx="18756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; Tier 2 and Tier 3 together hold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7189" y="3219196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994685" y="3228975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523875" y="4333875"/>
            <a:ext cx="491631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'Shampoos &amp; Cleansing Products' is the largest line; 'Shampoos &amp; Cleansing Products'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3875" y="4501515"/>
            <a:ext cx="130157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compounds fastest at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3502" y="4491736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940998" y="4501515"/>
            <a:ext cx="43061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CAGR.</a:t>
            </a: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Segment Leadership Map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Share by player group and which named player leads or is active in each sub-segment, 2026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90500" y="1047750"/>
            <a:ext cx="5715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holds the market, 2026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90500" y="1257300"/>
            <a:ext cx="4509884" cy="266700"/>
          </a:xfrm>
          <a:prstGeom prst="rect">
            <a:avLst/>
          </a:prstGeom>
          <a:solidFill>
            <a:srgbClr val="0F2D52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47650" y="1257300"/>
            <a:ext cx="4433684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13" name="Rectangle 12"/>
          <p:cNvSpPr/>
          <p:nvPr/>
        </p:nvSpPr>
        <p:spPr>
          <a:xfrm>
            <a:off x="4700384" y="1257300"/>
            <a:ext cx="1536162" cy="266700"/>
          </a:xfrm>
          <a:prstGeom prst="rect">
            <a:avLst/>
          </a:prstGeom>
          <a:solidFill>
            <a:srgbClr val="1F6FA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4757534" y="1257300"/>
            <a:ext cx="1459962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15" name="Rectangle 14"/>
          <p:cNvSpPr/>
          <p:nvPr/>
        </p:nvSpPr>
        <p:spPr>
          <a:xfrm>
            <a:off x="6236546" y="1257300"/>
            <a:ext cx="2242416" cy="266700"/>
          </a:xfrm>
          <a:prstGeom prst="rect">
            <a:avLst/>
          </a:prstGeom>
          <a:solidFill>
            <a:srgbClr val="6FA0CF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6293696" y="1257300"/>
            <a:ext cx="2166216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17" name="Rectangle 16"/>
          <p:cNvSpPr/>
          <p:nvPr/>
        </p:nvSpPr>
        <p:spPr>
          <a:xfrm>
            <a:off x="8478962" y="1257300"/>
            <a:ext cx="3522538" cy="266700"/>
          </a:xfrm>
          <a:prstGeom prst="rect">
            <a:avLst/>
          </a:prstGeom>
          <a:solidFill>
            <a:srgbClr val="A9C6E3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8536112" y="1257300"/>
            <a:ext cx="3446338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19" name="Rectangle 18"/>
          <p:cNvSpPr/>
          <p:nvPr/>
        </p:nvSpPr>
        <p:spPr>
          <a:xfrm>
            <a:off x="190500" y="1600200"/>
            <a:ext cx="85725" cy="857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314325" y="1543050"/>
            <a:ext cx="27622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Beaphar, Laboratoire Biogance, Laboratoire Francodex</a:t>
            </a:r>
          </a:p>
        </p:txBody>
      </p:sp>
      <p:sp>
        <p:nvSpPr>
          <p:cNvPr id="21" name="Rectangle 20"/>
          <p:cNvSpPr/>
          <p:nvPr/>
        </p:nvSpPr>
        <p:spPr>
          <a:xfrm>
            <a:off x="3143250" y="1600200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3267075" y="1543050"/>
            <a:ext cx="27622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Group55, Lakeland Cosmetics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096000" y="1600200"/>
            <a:ext cx="85725" cy="85725"/>
          </a:xfrm>
          <a:prstGeom prst="rect">
            <a:avLst/>
          </a:prstGeom>
          <a:solidFill>
            <a:srgbClr val="6FA0C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6219825" y="1543050"/>
            <a:ext cx="27622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Laboratorios Bilper, Artero, Iv San Bernard, Cosmetica Veneta, K9 Competition</a:t>
            </a:r>
          </a:p>
        </p:txBody>
      </p:sp>
      <p:sp>
        <p:nvSpPr>
          <p:cNvPr id="25" name="Rectangle 24"/>
          <p:cNvSpPr/>
          <p:nvPr/>
        </p:nvSpPr>
        <p:spPr>
          <a:xfrm>
            <a:off x="9048750" y="1600200"/>
            <a:ext cx="85725" cy="857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9172575" y="1543050"/>
            <a:ext cx="27622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Long tail of regional and niche suppliers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9240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190500" y="1981200"/>
            <a:ext cx="85725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leads which sub-segment, 2026  (full = leader, half = active)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114550" y="2114550"/>
            <a:ext cx="12001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3352800" y="2114550"/>
            <a:ext cx="12001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591050" y="2114550"/>
            <a:ext cx="12001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829300" y="2114550"/>
            <a:ext cx="12001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067550" y="2114550"/>
            <a:ext cx="12001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Pet Specialty Retail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8305800" y="2114550"/>
            <a:ext cx="12001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E-commerce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9544050" y="2114550"/>
            <a:ext cx="12001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General Retail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782300" y="2114550"/>
            <a:ext cx="1200150" cy="4762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Veterinary &amp; Animal Health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190500" y="2609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190500" y="2638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285750" y="2628900"/>
            <a:ext cx="17907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85750" y="2790825"/>
            <a:ext cx="17907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1" name="Oval 40"/>
          <p:cNvSpPr/>
          <p:nvPr/>
        </p:nvSpPr>
        <p:spPr>
          <a:xfrm>
            <a:off x="263842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Freeform 41"/>
          <p:cNvSpPr/>
          <p:nvPr/>
        </p:nvSpPr>
        <p:spPr>
          <a:xfrm>
            <a:off x="271462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Oval 42"/>
          <p:cNvSpPr/>
          <p:nvPr/>
        </p:nvSpPr>
        <p:spPr>
          <a:xfrm>
            <a:off x="38766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Oval 43"/>
          <p:cNvSpPr/>
          <p:nvPr/>
        </p:nvSpPr>
        <p:spPr>
          <a:xfrm>
            <a:off x="511492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Oval 44"/>
          <p:cNvSpPr/>
          <p:nvPr/>
        </p:nvSpPr>
        <p:spPr>
          <a:xfrm>
            <a:off x="63531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Oval 45"/>
          <p:cNvSpPr/>
          <p:nvPr/>
        </p:nvSpPr>
        <p:spPr>
          <a:xfrm>
            <a:off x="759142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Freeform 46"/>
          <p:cNvSpPr/>
          <p:nvPr/>
        </p:nvSpPr>
        <p:spPr>
          <a:xfrm>
            <a:off x="766762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Oval 47"/>
          <p:cNvSpPr/>
          <p:nvPr/>
        </p:nvSpPr>
        <p:spPr>
          <a:xfrm>
            <a:off x="882967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Freeform 48"/>
          <p:cNvSpPr/>
          <p:nvPr/>
        </p:nvSpPr>
        <p:spPr>
          <a:xfrm>
            <a:off x="890587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Oval 49"/>
          <p:cNvSpPr/>
          <p:nvPr/>
        </p:nvSpPr>
        <p:spPr>
          <a:xfrm>
            <a:off x="1006792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Oval 50"/>
          <p:cNvSpPr/>
          <p:nvPr/>
        </p:nvSpPr>
        <p:spPr>
          <a:xfrm>
            <a:off x="113061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52" name="Connector 51"/>
          <p:cNvCxnSpPr/>
          <p:nvPr/>
        </p:nvCxnSpPr>
        <p:spPr>
          <a:xfrm>
            <a:off x="190500" y="2952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190500" y="2981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285750" y="2971800"/>
            <a:ext cx="17907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5750" y="3133725"/>
            <a:ext cx="17907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6" name="Oval 55"/>
          <p:cNvSpPr/>
          <p:nvPr/>
        </p:nvSpPr>
        <p:spPr>
          <a:xfrm>
            <a:off x="26384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Freeform 56"/>
          <p:cNvSpPr/>
          <p:nvPr/>
        </p:nvSpPr>
        <p:spPr>
          <a:xfrm>
            <a:off x="27146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Oval 57"/>
          <p:cNvSpPr/>
          <p:nvPr/>
        </p:nvSpPr>
        <p:spPr>
          <a:xfrm>
            <a:off x="38766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Freeform 58"/>
          <p:cNvSpPr/>
          <p:nvPr/>
        </p:nvSpPr>
        <p:spPr>
          <a:xfrm>
            <a:off x="39528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Oval 59"/>
          <p:cNvSpPr/>
          <p:nvPr/>
        </p:nvSpPr>
        <p:spPr>
          <a:xfrm>
            <a:off x="51149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Oval 60"/>
          <p:cNvSpPr/>
          <p:nvPr/>
        </p:nvSpPr>
        <p:spPr>
          <a:xfrm>
            <a:off x="63531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Freeform 61"/>
          <p:cNvSpPr/>
          <p:nvPr/>
        </p:nvSpPr>
        <p:spPr>
          <a:xfrm>
            <a:off x="64293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Oval 62"/>
          <p:cNvSpPr/>
          <p:nvPr/>
        </p:nvSpPr>
        <p:spPr>
          <a:xfrm>
            <a:off x="75914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Freeform 63"/>
          <p:cNvSpPr/>
          <p:nvPr/>
        </p:nvSpPr>
        <p:spPr>
          <a:xfrm>
            <a:off x="76676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Oval 64"/>
          <p:cNvSpPr/>
          <p:nvPr/>
        </p:nvSpPr>
        <p:spPr>
          <a:xfrm>
            <a:off x="8829675" y="3048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Oval 65"/>
          <p:cNvSpPr/>
          <p:nvPr/>
        </p:nvSpPr>
        <p:spPr>
          <a:xfrm>
            <a:off x="100679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Freeform 66"/>
          <p:cNvSpPr/>
          <p:nvPr/>
        </p:nvSpPr>
        <p:spPr>
          <a:xfrm>
            <a:off x="101441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Oval 67"/>
          <p:cNvSpPr/>
          <p:nvPr/>
        </p:nvSpPr>
        <p:spPr>
          <a:xfrm>
            <a:off x="113061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Freeform 68"/>
          <p:cNvSpPr/>
          <p:nvPr/>
        </p:nvSpPr>
        <p:spPr>
          <a:xfrm>
            <a:off x="113823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70" name="Connector 69"/>
          <p:cNvCxnSpPr/>
          <p:nvPr/>
        </p:nvCxnSpPr>
        <p:spPr>
          <a:xfrm>
            <a:off x="190500" y="3295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ectangle 70"/>
          <p:cNvSpPr/>
          <p:nvPr/>
        </p:nvSpPr>
        <p:spPr>
          <a:xfrm>
            <a:off x="190500" y="3324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TextBox 71"/>
          <p:cNvSpPr txBox="1"/>
          <p:nvPr/>
        </p:nvSpPr>
        <p:spPr>
          <a:xfrm>
            <a:off x="285750" y="3314700"/>
            <a:ext cx="17907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85750" y="3476625"/>
            <a:ext cx="17907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74" name="Oval 73"/>
          <p:cNvSpPr/>
          <p:nvPr/>
        </p:nvSpPr>
        <p:spPr>
          <a:xfrm>
            <a:off x="2638425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Oval 74"/>
          <p:cNvSpPr/>
          <p:nvPr/>
        </p:nvSpPr>
        <p:spPr>
          <a:xfrm>
            <a:off x="38766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Oval 75"/>
          <p:cNvSpPr/>
          <p:nvPr/>
        </p:nvSpPr>
        <p:spPr>
          <a:xfrm>
            <a:off x="511492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Freeform 76"/>
          <p:cNvSpPr/>
          <p:nvPr/>
        </p:nvSpPr>
        <p:spPr>
          <a:xfrm>
            <a:off x="519112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Oval 77"/>
          <p:cNvSpPr/>
          <p:nvPr/>
        </p:nvSpPr>
        <p:spPr>
          <a:xfrm>
            <a:off x="63531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Oval 78"/>
          <p:cNvSpPr/>
          <p:nvPr/>
        </p:nvSpPr>
        <p:spPr>
          <a:xfrm>
            <a:off x="7591425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Oval 79"/>
          <p:cNvSpPr/>
          <p:nvPr/>
        </p:nvSpPr>
        <p:spPr>
          <a:xfrm>
            <a:off x="88296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Freeform 80"/>
          <p:cNvSpPr/>
          <p:nvPr/>
        </p:nvSpPr>
        <p:spPr>
          <a:xfrm>
            <a:off x="890587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Oval 81"/>
          <p:cNvSpPr/>
          <p:nvPr/>
        </p:nvSpPr>
        <p:spPr>
          <a:xfrm>
            <a:off x="1006792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Freeform 82"/>
          <p:cNvSpPr/>
          <p:nvPr/>
        </p:nvSpPr>
        <p:spPr>
          <a:xfrm>
            <a:off x="1014412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Oval 83"/>
          <p:cNvSpPr/>
          <p:nvPr/>
        </p:nvSpPr>
        <p:spPr>
          <a:xfrm>
            <a:off x="113061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Freeform 84"/>
          <p:cNvSpPr/>
          <p:nvPr/>
        </p:nvSpPr>
        <p:spPr>
          <a:xfrm>
            <a:off x="1138237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86" name="Connector 85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3667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TextBox 87"/>
          <p:cNvSpPr txBox="1"/>
          <p:nvPr/>
        </p:nvSpPr>
        <p:spPr>
          <a:xfrm>
            <a:off x="285750" y="3657600"/>
            <a:ext cx="17907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3819525"/>
            <a:ext cx="17907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90" name="Oval 89"/>
          <p:cNvSpPr/>
          <p:nvPr/>
        </p:nvSpPr>
        <p:spPr>
          <a:xfrm>
            <a:off x="26384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Oval 90"/>
          <p:cNvSpPr/>
          <p:nvPr/>
        </p:nvSpPr>
        <p:spPr>
          <a:xfrm>
            <a:off x="38766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Freeform 91"/>
          <p:cNvSpPr/>
          <p:nvPr/>
        </p:nvSpPr>
        <p:spPr>
          <a:xfrm>
            <a:off x="39528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Oval 92"/>
          <p:cNvSpPr/>
          <p:nvPr/>
        </p:nvSpPr>
        <p:spPr>
          <a:xfrm>
            <a:off x="51149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Freeform 93"/>
          <p:cNvSpPr/>
          <p:nvPr/>
        </p:nvSpPr>
        <p:spPr>
          <a:xfrm>
            <a:off x="519112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Oval 94"/>
          <p:cNvSpPr/>
          <p:nvPr/>
        </p:nvSpPr>
        <p:spPr>
          <a:xfrm>
            <a:off x="63531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Freeform 95"/>
          <p:cNvSpPr/>
          <p:nvPr/>
        </p:nvSpPr>
        <p:spPr>
          <a:xfrm>
            <a:off x="64293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Oval 96"/>
          <p:cNvSpPr/>
          <p:nvPr/>
        </p:nvSpPr>
        <p:spPr>
          <a:xfrm>
            <a:off x="75914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Freeform 97"/>
          <p:cNvSpPr/>
          <p:nvPr/>
        </p:nvSpPr>
        <p:spPr>
          <a:xfrm>
            <a:off x="766762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Oval 98"/>
          <p:cNvSpPr/>
          <p:nvPr/>
        </p:nvSpPr>
        <p:spPr>
          <a:xfrm>
            <a:off x="88296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0" name="Freeform 99"/>
          <p:cNvSpPr/>
          <p:nvPr/>
        </p:nvSpPr>
        <p:spPr>
          <a:xfrm>
            <a:off x="89058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Oval 100"/>
          <p:cNvSpPr/>
          <p:nvPr/>
        </p:nvSpPr>
        <p:spPr>
          <a:xfrm>
            <a:off x="100679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Oval 101"/>
          <p:cNvSpPr/>
          <p:nvPr/>
        </p:nvSpPr>
        <p:spPr>
          <a:xfrm>
            <a:off x="113061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3981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010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TextBox 104"/>
          <p:cNvSpPr txBox="1"/>
          <p:nvPr/>
        </p:nvSpPr>
        <p:spPr>
          <a:xfrm>
            <a:off x="285750" y="4000500"/>
            <a:ext cx="17907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162425"/>
            <a:ext cx="17907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07" name="Oval 106"/>
          <p:cNvSpPr/>
          <p:nvPr/>
        </p:nvSpPr>
        <p:spPr>
          <a:xfrm>
            <a:off x="26384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Freeform 107"/>
          <p:cNvSpPr/>
          <p:nvPr/>
        </p:nvSpPr>
        <p:spPr>
          <a:xfrm>
            <a:off x="27146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Oval 108"/>
          <p:cNvSpPr/>
          <p:nvPr/>
        </p:nvSpPr>
        <p:spPr>
          <a:xfrm>
            <a:off x="38766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Freeform 109"/>
          <p:cNvSpPr/>
          <p:nvPr/>
        </p:nvSpPr>
        <p:spPr>
          <a:xfrm>
            <a:off x="395287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Oval 110"/>
          <p:cNvSpPr/>
          <p:nvPr/>
        </p:nvSpPr>
        <p:spPr>
          <a:xfrm>
            <a:off x="51149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Freeform 111"/>
          <p:cNvSpPr/>
          <p:nvPr/>
        </p:nvSpPr>
        <p:spPr>
          <a:xfrm>
            <a:off x="51911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Oval 112"/>
          <p:cNvSpPr/>
          <p:nvPr/>
        </p:nvSpPr>
        <p:spPr>
          <a:xfrm>
            <a:off x="63531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Oval 113"/>
          <p:cNvSpPr/>
          <p:nvPr/>
        </p:nvSpPr>
        <p:spPr>
          <a:xfrm>
            <a:off x="75914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Freeform 114"/>
          <p:cNvSpPr/>
          <p:nvPr/>
        </p:nvSpPr>
        <p:spPr>
          <a:xfrm>
            <a:off x="76676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Oval 115"/>
          <p:cNvSpPr/>
          <p:nvPr/>
        </p:nvSpPr>
        <p:spPr>
          <a:xfrm>
            <a:off x="88296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Oval 116"/>
          <p:cNvSpPr/>
          <p:nvPr/>
        </p:nvSpPr>
        <p:spPr>
          <a:xfrm>
            <a:off x="100679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Freeform 117"/>
          <p:cNvSpPr/>
          <p:nvPr/>
        </p:nvSpPr>
        <p:spPr>
          <a:xfrm>
            <a:off x="101441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Oval 118"/>
          <p:cNvSpPr/>
          <p:nvPr/>
        </p:nvSpPr>
        <p:spPr>
          <a:xfrm>
            <a:off x="113061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20" name="Connector 119"/>
          <p:cNvCxnSpPr/>
          <p:nvPr/>
        </p:nvCxnSpPr>
        <p:spPr>
          <a:xfrm>
            <a:off x="190500" y="4324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1" name="Rectangle 120"/>
          <p:cNvSpPr/>
          <p:nvPr/>
        </p:nvSpPr>
        <p:spPr>
          <a:xfrm>
            <a:off x="190500" y="4352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TextBox 121"/>
          <p:cNvSpPr txBox="1"/>
          <p:nvPr/>
        </p:nvSpPr>
        <p:spPr>
          <a:xfrm>
            <a:off x="285750" y="4343400"/>
            <a:ext cx="17907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5750" y="4505325"/>
            <a:ext cx="17907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24" name="Oval 123"/>
          <p:cNvSpPr/>
          <p:nvPr/>
        </p:nvSpPr>
        <p:spPr>
          <a:xfrm>
            <a:off x="26384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Freeform 124"/>
          <p:cNvSpPr/>
          <p:nvPr/>
        </p:nvSpPr>
        <p:spPr>
          <a:xfrm>
            <a:off x="271462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Oval 125"/>
          <p:cNvSpPr/>
          <p:nvPr/>
        </p:nvSpPr>
        <p:spPr>
          <a:xfrm>
            <a:off x="38766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Freeform 126"/>
          <p:cNvSpPr/>
          <p:nvPr/>
        </p:nvSpPr>
        <p:spPr>
          <a:xfrm>
            <a:off x="395287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Oval 127"/>
          <p:cNvSpPr/>
          <p:nvPr/>
        </p:nvSpPr>
        <p:spPr>
          <a:xfrm>
            <a:off x="51149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Oval 128"/>
          <p:cNvSpPr/>
          <p:nvPr/>
        </p:nvSpPr>
        <p:spPr>
          <a:xfrm>
            <a:off x="63531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Oval 129"/>
          <p:cNvSpPr/>
          <p:nvPr/>
        </p:nvSpPr>
        <p:spPr>
          <a:xfrm>
            <a:off x="75914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Oval 130"/>
          <p:cNvSpPr/>
          <p:nvPr/>
        </p:nvSpPr>
        <p:spPr>
          <a:xfrm>
            <a:off x="88296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Freeform 131"/>
          <p:cNvSpPr/>
          <p:nvPr/>
        </p:nvSpPr>
        <p:spPr>
          <a:xfrm>
            <a:off x="890587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Oval 132"/>
          <p:cNvSpPr/>
          <p:nvPr/>
        </p:nvSpPr>
        <p:spPr>
          <a:xfrm>
            <a:off x="100679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Freeform 133"/>
          <p:cNvSpPr/>
          <p:nvPr/>
        </p:nvSpPr>
        <p:spPr>
          <a:xfrm>
            <a:off x="1014412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Oval 134"/>
          <p:cNvSpPr/>
          <p:nvPr/>
        </p:nvSpPr>
        <p:spPr>
          <a:xfrm>
            <a:off x="113061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4667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Rectangle 136"/>
          <p:cNvSpPr/>
          <p:nvPr/>
        </p:nvSpPr>
        <p:spPr>
          <a:xfrm>
            <a:off x="190500" y="4695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TextBox 137"/>
          <p:cNvSpPr txBox="1"/>
          <p:nvPr/>
        </p:nvSpPr>
        <p:spPr>
          <a:xfrm>
            <a:off x="285750" y="4686300"/>
            <a:ext cx="17907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285750" y="4848225"/>
            <a:ext cx="17907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0" name="Oval 139"/>
          <p:cNvSpPr/>
          <p:nvPr/>
        </p:nvSpPr>
        <p:spPr>
          <a:xfrm>
            <a:off x="26384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Freeform 140"/>
          <p:cNvSpPr/>
          <p:nvPr/>
        </p:nvSpPr>
        <p:spPr>
          <a:xfrm>
            <a:off x="27146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Oval 141"/>
          <p:cNvSpPr/>
          <p:nvPr/>
        </p:nvSpPr>
        <p:spPr>
          <a:xfrm>
            <a:off x="38766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Oval 142"/>
          <p:cNvSpPr/>
          <p:nvPr/>
        </p:nvSpPr>
        <p:spPr>
          <a:xfrm>
            <a:off x="51149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Freeform 143"/>
          <p:cNvSpPr/>
          <p:nvPr/>
        </p:nvSpPr>
        <p:spPr>
          <a:xfrm>
            <a:off x="51911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Oval 144"/>
          <p:cNvSpPr/>
          <p:nvPr/>
        </p:nvSpPr>
        <p:spPr>
          <a:xfrm>
            <a:off x="63531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Oval 145"/>
          <p:cNvSpPr/>
          <p:nvPr/>
        </p:nvSpPr>
        <p:spPr>
          <a:xfrm>
            <a:off x="75914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Freeform 146"/>
          <p:cNvSpPr/>
          <p:nvPr/>
        </p:nvSpPr>
        <p:spPr>
          <a:xfrm>
            <a:off x="76676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8" name="Oval 147"/>
          <p:cNvSpPr/>
          <p:nvPr/>
        </p:nvSpPr>
        <p:spPr>
          <a:xfrm>
            <a:off x="88296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Freeform 148"/>
          <p:cNvSpPr/>
          <p:nvPr/>
        </p:nvSpPr>
        <p:spPr>
          <a:xfrm>
            <a:off x="890587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Oval 149"/>
          <p:cNvSpPr/>
          <p:nvPr/>
        </p:nvSpPr>
        <p:spPr>
          <a:xfrm>
            <a:off x="100679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Oval 150"/>
          <p:cNvSpPr/>
          <p:nvPr/>
        </p:nvSpPr>
        <p:spPr>
          <a:xfrm>
            <a:off x="113061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52" name="Connector 151"/>
          <p:cNvCxnSpPr/>
          <p:nvPr/>
        </p:nvCxnSpPr>
        <p:spPr>
          <a:xfrm>
            <a:off x="190500" y="5010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3" name="Rectangle 152"/>
          <p:cNvSpPr/>
          <p:nvPr/>
        </p:nvSpPr>
        <p:spPr>
          <a:xfrm>
            <a:off x="190500" y="5038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TextBox 153"/>
          <p:cNvSpPr txBox="1"/>
          <p:nvPr/>
        </p:nvSpPr>
        <p:spPr>
          <a:xfrm>
            <a:off x="285750" y="5029200"/>
            <a:ext cx="17907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85750" y="5191125"/>
            <a:ext cx="17907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56" name="Oval 155"/>
          <p:cNvSpPr/>
          <p:nvPr/>
        </p:nvSpPr>
        <p:spPr>
          <a:xfrm>
            <a:off x="26384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7" name="Oval 156"/>
          <p:cNvSpPr/>
          <p:nvPr/>
        </p:nvSpPr>
        <p:spPr>
          <a:xfrm>
            <a:off x="38766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Freeform 157"/>
          <p:cNvSpPr/>
          <p:nvPr/>
        </p:nvSpPr>
        <p:spPr>
          <a:xfrm>
            <a:off x="395287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9" name="Oval 158"/>
          <p:cNvSpPr/>
          <p:nvPr/>
        </p:nvSpPr>
        <p:spPr>
          <a:xfrm>
            <a:off x="51149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0" name="Freeform 159"/>
          <p:cNvSpPr/>
          <p:nvPr/>
        </p:nvSpPr>
        <p:spPr>
          <a:xfrm>
            <a:off x="51911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1" name="Oval 160"/>
          <p:cNvSpPr/>
          <p:nvPr/>
        </p:nvSpPr>
        <p:spPr>
          <a:xfrm>
            <a:off x="63531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2" name="Oval 161"/>
          <p:cNvSpPr/>
          <p:nvPr/>
        </p:nvSpPr>
        <p:spPr>
          <a:xfrm>
            <a:off x="75914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3" name="Freeform 162"/>
          <p:cNvSpPr/>
          <p:nvPr/>
        </p:nvSpPr>
        <p:spPr>
          <a:xfrm>
            <a:off x="76676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Oval 163"/>
          <p:cNvSpPr/>
          <p:nvPr/>
        </p:nvSpPr>
        <p:spPr>
          <a:xfrm>
            <a:off x="88296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5" name="Oval 164"/>
          <p:cNvSpPr/>
          <p:nvPr/>
        </p:nvSpPr>
        <p:spPr>
          <a:xfrm>
            <a:off x="100679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Freeform 165"/>
          <p:cNvSpPr/>
          <p:nvPr/>
        </p:nvSpPr>
        <p:spPr>
          <a:xfrm>
            <a:off x="101441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7" name="Oval 166"/>
          <p:cNvSpPr/>
          <p:nvPr/>
        </p:nvSpPr>
        <p:spPr>
          <a:xfrm>
            <a:off x="113061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68" name="Connector 167"/>
          <p:cNvCxnSpPr/>
          <p:nvPr/>
        </p:nvCxnSpPr>
        <p:spPr>
          <a:xfrm>
            <a:off x="190500" y="5353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9" name="Rectangle 168"/>
          <p:cNvSpPr/>
          <p:nvPr/>
        </p:nvSpPr>
        <p:spPr>
          <a:xfrm>
            <a:off x="190500" y="5381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0" name="TextBox 169"/>
          <p:cNvSpPr txBox="1"/>
          <p:nvPr/>
        </p:nvSpPr>
        <p:spPr>
          <a:xfrm>
            <a:off x="285750" y="5372100"/>
            <a:ext cx="17907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5750" y="5534025"/>
            <a:ext cx="17907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72" name="Oval 171"/>
          <p:cNvSpPr/>
          <p:nvPr/>
        </p:nvSpPr>
        <p:spPr>
          <a:xfrm>
            <a:off x="26384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3" name="Freeform 172"/>
          <p:cNvSpPr/>
          <p:nvPr/>
        </p:nvSpPr>
        <p:spPr>
          <a:xfrm>
            <a:off x="27146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4" name="Oval 173"/>
          <p:cNvSpPr/>
          <p:nvPr/>
        </p:nvSpPr>
        <p:spPr>
          <a:xfrm>
            <a:off x="38766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5" name="Freeform 174"/>
          <p:cNvSpPr/>
          <p:nvPr/>
        </p:nvSpPr>
        <p:spPr>
          <a:xfrm>
            <a:off x="395287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6" name="Oval 175"/>
          <p:cNvSpPr/>
          <p:nvPr/>
        </p:nvSpPr>
        <p:spPr>
          <a:xfrm>
            <a:off x="51149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7" name="Freeform 176"/>
          <p:cNvSpPr/>
          <p:nvPr/>
        </p:nvSpPr>
        <p:spPr>
          <a:xfrm>
            <a:off x="51911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8" name="Oval 177"/>
          <p:cNvSpPr/>
          <p:nvPr/>
        </p:nvSpPr>
        <p:spPr>
          <a:xfrm>
            <a:off x="63531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9" name="Oval 178"/>
          <p:cNvSpPr/>
          <p:nvPr/>
        </p:nvSpPr>
        <p:spPr>
          <a:xfrm>
            <a:off x="75914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0" name="Oval 179"/>
          <p:cNvSpPr/>
          <p:nvPr/>
        </p:nvSpPr>
        <p:spPr>
          <a:xfrm>
            <a:off x="88296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1" name="Freeform 180"/>
          <p:cNvSpPr/>
          <p:nvPr/>
        </p:nvSpPr>
        <p:spPr>
          <a:xfrm>
            <a:off x="890587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2" name="Oval 181"/>
          <p:cNvSpPr/>
          <p:nvPr/>
        </p:nvSpPr>
        <p:spPr>
          <a:xfrm>
            <a:off x="100679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3" name="Freeform 182"/>
          <p:cNvSpPr/>
          <p:nvPr/>
        </p:nvSpPr>
        <p:spPr>
          <a:xfrm>
            <a:off x="101441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4" name="Oval 183"/>
          <p:cNvSpPr/>
          <p:nvPr/>
        </p:nvSpPr>
        <p:spPr>
          <a:xfrm>
            <a:off x="113061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85" name="Connector 184"/>
          <p:cNvCxnSpPr/>
          <p:nvPr/>
        </p:nvCxnSpPr>
        <p:spPr>
          <a:xfrm>
            <a:off x="190500" y="5695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6" name="Rectangle 185"/>
          <p:cNvSpPr/>
          <p:nvPr/>
        </p:nvSpPr>
        <p:spPr>
          <a:xfrm>
            <a:off x="190500" y="5724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7" name="TextBox 186"/>
          <p:cNvSpPr txBox="1"/>
          <p:nvPr/>
        </p:nvSpPr>
        <p:spPr>
          <a:xfrm>
            <a:off x="285750" y="5715000"/>
            <a:ext cx="17907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285750" y="5876925"/>
            <a:ext cx="17907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89" name="Oval 188"/>
          <p:cNvSpPr/>
          <p:nvPr/>
        </p:nvSpPr>
        <p:spPr>
          <a:xfrm>
            <a:off x="26384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0" name="Freeform 189"/>
          <p:cNvSpPr/>
          <p:nvPr/>
        </p:nvSpPr>
        <p:spPr>
          <a:xfrm>
            <a:off x="271462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1" name="Oval 190"/>
          <p:cNvSpPr/>
          <p:nvPr/>
        </p:nvSpPr>
        <p:spPr>
          <a:xfrm>
            <a:off x="38766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2" name="Freeform 191"/>
          <p:cNvSpPr/>
          <p:nvPr/>
        </p:nvSpPr>
        <p:spPr>
          <a:xfrm>
            <a:off x="395287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3" name="Oval 192"/>
          <p:cNvSpPr/>
          <p:nvPr/>
        </p:nvSpPr>
        <p:spPr>
          <a:xfrm>
            <a:off x="51149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4" name="Oval 193"/>
          <p:cNvSpPr/>
          <p:nvPr/>
        </p:nvSpPr>
        <p:spPr>
          <a:xfrm>
            <a:off x="63531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5" name="Oval 194"/>
          <p:cNvSpPr/>
          <p:nvPr/>
        </p:nvSpPr>
        <p:spPr>
          <a:xfrm>
            <a:off x="75914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6" name="Freeform 195"/>
          <p:cNvSpPr/>
          <p:nvPr/>
        </p:nvSpPr>
        <p:spPr>
          <a:xfrm>
            <a:off x="766762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7" name="Oval 196"/>
          <p:cNvSpPr/>
          <p:nvPr/>
        </p:nvSpPr>
        <p:spPr>
          <a:xfrm>
            <a:off x="88296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8" name="Freeform 197"/>
          <p:cNvSpPr/>
          <p:nvPr/>
        </p:nvSpPr>
        <p:spPr>
          <a:xfrm>
            <a:off x="890587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9" name="Oval 198"/>
          <p:cNvSpPr/>
          <p:nvPr/>
        </p:nvSpPr>
        <p:spPr>
          <a:xfrm>
            <a:off x="100679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0" name="Oval 199"/>
          <p:cNvSpPr/>
          <p:nvPr/>
        </p:nvSpPr>
        <p:spPr>
          <a:xfrm>
            <a:off x="113061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201" name="Connector 200"/>
          <p:cNvCxnSpPr/>
          <p:nvPr/>
        </p:nvCxnSpPr>
        <p:spPr>
          <a:xfrm>
            <a:off x="190500" y="6038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2" name="Rectangle 201"/>
          <p:cNvSpPr/>
          <p:nvPr/>
        </p:nvSpPr>
        <p:spPr>
          <a:xfrm>
            <a:off x="190500" y="6124575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3" name="TextBox 202"/>
          <p:cNvSpPr txBox="1"/>
          <p:nvPr/>
        </p:nvSpPr>
        <p:spPr>
          <a:xfrm>
            <a:off x="314325" y="6076950"/>
            <a:ext cx="20955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847725" y="6124575"/>
            <a:ext cx="85725" cy="85725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5" name="TextBox 204"/>
          <p:cNvSpPr txBox="1"/>
          <p:nvPr/>
        </p:nvSpPr>
        <p:spPr>
          <a:xfrm>
            <a:off x="971550" y="6076950"/>
            <a:ext cx="20955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206" name="Rectangle 205"/>
          <p:cNvSpPr/>
          <p:nvPr/>
        </p:nvSpPr>
        <p:spPr>
          <a:xfrm>
            <a:off x="1504950" y="6124575"/>
            <a:ext cx="85725" cy="85725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7" name="TextBox 206"/>
          <p:cNvSpPr txBox="1"/>
          <p:nvPr/>
        </p:nvSpPr>
        <p:spPr>
          <a:xfrm>
            <a:off x="1628775" y="6076950"/>
            <a:ext cx="20955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190500" y="6286500"/>
            <a:ext cx="28575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190500" y="6400800"/>
            <a:ext cx="1181100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Read across a row to see breadth; down a column to see contestability.  'Shampoos &amp; Cleansing Products' is the most contested column (8 players active); 'Dental &amp; Oral Care Products' is the most open (3).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276225" y="1306830"/>
            <a:ext cx="39816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Top 3</a:t>
            </a:r>
          </a:p>
        </p:txBody>
      </p:sp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2441" y="1297051"/>
            <a:ext cx="128699" cy="187198"/>
          </a:xfrm>
          <a:prstGeom prst="rect">
            <a:avLst/>
          </a:prstGeom>
        </p:spPr>
      </p:pic>
      <p:sp>
        <p:nvSpPr>
          <p:cNvPr id="213" name="TextBox 212"/>
          <p:cNvSpPr txBox="1"/>
          <p:nvPr/>
        </p:nvSpPr>
        <p:spPr>
          <a:xfrm>
            <a:off x="4786109" y="1306830"/>
            <a:ext cx="81317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Rest of top 5</a:t>
            </a:r>
          </a:p>
        </p:txBody>
      </p:sp>
      <p:pic>
        <p:nvPicPr>
          <p:cNvPr id="214" name="Picture 2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332" y="1297051"/>
            <a:ext cx="128699" cy="187198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6322271" y="1306830"/>
            <a:ext cx="62026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Emerging</a:t>
            </a:r>
          </a:p>
        </p:txBody>
      </p:sp>
      <p:pic>
        <p:nvPicPr>
          <p:cNvPr id="216" name="Picture 2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90588" y="1297051"/>
            <a:ext cx="128699" cy="187198"/>
          </a:xfrm>
          <a:prstGeom prst="rect">
            <a:avLst/>
          </a:prstGeom>
        </p:spPr>
      </p:pic>
      <p:sp>
        <p:nvSpPr>
          <p:cNvPr id="217" name="TextBox 216"/>
          <p:cNvSpPr txBox="1"/>
          <p:nvPr/>
        </p:nvSpPr>
        <p:spPr>
          <a:xfrm>
            <a:off x="8564687" y="1306830"/>
            <a:ext cx="4699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0F2D52"/>
                </a:solidFill>
                <a:latin typeface="Calibri"/>
              </a:rPr>
              <a:t>Others</a:t>
            </a:r>
          </a:p>
        </p:txBody>
      </p:sp>
      <p:pic>
        <p:nvPicPr>
          <p:cNvPr id="218" name="Picture 2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2663" y="12970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Value Chain Positioning of Leading Players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How the market is organised by product type and end use, and who leads at each stage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47650" y="1047750"/>
            <a:ext cx="22669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47650" y="1238250"/>
            <a:ext cx="226695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2" name="Connector 11"/>
          <p:cNvCxnSpPr/>
          <p:nvPr/>
        </p:nvCxnSpPr>
        <p:spPr>
          <a:xfrm>
            <a:off x="25527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2609850" y="1047750"/>
            <a:ext cx="22669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609850" y="1238250"/>
            <a:ext cx="226695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49149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4972050" y="1047750"/>
            <a:ext cx="22669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Shampoos &amp; Cleansing Products, share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2050" y="1238250"/>
            <a:ext cx="226695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72771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7334250" y="1047750"/>
            <a:ext cx="22669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Coat Conditioning &amp; Grooming Products, share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334250" y="1238250"/>
            <a:ext cx="226695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96393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9696450" y="1047750"/>
            <a:ext cx="22669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Skin, Paw &amp; Nose Care Products, share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696450" y="1238250"/>
            <a:ext cx="226695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154305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Rectangle 25"/>
          <p:cNvSpPr/>
          <p:nvPr/>
        </p:nvSpPr>
        <p:spPr>
          <a:xfrm>
            <a:off x="190500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285750" y="17335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Shampoos &amp; Cleansing Products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85750" y="1924050"/>
            <a:ext cx="666750" cy="19050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71550" y="1924050"/>
            <a:ext cx="1890712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85750" y="2133600"/>
            <a:ext cx="666750" cy="19050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971550" y="2133600"/>
            <a:ext cx="1890712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285750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285750" y="241935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85750" y="259080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Laboratoire Francodex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85750" y="281940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85750" y="29908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316230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Biogance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33337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5750" y="350520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Laboratorios Bilper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285750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285750" y="449580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85750" y="4667250"/>
            <a:ext cx="2576512" cy="6667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cxnSp>
        <p:nvCxnSpPr>
          <p:cNvPr id="43" name="Connector 42"/>
          <p:cNvCxnSpPr/>
          <p:nvPr/>
        </p:nvCxnSpPr>
        <p:spPr>
          <a:xfrm>
            <a:off x="2995612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Freeform 43"/>
          <p:cNvSpPr/>
          <p:nvPr/>
        </p:nvSpPr>
        <p:spPr>
          <a:xfrm>
            <a:off x="3105150" y="3448050"/>
            <a:ext cx="57150" cy="95250"/>
          </a:xfrm>
          <a:custGeom>
            <a:avLst/>
            <a:gdLst/>
            <a:ahLst/>
            <a:cxnLst/>
            <a:rect l="l" t="t" r="r" b="b"/>
            <a:pathLst>
              <a:path w="6" h="10">
                <a:moveTo>
                  <a:pt x="6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3205162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3205162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3300412" y="17335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Coat Conditioning &amp; Grooming Products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300412" y="1924050"/>
            <a:ext cx="666750" cy="19050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986212" y="1924050"/>
            <a:ext cx="1890712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300412" y="2133600"/>
            <a:ext cx="666750" cy="19050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986212" y="2133600"/>
            <a:ext cx="1890712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3300412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00412" y="241935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300412" y="259080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300412" y="281940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300412" y="29908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Biogance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300412" y="316230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Group55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300412" y="33337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300412" y="350520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Laboratorios Bilper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3300412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300412" y="449580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300412" y="4667250"/>
            <a:ext cx="2576512" cy="6667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cxnSp>
        <p:nvCxnSpPr>
          <p:cNvPr id="63" name="Connector 62"/>
          <p:cNvCxnSpPr/>
          <p:nvPr/>
        </p:nvCxnSpPr>
        <p:spPr>
          <a:xfrm>
            <a:off x="6010275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Freeform 63"/>
          <p:cNvSpPr/>
          <p:nvPr/>
        </p:nvSpPr>
        <p:spPr>
          <a:xfrm>
            <a:off x="6115050" y="3448050"/>
            <a:ext cx="66675" cy="95250"/>
          </a:xfrm>
          <a:custGeom>
            <a:avLst/>
            <a:gdLst/>
            <a:ahLst/>
            <a:cxnLst/>
            <a:rect l="l" t="t" r="r" b="b"/>
            <a:pathLst>
              <a:path w="7" h="10">
                <a:moveTo>
                  <a:pt x="7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Rectangle 64"/>
          <p:cNvSpPr/>
          <p:nvPr/>
        </p:nvSpPr>
        <p:spPr>
          <a:xfrm>
            <a:off x="6219825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Rectangle 65"/>
          <p:cNvSpPr/>
          <p:nvPr/>
        </p:nvSpPr>
        <p:spPr>
          <a:xfrm>
            <a:off x="6219825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TextBox 66"/>
          <p:cNvSpPr txBox="1"/>
          <p:nvPr/>
        </p:nvSpPr>
        <p:spPr>
          <a:xfrm>
            <a:off x="6315075" y="17335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Skin, Paw &amp; Nose Care Products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315075" y="1924050"/>
            <a:ext cx="666750" cy="19050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7000875" y="1924050"/>
            <a:ext cx="1890712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315075" y="2133600"/>
            <a:ext cx="666750" cy="19050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000875" y="2133600"/>
            <a:ext cx="1890712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6315075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6315075" y="241935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315075" y="259080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315075" y="281940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315075" y="29908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Francodex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315075" y="316230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Group55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6315075" y="33337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6315075" y="350520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Artero</a:t>
            </a:r>
          </a:p>
        </p:txBody>
      </p:sp>
      <p:cxnSp>
        <p:nvCxnSpPr>
          <p:cNvPr id="80" name="Connector 79"/>
          <p:cNvCxnSpPr/>
          <p:nvPr/>
        </p:nvCxnSpPr>
        <p:spPr>
          <a:xfrm>
            <a:off x="6315075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TextBox 80"/>
          <p:cNvSpPr txBox="1"/>
          <p:nvPr/>
        </p:nvSpPr>
        <p:spPr>
          <a:xfrm>
            <a:off x="6315075" y="449580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6315075" y="4667250"/>
            <a:ext cx="2576512" cy="6667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cxnSp>
        <p:nvCxnSpPr>
          <p:cNvPr id="83" name="Connector 82"/>
          <p:cNvCxnSpPr/>
          <p:nvPr/>
        </p:nvCxnSpPr>
        <p:spPr>
          <a:xfrm>
            <a:off x="9024938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Freeform 83"/>
          <p:cNvSpPr/>
          <p:nvPr/>
        </p:nvSpPr>
        <p:spPr>
          <a:xfrm>
            <a:off x="9124950" y="3448050"/>
            <a:ext cx="76200" cy="95250"/>
          </a:xfrm>
          <a:custGeom>
            <a:avLst/>
            <a:gdLst/>
            <a:ahLst/>
            <a:cxnLst/>
            <a:rect l="l" t="t" r="r" b="b"/>
            <a:pathLst>
              <a:path w="8" h="10">
                <a:moveTo>
                  <a:pt x="8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Rectangle 84"/>
          <p:cNvSpPr/>
          <p:nvPr/>
        </p:nvSpPr>
        <p:spPr>
          <a:xfrm>
            <a:off x="9234488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Rectangle 85"/>
          <p:cNvSpPr/>
          <p:nvPr/>
        </p:nvSpPr>
        <p:spPr>
          <a:xfrm>
            <a:off x="9234488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TextBox 86"/>
          <p:cNvSpPr txBox="1"/>
          <p:nvPr/>
        </p:nvSpPr>
        <p:spPr>
          <a:xfrm>
            <a:off x="9329738" y="1733550"/>
            <a:ext cx="2576512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Sales Channels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9329738" y="1924050"/>
            <a:ext cx="2576512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By application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9329738" y="2133600"/>
            <a:ext cx="2576512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Who buys the output.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9329738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9329738" y="2419350"/>
            <a:ext cx="133350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0682288" y="2524125"/>
            <a:ext cx="766762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TextBox 92"/>
          <p:cNvSpPr txBox="1"/>
          <p:nvPr/>
        </p:nvSpPr>
        <p:spPr>
          <a:xfrm>
            <a:off x="11487150" y="2486025"/>
            <a:ext cx="476250" cy="190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29738" y="2743200"/>
            <a:ext cx="133350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0682288" y="2847975"/>
            <a:ext cx="760590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TextBox 95"/>
          <p:cNvSpPr txBox="1"/>
          <p:nvPr/>
        </p:nvSpPr>
        <p:spPr>
          <a:xfrm>
            <a:off x="11480977" y="2809875"/>
            <a:ext cx="476250" cy="190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9329738" y="3067050"/>
            <a:ext cx="133350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General Retail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0682288" y="3171825"/>
            <a:ext cx="425409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TextBox 98"/>
          <p:cNvSpPr txBox="1"/>
          <p:nvPr/>
        </p:nvSpPr>
        <p:spPr>
          <a:xfrm>
            <a:off x="11145796" y="3133725"/>
            <a:ext cx="476250" cy="190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9329738" y="3390900"/>
            <a:ext cx="133350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0682288" y="3495675"/>
            <a:ext cx="313385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TextBox 101"/>
          <p:cNvSpPr txBox="1"/>
          <p:nvPr/>
        </p:nvSpPr>
        <p:spPr>
          <a:xfrm>
            <a:off x="11033772" y="3457575"/>
            <a:ext cx="476250" cy="190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9329738" y="3714750"/>
            <a:ext cx="133350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Professional &amp; B2B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10682288" y="3819525"/>
            <a:ext cx="237630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TextBox 104"/>
          <p:cNvSpPr txBox="1"/>
          <p:nvPr/>
        </p:nvSpPr>
        <p:spPr>
          <a:xfrm>
            <a:off x="10958018" y="3781425"/>
            <a:ext cx="476250" cy="1905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9329738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TextBox 106"/>
          <p:cNvSpPr txBox="1"/>
          <p:nvPr/>
        </p:nvSpPr>
        <p:spPr>
          <a:xfrm>
            <a:off x="9329738" y="4495800"/>
            <a:ext cx="2576512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9329738" y="4667250"/>
            <a:ext cx="2576512" cy="6667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09" name="Rectangle 108"/>
          <p:cNvSpPr/>
          <p:nvPr/>
        </p:nvSpPr>
        <p:spPr>
          <a:xfrm>
            <a:off x="190500" y="54673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Rectangle 109"/>
          <p:cNvSpPr/>
          <p:nvPr/>
        </p:nvSpPr>
        <p:spPr>
          <a:xfrm>
            <a:off x="190500" y="5467350"/>
            <a:ext cx="47625" cy="4000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TextBox 110"/>
          <p:cNvSpPr txBox="1"/>
          <p:nvPr/>
        </p:nvSpPr>
        <p:spPr>
          <a:xfrm>
            <a:off x="304800" y="5467350"/>
            <a:ext cx="1047750" cy="4000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ENABLERS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428750" y="5467350"/>
            <a:ext cx="10477500" cy="4000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Shampoos &amp; Cleansing Products Compounds Fastest Across the Product Type Mix  |  Europe Emerges as the Growth Engine Among Regions  |  Premiumisation Lifts Average Realisation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90500" y="59245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Rectangle 113"/>
          <p:cNvSpPr/>
          <p:nvPr/>
        </p:nvSpPr>
        <p:spPr>
          <a:xfrm>
            <a:off x="190500" y="5924550"/>
            <a:ext cx="47625" cy="400050"/>
          </a:xfrm>
          <a:prstGeom prst="rect">
            <a:avLst/>
          </a:prstGeom>
          <a:solidFill>
            <a:srgbClr val="8B1E2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TextBox 114"/>
          <p:cNvSpPr txBox="1"/>
          <p:nvPr/>
        </p:nvSpPr>
        <p:spPr>
          <a:xfrm>
            <a:off x="304800" y="5924550"/>
            <a:ext cx="1047750" cy="4000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8B1E2D"/>
                </a:solidFill>
                <a:latin typeface="Calibri"/>
              </a:rPr>
              <a:t>CONSTRAINTS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1428750" y="5924550"/>
            <a:ext cx="10477500" cy="4000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Coat Conditioning &amp; Grooming Products Lags the Category and Dilutes Blended Growth  |  Uneven Region Performance Caps the Blended Rate  |  Concentration Risk Limits Pricing and Sourcing Flexibility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16775" y="1258951"/>
            <a:ext cx="128699" cy="187198"/>
          </a:xfrm>
          <a:prstGeom prst="rect">
            <a:avLst/>
          </a:prstGeom>
        </p:spPr>
      </p:pic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8975" y="1258951"/>
            <a:ext cx="128699" cy="187198"/>
          </a:xfrm>
          <a:prstGeom prst="rect">
            <a:avLst/>
          </a:prstGeom>
        </p:spPr>
      </p:pic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1175" y="1258951"/>
            <a:ext cx="128699" cy="187198"/>
          </a:xfrm>
          <a:prstGeom prst="rect">
            <a:avLst/>
          </a:prstGeom>
        </p:spPr>
      </p:pic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03375" y="1258951"/>
            <a:ext cx="128699" cy="187198"/>
          </a:xfrm>
          <a:prstGeom prst="rect">
            <a:avLst/>
          </a:prstGeom>
        </p:spPr>
      </p:pic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65575" y="1258951"/>
            <a:ext cx="128699" cy="187198"/>
          </a:xfrm>
          <a:prstGeom prst="rect">
            <a:avLst/>
          </a:prstGeom>
        </p:spPr>
      </p:pic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1925701"/>
            <a:ext cx="128699" cy="187198"/>
          </a:xfrm>
          <a:prstGeom prst="rect">
            <a:avLst/>
          </a:prstGeom>
        </p:spPr>
      </p:pic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2135251"/>
            <a:ext cx="128699" cy="187198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1925701"/>
            <a:ext cx="128699" cy="187198"/>
          </a:xfrm>
          <a:prstGeom prst="rect">
            <a:avLst/>
          </a:prstGeom>
        </p:spPr>
      </p:pic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2135251"/>
            <a:ext cx="128699" cy="187198"/>
          </a:xfrm>
          <a:prstGeom prst="rect">
            <a:avLst/>
          </a:prstGeom>
        </p:spPr>
      </p:pic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1925701"/>
            <a:ext cx="128699" cy="187198"/>
          </a:xfrm>
          <a:prstGeom prst="rect">
            <a:avLst/>
          </a:prstGeom>
        </p:spPr>
      </p:pic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2135251"/>
            <a:ext cx="128699" cy="187198"/>
          </a:xfrm>
          <a:prstGeom prst="rect">
            <a:avLst/>
          </a:prstGeom>
        </p:spPr>
      </p:pic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60925" y="2487676"/>
            <a:ext cx="128699" cy="187198"/>
          </a:xfrm>
          <a:prstGeom prst="rect">
            <a:avLst/>
          </a:prstGeom>
        </p:spPr>
      </p:pic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54752" y="2811526"/>
            <a:ext cx="128699" cy="187198"/>
          </a:xfrm>
          <a:prstGeom prst="rect">
            <a:avLst/>
          </a:prstGeom>
        </p:spPr>
      </p:pic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19571" y="3135376"/>
            <a:ext cx="128699" cy="187198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7547" y="3459226"/>
            <a:ext cx="128699" cy="187198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31793" y="3783076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314325" y="4676775"/>
            <a:ext cx="251936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'Shampoos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314325" y="4844415"/>
            <a:ext cx="161017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&amp; Cleansing Products' adds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72548" y="4834636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2040043" y="4844415"/>
            <a:ext cx="69393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14325" y="5012055"/>
            <a:ext cx="3951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2036.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328987" y="4676775"/>
            <a:ext cx="220444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'Coat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328987" y="4844415"/>
            <a:ext cx="239134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Conditioning &amp; Grooming Products' adds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15519" y="5002276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3483015" y="5012055"/>
            <a:ext cx="104455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 2036.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6343650" y="4676775"/>
            <a:ext cx="248138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'Skin, Paw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343650" y="4844415"/>
            <a:ext cx="16472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&amp; Nose Care Products' adds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8980" y="4834636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8106476" y="4844415"/>
            <a:ext cx="69393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343650" y="5012055"/>
            <a:ext cx="39516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2036.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9358313" y="4676775"/>
            <a:ext cx="172886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two end uses pay for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5226" y="4666996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11202722" y="4676775"/>
            <a:ext cx="41399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the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9358313" y="4844415"/>
            <a:ext cx="251936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market; vendors package for one vertical at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9358313" y="5012055"/>
            <a:ext cx="4701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a time.</a:t>
            </a: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Player Landscape by Business Type and Reach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Named players by business type and geographic reach, with how each group competes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38300" y="1047750"/>
            <a:ext cx="3422650" cy="2667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1714500" y="1047750"/>
            <a:ext cx="3308350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1  (4)</a:t>
            </a:r>
          </a:p>
        </p:txBody>
      </p:sp>
      <p:sp>
        <p:nvSpPr>
          <p:cNvPr id="12" name="Rectangle 11"/>
          <p:cNvSpPr/>
          <p:nvPr/>
        </p:nvSpPr>
        <p:spPr>
          <a:xfrm>
            <a:off x="5099050" y="1047750"/>
            <a:ext cx="3422650" cy="2667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5175250" y="1047750"/>
            <a:ext cx="3308350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2  (2)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559800" y="1047750"/>
            <a:ext cx="3422650" cy="2667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8636000" y="1047750"/>
            <a:ext cx="3308350" cy="2667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3  (4)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90500" y="14097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Global (4)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90500" y="1581150"/>
            <a:ext cx="1333500" cy="381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Sells in most major regions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647825" y="13906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733550" y="1447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1733550" y="14382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924050" y="14287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733550" y="1638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1733550" y="16287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924050" y="16192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733550" y="1828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1733550" y="18192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924050" y="18097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733550" y="2019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1733550" y="20097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924050" y="20002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5108575" y="13906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8569325" y="13906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90500" y="24384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Regional (2)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90500" y="2609850"/>
            <a:ext cx="1333500" cy="381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Strong in one or two regions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40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1647825" y="24193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5108575" y="24193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5194300" y="24765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5194300" y="24669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384800" y="24574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41" name="Rectangle 40"/>
          <p:cNvSpPr/>
          <p:nvPr/>
        </p:nvSpPr>
        <p:spPr>
          <a:xfrm>
            <a:off x="5194300" y="26670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5194300" y="26574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384800" y="26479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44" name="Connector 43"/>
          <p:cNvCxnSpPr/>
          <p:nvPr/>
        </p:nvCxnSpPr>
        <p:spPr>
          <a:xfrm>
            <a:off x="8569325" y="24193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/>
          <p:cNvSpPr txBox="1"/>
          <p:nvPr/>
        </p:nvSpPr>
        <p:spPr>
          <a:xfrm>
            <a:off x="190500" y="3467100"/>
            <a:ext cx="138112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Local or niche (4)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90500" y="3638550"/>
            <a:ext cx="1333500" cy="381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One market or one specialist use</a:t>
            </a:r>
          </a:p>
        </p:txBody>
      </p:sp>
      <p:cxnSp>
        <p:nvCxnSpPr>
          <p:cNvPr id="47" name="Connector 46"/>
          <p:cNvCxnSpPr/>
          <p:nvPr/>
        </p:nvCxnSpPr>
        <p:spPr>
          <a:xfrm>
            <a:off x="190500" y="3429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647825" y="34480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108575" y="34480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8569325" y="34480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Rectangle 50"/>
          <p:cNvSpPr/>
          <p:nvPr/>
        </p:nvSpPr>
        <p:spPr>
          <a:xfrm>
            <a:off x="8655050" y="3505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8655050" y="34956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845550" y="34861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55050" y="3695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8655050" y="36861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845550" y="36766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57" name="Rectangle 56"/>
          <p:cNvSpPr/>
          <p:nvPr/>
        </p:nvSpPr>
        <p:spPr>
          <a:xfrm>
            <a:off x="8655050" y="3886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TextBox 57"/>
          <p:cNvSpPr txBox="1"/>
          <p:nvPr/>
        </p:nvSpPr>
        <p:spPr>
          <a:xfrm>
            <a:off x="8655050" y="38766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845550" y="38671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655050" y="4076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8655050" y="4067175"/>
            <a:ext cx="142875" cy="16192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845550" y="4057650"/>
            <a:ext cx="30797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63" name="Rectangle 62"/>
          <p:cNvSpPr/>
          <p:nvPr/>
        </p:nvSpPr>
        <p:spPr>
          <a:xfrm>
            <a:off x="190500" y="4524375"/>
            <a:ext cx="123825" cy="1238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361950" y="4476750"/>
            <a:ext cx="4762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19150" y="4476750"/>
            <a:ext cx="6096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447800" y="4476750"/>
            <a:ext cx="12382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67" name="Rectangle 66"/>
          <p:cNvSpPr/>
          <p:nvPr/>
        </p:nvSpPr>
        <p:spPr>
          <a:xfrm>
            <a:off x="2952750" y="4524375"/>
            <a:ext cx="123825" cy="1238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3124200" y="4476750"/>
            <a:ext cx="4762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4476750"/>
            <a:ext cx="6096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210050" y="4476750"/>
            <a:ext cx="12382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1" name="Rectangle 70"/>
          <p:cNvSpPr/>
          <p:nvPr/>
        </p:nvSpPr>
        <p:spPr>
          <a:xfrm>
            <a:off x="5715000" y="4524375"/>
            <a:ext cx="123825" cy="1238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TextBox 71"/>
          <p:cNvSpPr txBox="1"/>
          <p:nvPr/>
        </p:nvSpPr>
        <p:spPr>
          <a:xfrm>
            <a:off x="5886450" y="4476750"/>
            <a:ext cx="4762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343650" y="4476750"/>
            <a:ext cx="6096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972300" y="4476750"/>
            <a:ext cx="12382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90500" y="4705350"/>
            <a:ext cx="11811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BY TYPE   Tier 1 4   |   Tier 2 2   |   Tier 3 4      BY REACH   Global 4   |   Regional 2   |   Local or niche 4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90500" y="4972050"/>
            <a:ext cx="2809875" cy="38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TextBox 76"/>
          <p:cNvSpPr txBox="1"/>
          <p:nvPr/>
        </p:nvSpPr>
        <p:spPr>
          <a:xfrm>
            <a:off x="190500" y="5048250"/>
            <a:ext cx="280987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90500" y="5219700"/>
            <a:ext cx="2809875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5372100"/>
            <a:ext cx="2809875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accounts; premium / bundled positioning.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715000"/>
            <a:ext cx="2809875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90500" y="5867400"/>
            <a:ext cx="2809875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3190875" y="4972050"/>
            <a:ext cx="2809875" cy="38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TextBox 82"/>
          <p:cNvSpPr txBox="1"/>
          <p:nvPr/>
        </p:nvSpPr>
        <p:spPr>
          <a:xfrm>
            <a:off x="3190875" y="5048250"/>
            <a:ext cx="280987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190875" y="5219700"/>
            <a:ext cx="2809875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190875" y="5372100"/>
            <a:ext cx="2809875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Distributors; mid / value-added positioning.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190875" y="5715000"/>
            <a:ext cx="2809875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190875" y="5867400"/>
            <a:ext cx="2809875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88" name="Rectangle 87"/>
          <p:cNvSpPr/>
          <p:nvPr/>
        </p:nvSpPr>
        <p:spPr>
          <a:xfrm>
            <a:off x="6191250" y="4972050"/>
            <a:ext cx="2809875" cy="38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TextBox 88"/>
          <p:cNvSpPr txBox="1"/>
          <p:nvPr/>
        </p:nvSpPr>
        <p:spPr>
          <a:xfrm>
            <a:off x="6191250" y="5048250"/>
            <a:ext cx="2809875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6191250" y="5219700"/>
            <a:ext cx="2809875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191250" y="5372100"/>
            <a:ext cx="2809875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partners; value / entry positioning.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191250" y="5715000"/>
            <a:ext cx="2809875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6191250" y="5867400"/>
            <a:ext cx="2809875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94" name="TextBox 9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600" y="4487926"/>
            <a:ext cx="128699" cy="187198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1850" y="4487926"/>
            <a:ext cx="128699" cy="187198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4487926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219075" y="5876925"/>
            <a:ext cx="79270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834" y="5867145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1127330" y="5876925"/>
            <a:ext cx="10227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219450" y="5876925"/>
            <a:ext cx="79270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60209" y="5867145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4127705" y="5876925"/>
            <a:ext cx="10227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6219825" y="5876925"/>
            <a:ext cx="79270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0584" y="586714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128080" y="5876925"/>
            <a:ext cx="10227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Corporate Scorecard: Who They Are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Eight corporate Ps for every named competitor: ownership, strategy, breadth, presence, scale and performance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1, CORPORATE: WHO THEY ARE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230505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Parent and ownership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2305050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From the company roster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419600" y="1295400"/>
            <a:ext cx="11938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Purpose (strategy)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4419600" y="1657350"/>
            <a:ext cx="1193800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Dominant active move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689600" y="1295400"/>
            <a:ext cx="9821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Portfolio breadth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89600" y="1657350"/>
            <a:ext cx="982133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Sub-segments: 6+ 3, 4+ 2, 2+ 1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7933" y="1295400"/>
            <a:ext cx="9821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Presence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7933" y="1657350"/>
            <a:ext cx="982133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 3, regional 2, local 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806267" y="1295400"/>
            <a:ext cx="9821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Power (scale)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806267" y="1657350"/>
            <a:ext cx="982133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1 = 3, 2 = 2, 3 = 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864600" y="1295400"/>
            <a:ext cx="9821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Performance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864600" y="1657350"/>
            <a:ext cx="982133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9922933" y="1295400"/>
            <a:ext cx="9821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People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9922933" y="1657350"/>
            <a:ext cx="982133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Talent; not assessed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981267" y="1295400"/>
            <a:ext cx="9821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Partnerships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0981267" y="1657350"/>
            <a:ext cx="982133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alliances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000250" y="2228850"/>
            <a:ext cx="238125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33" name="TextBox 32"/>
          <p:cNvSpPr txBox="1"/>
          <p:nvPr/>
        </p:nvSpPr>
        <p:spPr>
          <a:xfrm>
            <a:off x="4419600" y="2228850"/>
            <a:ext cx="11938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34" name="Oval 33"/>
          <p:cNvSpPr/>
          <p:nvPr/>
        </p:nvSpPr>
        <p:spPr>
          <a:xfrm>
            <a:off x="6104467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Oval 34"/>
          <p:cNvSpPr/>
          <p:nvPr/>
        </p:nvSpPr>
        <p:spPr>
          <a:xfrm>
            <a:off x="7162800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Oval 35"/>
          <p:cNvSpPr/>
          <p:nvPr/>
        </p:nvSpPr>
        <p:spPr>
          <a:xfrm>
            <a:off x="8221133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Oval 36"/>
          <p:cNvSpPr/>
          <p:nvPr/>
        </p:nvSpPr>
        <p:spPr>
          <a:xfrm>
            <a:off x="9279467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9884833" y="22288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10943167" y="22288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40" name="Connector 39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000250" y="2571750"/>
            <a:ext cx="238125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4419600" y="2571750"/>
            <a:ext cx="11938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46" name="Oval 45"/>
          <p:cNvSpPr/>
          <p:nvPr/>
        </p:nvSpPr>
        <p:spPr>
          <a:xfrm>
            <a:off x="610446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Oval 46"/>
          <p:cNvSpPr/>
          <p:nvPr/>
        </p:nvSpPr>
        <p:spPr>
          <a:xfrm>
            <a:off x="7162800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Oval 47"/>
          <p:cNvSpPr/>
          <p:nvPr/>
        </p:nvSpPr>
        <p:spPr>
          <a:xfrm>
            <a:off x="8221133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Oval 48"/>
          <p:cNvSpPr/>
          <p:nvPr/>
        </p:nvSpPr>
        <p:spPr>
          <a:xfrm>
            <a:off x="927946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9884833" y="25717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10943167" y="25717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52" name="Connector 51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000250" y="2914650"/>
            <a:ext cx="238125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4419600" y="2914650"/>
            <a:ext cx="11938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58" name="Oval 57"/>
          <p:cNvSpPr/>
          <p:nvPr/>
        </p:nvSpPr>
        <p:spPr>
          <a:xfrm>
            <a:off x="6104467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Oval 58"/>
          <p:cNvSpPr/>
          <p:nvPr/>
        </p:nvSpPr>
        <p:spPr>
          <a:xfrm>
            <a:off x="7162800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Oval 59"/>
          <p:cNvSpPr/>
          <p:nvPr/>
        </p:nvSpPr>
        <p:spPr>
          <a:xfrm>
            <a:off x="8221133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Oval 60"/>
          <p:cNvSpPr/>
          <p:nvPr/>
        </p:nvSpPr>
        <p:spPr>
          <a:xfrm>
            <a:off x="9279467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Freeform 61"/>
          <p:cNvSpPr/>
          <p:nvPr/>
        </p:nvSpPr>
        <p:spPr>
          <a:xfrm>
            <a:off x="93535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9884833" y="29146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10943167" y="29146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65" name="Connector 64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Rectangle 65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TextBox 66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000250" y="3257550"/>
            <a:ext cx="238125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70" name="TextBox 69"/>
          <p:cNvSpPr txBox="1"/>
          <p:nvPr/>
        </p:nvSpPr>
        <p:spPr>
          <a:xfrm>
            <a:off x="4419600" y="3257550"/>
            <a:ext cx="11938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71" name="Oval 70"/>
          <p:cNvSpPr/>
          <p:nvPr/>
        </p:nvSpPr>
        <p:spPr>
          <a:xfrm>
            <a:off x="6104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Freeform 71"/>
          <p:cNvSpPr/>
          <p:nvPr/>
        </p:nvSpPr>
        <p:spPr>
          <a:xfrm>
            <a:off x="618172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Oval 72"/>
          <p:cNvSpPr/>
          <p:nvPr/>
        </p:nvSpPr>
        <p:spPr>
          <a:xfrm>
            <a:off x="7162800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Oval 73"/>
          <p:cNvSpPr/>
          <p:nvPr/>
        </p:nvSpPr>
        <p:spPr>
          <a:xfrm>
            <a:off x="8221133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Oval 74"/>
          <p:cNvSpPr/>
          <p:nvPr/>
        </p:nvSpPr>
        <p:spPr>
          <a:xfrm>
            <a:off x="9279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Freeform 75"/>
          <p:cNvSpPr/>
          <p:nvPr/>
        </p:nvSpPr>
        <p:spPr>
          <a:xfrm>
            <a:off x="9353550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TextBox 76"/>
          <p:cNvSpPr txBox="1"/>
          <p:nvPr/>
        </p:nvSpPr>
        <p:spPr>
          <a:xfrm>
            <a:off x="9884833" y="32575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78" name="TextBox 77"/>
          <p:cNvSpPr txBox="1"/>
          <p:nvPr/>
        </p:nvSpPr>
        <p:spPr>
          <a:xfrm>
            <a:off x="10943167" y="32575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79" name="Connector 7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Rectangle 7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TextBox 80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000250" y="3600450"/>
            <a:ext cx="238125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84" name="TextBox 83"/>
          <p:cNvSpPr txBox="1"/>
          <p:nvPr/>
        </p:nvSpPr>
        <p:spPr>
          <a:xfrm>
            <a:off x="4419600" y="3600450"/>
            <a:ext cx="11938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85" name="Oval 84"/>
          <p:cNvSpPr/>
          <p:nvPr/>
        </p:nvSpPr>
        <p:spPr>
          <a:xfrm>
            <a:off x="6104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Freeform 85"/>
          <p:cNvSpPr/>
          <p:nvPr/>
        </p:nvSpPr>
        <p:spPr>
          <a:xfrm>
            <a:off x="618172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Oval 86"/>
          <p:cNvSpPr/>
          <p:nvPr/>
        </p:nvSpPr>
        <p:spPr>
          <a:xfrm>
            <a:off x="7162800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Freeform 87"/>
          <p:cNvSpPr/>
          <p:nvPr/>
        </p:nvSpPr>
        <p:spPr>
          <a:xfrm>
            <a:off x="723900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Oval 88"/>
          <p:cNvSpPr/>
          <p:nvPr/>
        </p:nvSpPr>
        <p:spPr>
          <a:xfrm>
            <a:off x="8221133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Freeform 89"/>
          <p:cNvSpPr/>
          <p:nvPr/>
        </p:nvSpPr>
        <p:spPr>
          <a:xfrm>
            <a:off x="82962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Oval 90"/>
          <p:cNvSpPr/>
          <p:nvPr/>
        </p:nvSpPr>
        <p:spPr>
          <a:xfrm>
            <a:off x="9279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Freeform 91"/>
          <p:cNvSpPr/>
          <p:nvPr/>
        </p:nvSpPr>
        <p:spPr>
          <a:xfrm>
            <a:off x="93535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TextBox 92"/>
          <p:cNvSpPr txBox="1"/>
          <p:nvPr/>
        </p:nvSpPr>
        <p:spPr>
          <a:xfrm>
            <a:off x="9884833" y="36004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94" name="TextBox 93"/>
          <p:cNvSpPr txBox="1"/>
          <p:nvPr/>
        </p:nvSpPr>
        <p:spPr>
          <a:xfrm>
            <a:off x="10943167" y="36004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95" name="Connector 9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TextBox 96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2000250" y="3943350"/>
            <a:ext cx="238125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00" name="TextBox 99"/>
          <p:cNvSpPr txBox="1"/>
          <p:nvPr/>
        </p:nvSpPr>
        <p:spPr>
          <a:xfrm>
            <a:off x="4419600" y="3943350"/>
            <a:ext cx="11938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01" name="Oval 100"/>
          <p:cNvSpPr/>
          <p:nvPr/>
        </p:nvSpPr>
        <p:spPr>
          <a:xfrm>
            <a:off x="6104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Freeform 101"/>
          <p:cNvSpPr/>
          <p:nvPr/>
        </p:nvSpPr>
        <p:spPr>
          <a:xfrm>
            <a:off x="618172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Oval 102"/>
          <p:cNvSpPr/>
          <p:nvPr/>
        </p:nvSpPr>
        <p:spPr>
          <a:xfrm>
            <a:off x="7162800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Freeform 103"/>
          <p:cNvSpPr/>
          <p:nvPr/>
        </p:nvSpPr>
        <p:spPr>
          <a:xfrm>
            <a:off x="723900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Oval 104"/>
          <p:cNvSpPr/>
          <p:nvPr/>
        </p:nvSpPr>
        <p:spPr>
          <a:xfrm>
            <a:off x="8221133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Freeform 105"/>
          <p:cNvSpPr/>
          <p:nvPr/>
        </p:nvSpPr>
        <p:spPr>
          <a:xfrm>
            <a:off x="82962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Oval 106"/>
          <p:cNvSpPr/>
          <p:nvPr/>
        </p:nvSpPr>
        <p:spPr>
          <a:xfrm>
            <a:off x="9279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Freeform 107"/>
          <p:cNvSpPr/>
          <p:nvPr/>
        </p:nvSpPr>
        <p:spPr>
          <a:xfrm>
            <a:off x="935355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TextBox 108"/>
          <p:cNvSpPr txBox="1"/>
          <p:nvPr/>
        </p:nvSpPr>
        <p:spPr>
          <a:xfrm>
            <a:off x="9884833" y="39433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10" name="TextBox 109"/>
          <p:cNvSpPr txBox="1"/>
          <p:nvPr/>
        </p:nvSpPr>
        <p:spPr>
          <a:xfrm>
            <a:off x="10943167" y="39433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11" name="Connector 11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Rectangle 11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TextBox 112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000250" y="4286250"/>
            <a:ext cx="238125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16" name="TextBox 115"/>
          <p:cNvSpPr txBox="1"/>
          <p:nvPr/>
        </p:nvSpPr>
        <p:spPr>
          <a:xfrm>
            <a:off x="4419600" y="4286250"/>
            <a:ext cx="11938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17" name="Oval 116"/>
          <p:cNvSpPr/>
          <p:nvPr/>
        </p:nvSpPr>
        <p:spPr>
          <a:xfrm>
            <a:off x="6104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Freeform 117"/>
          <p:cNvSpPr/>
          <p:nvPr/>
        </p:nvSpPr>
        <p:spPr>
          <a:xfrm>
            <a:off x="618172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Oval 118"/>
          <p:cNvSpPr/>
          <p:nvPr/>
        </p:nvSpPr>
        <p:spPr>
          <a:xfrm>
            <a:off x="7162800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Freeform 119"/>
          <p:cNvSpPr/>
          <p:nvPr/>
        </p:nvSpPr>
        <p:spPr>
          <a:xfrm>
            <a:off x="7239000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Oval 120"/>
          <p:cNvSpPr/>
          <p:nvPr/>
        </p:nvSpPr>
        <p:spPr>
          <a:xfrm>
            <a:off x="8221133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Freeform 121"/>
          <p:cNvSpPr/>
          <p:nvPr/>
        </p:nvSpPr>
        <p:spPr>
          <a:xfrm>
            <a:off x="8296275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Oval 122"/>
          <p:cNvSpPr/>
          <p:nvPr/>
        </p:nvSpPr>
        <p:spPr>
          <a:xfrm>
            <a:off x="9279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Freeform 123"/>
          <p:cNvSpPr/>
          <p:nvPr/>
        </p:nvSpPr>
        <p:spPr>
          <a:xfrm>
            <a:off x="93535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TextBox 124"/>
          <p:cNvSpPr txBox="1"/>
          <p:nvPr/>
        </p:nvSpPr>
        <p:spPr>
          <a:xfrm>
            <a:off x="9884833" y="42862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26" name="TextBox 125"/>
          <p:cNvSpPr txBox="1"/>
          <p:nvPr/>
        </p:nvSpPr>
        <p:spPr>
          <a:xfrm>
            <a:off x="10943167" y="42862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27" name="Connector 12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Rectangle 12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TextBox 128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2000250" y="4629150"/>
            <a:ext cx="238125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32" name="TextBox 131"/>
          <p:cNvSpPr txBox="1"/>
          <p:nvPr/>
        </p:nvSpPr>
        <p:spPr>
          <a:xfrm>
            <a:off x="4419600" y="4629150"/>
            <a:ext cx="11938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33" name="Oval 132"/>
          <p:cNvSpPr/>
          <p:nvPr/>
        </p:nvSpPr>
        <p:spPr>
          <a:xfrm>
            <a:off x="6104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Freeform 133"/>
          <p:cNvSpPr/>
          <p:nvPr/>
        </p:nvSpPr>
        <p:spPr>
          <a:xfrm>
            <a:off x="618172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Oval 134"/>
          <p:cNvSpPr/>
          <p:nvPr/>
        </p:nvSpPr>
        <p:spPr>
          <a:xfrm>
            <a:off x="7162800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Freeform 135"/>
          <p:cNvSpPr/>
          <p:nvPr/>
        </p:nvSpPr>
        <p:spPr>
          <a:xfrm>
            <a:off x="723900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Oval 136"/>
          <p:cNvSpPr/>
          <p:nvPr/>
        </p:nvSpPr>
        <p:spPr>
          <a:xfrm>
            <a:off x="8221133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Freeform 137"/>
          <p:cNvSpPr/>
          <p:nvPr/>
        </p:nvSpPr>
        <p:spPr>
          <a:xfrm>
            <a:off x="8296275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9" name="Oval 138"/>
          <p:cNvSpPr/>
          <p:nvPr/>
        </p:nvSpPr>
        <p:spPr>
          <a:xfrm>
            <a:off x="9279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Freeform 139"/>
          <p:cNvSpPr/>
          <p:nvPr/>
        </p:nvSpPr>
        <p:spPr>
          <a:xfrm>
            <a:off x="935355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TextBox 140"/>
          <p:cNvSpPr txBox="1"/>
          <p:nvPr/>
        </p:nvSpPr>
        <p:spPr>
          <a:xfrm>
            <a:off x="9884833" y="46291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42" name="TextBox 141"/>
          <p:cNvSpPr txBox="1"/>
          <p:nvPr/>
        </p:nvSpPr>
        <p:spPr>
          <a:xfrm>
            <a:off x="10943167" y="46291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43" name="Connector 142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4" name="Rectangle 143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TextBox 144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000250" y="4972050"/>
            <a:ext cx="238125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48" name="TextBox 147"/>
          <p:cNvSpPr txBox="1"/>
          <p:nvPr/>
        </p:nvSpPr>
        <p:spPr>
          <a:xfrm>
            <a:off x="4419600" y="4972050"/>
            <a:ext cx="11938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49" name="Oval 148"/>
          <p:cNvSpPr/>
          <p:nvPr/>
        </p:nvSpPr>
        <p:spPr>
          <a:xfrm>
            <a:off x="6104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Freeform 149"/>
          <p:cNvSpPr/>
          <p:nvPr/>
        </p:nvSpPr>
        <p:spPr>
          <a:xfrm>
            <a:off x="618172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Oval 150"/>
          <p:cNvSpPr/>
          <p:nvPr/>
        </p:nvSpPr>
        <p:spPr>
          <a:xfrm>
            <a:off x="7162800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Freeform 151"/>
          <p:cNvSpPr/>
          <p:nvPr/>
        </p:nvSpPr>
        <p:spPr>
          <a:xfrm>
            <a:off x="723900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Oval 152"/>
          <p:cNvSpPr/>
          <p:nvPr/>
        </p:nvSpPr>
        <p:spPr>
          <a:xfrm>
            <a:off x="8221133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Freeform 153"/>
          <p:cNvSpPr/>
          <p:nvPr/>
        </p:nvSpPr>
        <p:spPr>
          <a:xfrm>
            <a:off x="8296275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5" name="Oval 154"/>
          <p:cNvSpPr/>
          <p:nvPr/>
        </p:nvSpPr>
        <p:spPr>
          <a:xfrm>
            <a:off x="9279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6" name="Freeform 155"/>
          <p:cNvSpPr/>
          <p:nvPr/>
        </p:nvSpPr>
        <p:spPr>
          <a:xfrm>
            <a:off x="935355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7" name="TextBox 156"/>
          <p:cNvSpPr txBox="1"/>
          <p:nvPr/>
        </p:nvSpPr>
        <p:spPr>
          <a:xfrm>
            <a:off x="9884833" y="49720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58" name="TextBox 157"/>
          <p:cNvSpPr txBox="1"/>
          <p:nvPr/>
        </p:nvSpPr>
        <p:spPr>
          <a:xfrm>
            <a:off x="10943167" y="49720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59" name="Connector 15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Rectangle 15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1" name="TextBox 160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2000250" y="5314950"/>
            <a:ext cx="238125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64" name="TextBox 163"/>
          <p:cNvSpPr txBox="1"/>
          <p:nvPr/>
        </p:nvSpPr>
        <p:spPr>
          <a:xfrm>
            <a:off x="4419600" y="5314950"/>
            <a:ext cx="11938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6104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Freeform 165"/>
          <p:cNvSpPr/>
          <p:nvPr/>
        </p:nvSpPr>
        <p:spPr>
          <a:xfrm>
            <a:off x="618172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7" name="Oval 166"/>
          <p:cNvSpPr/>
          <p:nvPr/>
        </p:nvSpPr>
        <p:spPr>
          <a:xfrm>
            <a:off x="7162800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8" name="Freeform 167"/>
          <p:cNvSpPr/>
          <p:nvPr/>
        </p:nvSpPr>
        <p:spPr>
          <a:xfrm>
            <a:off x="723900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Oval 168"/>
          <p:cNvSpPr/>
          <p:nvPr/>
        </p:nvSpPr>
        <p:spPr>
          <a:xfrm>
            <a:off x="8221133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0" name="Freeform 169"/>
          <p:cNvSpPr/>
          <p:nvPr/>
        </p:nvSpPr>
        <p:spPr>
          <a:xfrm>
            <a:off x="8296275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1" name="Oval 170"/>
          <p:cNvSpPr/>
          <p:nvPr/>
        </p:nvSpPr>
        <p:spPr>
          <a:xfrm>
            <a:off x="9279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2" name="Freeform 171"/>
          <p:cNvSpPr/>
          <p:nvPr/>
        </p:nvSpPr>
        <p:spPr>
          <a:xfrm>
            <a:off x="935355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3" name="TextBox 172"/>
          <p:cNvSpPr txBox="1"/>
          <p:nvPr/>
        </p:nvSpPr>
        <p:spPr>
          <a:xfrm>
            <a:off x="9884833" y="53149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74" name="TextBox 173"/>
          <p:cNvSpPr txBox="1"/>
          <p:nvPr/>
        </p:nvSpPr>
        <p:spPr>
          <a:xfrm>
            <a:off x="10943167" y="5314950"/>
            <a:ext cx="1058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75" name="Connector 174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Oval 175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7" name="TextBox 176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78" name="Oval 177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9" name="Freeform 178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0" name="TextBox 179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81" name="Oval 180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2" name="Freeform 181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3" name="TextBox 182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84" name="Oval 183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5" name="TextBox 184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of 10 named players compete globally; scale and share follow the tier structure.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8893175" y="1666875"/>
            <a:ext cx="39898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Share</a:t>
            </a:r>
          </a:p>
        </p:txBody>
      </p:sp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40209" y="1657096"/>
            <a:ext cx="128699" cy="187198"/>
          </a:xfrm>
          <a:prstGeom prst="rect">
            <a:avLst/>
          </a:prstGeom>
        </p:spPr>
      </p:pic>
      <p:sp>
        <p:nvSpPr>
          <p:cNvPr id="191" name="TextBox 190"/>
          <p:cNvSpPr txBox="1"/>
          <p:nvPr/>
        </p:nvSpPr>
        <p:spPr>
          <a:xfrm>
            <a:off x="9407705" y="1666875"/>
            <a:ext cx="38452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+ = 3,</a:t>
            </a:r>
          </a:p>
        </p:txBody>
      </p:sp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9707" y="1824736"/>
            <a:ext cx="128699" cy="187198"/>
          </a:xfrm>
          <a:prstGeom prst="rect">
            <a:avLst/>
          </a:prstGeom>
        </p:spPr>
      </p:pic>
      <p:sp>
        <p:nvSpPr>
          <p:cNvPr id="193" name="TextBox 192"/>
          <p:cNvSpPr txBox="1"/>
          <p:nvPr/>
        </p:nvSpPr>
        <p:spPr>
          <a:xfrm>
            <a:off x="9047203" y="1834515"/>
            <a:ext cx="6434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= 2, else 1</a:t>
            </a:r>
          </a:p>
        </p:txBody>
      </p:sp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2306701"/>
            <a:ext cx="128699" cy="187198"/>
          </a:xfrm>
          <a:prstGeom prst="rect">
            <a:avLst/>
          </a:prstGeom>
        </p:spPr>
      </p:pic>
      <p:pic>
        <p:nvPicPr>
          <p:cNvPr id="195" name="Picture 1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2306701"/>
            <a:ext cx="128699" cy="187198"/>
          </a:xfrm>
          <a:prstGeom prst="rect">
            <a:avLst/>
          </a:prstGeom>
        </p:spPr>
      </p:pic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2306701"/>
            <a:ext cx="128699" cy="187198"/>
          </a:xfrm>
          <a:prstGeom prst="rect">
            <a:avLst/>
          </a:prstGeom>
        </p:spPr>
      </p:pic>
      <p:pic>
        <p:nvPicPr>
          <p:cNvPr id="197" name="Picture 1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2649601"/>
            <a:ext cx="128699" cy="187198"/>
          </a:xfrm>
          <a:prstGeom prst="rect">
            <a:avLst/>
          </a:prstGeom>
        </p:spPr>
      </p:pic>
      <p:pic>
        <p:nvPicPr>
          <p:cNvPr id="198" name="Picture 1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2649601"/>
            <a:ext cx="128699" cy="187198"/>
          </a:xfrm>
          <a:prstGeom prst="rect">
            <a:avLst/>
          </a:prstGeom>
        </p:spPr>
      </p:pic>
      <p:pic>
        <p:nvPicPr>
          <p:cNvPr id="199" name="Picture 1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2649601"/>
            <a:ext cx="128699" cy="187198"/>
          </a:xfrm>
          <a:prstGeom prst="rect">
            <a:avLst/>
          </a:prstGeom>
        </p:spPr>
      </p:pic>
      <p:pic>
        <p:nvPicPr>
          <p:cNvPr id="200" name="Picture 1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2992501"/>
            <a:ext cx="128699" cy="187198"/>
          </a:xfrm>
          <a:prstGeom prst="rect">
            <a:avLst/>
          </a:prstGeom>
        </p:spPr>
      </p:pic>
      <p:pic>
        <p:nvPicPr>
          <p:cNvPr id="201" name="Picture 2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2992501"/>
            <a:ext cx="128699" cy="187198"/>
          </a:xfrm>
          <a:prstGeom prst="rect">
            <a:avLst/>
          </a:prstGeom>
        </p:spPr>
      </p:pic>
      <p:pic>
        <p:nvPicPr>
          <p:cNvPr id="202" name="Picture 2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2992501"/>
            <a:ext cx="128699" cy="187198"/>
          </a:xfrm>
          <a:prstGeom prst="rect">
            <a:avLst/>
          </a:prstGeom>
        </p:spPr>
      </p:pic>
      <p:pic>
        <p:nvPicPr>
          <p:cNvPr id="203" name="Picture 2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3335401"/>
            <a:ext cx="128699" cy="187198"/>
          </a:xfrm>
          <a:prstGeom prst="rect">
            <a:avLst/>
          </a:prstGeom>
        </p:spPr>
      </p:pic>
      <p:pic>
        <p:nvPicPr>
          <p:cNvPr id="204" name="Picture 2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3335401"/>
            <a:ext cx="128699" cy="187198"/>
          </a:xfrm>
          <a:prstGeom prst="rect">
            <a:avLst/>
          </a:prstGeom>
        </p:spPr>
      </p:pic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3335401"/>
            <a:ext cx="128699" cy="187198"/>
          </a:xfrm>
          <a:prstGeom prst="rect">
            <a:avLst/>
          </a:prstGeom>
        </p:spPr>
      </p:pic>
      <p:pic>
        <p:nvPicPr>
          <p:cNvPr id="206" name="Picture 2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3678301"/>
            <a:ext cx="128699" cy="187198"/>
          </a:xfrm>
          <a:prstGeom prst="rect">
            <a:avLst/>
          </a:prstGeom>
        </p:spPr>
      </p:pic>
      <p:pic>
        <p:nvPicPr>
          <p:cNvPr id="207" name="Picture 2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3678301"/>
            <a:ext cx="128699" cy="187198"/>
          </a:xfrm>
          <a:prstGeom prst="rect">
            <a:avLst/>
          </a:prstGeom>
        </p:spPr>
      </p:pic>
      <p:pic>
        <p:nvPicPr>
          <p:cNvPr id="208" name="Picture 2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3678301"/>
            <a:ext cx="128699" cy="187198"/>
          </a:xfrm>
          <a:prstGeom prst="rect">
            <a:avLst/>
          </a:prstGeom>
        </p:spPr>
      </p:pic>
      <p:pic>
        <p:nvPicPr>
          <p:cNvPr id="209" name="Picture 2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4021201"/>
            <a:ext cx="128699" cy="187198"/>
          </a:xfrm>
          <a:prstGeom prst="rect">
            <a:avLst/>
          </a:prstGeom>
        </p:spPr>
      </p:pic>
      <p:pic>
        <p:nvPicPr>
          <p:cNvPr id="210" name="Picture 2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4021201"/>
            <a:ext cx="128699" cy="187198"/>
          </a:xfrm>
          <a:prstGeom prst="rect">
            <a:avLst/>
          </a:prstGeom>
        </p:spPr>
      </p:pic>
      <p:pic>
        <p:nvPicPr>
          <p:cNvPr id="211" name="Picture 21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4021201"/>
            <a:ext cx="128699" cy="187198"/>
          </a:xfrm>
          <a:prstGeom prst="rect">
            <a:avLst/>
          </a:prstGeom>
        </p:spPr>
      </p:pic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4364101"/>
            <a:ext cx="128699" cy="187198"/>
          </a:xfrm>
          <a:prstGeom prst="rect">
            <a:avLst/>
          </a:prstGeom>
        </p:spPr>
      </p:pic>
      <p:pic>
        <p:nvPicPr>
          <p:cNvPr id="213" name="Picture 2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4364101"/>
            <a:ext cx="128699" cy="187198"/>
          </a:xfrm>
          <a:prstGeom prst="rect">
            <a:avLst/>
          </a:prstGeom>
        </p:spPr>
      </p:pic>
      <p:pic>
        <p:nvPicPr>
          <p:cNvPr id="214" name="Picture 2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4364101"/>
            <a:ext cx="128699" cy="187198"/>
          </a:xfrm>
          <a:prstGeom prst="rect">
            <a:avLst/>
          </a:prstGeom>
        </p:spPr>
      </p:pic>
      <p:pic>
        <p:nvPicPr>
          <p:cNvPr id="215" name="Picture 2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4707001"/>
            <a:ext cx="128699" cy="187198"/>
          </a:xfrm>
          <a:prstGeom prst="rect">
            <a:avLst/>
          </a:prstGeom>
        </p:spPr>
      </p:pic>
      <p:pic>
        <p:nvPicPr>
          <p:cNvPr id="216" name="Picture 2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4707001"/>
            <a:ext cx="128699" cy="187198"/>
          </a:xfrm>
          <a:prstGeom prst="rect">
            <a:avLst/>
          </a:prstGeom>
        </p:spPr>
      </p:pic>
      <p:pic>
        <p:nvPicPr>
          <p:cNvPr id="217" name="Picture 2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4707001"/>
            <a:ext cx="128699" cy="187198"/>
          </a:xfrm>
          <a:prstGeom prst="rect">
            <a:avLst/>
          </a:prstGeom>
        </p:spPr>
      </p:pic>
      <p:pic>
        <p:nvPicPr>
          <p:cNvPr id="218" name="Picture 2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5049901"/>
            <a:ext cx="128699" cy="187198"/>
          </a:xfrm>
          <a:prstGeom prst="rect">
            <a:avLst/>
          </a:prstGeom>
        </p:spPr>
      </p:pic>
      <p:pic>
        <p:nvPicPr>
          <p:cNvPr id="219" name="Picture 2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5049901"/>
            <a:ext cx="128699" cy="187198"/>
          </a:xfrm>
          <a:prstGeom prst="rect">
            <a:avLst/>
          </a:prstGeom>
        </p:spPr>
      </p:pic>
      <p:pic>
        <p:nvPicPr>
          <p:cNvPr id="220" name="Picture 2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5049901"/>
            <a:ext cx="128699" cy="187198"/>
          </a:xfrm>
          <a:prstGeom prst="rect">
            <a:avLst/>
          </a:prstGeom>
        </p:spPr>
      </p:pic>
      <p:pic>
        <p:nvPicPr>
          <p:cNvPr id="221" name="Picture 2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6525" y="5392801"/>
            <a:ext cx="128699" cy="187198"/>
          </a:xfrm>
          <a:prstGeom prst="rect">
            <a:avLst/>
          </a:prstGeom>
        </p:spPr>
      </p:pic>
      <p:pic>
        <p:nvPicPr>
          <p:cNvPr id="222" name="Picture 2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9650" y="5392801"/>
            <a:ext cx="128699" cy="187198"/>
          </a:xfrm>
          <a:prstGeom prst="rect">
            <a:avLst/>
          </a:prstGeom>
        </p:spPr>
      </p:pic>
      <p:pic>
        <p:nvPicPr>
          <p:cNvPr id="223" name="Picture 2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07984" y="53928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Offering Scorecard: What They Sell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offering Ps: product, technology, price and model, verticals, proof and IP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2, OFFERING: WHAT THEY SELL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394572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Product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394572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Of the top three types offered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509122" y="1295400"/>
            <a:ext cx="1394572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Platform (technology)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509122" y="1657350"/>
            <a:ext cx="1394572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development: both 3, one 2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979894" y="129540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Price and model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9894" y="1657350"/>
            <a:ext cx="1688726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Positioning by tier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4821" y="129540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Positioning (verticals)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4821" y="1657350"/>
            <a:ext cx="1688726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End uses served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509747" y="129540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Proof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509747" y="1657350"/>
            <a:ext cx="1688726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customer references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274674" y="129540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Patents and IP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274674" y="1657350"/>
            <a:ext cx="1688726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Where the study covers patents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Oval 27"/>
          <p:cNvSpPr/>
          <p:nvPr/>
        </p:nvSpPr>
        <p:spPr>
          <a:xfrm>
            <a:off x="2659436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Oval 28"/>
          <p:cNvSpPr/>
          <p:nvPr/>
        </p:nvSpPr>
        <p:spPr>
          <a:xfrm>
            <a:off x="4130208" y="2324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" name="Freeform 29"/>
          <p:cNvSpPr/>
          <p:nvPr/>
        </p:nvSpPr>
        <p:spPr>
          <a:xfrm>
            <a:off x="4210050" y="2324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4979894" y="22288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744821" y="22288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8471647" y="22288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10236574" y="22288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35" name="Connector 34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9" name="Oval 38"/>
          <p:cNvSpPr/>
          <p:nvPr/>
        </p:nvSpPr>
        <p:spPr>
          <a:xfrm>
            <a:off x="2659436" y="2667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Freeform 39"/>
          <p:cNvSpPr/>
          <p:nvPr/>
        </p:nvSpPr>
        <p:spPr>
          <a:xfrm>
            <a:off x="2733675" y="2667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Oval 40"/>
          <p:cNvSpPr/>
          <p:nvPr/>
        </p:nvSpPr>
        <p:spPr>
          <a:xfrm>
            <a:off x="4130208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4979894" y="25717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744821" y="25717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471647" y="25717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10236574" y="25717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46" name="Connector 45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0" name="Oval 49"/>
          <p:cNvSpPr/>
          <p:nvPr/>
        </p:nvSpPr>
        <p:spPr>
          <a:xfrm>
            <a:off x="2659436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Freeform 50"/>
          <p:cNvSpPr/>
          <p:nvPr/>
        </p:nvSpPr>
        <p:spPr>
          <a:xfrm>
            <a:off x="2733675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Oval 51"/>
          <p:cNvSpPr/>
          <p:nvPr/>
        </p:nvSpPr>
        <p:spPr>
          <a:xfrm>
            <a:off x="4130208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Freeform 52"/>
          <p:cNvSpPr/>
          <p:nvPr/>
        </p:nvSpPr>
        <p:spPr>
          <a:xfrm>
            <a:off x="42100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4979894" y="29146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744821" y="29146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471647" y="29146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10236574" y="29146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58" name="Connector 57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TextBox 59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2" name="Oval 61"/>
          <p:cNvSpPr/>
          <p:nvPr/>
        </p:nvSpPr>
        <p:spPr>
          <a:xfrm>
            <a:off x="2659436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Freeform 62"/>
          <p:cNvSpPr/>
          <p:nvPr/>
        </p:nvSpPr>
        <p:spPr>
          <a:xfrm>
            <a:off x="273367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Oval 63"/>
          <p:cNvSpPr/>
          <p:nvPr/>
        </p:nvSpPr>
        <p:spPr>
          <a:xfrm>
            <a:off x="4130208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4979894" y="32575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744821" y="32575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471647" y="32575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10236574" y="32575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69" name="Connector 6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Rectangle 6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TextBox 70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3" name="Oval 72"/>
          <p:cNvSpPr/>
          <p:nvPr/>
        </p:nvSpPr>
        <p:spPr>
          <a:xfrm>
            <a:off x="2659436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Oval 73"/>
          <p:cNvSpPr/>
          <p:nvPr/>
        </p:nvSpPr>
        <p:spPr>
          <a:xfrm>
            <a:off x="4130208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Freeform 74"/>
          <p:cNvSpPr/>
          <p:nvPr/>
        </p:nvSpPr>
        <p:spPr>
          <a:xfrm>
            <a:off x="42100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TextBox 75"/>
          <p:cNvSpPr txBox="1"/>
          <p:nvPr/>
        </p:nvSpPr>
        <p:spPr>
          <a:xfrm>
            <a:off x="4979894" y="36004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744821" y="36004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471647" y="36004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79" name="TextBox 78"/>
          <p:cNvSpPr txBox="1"/>
          <p:nvPr/>
        </p:nvSpPr>
        <p:spPr>
          <a:xfrm>
            <a:off x="10236574" y="36004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80" name="Connector 7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Rectangle 80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TextBox 81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4" name="Oval 83"/>
          <p:cNvSpPr/>
          <p:nvPr/>
        </p:nvSpPr>
        <p:spPr>
          <a:xfrm>
            <a:off x="2659436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Freeform 84"/>
          <p:cNvSpPr/>
          <p:nvPr/>
        </p:nvSpPr>
        <p:spPr>
          <a:xfrm>
            <a:off x="27336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Oval 85"/>
          <p:cNvSpPr/>
          <p:nvPr/>
        </p:nvSpPr>
        <p:spPr>
          <a:xfrm>
            <a:off x="4130208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TextBox 86"/>
          <p:cNvSpPr txBox="1"/>
          <p:nvPr/>
        </p:nvSpPr>
        <p:spPr>
          <a:xfrm>
            <a:off x="4979894" y="39433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6744821" y="39433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471647" y="39433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90" name="TextBox 89"/>
          <p:cNvSpPr txBox="1"/>
          <p:nvPr/>
        </p:nvSpPr>
        <p:spPr>
          <a:xfrm>
            <a:off x="10236574" y="39433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91" name="Connector 9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Rectangle 9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TextBox 92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5" name="Oval 94"/>
          <p:cNvSpPr/>
          <p:nvPr/>
        </p:nvSpPr>
        <p:spPr>
          <a:xfrm>
            <a:off x="2659436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Freeform 95"/>
          <p:cNvSpPr/>
          <p:nvPr/>
        </p:nvSpPr>
        <p:spPr>
          <a:xfrm>
            <a:off x="27336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Oval 96"/>
          <p:cNvSpPr/>
          <p:nvPr/>
        </p:nvSpPr>
        <p:spPr>
          <a:xfrm>
            <a:off x="4130208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Freeform 97"/>
          <p:cNvSpPr/>
          <p:nvPr/>
        </p:nvSpPr>
        <p:spPr>
          <a:xfrm>
            <a:off x="42100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TextBox 98"/>
          <p:cNvSpPr txBox="1"/>
          <p:nvPr/>
        </p:nvSpPr>
        <p:spPr>
          <a:xfrm>
            <a:off x="4979894" y="42862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6744821" y="42862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471647" y="42862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02" name="TextBox 101"/>
          <p:cNvSpPr txBox="1"/>
          <p:nvPr/>
        </p:nvSpPr>
        <p:spPr>
          <a:xfrm>
            <a:off x="10236574" y="42862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TextBox 104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7" name="Oval 106"/>
          <p:cNvSpPr/>
          <p:nvPr/>
        </p:nvSpPr>
        <p:spPr>
          <a:xfrm>
            <a:off x="2659436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Freeform 107"/>
          <p:cNvSpPr/>
          <p:nvPr/>
        </p:nvSpPr>
        <p:spPr>
          <a:xfrm>
            <a:off x="27336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Oval 108"/>
          <p:cNvSpPr/>
          <p:nvPr/>
        </p:nvSpPr>
        <p:spPr>
          <a:xfrm>
            <a:off x="4130208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TextBox 109"/>
          <p:cNvSpPr txBox="1"/>
          <p:nvPr/>
        </p:nvSpPr>
        <p:spPr>
          <a:xfrm>
            <a:off x="4979894" y="46291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6744821" y="46291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8471647" y="46291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13" name="TextBox 112"/>
          <p:cNvSpPr txBox="1"/>
          <p:nvPr/>
        </p:nvSpPr>
        <p:spPr>
          <a:xfrm>
            <a:off x="10236574" y="46291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14" name="Connector 113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" name="Rectangle 114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TextBox 115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8" name="Oval 117"/>
          <p:cNvSpPr/>
          <p:nvPr/>
        </p:nvSpPr>
        <p:spPr>
          <a:xfrm>
            <a:off x="2659436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Oval 118"/>
          <p:cNvSpPr/>
          <p:nvPr/>
        </p:nvSpPr>
        <p:spPr>
          <a:xfrm>
            <a:off x="4130208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Freeform 119"/>
          <p:cNvSpPr/>
          <p:nvPr/>
        </p:nvSpPr>
        <p:spPr>
          <a:xfrm>
            <a:off x="4210050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TextBox 120"/>
          <p:cNvSpPr txBox="1"/>
          <p:nvPr/>
        </p:nvSpPr>
        <p:spPr>
          <a:xfrm>
            <a:off x="4979894" y="49720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744821" y="49720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8471647" y="49720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24" name="TextBox 123"/>
          <p:cNvSpPr txBox="1"/>
          <p:nvPr/>
        </p:nvSpPr>
        <p:spPr>
          <a:xfrm>
            <a:off x="10236574" y="49720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25" name="Connector 124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Rectangle 125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TextBox 126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9" name="Oval 128"/>
          <p:cNvSpPr/>
          <p:nvPr/>
        </p:nvSpPr>
        <p:spPr>
          <a:xfrm>
            <a:off x="2659436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Freeform 129"/>
          <p:cNvSpPr/>
          <p:nvPr/>
        </p:nvSpPr>
        <p:spPr>
          <a:xfrm>
            <a:off x="27336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Oval 130"/>
          <p:cNvSpPr/>
          <p:nvPr/>
        </p:nvSpPr>
        <p:spPr>
          <a:xfrm>
            <a:off x="4130208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TextBox 131"/>
          <p:cNvSpPr txBox="1"/>
          <p:nvPr/>
        </p:nvSpPr>
        <p:spPr>
          <a:xfrm>
            <a:off x="4979894" y="53149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6744821" y="53149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471647" y="53149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35" name="TextBox 134"/>
          <p:cNvSpPr txBox="1"/>
          <p:nvPr/>
        </p:nvSpPr>
        <p:spPr>
          <a:xfrm>
            <a:off x="10236574" y="53149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Oval 136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TextBox 137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9" name="Oval 138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Freeform 139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TextBox 140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42" name="Oval 141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Freeform 142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TextBox 143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45" name="Oval 144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TextBox 145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breadth and technology strength do not always go together; the end uses each player serves show where it competes head to head.  Proof needs customer research.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2306701"/>
            <a:ext cx="128699" cy="187198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2306701"/>
            <a:ext cx="128699" cy="187198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2649601"/>
            <a:ext cx="128699" cy="187198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2649601"/>
            <a:ext cx="128699" cy="187198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2992501"/>
            <a:ext cx="128699" cy="187198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2992501"/>
            <a:ext cx="128699" cy="187198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3335401"/>
            <a:ext cx="128699" cy="187198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3335401"/>
            <a:ext cx="128699" cy="187198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3678301"/>
            <a:ext cx="128699" cy="187198"/>
          </a:xfrm>
          <a:prstGeom prst="rect">
            <a:avLst/>
          </a:prstGeom>
        </p:spPr>
      </p:pic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3678301"/>
            <a:ext cx="128699" cy="187198"/>
          </a:xfrm>
          <a:prstGeom prst="rect">
            <a:avLst/>
          </a:prstGeom>
        </p:spPr>
      </p:pic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4021201"/>
            <a:ext cx="128699" cy="187198"/>
          </a:xfrm>
          <a:prstGeom prst="rect">
            <a:avLst/>
          </a:prstGeom>
        </p:spPr>
      </p:pic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4021201"/>
            <a:ext cx="128699" cy="187198"/>
          </a:xfrm>
          <a:prstGeom prst="rect">
            <a:avLst/>
          </a:prstGeom>
        </p:spPr>
      </p:pic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4364101"/>
            <a:ext cx="128699" cy="187198"/>
          </a:xfrm>
          <a:prstGeom prst="rect">
            <a:avLst/>
          </a:prstGeom>
        </p:spPr>
      </p:pic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4364101"/>
            <a:ext cx="128699" cy="187198"/>
          </a:xfrm>
          <a:prstGeom prst="rect">
            <a:avLst/>
          </a:prstGeom>
        </p:spPr>
      </p:pic>
      <p:pic>
        <p:nvPicPr>
          <p:cNvPr id="164" name="Picture 1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4707001"/>
            <a:ext cx="128699" cy="187198"/>
          </a:xfrm>
          <a:prstGeom prst="rect">
            <a:avLst/>
          </a:prstGeom>
        </p:spPr>
      </p:pic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4707001"/>
            <a:ext cx="128699" cy="187198"/>
          </a:xfrm>
          <a:prstGeom prst="rect">
            <a:avLst/>
          </a:prstGeom>
        </p:spPr>
      </p:pic>
      <p:pic>
        <p:nvPicPr>
          <p:cNvPr id="166" name="Picture 1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5049901"/>
            <a:ext cx="128699" cy="187198"/>
          </a:xfrm>
          <a:prstGeom prst="rect">
            <a:avLst/>
          </a:prstGeom>
        </p:spPr>
      </p:pic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5049901"/>
            <a:ext cx="128699" cy="187198"/>
          </a:xfrm>
          <a:prstGeom prst="rect">
            <a:avLst/>
          </a:prstGeom>
        </p:spPr>
      </p:pic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89760" y="5392801"/>
            <a:ext cx="128699" cy="187198"/>
          </a:xfrm>
          <a:prstGeom prst="rect">
            <a:avLst/>
          </a:prstGeom>
        </p:spPr>
      </p:pic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4687" y="53928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Execution Scorecard: How They Win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execution Ps: channel, promotion, momentum, pipeline, policy exposure and prospects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3, EXECUTION: HOW THEY WIN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Place (channel)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688726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Route to market by tier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803276" y="129540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Promotion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803276" y="1657350"/>
            <a:ext cx="1688726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Go-to-market; not assessed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568203" y="1295400"/>
            <a:ext cx="1394572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Pace (momentum)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568203" y="1657350"/>
            <a:ext cx="1394572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Active moves: 5+ = 3, 3-4 = 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7038975" y="129540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Pipeline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038975" y="1657350"/>
            <a:ext cx="1688726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Launch or development in motion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803901" y="129540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Policy exposure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803901" y="1657350"/>
            <a:ext cx="1688726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Regulation in its favour or against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568828" y="1295400"/>
            <a:ext cx="1394572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Prospects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68828" y="1657350"/>
            <a:ext cx="1394572" cy="5143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Gaining 3, holding 2, at risk 1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038350" y="22288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3765176" y="22288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30" name="Oval 29"/>
          <p:cNvSpPr/>
          <p:nvPr/>
        </p:nvSpPr>
        <p:spPr>
          <a:xfrm>
            <a:off x="6189289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7000875" y="22288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32" name="TextBox 31"/>
          <p:cNvSpPr txBox="1"/>
          <p:nvPr/>
        </p:nvSpPr>
        <p:spPr>
          <a:xfrm>
            <a:off x="8765801" y="22288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11189914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34" name="Connector 33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038350" y="25717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765176" y="25717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0" name="Oval 39"/>
          <p:cNvSpPr/>
          <p:nvPr/>
        </p:nvSpPr>
        <p:spPr>
          <a:xfrm>
            <a:off x="6189289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7038975" y="25717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765801" y="25717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3" name="Oval 42"/>
          <p:cNvSpPr/>
          <p:nvPr/>
        </p:nvSpPr>
        <p:spPr>
          <a:xfrm>
            <a:off x="11189914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44" name="Connector 43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TextBox 45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038350" y="29146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765176" y="29146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0" name="Oval 49"/>
          <p:cNvSpPr/>
          <p:nvPr/>
        </p:nvSpPr>
        <p:spPr>
          <a:xfrm>
            <a:off x="6189289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7000875" y="29146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8765801" y="29146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53" name="Oval 52"/>
          <p:cNvSpPr/>
          <p:nvPr/>
        </p:nvSpPr>
        <p:spPr>
          <a:xfrm>
            <a:off x="11189914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54" name="Connector 53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Rectangle 54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038350" y="32575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765176" y="32575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60" name="Oval 59"/>
          <p:cNvSpPr/>
          <p:nvPr/>
        </p:nvSpPr>
        <p:spPr>
          <a:xfrm>
            <a:off x="6189289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7038975" y="32575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765801" y="32575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63" name="Oval 62"/>
          <p:cNvSpPr/>
          <p:nvPr/>
        </p:nvSpPr>
        <p:spPr>
          <a:xfrm>
            <a:off x="11189914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64" name="Connector 63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Rectangle 64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TextBox 65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038350" y="36004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765176" y="36004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70" name="Oval 69"/>
          <p:cNvSpPr/>
          <p:nvPr/>
        </p:nvSpPr>
        <p:spPr>
          <a:xfrm>
            <a:off x="6189289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TextBox 70"/>
          <p:cNvSpPr txBox="1"/>
          <p:nvPr/>
        </p:nvSpPr>
        <p:spPr>
          <a:xfrm>
            <a:off x="7000875" y="36004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72" name="TextBox 71"/>
          <p:cNvSpPr txBox="1"/>
          <p:nvPr/>
        </p:nvSpPr>
        <p:spPr>
          <a:xfrm>
            <a:off x="8765801" y="36004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73" name="Oval 72"/>
          <p:cNvSpPr/>
          <p:nvPr/>
        </p:nvSpPr>
        <p:spPr>
          <a:xfrm>
            <a:off x="11189914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Freeform 73"/>
          <p:cNvSpPr/>
          <p:nvPr/>
        </p:nvSpPr>
        <p:spPr>
          <a:xfrm>
            <a:off x="112680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75" name="Connector 7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Rectangle 7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TextBox 76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038350" y="39433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765176" y="39433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81" name="Oval 80"/>
          <p:cNvSpPr/>
          <p:nvPr/>
        </p:nvSpPr>
        <p:spPr>
          <a:xfrm>
            <a:off x="6189289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TextBox 81"/>
          <p:cNvSpPr txBox="1"/>
          <p:nvPr/>
        </p:nvSpPr>
        <p:spPr>
          <a:xfrm>
            <a:off x="7038975" y="39433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765801" y="39433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84" name="Oval 83"/>
          <p:cNvSpPr/>
          <p:nvPr/>
        </p:nvSpPr>
        <p:spPr>
          <a:xfrm>
            <a:off x="11189914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Freeform 84"/>
          <p:cNvSpPr/>
          <p:nvPr/>
        </p:nvSpPr>
        <p:spPr>
          <a:xfrm>
            <a:off x="112680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86" name="Connector 85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TextBox 87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038350" y="42862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765176" y="42862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92" name="Oval 91"/>
          <p:cNvSpPr/>
          <p:nvPr/>
        </p:nvSpPr>
        <p:spPr>
          <a:xfrm>
            <a:off x="6189289" y="43815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TextBox 92"/>
          <p:cNvSpPr txBox="1"/>
          <p:nvPr/>
        </p:nvSpPr>
        <p:spPr>
          <a:xfrm>
            <a:off x="7000875" y="42862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94" name="TextBox 93"/>
          <p:cNvSpPr txBox="1"/>
          <p:nvPr/>
        </p:nvSpPr>
        <p:spPr>
          <a:xfrm>
            <a:off x="8765801" y="42862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95" name="Oval 94"/>
          <p:cNvSpPr/>
          <p:nvPr/>
        </p:nvSpPr>
        <p:spPr>
          <a:xfrm>
            <a:off x="11189914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Freeform 95"/>
          <p:cNvSpPr/>
          <p:nvPr/>
        </p:nvSpPr>
        <p:spPr>
          <a:xfrm>
            <a:off x="112680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97" name="Connector 9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TextBox 98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2038350" y="46291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765176" y="46291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03" name="Oval 102"/>
          <p:cNvSpPr/>
          <p:nvPr/>
        </p:nvSpPr>
        <p:spPr>
          <a:xfrm>
            <a:off x="6189289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TextBox 103"/>
          <p:cNvSpPr txBox="1"/>
          <p:nvPr/>
        </p:nvSpPr>
        <p:spPr>
          <a:xfrm>
            <a:off x="7038975" y="46291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765801" y="46291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06" name="Oval 105"/>
          <p:cNvSpPr/>
          <p:nvPr/>
        </p:nvSpPr>
        <p:spPr>
          <a:xfrm>
            <a:off x="11189914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Freeform 106"/>
          <p:cNvSpPr/>
          <p:nvPr/>
        </p:nvSpPr>
        <p:spPr>
          <a:xfrm>
            <a:off x="112680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08" name="Connector 107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" name="Rectangle 108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TextBox 109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2038350" y="49720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765176" y="49720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14" name="Oval 113"/>
          <p:cNvSpPr/>
          <p:nvPr/>
        </p:nvSpPr>
        <p:spPr>
          <a:xfrm>
            <a:off x="6189289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TextBox 114"/>
          <p:cNvSpPr txBox="1"/>
          <p:nvPr/>
        </p:nvSpPr>
        <p:spPr>
          <a:xfrm>
            <a:off x="7000875" y="49720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16" name="TextBox 115"/>
          <p:cNvSpPr txBox="1"/>
          <p:nvPr/>
        </p:nvSpPr>
        <p:spPr>
          <a:xfrm>
            <a:off x="8765801" y="49720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17" name="Oval 116"/>
          <p:cNvSpPr/>
          <p:nvPr/>
        </p:nvSpPr>
        <p:spPr>
          <a:xfrm>
            <a:off x="11189914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Freeform 117"/>
          <p:cNvSpPr/>
          <p:nvPr/>
        </p:nvSpPr>
        <p:spPr>
          <a:xfrm>
            <a:off x="1126807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19" name="Connector 11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Rectangle 11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TextBox 120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038350" y="53149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765176" y="53149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25" name="Oval 124"/>
          <p:cNvSpPr/>
          <p:nvPr/>
        </p:nvSpPr>
        <p:spPr>
          <a:xfrm>
            <a:off x="6189289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TextBox 125"/>
          <p:cNvSpPr txBox="1"/>
          <p:nvPr/>
        </p:nvSpPr>
        <p:spPr>
          <a:xfrm>
            <a:off x="7038975" y="5314950"/>
            <a:ext cx="16887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8765801" y="5314950"/>
            <a:ext cx="1764926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128" name="Oval 127"/>
          <p:cNvSpPr/>
          <p:nvPr/>
        </p:nvSpPr>
        <p:spPr>
          <a:xfrm>
            <a:off x="11189914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Freeform 128"/>
          <p:cNvSpPr/>
          <p:nvPr/>
        </p:nvSpPr>
        <p:spPr>
          <a:xfrm>
            <a:off x="112680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30" name="Connector 129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Oval 130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TextBox 131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3" name="Oval 132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Freeform 133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TextBox 134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36" name="Oval 135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Freeform 136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TextBox 137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39" name="Oval 138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TextBox 139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Momentum sits with the players running the most strategic moves; prospects combine breadth, reach, scale and pace.  Promotion and policy exposure need market and regulatory research.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2306701"/>
            <a:ext cx="128699" cy="187198"/>
          </a:xfrm>
          <a:prstGeom prst="rect">
            <a:avLst/>
          </a:prstGeom>
        </p:spPr>
      </p:pic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2306701"/>
            <a:ext cx="128699" cy="187198"/>
          </a:xfrm>
          <a:prstGeom prst="rect">
            <a:avLst/>
          </a:prstGeom>
        </p:spPr>
      </p:pic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2306701"/>
            <a:ext cx="128699" cy="187198"/>
          </a:xfrm>
          <a:prstGeom prst="rect">
            <a:avLst/>
          </a:prstGeom>
        </p:spPr>
      </p:pic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2649601"/>
            <a:ext cx="128699" cy="187198"/>
          </a:xfrm>
          <a:prstGeom prst="rect">
            <a:avLst/>
          </a:prstGeom>
        </p:spPr>
      </p:pic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2649601"/>
            <a:ext cx="128699" cy="187198"/>
          </a:xfrm>
          <a:prstGeom prst="rect">
            <a:avLst/>
          </a:prstGeom>
        </p:spPr>
      </p:pic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2992501"/>
            <a:ext cx="128699" cy="187198"/>
          </a:xfrm>
          <a:prstGeom prst="rect">
            <a:avLst/>
          </a:prstGeom>
        </p:spPr>
      </p:pic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2992501"/>
            <a:ext cx="128699" cy="187198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2992501"/>
            <a:ext cx="128699" cy="187198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3335401"/>
            <a:ext cx="128699" cy="187198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3335401"/>
            <a:ext cx="128699" cy="187198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3678301"/>
            <a:ext cx="128699" cy="187198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3678301"/>
            <a:ext cx="128699" cy="187198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3678301"/>
            <a:ext cx="128699" cy="187198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4021201"/>
            <a:ext cx="128699" cy="187198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4021201"/>
            <a:ext cx="128699" cy="187198"/>
          </a:xfrm>
          <a:prstGeom prst="rect">
            <a:avLst/>
          </a:prstGeom>
        </p:spPr>
      </p:pic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4364101"/>
            <a:ext cx="128699" cy="187198"/>
          </a:xfrm>
          <a:prstGeom prst="rect">
            <a:avLst/>
          </a:prstGeom>
        </p:spPr>
      </p:pic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4364101"/>
            <a:ext cx="128699" cy="187198"/>
          </a:xfrm>
          <a:prstGeom prst="rect">
            <a:avLst/>
          </a:prstGeom>
        </p:spPr>
      </p:pic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4364101"/>
            <a:ext cx="128699" cy="187198"/>
          </a:xfrm>
          <a:prstGeom prst="rect">
            <a:avLst/>
          </a:prstGeom>
        </p:spPr>
      </p:pic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4707001"/>
            <a:ext cx="128699" cy="187198"/>
          </a:xfrm>
          <a:prstGeom prst="rect">
            <a:avLst/>
          </a:prstGeom>
        </p:spPr>
      </p:pic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4707001"/>
            <a:ext cx="128699" cy="187198"/>
          </a:xfrm>
          <a:prstGeom prst="rect">
            <a:avLst/>
          </a:prstGeom>
        </p:spPr>
      </p:pic>
      <p:pic>
        <p:nvPicPr>
          <p:cNvPr id="164" name="Picture 1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5049901"/>
            <a:ext cx="128699" cy="187198"/>
          </a:xfrm>
          <a:prstGeom prst="rect">
            <a:avLst/>
          </a:prstGeom>
        </p:spPr>
      </p:pic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8988" y="5049901"/>
            <a:ext cx="128699" cy="187198"/>
          </a:xfrm>
          <a:prstGeom prst="rect">
            <a:avLst/>
          </a:prstGeom>
        </p:spPr>
      </p:pic>
      <p:pic>
        <p:nvPicPr>
          <p:cNvPr id="166" name="Picture 1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5049901"/>
            <a:ext cx="128699" cy="187198"/>
          </a:xfrm>
          <a:prstGeom prst="rect">
            <a:avLst/>
          </a:prstGeom>
        </p:spPr>
      </p:pic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3289" y="5392801"/>
            <a:ext cx="128699" cy="187198"/>
          </a:xfrm>
          <a:prstGeom prst="rect">
            <a:avLst/>
          </a:prstGeom>
        </p:spPr>
      </p:pic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83914" y="53928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Success Factors and Composite Ranking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Five weighted success factors and the composite ranking they produce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133600" y="1047750"/>
            <a:ext cx="15811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Segment breadth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133600" y="1209675"/>
            <a:ext cx="15811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133600" y="1371600"/>
            <a:ext cx="15811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Lead or be active in several sub-segments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90950" y="1047750"/>
            <a:ext cx="15811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Scale and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790950" y="1209675"/>
            <a:ext cx="15811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3790950" y="1371600"/>
            <a:ext cx="15811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position and share of market value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448300" y="1047750"/>
            <a:ext cx="15811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Geographic reach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448300" y="1209675"/>
            <a:ext cx="15811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5448300" y="1371600"/>
            <a:ext cx="15811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Global, regional or single-market footprint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105650" y="1047750"/>
            <a:ext cx="15811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Innovation pipeline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105650" y="1209675"/>
            <a:ext cx="15811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7105650" y="1371600"/>
            <a:ext cx="15811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product development in motion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63000" y="1047750"/>
            <a:ext cx="15811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5. Strategic momentum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763000" y="1209675"/>
            <a:ext cx="15811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8763000" y="1371600"/>
            <a:ext cx="15811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Number of active strategic moves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420350" y="104775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Composite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420350" y="1219200"/>
            <a:ext cx="161925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weighted 0 to 3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Rectangle 27"/>
          <p:cNvSpPr/>
          <p:nvPr/>
        </p:nvSpPr>
        <p:spPr>
          <a:xfrm>
            <a:off x="190500" y="18478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285750" y="18097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0" name="Oval 29"/>
          <p:cNvSpPr/>
          <p:nvPr/>
        </p:nvSpPr>
        <p:spPr>
          <a:xfrm>
            <a:off x="28479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Oval 30"/>
          <p:cNvSpPr/>
          <p:nvPr/>
        </p:nvSpPr>
        <p:spPr>
          <a:xfrm>
            <a:off x="45053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Oval 31"/>
          <p:cNvSpPr/>
          <p:nvPr/>
        </p:nvSpPr>
        <p:spPr>
          <a:xfrm>
            <a:off x="61626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Oval 32"/>
          <p:cNvSpPr/>
          <p:nvPr/>
        </p:nvSpPr>
        <p:spPr>
          <a:xfrm>
            <a:off x="78200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Oval 33"/>
          <p:cNvSpPr/>
          <p:nvPr/>
        </p:nvSpPr>
        <p:spPr>
          <a:xfrm>
            <a:off x="94773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Rectangle 34"/>
          <p:cNvSpPr/>
          <p:nvPr/>
        </p:nvSpPr>
        <p:spPr>
          <a:xfrm>
            <a:off x="10420350" y="1895475"/>
            <a:ext cx="11430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11601450" y="18097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190500" y="2114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190500" y="21526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TextBox 38"/>
          <p:cNvSpPr txBox="1"/>
          <p:nvPr/>
        </p:nvSpPr>
        <p:spPr>
          <a:xfrm>
            <a:off x="285750" y="21145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40" name="Oval 39"/>
          <p:cNvSpPr/>
          <p:nvPr/>
        </p:nvSpPr>
        <p:spPr>
          <a:xfrm>
            <a:off x="28479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Oval 40"/>
          <p:cNvSpPr/>
          <p:nvPr/>
        </p:nvSpPr>
        <p:spPr>
          <a:xfrm>
            <a:off x="450532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Oval 41"/>
          <p:cNvSpPr/>
          <p:nvPr/>
        </p:nvSpPr>
        <p:spPr>
          <a:xfrm>
            <a:off x="61626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Oval 42"/>
          <p:cNvSpPr/>
          <p:nvPr/>
        </p:nvSpPr>
        <p:spPr>
          <a:xfrm>
            <a:off x="7820025" y="2190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Freeform 43"/>
          <p:cNvSpPr/>
          <p:nvPr/>
        </p:nvSpPr>
        <p:spPr>
          <a:xfrm>
            <a:off x="7896225" y="2190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Oval 44"/>
          <p:cNvSpPr/>
          <p:nvPr/>
        </p:nvSpPr>
        <p:spPr>
          <a:xfrm>
            <a:off x="94773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10420350" y="2200275"/>
            <a:ext cx="10858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11544300" y="21145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90500" y="2419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Rectangle 48"/>
          <p:cNvSpPr/>
          <p:nvPr/>
        </p:nvSpPr>
        <p:spPr>
          <a:xfrm>
            <a:off x="190500" y="24574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285750" y="24193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51" name="Oval 50"/>
          <p:cNvSpPr/>
          <p:nvPr/>
        </p:nvSpPr>
        <p:spPr>
          <a:xfrm>
            <a:off x="28479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Oval 51"/>
          <p:cNvSpPr/>
          <p:nvPr/>
        </p:nvSpPr>
        <p:spPr>
          <a:xfrm>
            <a:off x="450532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Oval 52"/>
          <p:cNvSpPr/>
          <p:nvPr/>
        </p:nvSpPr>
        <p:spPr>
          <a:xfrm>
            <a:off x="61626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Oval 53"/>
          <p:cNvSpPr/>
          <p:nvPr/>
        </p:nvSpPr>
        <p:spPr>
          <a:xfrm>
            <a:off x="7820025" y="2495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Freeform 54"/>
          <p:cNvSpPr/>
          <p:nvPr/>
        </p:nvSpPr>
        <p:spPr>
          <a:xfrm>
            <a:off x="7896225" y="2495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Oval 55"/>
          <p:cNvSpPr/>
          <p:nvPr/>
        </p:nvSpPr>
        <p:spPr>
          <a:xfrm>
            <a:off x="94773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Rectangle 56"/>
          <p:cNvSpPr/>
          <p:nvPr/>
        </p:nvSpPr>
        <p:spPr>
          <a:xfrm>
            <a:off x="10420350" y="2505075"/>
            <a:ext cx="10858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TextBox 57"/>
          <p:cNvSpPr txBox="1"/>
          <p:nvPr/>
        </p:nvSpPr>
        <p:spPr>
          <a:xfrm>
            <a:off x="11544300" y="24193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2724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190500" y="27622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285750" y="27241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2" name="Oval 61"/>
          <p:cNvSpPr/>
          <p:nvPr/>
        </p:nvSpPr>
        <p:spPr>
          <a:xfrm>
            <a:off x="2847975" y="2800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Freeform 62"/>
          <p:cNvSpPr/>
          <p:nvPr/>
        </p:nvSpPr>
        <p:spPr>
          <a:xfrm>
            <a:off x="2924175" y="2800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Oval 63"/>
          <p:cNvSpPr/>
          <p:nvPr/>
        </p:nvSpPr>
        <p:spPr>
          <a:xfrm>
            <a:off x="45053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Oval 64"/>
          <p:cNvSpPr/>
          <p:nvPr/>
        </p:nvSpPr>
        <p:spPr>
          <a:xfrm>
            <a:off x="61626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Oval 65"/>
          <p:cNvSpPr/>
          <p:nvPr/>
        </p:nvSpPr>
        <p:spPr>
          <a:xfrm>
            <a:off x="78200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Oval 66"/>
          <p:cNvSpPr/>
          <p:nvPr/>
        </p:nvSpPr>
        <p:spPr>
          <a:xfrm>
            <a:off x="94773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Rectangle 67"/>
          <p:cNvSpPr/>
          <p:nvPr/>
        </p:nvSpPr>
        <p:spPr>
          <a:xfrm>
            <a:off x="10420350" y="2809875"/>
            <a:ext cx="10287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11487150" y="27241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70" name="Connector 69"/>
          <p:cNvCxnSpPr/>
          <p:nvPr/>
        </p:nvCxnSpPr>
        <p:spPr>
          <a:xfrm>
            <a:off x="190500" y="3028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ectangle 70"/>
          <p:cNvSpPr/>
          <p:nvPr/>
        </p:nvSpPr>
        <p:spPr>
          <a:xfrm>
            <a:off x="190500" y="30670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2" name="TextBox 71"/>
          <p:cNvSpPr txBox="1"/>
          <p:nvPr/>
        </p:nvSpPr>
        <p:spPr>
          <a:xfrm>
            <a:off x="285750" y="30289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3" name="Oval 72"/>
          <p:cNvSpPr/>
          <p:nvPr/>
        </p:nvSpPr>
        <p:spPr>
          <a:xfrm>
            <a:off x="28479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4" name="Freeform 73"/>
          <p:cNvSpPr/>
          <p:nvPr/>
        </p:nvSpPr>
        <p:spPr>
          <a:xfrm>
            <a:off x="292417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Oval 74"/>
          <p:cNvSpPr/>
          <p:nvPr/>
        </p:nvSpPr>
        <p:spPr>
          <a:xfrm>
            <a:off x="450532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6" name="Freeform 75"/>
          <p:cNvSpPr/>
          <p:nvPr/>
        </p:nvSpPr>
        <p:spPr>
          <a:xfrm>
            <a:off x="458152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Oval 76"/>
          <p:cNvSpPr/>
          <p:nvPr/>
        </p:nvSpPr>
        <p:spPr>
          <a:xfrm>
            <a:off x="61626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Freeform 77"/>
          <p:cNvSpPr/>
          <p:nvPr/>
        </p:nvSpPr>
        <p:spPr>
          <a:xfrm>
            <a:off x="623887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Oval 78"/>
          <p:cNvSpPr/>
          <p:nvPr/>
        </p:nvSpPr>
        <p:spPr>
          <a:xfrm>
            <a:off x="782002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Oval 79"/>
          <p:cNvSpPr/>
          <p:nvPr/>
        </p:nvSpPr>
        <p:spPr>
          <a:xfrm>
            <a:off x="947737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Rectangle 80"/>
          <p:cNvSpPr/>
          <p:nvPr/>
        </p:nvSpPr>
        <p:spPr>
          <a:xfrm>
            <a:off x="10420350" y="3114675"/>
            <a:ext cx="8763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TextBox 81"/>
          <p:cNvSpPr txBox="1"/>
          <p:nvPr/>
        </p:nvSpPr>
        <p:spPr>
          <a:xfrm>
            <a:off x="11334750" y="30289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83" name="Connector 82"/>
          <p:cNvCxnSpPr/>
          <p:nvPr/>
        </p:nvCxnSpPr>
        <p:spPr>
          <a:xfrm>
            <a:off x="190500" y="3333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Rectangle 83"/>
          <p:cNvSpPr/>
          <p:nvPr/>
        </p:nvSpPr>
        <p:spPr>
          <a:xfrm>
            <a:off x="190500" y="33718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TextBox 84"/>
          <p:cNvSpPr txBox="1"/>
          <p:nvPr/>
        </p:nvSpPr>
        <p:spPr>
          <a:xfrm>
            <a:off x="285750" y="33337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86" name="Oval 85"/>
          <p:cNvSpPr/>
          <p:nvPr/>
        </p:nvSpPr>
        <p:spPr>
          <a:xfrm>
            <a:off x="28479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Freeform 86"/>
          <p:cNvSpPr/>
          <p:nvPr/>
        </p:nvSpPr>
        <p:spPr>
          <a:xfrm>
            <a:off x="29241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8" name="Oval 87"/>
          <p:cNvSpPr/>
          <p:nvPr/>
        </p:nvSpPr>
        <p:spPr>
          <a:xfrm>
            <a:off x="45053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Freeform 88"/>
          <p:cNvSpPr/>
          <p:nvPr/>
        </p:nvSpPr>
        <p:spPr>
          <a:xfrm>
            <a:off x="45815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Oval 89"/>
          <p:cNvSpPr/>
          <p:nvPr/>
        </p:nvSpPr>
        <p:spPr>
          <a:xfrm>
            <a:off x="61626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Freeform 90"/>
          <p:cNvSpPr/>
          <p:nvPr/>
        </p:nvSpPr>
        <p:spPr>
          <a:xfrm>
            <a:off x="62388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Oval 91"/>
          <p:cNvSpPr/>
          <p:nvPr/>
        </p:nvSpPr>
        <p:spPr>
          <a:xfrm>
            <a:off x="78200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Freeform 92"/>
          <p:cNvSpPr/>
          <p:nvPr/>
        </p:nvSpPr>
        <p:spPr>
          <a:xfrm>
            <a:off x="78962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Oval 93"/>
          <p:cNvSpPr/>
          <p:nvPr/>
        </p:nvSpPr>
        <p:spPr>
          <a:xfrm>
            <a:off x="9477375" y="3409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Rectangle 94"/>
          <p:cNvSpPr/>
          <p:nvPr/>
        </p:nvSpPr>
        <p:spPr>
          <a:xfrm>
            <a:off x="10420350" y="3419475"/>
            <a:ext cx="8191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TextBox 95"/>
          <p:cNvSpPr txBox="1"/>
          <p:nvPr/>
        </p:nvSpPr>
        <p:spPr>
          <a:xfrm>
            <a:off x="11277600" y="33337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97" name="Connector 96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36766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TextBox 98"/>
          <p:cNvSpPr txBox="1"/>
          <p:nvPr/>
        </p:nvSpPr>
        <p:spPr>
          <a:xfrm>
            <a:off x="285750" y="36385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0" name="Oval 99"/>
          <p:cNvSpPr/>
          <p:nvPr/>
        </p:nvSpPr>
        <p:spPr>
          <a:xfrm>
            <a:off x="28479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Freeform 100"/>
          <p:cNvSpPr/>
          <p:nvPr/>
        </p:nvSpPr>
        <p:spPr>
          <a:xfrm>
            <a:off x="2924175" y="3714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2" name="Oval 101"/>
          <p:cNvSpPr/>
          <p:nvPr/>
        </p:nvSpPr>
        <p:spPr>
          <a:xfrm>
            <a:off x="450532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Freeform 102"/>
          <p:cNvSpPr/>
          <p:nvPr/>
        </p:nvSpPr>
        <p:spPr>
          <a:xfrm>
            <a:off x="458152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Oval 103"/>
          <p:cNvSpPr/>
          <p:nvPr/>
        </p:nvSpPr>
        <p:spPr>
          <a:xfrm>
            <a:off x="61626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Freeform 104"/>
          <p:cNvSpPr/>
          <p:nvPr/>
        </p:nvSpPr>
        <p:spPr>
          <a:xfrm>
            <a:off x="623887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Oval 105"/>
          <p:cNvSpPr/>
          <p:nvPr/>
        </p:nvSpPr>
        <p:spPr>
          <a:xfrm>
            <a:off x="782002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Oval 106"/>
          <p:cNvSpPr/>
          <p:nvPr/>
        </p:nvSpPr>
        <p:spPr>
          <a:xfrm>
            <a:off x="947737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Rectangle 107"/>
          <p:cNvSpPr/>
          <p:nvPr/>
        </p:nvSpPr>
        <p:spPr>
          <a:xfrm>
            <a:off x="10420350" y="37242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TextBox 108"/>
          <p:cNvSpPr txBox="1"/>
          <p:nvPr/>
        </p:nvSpPr>
        <p:spPr>
          <a:xfrm>
            <a:off x="11182350" y="36385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Rectangle 110"/>
          <p:cNvSpPr/>
          <p:nvPr/>
        </p:nvSpPr>
        <p:spPr>
          <a:xfrm>
            <a:off x="190500" y="39814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TextBox 111"/>
          <p:cNvSpPr txBox="1"/>
          <p:nvPr/>
        </p:nvSpPr>
        <p:spPr>
          <a:xfrm>
            <a:off x="285750" y="39433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13" name="Oval 112"/>
          <p:cNvSpPr/>
          <p:nvPr/>
        </p:nvSpPr>
        <p:spPr>
          <a:xfrm>
            <a:off x="28479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Freeform 113"/>
          <p:cNvSpPr/>
          <p:nvPr/>
        </p:nvSpPr>
        <p:spPr>
          <a:xfrm>
            <a:off x="2924175" y="4019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Oval 114"/>
          <p:cNvSpPr/>
          <p:nvPr/>
        </p:nvSpPr>
        <p:spPr>
          <a:xfrm>
            <a:off x="450532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Freeform 115"/>
          <p:cNvSpPr/>
          <p:nvPr/>
        </p:nvSpPr>
        <p:spPr>
          <a:xfrm>
            <a:off x="458152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Oval 116"/>
          <p:cNvSpPr/>
          <p:nvPr/>
        </p:nvSpPr>
        <p:spPr>
          <a:xfrm>
            <a:off x="61626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Freeform 117"/>
          <p:cNvSpPr/>
          <p:nvPr/>
        </p:nvSpPr>
        <p:spPr>
          <a:xfrm>
            <a:off x="623887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Oval 118"/>
          <p:cNvSpPr/>
          <p:nvPr/>
        </p:nvSpPr>
        <p:spPr>
          <a:xfrm>
            <a:off x="782002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Oval 119"/>
          <p:cNvSpPr/>
          <p:nvPr/>
        </p:nvSpPr>
        <p:spPr>
          <a:xfrm>
            <a:off x="947737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Rectangle 120"/>
          <p:cNvSpPr/>
          <p:nvPr/>
        </p:nvSpPr>
        <p:spPr>
          <a:xfrm>
            <a:off x="10420350" y="40290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TextBox 121"/>
          <p:cNvSpPr txBox="1"/>
          <p:nvPr/>
        </p:nvSpPr>
        <p:spPr>
          <a:xfrm>
            <a:off x="11182350" y="39433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23" name="Connector 122"/>
          <p:cNvCxnSpPr/>
          <p:nvPr/>
        </p:nvCxnSpPr>
        <p:spPr>
          <a:xfrm>
            <a:off x="190500" y="4248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4" name="Rectangle 123"/>
          <p:cNvSpPr/>
          <p:nvPr/>
        </p:nvSpPr>
        <p:spPr>
          <a:xfrm>
            <a:off x="190500" y="42862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TextBox 124"/>
          <p:cNvSpPr txBox="1"/>
          <p:nvPr/>
        </p:nvSpPr>
        <p:spPr>
          <a:xfrm>
            <a:off x="285750" y="42481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26" name="Oval 125"/>
          <p:cNvSpPr/>
          <p:nvPr/>
        </p:nvSpPr>
        <p:spPr>
          <a:xfrm>
            <a:off x="28479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Freeform 126"/>
          <p:cNvSpPr/>
          <p:nvPr/>
        </p:nvSpPr>
        <p:spPr>
          <a:xfrm>
            <a:off x="2924175" y="4324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Oval 127"/>
          <p:cNvSpPr/>
          <p:nvPr/>
        </p:nvSpPr>
        <p:spPr>
          <a:xfrm>
            <a:off x="45053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Freeform 128"/>
          <p:cNvSpPr/>
          <p:nvPr/>
        </p:nvSpPr>
        <p:spPr>
          <a:xfrm>
            <a:off x="458152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Oval 129"/>
          <p:cNvSpPr/>
          <p:nvPr/>
        </p:nvSpPr>
        <p:spPr>
          <a:xfrm>
            <a:off x="61626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Freeform 130"/>
          <p:cNvSpPr/>
          <p:nvPr/>
        </p:nvSpPr>
        <p:spPr>
          <a:xfrm>
            <a:off x="623887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2" name="Oval 131"/>
          <p:cNvSpPr/>
          <p:nvPr/>
        </p:nvSpPr>
        <p:spPr>
          <a:xfrm>
            <a:off x="78200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Freeform 132"/>
          <p:cNvSpPr/>
          <p:nvPr/>
        </p:nvSpPr>
        <p:spPr>
          <a:xfrm>
            <a:off x="7896225" y="4324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Oval 133"/>
          <p:cNvSpPr/>
          <p:nvPr/>
        </p:nvSpPr>
        <p:spPr>
          <a:xfrm>
            <a:off x="9477375" y="4324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Rectangle 134"/>
          <p:cNvSpPr/>
          <p:nvPr/>
        </p:nvSpPr>
        <p:spPr>
          <a:xfrm>
            <a:off x="10420350" y="43338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TextBox 135"/>
          <p:cNvSpPr txBox="1"/>
          <p:nvPr/>
        </p:nvSpPr>
        <p:spPr>
          <a:xfrm>
            <a:off x="11125200" y="42481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37" name="Connector 136"/>
          <p:cNvCxnSpPr/>
          <p:nvPr/>
        </p:nvCxnSpPr>
        <p:spPr>
          <a:xfrm>
            <a:off x="190500" y="4552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190500" y="45910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9" name="TextBox 138"/>
          <p:cNvSpPr txBox="1"/>
          <p:nvPr/>
        </p:nvSpPr>
        <p:spPr>
          <a:xfrm>
            <a:off x="285750" y="4552950"/>
            <a:ext cx="1809750" cy="3048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40" name="Oval 139"/>
          <p:cNvSpPr/>
          <p:nvPr/>
        </p:nvSpPr>
        <p:spPr>
          <a:xfrm>
            <a:off x="28479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Freeform 140"/>
          <p:cNvSpPr/>
          <p:nvPr/>
        </p:nvSpPr>
        <p:spPr>
          <a:xfrm>
            <a:off x="292417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Oval 141"/>
          <p:cNvSpPr/>
          <p:nvPr/>
        </p:nvSpPr>
        <p:spPr>
          <a:xfrm>
            <a:off x="45053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Freeform 142"/>
          <p:cNvSpPr/>
          <p:nvPr/>
        </p:nvSpPr>
        <p:spPr>
          <a:xfrm>
            <a:off x="458152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Oval 143"/>
          <p:cNvSpPr/>
          <p:nvPr/>
        </p:nvSpPr>
        <p:spPr>
          <a:xfrm>
            <a:off x="61626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Freeform 144"/>
          <p:cNvSpPr/>
          <p:nvPr/>
        </p:nvSpPr>
        <p:spPr>
          <a:xfrm>
            <a:off x="623887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Oval 145"/>
          <p:cNvSpPr/>
          <p:nvPr/>
        </p:nvSpPr>
        <p:spPr>
          <a:xfrm>
            <a:off x="78200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Freeform 146"/>
          <p:cNvSpPr/>
          <p:nvPr/>
        </p:nvSpPr>
        <p:spPr>
          <a:xfrm>
            <a:off x="789622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8" name="Oval 147"/>
          <p:cNvSpPr/>
          <p:nvPr/>
        </p:nvSpPr>
        <p:spPr>
          <a:xfrm>
            <a:off x="9477375" y="4629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Rectangle 148"/>
          <p:cNvSpPr/>
          <p:nvPr/>
        </p:nvSpPr>
        <p:spPr>
          <a:xfrm>
            <a:off x="10420350" y="46386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TextBox 149"/>
          <p:cNvSpPr txBox="1"/>
          <p:nvPr/>
        </p:nvSpPr>
        <p:spPr>
          <a:xfrm>
            <a:off x="11125200" y="4552950"/>
            <a:ext cx="419100" cy="3048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190500" y="4857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Oval 151"/>
          <p:cNvSpPr/>
          <p:nvPr/>
        </p:nvSpPr>
        <p:spPr>
          <a:xfrm>
            <a:off x="200025" y="49339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TextBox 152"/>
          <p:cNvSpPr txBox="1"/>
          <p:nvPr/>
        </p:nvSpPr>
        <p:spPr>
          <a:xfrm>
            <a:off x="381000" y="49149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54" name="Oval 153"/>
          <p:cNvSpPr/>
          <p:nvPr/>
        </p:nvSpPr>
        <p:spPr>
          <a:xfrm>
            <a:off x="2065020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5" name="Freeform 154"/>
          <p:cNvSpPr/>
          <p:nvPr/>
        </p:nvSpPr>
        <p:spPr>
          <a:xfrm>
            <a:off x="2133600" y="49339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6" name="TextBox 155"/>
          <p:cNvSpPr txBox="1"/>
          <p:nvPr/>
        </p:nvSpPr>
        <p:spPr>
          <a:xfrm>
            <a:off x="2245995" y="49149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57" name="Oval 156"/>
          <p:cNvSpPr/>
          <p:nvPr/>
        </p:nvSpPr>
        <p:spPr>
          <a:xfrm>
            <a:off x="367855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Freeform 157"/>
          <p:cNvSpPr/>
          <p:nvPr/>
        </p:nvSpPr>
        <p:spPr>
          <a:xfrm>
            <a:off x="3743325" y="49339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9" name="TextBox 158"/>
          <p:cNvSpPr txBox="1"/>
          <p:nvPr/>
        </p:nvSpPr>
        <p:spPr>
          <a:xfrm>
            <a:off x="3859530" y="49149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60" name="Oval 159"/>
          <p:cNvSpPr/>
          <p:nvPr/>
        </p:nvSpPr>
        <p:spPr>
          <a:xfrm>
            <a:off x="510349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1" name="TextBox 160"/>
          <p:cNvSpPr txBox="1"/>
          <p:nvPr/>
        </p:nvSpPr>
        <p:spPr>
          <a:xfrm>
            <a:off x="5284470" y="4914900"/>
            <a:ext cx="16192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190500" y="5143500"/>
            <a:ext cx="2857500" cy="152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STRATEGIC GROUPS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190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TextBox 163"/>
          <p:cNvSpPr txBox="1"/>
          <p:nvPr/>
        </p:nvSpPr>
        <p:spPr>
          <a:xfrm>
            <a:off x="190500" y="5391150"/>
            <a:ext cx="3810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190500" y="5562600"/>
            <a:ext cx="3810000" cy="3238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Laboratoire Biogance, Beaphar, Laboratoire Francodex, Group55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190500" y="5924550"/>
            <a:ext cx="381000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scale and share; weakest on innovation pipeline.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41910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8" name="TextBox 167"/>
          <p:cNvSpPr txBox="1"/>
          <p:nvPr/>
        </p:nvSpPr>
        <p:spPr>
          <a:xfrm>
            <a:off x="4191000" y="5391150"/>
            <a:ext cx="3810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4191000" y="5562600"/>
            <a:ext cx="3810000" cy="3238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Laboratorios Bilper, Lakeland Cosmetics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4191000" y="5924550"/>
            <a:ext cx="381000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segment breadth.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8191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2" name="TextBox 171"/>
          <p:cNvSpPr txBox="1"/>
          <p:nvPr/>
        </p:nvSpPr>
        <p:spPr>
          <a:xfrm>
            <a:off x="8191500" y="5391150"/>
            <a:ext cx="3810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8191500" y="5562600"/>
            <a:ext cx="3810000" cy="3238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Iv San Bernard, K9 Competition, Artero, Cosmetica Veneta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8191500" y="5924550"/>
            <a:ext cx="381000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scale and share.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46650" y="1868551"/>
            <a:ext cx="128699" cy="187198"/>
          </a:xfrm>
          <a:prstGeom prst="rect">
            <a:avLst/>
          </a:prstGeom>
        </p:spPr>
      </p:pic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89500" y="2173351"/>
            <a:ext cx="128699" cy="187198"/>
          </a:xfrm>
          <a:prstGeom prst="rect">
            <a:avLst/>
          </a:prstGeom>
        </p:spPr>
      </p:pic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89500" y="2478151"/>
            <a:ext cx="128699" cy="187198"/>
          </a:xfrm>
          <a:prstGeom prst="rect">
            <a:avLst/>
          </a:prstGeom>
        </p:spPr>
      </p:pic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32350" y="2782951"/>
            <a:ext cx="128699" cy="187198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9950" y="3087751"/>
            <a:ext cx="128699" cy="187198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22800" y="3392551"/>
            <a:ext cx="128699" cy="187198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3697351"/>
            <a:ext cx="128699" cy="187198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4002151"/>
            <a:ext cx="128699" cy="187198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306951"/>
            <a:ext cx="128699" cy="187198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611751"/>
            <a:ext cx="128699" cy="187198"/>
          </a:xfrm>
          <a:prstGeom prst="rect">
            <a:avLst/>
          </a:prstGeom>
        </p:spPr>
      </p:pic>
      <p:sp>
        <p:nvSpPr>
          <p:cNvPr id="186" name="TextBox 185"/>
          <p:cNvSpPr txBox="1"/>
          <p:nvPr/>
        </p:nvSpPr>
        <p:spPr>
          <a:xfrm>
            <a:off x="2162175" y="1219200"/>
            <a:ext cx="379523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87" name="Picture 1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2959" y="1212159"/>
            <a:ext cx="92663" cy="134782"/>
          </a:xfrm>
          <a:prstGeom prst="rect">
            <a:avLst/>
          </a:prstGeom>
        </p:spPr>
      </p:pic>
      <p:sp>
        <p:nvSpPr>
          <p:cNvPr id="188" name="TextBox 187"/>
          <p:cNvSpPr txBox="1"/>
          <p:nvPr/>
        </p:nvSpPr>
        <p:spPr>
          <a:xfrm>
            <a:off x="3819525" y="1219200"/>
            <a:ext cx="379523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40309" y="1212159"/>
            <a:ext cx="92663" cy="134782"/>
          </a:xfrm>
          <a:prstGeom prst="rect">
            <a:avLst/>
          </a:prstGeom>
        </p:spPr>
      </p:pic>
      <p:sp>
        <p:nvSpPr>
          <p:cNvPr id="190" name="TextBox 189"/>
          <p:cNvSpPr txBox="1"/>
          <p:nvPr/>
        </p:nvSpPr>
        <p:spPr>
          <a:xfrm>
            <a:off x="5476875" y="1219200"/>
            <a:ext cx="379523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7659" y="1212159"/>
            <a:ext cx="92663" cy="134782"/>
          </a:xfrm>
          <a:prstGeom prst="rect">
            <a:avLst/>
          </a:prstGeom>
        </p:spPr>
      </p:pic>
      <p:sp>
        <p:nvSpPr>
          <p:cNvPr id="192" name="TextBox 191"/>
          <p:cNvSpPr txBox="1"/>
          <p:nvPr/>
        </p:nvSpPr>
        <p:spPr>
          <a:xfrm>
            <a:off x="7134225" y="1219200"/>
            <a:ext cx="379523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55009" y="1212159"/>
            <a:ext cx="92663" cy="134782"/>
          </a:xfrm>
          <a:prstGeom prst="rect">
            <a:avLst/>
          </a:prstGeom>
        </p:spPr>
      </p:pic>
      <p:sp>
        <p:nvSpPr>
          <p:cNvPr id="194" name="TextBox 193"/>
          <p:cNvSpPr txBox="1"/>
          <p:nvPr/>
        </p:nvSpPr>
        <p:spPr>
          <a:xfrm>
            <a:off x="8791575" y="1219200"/>
            <a:ext cx="379523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5" name="Picture 1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12359" y="1212159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Strategic Activity Tracker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Each player's active strategic moves: what, type, source department, signal and who should act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09550" y="1047750"/>
            <a:ext cx="12954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COMPANY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543050" y="1047750"/>
            <a:ext cx="23431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DEVELOPMENT (WHAT IS HAPPENING)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924300" y="1047750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DATE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4495800" y="1047750"/>
            <a:ext cx="43815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TYPE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972050" y="1047750"/>
            <a:ext cx="12001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SOURCE DEPT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210300" y="1047750"/>
            <a:ext cx="9144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EVIDENCE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7162800" y="1047750"/>
            <a:ext cx="215265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SIGNAL (WHAT IT INDICATES)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353550" y="1047750"/>
            <a:ext cx="26289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SHOULD ACT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90500" y="12382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90500" y="12954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266700" y="12858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543050" y="12858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Germany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924300" y="12858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23" name="Rectangle 22"/>
          <p:cNvSpPr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972050" y="12858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210300" y="12858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162800" y="12858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9353550" y="12858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90500" y="17907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266700" y="17811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43050" y="17811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3924300" y="17811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" name="TextBox 34"/>
          <p:cNvSpPr txBox="1"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972050" y="17811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210300" y="17811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162800" y="17811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9353550" y="17811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190500" y="22479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2860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266700" y="22764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543050" y="22764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France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924300" y="22764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45" name="Rectangle 44"/>
          <p:cNvSpPr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TextBox 45"/>
          <p:cNvSpPr txBox="1"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72050" y="22764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210300" y="22764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162800" y="22764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353550" y="22764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90500" y="27432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Rectangle 51"/>
          <p:cNvSpPr/>
          <p:nvPr/>
        </p:nvSpPr>
        <p:spPr>
          <a:xfrm>
            <a:off x="190500" y="27813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266700" y="27717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43050" y="27717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Coat Conditioning &amp; Grooming Products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924300" y="27717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4972050" y="27717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210300" y="27717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162800" y="27717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9353550" y="27717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62" name="Connector 61"/>
          <p:cNvCxnSpPr/>
          <p:nvPr/>
        </p:nvCxnSpPr>
        <p:spPr>
          <a:xfrm>
            <a:off x="190500" y="32385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Rectangle 62"/>
          <p:cNvSpPr/>
          <p:nvPr/>
        </p:nvSpPr>
        <p:spPr>
          <a:xfrm>
            <a:off x="190500" y="32766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66700" y="32670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543050" y="32670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Spain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924300" y="32670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67" name="Rectangle 66"/>
          <p:cNvSpPr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972050" y="32670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210300" y="32670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162800" y="32670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9353550" y="32670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190500" y="37338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Rectangle 73"/>
          <p:cNvSpPr/>
          <p:nvPr/>
        </p:nvSpPr>
        <p:spPr>
          <a:xfrm>
            <a:off x="190500" y="37719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TextBox 74"/>
          <p:cNvSpPr txBox="1"/>
          <p:nvPr/>
        </p:nvSpPr>
        <p:spPr>
          <a:xfrm>
            <a:off x="266700" y="37623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543050" y="37623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24300" y="37623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TextBox 78"/>
          <p:cNvSpPr txBox="1"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972050" y="37623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6210300" y="37623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7162800" y="37623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9353550" y="37623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90500" y="42291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Rectangle 84"/>
          <p:cNvSpPr/>
          <p:nvPr/>
        </p:nvSpPr>
        <p:spPr>
          <a:xfrm>
            <a:off x="190500" y="42672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TextBox 85"/>
          <p:cNvSpPr txBox="1"/>
          <p:nvPr/>
        </p:nvSpPr>
        <p:spPr>
          <a:xfrm>
            <a:off x="266700" y="42576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543050" y="42576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Poland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3924300" y="42576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89" name="Rectangle 88"/>
          <p:cNvSpPr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0" name="TextBox 89"/>
          <p:cNvSpPr txBox="1"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4972050" y="42576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210300" y="42576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162800" y="42576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53550" y="42576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190500" y="47244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47625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TextBox 96"/>
          <p:cNvSpPr txBox="1"/>
          <p:nvPr/>
        </p:nvSpPr>
        <p:spPr>
          <a:xfrm>
            <a:off x="266700" y="47529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543050" y="47529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Coat Conditioning &amp; Grooming Products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24300" y="47529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100" name="Rectangle 99"/>
          <p:cNvSpPr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TextBox 100"/>
          <p:cNvSpPr txBox="1"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4972050" y="47529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6210300" y="47529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162800" y="47529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353550" y="47529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Rectangle 106"/>
          <p:cNvSpPr/>
          <p:nvPr/>
        </p:nvSpPr>
        <p:spPr>
          <a:xfrm>
            <a:off x="190500" y="52578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TextBox 107"/>
          <p:cNvSpPr txBox="1"/>
          <p:nvPr/>
        </p:nvSpPr>
        <p:spPr>
          <a:xfrm>
            <a:off x="266700" y="52482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1543050" y="52482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Germany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924300" y="52482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111" name="Rectangle 110"/>
          <p:cNvSpPr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TextBox 111"/>
          <p:cNvSpPr txBox="1"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4972050" y="52482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210300" y="52482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7162800" y="52482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9353550" y="52482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117" name="Connector 116"/>
          <p:cNvCxnSpPr/>
          <p:nvPr/>
        </p:nvCxnSpPr>
        <p:spPr>
          <a:xfrm>
            <a:off x="190500" y="5715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" name="Rectangle 117"/>
          <p:cNvSpPr/>
          <p:nvPr/>
        </p:nvSpPr>
        <p:spPr>
          <a:xfrm>
            <a:off x="190500" y="57531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TextBox 118"/>
          <p:cNvSpPr txBox="1"/>
          <p:nvPr/>
        </p:nvSpPr>
        <p:spPr>
          <a:xfrm>
            <a:off x="266700" y="5743575"/>
            <a:ext cx="12382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543050" y="5743575"/>
            <a:ext cx="2324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924300" y="5743575"/>
            <a:ext cx="533400" cy="171450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endParaRPr/>
          </a:p>
        </p:txBody>
      </p:sp>
      <p:sp>
        <p:nvSpPr>
          <p:cNvPr id="122" name="Rectangle 121"/>
          <p:cNvSpPr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3" name="TextBox 122"/>
          <p:cNvSpPr txBox="1"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4972050" y="5743575"/>
            <a:ext cx="11811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6210300" y="5743575"/>
            <a:ext cx="89535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162800" y="5743575"/>
            <a:ext cx="21336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9353550" y="5743575"/>
            <a:ext cx="2628900" cy="4381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28" name="Connector 127"/>
          <p:cNvCxnSpPr/>
          <p:nvPr/>
        </p:nvCxnSpPr>
        <p:spPr>
          <a:xfrm>
            <a:off x="190500" y="621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Rectangle 128"/>
          <p:cNvSpPr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TextBox 129"/>
          <p:cNvSpPr txBox="1"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514350" y="6257925"/>
            <a:ext cx="16192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M&amp;A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TextBox 132"/>
          <p:cNvSpPr txBox="1"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247775" y="6257925"/>
            <a:ext cx="16192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Product / portfolio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solidFill>
            <a:srgbClr val="6B7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TextBox 135"/>
          <p:cNvSpPr txBox="1"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EX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048000" y="6257925"/>
            <a:ext cx="16192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Expansion</a:t>
            </a:r>
          </a:p>
        </p:txBody>
      </p:sp>
      <p:sp>
        <p:nvSpPr>
          <p:cNvPr id="138" name="Rectangle 137"/>
          <p:cNvSpPr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9" name="TextBox 138"/>
          <p:cNvSpPr txBox="1"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RD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181475" y="6257925"/>
            <a:ext cx="16192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R&amp;D / technology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solidFill>
            <a:srgbClr val="C039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TextBox 141"/>
          <p:cNvSpPr txBox="1"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RG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781675" y="6257925"/>
            <a:ext cx="16192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Regulation / compliance</a:t>
            </a:r>
          </a:p>
        </p:txBody>
      </p:sp>
      <p:sp>
        <p:nvSpPr>
          <p:cNvPr id="144" name="Rectangle 143"/>
          <p:cNvSpPr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solidFill>
            <a:srgbClr val="17768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TextBox 144"/>
          <p:cNvSpPr txBox="1"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CP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848600" y="6257925"/>
            <a:ext cx="1619250" cy="1905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Capital / funding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0500" y="6457950"/>
            <a:ext cx="11811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Dates, deal values and evidence sources populate from the research feed; until then each row reads the player's most telling active strategy.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1278001"/>
            <a:ext cx="128699" cy="187198"/>
          </a:xfrm>
          <a:prstGeom prst="rect">
            <a:avLst/>
          </a:prstGeom>
        </p:spPr>
      </p:pic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1773301"/>
            <a:ext cx="128699" cy="187198"/>
          </a:xfrm>
          <a:prstGeom prst="rect">
            <a:avLst/>
          </a:prstGeom>
        </p:spPr>
      </p:pic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2268601"/>
            <a:ext cx="128699" cy="187198"/>
          </a:xfrm>
          <a:prstGeom prst="rect">
            <a:avLst/>
          </a:prstGeom>
        </p:spPr>
      </p:pic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2763901"/>
            <a:ext cx="128699" cy="187198"/>
          </a:xfrm>
          <a:prstGeom prst="rect">
            <a:avLst/>
          </a:prstGeom>
        </p:spPr>
      </p:pic>
      <p:pic>
        <p:nvPicPr>
          <p:cNvPr id="153" name="Picture 1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3259201"/>
            <a:ext cx="128699" cy="187198"/>
          </a:xfrm>
          <a:prstGeom prst="rect">
            <a:avLst/>
          </a:prstGeom>
        </p:spPr>
      </p:pic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3754501"/>
            <a:ext cx="128699" cy="187198"/>
          </a:xfrm>
          <a:prstGeom prst="rect">
            <a:avLst/>
          </a:prstGeom>
        </p:spPr>
      </p:pic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4249801"/>
            <a:ext cx="128699" cy="187198"/>
          </a:xfrm>
          <a:prstGeom prst="rect">
            <a:avLst/>
          </a:prstGeom>
        </p:spPr>
      </p:pic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4745101"/>
            <a:ext cx="128699" cy="187198"/>
          </a:xfrm>
          <a:prstGeom prst="rect">
            <a:avLst/>
          </a:prstGeom>
        </p:spPr>
      </p:pic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5240401"/>
            <a:ext cx="128699" cy="187198"/>
          </a:xfrm>
          <a:prstGeom prst="rect">
            <a:avLst/>
          </a:prstGeom>
        </p:spPr>
      </p:pic>
      <p:pic>
        <p:nvPicPr>
          <p:cNvPr id="158" name="Picture 1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26650" y="573570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Strategic Activity by Function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Where competitor activity concentrates by type and department, and what it means for each function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6383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85750" y="1600200"/>
            <a:ext cx="140970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90500" y="18859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85750" y="1847850"/>
            <a:ext cx="140970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90500" y="21336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285750" y="2095500"/>
            <a:ext cx="140970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90500" y="23812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85750" y="2343150"/>
            <a:ext cx="140970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90500" y="262890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85750" y="2590800"/>
            <a:ext cx="140970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0500" y="287655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85750" y="2838450"/>
            <a:ext cx="140970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90500" y="31242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285750" y="3086100"/>
            <a:ext cx="140970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90500" y="33718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285750" y="3333750"/>
            <a:ext cx="140970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90500" y="36195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285750" y="3581400"/>
            <a:ext cx="140970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90500" y="38671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285750" y="3829050"/>
            <a:ext cx="140970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714500" y="1047750"/>
            <a:ext cx="3302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Moves by type (count)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714500" y="1219200"/>
            <a:ext cx="550333" cy="3429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MA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264833" y="1219200"/>
            <a:ext cx="550333" cy="3429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815167" y="1219200"/>
            <a:ext cx="550333" cy="3429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EX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365500" y="1219200"/>
            <a:ext cx="550333" cy="3429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15833" y="1219200"/>
            <a:ext cx="550333" cy="3429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RG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466167" y="1219200"/>
            <a:ext cx="550333" cy="3429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CP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724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1714500" y="16097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274358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Rectangle 39"/>
          <p:cNvSpPr/>
          <p:nvPr/>
        </p:nvSpPr>
        <p:spPr>
          <a:xfrm>
            <a:off x="2824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2815167" y="16097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2" name="Rectangle 41"/>
          <p:cNvSpPr/>
          <p:nvPr/>
        </p:nvSpPr>
        <p:spPr>
          <a:xfrm>
            <a:off x="3375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3365500" y="16097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925358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5" name="TextBox 44"/>
          <p:cNvSpPr txBox="1"/>
          <p:nvPr/>
        </p:nvSpPr>
        <p:spPr>
          <a:xfrm>
            <a:off x="3915833" y="16097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6" name="Rectangle 45"/>
          <p:cNvSpPr/>
          <p:nvPr/>
        </p:nvSpPr>
        <p:spPr>
          <a:xfrm>
            <a:off x="4475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4466167" y="16097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8" name="Rectangle 47"/>
          <p:cNvSpPr/>
          <p:nvPr/>
        </p:nvSpPr>
        <p:spPr>
          <a:xfrm>
            <a:off x="1724025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2274358" y="18573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2264833" y="18573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2824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2815167" y="18573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375025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3365500" y="18573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925358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Rectangle 55"/>
          <p:cNvSpPr/>
          <p:nvPr/>
        </p:nvSpPr>
        <p:spPr>
          <a:xfrm>
            <a:off x="4475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4466167" y="18573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724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TextBox 58"/>
          <p:cNvSpPr txBox="1"/>
          <p:nvPr/>
        </p:nvSpPr>
        <p:spPr>
          <a:xfrm>
            <a:off x="1714500" y="21050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0" name="Rectangle 59"/>
          <p:cNvSpPr/>
          <p:nvPr/>
        </p:nvSpPr>
        <p:spPr>
          <a:xfrm>
            <a:off x="2274358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Rectangle 60"/>
          <p:cNvSpPr/>
          <p:nvPr/>
        </p:nvSpPr>
        <p:spPr>
          <a:xfrm>
            <a:off x="2824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2815167" y="21050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3375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3365500" y="21050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3925358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TextBox 65"/>
          <p:cNvSpPr txBox="1"/>
          <p:nvPr/>
        </p:nvSpPr>
        <p:spPr>
          <a:xfrm>
            <a:off x="3915833" y="21050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475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4466167" y="21050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724025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Rectangle 69"/>
          <p:cNvSpPr/>
          <p:nvPr/>
        </p:nvSpPr>
        <p:spPr>
          <a:xfrm>
            <a:off x="2274358" y="23526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TextBox 70"/>
          <p:cNvSpPr txBox="1"/>
          <p:nvPr/>
        </p:nvSpPr>
        <p:spPr>
          <a:xfrm>
            <a:off x="2264833" y="23526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824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TextBox 72"/>
          <p:cNvSpPr txBox="1"/>
          <p:nvPr/>
        </p:nvSpPr>
        <p:spPr>
          <a:xfrm>
            <a:off x="2815167" y="23526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4" name="Rectangle 73"/>
          <p:cNvSpPr/>
          <p:nvPr/>
        </p:nvSpPr>
        <p:spPr>
          <a:xfrm>
            <a:off x="3375025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TextBox 74"/>
          <p:cNvSpPr txBox="1"/>
          <p:nvPr/>
        </p:nvSpPr>
        <p:spPr>
          <a:xfrm>
            <a:off x="3365500" y="23526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6" name="Rectangle 75"/>
          <p:cNvSpPr/>
          <p:nvPr/>
        </p:nvSpPr>
        <p:spPr>
          <a:xfrm>
            <a:off x="3925358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4475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TextBox 77"/>
          <p:cNvSpPr txBox="1"/>
          <p:nvPr/>
        </p:nvSpPr>
        <p:spPr>
          <a:xfrm>
            <a:off x="4466167" y="23526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724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0" name="TextBox 79"/>
          <p:cNvSpPr txBox="1"/>
          <p:nvPr/>
        </p:nvSpPr>
        <p:spPr>
          <a:xfrm>
            <a:off x="1714500" y="26003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2274358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Rectangle 81"/>
          <p:cNvSpPr/>
          <p:nvPr/>
        </p:nvSpPr>
        <p:spPr>
          <a:xfrm>
            <a:off x="2824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TextBox 82"/>
          <p:cNvSpPr txBox="1"/>
          <p:nvPr/>
        </p:nvSpPr>
        <p:spPr>
          <a:xfrm>
            <a:off x="2815167" y="26003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4" name="Rectangle 83"/>
          <p:cNvSpPr/>
          <p:nvPr/>
        </p:nvSpPr>
        <p:spPr>
          <a:xfrm>
            <a:off x="3375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TextBox 84"/>
          <p:cNvSpPr txBox="1"/>
          <p:nvPr/>
        </p:nvSpPr>
        <p:spPr>
          <a:xfrm>
            <a:off x="3365500" y="26003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6" name="Rectangle 85"/>
          <p:cNvSpPr/>
          <p:nvPr/>
        </p:nvSpPr>
        <p:spPr>
          <a:xfrm>
            <a:off x="3925358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TextBox 86"/>
          <p:cNvSpPr txBox="1"/>
          <p:nvPr/>
        </p:nvSpPr>
        <p:spPr>
          <a:xfrm>
            <a:off x="3915833" y="26003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8" name="Rectangle 87"/>
          <p:cNvSpPr/>
          <p:nvPr/>
        </p:nvSpPr>
        <p:spPr>
          <a:xfrm>
            <a:off x="4475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TextBox 88"/>
          <p:cNvSpPr txBox="1"/>
          <p:nvPr/>
        </p:nvSpPr>
        <p:spPr>
          <a:xfrm>
            <a:off x="4466167" y="26003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724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Rectangle 90"/>
          <p:cNvSpPr/>
          <p:nvPr/>
        </p:nvSpPr>
        <p:spPr>
          <a:xfrm>
            <a:off x="2274358" y="28479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TextBox 91"/>
          <p:cNvSpPr txBox="1"/>
          <p:nvPr/>
        </p:nvSpPr>
        <p:spPr>
          <a:xfrm>
            <a:off x="2264833" y="28479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2824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4" name="TextBox 93"/>
          <p:cNvSpPr txBox="1"/>
          <p:nvPr/>
        </p:nvSpPr>
        <p:spPr>
          <a:xfrm>
            <a:off x="2815167" y="28479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375025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6" name="TextBox 95"/>
          <p:cNvSpPr txBox="1"/>
          <p:nvPr/>
        </p:nvSpPr>
        <p:spPr>
          <a:xfrm>
            <a:off x="3365500" y="28479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7" name="Rectangle 96"/>
          <p:cNvSpPr/>
          <p:nvPr/>
        </p:nvSpPr>
        <p:spPr>
          <a:xfrm>
            <a:off x="3925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Rectangle 97"/>
          <p:cNvSpPr/>
          <p:nvPr/>
        </p:nvSpPr>
        <p:spPr>
          <a:xfrm>
            <a:off x="4475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TextBox 98"/>
          <p:cNvSpPr txBox="1"/>
          <p:nvPr/>
        </p:nvSpPr>
        <p:spPr>
          <a:xfrm>
            <a:off x="4466167" y="28479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724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TextBox 100"/>
          <p:cNvSpPr txBox="1"/>
          <p:nvPr/>
        </p:nvSpPr>
        <p:spPr>
          <a:xfrm>
            <a:off x="1714500" y="30956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274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Rectangle 102"/>
          <p:cNvSpPr/>
          <p:nvPr/>
        </p:nvSpPr>
        <p:spPr>
          <a:xfrm>
            <a:off x="2824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4" name="TextBox 103"/>
          <p:cNvSpPr txBox="1"/>
          <p:nvPr/>
        </p:nvSpPr>
        <p:spPr>
          <a:xfrm>
            <a:off x="2815167" y="30956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375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TextBox 105"/>
          <p:cNvSpPr txBox="1"/>
          <p:nvPr/>
        </p:nvSpPr>
        <p:spPr>
          <a:xfrm>
            <a:off x="3365500" y="30956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3925358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TextBox 107"/>
          <p:cNvSpPr txBox="1"/>
          <p:nvPr/>
        </p:nvSpPr>
        <p:spPr>
          <a:xfrm>
            <a:off x="3915833" y="30956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475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0" name="TextBox 109"/>
          <p:cNvSpPr txBox="1"/>
          <p:nvPr/>
        </p:nvSpPr>
        <p:spPr>
          <a:xfrm>
            <a:off x="4466167" y="30956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724025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Rectangle 111"/>
          <p:cNvSpPr/>
          <p:nvPr/>
        </p:nvSpPr>
        <p:spPr>
          <a:xfrm>
            <a:off x="2274358" y="33432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TextBox 112"/>
          <p:cNvSpPr txBox="1"/>
          <p:nvPr/>
        </p:nvSpPr>
        <p:spPr>
          <a:xfrm>
            <a:off x="2264833" y="33432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2824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TextBox 114"/>
          <p:cNvSpPr txBox="1"/>
          <p:nvPr/>
        </p:nvSpPr>
        <p:spPr>
          <a:xfrm>
            <a:off x="2815167" y="33432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3375025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TextBox 116"/>
          <p:cNvSpPr txBox="1"/>
          <p:nvPr/>
        </p:nvSpPr>
        <p:spPr>
          <a:xfrm>
            <a:off x="3365500" y="33432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3925358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Rectangle 118"/>
          <p:cNvSpPr/>
          <p:nvPr/>
        </p:nvSpPr>
        <p:spPr>
          <a:xfrm>
            <a:off x="4475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TextBox 119"/>
          <p:cNvSpPr txBox="1"/>
          <p:nvPr/>
        </p:nvSpPr>
        <p:spPr>
          <a:xfrm>
            <a:off x="4466167" y="33432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724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TextBox 121"/>
          <p:cNvSpPr txBox="1"/>
          <p:nvPr/>
        </p:nvSpPr>
        <p:spPr>
          <a:xfrm>
            <a:off x="1714500" y="35909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2274358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Rectangle 123"/>
          <p:cNvSpPr/>
          <p:nvPr/>
        </p:nvSpPr>
        <p:spPr>
          <a:xfrm>
            <a:off x="2824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5" name="TextBox 124"/>
          <p:cNvSpPr txBox="1"/>
          <p:nvPr/>
        </p:nvSpPr>
        <p:spPr>
          <a:xfrm>
            <a:off x="2815167" y="35909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3375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TextBox 126"/>
          <p:cNvSpPr txBox="1"/>
          <p:nvPr/>
        </p:nvSpPr>
        <p:spPr>
          <a:xfrm>
            <a:off x="3365500" y="35909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3925358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9" name="TextBox 128"/>
          <p:cNvSpPr txBox="1"/>
          <p:nvPr/>
        </p:nvSpPr>
        <p:spPr>
          <a:xfrm>
            <a:off x="3915833" y="35909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4475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1" name="TextBox 130"/>
          <p:cNvSpPr txBox="1"/>
          <p:nvPr/>
        </p:nvSpPr>
        <p:spPr>
          <a:xfrm>
            <a:off x="4466167" y="35909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724025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Rectangle 132"/>
          <p:cNvSpPr/>
          <p:nvPr/>
        </p:nvSpPr>
        <p:spPr>
          <a:xfrm>
            <a:off x="2274358" y="38385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4" name="TextBox 133"/>
          <p:cNvSpPr txBox="1"/>
          <p:nvPr/>
        </p:nvSpPr>
        <p:spPr>
          <a:xfrm>
            <a:off x="2264833" y="38385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824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TextBox 135"/>
          <p:cNvSpPr txBox="1"/>
          <p:nvPr/>
        </p:nvSpPr>
        <p:spPr>
          <a:xfrm>
            <a:off x="2815167" y="38385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3375025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8" name="TextBox 137"/>
          <p:cNvSpPr txBox="1"/>
          <p:nvPr/>
        </p:nvSpPr>
        <p:spPr>
          <a:xfrm>
            <a:off x="3365500" y="38385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3925358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Rectangle 139"/>
          <p:cNvSpPr/>
          <p:nvPr/>
        </p:nvSpPr>
        <p:spPr>
          <a:xfrm>
            <a:off x="4475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TextBox 140"/>
          <p:cNvSpPr txBox="1"/>
          <p:nvPr/>
        </p:nvSpPr>
        <p:spPr>
          <a:xfrm>
            <a:off x="4466167" y="38385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5207000" y="1047750"/>
            <a:ext cx="3302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department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207000" y="1219200"/>
            <a:ext cx="8255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Product &amp; R&amp;D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032500" y="1219200"/>
            <a:ext cx="8255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Corp. dev.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6858000" y="1219200"/>
            <a:ext cx="8255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Operations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83500" y="1219200"/>
            <a:ext cx="8255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Legal &amp; reg.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5216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8" name="TextBox 147"/>
          <p:cNvSpPr txBox="1"/>
          <p:nvPr/>
        </p:nvSpPr>
        <p:spPr>
          <a:xfrm>
            <a:off x="5207000" y="16097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6042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0" name="TextBox 149"/>
          <p:cNvSpPr txBox="1"/>
          <p:nvPr/>
        </p:nvSpPr>
        <p:spPr>
          <a:xfrm>
            <a:off x="6032500" y="16097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867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TextBox 151"/>
          <p:cNvSpPr txBox="1"/>
          <p:nvPr/>
        </p:nvSpPr>
        <p:spPr>
          <a:xfrm>
            <a:off x="6858000" y="16097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693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TextBox 153"/>
          <p:cNvSpPr txBox="1"/>
          <p:nvPr/>
        </p:nvSpPr>
        <p:spPr>
          <a:xfrm>
            <a:off x="7683500" y="16097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5216525" y="18573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6" name="TextBox 155"/>
          <p:cNvSpPr txBox="1"/>
          <p:nvPr/>
        </p:nvSpPr>
        <p:spPr>
          <a:xfrm>
            <a:off x="5207000" y="18573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6042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Rectangle 157"/>
          <p:cNvSpPr/>
          <p:nvPr/>
        </p:nvSpPr>
        <p:spPr>
          <a:xfrm>
            <a:off x="6867525" y="18573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9" name="TextBox 158"/>
          <p:cNvSpPr txBox="1"/>
          <p:nvPr/>
        </p:nvSpPr>
        <p:spPr>
          <a:xfrm>
            <a:off x="6858000" y="18573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0" name="Rectangle 159"/>
          <p:cNvSpPr/>
          <p:nvPr/>
        </p:nvSpPr>
        <p:spPr>
          <a:xfrm>
            <a:off x="7693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1" name="Rectangle 160"/>
          <p:cNvSpPr/>
          <p:nvPr/>
        </p:nvSpPr>
        <p:spPr>
          <a:xfrm>
            <a:off x="5216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2" name="TextBox 161"/>
          <p:cNvSpPr txBox="1"/>
          <p:nvPr/>
        </p:nvSpPr>
        <p:spPr>
          <a:xfrm>
            <a:off x="5207000" y="21050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042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TextBox 163"/>
          <p:cNvSpPr txBox="1"/>
          <p:nvPr/>
        </p:nvSpPr>
        <p:spPr>
          <a:xfrm>
            <a:off x="6032500" y="21050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6867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TextBox 165"/>
          <p:cNvSpPr txBox="1"/>
          <p:nvPr/>
        </p:nvSpPr>
        <p:spPr>
          <a:xfrm>
            <a:off x="6858000" y="21050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7693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8" name="TextBox 167"/>
          <p:cNvSpPr txBox="1"/>
          <p:nvPr/>
        </p:nvSpPr>
        <p:spPr>
          <a:xfrm>
            <a:off x="7683500" y="21050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5216525" y="23526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0" name="TextBox 169"/>
          <p:cNvSpPr txBox="1"/>
          <p:nvPr/>
        </p:nvSpPr>
        <p:spPr>
          <a:xfrm>
            <a:off x="5207000" y="23526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6042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2" name="Rectangle 171"/>
          <p:cNvSpPr/>
          <p:nvPr/>
        </p:nvSpPr>
        <p:spPr>
          <a:xfrm>
            <a:off x="6867525" y="23526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3" name="TextBox 172"/>
          <p:cNvSpPr txBox="1"/>
          <p:nvPr/>
        </p:nvSpPr>
        <p:spPr>
          <a:xfrm>
            <a:off x="6858000" y="23526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7693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5" name="Rectangle 174"/>
          <p:cNvSpPr/>
          <p:nvPr/>
        </p:nvSpPr>
        <p:spPr>
          <a:xfrm>
            <a:off x="5216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6" name="TextBox 175"/>
          <p:cNvSpPr txBox="1"/>
          <p:nvPr/>
        </p:nvSpPr>
        <p:spPr>
          <a:xfrm>
            <a:off x="5207000" y="26003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6042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8" name="TextBox 177"/>
          <p:cNvSpPr txBox="1"/>
          <p:nvPr/>
        </p:nvSpPr>
        <p:spPr>
          <a:xfrm>
            <a:off x="6032500" y="26003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867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0" name="TextBox 179"/>
          <p:cNvSpPr txBox="1"/>
          <p:nvPr/>
        </p:nvSpPr>
        <p:spPr>
          <a:xfrm>
            <a:off x="6858000" y="26003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693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2" name="TextBox 181"/>
          <p:cNvSpPr txBox="1"/>
          <p:nvPr/>
        </p:nvSpPr>
        <p:spPr>
          <a:xfrm>
            <a:off x="7683500" y="26003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5216525" y="28479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4" name="TextBox 183"/>
          <p:cNvSpPr txBox="1"/>
          <p:nvPr/>
        </p:nvSpPr>
        <p:spPr>
          <a:xfrm>
            <a:off x="5207000" y="28479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6042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6" name="Rectangle 185"/>
          <p:cNvSpPr/>
          <p:nvPr/>
        </p:nvSpPr>
        <p:spPr>
          <a:xfrm>
            <a:off x="6867525" y="28479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7" name="TextBox 186"/>
          <p:cNvSpPr txBox="1"/>
          <p:nvPr/>
        </p:nvSpPr>
        <p:spPr>
          <a:xfrm>
            <a:off x="6858000" y="28479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7693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9" name="Rectangle 188"/>
          <p:cNvSpPr/>
          <p:nvPr/>
        </p:nvSpPr>
        <p:spPr>
          <a:xfrm>
            <a:off x="5216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0" name="TextBox 189"/>
          <p:cNvSpPr txBox="1"/>
          <p:nvPr/>
        </p:nvSpPr>
        <p:spPr>
          <a:xfrm>
            <a:off x="5207000" y="30956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042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2" name="TextBox 191"/>
          <p:cNvSpPr txBox="1"/>
          <p:nvPr/>
        </p:nvSpPr>
        <p:spPr>
          <a:xfrm>
            <a:off x="6032500" y="30956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6867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4" name="TextBox 193"/>
          <p:cNvSpPr txBox="1"/>
          <p:nvPr/>
        </p:nvSpPr>
        <p:spPr>
          <a:xfrm>
            <a:off x="6858000" y="30956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7693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6" name="TextBox 195"/>
          <p:cNvSpPr txBox="1"/>
          <p:nvPr/>
        </p:nvSpPr>
        <p:spPr>
          <a:xfrm>
            <a:off x="7683500" y="30956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5216525" y="33432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8" name="TextBox 197"/>
          <p:cNvSpPr txBox="1"/>
          <p:nvPr/>
        </p:nvSpPr>
        <p:spPr>
          <a:xfrm>
            <a:off x="5207000" y="33432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042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0" name="Rectangle 199"/>
          <p:cNvSpPr/>
          <p:nvPr/>
        </p:nvSpPr>
        <p:spPr>
          <a:xfrm>
            <a:off x="6867525" y="33432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1" name="TextBox 200"/>
          <p:cNvSpPr txBox="1"/>
          <p:nvPr/>
        </p:nvSpPr>
        <p:spPr>
          <a:xfrm>
            <a:off x="6858000" y="33432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2" name="Rectangle 201"/>
          <p:cNvSpPr/>
          <p:nvPr/>
        </p:nvSpPr>
        <p:spPr>
          <a:xfrm>
            <a:off x="7693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3" name="Rectangle 202"/>
          <p:cNvSpPr/>
          <p:nvPr/>
        </p:nvSpPr>
        <p:spPr>
          <a:xfrm>
            <a:off x="5216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4" name="TextBox 203"/>
          <p:cNvSpPr txBox="1"/>
          <p:nvPr/>
        </p:nvSpPr>
        <p:spPr>
          <a:xfrm>
            <a:off x="5207000" y="35909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6042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6" name="TextBox 205"/>
          <p:cNvSpPr txBox="1"/>
          <p:nvPr/>
        </p:nvSpPr>
        <p:spPr>
          <a:xfrm>
            <a:off x="6032500" y="35909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6867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8" name="TextBox 207"/>
          <p:cNvSpPr txBox="1"/>
          <p:nvPr/>
        </p:nvSpPr>
        <p:spPr>
          <a:xfrm>
            <a:off x="6858000" y="35909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7693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0" name="TextBox 209"/>
          <p:cNvSpPr txBox="1"/>
          <p:nvPr/>
        </p:nvSpPr>
        <p:spPr>
          <a:xfrm>
            <a:off x="7683500" y="359092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5216525" y="38385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2" name="TextBox 211"/>
          <p:cNvSpPr txBox="1"/>
          <p:nvPr/>
        </p:nvSpPr>
        <p:spPr>
          <a:xfrm>
            <a:off x="5207000" y="38385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6042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4" name="Rectangle 213"/>
          <p:cNvSpPr/>
          <p:nvPr/>
        </p:nvSpPr>
        <p:spPr>
          <a:xfrm>
            <a:off x="6867525" y="38385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5" name="TextBox 214"/>
          <p:cNvSpPr txBox="1"/>
          <p:nvPr/>
        </p:nvSpPr>
        <p:spPr>
          <a:xfrm>
            <a:off x="6858000" y="3838575"/>
            <a:ext cx="8255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6" name="Rectangle 215"/>
          <p:cNvSpPr/>
          <p:nvPr/>
        </p:nvSpPr>
        <p:spPr>
          <a:xfrm>
            <a:off x="7693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7" name="TextBox 216"/>
          <p:cNvSpPr txBox="1"/>
          <p:nvPr/>
        </p:nvSpPr>
        <p:spPr>
          <a:xfrm>
            <a:off x="8699500" y="1047750"/>
            <a:ext cx="3302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region of activity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8657960" y="1219200"/>
            <a:ext cx="633412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Germany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9249833" y="1219200"/>
            <a:ext cx="550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United Kingdom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9800167" y="1219200"/>
            <a:ext cx="550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France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10350500" y="1219200"/>
            <a:ext cx="550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Italy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10900833" y="1219200"/>
            <a:ext cx="550333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Spain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11317949" y="1219200"/>
            <a:ext cx="816769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Netherlands</a:t>
            </a:r>
          </a:p>
        </p:txBody>
      </p:sp>
      <p:sp>
        <p:nvSpPr>
          <p:cNvPr id="224" name="Rectangle 223"/>
          <p:cNvSpPr/>
          <p:nvPr/>
        </p:nvSpPr>
        <p:spPr>
          <a:xfrm>
            <a:off x="8709025" y="16097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5" name="TextBox 224"/>
          <p:cNvSpPr txBox="1"/>
          <p:nvPr/>
        </p:nvSpPr>
        <p:spPr>
          <a:xfrm>
            <a:off x="8699500" y="16097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6" name="Rectangle 225"/>
          <p:cNvSpPr/>
          <p:nvPr/>
        </p:nvSpPr>
        <p:spPr>
          <a:xfrm>
            <a:off x="9259358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7" name="TextBox 226"/>
          <p:cNvSpPr txBox="1"/>
          <p:nvPr/>
        </p:nvSpPr>
        <p:spPr>
          <a:xfrm>
            <a:off x="9249833" y="16097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28" name="Rectangle 227"/>
          <p:cNvSpPr/>
          <p:nvPr/>
        </p:nvSpPr>
        <p:spPr>
          <a:xfrm>
            <a:off x="9809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9" name="TextBox 228"/>
          <p:cNvSpPr txBox="1"/>
          <p:nvPr/>
        </p:nvSpPr>
        <p:spPr>
          <a:xfrm>
            <a:off x="9800167" y="16097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30" name="Rectangle 229"/>
          <p:cNvSpPr/>
          <p:nvPr/>
        </p:nvSpPr>
        <p:spPr>
          <a:xfrm>
            <a:off x="10360025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1" name="Rectangle 230"/>
          <p:cNvSpPr/>
          <p:nvPr/>
        </p:nvSpPr>
        <p:spPr>
          <a:xfrm>
            <a:off x="10910358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2" name="Rectangle 231"/>
          <p:cNvSpPr/>
          <p:nvPr/>
        </p:nvSpPr>
        <p:spPr>
          <a:xfrm>
            <a:off x="11460692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3" name="Rectangle 232"/>
          <p:cNvSpPr/>
          <p:nvPr/>
        </p:nvSpPr>
        <p:spPr>
          <a:xfrm>
            <a:off x="8709025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4" name="Rectangle 233"/>
          <p:cNvSpPr/>
          <p:nvPr/>
        </p:nvSpPr>
        <p:spPr>
          <a:xfrm>
            <a:off x="9259358" y="18573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5" name="TextBox 234"/>
          <p:cNvSpPr txBox="1"/>
          <p:nvPr/>
        </p:nvSpPr>
        <p:spPr>
          <a:xfrm>
            <a:off x="9249833" y="18573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6" name="Rectangle 235"/>
          <p:cNvSpPr/>
          <p:nvPr/>
        </p:nvSpPr>
        <p:spPr>
          <a:xfrm>
            <a:off x="9809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7" name="TextBox 236"/>
          <p:cNvSpPr txBox="1"/>
          <p:nvPr/>
        </p:nvSpPr>
        <p:spPr>
          <a:xfrm>
            <a:off x="9800167" y="18573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38" name="Rectangle 237"/>
          <p:cNvSpPr/>
          <p:nvPr/>
        </p:nvSpPr>
        <p:spPr>
          <a:xfrm>
            <a:off x="10360025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9" name="TextBox 238"/>
          <p:cNvSpPr txBox="1"/>
          <p:nvPr/>
        </p:nvSpPr>
        <p:spPr>
          <a:xfrm>
            <a:off x="10350500" y="18573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40" name="Rectangle 239"/>
          <p:cNvSpPr/>
          <p:nvPr/>
        </p:nvSpPr>
        <p:spPr>
          <a:xfrm>
            <a:off x="10910358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1" name="Rectangle 240"/>
          <p:cNvSpPr/>
          <p:nvPr/>
        </p:nvSpPr>
        <p:spPr>
          <a:xfrm>
            <a:off x="11460692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2" name="Rectangle 241"/>
          <p:cNvSpPr/>
          <p:nvPr/>
        </p:nvSpPr>
        <p:spPr>
          <a:xfrm>
            <a:off x="8709025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3" name="Rectangle 242"/>
          <p:cNvSpPr/>
          <p:nvPr/>
        </p:nvSpPr>
        <p:spPr>
          <a:xfrm>
            <a:off x="9259358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4" name="Rectangle 243"/>
          <p:cNvSpPr/>
          <p:nvPr/>
        </p:nvSpPr>
        <p:spPr>
          <a:xfrm>
            <a:off x="9809692" y="21050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5" name="TextBox 244"/>
          <p:cNvSpPr txBox="1"/>
          <p:nvPr/>
        </p:nvSpPr>
        <p:spPr>
          <a:xfrm>
            <a:off x="9800167" y="21050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46" name="Rectangle 245"/>
          <p:cNvSpPr/>
          <p:nvPr/>
        </p:nvSpPr>
        <p:spPr>
          <a:xfrm>
            <a:off x="10360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7" name="TextBox 246"/>
          <p:cNvSpPr txBox="1"/>
          <p:nvPr/>
        </p:nvSpPr>
        <p:spPr>
          <a:xfrm>
            <a:off x="10350500" y="21050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48" name="Rectangle 247"/>
          <p:cNvSpPr/>
          <p:nvPr/>
        </p:nvSpPr>
        <p:spPr>
          <a:xfrm>
            <a:off x="10910358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9" name="TextBox 248"/>
          <p:cNvSpPr txBox="1"/>
          <p:nvPr/>
        </p:nvSpPr>
        <p:spPr>
          <a:xfrm>
            <a:off x="10900833" y="21050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50" name="Rectangle 249"/>
          <p:cNvSpPr/>
          <p:nvPr/>
        </p:nvSpPr>
        <p:spPr>
          <a:xfrm>
            <a:off x="11460692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1" name="Rectangle 250"/>
          <p:cNvSpPr/>
          <p:nvPr/>
        </p:nvSpPr>
        <p:spPr>
          <a:xfrm>
            <a:off x="8709025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2" name="Rectangle 251"/>
          <p:cNvSpPr/>
          <p:nvPr/>
        </p:nvSpPr>
        <p:spPr>
          <a:xfrm>
            <a:off x="9259358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3" name="Rectangle 252"/>
          <p:cNvSpPr/>
          <p:nvPr/>
        </p:nvSpPr>
        <p:spPr>
          <a:xfrm>
            <a:off x="9809692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4" name="Rectangle 253"/>
          <p:cNvSpPr/>
          <p:nvPr/>
        </p:nvSpPr>
        <p:spPr>
          <a:xfrm>
            <a:off x="10360025" y="23526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5" name="TextBox 254"/>
          <p:cNvSpPr txBox="1"/>
          <p:nvPr/>
        </p:nvSpPr>
        <p:spPr>
          <a:xfrm>
            <a:off x="10350500" y="23526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56" name="Rectangle 255"/>
          <p:cNvSpPr/>
          <p:nvPr/>
        </p:nvSpPr>
        <p:spPr>
          <a:xfrm>
            <a:off x="10910358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7" name="TextBox 256"/>
          <p:cNvSpPr txBox="1"/>
          <p:nvPr/>
        </p:nvSpPr>
        <p:spPr>
          <a:xfrm>
            <a:off x="10900833" y="23526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58" name="Rectangle 257"/>
          <p:cNvSpPr/>
          <p:nvPr/>
        </p:nvSpPr>
        <p:spPr>
          <a:xfrm>
            <a:off x="11460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9" name="TextBox 258"/>
          <p:cNvSpPr txBox="1"/>
          <p:nvPr/>
        </p:nvSpPr>
        <p:spPr>
          <a:xfrm>
            <a:off x="11451167" y="23526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60" name="Rectangle 259"/>
          <p:cNvSpPr/>
          <p:nvPr/>
        </p:nvSpPr>
        <p:spPr>
          <a:xfrm>
            <a:off x="8709025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1" name="Rectangle 260"/>
          <p:cNvSpPr/>
          <p:nvPr/>
        </p:nvSpPr>
        <p:spPr>
          <a:xfrm>
            <a:off x="9259358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2" name="Rectangle 261"/>
          <p:cNvSpPr/>
          <p:nvPr/>
        </p:nvSpPr>
        <p:spPr>
          <a:xfrm>
            <a:off x="9809692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3" name="Rectangle 262"/>
          <p:cNvSpPr/>
          <p:nvPr/>
        </p:nvSpPr>
        <p:spPr>
          <a:xfrm>
            <a:off x="10360025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4" name="Rectangle 263"/>
          <p:cNvSpPr/>
          <p:nvPr/>
        </p:nvSpPr>
        <p:spPr>
          <a:xfrm>
            <a:off x="10910358" y="26003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5" name="TextBox 264"/>
          <p:cNvSpPr txBox="1"/>
          <p:nvPr/>
        </p:nvSpPr>
        <p:spPr>
          <a:xfrm>
            <a:off x="10900833" y="26003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66" name="Rectangle 265"/>
          <p:cNvSpPr/>
          <p:nvPr/>
        </p:nvSpPr>
        <p:spPr>
          <a:xfrm>
            <a:off x="11460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7" name="TextBox 266"/>
          <p:cNvSpPr txBox="1"/>
          <p:nvPr/>
        </p:nvSpPr>
        <p:spPr>
          <a:xfrm>
            <a:off x="11451167" y="26003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68" name="Rectangle 267"/>
          <p:cNvSpPr/>
          <p:nvPr/>
        </p:nvSpPr>
        <p:spPr>
          <a:xfrm>
            <a:off x="8709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9" name="Rectangle 268"/>
          <p:cNvSpPr/>
          <p:nvPr/>
        </p:nvSpPr>
        <p:spPr>
          <a:xfrm>
            <a:off x="9259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0" name="Rectangle 269"/>
          <p:cNvSpPr/>
          <p:nvPr/>
        </p:nvSpPr>
        <p:spPr>
          <a:xfrm>
            <a:off x="9809692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1" name="Rectangle 270"/>
          <p:cNvSpPr/>
          <p:nvPr/>
        </p:nvSpPr>
        <p:spPr>
          <a:xfrm>
            <a:off x="10360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2" name="Rectangle 271"/>
          <p:cNvSpPr/>
          <p:nvPr/>
        </p:nvSpPr>
        <p:spPr>
          <a:xfrm>
            <a:off x="10910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3" name="Rectangle 272"/>
          <p:cNvSpPr/>
          <p:nvPr/>
        </p:nvSpPr>
        <p:spPr>
          <a:xfrm>
            <a:off x="11460692" y="28479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4" name="TextBox 273"/>
          <p:cNvSpPr txBox="1"/>
          <p:nvPr/>
        </p:nvSpPr>
        <p:spPr>
          <a:xfrm>
            <a:off x="11451167" y="28479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8709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6" name="TextBox 275"/>
          <p:cNvSpPr txBox="1"/>
          <p:nvPr/>
        </p:nvSpPr>
        <p:spPr>
          <a:xfrm>
            <a:off x="8699500" y="30956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9259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8" name="Rectangle 277"/>
          <p:cNvSpPr/>
          <p:nvPr/>
        </p:nvSpPr>
        <p:spPr>
          <a:xfrm>
            <a:off x="9809692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9" name="Rectangle 278"/>
          <p:cNvSpPr/>
          <p:nvPr/>
        </p:nvSpPr>
        <p:spPr>
          <a:xfrm>
            <a:off x="10360025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0" name="Rectangle 279"/>
          <p:cNvSpPr/>
          <p:nvPr/>
        </p:nvSpPr>
        <p:spPr>
          <a:xfrm>
            <a:off x="10910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1" name="Rectangle 280"/>
          <p:cNvSpPr/>
          <p:nvPr/>
        </p:nvSpPr>
        <p:spPr>
          <a:xfrm>
            <a:off x="11460692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2" name="Rectangle 281"/>
          <p:cNvSpPr/>
          <p:nvPr/>
        </p:nvSpPr>
        <p:spPr>
          <a:xfrm>
            <a:off x="8709025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3" name="TextBox 282"/>
          <p:cNvSpPr txBox="1"/>
          <p:nvPr/>
        </p:nvSpPr>
        <p:spPr>
          <a:xfrm>
            <a:off x="8699500" y="33432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84" name="Rectangle 283"/>
          <p:cNvSpPr/>
          <p:nvPr/>
        </p:nvSpPr>
        <p:spPr>
          <a:xfrm>
            <a:off x="9259358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5" name="TextBox 284"/>
          <p:cNvSpPr txBox="1"/>
          <p:nvPr/>
        </p:nvSpPr>
        <p:spPr>
          <a:xfrm>
            <a:off x="9249833" y="33432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86" name="Rectangle 285"/>
          <p:cNvSpPr/>
          <p:nvPr/>
        </p:nvSpPr>
        <p:spPr>
          <a:xfrm>
            <a:off x="9809692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7" name="Rectangle 286"/>
          <p:cNvSpPr/>
          <p:nvPr/>
        </p:nvSpPr>
        <p:spPr>
          <a:xfrm>
            <a:off x="10360025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8" name="Rectangle 287"/>
          <p:cNvSpPr/>
          <p:nvPr/>
        </p:nvSpPr>
        <p:spPr>
          <a:xfrm>
            <a:off x="10910358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9" name="Rectangle 288"/>
          <p:cNvSpPr/>
          <p:nvPr/>
        </p:nvSpPr>
        <p:spPr>
          <a:xfrm>
            <a:off x="11460692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0" name="Rectangle 289"/>
          <p:cNvSpPr/>
          <p:nvPr/>
        </p:nvSpPr>
        <p:spPr>
          <a:xfrm>
            <a:off x="8709025" y="359092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1" name="TextBox 290"/>
          <p:cNvSpPr txBox="1"/>
          <p:nvPr/>
        </p:nvSpPr>
        <p:spPr>
          <a:xfrm>
            <a:off x="8699500" y="35909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92" name="Rectangle 291"/>
          <p:cNvSpPr/>
          <p:nvPr/>
        </p:nvSpPr>
        <p:spPr>
          <a:xfrm>
            <a:off x="9259358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3" name="TextBox 292"/>
          <p:cNvSpPr txBox="1"/>
          <p:nvPr/>
        </p:nvSpPr>
        <p:spPr>
          <a:xfrm>
            <a:off x="9249833" y="35909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94" name="Rectangle 293"/>
          <p:cNvSpPr/>
          <p:nvPr/>
        </p:nvSpPr>
        <p:spPr>
          <a:xfrm>
            <a:off x="9809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5" name="TextBox 294"/>
          <p:cNvSpPr txBox="1"/>
          <p:nvPr/>
        </p:nvSpPr>
        <p:spPr>
          <a:xfrm>
            <a:off x="9800167" y="359092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96" name="Rectangle 295"/>
          <p:cNvSpPr/>
          <p:nvPr/>
        </p:nvSpPr>
        <p:spPr>
          <a:xfrm>
            <a:off x="10360025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7" name="Rectangle 296"/>
          <p:cNvSpPr/>
          <p:nvPr/>
        </p:nvSpPr>
        <p:spPr>
          <a:xfrm>
            <a:off x="10910358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8" name="Rectangle 297"/>
          <p:cNvSpPr/>
          <p:nvPr/>
        </p:nvSpPr>
        <p:spPr>
          <a:xfrm>
            <a:off x="11460692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9" name="Rectangle 298"/>
          <p:cNvSpPr/>
          <p:nvPr/>
        </p:nvSpPr>
        <p:spPr>
          <a:xfrm>
            <a:off x="8709025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0" name="Rectangle 299"/>
          <p:cNvSpPr/>
          <p:nvPr/>
        </p:nvSpPr>
        <p:spPr>
          <a:xfrm>
            <a:off x="9259358" y="38385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1" name="TextBox 300"/>
          <p:cNvSpPr txBox="1"/>
          <p:nvPr/>
        </p:nvSpPr>
        <p:spPr>
          <a:xfrm>
            <a:off x="9249833" y="38385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302" name="Rectangle 301"/>
          <p:cNvSpPr/>
          <p:nvPr/>
        </p:nvSpPr>
        <p:spPr>
          <a:xfrm>
            <a:off x="9809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3" name="TextBox 302"/>
          <p:cNvSpPr txBox="1"/>
          <p:nvPr/>
        </p:nvSpPr>
        <p:spPr>
          <a:xfrm>
            <a:off x="9800167" y="38385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04" name="Rectangle 303"/>
          <p:cNvSpPr/>
          <p:nvPr/>
        </p:nvSpPr>
        <p:spPr>
          <a:xfrm>
            <a:off x="10360025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5" name="TextBox 304"/>
          <p:cNvSpPr txBox="1"/>
          <p:nvPr/>
        </p:nvSpPr>
        <p:spPr>
          <a:xfrm>
            <a:off x="10350500" y="3838575"/>
            <a:ext cx="550333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06" name="Rectangle 305"/>
          <p:cNvSpPr/>
          <p:nvPr/>
        </p:nvSpPr>
        <p:spPr>
          <a:xfrm>
            <a:off x="10910358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7" name="Rectangle 306"/>
          <p:cNvSpPr/>
          <p:nvPr/>
        </p:nvSpPr>
        <p:spPr>
          <a:xfrm>
            <a:off x="11460692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8" name="Rectangle 307"/>
          <p:cNvSpPr/>
          <p:nvPr/>
        </p:nvSpPr>
        <p:spPr>
          <a:xfrm>
            <a:off x="190500" y="4171950"/>
            <a:ext cx="209550" cy="123825"/>
          </a:xfrm>
          <a:prstGeom prst="rect">
            <a:avLst/>
          </a:prstGeom>
          <a:solidFill>
            <a:srgbClr val="CFE0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9" name="TextBox 308"/>
          <p:cNvSpPr txBox="1"/>
          <p:nvPr/>
        </p:nvSpPr>
        <p:spPr>
          <a:xfrm>
            <a:off x="438150" y="4133850"/>
            <a:ext cx="1047750" cy="1905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1 move</a:t>
            </a:r>
          </a:p>
        </p:txBody>
      </p:sp>
      <p:sp>
        <p:nvSpPr>
          <p:cNvPr id="310" name="Rectangle 309"/>
          <p:cNvSpPr/>
          <p:nvPr/>
        </p:nvSpPr>
        <p:spPr>
          <a:xfrm>
            <a:off x="1238250" y="4171950"/>
            <a:ext cx="209550" cy="123825"/>
          </a:xfrm>
          <a:prstGeom prst="rect">
            <a:avLst/>
          </a:prstGeom>
          <a:solidFill>
            <a:srgbClr val="8FB4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1" name="TextBox 310"/>
          <p:cNvSpPr txBox="1"/>
          <p:nvPr/>
        </p:nvSpPr>
        <p:spPr>
          <a:xfrm>
            <a:off x="1485900" y="4133850"/>
            <a:ext cx="1047750" cy="1905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2 moves</a:t>
            </a:r>
          </a:p>
        </p:txBody>
      </p:sp>
      <p:sp>
        <p:nvSpPr>
          <p:cNvPr id="312" name="Rectangle 311"/>
          <p:cNvSpPr/>
          <p:nvPr/>
        </p:nvSpPr>
        <p:spPr>
          <a:xfrm>
            <a:off x="2286000" y="4171950"/>
            <a:ext cx="209550" cy="123825"/>
          </a:xfrm>
          <a:prstGeom prst="rect">
            <a:avLst/>
          </a:prstGeom>
          <a:solidFill>
            <a:srgbClr val="3D73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3" name="TextBox 312"/>
          <p:cNvSpPr txBox="1"/>
          <p:nvPr/>
        </p:nvSpPr>
        <p:spPr>
          <a:xfrm>
            <a:off x="2533650" y="4133850"/>
            <a:ext cx="1047750" cy="1905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3+ moves</a:t>
            </a:r>
          </a:p>
        </p:txBody>
      </p:sp>
      <p:sp>
        <p:nvSpPr>
          <p:cNvPr id="314" name="TextBox 313"/>
          <p:cNvSpPr txBox="1"/>
          <p:nvPr/>
        </p:nvSpPr>
        <p:spPr>
          <a:xfrm>
            <a:off x="3524250" y="4133850"/>
            <a:ext cx="8477250" cy="1905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Type codes: MA M&amp;A, PR Product / portfolio, EX Expansion, RD R&amp;D / technology, RG Regulation / compliance, CP Capital / funding</a:t>
            </a:r>
          </a:p>
        </p:txBody>
      </p:sp>
      <p:cxnSp>
        <p:nvCxnSpPr>
          <p:cNvPr id="315" name="Connector 314"/>
          <p:cNvCxnSpPr/>
          <p:nvPr/>
        </p:nvCxnSpPr>
        <p:spPr>
          <a:xfrm>
            <a:off x="190500" y="4400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6" name="TextBox 315"/>
          <p:cNvSpPr txBox="1"/>
          <p:nvPr/>
        </p:nvSpPr>
        <p:spPr>
          <a:xfrm>
            <a:off x="190500" y="4457700"/>
            <a:ext cx="5715000" cy="1714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IT MEANS FOR EACH OF YOUR DEPARTMENTS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1905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8" name="TextBox 317"/>
          <p:cNvSpPr txBox="1"/>
          <p:nvPr/>
        </p:nvSpPr>
        <p:spPr>
          <a:xfrm>
            <a:off x="266700" y="4686300"/>
            <a:ext cx="17589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Sales</a:t>
            </a:r>
          </a:p>
        </p:txBody>
      </p:sp>
      <p:sp>
        <p:nvSpPr>
          <p:cNvPr id="319" name="TextBox 318"/>
          <p:cNvSpPr txBox="1"/>
          <p:nvPr/>
        </p:nvSpPr>
        <p:spPr>
          <a:xfrm>
            <a:off x="190500" y="4953000"/>
            <a:ext cx="1873250" cy="8572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10 expansion moves target new regions and volume tiers: defend key accounts where rivals expand.</a:t>
            </a:r>
          </a:p>
        </p:txBody>
      </p:sp>
      <p:sp>
        <p:nvSpPr>
          <p:cNvPr id="320" name="Rectangle 319"/>
          <p:cNvSpPr/>
          <p:nvPr/>
        </p:nvSpPr>
        <p:spPr>
          <a:xfrm>
            <a:off x="21780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1" name="TextBox 320"/>
          <p:cNvSpPr txBox="1"/>
          <p:nvPr/>
        </p:nvSpPr>
        <p:spPr>
          <a:xfrm>
            <a:off x="2254250" y="4686300"/>
            <a:ext cx="17589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Marketing</a:t>
            </a:r>
          </a:p>
        </p:txBody>
      </p:sp>
      <p:sp>
        <p:nvSpPr>
          <p:cNvPr id="322" name="TextBox 321"/>
          <p:cNvSpPr txBox="1"/>
          <p:nvPr/>
        </p:nvSpPr>
        <p:spPr>
          <a:xfrm>
            <a:off x="2178050" y="4953000"/>
            <a:ext cx="1873250" cy="8572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Certification and compliance are being used as trust signals; make your own credentials visible.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41656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4" name="TextBox 323"/>
          <p:cNvSpPr txBox="1"/>
          <p:nvPr/>
        </p:nvSpPr>
        <p:spPr>
          <a:xfrm>
            <a:off x="4241800" y="4686300"/>
            <a:ext cx="17589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Product and R&amp;D</a:t>
            </a:r>
          </a:p>
        </p:txBody>
      </p:sp>
      <p:sp>
        <p:nvSpPr>
          <p:cNvPr id="325" name="TextBox 324"/>
          <p:cNvSpPr txBox="1"/>
          <p:nvPr/>
        </p:nvSpPr>
        <p:spPr>
          <a:xfrm>
            <a:off x="4165600" y="4953000"/>
            <a:ext cx="1873250" cy="8572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20 product and R&amp;D moves: benchmark launches and the technology roadmap.</a:t>
            </a:r>
          </a:p>
        </p:txBody>
      </p:sp>
      <p:sp>
        <p:nvSpPr>
          <p:cNvPr id="326" name="Rectangle 325"/>
          <p:cNvSpPr/>
          <p:nvPr/>
        </p:nvSpPr>
        <p:spPr>
          <a:xfrm>
            <a:off x="61531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7" name="TextBox 326"/>
          <p:cNvSpPr txBox="1"/>
          <p:nvPr/>
        </p:nvSpPr>
        <p:spPr>
          <a:xfrm>
            <a:off x="6229350" y="4686300"/>
            <a:ext cx="17589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Corporate development</a:t>
            </a:r>
          </a:p>
        </p:txBody>
      </p:sp>
      <p:sp>
        <p:nvSpPr>
          <p:cNvPr id="328" name="TextBox 327"/>
          <p:cNvSpPr txBox="1"/>
          <p:nvPr/>
        </p:nvSpPr>
        <p:spPr>
          <a:xfrm>
            <a:off x="6153150" y="4953000"/>
            <a:ext cx="1873250" cy="8572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are acquiring; the independent target list is shrinking.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81407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0" name="TextBox 329"/>
          <p:cNvSpPr txBox="1"/>
          <p:nvPr/>
        </p:nvSpPr>
        <p:spPr>
          <a:xfrm>
            <a:off x="8216900" y="4686300"/>
            <a:ext cx="17589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Operations</a:t>
            </a:r>
          </a:p>
        </p:txBody>
      </p:sp>
      <p:sp>
        <p:nvSpPr>
          <p:cNvPr id="331" name="TextBox 330"/>
          <p:cNvSpPr txBox="1"/>
          <p:nvPr/>
        </p:nvSpPr>
        <p:spPr>
          <a:xfrm>
            <a:off x="8140700" y="4953000"/>
            <a:ext cx="1873250" cy="8572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Expansion moves add capacity in rivals' home regions; review supply and lead times.</a:t>
            </a:r>
          </a:p>
        </p:txBody>
      </p:sp>
      <p:sp>
        <p:nvSpPr>
          <p:cNvPr id="332" name="Rectangle 331"/>
          <p:cNvSpPr/>
          <p:nvPr/>
        </p:nvSpPr>
        <p:spPr>
          <a:xfrm>
            <a:off x="101282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3" name="TextBox 332"/>
          <p:cNvSpPr txBox="1"/>
          <p:nvPr/>
        </p:nvSpPr>
        <p:spPr>
          <a:xfrm>
            <a:off x="10204450" y="4686300"/>
            <a:ext cx="17589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Legal and regulatory</a:t>
            </a:r>
          </a:p>
        </p:txBody>
      </p:sp>
      <p:sp>
        <p:nvSpPr>
          <p:cNvPr id="334" name="TextBox 333"/>
          <p:cNvSpPr txBox="1"/>
          <p:nvPr/>
        </p:nvSpPr>
        <p:spPr>
          <a:xfrm>
            <a:off x="10128250" y="4953000"/>
            <a:ext cx="1873250" cy="8572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lean on certification; audit your own compliance position.</a:t>
            </a:r>
          </a:p>
        </p:txBody>
      </p:sp>
      <p:sp>
        <p:nvSpPr>
          <p:cNvPr id="335" name="TextBox 3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Pet Cosmetic Products Market, Europe 2026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5810250" cy="400050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56197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Ladder – Share of Market Value,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38125" y="1304925"/>
            <a:ext cx="561975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57175" y="1600200"/>
            <a:ext cx="9906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809750"/>
            <a:ext cx="990600" cy="3238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266825" y="1581150"/>
            <a:ext cx="4533900" cy="476250"/>
          </a:xfrm>
          <a:prstGeom prst="rect">
            <a:avLst/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1362075" y="1609725"/>
            <a:ext cx="6667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362075" y="1809750"/>
            <a:ext cx="438150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266825" y="2066925"/>
            <a:ext cx="453390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Beaphar · Laboratoire Biogance · Laboratoire Francodex · Group55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257175" y="2457450"/>
            <a:ext cx="9906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2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2667000"/>
            <a:ext cx="990600" cy="3238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Mid-sized players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266825" y="2438400"/>
            <a:ext cx="3786554" cy="476250"/>
          </a:xfrm>
          <a:prstGeom prst="rect">
            <a:avLst/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1362075" y="2466975"/>
            <a:ext cx="6667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362075" y="2667000"/>
            <a:ext cx="3634154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1266825" y="2924175"/>
            <a:ext cx="453390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Lakeland Cosmetics · Laboratorios Bilper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3314700"/>
            <a:ext cx="9906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3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57175" y="3524250"/>
            <a:ext cx="990600" cy="3238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Emerging / local players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266825" y="3295650"/>
            <a:ext cx="3487615" cy="476250"/>
          </a:xfrm>
          <a:prstGeom prst="rect">
            <a:avLst/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1362075" y="3324225"/>
            <a:ext cx="6667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362075" y="3524250"/>
            <a:ext cx="333521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30" name="TextBox 29"/>
          <p:cNvSpPr txBox="1"/>
          <p:nvPr/>
        </p:nvSpPr>
        <p:spPr>
          <a:xfrm>
            <a:off x="1266825" y="3781425"/>
            <a:ext cx="453390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Artero · Iv San Bernard · Cosmetica Veneta · K9 Competition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57175" y="4171950"/>
            <a:ext cx="9906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4381500"/>
            <a:ext cx="990600" cy="32385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Long tail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266825" y="4152900"/>
            <a:ext cx="3637085" cy="476250"/>
          </a:xfrm>
          <a:prstGeom prst="rect">
            <a:avLst/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1362075" y="4181475"/>
            <a:ext cx="6667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62075" y="4381500"/>
            <a:ext cx="348468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1266825" y="4638675"/>
            <a:ext cx="453390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Regional &amp; niche suppliers</a:t>
            </a:r>
          </a:p>
        </p:txBody>
      </p:sp>
      <p:sp>
        <p:nvSpPr>
          <p:cNvPr id="37" name="Rounded Rectangle 36"/>
          <p:cNvSpPr/>
          <p:nvPr/>
        </p:nvSpPr>
        <p:spPr>
          <a:xfrm>
            <a:off x="142875" y="5162550"/>
            <a:ext cx="5810250" cy="146685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238125" y="5219700"/>
            <a:ext cx="56197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Concentration Read-out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solidFill>
            <a:srgbClr val="C9DAF0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Fragmented HHI &lt; 1,500</a:t>
            </a:r>
          </a:p>
        </p:txBody>
      </p:sp>
      <p:sp>
        <p:nvSpPr>
          <p:cNvPr id="41" name="Rectangle 40"/>
          <p:cNvSpPr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Moderate 1,500–2,500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Concentrated &gt; 2,500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69665" y="5762625"/>
            <a:ext cx="171450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6" name="TextBox 45"/>
          <p:cNvSpPr txBox="1"/>
          <p:nvPr/>
        </p:nvSpPr>
        <p:spPr>
          <a:xfrm>
            <a:off x="238125" y="5981700"/>
            <a:ext cx="5619750" cy="4191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</p:txBody>
      </p:sp>
      <p:sp>
        <p:nvSpPr>
          <p:cNvPr id="47" name="Rounded Rectangle 46"/>
          <p:cNvSpPr/>
          <p:nvPr/>
        </p:nvSpPr>
        <p:spPr>
          <a:xfrm>
            <a:off x="6096000" y="1047750"/>
            <a:ext cx="5953125" cy="400050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6191250" y="1104900"/>
            <a:ext cx="5762625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Profile Matrix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191250" y="1304925"/>
            <a:ext cx="576262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>Size, growth and competitive characteristics of each tier</a:t>
            </a:r>
          </a:p>
        </p:txBody>
      </p:sp>
      <p:sp>
        <p:nvSpPr>
          <p:cNvPr id="50" name="Rectangle 49"/>
          <p:cNvSpPr/>
          <p:nvPr/>
        </p:nvSpPr>
        <p:spPr>
          <a:xfrm>
            <a:off x="6191250" y="1562100"/>
            <a:ext cx="16192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6248400" y="1562100"/>
            <a:ext cx="154305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Metric</a:t>
            </a:r>
          </a:p>
        </p:txBody>
      </p:sp>
      <p:sp>
        <p:nvSpPr>
          <p:cNvPr id="52" name="Rectangle 51"/>
          <p:cNvSpPr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solidFill>
            <a:srgbClr val="2E6DB4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7" name="TextBox 56"/>
          <p:cNvSpPr txBox="1"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solidFill>
            <a:srgbClr val="9FC5E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TextBox 58"/>
          <p:cNvSpPr txBox="1"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solidFill>
            <a:srgbClr val="102447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Total</a:t>
            </a:r>
          </a:p>
        </p:txBody>
      </p:sp>
      <p:sp>
        <p:nvSpPr>
          <p:cNvPr id="62" name="Rectangle 61"/>
          <p:cNvSpPr/>
          <p:nvPr/>
        </p:nvSpPr>
        <p:spPr>
          <a:xfrm>
            <a:off x="6191250" y="1809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6248400" y="1809750"/>
            <a:ext cx="15430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Players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78105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7829550" y="18097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66" name="Rectangle 65"/>
          <p:cNvSpPr/>
          <p:nvPr/>
        </p:nvSpPr>
        <p:spPr>
          <a:xfrm>
            <a:off x="863917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TextBox 66"/>
          <p:cNvSpPr txBox="1"/>
          <p:nvPr/>
        </p:nvSpPr>
        <p:spPr>
          <a:xfrm>
            <a:off x="8658225" y="18097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2</a:t>
            </a:r>
          </a:p>
        </p:txBody>
      </p:sp>
      <p:sp>
        <p:nvSpPr>
          <p:cNvPr id="68" name="Rectangle 67"/>
          <p:cNvSpPr/>
          <p:nvPr/>
        </p:nvSpPr>
        <p:spPr>
          <a:xfrm>
            <a:off x="946785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9486900" y="18097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70" name="Rectangle 69"/>
          <p:cNvSpPr/>
          <p:nvPr/>
        </p:nvSpPr>
        <p:spPr>
          <a:xfrm>
            <a:off x="1029652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TextBox 70"/>
          <p:cNvSpPr txBox="1"/>
          <p:nvPr/>
        </p:nvSpPr>
        <p:spPr>
          <a:xfrm>
            <a:off x="10315575" y="18097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1252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TextBox 72"/>
          <p:cNvSpPr txBox="1"/>
          <p:nvPr/>
        </p:nvSpPr>
        <p:spPr>
          <a:xfrm>
            <a:off x="11144250" y="18097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191250" y="2038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TextBox 74"/>
          <p:cNvSpPr txBox="1"/>
          <p:nvPr/>
        </p:nvSpPr>
        <p:spPr>
          <a:xfrm>
            <a:off x="6248400" y="2038350"/>
            <a:ext cx="15430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Value 2026 (US$ Mn)</a:t>
            </a:r>
          </a:p>
        </p:txBody>
      </p:sp>
      <p:sp>
        <p:nvSpPr>
          <p:cNvPr id="76" name="Rectangle 75"/>
          <p:cNvSpPr/>
          <p:nvPr/>
        </p:nvSpPr>
        <p:spPr>
          <a:xfrm>
            <a:off x="78105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TextBox 76"/>
          <p:cNvSpPr txBox="1"/>
          <p:nvPr/>
        </p:nvSpPr>
        <p:spPr>
          <a:xfrm>
            <a:off x="7829550" y="2038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863917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TextBox 78"/>
          <p:cNvSpPr txBox="1"/>
          <p:nvPr/>
        </p:nvSpPr>
        <p:spPr>
          <a:xfrm>
            <a:off x="8658225" y="2038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0" name="Rectangle 79"/>
          <p:cNvSpPr/>
          <p:nvPr/>
        </p:nvSpPr>
        <p:spPr>
          <a:xfrm>
            <a:off x="946785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TextBox 80"/>
          <p:cNvSpPr txBox="1"/>
          <p:nvPr/>
        </p:nvSpPr>
        <p:spPr>
          <a:xfrm>
            <a:off x="9486900" y="2038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029652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TextBox 82"/>
          <p:cNvSpPr txBox="1"/>
          <p:nvPr/>
        </p:nvSpPr>
        <p:spPr>
          <a:xfrm>
            <a:off x="10315575" y="2038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4" name="Rectangle 83"/>
          <p:cNvSpPr/>
          <p:nvPr/>
        </p:nvSpPr>
        <p:spPr>
          <a:xfrm>
            <a:off x="111252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TextBox 84"/>
          <p:cNvSpPr txBox="1"/>
          <p:nvPr/>
        </p:nvSpPr>
        <p:spPr>
          <a:xfrm>
            <a:off x="11144250" y="2038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6191250" y="22669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TextBox 86"/>
          <p:cNvSpPr txBox="1"/>
          <p:nvPr/>
        </p:nvSpPr>
        <p:spPr>
          <a:xfrm>
            <a:off x="6248400" y="2266950"/>
            <a:ext cx="15430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2026</a:t>
            </a:r>
          </a:p>
        </p:txBody>
      </p:sp>
      <p:sp>
        <p:nvSpPr>
          <p:cNvPr id="88" name="Rectangle 87"/>
          <p:cNvSpPr/>
          <p:nvPr/>
        </p:nvSpPr>
        <p:spPr>
          <a:xfrm>
            <a:off x="78105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TextBox 88"/>
          <p:cNvSpPr txBox="1"/>
          <p:nvPr/>
        </p:nvSpPr>
        <p:spPr>
          <a:xfrm>
            <a:off x="8076248" y="2266950"/>
            <a:ext cx="29718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363902" y="22669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63917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2" name="TextBox 91"/>
          <p:cNvSpPr txBox="1"/>
          <p:nvPr/>
        </p:nvSpPr>
        <p:spPr>
          <a:xfrm>
            <a:off x="8904922" y="2266950"/>
            <a:ext cx="29718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9192578" y="22669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4" name="Rectangle 93"/>
          <p:cNvSpPr/>
          <p:nvPr/>
        </p:nvSpPr>
        <p:spPr>
          <a:xfrm>
            <a:off x="946785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TextBox 94"/>
          <p:cNvSpPr txBox="1"/>
          <p:nvPr/>
        </p:nvSpPr>
        <p:spPr>
          <a:xfrm>
            <a:off x="9733598" y="2266950"/>
            <a:ext cx="29718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10021252" y="22669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029652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8" name="TextBox 97"/>
          <p:cNvSpPr txBox="1"/>
          <p:nvPr/>
        </p:nvSpPr>
        <p:spPr>
          <a:xfrm>
            <a:off x="10562272" y="2266950"/>
            <a:ext cx="29718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0849928" y="22669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11252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TextBox 100"/>
          <p:cNvSpPr txBox="1"/>
          <p:nvPr/>
        </p:nvSpPr>
        <p:spPr>
          <a:xfrm>
            <a:off x="11144250" y="22669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6191250" y="24955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TextBox 102"/>
          <p:cNvSpPr txBox="1"/>
          <p:nvPr/>
        </p:nvSpPr>
        <p:spPr>
          <a:xfrm>
            <a:off x="6248400" y="2495550"/>
            <a:ext cx="15430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2036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78105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TextBox 104"/>
          <p:cNvSpPr txBox="1"/>
          <p:nvPr/>
        </p:nvSpPr>
        <p:spPr>
          <a:xfrm>
            <a:off x="8076248" y="2495550"/>
            <a:ext cx="29718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8363902" y="24955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863917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TextBox 107"/>
          <p:cNvSpPr txBox="1"/>
          <p:nvPr/>
        </p:nvSpPr>
        <p:spPr>
          <a:xfrm>
            <a:off x="8904922" y="2495550"/>
            <a:ext cx="29718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192578" y="24955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946785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TextBox 110"/>
          <p:cNvSpPr txBox="1"/>
          <p:nvPr/>
        </p:nvSpPr>
        <p:spPr>
          <a:xfrm>
            <a:off x="9733598" y="2495550"/>
            <a:ext cx="29718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0021252" y="24955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29652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4" name="TextBox 113"/>
          <p:cNvSpPr txBox="1"/>
          <p:nvPr/>
        </p:nvSpPr>
        <p:spPr>
          <a:xfrm>
            <a:off x="10562272" y="2495550"/>
            <a:ext cx="29718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10849928" y="24955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111252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TextBox 116"/>
          <p:cNvSpPr txBox="1"/>
          <p:nvPr/>
        </p:nvSpPr>
        <p:spPr>
          <a:xfrm>
            <a:off x="11144250" y="24955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6191250" y="27241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TextBox 118"/>
          <p:cNvSpPr txBox="1"/>
          <p:nvPr/>
        </p:nvSpPr>
        <p:spPr>
          <a:xfrm>
            <a:off x="6248400" y="2724150"/>
            <a:ext cx="15430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change (pp)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78105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TextBox 120"/>
          <p:cNvSpPr txBox="1"/>
          <p:nvPr/>
        </p:nvSpPr>
        <p:spPr>
          <a:xfrm>
            <a:off x="7975282" y="27241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8108632" y="27241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63917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TextBox 123"/>
          <p:cNvSpPr txBox="1"/>
          <p:nvPr/>
        </p:nvSpPr>
        <p:spPr>
          <a:xfrm>
            <a:off x="8803958" y="27241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8937308" y="27241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946785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7" name="TextBox 126"/>
          <p:cNvSpPr txBox="1"/>
          <p:nvPr/>
        </p:nvSpPr>
        <p:spPr>
          <a:xfrm>
            <a:off x="9632632" y="27241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765982" y="27241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029652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TextBox 129"/>
          <p:cNvSpPr txBox="1"/>
          <p:nvPr/>
        </p:nvSpPr>
        <p:spPr>
          <a:xfrm>
            <a:off x="10461308" y="27241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−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0594658" y="27241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11252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TextBox 132"/>
          <p:cNvSpPr txBox="1"/>
          <p:nvPr/>
        </p:nvSpPr>
        <p:spPr>
          <a:xfrm>
            <a:off x="11144250" y="27241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6191250" y="2952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TextBox 134"/>
          <p:cNvSpPr txBox="1"/>
          <p:nvPr/>
        </p:nvSpPr>
        <p:spPr>
          <a:xfrm>
            <a:off x="6248400" y="2952750"/>
            <a:ext cx="15430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CAGR 2026–2036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8105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TextBox 136"/>
          <p:cNvSpPr txBox="1"/>
          <p:nvPr/>
        </p:nvSpPr>
        <p:spPr>
          <a:xfrm>
            <a:off x="8108632" y="29527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331518" y="29527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863917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TextBox 139"/>
          <p:cNvSpPr txBox="1"/>
          <p:nvPr/>
        </p:nvSpPr>
        <p:spPr>
          <a:xfrm>
            <a:off x="8937308" y="29527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9160192" y="29527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2" name="Rectangle 141"/>
          <p:cNvSpPr/>
          <p:nvPr/>
        </p:nvSpPr>
        <p:spPr>
          <a:xfrm>
            <a:off x="946785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3" name="TextBox 142"/>
          <p:cNvSpPr txBox="1"/>
          <p:nvPr/>
        </p:nvSpPr>
        <p:spPr>
          <a:xfrm>
            <a:off x="9765982" y="29527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9988868" y="29527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029652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6" name="TextBox 145"/>
          <p:cNvSpPr txBox="1"/>
          <p:nvPr/>
        </p:nvSpPr>
        <p:spPr>
          <a:xfrm>
            <a:off x="10594658" y="29527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0817542" y="29527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8" name="Rectangle 147"/>
          <p:cNvSpPr/>
          <p:nvPr/>
        </p:nvSpPr>
        <p:spPr>
          <a:xfrm>
            <a:off x="111252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TextBox 148"/>
          <p:cNvSpPr txBox="1"/>
          <p:nvPr/>
        </p:nvSpPr>
        <p:spPr>
          <a:xfrm>
            <a:off x="11423332" y="2952750"/>
            <a:ext cx="23241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1646218" y="2952750"/>
            <a:ext cx="133350" cy="22860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191250" y="3181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2" name="TextBox 151"/>
          <p:cNvSpPr txBox="1"/>
          <p:nvPr/>
        </p:nvSpPr>
        <p:spPr>
          <a:xfrm>
            <a:off x="6248400" y="3181350"/>
            <a:ext cx="154305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Avg / player (US$ Mn)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8105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TextBox 153"/>
          <p:cNvSpPr txBox="1"/>
          <p:nvPr/>
        </p:nvSpPr>
        <p:spPr>
          <a:xfrm>
            <a:off x="7829550" y="3181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863917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6" name="TextBox 155"/>
          <p:cNvSpPr txBox="1"/>
          <p:nvPr/>
        </p:nvSpPr>
        <p:spPr>
          <a:xfrm>
            <a:off x="8658225" y="3181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946785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TextBox 157"/>
          <p:cNvSpPr txBox="1"/>
          <p:nvPr/>
        </p:nvSpPr>
        <p:spPr>
          <a:xfrm>
            <a:off x="9486900" y="3181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1029652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0" name="TextBox 159"/>
          <p:cNvSpPr txBox="1"/>
          <p:nvPr/>
        </p:nvSpPr>
        <p:spPr>
          <a:xfrm>
            <a:off x="10315575" y="3181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11252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2" name="TextBox 161"/>
          <p:cNvSpPr txBox="1"/>
          <p:nvPr/>
        </p:nvSpPr>
        <p:spPr>
          <a:xfrm>
            <a:off x="11144250" y="3181350"/>
            <a:ext cx="790575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191250" y="34099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TextBox 163"/>
          <p:cNvSpPr txBox="1"/>
          <p:nvPr/>
        </p:nvSpPr>
        <p:spPr>
          <a:xfrm>
            <a:off x="6248400" y="3409950"/>
            <a:ext cx="154305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Installed base share (units)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78105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TextBox 165"/>
          <p:cNvSpPr txBox="1"/>
          <p:nvPr/>
        </p:nvSpPr>
        <p:spPr>
          <a:xfrm>
            <a:off x="8076248" y="3409950"/>
            <a:ext cx="297180" cy="323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363902" y="3409950"/>
            <a:ext cx="133350" cy="323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68" name="Rectangle 167"/>
          <p:cNvSpPr/>
          <p:nvPr/>
        </p:nvSpPr>
        <p:spPr>
          <a:xfrm>
            <a:off x="863917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TextBox 168"/>
          <p:cNvSpPr txBox="1"/>
          <p:nvPr/>
        </p:nvSpPr>
        <p:spPr>
          <a:xfrm>
            <a:off x="8904922" y="3409950"/>
            <a:ext cx="297180" cy="323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9192578" y="3409950"/>
            <a:ext cx="133350" cy="323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946785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2" name="TextBox 171"/>
          <p:cNvSpPr txBox="1"/>
          <p:nvPr/>
        </p:nvSpPr>
        <p:spPr>
          <a:xfrm>
            <a:off x="9733598" y="3409950"/>
            <a:ext cx="297180" cy="323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10021252" y="3409950"/>
            <a:ext cx="133350" cy="323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1029652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5" name="TextBox 174"/>
          <p:cNvSpPr txBox="1"/>
          <p:nvPr/>
        </p:nvSpPr>
        <p:spPr>
          <a:xfrm>
            <a:off x="10562272" y="3409950"/>
            <a:ext cx="297180" cy="323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10849928" y="3409950"/>
            <a:ext cx="133350" cy="32385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111252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8" name="TextBox 177"/>
          <p:cNvSpPr txBox="1"/>
          <p:nvPr/>
        </p:nvSpPr>
        <p:spPr>
          <a:xfrm>
            <a:off x="11144250" y="34099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191250" y="37338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0" name="TextBox 179"/>
          <p:cNvSpPr txBox="1"/>
          <p:nvPr/>
        </p:nvSpPr>
        <p:spPr>
          <a:xfrm>
            <a:off x="6248400" y="3733800"/>
            <a:ext cx="154305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Price positioning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8105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2" name="TextBox 181"/>
          <p:cNvSpPr txBox="1"/>
          <p:nvPr/>
        </p:nvSpPr>
        <p:spPr>
          <a:xfrm>
            <a:off x="7829550" y="37338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Premium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63917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4" name="TextBox 183"/>
          <p:cNvSpPr txBox="1"/>
          <p:nvPr/>
        </p:nvSpPr>
        <p:spPr>
          <a:xfrm>
            <a:off x="8658225" y="37338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Mid / value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946785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6" name="TextBox 185"/>
          <p:cNvSpPr txBox="1"/>
          <p:nvPr/>
        </p:nvSpPr>
        <p:spPr>
          <a:xfrm>
            <a:off x="9486900" y="37338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Value / entry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1029652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8" name="TextBox 187"/>
          <p:cNvSpPr txBox="1"/>
          <p:nvPr/>
        </p:nvSpPr>
        <p:spPr>
          <a:xfrm>
            <a:off x="10315575" y="37338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Mixed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111252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0" name="TextBox 189"/>
          <p:cNvSpPr txBox="1"/>
          <p:nvPr/>
        </p:nvSpPr>
        <p:spPr>
          <a:xfrm>
            <a:off x="11144250" y="37338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191250" y="40576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2" name="TextBox 191"/>
          <p:cNvSpPr txBox="1"/>
          <p:nvPr/>
        </p:nvSpPr>
        <p:spPr>
          <a:xfrm>
            <a:off x="6248400" y="4057650"/>
            <a:ext cx="154305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Route-to-market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78105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4" name="TextBox 193"/>
          <p:cNvSpPr txBox="1"/>
          <p:nvPr/>
        </p:nvSpPr>
        <p:spPr>
          <a:xfrm>
            <a:off x="7829550" y="40576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Direct / key accounts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863917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6" name="TextBox 195"/>
          <p:cNvSpPr txBox="1"/>
          <p:nvPr/>
        </p:nvSpPr>
        <p:spPr>
          <a:xfrm>
            <a:off x="8658225" y="40576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Distributors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946785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8" name="TextBox 197"/>
          <p:cNvSpPr txBox="1"/>
          <p:nvPr/>
        </p:nvSpPr>
        <p:spPr>
          <a:xfrm>
            <a:off x="9486900" y="40576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Regional partners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1029652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0" name="TextBox 199"/>
          <p:cNvSpPr txBox="1"/>
          <p:nvPr/>
        </p:nvSpPr>
        <p:spPr>
          <a:xfrm>
            <a:off x="10315575" y="40576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Local / online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111252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2" name="TextBox 201"/>
          <p:cNvSpPr txBox="1"/>
          <p:nvPr/>
        </p:nvSpPr>
        <p:spPr>
          <a:xfrm>
            <a:off x="11144250" y="40576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6191250" y="43815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4" name="TextBox 203"/>
          <p:cNvSpPr txBox="1"/>
          <p:nvPr/>
        </p:nvSpPr>
        <p:spPr>
          <a:xfrm>
            <a:off x="6248400" y="4381500"/>
            <a:ext cx="154305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Portfolio breadth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78105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6" name="TextBox 205"/>
          <p:cNvSpPr txBox="1"/>
          <p:nvPr/>
        </p:nvSpPr>
        <p:spPr>
          <a:xfrm>
            <a:off x="7829550" y="43815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Full portfolio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863917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8" name="TextBox 207"/>
          <p:cNvSpPr txBox="1"/>
          <p:nvPr/>
        </p:nvSpPr>
        <p:spPr>
          <a:xfrm>
            <a:off x="8658225" y="43815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2–3 core lines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946785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0" name="TextBox 209"/>
          <p:cNvSpPr txBox="1"/>
          <p:nvPr/>
        </p:nvSpPr>
        <p:spPr>
          <a:xfrm>
            <a:off x="9486900" y="43815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Single line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29652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2" name="TextBox 211"/>
          <p:cNvSpPr txBox="1"/>
          <p:nvPr/>
        </p:nvSpPr>
        <p:spPr>
          <a:xfrm>
            <a:off x="10315575" y="43815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Niche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111252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4" name="TextBox 213"/>
          <p:cNvSpPr txBox="1"/>
          <p:nvPr/>
        </p:nvSpPr>
        <p:spPr>
          <a:xfrm>
            <a:off x="11144250" y="438150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191250" y="47053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6" name="TextBox 215"/>
          <p:cNvSpPr txBox="1"/>
          <p:nvPr/>
        </p:nvSpPr>
        <p:spPr>
          <a:xfrm>
            <a:off x="6248400" y="4705350"/>
            <a:ext cx="1543050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Strategic posture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781050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8" name="TextBox 217"/>
          <p:cNvSpPr txBox="1"/>
          <p:nvPr/>
        </p:nvSpPr>
        <p:spPr>
          <a:xfrm>
            <a:off x="7829550" y="47053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Defend &amp; bundle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863917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0" name="TextBox 219"/>
          <p:cNvSpPr txBox="1"/>
          <p:nvPr/>
        </p:nvSpPr>
        <p:spPr>
          <a:xfrm>
            <a:off x="8658225" y="47053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Niche deepening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46785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2" name="TextBox 221"/>
          <p:cNvSpPr txBox="1"/>
          <p:nvPr/>
        </p:nvSpPr>
        <p:spPr>
          <a:xfrm>
            <a:off x="9486900" y="47053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Scale-up or exit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1029652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4" name="TextBox 223"/>
          <p:cNvSpPr txBox="1"/>
          <p:nvPr/>
        </p:nvSpPr>
        <p:spPr>
          <a:xfrm>
            <a:off x="10315575" y="47053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Long-tail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1125200" y="47053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6" name="TextBox 225"/>
          <p:cNvSpPr txBox="1"/>
          <p:nvPr/>
        </p:nvSpPr>
        <p:spPr>
          <a:xfrm>
            <a:off x="11144250" y="4705350"/>
            <a:ext cx="790575" cy="3238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27" name="Rounded Rectangle 226"/>
          <p:cNvSpPr/>
          <p:nvPr/>
        </p:nvSpPr>
        <p:spPr>
          <a:xfrm>
            <a:off x="6096000" y="5162550"/>
            <a:ext cx="5953125" cy="146685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8" name="TextBox 227"/>
          <p:cNvSpPr txBox="1"/>
          <p:nvPr/>
        </p:nvSpPr>
        <p:spPr>
          <a:xfrm>
            <a:off x="6191250" y="5219700"/>
            <a:ext cx="5762625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6210300" y="5467350"/>
            <a:ext cx="114300" cy="161925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6343650" y="5467350"/>
            <a:ext cx="5591175" cy="533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31" name="TextBox 230"/>
          <p:cNvSpPr txBox="1"/>
          <p:nvPr/>
        </p:nvSpPr>
        <p:spPr>
          <a:xfrm>
            <a:off x="6210300" y="5848350"/>
            <a:ext cx="114300" cy="161925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6343650" y="5848350"/>
            <a:ext cx="5591175" cy="371475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33" name="TextBox 232"/>
          <p:cNvSpPr txBox="1"/>
          <p:nvPr/>
        </p:nvSpPr>
        <p:spPr>
          <a:xfrm>
            <a:off x="6210300" y="6067425"/>
            <a:ext cx="114300" cy="161925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6343650" y="6067425"/>
            <a:ext cx="5591175" cy="533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235" name="TextBox 2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6" name="Picture 2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1620901"/>
            <a:ext cx="128699" cy="187198"/>
          </a:xfrm>
          <a:prstGeom prst="rect">
            <a:avLst/>
          </a:prstGeom>
        </p:spPr>
      </p:pic>
      <p:pic>
        <p:nvPicPr>
          <p:cNvPr id="237" name="Picture 2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2478151"/>
            <a:ext cx="128699" cy="187198"/>
          </a:xfrm>
          <a:prstGeom prst="rect">
            <a:avLst/>
          </a:prstGeom>
        </p:spPr>
      </p:pic>
      <p:pic>
        <p:nvPicPr>
          <p:cNvPr id="238" name="Picture 2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3335401"/>
            <a:ext cx="128699" cy="187198"/>
          </a:xfrm>
          <a:prstGeom prst="rect">
            <a:avLst/>
          </a:prstGeom>
        </p:spPr>
      </p:pic>
      <p:pic>
        <p:nvPicPr>
          <p:cNvPr id="239" name="Picture 2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4192651"/>
            <a:ext cx="128699" cy="187198"/>
          </a:xfrm>
          <a:prstGeom prst="rect">
            <a:avLst/>
          </a:prstGeom>
        </p:spPr>
      </p:pic>
      <p:pic>
        <p:nvPicPr>
          <p:cNvPr id="240" name="Picture 2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1830451"/>
            <a:ext cx="128699" cy="187198"/>
          </a:xfrm>
          <a:prstGeom prst="rect">
            <a:avLst/>
          </a:prstGeom>
        </p:spPr>
      </p:pic>
      <p:pic>
        <p:nvPicPr>
          <p:cNvPr id="241" name="Picture 2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059051"/>
            <a:ext cx="128699" cy="187198"/>
          </a:xfrm>
          <a:prstGeom prst="rect">
            <a:avLst/>
          </a:prstGeom>
        </p:spPr>
      </p:pic>
      <p:pic>
        <p:nvPicPr>
          <p:cNvPr id="242" name="Picture 2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059051"/>
            <a:ext cx="128699" cy="187198"/>
          </a:xfrm>
          <a:prstGeom prst="rect">
            <a:avLst/>
          </a:prstGeom>
        </p:spPr>
      </p:pic>
      <p:pic>
        <p:nvPicPr>
          <p:cNvPr id="243" name="Picture 2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059051"/>
            <a:ext cx="128699" cy="187198"/>
          </a:xfrm>
          <a:prstGeom prst="rect">
            <a:avLst/>
          </a:prstGeom>
        </p:spPr>
      </p:pic>
      <p:pic>
        <p:nvPicPr>
          <p:cNvPr id="244" name="Picture 2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059051"/>
            <a:ext cx="128699" cy="187198"/>
          </a:xfrm>
          <a:prstGeom prst="rect">
            <a:avLst/>
          </a:prstGeom>
        </p:spPr>
      </p:pic>
      <p:pic>
        <p:nvPicPr>
          <p:cNvPr id="245" name="Picture 2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2059051"/>
            <a:ext cx="128699" cy="187198"/>
          </a:xfrm>
          <a:prstGeom prst="rect">
            <a:avLst/>
          </a:prstGeom>
        </p:spPr>
      </p:pic>
      <p:pic>
        <p:nvPicPr>
          <p:cNvPr id="246" name="Picture 2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287651"/>
            <a:ext cx="128699" cy="187198"/>
          </a:xfrm>
          <a:prstGeom prst="rect">
            <a:avLst/>
          </a:prstGeom>
        </p:spPr>
      </p:pic>
      <p:pic>
        <p:nvPicPr>
          <p:cNvPr id="247" name="Picture 2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287651"/>
            <a:ext cx="128699" cy="187198"/>
          </a:xfrm>
          <a:prstGeom prst="rect">
            <a:avLst/>
          </a:prstGeom>
        </p:spPr>
      </p:pic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28765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287651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516251"/>
            <a:ext cx="128699" cy="187198"/>
          </a:xfrm>
          <a:prstGeom prst="rect">
            <a:avLst/>
          </a:prstGeom>
        </p:spPr>
      </p:pic>
      <p:pic>
        <p:nvPicPr>
          <p:cNvPr id="251" name="Picture 2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516251"/>
            <a:ext cx="128699" cy="187198"/>
          </a:xfrm>
          <a:prstGeom prst="rect">
            <a:avLst/>
          </a:prstGeom>
        </p:spPr>
      </p:pic>
      <p:pic>
        <p:nvPicPr>
          <p:cNvPr id="252" name="Picture 2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516251"/>
            <a:ext cx="128699" cy="187198"/>
          </a:xfrm>
          <a:prstGeom prst="rect">
            <a:avLst/>
          </a:prstGeom>
        </p:spPr>
      </p:pic>
      <p:pic>
        <p:nvPicPr>
          <p:cNvPr id="253" name="Picture 2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516251"/>
            <a:ext cx="128699" cy="187198"/>
          </a:xfrm>
          <a:prstGeom prst="rect">
            <a:avLst/>
          </a:prstGeom>
        </p:spPr>
      </p:pic>
      <p:pic>
        <p:nvPicPr>
          <p:cNvPr id="254" name="Picture 2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744851"/>
            <a:ext cx="128699" cy="187198"/>
          </a:xfrm>
          <a:prstGeom prst="rect">
            <a:avLst/>
          </a:prstGeom>
        </p:spPr>
      </p:pic>
      <p:pic>
        <p:nvPicPr>
          <p:cNvPr id="255" name="Picture 2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744851"/>
            <a:ext cx="128699" cy="187198"/>
          </a:xfrm>
          <a:prstGeom prst="rect">
            <a:avLst/>
          </a:prstGeom>
        </p:spPr>
      </p:pic>
      <p:pic>
        <p:nvPicPr>
          <p:cNvPr id="256" name="Picture 2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744851"/>
            <a:ext cx="128699" cy="187198"/>
          </a:xfrm>
          <a:prstGeom prst="rect">
            <a:avLst/>
          </a:prstGeom>
        </p:spPr>
      </p:pic>
      <p:pic>
        <p:nvPicPr>
          <p:cNvPr id="257" name="Picture 2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744851"/>
            <a:ext cx="128699" cy="187198"/>
          </a:xfrm>
          <a:prstGeom prst="rect">
            <a:avLst/>
          </a:prstGeom>
        </p:spPr>
      </p:pic>
      <p:pic>
        <p:nvPicPr>
          <p:cNvPr id="258" name="Picture 2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973451"/>
            <a:ext cx="128699" cy="187198"/>
          </a:xfrm>
          <a:prstGeom prst="rect">
            <a:avLst/>
          </a:prstGeom>
        </p:spPr>
      </p:pic>
      <p:pic>
        <p:nvPicPr>
          <p:cNvPr id="259" name="Picture 2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973451"/>
            <a:ext cx="128699" cy="187198"/>
          </a:xfrm>
          <a:prstGeom prst="rect">
            <a:avLst/>
          </a:prstGeom>
        </p:spPr>
      </p:pic>
      <p:pic>
        <p:nvPicPr>
          <p:cNvPr id="260" name="Picture 2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973451"/>
            <a:ext cx="128699" cy="187198"/>
          </a:xfrm>
          <a:prstGeom prst="rect">
            <a:avLst/>
          </a:prstGeom>
        </p:spPr>
      </p:pic>
      <p:pic>
        <p:nvPicPr>
          <p:cNvPr id="261" name="Picture 2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973451"/>
            <a:ext cx="128699" cy="187198"/>
          </a:xfrm>
          <a:prstGeom prst="rect">
            <a:avLst/>
          </a:prstGeom>
        </p:spPr>
      </p:pic>
      <p:pic>
        <p:nvPicPr>
          <p:cNvPr id="262" name="Picture 2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7" y="2973451"/>
            <a:ext cx="128699" cy="187198"/>
          </a:xfrm>
          <a:prstGeom prst="rect">
            <a:avLst/>
          </a:prstGeom>
        </p:spPr>
      </p:pic>
      <p:pic>
        <p:nvPicPr>
          <p:cNvPr id="263" name="Picture 2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202051"/>
            <a:ext cx="128699" cy="187198"/>
          </a:xfrm>
          <a:prstGeom prst="rect">
            <a:avLst/>
          </a:prstGeom>
        </p:spPr>
      </p:pic>
      <p:pic>
        <p:nvPicPr>
          <p:cNvPr id="264" name="Picture 2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3202051"/>
            <a:ext cx="128699" cy="187198"/>
          </a:xfrm>
          <a:prstGeom prst="rect">
            <a:avLst/>
          </a:prstGeom>
        </p:spPr>
      </p:pic>
      <p:pic>
        <p:nvPicPr>
          <p:cNvPr id="265" name="Picture 2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202051"/>
            <a:ext cx="128699" cy="187198"/>
          </a:xfrm>
          <a:prstGeom prst="rect">
            <a:avLst/>
          </a:prstGeom>
        </p:spPr>
      </p:pic>
      <p:pic>
        <p:nvPicPr>
          <p:cNvPr id="266" name="Picture 2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478276"/>
            <a:ext cx="128699" cy="187198"/>
          </a:xfrm>
          <a:prstGeom prst="rect">
            <a:avLst/>
          </a:prstGeom>
        </p:spPr>
      </p:pic>
      <p:pic>
        <p:nvPicPr>
          <p:cNvPr id="267" name="Picture 2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3478276"/>
            <a:ext cx="128699" cy="187198"/>
          </a:xfrm>
          <a:prstGeom prst="rect">
            <a:avLst/>
          </a:prstGeom>
        </p:spPr>
      </p:pic>
      <p:pic>
        <p:nvPicPr>
          <p:cNvPr id="268" name="Picture 2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478276"/>
            <a:ext cx="128699" cy="187198"/>
          </a:xfrm>
          <a:prstGeom prst="rect">
            <a:avLst/>
          </a:prstGeom>
        </p:spPr>
      </p:pic>
      <p:pic>
        <p:nvPicPr>
          <p:cNvPr id="269" name="Picture 2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3478276"/>
            <a:ext cx="128699" cy="187198"/>
          </a:xfrm>
          <a:prstGeom prst="rect">
            <a:avLst/>
          </a:prstGeom>
        </p:spPr>
      </p:pic>
      <p:sp>
        <p:nvSpPr>
          <p:cNvPr id="270" name="TextBox 269"/>
          <p:cNvSpPr txBox="1"/>
          <p:nvPr/>
        </p:nvSpPr>
        <p:spPr>
          <a:xfrm>
            <a:off x="266700" y="1344930"/>
            <a:ext cx="49148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Market</a:t>
            </a:r>
          </a:p>
        </p:txBody>
      </p:sp>
      <p:pic>
        <p:nvPicPr>
          <p:cNvPr id="271" name="Picture 2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231" y="1335151"/>
            <a:ext cx="128699" cy="187198"/>
          </a:xfrm>
          <a:prstGeom prst="rect">
            <a:avLst/>
          </a:prstGeom>
        </p:spPr>
      </p:pic>
      <p:sp>
        <p:nvSpPr>
          <p:cNvPr id="272" name="TextBox 271"/>
          <p:cNvSpPr txBox="1"/>
          <p:nvPr/>
        </p:nvSpPr>
        <p:spPr>
          <a:xfrm>
            <a:off x="873727" y="1344930"/>
            <a:ext cx="129038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US$ Mn · Tier 1 share</a:t>
            </a:r>
          </a:p>
        </p:txBody>
      </p:sp>
      <p:pic>
        <p:nvPicPr>
          <p:cNvPr id="273" name="Picture 2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2168" y="1335151"/>
            <a:ext cx="128699" cy="187198"/>
          </a:xfrm>
          <a:prstGeom prst="rect">
            <a:avLst/>
          </a:prstGeom>
        </p:spPr>
      </p:pic>
      <p:sp>
        <p:nvSpPr>
          <p:cNvPr id="274" name="TextBox 273"/>
          <p:cNvSpPr txBox="1"/>
          <p:nvPr/>
        </p:nvSpPr>
        <p:spPr>
          <a:xfrm>
            <a:off x="2279664" y="1344930"/>
            <a:ext cx="2028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→</a:t>
            </a:r>
          </a:p>
        </p:txBody>
      </p:sp>
      <p:pic>
        <p:nvPicPr>
          <p:cNvPr id="275" name="Picture 2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0519" y="1335151"/>
            <a:ext cx="128699" cy="187198"/>
          </a:xfrm>
          <a:prstGeom prst="rect">
            <a:avLst/>
          </a:prstGeom>
        </p:spPr>
      </p:pic>
      <p:sp>
        <p:nvSpPr>
          <p:cNvPr id="276" name="TextBox 275"/>
          <p:cNvSpPr txBox="1"/>
          <p:nvPr/>
        </p:nvSpPr>
        <p:spPr>
          <a:xfrm>
            <a:off x="2598014" y="1344930"/>
            <a:ext cx="5283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by 2036</a:t>
            </a:r>
          </a:p>
        </p:txBody>
      </p:sp>
      <p:pic>
        <p:nvPicPr>
          <p:cNvPr id="277" name="Picture 2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1839976"/>
            <a:ext cx="128699" cy="187198"/>
          </a:xfrm>
          <a:prstGeom prst="rect">
            <a:avLst/>
          </a:prstGeom>
        </p:spPr>
      </p:pic>
      <p:sp>
        <p:nvSpPr>
          <p:cNvPr id="278" name="TextBox 277"/>
          <p:cNvSpPr txBox="1"/>
          <p:nvPr/>
        </p:nvSpPr>
        <p:spPr>
          <a:xfrm>
            <a:off x="1544678" y="1849755"/>
            <a:ext cx="142954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79" name="Picture 2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1839976"/>
            <a:ext cx="128699" cy="187198"/>
          </a:xfrm>
          <a:prstGeom prst="rect">
            <a:avLst/>
          </a:prstGeom>
        </p:spPr>
      </p:pic>
      <p:sp>
        <p:nvSpPr>
          <p:cNvPr id="280" name="TextBox 279"/>
          <p:cNvSpPr txBox="1"/>
          <p:nvPr/>
        </p:nvSpPr>
        <p:spPr>
          <a:xfrm>
            <a:off x="3089769" y="1849755"/>
            <a:ext cx="9970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1" name="Picture 2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2697226"/>
            <a:ext cx="128699" cy="187198"/>
          </a:xfrm>
          <a:prstGeom prst="rect">
            <a:avLst/>
          </a:prstGeom>
        </p:spPr>
      </p:pic>
      <p:sp>
        <p:nvSpPr>
          <p:cNvPr id="282" name="TextBox 281"/>
          <p:cNvSpPr txBox="1"/>
          <p:nvPr/>
        </p:nvSpPr>
        <p:spPr>
          <a:xfrm>
            <a:off x="1544678" y="2707005"/>
            <a:ext cx="142954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2 players · avg</a:t>
            </a:r>
          </a:p>
        </p:txBody>
      </p:sp>
      <p:pic>
        <p:nvPicPr>
          <p:cNvPr id="283" name="Picture 2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2697226"/>
            <a:ext cx="128699" cy="187198"/>
          </a:xfrm>
          <a:prstGeom prst="rect">
            <a:avLst/>
          </a:prstGeom>
        </p:spPr>
      </p:pic>
      <p:sp>
        <p:nvSpPr>
          <p:cNvPr id="284" name="TextBox 283"/>
          <p:cNvSpPr txBox="1"/>
          <p:nvPr/>
        </p:nvSpPr>
        <p:spPr>
          <a:xfrm>
            <a:off x="3089769" y="2707005"/>
            <a:ext cx="9970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5" name="Picture 2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3554476"/>
            <a:ext cx="128699" cy="187198"/>
          </a:xfrm>
          <a:prstGeom prst="rect">
            <a:avLst/>
          </a:prstGeom>
        </p:spPr>
      </p:pic>
      <p:sp>
        <p:nvSpPr>
          <p:cNvPr id="286" name="TextBox 285"/>
          <p:cNvSpPr txBox="1"/>
          <p:nvPr/>
        </p:nvSpPr>
        <p:spPr>
          <a:xfrm>
            <a:off x="1544678" y="3564255"/>
            <a:ext cx="142954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87" name="Picture 2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3554476"/>
            <a:ext cx="128699" cy="187198"/>
          </a:xfrm>
          <a:prstGeom prst="rect">
            <a:avLst/>
          </a:prstGeom>
        </p:spPr>
      </p:pic>
      <p:sp>
        <p:nvSpPr>
          <p:cNvPr id="288" name="TextBox 287"/>
          <p:cNvSpPr txBox="1"/>
          <p:nvPr/>
        </p:nvSpPr>
        <p:spPr>
          <a:xfrm>
            <a:off x="3089769" y="3564255"/>
            <a:ext cx="99707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9" name="Picture 2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4411726"/>
            <a:ext cx="128699" cy="187198"/>
          </a:xfrm>
          <a:prstGeom prst="rect">
            <a:avLst/>
          </a:prstGeom>
        </p:spPr>
      </p:pic>
      <p:sp>
        <p:nvSpPr>
          <p:cNvPr id="290" name="TextBox 289"/>
          <p:cNvSpPr txBox="1"/>
          <p:nvPr/>
        </p:nvSpPr>
        <p:spPr>
          <a:xfrm>
            <a:off x="1544678" y="4421505"/>
            <a:ext cx="124700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· – · long tail</a:t>
            </a:r>
          </a:p>
        </p:txBody>
      </p:sp>
      <p:sp>
        <p:nvSpPr>
          <p:cNvPr id="291" name="TextBox 290"/>
          <p:cNvSpPr txBox="1"/>
          <p:nvPr/>
        </p:nvSpPr>
        <p:spPr>
          <a:xfrm>
            <a:off x="1241169" y="5802630"/>
            <a:ext cx="49366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2E7D32"/>
                </a:solidFill>
                <a:latin typeface="Calibri"/>
              </a:rPr>
              <a:t>▲</a:t>
            </a:r>
            <a:r>
              <a:rPr sz="1100" b="1">
                <a:solidFill>
                  <a:srgbClr val="14213D"/>
                </a:solidFill>
                <a:latin typeface="Calibri"/>
              </a:rPr>
              <a:t> HHI =</a:t>
            </a:r>
          </a:p>
        </p:txBody>
      </p:sp>
      <p:pic>
        <p:nvPicPr>
          <p:cNvPr id="292" name="Picture 2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2883" y="5792851"/>
            <a:ext cx="128699" cy="187198"/>
          </a:xfrm>
          <a:prstGeom prst="rect">
            <a:avLst/>
          </a:prstGeom>
        </p:spPr>
      </p:pic>
      <p:sp>
        <p:nvSpPr>
          <p:cNvPr id="293" name="TextBox 292"/>
          <p:cNvSpPr txBox="1"/>
          <p:nvPr/>
        </p:nvSpPr>
        <p:spPr>
          <a:xfrm>
            <a:off x="876202" y="6107430"/>
            <a:ext cx="40089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CR4 =</a:t>
            </a:r>
          </a:p>
        </p:txBody>
      </p:sp>
      <p:pic>
        <p:nvPicPr>
          <p:cNvPr id="294" name="Picture 2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25147" y="6097651"/>
            <a:ext cx="128699" cy="187198"/>
          </a:xfrm>
          <a:prstGeom prst="rect">
            <a:avLst/>
          </a:prstGeom>
        </p:spPr>
      </p:pic>
      <p:sp>
        <p:nvSpPr>
          <p:cNvPr id="295" name="TextBox 294"/>
          <p:cNvSpPr txBox="1"/>
          <p:nvPr/>
        </p:nvSpPr>
        <p:spPr>
          <a:xfrm>
            <a:off x="1392643" y="6107430"/>
            <a:ext cx="10682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Tier 1 : Others =</a:t>
            </a:r>
          </a:p>
        </p:txBody>
      </p:sp>
      <p:pic>
        <p:nvPicPr>
          <p:cNvPr id="296" name="Picture 2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8983" y="6097651"/>
            <a:ext cx="128699" cy="187198"/>
          </a:xfrm>
          <a:prstGeom prst="rect">
            <a:avLst/>
          </a:prstGeom>
        </p:spPr>
      </p:pic>
      <p:sp>
        <p:nvSpPr>
          <p:cNvPr id="297" name="TextBox 296"/>
          <p:cNvSpPr txBox="1"/>
          <p:nvPr/>
        </p:nvSpPr>
        <p:spPr>
          <a:xfrm>
            <a:off x="2576478" y="6107430"/>
            <a:ext cx="139762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: 1 · Top-player share =</a:t>
            </a:r>
          </a:p>
        </p:txBody>
      </p:sp>
      <p:pic>
        <p:nvPicPr>
          <p:cNvPr id="298" name="Picture 2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150" y="6097651"/>
            <a:ext cx="128699" cy="187198"/>
          </a:xfrm>
          <a:prstGeom prst="rect">
            <a:avLst/>
          </a:prstGeom>
        </p:spPr>
      </p:pic>
      <p:sp>
        <p:nvSpPr>
          <p:cNvPr id="299" name="TextBox 298"/>
          <p:cNvSpPr txBox="1"/>
          <p:nvPr/>
        </p:nvSpPr>
        <p:spPr>
          <a:xfrm>
            <a:off x="4089646" y="6107430"/>
            <a:ext cx="120635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Class: Fragmented</a:t>
            </a:r>
          </a:p>
        </p:txBody>
      </p:sp>
      <p:sp>
        <p:nvSpPr>
          <p:cNvPr id="300" name="TextBox 299"/>
          <p:cNvSpPr txBox="1"/>
          <p:nvPr/>
        </p:nvSpPr>
        <p:spPr>
          <a:xfrm>
            <a:off x="6372225" y="5476875"/>
            <a:ext cx="47156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1 (</a:t>
            </a:r>
          </a:p>
        </p:txBody>
      </p:sp>
      <p:pic>
        <p:nvPicPr>
          <p:cNvPr id="301" name="Picture 3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1838" y="5467095"/>
            <a:ext cx="128699" cy="187198"/>
          </a:xfrm>
          <a:prstGeom prst="rect">
            <a:avLst/>
          </a:prstGeom>
        </p:spPr>
      </p:pic>
      <p:sp>
        <p:nvSpPr>
          <p:cNvPr id="302" name="TextBox 301"/>
          <p:cNvSpPr txBox="1"/>
          <p:nvPr/>
        </p:nvSpPr>
        <p:spPr>
          <a:xfrm>
            <a:off x="6959334" y="5476875"/>
            <a:ext cx="255014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 holds the largest single block of value on a</a:t>
            </a:r>
          </a:p>
        </p:txBody>
      </p:sp>
      <p:pic>
        <p:nvPicPr>
          <p:cNvPr id="303" name="Picture 3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57531" y="5467095"/>
            <a:ext cx="128699" cy="187198"/>
          </a:xfrm>
          <a:prstGeom prst="rect">
            <a:avLst/>
          </a:prstGeom>
        </p:spPr>
      </p:pic>
      <p:sp>
        <p:nvSpPr>
          <p:cNvPr id="304" name="TextBox 303"/>
          <p:cNvSpPr txBox="1"/>
          <p:nvPr/>
        </p:nvSpPr>
        <p:spPr>
          <a:xfrm>
            <a:off x="9625026" y="5476875"/>
            <a:ext cx="125983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base; CR4 of</a:t>
            </a:r>
          </a:p>
        </p:txBody>
      </p:sp>
      <p:pic>
        <p:nvPicPr>
          <p:cNvPr id="305" name="Picture 3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32908" y="5467095"/>
            <a:ext cx="128699" cy="187198"/>
          </a:xfrm>
          <a:prstGeom prst="rect">
            <a:avLst/>
          </a:prstGeom>
        </p:spPr>
      </p:pic>
      <p:sp>
        <p:nvSpPr>
          <p:cNvPr id="306" name="TextBox 305"/>
          <p:cNvSpPr txBox="1"/>
          <p:nvPr/>
        </p:nvSpPr>
        <p:spPr>
          <a:xfrm>
            <a:off x="11000404" y="5476875"/>
            <a:ext cx="678656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and HHI of</a:t>
            </a:r>
          </a:p>
        </p:txBody>
      </p:sp>
      <p:pic>
        <p:nvPicPr>
          <p:cNvPr id="307" name="Picture 3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8757" y="5634735"/>
            <a:ext cx="128699" cy="187198"/>
          </a:xfrm>
          <a:prstGeom prst="rect">
            <a:avLst/>
          </a:prstGeom>
        </p:spPr>
      </p:pic>
      <p:sp>
        <p:nvSpPr>
          <p:cNvPr id="308" name="TextBox 307"/>
          <p:cNvSpPr txBox="1"/>
          <p:nvPr/>
        </p:nvSpPr>
        <p:spPr>
          <a:xfrm>
            <a:off x="6526253" y="5644515"/>
            <a:ext cx="203063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classify the market as fragmented.</a:t>
            </a:r>
          </a:p>
        </p:txBody>
      </p:sp>
      <p:sp>
        <p:nvSpPr>
          <p:cNvPr id="309" name="TextBox 308"/>
          <p:cNvSpPr txBox="1"/>
          <p:nvPr/>
        </p:nvSpPr>
        <p:spPr>
          <a:xfrm>
            <a:off x="6372225" y="5857875"/>
            <a:ext cx="133104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2 grows fastest at</a:t>
            </a:r>
          </a:p>
        </p:txBody>
      </p:sp>
      <p:pic>
        <p:nvPicPr>
          <p:cNvPr id="310" name="Picture 3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51320" y="5848095"/>
            <a:ext cx="128699" cy="187198"/>
          </a:xfrm>
          <a:prstGeom prst="rect">
            <a:avLst/>
          </a:prstGeom>
        </p:spPr>
      </p:pic>
      <p:sp>
        <p:nvSpPr>
          <p:cNvPr id="311" name="TextBox 310"/>
          <p:cNvSpPr txBox="1"/>
          <p:nvPr/>
        </p:nvSpPr>
        <p:spPr>
          <a:xfrm>
            <a:off x="7818816" y="5857875"/>
            <a:ext cx="98286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CAGR, moving +</a:t>
            </a:r>
          </a:p>
        </p:txBody>
      </p:sp>
      <p:pic>
        <p:nvPicPr>
          <p:cNvPr id="312" name="Picture 3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49737" y="5848095"/>
            <a:ext cx="128699" cy="187198"/>
          </a:xfrm>
          <a:prstGeom prst="rect">
            <a:avLst/>
          </a:prstGeom>
        </p:spPr>
      </p:pic>
      <p:sp>
        <p:nvSpPr>
          <p:cNvPr id="313" name="TextBox 312"/>
          <p:cNvSpPr txBox="1"/>
          <p:nvPr/>
        </p:nvSpPr>
        <p:spPr>
          <a:xfrm>
            <a:off x="8917232" y="5857875"/>
            <a:ext cx="123472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pp of share by 2036.</a:t>
            </a:r>
          </a:p>
        </p:txBody>
      </p:sp>
      <p:sp>
        <p:nvSpPr>
          <p:cNvPr id="314" name="TextBox 313"/>
          <p:cNvSpPr txBox="1"/>
          <p:nvPr/>
        </p:nvSpPr>
        <p:spPr>
          <a:xfrm>
            <a:off x="6372225" y="6076950"/>
            <a:ext cx="216160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together hold</a:t>
            </a:r>
          </a:p>
        </p:txBody>
      </p:sp>
      <p:pic>
        <p:nvPicPr>
          <p:cNvPr id="315" name="Picture 3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81881" y="6067170"/>
            <a:ext cx="128699" cy="187198"/>
          </a:xfrm>
          <a:prstGeom prst="rect">
            <a:avLst/>
          </a:prstGeom>
        </p:spPr>
      </p:pic>
      <p:sp>
        <p:nvSpPr>
          <p:cNvPr id="316" name="TextBox 315"/>
          <p:cNvSpPr txBox="1"/>
          <p:nvPr/>
        </p:nvSpPr>
        <p:spPr>
          <a:xfrm>
            <a:off x="8649376" y="6076950"/>
            <a:ext cx="212749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value; the average Tier 3 player is</a:t>
            </a:r>
          </a:p>
        </p:txBody>
      </p:sp>
      <p:pic>
        <p:nvPicPr>
          <p:cNvPr id="317" name="Picture 3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24926" y="6067170"/>
            <a:ext cx="128699" cy="187198"/>
          </a:xfrm>
          <a:prstGeom prst="rect">
            <a:avLst/>
          </a:prstGeom>
        </p:spPr>
      </p:pic>
      <p:sp>
        <p:nvSpPr>
          <p:cNvPr id="318" name="TextBox 317"/>
          <p:cNvSpPr txBox="1"/>
          <p:nvPr/>
        </p:nvSpPr>
        <p:spPr>
          <a:xfrm>
            <a:off x="10892422" y="6076950"/>
            <a:ext cx="87647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x smaller than</a:t>
            </a:r>
          </a:p>
        </p:txBody>
      </p:sp>
      <p:sp>
        <p:nvSpPr>
          <p:cNvPr id="319" name="TextBox 318"/>
          <p:cNvSpPr txBox="1"/>
          <p:nvPr/>
        </p:nvSpPr>
        <p:spPr>
          <a:xfrm>
            <a:off x="6372225" y="6244590"/>
            <a:ext cx="102053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 Tier 1 supplier.</a:t>
            </a: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Pet Cosmetic Products Market, Europe 2026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11906250" cy="2381250"/>
          </a:xfrm>
          <a:prstGeom prst="roundRect">
            <a:avLst>
              <a:gd name="adj" fmla="val 64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117157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Shift, 2026 → 2036 – Tier Migration and Entry / Exit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71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57175" y="1447800"/>
            <a:ext cx="19050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676400"/>
            <a:ext cx="19050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95275" y="1828800"/>
            <a:ext cx="1828800" cy="4191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238375" y="1466850"/>
            <a:ext cx="12001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23145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22383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9" name="Connector 18"/>
          <p:cNvCxnSpPr/>
          <p:nvPr/>
        </p:nvCxnSpPr>
        <p:spPr>
          <a:xfrm>
            <a:off x="22383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/>
          <p:nvPr/>
        </p:nvSpPr>
        <p:spPr>
          <a:xfrm>
            <a:off x="33432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238375" y="2019300"/>
            <a:ext cx="12001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35147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3514725" y="1447800"/>
            <a:ext cx="19050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514725" y="1676400"/>
            <a:ext cx="19050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Mid-sized players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3552825" y="1828800"/>
            <a:ext cx="1828800" cy="4191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5495925" y="1466850"/>
            <a:ext cx="12001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557212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Freeform 27"/>
          <p:cNvSpPr/>
          <p:nvPr/>
        </p:nvSpPr>
        <p:spPr>
          <a:xfrm>
            <a:off x="549592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29" name="Connector 28"/>
          <p:cNvCxnSpPr/>
          <p:nvPr/>
        </p:nvCxnSpPr>
        <p:spPr>
          <a:xfrm>
            <a:off x="549592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Freeform 29"/>
          <p:cNvSpPr/>
          <p:nvPr/>
        </p:nvSpPr>
        <p:spPr>
          <a:xfrm>
            <a:off x="660082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5495925" y="2019300"/>
            <a:ext cx="12001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67722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" name="TextBox 32"/>
          <p:cNvSpPr txBox="1"/>
          <p:nvPr/>
        </p:nvSpPr>
        <p:spPr>
          <a:xfrm>
            <a:off x="6772275" y="1447800"/>
            <a:ext cx="19050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6772275" y="1676400"/>
            <a:ext cx="19050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Emerging / local players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810375" y="1828800"/>
            <a:ext cx="1828800" cy="4191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8753475" y="1466850"/>
            <a:ext cx="12001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2 up-tier (M&amp;A)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88296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Freeform 37"/>
          <p:cNvSpPr/>
          <p:nvPr/>
        </p:nvSpPr>
        <p:spPr>
          <a:xfrm>
            <a:off x="87534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39" name="Connector 38"/>
          <p:cNvCxnSpPr/>
          <p:nvPr/>
        </p:nvCxnSpPr>
        <p:spPr>
          <a:xfrm>
            <a:off x="87534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Freeform 39"/>
          <p:cNvSpPr/>
          <p:nvPr/>
        </p:nvSpPr>
        <p:spPr>
          <a:xfrm>
            <a:off x="98583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1" name="TextBox 40"/>
          <p:cNvSpPr txBox="1"/>
          <p:nvPr/>
        </p:nvSpPr>
        <p:spPr>
          <a:xfrm>
            <a:off x="8753475" y="2019300"/>
            <a:ext cx="12001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1 down / exit</a:t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100298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TextBox 42"/>
          <p:cNvSpPr txBox="1"/>
          <p:nvPr/>
        </p:nvSpPr>
        <p:spPr>
          <a:xfrm>
            <a:off x="10029825" y="1447800"/>
            <a:ext cx="190500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0029825" y="1676400"/>
            <a:ext cx="190500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067925" y="1828800"/>
            <a:ext cx="1828800" cy="4191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endParaRPr/>
          </a:p>
        </p:txBody>
      </p:sp>
      <p:sp>
        <p:nvSpPr>
          <p:cNvPr id="46" name="Rounded Rectangle 45"/>
          <p:cNvSpPr/>
          <p:nvPr/>
        </p:nvSpPr>
        <p:spPr>
          <a:xfrm>
            <a:off x="2571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FMI KPI Value"/>
          <p:cNvSpPr txBox="1"/>
          <p:nvPr/>
        </p:nvSpPr>
        <p:spPr>
          <a:xfrm>
            <a:off x="352425" y="2457450"/>
            <a:ext cx="7620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90625" y="2457450"/>
            <a:ext cx="18097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New entrants 2026–2036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90625" y="2800350"/>
            <a:ext cx="1809750" cy="381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scaling up from the long tail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32099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FMI KPI Value"/>
          <p:cNvSpPr txBox="1"/>
          <p:nvPr/>
        </p:nvSpPr>
        <p:spPr>
          <a:xfrm>
            <a:off x="3305175" y="2457450"/>
            <a:ext cx="7620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143375" y="2457450"/>
            <a:ext cx="18097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Exits / acquisitions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143375" y="2800350"/>
            <a:ext cx="1809750" cy="381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absorbed mainly by Tier 1–2 acquirers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61626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FMI KPI Value"/>
          <p:cNvSpPr txBox="1"/>
          <p:nvPr/>
        </p:nvSpPr>
        <p:spPr>
          <a:xfrm>
            <a:off x="6257925" y="2457450"/>
            <a:ext cx="7620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096125" y="2457450"/>
            <a:ext cx="18097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Net change in player count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096125" y="2800350"/>
            <a:ext cx="1809750" cy="381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Between 2026 and 2036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91154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FMI KPI Value"/>
          <p:cNvSpPr txBox="1"/>
          <p:nvPr/>
        </p:nvSpPr>
        <p:spPr>
          <a:xfrm>
            <a:off x="9210675" y="2457450"/>
            <a:ext cx="762000" cy="3429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048875" y="2457450"/>
            <a:ext cx="1809750" cy="3429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moving between tiers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0048875" y="2800350"/>
            <a:ext cx="1809750" cy="3810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largest transfer: Others → Tier 2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42875" y="3543300"/>
            <a:ext cx="7096125" cy="3086100"/>
          </a:xfrm>
          <a:prstGeom prst="roundRect">
            <a:avLst>
              <a:gd name="adj" fmla="val 107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TextBox 62"/>
          <p:cNvSpPr txBox="1"/>
          <p:nvPr/>
        </p:nvSpPr>
        <p:spPr>
          <a:xfrm>
            <a:off x="238125" y="3600450"/>
            <a:ext cx="6905625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Forces Shaping the Tier Structure (1 = weak, 5 = strong)</a:t>
            </a:r>
          </a:p>
        </p:txBody>
      </p:sp>
      <p:sp>
        <p:nvSpPr>
          <p:cNvPr id="64" name="Rectangle 63"/>
          <p:cNvSpPr/>
          <p:nvPr/>
        </p:nvSpPr>
        <p:spPr>
          <a:xfrm>
            <a:off x="238125" y="3867150"/>
            <a:ext cx="1428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295275" y="3867150"/>
            <a:ext cx="135255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Force</a:t>
            </a:r>
          </a:p>
        </p:txBody>
      </p:sp>
      <p:sp>
        <p:nvSpPr>
          <p:cNvPr id="66" name="Rectangle 65"/>
          <p:cNvSpPr/>
          <p:nvPr/>
        </p:nvSpPr>
        <p:spPr>
          <a:xfrm>
            <a:off x="1666875" y="3867150"/>
            <a:ext cx="233362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7" name="TextBox 66"/>
          <p:cNvSpPr txBox="1"/>
          <p:nvPr/>
        </p:nvSpPr>
        <p:spPr>
          <a:xfrm>
            <a:off x="1724025" y="3867150"/>
            <a:ext cx="2257425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Drivers in the market</a:t>
            </a:r>
          </a:p>
        </p:txBody>
      </p:sp>
      <p:sp>
        <p:nvSpPr>
          <p:cNvPr id="68" name="Rectangle 67"/>
          <p:cNvSpPr/>
          <p:nvPr/>
        </p:nvSpPr>
        <p:spPr>
          <a:xfrm>
            <a:off x="4000500" y="3867150"/>
            <a:ext cx="666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4057650" y="3867150"/>
            <a:ext cx="59055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Score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667250" y="3867150"/>
            <a:ext cx="2476500" cy="247650"/>
          </a:xfrm>
          <a:prstGeom prst="rect">
            <a:avLst/>
          </a:prstGeom>
          <a:solidFill>
            <a:srgbClr val="0E8C8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1" name="TextBox 70"/>
          <p:cNvSpPr txBox="1"/>
          <p:nvPr/>
        </p:nvSpPr>
        <p:spPr>
          <a:xfrm>
            <a:off x="4724400" y="3867150"/>
            <a:ext cx="2400300" cy="2476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Effect on tier structure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38125" y="41148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3" name="TextBox 72"/>
          <p:cNvSpPr txBox="1"/>
          <p:nvPr/>
        </p:nvSpPr>
        <p:spPr>
          <a:xfrm>
            <a:off x="295275" y="4114800"/>
            <a:ext cx="1333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Entry barriers</a:t>
            </a:r>
          </a:p>
        </p:txBody>
      </p:sp>
      <p:sp>
        <p:nvSpPr>
          <p:cNvPr id="74" name="Rectangle 73"/>
          <p:cNvSpPr/>
          <p:nvPr/>
        </p:nvSpPr>
        <p:spPr>
          <a:xfrm>
            <a:off x="1666875" y="41148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5" name="TextBox 74"/>
          <p:cNvSpPr txBox="1"/>
          <p:nvPr/>
        </p:nvSpPr>
        <p:spPr>
          <a:xfrm>
            <a:off x="1724025" y="4114800"/>
            <a:ext cx="2238375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Certification, qualification, scale economics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4000500" y="41148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TextBox 76"/>
          <p:cNvSpPr txBox="1"/>
          <p:nvPr/>
        </p:nvSpPr>
        <p:spPr>
          <a:xfrm>
            <a:off x="4057650" y="4114800"/>
            <a:ext cx="571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667250" y="41148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TextBox 78"/>
          <p:cNvSpPr txBox="1"/>
          <p:nvPr/>
        </p:nvSpPr>
        <p:spPr>
          <a:xfrm>
            <a:off x="4724400" y="4114800"/>
            <a:ext cx="238125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Protects Tier 1–2; slows new entry</a:t>
            </a:r>
          </a:p>
        </p:txBody>
      </p:sp>
      <p:sp>
        <p:nvSpPr>
          <p:cNvPr id="80" name="Rectangle 79"/>
          <p:cNvSpPr/>
          <p:nvPr/>
        </p:nvSpPr>
        <p:spPr>
          <a:xfrm>
            <a:off x="238125" y="45243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1" name="TextBox 80"/>
          <p:cNvSpPr txBox="1"/>
          <p:nvPr/>
        </p:nvSpPr>
        <p:spPr>
          <a:xfrm>
            <a:off x="295275" y="4524375"/>
            <a:ext cx="1333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Buyer power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666875" y="45243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TextBox 82"/>
          <p:cNvSpPr txBox="1"/>
          <p:nvPr/>
        </p:nvSpPr>
        <p:spPr>
          <a:xfrm>
            <a:off x="1724025" y="4524375"/>
            <a:ext cx="2238375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Key-account purchasing, multi-year supply contracts</a:t>
            </a:r>
          </a:p>
        </p:txBody>
      </p:sp>
      <p:sp>
        <p:nvSpPr>
          <p:cNvPr id="84" name="Rectangle 83"/>
          <p:cNvSpPr/>
          <p:nvPr/>
        </p:nvSpPr>
        <p:spPr>
          <a:xfrm>
            <a:off x="4000500" y="45243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TextBox 84"/>
          <p:cNvSpPr txBox="1"/>
          <p:nvPr/>
        </p:nvSpPr>
        <p:spPr>
          <a:xfrm>
            <a:off x="4057650" y="4524375"/>
            <a:ext cx="571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4667250" y="45243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TextBox 86"/>
          <p:cNvSpPr txBox="1"/>
          <p:nvPr/>
        </p:nvSpPr>
        <p:spPr>
          <a:xfrm>
            <a:off x="4724400" y="4524375"/>
            <a:ext cx="238125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Compresses Tier 3 pricing</a:t>
            </a:r>
          </a:p>
        </p:txBody>
      </p:sp>
      <p:sp>
        <p:nvSpPr>
          <p:cNvPr id="88" name="Rectangle 87"/>
          <p:cNvSpPr/>
          <p:nvPr/>
        </p:nvSpPr>
        <p:spPr>
          <a:xfrm>
            <a:off x="238125" y="493395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TextBox 88"/>
          <p:cNvSpPr txBox="1"/>
          <p:nvPr/>
        </p:nvSpPr>
        <p:spPr>
          <a:xfrm>
            <a:off x="295275" y="4933950"/>
            <a:ext cx="1333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Switching costs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666875" y="493395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TextBox 90"/>
          <p:cNvSpPr txBox="1"/>
          <p:nvPr/>
        </p:nvSpPr>
        <p:spPr>
          <a:xfrm>
            <a:off x="1724025" y="4933950"/>
            <a:ext cx="2238375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Requalification, integration and retraining</a:t>
            </a:r>
          </a:p>
        </p:txBody>
      </p:sp>
      <p:sp>
        <p:nvSpPr>
          <p:cNvPr id="92" name="Rectangle 91"/>
          <p:cNvSpPr/>
          <p:nvPr/>
        </p:nvSpPr>
        <p:spPr>
          <a:xfrm>
            <a:off x="4000500" y="493395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TextBox 92"/>
          <p:cNvSpPr txBox="1"/>
          <p:nvPr/>
        </p:nvSpPr>
        <p:spPr>
          <a:xfrm>
            <a:off x="4057650" y="4933950"/>
            <a:ext cx="571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4" name="Rectangle 93"/>
          <p:cNvSpPr/>
          <p:nvPr/>
        </p:nvSpPr>
        <p:spPr>
          <a:xfrm>
            <a:off x="4667250" y="493395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TextBox 94"/>
          <p:cNvSpPr txBox="1"/>
          <p:nvPr/>
        </p:nvSpPr>
        <p:spPr>
          <a:xfrm>
            <a:off x="4724400" y="4933950"/>
            <a:ext cx="238125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Locks in the installed base</a:t>
            </a:r>
          </a:p>
        </p:txBody>
      </p:sp>
      <p:sp>
        <p:nvSpPr>
          <p:cNvPr id="96" name="Rectangle 95"/>
          <p:cNvSpPr/>
          <p:nvPr/>
        </p:nvSpPr>
        <p:spPr>
          <a:xfrm>
            <a:off x="238125" y="534352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TextBox 96"/>
          <p:cNvSpPr txBox="1"/>
          <p:nvPr/>
        </p:nvSpPr>
        <p:spPr>
          <a:xfrm>
            <a:off x="295275" y="5343525"/>
            <a:ext cx="1333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Technology substitution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666875" y="534352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TextBox 98"/>
          <p:cNvSpPr txBox="1"/>
          <p:nvPr/>
        </p:nvSpPr>
        <p:spPr>
          <a:xfrm>
            <a:off x="1724025" y="5343525"/>
            <a:ext cx="2238375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Alternative materials and next-generation formats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4000500" y="534352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1" name="TextBox 100"/>
          <p:cNvSpPr txBox="1"/>
          <p:nvPr/>
        </p:nvSpPr>
        <p:spPr>
          <a:xfrm>
            <a:off x="4057650" y="5343525"/>
            <a:ext cx="571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4667250" y="534352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TextBox 102"/>
          <p:cNvSpPr txBox="1"/>
          <p:nvPr/>
        </p:nvSpPr>
        <p:spPr>
          <a:xfrm>
            <a:off x="4724400" y="5343525"/>
            <a:ext cx="238125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Opens demand to Tier 2–3 innovators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38125" y="57531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TextBox 104"/>
          <p:cNvSpPr txBox="1"/>
          <p:nvPr/>
        </p:nvSpPr>
        <p:spPr>
          <a:xfrm>
            <a:off x="295275" y="5753100"/>
            <a:ext cx="1333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Supplier power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666875" y="57531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TextBox 106"/>
          <p:cNvSpPr txBox="1"/>
          <p:nvPr/>
        </p:nvSpPr>
        <p:spPr>
          <a:xfrm>
            <a:off x="1724025" y="5753100"/>
            <a:ext cx="2238375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Few qualified input and component suppliers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4000500" y="57531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9" name="TextBox 108"/>
          <p:cNvSpPr txBox="1"/>
          <p:nvPr/>
        </p:nvSpPr>
        <p:spPr>
          <a:xfrm>
            <a:off x="4057650" y="5753100"/>
            <a:ext cx="571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4667250" y="57531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TextBox 110"/>
          <p:cNvSpPr txBox="1"/>
          <p:nvPr/>
        </p:nvSpPr>
        <p:spPr>
          <a:xfrm>
            <a:off x="4724400" y="5753100"/>
            <a:ext cx="238125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Raises input cost for sub-scale players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238125" y="61626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TextBox 112"/>
          <p:cNvSpPr txBox="1"/>
          <p:nvPr/>
        </p:nvSpPr>
        <p:spPr>
          <a:xfrm>
            <a:off x="295275" y="6162675"/>
            <a:ext cx="1333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Overall structural pressure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1666875" y="61626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5" name="TextBox 114"/>
          <p:cNvSpPr txBox="1"/>
          <p:nvPr/>
        </p:nvSpPr>
        <p:spPr>
          <a:xfrm>
            <a:off x="1724025" y="6162675"/>
            <a:ext cx="2238375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Average of the five forces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000500" y="61626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7" name="TextBox 116"/>
          <p:cNvSpPr txBox="1"/>
          <p:nvPr/>
        </p:nvSpPr>
        <p:spPr>
          <a:xfrm>
            <a:off x="4057650" y="6162675"/>
            <a:ext cx="57150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667250" y="61626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9" name="TextBox 118"/>
          <p:cNvSpPr txBox="1"/>
          <p:nvPr/>
        </p:nvSpPr>
        <p:spPr>
          <a:xfrm>
            <a:off x="4724400" y="6162675"/>
            <a:ext cx="2381250" cy="40957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Consolidation towards Tier 1–2</a:t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7381875" y="3543300"/>
            <a:ext cx="4667250" cy="3086100"/>
          </a:xfrm>
          <a:prstGeom prst="roundRect">
            <a:avLst>
              <a:gd name="adj" fmla="val 163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1" name="TextBox 120"/>
          <p:cNvSpPr txBox="1"/>
          <p:nvPr/>
        </p:nvSpPr>
        <p:spPr>
          <a:xfrm>
            <a:off x="7477125" y="3600450"/>
            <a:ext cx="4476750" cy="2095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496175" y="3848100"/>
            <a:ext cx="114300" cy="161925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629525" y="3848100"/>
            <a:ext cx="4305300" cy="695325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24" name="TextBox 123"/>
          <p:cNvSpPr txBox="1"/>
          <p:nvPr/>
        </p:nvSpPr>
        <p:spPr>
          <a:xfrm>
            <a:off x="7496175" y="4429125"/>
            <a:ext cx="114300" cy="161925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7629525" y="4429125"/>
            <a:ext cx="4305300" cy="695325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1 Tier 2 player is positioned to move up-tier by 2036 through M&amp;A and key-account wins – the main structural change of the decade.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496175" y="5010150"/>
            <a:ext cx="114300" cy="161925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7629525" y="5010150"/>
            <a:ext cx="4305300" cy="533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128" name="TextBox 127"/>
          <p:cNvSpPr txBox="1"/>
          <p:nvPr/>
        </p:nvSpPr>
        <p:spPr>
          <a:xfrm>
            <a:off x="7496175" y="5429250"/>
            <a:ext cx="114300" cy="161925"/>
          </a:xfrm>
          <a:prstGeom prst="rect">
            <a:avLst/>
          </a:prstGeom>
          <a:noFill/>
        </p:spPr>
        <p:txBody>
          <a:bodyPr wrap="none" lIns="0" tIns="0" r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7629525" y="5429250"/>
            <a:ext cx="4305300" cy="533400"/>
          </a:xfrm>
          <a:prstGeom prst="rect">
            <a:avLst/>
          </a:prstGeom>
          <a:noFill/>
        </p:spPr>
        <p:txBody>
          <a:bodyPr wrap="square" lIns="28575" tIns="9525" rIns="2857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Entry barriers (4 / 5) and buyer power (4 / 5) are the dominant forces shaping the tier structure.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726" y="2545080"/>
            <a:ext cx="257397" cy="374396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57476" y="2545080"/>
            <a:ext cx="257397" cy="374396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0226" y="2545080"/>
            <a:ext cx="257397" cy="374396"/>
          </a:xfrm>
          <a:prstGeom prst="rect">
            <a:avLst/>
          </a:prstGeom>
        </p:spPr>
      </p:pic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62976" y="2545080"/>
            <a:ext cx="257397" cy="374396"/>
          </a:xfrm>
          <a:prstGeom prst="rect">
            <a:avLst/>
          </a:prstGeom>
        </p:spPr>
      </p:pic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4225988"/>
            <a:ext cx="128699" cy="187198"/>
          </a:xfrm>
          <a:prstGeom prst="rect">
            <a:avLst/>
          </a:prstGeom>
        </p:spPr>
      </p:pic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4635563"/>
            <a:ext cx="128699" cy="187198"/>
          </a:xfrm>
          <a:prstGeom prst="rect">
            <a:avLst/>
          </a:prstGeom>
        </p:spPr>
      </p:pic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045138"/>
            <a:ext cx="128699" cy="187198"/>
          </a:xfrm>
          <a:prstGeom prst="rect">
            <a:avLst/>
          </a:prstGeom>
        </p:spPr>
      </p:pic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454713"/>
            <a:ext cx="128699" cy="187198"/>
          </a:xfrm>
          <a:prstGeom prst="rect">
            <a:avLst/>
          </a:prstGeom>
        </p:spPr>
      </p:pic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864288"/>
            <a:ext cx="128699" cy="187198"/>
          </a:xfrm>
          <a:prstGeom prst="rect">
            <a:avLst/>
          </a:prstGeom>
        </p:spPr>
      </p:pic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6273863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547018" y="1870710"/>
            <a:ext cx="9291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5 players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24204" y="1860931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1591699" y="1870710"/>
            <a:ext cx="2028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42554" y="1860931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1049783" y="2038350"/>
            <a:ext cx="3959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804568" y="1870710"/>
            <a:ext cx="9291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2 → 2 players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1754" y="1860931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4849249" y="1870710"/>
            <a:ext cx="2028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00104" y="1860931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4307333" y="2038350"/>
            <a:ext cx="3959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7062118" y="1870710"/>
            <a:ext cx="9291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4 players ·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9304" y="1860931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8106799" y="1870710"/>
            <a:ext cx="2028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57654" y="1860931"/>
            <a:ext cx="128699" cy="187198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7564883" y="2038350"/>
            <a:ext cx="3959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0286075" y="1954530"/>
            <a:ext cx="6388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Long tail ·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72946" y="1944751"/>
            <a:ext cx="128699" cy="187198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11040442" y="1954530"/>
            <a:ext cx="2028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→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91297" y="1944751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11358792" y="1954530"/>
            <a:ext cx="3959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share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7658100" y="3857625"/>
            <a:ext cx="182817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The market is fragmented (HHI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4331" y="3847846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9601827" y="3857625"/>
            <a:ext cx="206856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); Tier 1 sets pricing and innovation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7658100" y="4025265"/>
            <a:ext cx="212476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benchmarks and is expected to hold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30921" y="4015486"/>
            <a:ext cx="128699" cy="187198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9898416" y="4025265"/>
            <a:ext cx="101699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 in 2036.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7658100" y="5019675"/>
            <a:ext cx="347101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face the highest structural pressure (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7170" y="5009895"/>
            <a:ext cx="128699" cy="187198"/>
          </a:xfrm>
          <a:prstGeom prst="rect">
            <a:avLst/>
          </a:prstGeom>
        </p:spPr>
      </p:pic>
      <p:sp>
        <p:nvSpPr>
          <p:cNvPr id="169" name="TextBox 168"/>
          <p:cNvSpPr txBox="1"/>
          <p:nvPr/>
        </p:nvSpPr>
        <p:spPr>
          <a:xfrm>
            <a:off x="11244666" y="5019675"/>
            <a:ext cx="41508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/ 5); 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7658100" y="5187315"/>
            <a:ext cx="254141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players are expected to exit or be acquired.</a:t>
            </a: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Competitive Dashboard View (2026)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companies on portfolio, coverage, revenue, share, regional presence and strategy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477500" cy="164283"/>
          </a:xfrm>
          <a:prstGeom prst="rect">
            <a:avLst/>
          </a:prstGeom>
          <a:noFill/>
        </p:spPr>
        <p:txBody>
          <a:bodyPr wrap="square" lIns="0" tIns="0" rIns="1905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Intensified competition across the leading players portfolio, revenue, share, regional presence and strategy.  All figures 2026.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33350" y="1153291"/>
            <a:ext cx="11925300" cy="4563424"/>
          </a:xfrm>
          <a:prstGeom prst="roundRect">
            <a:avLst>
              <a:gd name="adj" fmla="val 16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Rectangle 11"/>
          <p:cNvSpPr/>
          <p:nvPr/>
        </p:nvSpPr>
        <p:spPr>
          <a:xfrm>
            <a:off x="133350" y="1171544"/>
            <a:ext cx="11925300" cy="365074"/>
          </a:xfrm>
          <a:prstGeom prst="rect">
            <a:avLst/>
          </a:prstGeom>
          <a:solidFill>
            <a:srgbClr val="F1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Rectangle 12"/>
          <p:cNvSpPr/>
          <p:nvPr/>
        </p:nvSpPr>
        <p:spPr>
          <a:xfrm>
            <a:off x="133350" y="1171544"/>
            <a:ext cx="1143000" cy="4526917"/>
          </a:xfrm>
          <a:prstGeom prst="rect">
            <a:avLst/>
          </a:prstGeom>
          <a:solidFill>
            <a:srgbClr val="F7FA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cxnSp>
        <p:nvCxnSpPr>
          <p:cNvPr id="14" name="Connector 13"/>
          <p:cNvCxnSpPr/>
          <p:nvPr/>
        </p:nvCxnSpPr>
        <p:spPr>
          <a:xfrm>
            <a:off x="133350" y="153661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133350" y="179217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133350" y="263184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133350" y="2960407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133350" y="3288973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133350" y="4055629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133350" y="504132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13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12954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23717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34480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45243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56007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6770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775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88296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99060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109823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133350" y="5698461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171450" y="1536618"/>
            <a:ext cx="1085850" cy="255552"/>
          </a:xfrm>
          <a:prstGeom prst="rect">
            <a:avLst/>
          </a:prstGeom>
          <a:noFill/>
        </p:spPr>
        <p:txBody>
          <a:bodyPr wrap="square" lIns="19050" tIns="9525" rIns="19050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Company / Brand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71450" y="1792170"/>
            <a:ext cx="1085850" cy="839670"/>
          </a:xfrm>
          <a:prstGeom prst="rect">
            <a:avLst/>
          </a:prstGeom>
          <a:noFill/>
        </p:spPr>
        <p:txBody>
          <a:bodyPr wrap="square" lIns="19050" tIns="9525" rIns="19050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Product Portfolio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71450" y="2631840"/>
            <a:ext cx="1085850" cy="328567"/>
          </a:xfrm>
          <a:prstGeom prst="rect">
            <a:avLst/>
          </a:prstGeom>
          <a:noFill/>
        </p:spPr>
        <p:txBody>
          <a:bodyPr wrap="square" lIns="19050" tIns="9525" rIns="19050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Overall Rev (US$ Mn)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1450" y="2960407"/>
            <a:ext cx="1085850" cy="328567"/>
          </a:xfrm>
          <a:prstGeom prst="rect">
            <a:avLst/>
          </a:prstGeom>
          <a:noFill/>
        </p:spPr>
        <p:txBody>
          <a:bodyPr wrap="square" lIns="19050" tIns="9525" rIns="19050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Target Rev (US$ Mn)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1450" y="3288973"/>
            <a:ext cx="1085850" cy="766655"/>
          </a:xfrm>
          <a:prstGeom prst="rect">
            <a:avLst/>
          </a:prstGeom>
          <a:noFill/>
        </p:spPr>
        <p:txBody>
          <a:bodyPr wrap="square" lIns="19050" tIns="9525" rIns="19050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Market Share (%)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1450" y="4055629"/>
            <a:ext cx="1085850" cy="985700"/>
          </a:xfrm>
          <a:prstGeom prst="rect">
            <a:avLst/>
          </a:prstGeom>
          <a:noFill/>
        </p:spPr>
        <p:txBody>
          <a:bodyPr wrap="square" lIns="19050" tIns="9525" rIns="19050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Regional Presence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1450" y="5041328"/>
            <a:ext cx="1085850" cy="657133"/>
          </a:xfrm>
          <a:prstGeom prst="rect">
            <a:avLst/>
          </a:prstGeom>
          <a:noFill/>
        </p:spPr>
        <p:txBody>
          <a:bodyPr wrap="square" lIns="19050" tIns="9525" rIns="19050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Strategies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323975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16049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1323975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314450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✦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314450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6049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Rectangle 47"/>
          <p:cNvSpPr/>
          <p:nvPr/>
        </p:nvSpPr>
        <p:spPr>
          <a:xfrm>
            <a:off x="17764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19478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1323975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323975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2" name="Oval 51"/>
          <p:cNvSpPr/>
          <p:nvPr/>
        </p:nvSpPr>
        <p:spPr>
          <a:xfrm>
            <a:off x="15859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Freeform 52"/>
          <p:cNvSpPr/>
          <p:nvPr/>
        </p:nvSpPr>
        <p:spPr>
          <a:xfrm>
            <a:off x="1828800" y="3416749"/>
            <a:ext cx="209550" cy="237298"/>
          </a:xfrm>
          <a:custGeom>
            <a:avLst/>
            <a:gdLst/>
            <a:ahLst/>
            <a:cxnLst/>
            <a:rect l="l" t="t" r="r" b="b"/>
            <a:pathLst>
              <a:path w="22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8" y="1"/>
                </a:lnTo>
                <a:lnTo>
                  <a:pt x="11" y="2"/>
                </a:lnTo>
                <a:lnTo>
                  <a:pt x="14" y="4"/>
                </a:lnTo>
                <a:lnTo>
                  <a:pt x="17" y="6"/>
                </a:lnTo>
                <a:lnTo>
                  <a:pt x="20" y="8"/>
                </a:lnTo>
                <a:lnTo>
                  <a:pt x="22" y="11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4" name="Oval 53"/>
          <p:cNvSpPr/>
          <p:nvPr/>
        </p:nvSpPr>
        <p:spPr>
          <a:xfrm>
            <a:off x="16948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TextBox 54"/>
          <p:cNvSpPr txBox="1"/>
          <p:nvPr/>
        </p:nvSpPr>
        <p:spPr>
          <a:xfrm>
            <a:off x="1585912" y="3590159"/>
            <a:ext cx="495300" cy="12777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343025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Germany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United Kingdom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France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57" name="Oval 56"/>
          <p:cNvSpPr/>
          <p:nvPr/>
        </p:nvSpPr>
        <p:spPr>
          <a:xfrm>
            <a:off x="14287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TextBox 57"/>
          <p:cNvSpPr txBox="1"/>
          <p:nvPr/>
        </p:nvSpPr>
        <p:spPr>
          <a:xfrm>
            <a:off x="14287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59" name="Oval 58"/>
          <p:cNvSpPr/>
          <p:nvPr/>
        </p:nvSpPr>
        <p:spPr>
          <a:xfrm>
            <a:off x="16383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TextBox 59"/>
          <p:cNvSpPr txBox="1"/>
          <p:nvPr/>
        </p:nvSpPr>
        <p:spPr>
          <a:xfrm>
            <a:off x="16383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61" name="Oval 60"/>
          <p:cNvSpPr/>
          <p:nvPr/>
        </p:nvSpPr>
        <p:spPr>
          <a:xfrm>
            <a:off x="18478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18478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63" name="Oval 62"/>
          <p:cNvSpPr/>
          <p:nvPr/>
        </p:nvSpPr>
        <p:spPr>
          <a:xfrm>
            <a:off x="20574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TextBox 63"/>
          <p:cNvSpPr txBox="1"/>
          <p:nvPr/>
        </p:nvSpPr>
        <p:spPr>
          <a:xfrm>
            <a:off x="20574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65" name="Oval 64"/>
          <p:cNvSpPr/>
          <p:nvPr/>
        </p:nvSpPr>
        <p:spPr>
          <a:xfrm>
            <a:off x="15335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6" name="TextBox 65"/>
          <p:cNvSpPr txBox="1"/>
          <p:nvPr/>
        </p:nvSpPr>
        <p:spPr>
          <a:xfrm>
            <a:off x="153352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67" name="Oval 66"/>
          <p:cNvSpPr/>
          <p:nvPr/>
        </p:nvSpPr>
        <p:spPr>
          <a:xfrm>
            <a:off x="17430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8" name="TextBox 67"/>
          <p:cNvSpPr txBox="1"/>
          <p:nvPr/>
        </p:nvSpPr>
        <p:spPr>
          <a:xfrm>
            <a:off x="174307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69" name="Oval 68"/>
          <p:cNvSpPr/>
          <p:nvPr/>
        </p:nvSpPr>
        <p:spPr>
          <a:xfrm>
            <a:off x="19526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0" name="TextBox 69"/>
          <p:cNvSpPr txBox="1"/>
          <p:nvPr/>
        </p:nvSpPr>
        <p:spPr>
          <a:xfrm>
            <a:off x="195262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400300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26812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400300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B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390775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390775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76" name="Rectangle 75"/>
          <p:cNvSpPr/>
          <p:nvPr/>
        </p:nvSpPr>
        <p:spPr>
          <a:xfrm>
            <a:off x="26812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7" name="Rectangle 76"/>
          <p:cNvSpPr/>
          <p:nvPr/>
        </p:nvSpPr>
        <p:spPr>
          <a:xfrm>
            <a:off x="28527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8" name="Rectangle 77"/>
          <p:cNvSpPr/>
          <p:nvPr/>
        </p:nvSpPr>
        <p:spPr>
          <a:xfrm>
            <a:off x="30241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9" name="TextBox 78"/>
          <p:cNvSpPr txBox="1"/>
          <p:nvPr/>
        </p:nvSpPr>
        <p:spPr>
          <a:xfrm>
            <a:off x="2400300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400300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1" name="Oval 80"/>
          <p:cNvSpPr/>
          <p:nvPr/>
        </p:nvSpPr>
        <p:spPr>
          <a:xfrm>
            <a:off x="26622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Freeform 81"/>
          <p:cNvSpPr/>
          <p:nvPr/>
        </p:nvSpPr>
        <p:spPr>
          <a:xfrm>
            <a:off x="2914650" y="3416749"/>
            <a:ext cx="180975" cy="237298"/>
          </a:xfrm>
          <a:custGeom>
            <a:avLst/>
            <a:gdLst/>
            <a:ahLst/>
            <a:cxnLst/>
            <a:rect l="l" t="t" r="r" b="b"/>
            <a:pathLst>
              <a:path w="19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lnTo>
                  <a:pt x="13" y="4"/>
                </a:lnTo>
                <a:lnTo>
                  <a:pt x="16" y="6"/>
                </a:lnTo>
                <a:lnTo>
                  <a:pt x="19" y="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3" name="Oval 82"/>
          <p:cNvSpPr/>
          <p:nvPr/>
        </p:nvSpPr>
        <p:spPr>
          <a:xfrm>
            <a:off x="27712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TextBox 83"/>
          <p:cNvSpPr txBox="1"/>
          <p:nvPr/>
        </p:nvSpPr>
        <p:spPr>
          <a:xfrm>
            <a:off x="2662238" y="3590159"/>
            <a:ext cx="495300" cy="12777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419350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United Kingdom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France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Italy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86" name="Oval 85"/>
          <p:cNvSpPr/>
          <p:nvPr/>
        </p:nvSpPr>
        <p:spPr>
          <a:xfrm>
            <a:off x="25050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7" name="TextBox 86"/>
          <p:cNvSpPr txBox="1"/>
          <p:nvPr/>
        </p:nvSpPr>
        <p:spPr>
          <a:xfrm>
            <a:off x="25050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88" name="Oval 87"/>
          <p:cNvSpPr/>
          <p:nvPr/>
        </p:nvSpPr>
        <p:spPr>
          <a:xfrm>
            <a:off x="27146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9" name="TextBox 88"/>
          <p:cNvSpPr txBox="1"/>
          <p:nvPr/>
        </p:nvSpPr>
        <p:spPr>
          <a:xfrm>
            <a:off x="27146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90" name="Oval 89"/>
          <p:cNvSpPr/>
          <p:nvPr/>
        </p:nvSpPr>
        <p:spPr>
          <a:xfrm>
            <a:off x="29241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1" name="TextBox 90"/>
          <p:cNvSpPr txBox="1"/>
          <p:nvPr/>
        </p:nvSpPr>
        <p:spPr>
          <a:xfrm>
            <a:off x="29241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92" name="Oval 91"/>
          <p:cNvSpPr/>
          <p:nvPr/>
        </p:nvSpPr>
        <p:spPr>
          <a:xfrm>
            <a:off x="3133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3" name="TextBox 92"/>
          <p:cNvSpPr txBox="1"/>
          <p:nvPr/>
        </p:nvSpPr>
        <p:spPr>
          <a:xfrm>
            <a:off x="31337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94" name="Oval 93"/>
          <p:cNvSpPr/>
          <p:nvPr/>
        </p:nvSpPr>
        <p:spPr>
          <a:xfrm>
            <a:off x="26098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5" name="TextBox 94"/>
          <p:cNvSpPr txBox="1"/>
          <p:nvPr/>
        </p:nvSpPr>
        <p:spPr>
          <a:xfrm>
            <a:off x="260985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96" name="Oval 95"/>
          <p:cNvSpPr/>
          <p:nvPr/>
        </p:nvSpPr>
        <p:spPr>
          <a:xfrm>
            <a:off x="28194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7" name="TextBox 96"/>
          <p:cNvSpPr txBox="1"/>
          <p:nvPr/>
        </p:nvSpPr>
        <p:spPr>
          <a:xfrm>
            <a:off x="281940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98" name="Oval 97"/>
          <p:cNvSpPr/>
          <p:nvPr/>
        </p:nvSpPr>
        <p:spPr>
          <a:xfrm>
            <a:off x="30289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99" name="TextBox 98"/>
          <p:cNvSpPr txBox="1"/>
          <p:nvPr/>
        </p:nvSpPr>
        <p:spPr>
          <a:xfrm>
            <a:off x="302895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476625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7576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476625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C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67100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467100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✔ 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7576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Rectangle 105"/>
          <p:cNvSpPr/>
          <p:nvPr/>
        </p:nvSpPr>
        <p:spPr>
          <a:xfrm>
            <a:off x="39290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Rectangle 106"/>
          <p:cNvSpPr/>
          <p:nvPr/>
        </p:nvSpPr>
        <p:spPr>
          <a:xfrm>
            <a:off x="41005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8" name="TextBox 107"/>
          <p:cNvSpPr txBox="1"/>
          <p:nvPr/>
        </p:nvSpPr>
        <p:spPr>
          <a:xfrm>
            <a:off x="3476625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76625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Oval 109"/>
          <p:cNvSpPr/>
          <p:nvPr/>
        </p:nvSpPr>
        <p:spPr>
          <a:xfrm>
            <a:off x="37385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1" name="Freeform 110"/>
          <p:cNvSpPr/>
          <p:nvPr/>
        </p:nvSpPr>
        <p:spPr>
          <a:xfrm>
            <a:off x="3981450" y="3416749"/>
            <a:ext cx="142875" cy="237298"/>
          </a:xfrm>
          <a:custGeom>
            <a:avLst/>
            <a:gdLst/>
            <a:ahLst/>
            <a:cxnLst/>
            <a:rect l="l" t="t" r="r" b="b"/>
            <a:pathLst>
              <a:path w="15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8" y="1"/>
                </a:lnTo>
                <a:lnTo>
                  <a:pt x="12" y="2"/>
                </a:lnTo>
                <a:lnTo>
                  <a:pt x="15" y="4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2" name="Oval 111"/>
          <p:cNvSpPr/>
          <p:nvPr/>
        </p:nvSpPr>
        <p:spPr>
          <a:xfrm>
            <a:off x="384752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3" name="TextBox 112"/>
          <p:cNvSpPr txBox="1"/>
          <p:nvPr/>
        </p:nvSpPr>
        <p:spPr>
          <a:xfrm>
            <a:off x="3738562" y="3590159"/>
            <a:ext cx="495300" cy="12777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495675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France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Italy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Spain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115" name="Oval 114"/>
          <p:cNvSpPr/>
          <p:nvPr/>
        </p:nvSpPr>
        <p:spPr>
          <a:xfrm>
            <a:off x="35814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6" name="TextBox 115"/>
          <p:cNvSpPr txBox="1"/>
          <p:nvPr/>
        </p:nvSpPr>
        <p:spPr>
          <a:xfrm>
            <a:off x="35814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17" name="Oval 116"/>
          <p:cNvSpPr/>
          <p:nvPr/>
        </p:nvSpPr>
        <p:spPr>
          <a:xfrm>
            <a:off x="37909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18" name="TextBox 117"/>
          <p:cNvSpPr txBox="1"/>
          <p:nvPr/>
        </p:nvSpPr>
        <p:spPr>
          <a:xfrm>
            <a:off x="37909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19" name="Oval 118"/>
          <p:cNvSpPr/>
          <p:nvPr/>
        </p:nvSpPr>
        <p:spPr>
          <a:xfrm>
            <a:off x="40005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0" name="TextBox 119"/>
          <p:cNvSpPr txBox="1"/>
          <p:nvPr/>
        </p:nvSpPr>
        <p:spPr>
          <a:xfrm>
            <a:off x="40005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21" name="Oval 120"/>
          <p:cNvSpPr/>
          <p:nvPr/>
        </p:nvSpPr>
        <p:spPr>
          <a:xfrm>
            <a:off x="42100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2" name="TextBox 121"/>
          <p:cNvSpPr txBox="1"/>
          <p:nvPr/>
        </p:nvSpPr>
        <p:spPr>
          <a:xfrm>
            <a:off x="42100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23" name="Oval 122"/>
          <p:cNvSpPr/>
          <p:nvPr/>
        </p:nvSpPr>
        <p:spPr>
          <a:xfrm>
            <a:off x="36861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TextBox 123"/>
          <p:cNvSpPr txBox="1"/>
          <p:nvPr/>
        </p:nvSpPr>
        <p:spPr>
          <a:xfrm>
            <a:off x="368617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25" name="Oval 124"/>
          <p:cNvSpPr/>
          <p:nvPr/>
        </p:nvSpPr>
        <p:spPr>
          <a:xfrm>
            <a:off x="38957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TextBox 125"/>
          <p:cNvSpPr txBox="1"/>
          <p:nvPr/>
        </p:nvSpPr>
        <p:spPr>
          <a:xfrm>
            <a:off x="389572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27" name="Oval 126"/>
          <p:cNvSpPr/>
          <p:nvPr/>
        </p:nvSpPr>
        <p:spPr>
          <a:xfrm>
            <a:off x="41052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8" name="TextBox 127"/>
          <p:cNvSpPr txBox="1"/>
          <p:nvPr/>
        </p:nvSpPr>
        <p:spPr>
          <a:xfrm>
            <a:off x="410527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4552950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Group55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48339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4552950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D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543425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✦ 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4543425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48339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5" name="Rectangle 134"/>
          <p:cNvSpPr/>
          <p:nvPr/>
        </p:nvSpPr>
        <p:spPr>
          <a:xfrm>
            <a:off x="50053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6" name="Rectangle 135"/>
          <p:cNvSpPr/>
          <p:nvPr/>
        </p:nvSpPr>
        <p:spPr>
          <a:xfrm>
            <a:off x="51768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TextBox 136"/>
          <p:cNvSpPr txBox="1"/>
          <p:nvPr/>
        </p:nvSpPr>
        <p:spPr>
          <a:xfrm>
            <a:off x="4552950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552950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9" name="Oval 138"/>
          <p:cNvSpPr/>
          <p:nvPr/>
        </p:nvSpPr>
        <p:spPr>
          <a:xfrm>
            <a:off x="48148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Freeform 139"/>
          <p:cNvSpPr/>
          <p:nvPr/>
        </p:nvSpPr>
        <p:spPr>
          <a:xfrm>
            <a:off x="5067300" y="3416749"/>
            <a:ext cx="95250" cy="237298"/>
          </a:xfrm>
          <a:custGeom>
            <a:avLst/>
            <a:gdLst/>
            <a:ahLst/>
            <a:cxnLst/>
            <a:rect l="l" t="t" r="r" b="b"/>
            <a:pathLst>
              <a:path w="10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1" name="Oval 140"/>
          <p:cNvSpPr/>
          <p:nvPr/>
        </p:nvSpPr>
        <p:spPr>
          <a:xfrm>
            <a:off x="49238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2" name="TextBox 141"/>
          <p:cNvSpPr txBox="1"/>
          <p:nvPr/>
        </p:nvSpPr>
        <p:spPr>
          <a:xfrm>
            <a:off x="4814888" y="3590159"/>
            <a:ext cx="495300" cy="12777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4572000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Italy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Spain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Netherlands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144" name="Oval 143"/>
          <p:cNvSpPr/>
          <p:nvPr/>
        </p:nvSpPr>
        <p:spPr>
          <a:xfrm>
            <a:off x="4657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5" name="TextBox 144"/>
          <p:cNvSpPr txBox="1"/>
          <p:nvPr/>
        </p:nvSpPr>
        <p:spPr>
          <a:xfrm>
            <a:off x="46577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46" name="Oval 145"/>
          <p:cNvSpPr/>
          <p:nvPr/>
        </p:nvSpPr>
        <p:spPr>
          <a:xfrm>
            <a:off x="48672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TextBox 146"/>
          <p:cNvSpPr txBox="1"/>
          <p:nvPr/>
        </p:nvSpPr>
        <p:spPr>
          <a:xfrm>
            <a:off x="48672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48" name="Oval 147"/>
          <p:cNvSpPr/>
          <p:nvPr/>
        </p:nvSpPr>
        <p:spPr>
          <a:xfrm>
            <a:off x="50768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9" name="TextBox 148"/>
          <p:cNvSpPr txBox="1"/>
          <p:nvPr/>
        </p:nvSpPr>
        <p:spPr>
          <a:xfrm>
            <a:off x="50768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50" name="Oval 149"/>
          <p:cNvSpPr/>
          <p:nvPr/>
        </p:nvSpPr>
        <p:spPr>
          <a:xfrm>
            <a:off x="5286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TextBox 150"/>
          <p:cNvSpPr txBox="1"/>
          <p:nvPr/>
        </p:nvSpPr>
        <p:spPr>
          <a:xfrm>
            <a:off x="52863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52" name="Oval 151"/>
          <p:cNvSpPr/>
          <p:nvPr/>
        </p:nvSpPr>
        <p:spPr>
          <a:xfrm>
            <a:off x="47625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3" name="TextBox 152"/>
          <p:cNvSpPr txBox="1"/>
          <p:nvPr/>
        </p:nvSpPr>
        <p:spPr>
          <a:xfrm>
            <a:off x="476250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54" name="Oval 153"/>
          <p:cNvSpPr/>
          <p:nvPr/>
        </p:nvSpPr>
        <p:spPr>
          <a:xfrm>
            <a:off x="49720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5" name="TextBox 154"/>
          <p:cNvSpPr txBox="1"/>
          <p:nvPr/>
        </p:nvSpPr>
        <p:spPr>
          <a:xfrm>
            <a:off x="497205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56" name="Oval 155"/>
          <p:cNvSpPr/>
          <p:nvPr/>
        </p:nvSpPr>
        <p:spPr>
          <a:xfrm>
            <a:off x="51816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7" name="TextBox 156"/>
          <p:cNvSpPr txBox="1"/>
          <p:nvPr/>
        </p:nvSpPr>
        <p:spPr>
          <a:xfrm>
            <a:off x="518160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5629275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Lakeland Cosmetics</a:t>
            </a:r>
          </a:p>
        </p:txBody>
      </p:sp>
      <p:cxnSp>
        <p:nvCxnSpPr>
          <p:cNvPr id="159" name="Connector 158"/>
          <p:cNvCxnSpPr/>
          <p:nvPr/>
        </p:nvCxnSpPr>
        <p:spPr>
          <a:xfrm>
            <a:off x="59102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TextBox 159"/>
          <p:cNvSpPr txBox="1"/>
          <p:nvPr/>
        </p:nvSpPr>
        <p:spPr>
          <a:xfrm>
            <a:off x="5629275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5619750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5619750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59102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4" name="Rectangle 163"/>
          <p:cNvSpPr/>
          <p:nvPr/>
        </p:nvSpPr>
        <p:spPr>
          <a:xfrm>
            <a:off x="60817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5" name="Rectangle 164"/>
          <p:cNvSpPr/>
          <p:nvPr/>
        </p:nvSpPr>
        <p:spPr>
          <a:xfrm>
            <a:off x="62531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TextBox 165"/>
          <p:cNvSpPr txBox="1"/>
          <p:nvPr/>
        </p:nvSpPr>
        <p:spPr>
          <a:xfrm>
            <a:off x="5629275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5629275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8" name="Oval 167"/>
          <p:cNvSpPr/>
          <p:nvPr/>
        </p:nvSpPr>
        <p:spPr>
          <a:xfrm>
            <a:off x="58912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Freeform 168"/>
          <p:cNvSpPr/>
          <p:nvPr/>
        </p:nvSpPr>
        <p:spPr>
          <a:xfrm>
            <a:off x="6134100" y="3416749"/>
            <a:ext cx="104775" cy="237298"/>
          </a:xfrm>
          <a:custGeom>
            <a:avLst/>
            <a:gdLst/>
            <a:ahLst/>
            <a:cxnLst/>
            <a:rect l="l" t="t" r="r" b="b"/>
            <a:pathLst>
              <a:path w="11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7" y="1"/>
                </a:lnTo>
                <a:lnTo>
                  <a:pt x="11" y="2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0" name="Oval 169"/>
          <p:cNvSpPr/>
          <p:nvPr/>
        </p:nvSpPr>
        <p:spPr>
          <a:xfrm>
            <a:off x="600017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1" name="TextBox 170"/>
          <p:cNvSpPr txBox="1"/>
          <p:nvPr/>
        </p:nvSpPr>
        <p:spPr>
          <a:xfrm>
            <a:off x="5891212" y="3590159"/>
            <a:ext cx="495300" cy="12777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5648325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Spain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Netherlands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Poland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173" name="Oval 172"/>
          <p:cNvSpPr/>
          <p:nvPr/>
        </p:nvSpPr>
        <p:spPr>
          <a:xfrm>
            <a:off x="57340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4" name="TextBox 173"/>
          <p:cNvSpPr txBox="1"/>
          <p:nvPr/>
        </p:nvSpPr>
        <p:spPr>
          <a:xfrm>
            <a:off x="57340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75" name="Oval 174"/>
          <p:cNvSpPr/>
          <p:nvPr/>
        </p:nvSpPr>
        <p:spPr>
          <a:xfrm>
            <a:off x="59436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6" name="TextBox 175"/>
          <p:cNvSpPr txBox="1"/>
          <p:nvPr/>
        </p:nvSpPr>
        <p:spPr>
          <a:xfrm>
            <a:off x="59436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77" name="Oval 176"/>
          <p:cNvSpPr/>
          <p:nvPr/>
        </p:nvSpPr>
        <p:spPr>
          <a:xfrm>
            <a:off x="61531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8" name="TextBox 177"/>
          <p:cNvSpPr txBox="1"/>
          <p:nvPr/>
        </p:nvSpPr>
        <p:spPr>
          <a:xfrm>
            <a:off x="61531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79" name="Oval 178"/>
          <p:cNvSpPr/>
          <p:nvPr/>
        </p:nvSpPr>
        <p:spPr>
          <a:xfrm>
            <a:off x="63627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0" name="TextBox 179"/>
          <p:cNvSpPr txBox="1"/>
          <p:nvPr/>
        </p:nvSpPr>
        <p:spPr>
          <a:xfrm>
            <a:off x="63627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81" name="Oval 180"/>
          <p:cNvSpPr/>
          <p:nvPr/>
        </p:nvSpPr>
        <p:spPr>
          <a:xfrm>
            <a:off x="58388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2" name="TextBox 181"/>
          <p:cNvSpPr txBox="1"/>
          <p:nvPr/>
        </p:nvSpPr>
        <p:spPr>
          <a:xfrm>
            <a:off x="583882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83" name="Oval 182"/>
          <p:cNvSpPr/>
          <p:nvPr/>
        </p:nvSpPr>
        <p:spPr>
          <a:xfrm>
            <a:off x="60483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4" name="TextBox 183"/>
          <p:cNvSpPr txBox="1"/>
          <p:nvPr/>
        </p:nvSpPr>
        <p:spPr>
          <a:xfrm>
            <a:off x="604837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85" name="Oval 184"/>
          <p:cNvSpPr/>
          <p:nvPr/>
        </p:nvSpPr>
        <p:spPr>
          <a:xfrm>
            <a:off x="62579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6" name="TextBox 185"/>
          <p:cNvSpPr txBox="1"/>
          <p:nvPr/>
        </p:nvSpPr>
        <p:spPr>
          <a:xfrm>
            <a:off x="625792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6705600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188" name="Connector 187"/>
          <p:cNvCxnSpPr/>
          <p:nvPr/>
        </p:nvCxnSpPr>
        <p:spPr>
          <a:xfrm>
            <a:off x="69865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9" name="TextBox 188"/>
          <p:cNvSpPr txBox="1"/>
          <p:nvPr/>
        </p:nvSpPr>
        <p:spPr>
          <a:xfrm>
            <a:off x="6705600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F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6696075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6696075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✔ 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69865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3" name="Rectangle 192"/>
          <p:cNvSpPr/>
          <p:nvPr/>
        </p:nvSpPr>
        <p:spPr>
          <a:xfrm>
            <a:off x="71580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4" name="Rectangle 193"/>
          <p:cNvSpPr/>
          <p:nvPr/>
        </p:nvSpPr>
        <p:spPr>
          <a:xfrm>
            <a:off x="73294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5" name="TextBox 194"/>
          <p:cNvSpPr txBox="1"/>
          <p:nvPr/>
        </p:nvSpPr>
        <p:spPr>
          <a:xfrm>
            <a:off x="6705600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6705600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7" name="Oval 196"/>
          <p:cNvSpPr/>
          <p:nvPr/>
        </p:nvSpPr>
        <p:spPr>
          <a:xfrm>
            <a:off x="69675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8" name="Freeform 197"/>
          <p:cNvSpPr/>
          <p:nvPr/>
        </p:nvSpPr>
        <p:spPr>
          <a:xfrm>
            <a:off x="7219950" y="3416749"/>
            <a:ext cx="95250" cy="237298"/>
          </a:xfrm>
          <a:custGeom>
            <a:avLst/>
            <a:gdLst/>
            <a:ahLst/>
            <a:cxnLst/>
            <a:rect l="l" t="t" r="r" b="b"/>
            <a:pathLst>
              <a:path w="10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6" y="1"/>
                </a:lnTo>
                <a:lnTo>
                  <a:pt x="10" y="2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9" name="Oval 198"/>
          <p:cNvSpPr/>
          <p:nvPr/>
        </p:nvSpPr>
        <p:spPr>
          <a:xfrm>
            <a:off x="70765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0" name="TextBox 199"/>
          <p:cNvSpPr txBox="1"/>
          <p:nvPr/>
        </p:nvSpPr>
        <p:spPr>
          <a:xfrm>
            <a:off x="6967538" y="3590159"/>
            <a:ext cx="495300" cy="12777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724650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Netherlands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Poland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Sweden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02" name="Oval 201"/>
          <p:cNvSpPr/>
          <p:nvPr/>
        </p:nvSpPr>
        <p:spPr>
          <a:xfrm>
            <a:off x="6810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3" name="TextBox 202"/>
          <p:cNvSpPr txBox="1"/>
          <p:nvPr/>
        </p:nvSpPr>
        <p:spPr>
          <a:xfrm>
            <a:off x="68103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04" name="Oval 203"/>
          <p:cNvSpPr/>
          <p:nvPr/>
        </p:nvSpPr>
        <p:spPr>
          <a:xfrm>
            <a:off x="70199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5" name="TextBox 204"/>
          <p:cNvSpPr txBox="1"/>
          <p:nvPr/>
        </p:nvSpPr>
        <p:spPr>
          <a:xfrm>
            <a:off x="70199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06" name="Oval 205"/>
          <p:cNvSpPr/>
          <p:nvPr/>
        </p:nvSpPr>
        <p:spPr>
          <a:xfrm>
            <a:off x="72294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7" name="TextBox 206"/>
          <p:cNvSpPr txBox="1"/>
          <p:nvPr/>
        </p:nvSpPr>
        <p:spPr>
          <a:xfrm>
            <a:off x="72294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08" name="Oval 207"/>
          <p:cNvSpPr/>
          <p:nvPr/>
        </p:nvSpPr>
        <p:spPr>
          <a:xfrm>
            <a:off x="7439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9" name="TextBox 208"/>
          <p:cNvSpPr txBox="1"/>
          <p:nvPr/>
        </p:nvSpPr>
        <p:spPr>
          <a:xfrm>
            <a:off x="74390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10" name="Oval 209"/>
          <p:cNvSpPr/>
          <p:nvPr/>
        </p:nvSpPr>
        <p:spPr>
          <a:xfrm>
            <a:off x="69151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1" name="TextBox 210"/>
          <p:cNvSpPr txBox="1"/>
          <p:nvPr/>
        </p:nvSpPr>
        <p:spPr>
          <a:xfrm>
            <a:off x="691515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12" name="Oval 211"/>
          <p:cNvSpPr/>
          <p:nvPr/>
        </p:nvSpPr>
        <p:spPr>
          <a:xfrm>
            <a:off x="71247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3" name="TextBox 212"/>
          <p:cNvSpPr txBox="1"/>
          <p:nvPr/>
        </p:nvSpPr>
        <p:spPr>
          <a:xfrm>
            <a:off x="712470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14" name="Oval 213"/>
          <p:cNvSpPr/>
          <p:nvPr/>
        </p:nvSpPr>
        <p:spPr>
          <a:xfrm>
            <a:off x="73342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5" name="TextBox 214"/>
          <p:cNvSpPr txBox="1"/>
          <p:nvPr/>
        </p:nvSpPr>
        <p:spPr>
          <a:xfrm>
            <a:off x="733425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781925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Artero</a:t>
            </a:r>
          </a:p>
        </p:txBody>
      </p:sp>
      <p:cxnSp>
        <p:nvCxnSpPr>
          <p:cNvPr id="217" name="Connector 216"/>
          <p:cNvCxnSpPr/>
          <p:nvPr/>
        </p:nvCxnSpPr>
        <p:spPr>
          <a:xfrm>
            <a:off x="80629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8" name="TextBox 217"/>
          <p:cNvSpPr txBox="1"/>
          <p:nvPr/>
        </p:nvSpPr>
        <p:spPr>
          <a:xfrm>
            <a:off x="7781925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G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7772400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✦ 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7772400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80629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2" name="Rectangle 221"/>
          <p:cNvSpPr/>
          <p:nvPr/>
        </p:nvSpPr>
        <p:spPr>
          <a:xfrm>
            <a:off x="82343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3" name="Rectangle 222"/>
          <p:cNvSpPr/>
          <p:nvPr/>
        </p:nvSpPr>
        <p:spPr>
          <a:xfrm>
            <a:off x="84058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4" name="TextBox 223"/>
          <p:cNvSpPr txBox="1"/>
          <p:nvPr/>
        </p:nvSpPr>
        <p:spPr>
          <a:xfrm>
            <a:off x="7781925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7781925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6" name="Oval 225"/>
          <p:cNvSpPr/>
          <p:nvPr/>
        </p:nvSpPr>
        <p:spPr>
          <a:xfrm>
            <a:off x="80438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7" name="Freeform 226"/>
          <p:cNvSpPr/>
          <p:nvPr/>
        </p:nvSpPr>
        <p:spPr>
          <a:xfrm>
            <a:off x="8286750" y="3416749"/>
            <a:ext cx="85725" cy="237298"/>
          </a:xfrm>
          <a:custGeom>
            <a:avLst/>
            <a:gdLst/>
            <a:ahLst/>
            <a:cxnLst/>
            <a:rect l="l" t="t" r="r" b="b"/>
            <a:pathLst>
              <a:path w="9" h="26">
                <a:moveTo>
                  <a:pt x="0" y="26"/>
                </a:moveTo>
                <a:lnTo>
                  <a:pt x="0" y="0"/>
                </a:lnTo>
                <a:lnTo>
                  <a:pt x="5" y="0"/>
                </a:lnTo>
                <a:lnTo>
                  <a:pt x="9" y="1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8" name="Oval 227"/>
          <p:cNvSpPr/>
          <p:nvPr/>
        </p:nvSpPr>
        <p:spPr>
          <a:xfrm>
            <a:off x="815282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9" name="TextBox 228"/>
          <p:cNvSpPr txBox="1"/>
          <p:nvPr/>
        </p:nvSpPr>
        <p:spPr>
          <a:xfrm>
            <a:off x="8043862" y="3590159"/>
            <a:ext cx="495300" cy="12777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7800975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Poland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Sweden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Germany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31" name="Oval 230"/>
          <p:cNvSpPr/>
          <p:nvPr/>
        </p:nvSpPr>
        <p:spPr>
          <a:xfrm>
            <a:off x="78867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2" name="TextBox 231"/>
          <p:cNvSpPr txBox="1"/>
          <p:nvPr/>
        </p:nvSpPr>
        <p:spPr>
          <a:xfrm>
            <a:off x="78867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33" name="Oval 232"/>
          <p:cNvSpPr/>
          <p:nvPr/>
        </p:nvSpPr>
        <p:spPr>
          <a:xfrm>
            <a:off x="80962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4" name="TextBox 233"/>
          <p:cNvSpPr txBox="1"/>
          <p:nvPr/>
        </p:nvSpPr>
        <p:spPr>
          <a:xfrm>
            <a:off x="80962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35" name="Oval 234"/>
          <p:cNvSpPr/>
          <p:nvPr/>
        </p:nvSpPr>
        <p:spPr>
          <a:xfrm>
            <a:off x="83058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6" name="TextBox 235"/>
          <p:cNvSpPr txBox="1"/>
          <p:nvPr/>
        </p:nvSpPr>
        <p:spPr>
          <a:xfrm>
            <a:off x="83058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37" name="Oval 236"/>
          <p:cNvSpPr/>
          <p:nvPr/>
        </p:nvSpPr>
        <p:spPr>
          <a:xfrm>
            <a:off x="85153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8" name="TextBox 237"/>
          <p:cNvSpPr txBox="1"/>
          <p:nvPr/>
        </p:nvSpPr>
        <p:spPr>
          <a:xfrm>
            <a:off x="85153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39" name="Oval 238"/>
          <p:cNvSpPr/>
          <p:nvPr/>
        </p:nvSpPr>
        <p:spPr>
          <a:xfrm>
            <a:off x="79914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0" name="TextBox 239"/>
          <p:cNvSpPr txBox="1"/>
          <p:nvPr/>
        </p:nvSpPr>
        <p:spPr>
          <a:xfrm>
            <a:off x="799147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41" name="Oval 240"/>
          <p:cNvSpPr/>
          <p:nvPr/>
        </p:nvSpPr>
        <p:spPr>
          <a:xfrm>
            <a:off x="82010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2" name="TextBox 241"/>
          <p:cNvSpPr txBox="1"/>
          <p:nvPr/>
        </p:nvSpPr>
        <p:spPr>
          <a:xfrm>
            <a:off x="820102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43" name="Oval 242"/>
          <p:cNvSpPr/>
          <p:nvPr/>
        </p:nvSpPr>
        <p:spPr>
          <a:xfrm>
            <a:off x="84105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4" name="TextBox 243"/>
          <p:cNvSpPr txBox="1"/>
          <p:nvPr/>
        </p:nvSpPr>
        <p:spPr>
          <a:xfrm>
            <a:off x="841057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8858250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Iv San Bernard</a:t>
            </a:r>
          </a:p>
        </p:txBody>
      </p:sp>
      <p:cxnSp>
        <p:nvCxnSpPr>
          <p:cNvPr id="246" name="Connector 245"/>
          <p:cNvCxnSpPr/>
          <p:nvPr/>
        </p:nvCxnSpPr>
        <p:spPr>
          <a:xfrm>
            <a:off x="91392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TextBox 246"/>
          <p:cNvSpPr txBox="1"/>
          <p:nvPr/>
        </p:nvSpPr>
        <p:spPr>
          <a:xfrm>
            <a:off x="8858250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H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8848725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49" name="TextBox 248"/>
          <p:cNvSpPr txBox="1"/>
          <p:nvPr/>
        </p:nvSpPr>
        <p:spPr>
          <a:xfrm>
            <a:off x="8848725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50" name="Rectangle 249"/>
          <p:cNvSpPr/>
          <p:nvPr/>
        </p:nvSpPr>
        <p:spPr>
          <a:xfrm>
            <a:off x="91392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1" name="Rectangle 250"/>
          <p:cNvSpPr/>
          <p:nvPr/>
        </p:nvSpPr>
        <p:spPr>
          <a:xfrm>
            <a:off x="93106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2" name="Rectangle 251"/>
          <p:cNvSpPr/>
          <p:nvPr/>
        </p:nvSpPr>
        <p:spPr>
          <a:xfrm>
            <a:off x="94821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3" name="TextBox 252"/>
          <p:cNvSpPr txBox="1"/>
          <p:nvPr/>
        </p:nvSpPr>
        <p:spPr>
          <a:xfrm>
            <a:off x="8858250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8858250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5" name="Oval 254"/>
          <p:cNvSpPr/>
          <p:nvPr/>
        </p:nvSpPr>
        <p:spPr>
          <a:xfrm>
            <a:off x="91201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6" name="Freeform 255"/>
          <p:cNvSpPr/>
          <p:nvPr/>
        </p:nvSpPr>
        <p:spPr>
          <a:xfrm>
            <a:off x="9372600" y="3416749"/>
            <a:ext cx="47625" cy="237298"/>
          </a:xfrm>
          <a:custGeom>
            <a:avLst/>
            <a:gdLst/>
            <a:ahLst/>
            <a:cxnLst/>
            <a:rect l="l" t="t" r="r" b="b"/>
            <a:pathLst>
              <a:path w="5" h="26">
                <a:moveTo>
                  <a:pt x="0" y="26"/>
                </a:move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7" name="Oval 256"/>
          <p:cNvSpPr/>
          <p:nvPr/>
        </p:nvSpPr>
        <p:spPr>
          <a:xfrm>
            <a:off x="92291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8" name="TextBox 257"/>
          <p:cNvSpPr txBox="1"/>
          <p:nvPr/>
        </p:nvSpPr>
        <p:spPr>
          <a:xfrm>
            <a:off x="9120188" y="3590159"/>
            <a:ext cx="495300" cy="12777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8877300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Sweden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Germany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United Kingdom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60" name="Oval 259"/>
          <p:cNvSpPr/>
          <p:nvPr/>
        </p:nvSpPr>
        <p:spPr>
          <a:xfrm>
            <a:off x="8963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1" name="TextBox 260"/>
          <p:cNvSpPr txBox="1"/>
          <p:nvPr/>
        </p:nvSpPr>
        <p:spPr>
          <a:xfrm>
            <a:off x="89630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62" name="Oval 261"/>
          <p:cNvSpPr/>
          <p:nvPr/>
        </p:nvSpPr>
        <p:spPr>
          <a:xfrm>
            <a:off x="91725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3" name="TextBox 262"/>
          <p:cNvSpPr txBox="1"/>
          <p:nvPr/>
        </p:nvSpPr>
        <p:spPr>
          <a:xfrm>
            <a:off x="91725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64" name="Oval 263"/>
          <p:cNvSpPr/>
          <p:nvPr/>
        </p:nvSpPr>
        <p:spPr>
          <a:xfrm>
            <a:off x="93821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5" name="TextBox 264"/>
          <p:cNvSpPr txBox="1"/>
          <p:nvPr/>
        </p:nvSpPr>
        <p:spPr>
          <a:xfrm>
            <a:off x="93821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66" name="Oval 265"/>
          <p:cNvSpPr/>
          <p:nvPr/>
        </p:nvSpPr>
        <p:spPr>
          <a:xfrm>
            <a:off x="9591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7" name="TextBox 266"/>
          <p:cNvSpPr txBox="1"/>
          <p:nvPr/>
        </p:nvSpPr>
        <p:spPr>
          <a:xfrm>
            <a:off x="95916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68" name="Oval 267"/>
          <p:cNvSpPr/>
          <p:nvPr/>
        </p:nvSpPr>
        <p:spPr>
          <a:xfrm>
            <a:off x="90678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9" name="TextBox 268"/>
          <p:cNvSpPr txBox="1"/>
          <p:nvPr/>
        </p:nvSpPr>
        <p:spPr>
          <a:xfrm>
            <a:off x="906780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70" name="Oval 269"/>
          <p:cNvSpPr/>
          <p:nvPr/>
        </p:nvSpPr>
        <p:spPr>
          <a:xfrm>
            <a:off x="92773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1" name="TextBox 270"/>
          <p:cNvSpPr txBox="1"/>
          <p:nvPr/>
        </p:nvSpPr>
        <p:spPr>
          <a:xfrm>
            <a:off x="927735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72" name="Oval 271"/>
          <p:cNvSpPr/>
          <p:nvPr/>
        </p:nvSpPr>
        <p:spPr>
          <a:xfrm>
            <a:off x="94869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3" name="TextBox 272"/>
          <p:cNvSpPr txBox="1"/>
          <p:nvPr/>
        </p:nvSpPr>
        <p:spPr>
          <a:xfrm>
            <a:off x="948690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9934575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Cosmetica Veneta</a:t>
            </a:r>
          </a:p>
        </p:txBody>
      </p:sp>
      <p:cxnSp>
        <p:nvCxnSpPr>
          <p:cNvPr id="275" name="Connector 274"/>
          <p:cNvCxnSpPr/>
          <p:nvPr/>
        </p:nvCxnSpPr>
        <p:spPr>
          <a:xfrm>
            <a:off x="102155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6" name="TextBox 275"/>
          <p:cNvSpPr txBox="1"/>
          <p:nvPr/>
        </p:nvSpPr>
        <p:spPr>
          <a:xfrm>
            <a:off x="9934575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I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9925050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9925050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✔ 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102155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0" name="Rectangle 279"/>
          <p:cNvSpPr/>
          <p:nvPr/>
        </p:nvSpPr>
        <p:spPr>
          <a:xfrm>
            <a:off x="103870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1" name="Rectangle 280"/>
          <p:cNvSpPr/>
          <p:nvPr/>
        </p:nvSpPr>
        <p:spPr>
          <a:xfrm>
            <a:off x="105584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2" name="TextBox 281"/>
          <p:cNvSpPr txBox="1"/>
          <p:nvPr/>
        </p:nvSpPr>
        <p:spPr>
          <a:xfrm>
            <a:off x="9934575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3" name="TextBox 282"/>
          <p:cNvSpPr txBox="1"/>
          <p:nvPr/>
        </p:nvSpPr>
        <p:spPr>
          <a:xfrm>
            <a:off x="9934575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4" name="Oval 283"/>
          <p:cNvSpPr/>
          <p:nvPr/>
        </p:nvSpPr>
        <p:spPr>
          <a:xfrm>
            <a:off x="101965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5" name="Freeform 284"/>
          <p:cNvSpPr/>
          <p:nvPr/>
        </p:nvSpPr>
        <p:spPr>
          <a:xfrm>
            <a:off x="10439400" y="3416749"/>
            <a:ext cx="38100" cy="237298"/>
          </a:xfrm>
          <a:custGeom>
            <a:avLst/>
            <a:gdLst/>
            <a:ahLst/>
            <a:cxnLst/>
            <a:rect l="l" t="t" r="r" b="b"/>
            <a:pathLst>
              <a:path w="4" h="26">
                <a:moveTo>
                  <a:pt x="0" y="26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6" name="Oval 285"/>
          <p:cNvSpPr/>
          <p:nvPr/>
        </p:nvSpPr>
        <p:spPr>
          <a:xfrm>
            <a:off x="103054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7" name="TextBox 286"/>
          <p:cNvSpPr txBox="1"/>
          <p:nvPr/>
        </p:nvSpPr>
        <p:spPr>
          <a:xfrm>
            <a:off x="10196512" y="3590159"/>
            <a:ext cx="495300" cy="12777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88" name="TextBox 287"/>
          <p:cNvSpPr txBox="1"/>
          <p:nvPr/>
        </p:nvSpPr>
        <p:spPr>
          <a:xfrm>
            <a:off x="9953625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Germany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United Kingdom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France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289" name="Oval 288"/>
          <p:cNvSpPr/>
          <p:nvPr/>
        </p:nvSpPr>
        <p:spPr>
          <a:xfrm>
            <a:off x="100393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0" name="TextBox 289"/>
          <p:cNvSpPr txBox="1"/>
          <p:nvPr/>
        </p:nvSpPr>
        <p:spPr>
          <a:xfrm>
            <a:off x="100393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91" name="Oval 290"/>
          <p:cNvSpPr/>
          <p:nvPr/>
        </p:nvSpPr>
        <p:spPr>
          <a:xfrm>
            <a:off x="102489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2" name="TextBox 291"/>
          <p:cNvSpPr txBox="1"/>
          <p:nvPr/>
        </p:nvSpPr>
        <p:spPr>
          <a:xfrm>
            <a:off x="102489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93" name="Oval 292"/>
          <p:cNvSpPr/>
          <p:nvPr/>
        </p:nvSpPr>
        <p:spPr>
          <a:xfrm>
            <a:off x="104584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4" name="TextBox 293"/>
          <p:cNvSpPr txBox="1"/>
          <p:nvPr/>
        </p:nvSpPr>
        <p:spPr>
          <a:xfrm>
            <a:off x="1045845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95" name="Oval 294"/>
          <p:cNvSpPr/>
          <p:nvPr/>
        </p:nvSpPr>
        <p:spPr>
          <a:xfrm>
            <a:off x="106680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6" name="TextBox 295"/>
          <p:cNvSpPr txBox="1"/>
          <p:nvPr/>
        </p:nvSpPr>
        <p:spPr>
          <a:xfrm>
            <a:off x="10668000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97" name="Oval 296"/>
          <p:cNvSpPr/>
          <p:nvPr/>
        </p:nvSpPr>
        <p:spPr>
          <a:xfrm>
            <a:off x="101441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8" name="TextBox 297"/>
          <p:cNvSpPr txBox="1"/>
          <p:nvPr/>
        </p:nvSpPr>
        <p:spPr>
          <a:xfrm>
            <a:off x="1014412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99" name="Oval 298"/>
          <p:cNvSpPr/>
          <p:nvPr/>
        </p:nvSpPr>
        <p:spPr>
          <a:xfrm>
            <a:off x="103536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0" name="TextBox 299"/>
          <p:cNvSpPr txBox="1"/>
          <p:nvPr/>
        </p:nvSpPr>
        <p:spPr>
          <a:xfrm>
            <a:off x="1035367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01" name="Oval 300"/>
          <p:cNvSpPr/>
          <p:nvPr/>
        </p:nvSpPr>
        <p:spPr>
          <a:xfrm>
            <a:off x="105632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2" name="TextBox 301"/>
          <p:cNvSpPr txBox="1"/>
          <p:nvPr/>
        </p:nvSpPr>
        <p:spPr>
          <a:xfrm>
            <a:off x="10563225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03" name="TextBox 302"/>
          <p:cNvSpPr txBox="1"/>
          <p:nvPr/>
        </p:nvSpPr>
        <p:spPr>
          <a:xfrm>
            <a:off x="11010900" y="1189798"/>
            <a:ext cx="1019175" cy="328567"/>
          </a:xfrm>
          <a:prstGeom prst="rect">
            <a:avLst/>
          </a:prstGeom>
          <a:noFill/>
        </p:spPr>
        <p:txBody>
          <a:bodyPr wrap="square" lIns="9525" tIns="9525" r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K9 Competition</a:t>
            </a:r>
          </a:p>
        </p:txBody>
      </p:sp>
      <p:cxnSp>
        <p:nvCxnSpPr>
          <p:cNvPr id="304" name="Connector 303"/>
          <p:cNvCxnSpPr/>
          <p:nvPr/>
        </p:nvCxnSpPr>
        <p:spPr>
          <a:xfrm>
            <a:off x="112918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5" name="TextBox 304"/>
          <p:cNvSpPr txBox="1"/>
          <p:nvPr/>
        </p:nvSpPr>
        <p:spPr>
          <a:xfrm>
            <a:off x="11010900" y="1536618"/>
            <a:ext cx="1019175" cy="25555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J</a:t>
            </a:r>
          </a:p>
        </p:txBody>
      </p:sp>
      <p:sp>
        <p:nvSpPr>
          <p:cNvPr id="306" name="TextBox 305"/>
          <p:cNvSpPr txBox="1"/>
          <p:nvPr/>
        </p:nvSpPr>
        <p:spPr>
          <a:xfrm>
            <a:off x="11001375" y="1828677"/>
            <a:ext cx="1038225" cy="200791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✦ </a:t>
            </a:r>
          </a:p>
        </p:txBody>
      </p:sp>
      <p:sp>
        <p:nvSpPr>
          <p:cNvPr id="307" name="TextBox 306"/>
          <p:cNvSpPr txBox="1"/>
          <p:nvPr/>
        </p:nvSpPr>
        <p:spPr>
          <a:xfrm>
            <a:off x="11001375" y="2047722"/>
            <a:ext cx="10382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308" name="Rectangle 307"/>
          <p:cNvSpPr/>
          <p:nvPr/>
        </p:nvSpPr>
        <p:spPr>
          <a:xfrm>
            <a:off x="112918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09" name="Rectangle 308"/>
          <p:cNvSpPr/>
          <p:nvPr/>
        </p:nvSpPr>
        <p:spPr>
          <a:xfrm>
            <a:off x="114633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0" name="Rectangle 309"/>
          <p:cNvSpPr/>
          <p:nvPr/>
        </p:nvSpPr>
        <p:spPr>
          <a:xfrm>
            <a:off x="116347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1" name="TextBox 310"/>
          <p:cNvSpPr txBox="1"/>
          <p:nvPr/>
        </p:nvSpPr>
        <p:spPr>
          <a:xfrm>
            <a:off x="11010900" y="2631840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2" name="TextBox 311"/>
          <p:cNvSpPr txBox="1"/>
          <p:nvPr/>
        </p:nvSpPr>
        <p:spPr>
          <a:xfrm>
            <a:off x="11010900" y="2960407"/>
            <a:ext cx="1019175" cy="32856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3" name="Oval 312"/>
          <p:cNvSpPr/>
          <p:nvPr/>
        </p:nvSpPr>
        <p:spPr>
          <a:xfrm>
            <a:off x="112728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4" name="Freeform 313"/>
          <p:cNvSpPr/>
          <p:nvPr/>
        </p:nvSpPr>
        <p:spPr>
          <a:xfrm>
            <a:off x="11525250" y="3416749"/>
            <a:ext cx="28575" cy="237298"/>
          </a:xfrm>
          <a:custGeom>
            <a:avLst/>
            <a:gdLst/>
            <a:ahLst/>
            <a:cxnLst/>
            <a:rect l="l" t="t" r="r" b="b"/>
            <a:pathLst>
              <a:path w="3" h="26">
                <a:moveTo>
                  <a:pt x="0" y="26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5" name="Oval 314"/>
          <p:cNvSpPr/>
          <p:nvPr/>
        </p:nvSpPr>
        <p:spPr>
          <a:xfrm>
            <a:off x="113818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6" name="TextBox 315"/>
          <p:cNvSpPr txBox="1"/>
          <p:nvPr/>
        </p:nvSpPr>
        <p:spPr>
          <a:xfrm>
            <a:off x="11272838" y="3590159"/>
            <a:ext cx="495300" cy="12777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7" name="TextBox 316"/>
          <p:cNvSpPr txBox="1"/>
          <p:nvPr/>
        </p:nvSpPr>
        <p:spPr>
          <a:xfrm>
            <a:off x="11029950" y="4092136"/>
            <a:ext cx="990600" cy="912685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United Kingdom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France  </a:t>
            </a:r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Italy  </a:t>
            </a:r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318" name="Oval 317"/>
          <p:cNvSpPr/>
          <p:nvPr/>
        </p:nvSpPr>
        <p:spPr>
          <a:xfrm>
            <a:off x="11115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9" name="TextBox 318"/>
          <p:cNvSpPr txBox="1"/>
          <p:nvPr/>
        </p:nvSpPr>
        <p:spPr>
          <a:xfrm>
            <a:off x="111156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20" name="Oval 319"/>
          <p:cNvSpPr/>
          <p:nvPr/>
        </p:nvSpPr>
        <p:spPr>
          <a:xfrm>
            <a:off x="113252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1" name="TextBox 320"/>
          <p:cNvSpPr txBox="1"/>
          <p:nvPr/>
        </p:nvSpPr>
        <p:spPr>
          <a:xfrm>
            <a:off x="113252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22" name="Oval 321"/>
          <p:cNvSpPr/>
          <p:nvPr/>
        </p:nvSpPr>
        <p:spPr>
          <a:xfrm>
            <a:off x="115347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3" name="TextBox 322"/>
          <p:cNvSpPr txBox="1"/>
          <p:nvPr/>
        </p:nvSpPr>
        <p:spPr>
          <a:xfrm>
            <a:off x="1153477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24" name="Oval 323"/>
          <p:cNvSpPr/>
          <p:nvPr/>
        </p:nvSpPr>
        <p:spPr>
          <a:xfrm>
            <a:off x="117443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5" name="TextBox 324"/>
          <p:cNvSpPr txBox="1"/>
          <p:nvPr/>
        </p:nvSpPr>
        <p:spPr>
          <a:xfrm>
            <a:off x="11744325" y="5173667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26" name="Oval 325"/>
          <p:cNvSpPr/>
          <p:nvPr/>
        </p:nvSpPr>
        <p:spPr>
          <a:xfrm>
            <a:off x="112204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7" name="TextBox 326"/>
          <p:cNvSpPr txBox="1"/>
          <p:nvPr/>
        </p:nvSpPr>
        <p:spPr>
          <a:xfrm>
            <a:off x="1122045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28" name="Oval 327"/>
          <p:cNvSpPr/>
          <p:nvPr/>
        </p:nvSpPr>
        <p:spPr>
          <a:xfrm>
            <a:off x="114300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9" name="TextBox 328"/>
          <p:cNvSpPr txBox="1"/>
          <p:nvPr/>
        </p:nvSpPr>
        <p:spPr>
          <a:xfrm>
            <a:off x="1143000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30" name="Oval 329"/>
          <p:cNvSpPr/>
          <p:nvPr/>
        </p:nvSpPr>
        <p:spPr>
          <a:xfrm>
            <a:off x="116395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1" name="TextBox 330"/>
          <p:cNvSpPr txBox="1"/>
          <p:nvPr/>
        </p:nvSpPr>
        <p:spPr>
          <a:xfrm>
            <a:off x="11639550" y="5392711"/>
            <a:ext cx="180975" cy="173410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32" name="TextBox 331"/>
          <p:cNvSpPr txBox="1"/>
          <p:nvPr/>
        </p:nvSpPr>
        <p:spPr>
          <a:xfrm>
            <a:off x="285750" y="5716715"/>
            <a:ext cx="1116806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Product Portfolio: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1383506" y="5744096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4" name="TextBox 333"/>
          <p:cNvSpPr txBox="1"/>
          <p:nvPr/>
        </p:nvSpPr>
        <p:spPr>
          <a:xfrm>
            <a:off x="1535906" y="5716715"/>
            <a:ext cx="1907381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500438" y="5744096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6" name="TextBox 335"/>
          <p:cNvSpPr txBox="1"/>
          <p:nvPr/>
        </p:nvSpPr>
        <p:spPr>
          <a:xfrm>
            <a:off x="3652838" y="5716715"/>
            <a:ext cx="2364581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6074569" y="5744096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38" name="TextBox 337"/>
          <p:cNvSpPr txBox="1"/>
          <p:nvPr/>
        </p:nvSpPr>
        <p:spPr>
          <a:xfrm>
            <a:off x="6226969" y="5716715"/>
            <a:ext cx="1888331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8172450" y="5744096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6C7A8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0" name="TextBox 339"/>
          <p:cNvSpPr txBox="1"/>
          <p:nvPr/>
        </p:nvSpPr>
        <p:spPr>
          <a:xfrm>
            <a:off x="8324850" y="5716715"/>
            <a:ext cx="740569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offered</a:t>
            </a:r>
          </a:p>
        </p:txBody>
      </p:sp>
      <p:sp>
        <p:nvSpPr>
          <p:cNvPr id="341" name="TextBox 340"/>
          <p:cNvSpPr txBox="1"/>
          <p:nvPr/>
        </p:nvSpPr>
        <p:spPr>
          <a:xfrm>
            <a:off x="285750" y="5890125"/>
            <a:ext cx="208915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008189"/>
                </a:solidFill>
                <a:latin typeface="Calibri"/>
              </a:rPr>
              <a:t>✔</a:t>
            </a:r>
          </a:p>
        </p:txBody>
      </p:sp>
      <p:sp>
        <p:nvSpPr>
          <p:cNvPr id="342" name="TextBox 341"/>
          <p:cNvSpPr txBox="1"/>
          <p:nvPr/>
        </p:nvSpPr>
        <p:spPr>
          <a:xfrm>
            <a:off x="475615" y="5890125"/>
            <a:ext cx="457200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served</a:t>
            </a:r>
          </a:p>
        </p:txBody>
      </p:sp>
      <p:sp>
        <p:nvSpPr>
          <p:cNvPr id="343" name="TextBox 342"/>
          <p:cNvSpPr txBox="1"/>
          <p:nvPr/>
        </p:nvSpPr>
        <p:spPr>
          <a:xfrm>
            <a:off x="913765" y="5890125"/>
            <a:ext cx="208915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E44D3A"/>
                </a:solidFill>
                <a:latin typeface="Calibri"/>
              </a:rPr>
              <a:t>✘</a:t>
            </a:r>
          </a:p>
        </p:txBody>
      </p:sp>
      <p:sp>
        <p:nvSpPr>
          <p:cNvPr id="344" name="TextBox 343"/>
          <p:cNvSpPr txBox="1"/>
          <p:nvPr/>
        </p:nvSpPr>
        <p:spPr>
          <a:xfrm>
            <a:off x="1103630" y="5890125"/>
            <a:ext cx="683419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served</a:t>
            </a:r>
          </a:p>
        </p:txBody>
      </p:sp>
      <p:sp>
        <p:nvSpPr>
          <p:cNvPr id="345" name="TextBox 344"/>
          <p:cNvSpPr txBox="1"/>
          <p:nvPr/>
        </p:nvSpPr>
        <p:spPr>
          <a:xfrm>
            <a:off x="1939449" y="5890125"/>
            <a:ext cx="1183481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Regional presence:</a:t>
            </a:r>
          </a:p>
        </p:txBody>
      </p:sp>
      <p:sp>
        <p:nvSpPr>
          <p:cNvPr id="346" name="TextBox 345"/>
          <p:cNvSpPr txBox="1"/>
          <p:nvPr/>
        </p:nvSpPr>
        <p:spPr>
          <a:xfrm>
            <a:off x="3103880" y="5890125"/>
            <a:ext cx="208915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347" name="TextBox 346"/>
          <p:cNvSpPr txBox="1"/>
          <p:nvPr/>
        </p:nvSpPr>
        <p:spPr>
          <a:xfrm>
            <a:off x="3293745" y="5890125"/>
            <a:ext cx="338138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High</a:t>
            </a:r>
          </a:p>
        </p:txBody>
      </p:sp>
      <p:sp>
        <p:nvSpPr>
          <p:cNvPr id="348" name="TextBox 347"/>
          <p:cNvSpPr txBox="1"/>
          <p:nvPr/>
        </p:nvSpPr>
        <p:spPr>
          <a:xfrm>
            <a:off x="3612832" y="5890125"/>
            <a:ext cx="208915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</p:txBody>
      </p:sp>
      <p:sp>
        <p:nvSpPr>
          <p:cNvPr id="349" name="TextBox 348"/>
          <p:cNvSpPr txBox="1"/>
          <p:nvPr/>
        </p:nvSpPr>
        <p:spPr>
          <a:xfrm>
            <a:off x="3802698" y="5890125"/>
            <a:ext cx="576262" cy="164283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Medium</a:t>
            </a:r>
          </a:p>
        </p:txBody>
      </p:sp>
      <p:sp>
        <p:nvSpPr>
          <p:cNvPr id="350" name="TextBox 349"/>
          <p:cNvSpPr txBox="1"/>
          <p:nvPr/>
        </p:nvSpPr>
        <p:spPr>
          <a:xfrm>
            <a:off x="4340860" y="5890125"/>
            <a:ext cx="208915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351" name="TextBox 350"/>
          <p:cNvSpPr txBox="1"/>
          <p:nvPr/>
        </p:nvSpPr>
        <p:spPr>
          <a:xfrm>
            <a:off x="4530725" y="5890125"/>
            <a:ext cx="309562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Low</a:t>
            </a:r>
          </a:p>
        </p:txBody>
      </p:sp>
      <p:sp>
        <p:nvSpPr>
          <p:cNvPr id="352" name="Oval 351"/>
          <p:cNvSpPr/>
          <p:nvPr/>
        </p:nvSpPr>
        <p:spPr>
          <a:xfrm>
            <a:off x="285750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3" name="TextBox 352"/>
          <p:cNvSpPr txBox="1"/>
          <p:nvPr/>
        </p:nvSpPr>
        <p:spPr>
          <a:xfrm>
            <a:off x="285750" y="608178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54" name="TextBox 353"/>
          <p:cNvSpPr txBox="1"/>
          <p:nvPr/>
        </p:nvSpPr>
        <p:spPr>
          <a:xfrm>
            <a:off x="495300" y="6072662"/>
            <a:ext cx="657225" cy="182537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Expansion</a:t>
            </a:r>
          </a:p>
        </p:txBody>
      </p:sp>
      <p:sp>
        <p:nvSpPr>
          <p:cNvPr id="355" name="Oval 354"/>
          <p:cNvSpPr/>
          <p:nvPr/>
        </p:nvSpPr>
        <p:spPr>
          <a:xfrm>
            <a:off x="124777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6" name="TextBox 355"/>
          <p:cNvSpPr txBox="1"/>
          <p:nvPr/>
        </p:nvSpPr>
        <p:spPr>
          <a:xfrm>
            <a:off x="1247775" y="608178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1457325" y="6072662"/>
            <a:ext cx="1012031" cy="182537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R&amp;D Investment</a:t>
            </a:r>
          </a:p>
        </p:txBody>
      </p:sp>
      <p:sp>
        <p:nvSpPr>
          <p:cNvPr id="358" name="Oval 357"/>
          <p:cNvSpPr/>
          <p:nvPr/>
        </p:nvSpPr>
        <p:spPr>
          <a:xfrm>
            <a:off x="25646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59" name="TextBox 358"/>
          <p:cNvSpPr txBox="1"/>
          <p:nvPr/>
        </p:nvSpPr>
        <p:spPr>
          <a:xfrm>
            <a:off x="2564606" y="608178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60" name="TextBox 359"/>
          <p:cNvSpPr txBox="1"/>
          <p:nvPr/>
        </p:nvSpPr>
        <p:spPr>
          <a:xfrm>
            <a:off x="2774156" y="6072662"/>
            <a:ext cx="800100" cy="182537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Financial Aid</a:t>
            </a:r>
          </a:p>
        </p:txBody>
      </p:sp>
      <p:sp>
        <p:nvSpPr>
          <p:cNvPr id="361" name="Oval 360"/>
          <p:cNvSpPr/>
          <p:nvPr/>
        </p:nvSpPr>
        <p:spPr>
          <a:xfrm>
            <a:off x="36695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2" name="TextBox 361"/>
          <p:cNvSpPr txBox="1"/>
          <p:nvPr/>
        </p:nvSpPr>
        <p:spPr>
          <a:xfrm>
            <a:off x="3669506" y="608178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63" name="TextBox 362"/>
          <p:cNvSpPr txBox="1"/>
          <p:nvPr/>
        </p:nvSpPr>
        <p:spPr>
          <a:xfrm>
            <a:off x="3879056" y="6072662"/>
            <a:ext cx="1328738" cy="182537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Development</a:t>
            </a:r>
          </a:p>
        </p:txBody>
      </p:sp>
      <p:sp>
        <p:nvSpPr>
          <p:cNvPr id="364" name="Oval 363"/>
          <p:cNvSpPr/>
          <p:nvPr/>
        </p:nvSpPr>
        <p:spPr>
          <a:xfrm>
            <a:off x="5303044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5" name="TextBox 364"/>
          <p:cNvSpPr txBox="1"/>
          <p:nvPr/>
        </p:nvSpPr>
        <p:spPr>
          <a:xfrm>
            <a:off x="5303044" y="608178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66" name="TextBox 365"/>
          <p:cNvSpPr txBox="1"/>
          <p:nvPr/>
        </p:nvSpPr>
        <p:spPr>
          <a:xfrm>
            <a:off x="5512594" y="6072662"/>
            <a:ext cx="714375" cy="182537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Acquisition</a:t>
            </a:r>
          </a:p>
        </p:txBody>
      </p:sp>
      <p:sp>
        <p:nvSpPr>
          <p:cNvPr id="367" name="Oval 366"/>
          <p:cNvSpPr/>
          <p:nvPr/>
        </p:nvSpPr>
        <p:spPr>
          <a:xfrm>
            <a:off x="6322219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8" name="TextBox 367"/>
          <p:cNvSpPr txBox="1"/>
          <p:nvPr/>
        </p:nvSpPr>
        <p:spPr>
          <a:xfrm>
            <a:off x="6322219" y="608178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69" name="TextBox 368"/>
          <p:cNvSpPr txBox="1"/>
          <p:nvPr/>
        </p:nvSpPr>
        <p:spPr>
          <a:xfrm>
            <a:off x="6531769" y="6072662"/>
            <a:ext cx="964406" cy="182537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Launch</a:t>
            </a:r>
          </a:p>
        </p:txBody>
      </p:sp>
      <p:sp>
        <p:nvSpPr>
          <p:cNvPr id="370" name="Oval 369"/>
          <p:cNvSpPr/>
          <p:nvPr/>
        </p:nvSpPr>
        <p:spPr>
          <a:xfrm>
            <a:off x="759142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71" name="TextBox 370"/>
          <p:cNvSpPr txBox="1"/>
          <p:nvPr/>
        </p:nvSpPr>
        <p:spPr>
          <a:xfrm>
            <a:off x="7591425" y="608178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72" name="TextBox 371"/>
          <p:cNvSpPr txBox="1"/>
          <p:nvPr/>
        </p:nvSpPr>
        <p:spPr>
          <a:xfrm>
            <a:off x="7800975" y="6072662"/>
            <a:ext cx="781050" cy="182537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Certification</a:t>
            </a:r>
          </a:p>
        </p:txBody>
      </p:sp>
      <p:sp>
        <p:nvSpPr>
          <p:cNvPr id="373" name="TextBox 372"/>
          <p:cNvSpPr txBox="1"/>
          <p:nvPr/>
        </p:nvSpPr>
        <p:spPr>
          <a:xfrm>
            <a:off x="285750" y="6273453"/>
            <a:ext cx="11620500" cy="155156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Note: Market Share indicates the contribution of target revenue in Market</a:t>
            </a:r>
          </a:p>
        </p:txBody>
      </p:sp>
      <p:sp>
        <p:nvSpPr>
          <p:cNvPr id="374" name="TextBox 373"/>
          <p:cNvSpPr txBox="1"/>
          <p:nvPr/>
        </p:nvSpPr>
        <p:spPr>
          <a:xfrm>
            <a:off x="285750" y="6428609"/>
            <a:ext cx="11620500" cy="155156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Revenue represents sales of the company from target market</a:t>
            </a:r>
          </a:p>
        </p:txBody>
      </p:sp>
      <p:sp>
        <p:nvSpPr>
          <p:cNvPr id="375" name="TextBox 37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6" name="Picture 3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2702524"/>
            <a:ext cx="128699" cy="187198"/>
          </a:xfrm>
          <a:prstGeom prst="rect">
            <a:avLst/>
          </a:prstGeom>
        </p:spPr>
      </p:pic>
      <p:pic>
        <p:nvPicPr>
          <p:cNvPr id="377" name="Picture 3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3031091"/>
            <a:ext cx="128699" cy="187198"/>
          </a:xfrm>
          <a:prstGeom prst="rect">
            <a:avLst/>
          </a:prstGeom>
        </p:spPr>
      </p:pic>
      <p:pic>
        <p:nvPicPr>
          <p:cNvPr id="378" name="Picture 3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2" y="3560448"/>
            <a:ext cx="128699" cy="187198"/>
          </a:xfrm>
          <a:prstGeom prst="rect">
            <a:avLst/>
          </a:prstGeom>
        </p:spPr>
      </p:pic>
      <p:pic>
        <p:nvPicPr>
          <p:cNvPr id="379" name="Picture 3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2702524"/>
            <a:ext cx="128699" cy="187198"/>
          </a:xfrm>
          <a:prstGeom prst="rect">
            <a:avLst/>
          </a:prstGeom>
        </p:spPr>
      </p:pic>
      <p:pic>
        <p:nvPicPr>
          <p:cNvPr id="380" name="Picture 3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031091"/>
            <a:ext cx="128699" cy="187198"/>
          </a:xfrm>
          <a:prstGeom prst="rect">
            <a:avLst/>
          </a:prstGeom>
        </p:spPr>
      </p:pic>
      <p:pic>
        <p:nvPicPr>
          <p:cNvPr id="381" name="Picture 3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560448"/>
            <a:ext cx="128699" cy="187198"/>
          </a:xfrm>
          <a:prstGeom prst="rect">
            <a:avLst/>
          </a:prstGeom>
        </p:spPr>
      </p:pic>
      <p:pic>
        <p:nvPicPr>
          <p:cNvPr id="382" name="Picture 3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2702524"/>
            <a:ext cx="128699" cy="187198"/>
          </a:xfrm>
          <a:prstGeom prst="rect">
            <a:avLst/>
          </a:prstGeom>
        </p:spPr>
      </p:pic>
      <p:pic>
        <p:nvPicPr>
          <p:cNvPr id="383" name="Picture 3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3031091"/>
            <a:ext cx="128699" cy="187198"/>
          </a:xfrm>
          <a:prstGeom prst="rect">
            <a:avLst/>
          </a:prstGeom>
        </p:spPr>
      </p:pic>
      <p:pic>
        <p:nvPicPr>
          <p:cNvPr id="384" name="Picture 3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2" y="3560448"/>
            <a:ext cx="128699" cy="187198"/>
          </a:xfrm>
          <a:prstGeom prst="rect">
            <a:avLst/>
          </a:prstGeom>
        </p:spPr>
      </p:pic>
      <p:pic>
        <p:nvPicPr>
          <p:cNvPr id="385" name="Picture 3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2702524"/>
            <a:ext cx="128699" cy="187198"/>
          </a:xfrm>
          <a:prstGeom prst="rect">
            <a:avLst/>
          </a:prstGeom>
        </p:spPr>
      </p:pic>
      <p:pic>
        <p:nvPicPr>
          <p:cNvPr id="386" name="Picture 3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031091"/>
            <a:ext cx="128699" cy="187198"/>
          </a:xfrm>
          <a:prstGeom prst="rect">
            <a:avLst/>
          </a:prstGeom>
        </p:spPr>
      </p:pic>
      <p:pic>
        <p:nvPicPr>
          <p:cNvPr id="387" name="Picture 3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560448"/>
            <a:ext cx="128699" cy="187198"/>
          </a:xfrm>
          <a:prstGeom prst="rect">
            <a:avLst/>
          </a:prstGeom>
        </p:spPr>
      </p:pic>
      <p:pic>
        <p:nvPicPr>
          <p:cNvPr id="388" name="Picture 3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2702524"/>
            <a:ext cx="128699" cy="187198"/>
          </a:xfrm>
          <a:prstGeom prst="rect">
            <a:avLst/>
          </a:prstGeom>
        </p:spPr>
      </p:pic>
      <p:pic>
        <p:nvPicPr>
          <p:cNvPr id="389" name="Picture 3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3031091"/>
            <a:ext cx="128699" cy="187198"/>
          </a:xfrm>
          <a:prstGeom prst="rect">
            <a:avLst/>
          </a:prstGeom>
        </p:spPr>
      </p:pic>
      <p:pic>
        <p:nvPicPr>
          <p:cNvPr id="390" name="Picture 3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2" y="3560448"/>
            <a:ext cx="128699" cy="187198"/>
          </a:xfrm>
          <a:prstGeom prst="rect">
            <a:avLst/>
          </a:prstGeom>
        </p:spPr>
      </p:pic>
      <p:pic>
        <p:nvPicPr>
          <p:cNvPr id="391" name="Picture 3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2702524"/>
            <a:ext cx="128699" cy="187198"/>
          </a:xfrm>
          <a:prstGeom prst="rect">
            <a:avLst/>
          </a:prstGeom>
        </p:spPr>
      </p:pic>
      <p:pic>
        <p:nvPicPr>
          <p:cNvPr id="392" name="Picture 3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031091"/>
            <a:ext cx="128699" cy="187198"/>
          </a:xfrm>
          <a:prstGeom prst="rect">
            <a:avLst/>
          </a:prstGeom>
        </p:spPr>
      </p:pic>
      <p:pic>
        <p:nvPicPr>
          <p:cNvPr id="393" name="Picture 3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560448"/>
            <a:ext cx="128699" cy="187198"/>
          </a:xfrm>
          <a:prstGeom prst="rect">
            <a:avLst/>
          </a:prstGeom>
        </p:spPr>
      </p:pic>
      <p:pic>
        <p:nvPicPr>
          <p:cNvPr id="394" name="Picture 3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2702524"/>
            <a:ext cx="128699" cy="187198"/>
          </a:xfrm>
          <a:prstGeom prst="rect">
            <a:avLst/>
          </a:prstGeom>
        </p:spPr>
      </p:pic>
      <p:pic>
        <p:nvPicPr>
          <p:cNvPr id="395" name="Picture 3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3031091"/>
            <a:ext cx="128699" cy="187198"/>
          </a:xfrm>
          <a:prstGeom prst="rect">
            <a:avLst/>
          </a:prstGeom>
        </p:spPr>
      </p:pic>
      <p:pic>
        <p:nvPicPr>
          <p:cNvPr id="396" name="Picture 3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2" y="3560448"/>
            <a:ext cx="128699" cy="187198"/>
          </a:xfrm>
          <a:prstGeom prst="rect">
            <a:avLst/>
          </a:prstGeom>
        </p:spPr>
      </p:pic>
      <p:pic>
        <p:nvPicPr>
          <p:cNvPr id="397" name="Picture 3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2702524"/>
            <a:ext cx="128699" cy="187198"/>
          </a:xfrm>
          <a:prstGeom prst="rect">
            <a:avLst/>
          </a:prstGeom>
        </p:spPr>
      </p:pic>
      <p:pic>
        <p:nvPicPr>
          <p:cNvPr id="398" name="Picture 3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031091"/>
            <a:ext cx="128699" cy="187198"/>
          </a:xfrm>
          <a:prstGeom prst="rect">
            <a:avLst/>
          </a:prstGeom>
        </p:spPr>
      </p:pic>
      <p:pic>
        <p:nvPicPr>
          <p:cNvPr id="399" name="Picture 3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560448"/>
            <a:ext cx="128699" cy="187198"/>
          </a:xfrm>
          <a:prstGeom prst="rect">
            <a:avLst/>
          </a:prstGeom>
        </p:spPr>
      </p:pic>
      <p:pic>
        <p:nvPicPr>
          <p:cNvPr id="400" name="Picture 3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2702524"/>
            <a:ext cx="128699" cy="187198"/>
          </a:xfrm>
          <a:prstGeom prst="rect">
            <a:avLst/>
          </a:prstGeom>
        </p:spPr>
      </p:pic>
      <p:pic>
        <p:nvPicPr>
          <p:cNvPr id="401" name="Picture 4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3031091"/>
            <a:ext cx="128699" cy="187198"/>
          </a:xfrm>
          <a:prstGeom prst="rect">
            <a:avLst/>
          </a:prstGeom>
        </p:spPr>
      </p:pic>
      <p:pic>
        <p:nvPicPr>
          <p:cNvPr id="402" name="Picture 4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2" y="3560448"/>
            <a:ext cx="128699" cy="187198"/>
          </a:xfrm>
          <a:prstGeom prst="rect">
            <a:avLst/>
          </a:prstGeom>
        </p:spPr>
      </p:pic>
      <p:pic>
        <p:nvPicPr>
          <p:cNvPr id="403" name="Picture 4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2702524"/>
            <a:ext cx="128699" cy="187198"/>
          </a:xfrm>
          <a:prstGeom prst="rect">
            <a:avLst/>
          </a:prstGeom>
        </p:spPr>
      </p:pic>
      <p:pic>
        <p:nvPicPr>
          <p:cNvPr id="404" name="Picture 4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031091"/>
            <a:ext cx="128699" cy="187198"/>
          </a:xfrm>
          <a:prstGeom prst="rect">
            <a:avLst/>
          </a:prstGeom>
        </p:spPr>
      </p:pic>
      <p:pic>
        <p:nvPicPr>
          <p:cNvPr id="405" name="Picture 4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560448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Share by Leading Players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Advice for Vendors &amp; Suppliers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Company Value Share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Company Share 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Company Share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Who Shaped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Advice for Market Vendors / Suppliers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Strategic advice for vendors and suppliers on pricing, product, geography, channel and competitive risk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Strategic advice for vendors and suppliers where to compete, how to price, and which risks to manage across the Pet Cosmetic Products Market.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76225" y="1439806"/>
            <a:ext cx="559117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&amp; Margin Strategy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76225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TextBox 13"/>
          <p:cNvSpPr txBox="1"/>
          <p:nvPr/>
        </p:nvSpPr>
        <p:spPr>
          <a:xfrm>
            <a:off x="276225" y="1763656"/>
            <a:ext cx="5591175" cy="2115377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5" name="Rounded Rectangle 14"/>
          <p:cNvSpPr/>
          <p:nvPr/>
        </p:nvSpPr>
        <p:spPr>
          <a:xfrm>
            <a:off x="6191250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6324600" y="1439806"/>
            <a:ext cx="559117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Product &amp; Innovation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324600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6324600" y="1763656"/>
            <a:ext cx="5591175" cy="2115377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19" name="Rounded Rectangle 18"/>
          <p:cNvSpPr/>
          <p:nvPr/>
        </p:nvSpPr>
        <p:spPr>
          <a:xfrm>
            <a:off x="142875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276225" y="4132227"/>
            <a:ext cx="559117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Geographic &amp; Channel Expansion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TextBox 21"/>
          <p:cNvSpPr txBox="1"/>
          <p:nvPr/>
        </p:nvSpPr>
        <p:spPr>
          <a:xfrm>
            <a:off x="276225" y="4456077"/>
            <a:ext cx="5591175" cy="2024108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Expand selectively into under-penetrated regions where the leaders are thin, rather than head-on in saturated markets.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Balance retail, hospital/clinic and online channels online is the fastest-shifting route to end customers.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Build reliable distribution and logistics partnerships to convert demand into fulfilled volume.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6191250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6324600" y="4132227"/>
            <a:ext cx="5591175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&amp; Risk Positioning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324600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6324600" y="4456077"/>
            <a:ext cx="5591175" cy="2024108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1773181"/>
            <a:ext cx="323538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Hold price discipline: with the top three players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60765" y="176295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35875" y="1773181"/>
            <a:ext cx="18598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avoid value-destructive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948441"/>
            <a:ext cx="364672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discounting compete on mix and service, not headline price.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176279"/>
            <a:ext cx="557212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toward higher-value formulations (e.g. 'Shampoos &amp; Cleansing Products') to lift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2351539"/>
            <a:ext cx="32254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 ASP and defend margin as input costs move.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2579377"/>
            <a:ext cx="48162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Set transparent, corridor-based regional pricing to limit grey-market arbitrage.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24600" y="1773181"/>
            <a:ext cx="54954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R&amp;D in the fastest-growing formulations a differentiated portfolio is the clearest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24600" y="1948441"/>
            <a:ext cx="16605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route to out-growing the ~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4254" y="193821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109363" y="1948441"/>
            <a:ext cx="9057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CAGR.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24600" y="2176279"/>
            <a:ext cx="53839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Pursue certification and clinical validation to build switching costs and support premium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24600" y="2351539"/>
            <a:ext cx="77307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positioning.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24600" y="2579377"/>
            <a:ext cx="393140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Localise formats and pack sizes to each channel and geography.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24600" y="4465602"/>
            <a:ext cx="274446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 relentlessly against 'Beaphar' (~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18218" y="4455378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193328" y="4465602"/>
            <a:ext cx="22195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 match on service and lead on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24600" y="4640861"/>
            <a:ext cx="156037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innovation to take share.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24600" y="4868699"/>
            <a:ext cx="545551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to cut dependence on a few large accounts and single-region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24600" y="5043959"/>
            <a:ext cx="6604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exposure.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24600" y="5271797"/>
            <a:ext cx="523016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Stress-test for regulatory, currency and supply shocks; keep flexible capacity and dual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24600" y="5447057"/>
            <a:ext cx="6159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sourcing.</a:t>
            </a: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Value Share (Europe)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company in the Europe market, 2025, highlighting leadership and the long tail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28575" tIns="9525" rIns="28575" bIns="9525" rtlCol="0" anchor="ctr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Target market value share by key companies leadership, concentration and how the competitive mix shifts by region.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54380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73533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Key Company (US$ Mn, 2026)</a:t>
            </a:r>
          </a:p>
        </p:txBody>
      </p:sp>
      <p:graphicFrame>
        <p:nvGraphicFramePr>
          <p:cNvPr id="14" name="Chart 13"/>
          <p:cNvGraphicFramePr>
            <a:graphicFrameLocks noGrp="1"/>
          </p:cNvGraphicFramePr>
          <p:nvPr/>
        </p:nvGraphicFramePr>
        <p:xfrm>
          <a:off x="238125" y="1639831"/>
          <a:ext cx="7353300" cy="48776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049780" y="3878635"/>
            <a:ext cx="1524000" cy="4000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endParaRPr/>
          </a:p>
          <a:p>
            <a:pPr algn="ctr"/>
            <a:endParaRPr/>
          </a:p>
        </p:txBody>
      </p:sp>
      <p:sp>
        <p:nvSpPr>
          <p:cNvPr id="16" name="Rounded Rectangle 15"/>
          <p:cNvSpPr/>
          <p:nvPr/>
        </p:nvSpPr>
        <p:spPr>
          <a:xfrm>
            <a:off x="7800975" y="1354081"/>
            <a:ext cx="4248150" cy="5220558"/>
          </a:xfrm>
          <a:prstGeom prst="roundRect">
            <a:avLst>
              <a:gd name="adj" fmla="val 17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7934325" y="1439806"/>
            <a:ext cx="39814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7934325" y="1677931"/>
            <a:ext cx="39814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7934325" y="1763656"/>
            <a:ext cx="3981450" cy="4734783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33173" y="3678610"/>
            <a:ext cx="523875" cy="762000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634865" y="3914616"/>
            <a:ext cx="430029" cy="16169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100% =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40344" y="4091735"/>
            <a:ext cx="109510" cy="15928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2682868" y="4100056"/>
            <a:ext cx="465087" cy="16169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934325" y="1773181"/>
            <a:ext cx="39624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Pet Cosmetic Products Market is moderately consolidated in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934325" y="1948441"/>
            <a:ext cx="22272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Europe: the top three players hold ~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10778" y="1938217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285887" y="1948441"/>
            <a:ext cx="155210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value, while a long tail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934325" y="2123701"/>
            <a:ext cx="150731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('Others') accounts for ~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0797" y="21134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565907" y="2123701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934325" y="2351539"/>
            <a:ext cx="146795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'Beaphar' leads with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1432" y="2341315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526542" y="2351539"/>
            <a:ext cx="235423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ahead of 'Laboratoire Biogance'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934325" y="2526799"/>
            <a:ext cx="30098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 ~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84459" y="251657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359568" y="2526799"/>
            <a:ext cx="33238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two set the competitive benchmark for pricing and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934325" y="2702058"/>
            <a:ext cx="74939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innovation.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934325" y="2929896"/>
            <a:ext cx="23870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Tier 1 players collectively command 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70520" y="2919673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445630" y="2929896"/>
            <a:ext cx="92483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market,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934325" y="3105156"/>
            <a:ext cx="249772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underlining meaningful barriers to entry.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934325" y="3332994"/>
            <a:ext cx="377679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Regional share differs from the overall picture use the region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934325" y="3508254"/>
            <a:ext cx="34447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selector to see how leadership shifts across geographies.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934325" y="3736092"/>
            <a:ext cx="380988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gains in Europe are being driven by capacity expansion,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934325" y="3911352"/>
            <a:ext cx="365927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development and selective M&amp;A among the leading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934325" y="4086612"/>
            <a:ext cx="54030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players.</a:t>
            </a:r>
          </a:p>
        </p:txBody>
      </p:sp>
      <p:sp>
        <p:nvSpPr>
          <p:cNvPr id="48" name="lockshield_14"/>
          <p:cNvSpPr/>
          <p:nvPr/>
        </p:nvSpPr>
        <p:spPr>
          <a:xfrm>
            <a:off x="238125" y="1639831"/>
            <a:ext cx="7353300" cy="4877658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Share by Product Type (Top 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company value share within each leading product type, highlighting where leadership differs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leading product types where each player concentrates, and how leadership varies by formulation.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12432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4219575" y="1356470"/>
            <a:ext cx="3638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4219575" y="1585070"/>
          <a:ext cx="3638550" cy="28697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8105775" y="1299320"/>
            <a:ext cx="39433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8201025" y="1356470"/>
            <a:ext cx="37528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8201025" y="1585070"/>
          <a:ext cx="3752850" cy="28697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14461" y="2619895"/>
            <a:ext cx="523875" cy="7620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35916" y="2619895"/>
            <a:ext cx="523875" cy="76200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6225" y="5022340"/>
            <a:ext cx="316406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Shampoos &amp; Cleansing Products: 'Beaphar' leads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88337" y="5012560"/>
            <a:ext cx="128699" cy="18719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555833" y="5022340"/>
            <a:ext cx="137688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'Group55' (~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880768" y="5012560"/>
            <a:ext cx="128699" cy="18719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048264" y="5022340"/>
            <a:ext cx="13285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324904" y="5012560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492400" y="5022340"/>
            <a:ext cx="15397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80227" y="5012560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147723" y="5022340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240272"/>
            <a:ext cx="442163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Coat Conditioning &amp; Grooming Products: 'Laboratoire Francodex' leads at ~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645910" y="5230492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813406" y="5240272"/>
            <a:ext cx="208547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846936" y="5230492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7014432" y="5240272"/>
            <a:ext cx="13285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91072" y="5230492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458568" y="5240272"/>
            <a:ext cx="15397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946396" y="52304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0113892" y="5240272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58204"/>
            <a:ext cx="314878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Skin, Paw &amp; Nose Care Products: 'Beaphar' leads at ~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3058" y="54484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540553" y="5458204"/>
            <a:ext cx="208547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574084" y="5448424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741580" y="5458204"/>
            <a:ext cx="132858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018220" y="5448424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7185716" y="5458204"/>
            <a:ext cx="153977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73543" y="5448424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8841039" y="5458204"/>
            <a:ext cx="11139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5676136"/>
            <a:ext cx="852450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Leadership shifts across formulations a strong position in one product type does not carry over to the others, so product-level targeting is essential.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894068"/>
            <a:ext cx="6908403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lockshield_16"/>
          <p:cNvSpPr/>
          <p:nvPr/>
        </p:nvSpPr>
        <p:spPr>
          <a:xfrm>
            <a:off x="421957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lockshield_19"/>
          <p:cNvSpPr/>
          <p:nvPr/>
        </p:nvSpPr>
        <p:spPr>
          <a:xfrm>
            <a:off x="8201025" y="1585070"/>
            <a:ext cx="37528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Share by Country (Top 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Company value share within the largest regions, highlighting where leadership shifts across geographies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largest countries where each player concentrates, and how leadership varies by geography.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12432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4219575" y="1356470"/>
            <a:ext cx="3638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4219575" y="1585070"/>
          <a:ext cx="3638550" cy="28697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8105775" y="1299320"/>
            <a:ext cx="39433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8201025" y="1356470"/>
            <a:ext cx="37528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8201025" y="1585070"/>
          <a:ext cx="3752850" cy="28697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14461" y="2619895"/>
            <a:ext cx="523875" cy="7620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35916" y="2619895"/>
            <a:ext cx="523875" cy="76200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6225" y="5022340"/>
            <a:ext cx="19406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Germany: 'Beaphar' leads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65998" y="501211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341107" y="5022340"/>
            <a:ext cx="217680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467071" y="5012116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642180" y="5022340"/>
            <a:ext cx="13855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976850" y="5012116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151959" y="5022340"/>
            <a:ext cx="160630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07415" y="501211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882524" y="5022340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250177"/>
            <a:ext cx="23565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United Kingdom: 'Beaphar' leads at ~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581898" y="5239954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2757007" y="5250177"/>
            <a:ext cx="217680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882971" y="5239954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5058080" y="5250177"/>
            <a:ext cx="13855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392750" y="5239954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6567859" y="5250177"/>
            <a:ext cx="160630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23315" y="5239954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8298424" y="5250177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78015"/>
            <a:ext cx="179456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France: 'Beaphar' leads at ~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019948" y="5467792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2195057" y="5478015"/>
            <a:ext cx="22529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'Laboratoire Francodex' (~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397184" y="5467792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572293" y="5478015"/>
            <a:ext cx="13855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906962" y="5467792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6082072" y="5478015"/>
            <a:ext cx="160630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637528" y="5467792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812637" y="5478015"/>
            <a:ext cx="112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5705853"/>
            <a:ext cx="970580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Leadership is not uniform across geographies a strong position in one region does not carry over to the others, so region-level go-to-market planning is essential.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933691"/>
            <a:ext cx="721895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lockshield_16"/>
          <p:cNvSpPr/>
          <p:nvPr/>
        </p:nvSpPr>
        <p:spPr>
          <a:xfrm>
            <a:off x="421957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9" name="lockshield_19"/>
          <p:cNvSpPr/>
          <p:nvPr/>
        </p:nvSpPr>
        <p:spPr>
          <a:xfrm>
            <a:off x="8201025" y="1585070"/>
            <a:ext cx="37528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Who Shaped Growth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Ranking of the players that shaped growth, by value share, growth role and signature move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970754"/>
            <a:ext cx="11906250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A framework to identify the companies that most influenced annual Pet Cosmetic Products Market growth, ranked by growth-shaping impact.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619500" y="1189798"/>
            <a:ext cx="4953000" cy="419835"/>
          </a:xfrm>
          <a:prstGeom prst="roundRect">
            <a:avLst>
              <a:gd name="adj" fmla="val 1538"/>
            </a:avLst>
          </a:prstGeom>
          <a:solidFill>
            <a:srgbClr val="F4F8FB"/>
          </a:solidFill>
          <a:ln w="12700">
            <a:solidFill>
              <a:srgbClr val="CFE0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3733800" y="1226305"/>
            <a:ext cx="4724400" cy="17341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RANKED BY GROWTH-SHAPING IMPACT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33800" y="1399716"/>
            <a:ext cx="4724400" cy="17341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Ranked by overall contribution to category growth, not share alone.</a:t>
            </a:r>
          </a:p>
        </p:txBody>
      </p:sp>
      <p:cxnSp>
        <p:nvCxnSpPr>
          <p:cNvPr id="14" name="Connector 13"/>
          <p:cNvCxnSpPr/>
          <p:nvPr/>
        </p:nvCxnSpPr>
        <p:spPr>
          <a:xfrm>
            <a:off x="428625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8743950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523875" y="1792170"/>
            <a:ext cx="11106150" cy="0"/>
          </a:xfrm>
          <a:prstGeom prst="line">
            <a:avLst/>
          </a:prstGeom>
          <a:ln w="25400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16"/>
          <p:cNvSpPr/>
          <p:nvPr/>
        </p:nvSpPr>
        <p:spPr>
          <a:xfrm>
            <a:off x="11630025" y="1728282"/>
            <a:ext cx="171450" cy="127776"/>
          </a:xfrm>
          <a:custGeom>
            <a:avLst/>
            <a:gdLst/>
            <a:ahLst/>
            <a:cxnLst/>
            <a:rect l="l" t="t" r="r" b="b"/>
            <a:pathLst>
              <a:path w="18" h="14">
                <a:moveTo>
                  <a:pt x="0" y="0"/>
                </a:moveTo>
                <a:lnTo>
                  <a:pt x="18" y="7"/>
                </a:lnTo>
                <a:lnTo>
                  <a:pt x="0" y="14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Oval 17"/>
          <p:cNvSpPr/>
          <p:nvPr/>
        </p:nvSpPr>
        <p:spPr>
          <a:xfrm>
            <a:off x="1152525" y="1655267"/>
            <a:ext cx="285750" cy="273805"/>
          </a:xfrm>
          <a:prstGeom prst="ellipse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1152525" y="1710028"/>
            <a:ext cx="2857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428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Rounded Rectangle 20"/>
          <p:cNvSpPr/>
          <p:nvPr/>
        </p:nvSpPr>
        <p:spPr>
          <a:xfrm>
            <a:off x="1428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Oval 21"/>
          <p:cNvSpPr/>
          <p:nvPr/>
        </p:nvSpPr>
        <p:spPr>
          <a:xfrm>
            <a:off x="2571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257175" y="2065976"/>
            <a:ext cx="22860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🏆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23875" y="2065976"/>
            <a:ext cx="1828800" cy="17341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Beaphar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2376288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28625" y="2376288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cxnSp>
        <p:nvCxnSpPr>
          <p:cNvPr id="27" name="Connector 26"/>
          <p:cNvCxnSpPr/>
          <p:nvPr/>
        </p:nvCxnSpPr>
        <p:spPr>
          <a:xfrm>
            <a:off x="2381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238125" y="272310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428625" y="2640967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428625" y="2805250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Market leader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2381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38125" y="3124690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28625" y="306080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28625" y="3225085"/>
            <a:ext cx="1924050" cy="38332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Expanded reach across its core segment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381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38125" y="376356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28625" y="369968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28625" y="3863965"/>
            <a:ext cx="192405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New launch</a:t>
            </a:r>
          </a:p>
        </p:txBody>
      </p:sp>
      <p:sp>
        <p:nvSpPr>
          <p:cNvPr id="39" name="Oval 38"/>
          <p:cNvSpPr/>
          <p:nvPr/>
        </p:nvSpPr>
        <p:spPr>
          <a:xfrm>
            <a:off x="3552825" y="1655267"/>
            <a:ext cx="285750" cy="273805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3552825" y="1710028"/>
            <a:ext cx="2857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25431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Rounded Rectangle 41"/>
          <p:cNvSpPr/>
          <p:nvPr/>
        </p:nvSpPr>
        <p:spPr>
          <a:xfrm>
            <a:off x="25431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35313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Oval 42"/>
          <p:cNvSpPr/>
          <p:nvPr/>
        </p:nvSpPr>
        <p:spPr>
          <a:xfrm>
            <a:off x="26574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2657475" y="2065976"/>
            <a:ext cx="22860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924175" y="2065976"/>
            <a:ext cx="1828800" cy="17341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Laboratoire Biogance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638425" y="2376288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28925" y="2376288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cxnSp>
        <p:nvCxnSpPr>
          <p:cNvPr id="48" name="Connector 47"/>
          <p:cNvCxnSpPr/>
          <p:nvPr/>
        </p:nvCxnSpPr>
        <p:spPr>
          <a:xfrm>
            <a:off x="26384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2638425" y="272310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828925" y="2640967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828925" y="2805250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Portfolio expander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26384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638425" y="3124690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828925" y="306080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28925" y="3225085"/>
            <a:ext cx="1924050" cy="38332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Drove new customer adoption</a:t>
            </a:r>
          </a:p>
        </p:txBody>
      </p:sp>
      <p:cxnSp>
        <p:nvCxnSpPr>
          <p:cNvPr id="56" name="Connector 55"/>
          <p:cNvCxnSpPr/>
          <p:nvPr/>
        </p:nvCxnSpPr>
        <p:spPr>
          <a:xfrm>
            <a:off x="26384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2638425" y="376356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828925" y="369968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828925" y="3863965"/>
            <a:ext cx="192405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expansion</a:t>
            </a:r>
          </a:p>
        </p:txBody>
      </p:sp>
      <p:sp>
        <p:nvSpPr>
          <p:cNvPr id="60" name="Oval 59"/>
          <p:cNvSpPr/>
          <p:nvPr/>
        </p:nvSpPr>
        <p:spPr>
          <a:xfrm>
            <a:off x="5953125" y="1655267"/>
            <a:ext cx="285750" cy="273805"/>
          </a:xfrm>
          <a:prstGeom prst="ellipse">
            <a:avLst/>
          </a:prstGeom>
          <a:solidFill>
            <a:srgbClr val="69B1E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TextBox 60"/>
          <p:cNvSpPr txBox="1"/>
          <p:nvPr/>
        </p:nvSpPr>
        <p:spPr>
          <a:xfrm>
            <a:off x="5953125" y="1710028"/>
            <a:ext cx="2857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49434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3" name="Rounded Rectangle 62"/>
          <p:cNvSpPr/>
          <p:nvPr/>
        </p:nvSpPr>
        <p:spPr>
          <a:xfrm>
            <a:off x="49434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9B1E0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4" name="Oval 63"/>
          <p:cNvSpPr/>
          <p:nvPr/>
        </p:nvSpPr>
        <p:spPr>
          <a:xfrm>
            <a:off x="50577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5057775" y="2065976"/>
            <a:ext cx="22860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👥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5324475" y="2065976"/>
            <a:ext cx="1828800" cy="17341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Laboratoire Francodex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038725" y="2376288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229225" y="2376288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cxnSp>
        <p:nvCxnSpPr>
          <p:cNvPr id="69" name="Connector 68"/>
          <p:cNvCxnSpPr/>
          <p:nvPr/>
        </p:nvCxnSpPr>
        <p:spPr>
          <a:xfrm>
            <a:off x="50387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5038725" y="272310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229225" y="2640967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29225" y="2805250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69B1E0"/>
                </a:solidFill>
                <a:latin typeface="Calibri"/>
              </a:rPr>
              <a:t>Access builder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50387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TextBox 73"/>
          <p:cNvSpPr txBox="1"/>
          <p:nvPr/>
        </p:nvSpPr>
        <p:spPr>
          <a:xfrm>
            <a:off x="5038725" y="3124690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5229225" y="306080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5229225" y="3225085"/>
            <a:ext cx="1924050" cy="38332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Won through wider channel availability</a:t>
            </a:r>
          </a:p>
        </p:txBody>
      </p:sp>
      <p:cxnSp>
        <p:nvCxnSpPr>
          <p:cNvPr id="77" name="Connector 76"/>
          <p:cNvCxnSpPr/>
          <p:nvPr/>
        </p:nvCxnSpPr>
        <p:spPr>
          <a:xfrm>
            <a:off x="50387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5038725" y="376356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29225" y="369968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229225" y="3863965"/>
            <a:ext cx="192405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Pricing strategy</a:t>
            </a:r>
          </a:p>
        </p:txBody>
      </p:sp>
      <p:sp>
        <p:nvSpPr>
          <p:cNvPr id="81" name="Oval 80"/>
          <p:cNvSpPr/>
          <p:nvPr/>
        </p:nvSpPr>
        <p:spPr>
          <a:xfrm>
            <a:off x="8353425" y="1655267"/>
            <a:ext cx="285750" cy="27380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2" name="TextBox 81"/>
          <p:cNvSpPr txBox="1"/>
          <p:nvPr/>
        </p:nvSpPr>
        <p:spPr>
          <a:xfrm>
            <a:off x="8353425" y="1710028"/>
            <a:ext cx="2857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83" name="Rounded Rectangle 82"/>
          <p:cNvSpPr/>
          <p:nvPr/>
        </p:nvSpPr>
        <p:spPr>
          <a:xfrm>
            <a:off x="73437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4" name="Rounded Rectangle 83"/>
          <p:cNvSpPr/>
          <p:nvPr/>
        </p:nvSpPr>
        <p:spPr>
          <a:xfrm>
            <a:off x="73437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F3CC2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5" name="Oval 84"/>
          <p:cNvSpPr/>
          <p:nvPr/>
        </p:nvSpPr>
        <p:spPr>
          <a:xfrm>
            <a:off x="74580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86" name="TextBox 85"/>
          <p:cNvSpPr txBox="1"/>
          <p:nvPr/>
        </p:nvSpPr>
        <p:spPr>
          <a:xfrm>
            <a:off x="7458075" y="2065976"/>
            <a:ext cx="22860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💎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724775" y="2065976"/>
            <a:ext cx="1828800" cy="17341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Group55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439025" y="2376288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7629525" y="2376288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cxnSp>
        <p:nvCxnSpPr>
          <p:cNvPr id="90" name="Connector 89"/>
          <p:cNvCxnSpPr/>
          <p:nvPr/>
        </p:nvCxnSpPr>
        <p:spPr>
          <a:xfrm>
            <a:off x="74390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7439025" y="272310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29525" y="2640967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629525" y="2805250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6F3CC2"/>
                </a:solidFill>
                <a:latin typeface="Calibri"/>
              </a:rPr>
              <a:t>Premiumiser</a:t>
            </a:r>
          </a:p>
        </p:txBody>
      </p:sp>
      <p:cxnSp>
        <p:nvCxnSpPr>
          <p:cNvPr id="94" name="Connector 93"/>
          <p:cNvCxnSpPr/>
          <p:nvPr/>
        </p:nvCxnSpPr>
        <p:spPr>
          <a:xfrm>
            <a:off x="74390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TextBox 94"/>
          <p:cNvSpPr txBox="1"/>
          <p:nvPr/>
        </p:nvSpPr>
        <p:spPr>
          <a:xfrm>
            <a:off x="7439025" y="3124690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7629525" y="306080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629525" y="3225085"/>
            <a:ext cx="1924050" cy="38332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Supported premium SKU growth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74390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7439025" y="376356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7629525" y="369968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7629525" y="3863965"/>
            <a:ext cx="192405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Portfolio/brand investment</a:t>
            </a:r>
          </a:p>
        </p:txBody>
      </p:sp>
      <p:sp>
        <p:nvSpPr>
          <p:cNvPr id="102" name="Oval 101"/>
          <p:cNvSpPr/>
          <p:nvPr/>
        </p:nvSpPr>
        <p:spPr>
          <a:xfrm>
            <a:off x="10753725" y="1655267"/>
            <a:ext cx="285750" cy="273805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3" name="TextBox 102"/>
          <p:cNvSpPr txBox="1"/>
          <p:nvPr/>
        </p:nvSpPr>
        <p:spPr>
          <a:xfrm>
            <a:off x="10753725" y="1710028"/>
            <a:ext cx="2857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104" name="Rounded Rectangle 103"/>
          <p:cNvSpPr/>
          <p:nvPr/>
        </p:nvSpPr>
        <p:spPr>
          <a:xfrm>
            <a:off x="97440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5" name="Rounded Rectangle 104"/>
          <p:cNvSpPr/>
          <p:nvPr/>
        </p:nvSpPr>
        <p:spPr>
          <a:xfrm>
            <a:off x="97440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86F00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6" name="Oval 105"/>
          <p:cNvSpPr/>
          <p:nvPr/>
        </p:nvSpPr>
        <p:spPr>
          <a:xfrm>
            <a:off x="98583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07" name="TextBox 106"/>
          <p:cNvSpPr txBox="1"/>
          <p:nvPr/>
        </p:nvSpPr>
        <p:spPr>
          <a:xfrm>
            <a:off x="9858375" y="2065976"/>
            <a:ext cx="22860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⚡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0125075" y="2065976"/>
            <a:ext cx="1828800" cy="17341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Lakeland Cosmetics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839325" y="2376288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029825" y="2376288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endParaRPr/>
          </a:p>
        </p:txBody>
      </p:sp>
      <p:cxnSp>
        <p:nvCxnSpPr>
          <p:cNvPr id="111" name="Connector 110"/>
          <p:cNvCxnSpPr/>
          <p:nvPr/>
        </p:nvCxnSpPr>
        <p:spPr>
          <a:xfrm>
            <a:off x="98393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TextBox 111"/>
          <p:cNvSpPr txBox="1"/>
          <p:nvPr/>
        </p:nvSpPr>
        <p:spPr>
          <a:xfrm>
            <a:off x="9839325" y="272310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029825" y="2640967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0029825" y="2805250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Disruptor</a:t>
            </a:r>
          </a:p>
        </p:txBody>
      </p:sp>
      <p:cxnSp>
        <p:nvCxnSpPr>
          <p:cNvPr id="115" name="Connector 114"/>
          <p:cNvCxnSpPr/>
          <p:nvPr/>
        </p:nvCxnSpPr>
        <p:spPr>
          <a:xfrm>
            <a:off x="98393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6" name="TextBox 115"/>
          <p:cNvSpPr txBox="1"/>
          <p:nvPr/>
        </p:nvSpPr>
        <p:spPr>
          <a:xfrm>
            <a:off x="9839325" y="3124690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0029825" y="306080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10029825" y="3225085"/>
            <a:ext cx="1924050" cy="383328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Strengthened end-user and specifier pull</a:t>
            </a:r>
          </a:p>
        </p:txBody>
      </p:sp>
      <p:cxnSp>
        <p:nvCxnSpPr>
          <p:cNvPr id="119" name="Connector 118"/>
          <p:cNvCxnSpPr/>
          <p:nvPr/>
        </p:nvCxnSpPr>
        <p:spPr>
          <a:xfrm>
            <a:off x="98393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TextBox 119"/>
          <p:cNvSpPr txBox="1"/>
          <p:nvPr/>
        </p:nvSpPr>
        <p:spPr>
          <a:xfrm>
            <a:off x="9839325" y="3763569"/>
            <a:ext cx="1714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0029825" y="3699682"/>
            <a:ext cx="19240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0029825" y="3863965"/>
            <a:ext cx="192405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Partnership / acquisition</a:t>
            </a:r>
          </a:p>
        </p:txBody>
      </p:sp>
      <p:sp>
        <p:nvSpPr>
          <p:cNvPr id="123" name="Rounded Rectangle 122"/>
          <p:cNvSpPr/>
          <p:nvPr/>
        </p:nvSpPr>
        <p:spPr>
          <a:xfrm>
            <a:off x="142875" y="4238166"/>
            <a:ext cx="7886700" cy="2391234"/>
          </a:xfrm>
          <a:prstGeom prst="roundRect">
            <a:avLst>
              <a:gd name="adj" fmla="val 1086"/>
            </a:avLst>
          </a:prstGeom>
          <a:solidFill>
            <a:srgbClr val="F7FAFC"/>
          </a:solidFill>
          <a:ln w="12700">
            <a:solidFill>
              <a:srgbClr val="DCE6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4" name="TextBox 123"/>
          <p:cNvSpPr txBox="1"/>
          <p:nvPr/>
        </p:nvSpPr>
        <p:spPr>
          <a:xfrm>
            <a:off x="142875" y="4311180"/>
            <a:ext cx="7886700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HOW TO DECIDE WHO SHAPED GROWTH</a:t>
            </a:r>
          </a:p>
        </p:txBody>
      </p:sp>
      <p:sp>
        <p:nvSpPr>
          <p:cNvPr id="125" name="Oval 124"/>
          <p:cNvSpPr/>
          <p:nvPr/>
        </p:nvSpPr>
        <p:spPr>
          <a:xfrm>
            <a:off x="81534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6" name="TextBox 125"/>
          <p:cNvSpPr txBox="1"/>
          <p:nvPr/>
        </p:nvSpPr>
        <p:spPr>
          <a:xfrm>
            <a:off x="815340" y="4630620"/>
            <a:ext cx="400050" cy="20079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276225" y="4968314"/>
            <a:ext cx="1478280" cy="34682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E72AE"/>
                </a:solidFill>
                <a:latin typeface="Calibri"/>
              </a:rPr>
              <a:t>1. SHARE GAIN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76225" y="5333387"/>
            <a:ext cx="1478280" cy="60237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Company gained value or volume share</a:t>
            </a:r>
          </a:p>
        </p:txBody>
      </p:sp>
      <p:sp>
        <p:nvSpPr>
          <p:cNvPr id="129" name="Rounded Rectangle 128"/>
          <p:cNvSpPr/>
          <p:nvPr/>
        </p:nvSpPr>
        <p:spPr>
          <a:xfrm>
            <a:off x="52006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0" name="TextBox 129"/>
          <p:cNvSpPr txBox="1"/>
          <p:nvPr/>
        </p:nvSpPr>
        <p:spPr>
          <a:xfrm>
            <a:off x="520065" y="6036155"/>
            <a:ext cx="99060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754505" y="4648874"/>
            <a:ext cx="571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2" name="Oval 131"/>
          <p:cNvSpPr/>
          <p:nvPr/>
        </p:nvSpPr>
        <p:spPr>
          <a:xfrm>
            <a:off x="235077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3" name="TextBox 132"/>
          <p:cNvSpPr txBox="1"/>
          <p:nvPr/>
        </p:nvSpPr>
        <p:spPr>
          <a:xfrm>
            <a:off x="2350770" y="4630620"/>
            <a:ext cx="400050" cy="20079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🏪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811655" y="4968314"/>
            <a:ext cx="1478280" cy="34682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35313"/>
                </a:solidFill>
                <a:latin typeface="Calibri"/>
              </a:rPr>
              <a:t>2. DISTRIBUTION EXPANSION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811655" y="5333387"/>
            <a:ext cx="1478280" cy="60237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Expanded channel, retail or e-commerce reach</a:t>
            </a:r>
          </a:p>
        </p:txBody>
      </p:sp>
      <p:sp>
        <p:nvSpPr>
          <p:cNvPr id="136" name="Rounded Rectangle 135"/>
          <p:cNvSpPr/>
          <p:nvPr/>
        </p:nvSpPr>
        <p:spPr>
          <a:xfrm>
            <a:off x="205549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37" name="TextBox 136"/>
          <p:cNvSpPr txBox="1"/>
          <p:nvPr/>
        </p:nvSpPr>
        <p:spPr>
          <a:xfrm>
            <a:off x="2055495" y="6036155"/>
            <a:ext cx="99060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A35313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289935" y="4648874"/>
            <a:ext cx="571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9" name="Oval 138"/>
          <p:cNvSpPr/>
          <p:nvPr/>
        </p:nvSpPr>
        <p:spPr>
          <a:xfrm>
            <a:off x="388620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0" name="TextBox 139"/>
          <p:cNvSpPr txBox="1"/>
          <p:nvPr/>
        </p:nvSpPr>
        <p:spPr>
          <a:xfrm>
            <a:off x="3886200" y="4630620"/>
            <a:ext cx="400050" cy="20079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💡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3347085" y="4968314"/>
            <a:ext cx="1478280" cy="34682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9B1E0"/>
                </a:solidFill>
                <a:latin typeface="Calibri"/>
              </a:rPr>
              <a:t>3. INNOVATION / LAUNCHES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347085" y="5333387"/>
            <a:ext cx="1478280" cy="60237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New SKUs, pack sizes or product improvements</a:t>
            </a:r>
          </a:p>
        </p:txBody>
      </p:sp>
      <p:sp>
        <p:nvSpPr>
          <p:cNvPr id="143" name="Rounded Rectangle 142"/>
          <p:cNvSpPr/>
          <p:nvPr/>
        </p:nvSpPr>
        <p:spPr>
          <a:xfrm>
            <a:off x="359092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4" name="TextBox 143"/>
          <p:cNvSpPr txBox="1"/>
          <p:nvPr/>
        </p:nvSpPr>
        <p:spPr>
          <a:xfrm>
            <a:off x="3590925" y="6036155"/>
            <a:ext cx="99060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9B1E0"/>
                </a:solidFill>
                <a:latin typeface="Calibri"/>
              </a:rPr>
              <a:t> 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4825365" y="4648874"/>
            <a:ext cx="571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46" name="Oval 145"/>
          <p:cNvSpPr/>
          <p:nvPr/>
        </p:nvSpPr>
        <p:spPr>
          <a:xfrm>
            <a:off x="542163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7" name="TextBox 146"/>
          <p:cNvSpPr txBox="1"/>
          <p:nvPr/>
        </p:nvSpPr>
        <p:spPr>
          <a:xfrm>
            <a:off x="5421630" y="4630620"/>
            <a:ext cx="400050" cy="20079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🤝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882515" y="4968314"/>
            <a:ext cx="1478280" cy="34682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F3CC2"/>
                </a:solidFill>
                <a:latin typeface="Calibri"/>
              </a:rPr>
              <a:t>4. BUYER INFLUENCE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4882515" y="5333387"/>
            <a:ext cx="1478280" cy="60237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Stronger specifier, channel or end-user pull</a:t>
            </a:r>
          </a:p>
        </p:txBody>
      </p:sp>
      <p:sp>
        <p:nvSpPr>
          <p:cNvPr id="150" name="Rounded Rectangle 149"/>
          <p:cNvSpPr/>
          <p:nvPr/>
        </p:nvSpPr>
        <p:spPr>
          <a:xfrm>
            <a:off x="512635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1" name="TextBox 150"/>
          <p:cNvSpPr txBox="1"/>
          <p:nvPr/>
        </p:nvSpPr>
        <p:spPr>
          <a:xfrm>
            <a:off x="5126355" y="6036155"/>
            <a:ext cx="99060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6360795" y="4648874"/>
            <a:ext cx="57150" cy="164283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53" name="Oval 152"/>
          <p:cNvSpPr/>
          <p:nvPr/>
        </p:nvSpPr>
        <p:spPr>
          <a:xfrm>
            <a:off x="695706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4" name="TextBox 153"/>
          <p:cNvSpPr txBox="1"/>
          <p:nvPr/>
        </p:nvSpPr>
        <p:spPr>
          <a:xfrm>
            <a:off x="6957060" y="4630620"/>
            <a:ext cx="400050" cy="200791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💲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6417945" y="4968314"/>
            <a:ext cx="1478280" cy="34682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86F00"/>
                </a:solidFill>
                <a:latin typeface="Calibri"/>
              </a:rPr>
              <a:t>5. BRAND / PRICING POWER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7945" y="5333387"/>
            <a:ext cx="1478280" cy="602372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Premiumisation, positioning or pricing execution</a:t>
            </a:r>
          </a:p>
        </p:txBody>
      </p:sp>
      <p:sp>
        <p:nvSpPr>
          <p:cNvPr id="157" name="Rounded Rectangle 156"/>
          <p:cNvSpPr/>
          <p:nvPr/>
        </p:nvSpPr>
        <p:spPr>
          <a:xfrm>
            <a:off x="666178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8" name="TextBox 157"/>
          <p:cNvSpPr txBox="1"/>
          <p:nvPr/>
        </p:nvSpPr>
        <p:spPr>
          <a:xfrm>
            <a:off x="6661785" y="6036155"/>
            <a:ext cx="990600" cy="219044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A86F00"/>
                </a:solidFill>
                <a:latin typeface="Calibri"/>
              </a:rPr>
              <a:t> </a:t>
            </a:r>
          </a:p>
        </p:txBody>
      </p:sp>
      <p:sp>
        <p:nvSpPr>
          <p:cNvPr id="159" name="Rounded Rectangle 158"/>
          <p:cNvSpPr/>
          <p:nvPr/>
        </p:nvSpPr>
        <p:spPr>
          <a:xfrm>
            <a:off x="8191500" y="4238166"/>
            <a:ext cx="3857625" cy="2391234"/>
          </a:xfrm>
          <a:prstGeom prst="roundRect">
            <a:avLst>
              <a:gd name="adj" fmla="val 2222"/>
            </a:avLst>
          </a:prstGeom>
          <a:solidFill>
            <a:srgbClr val="F4FAF9"/>
          </a:solidFill>
          <a:ln w="12700">
            <a:solidFill>
              <a:srgbClr val="CFE3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0" name="TextBox 159"/>
          <p:cNvSpPr txBox="1"/>
          <p:nvPr/>
        </p:nvSpPr>
        <p:spPr>
          <a:xfrm>
            <a:off x="8191500" y="4311180"/>
            <a:ext cx="38576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ctr"/>
            <a:r>
              <a:rPr sz="1100" b="1">
                <a:solidFill>
                  <a:srgbClr val="1F6F63"/>
                </a:solidFill>
                <a:latin typeface="Calibri"/>
              </a:rPr>
              <a:t>BEST WAY TO USE THIS SLIDE</a:t>
            </a:r>
          </a:p>
        </p:txBody>
      </p:sp>
      <p:cxnSp>
        <p:nvCxnSpPr>
          <p:cNvPr id="161" name="Connector 160"/>
          <p:cNvCxnSpPr/>
          <p:nvPr/>
        </p:nvCxnSpPr>
        <p:spPr>
          <a:xfrm>
            <a:off x="8343900" y="4548478"/>
            <a:ext cx="3552825" cy="0"/>
          </a:xfrm>
          <a:prstGeom prst="line">
            <a:avLst/>
          </a:prstGeom>
          <a:ln w="12700">
            <a:solidFill>
              <a:srgbClr val="CFE3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2" name="Oval 161"/>
          <p:cNvSpPr/>
          <p:nvPr/>
        </p:nvSpPr>
        <p:spPr>
          <a:xfrm>
            <a:off x="8372475" y="4721889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3" name="TextBox 162"/>
          <p:cNvSpPr txBox="1"/>
          <p:nvPr/>
        </p:nvSpPr>
        <p:spPr>
          <a:xfrm>
            <a:off x="8372475" y="4767523"/>
            <a:ext cx="285750" cy="18253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743950" y="4694508"/>
            <a:ext cx="3152775" cy="401581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Rank companies by impact on category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8372475" y="5360768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6" name="TextBox 165"/>
          <p:cNvSpPr txBox="1"/>
          <p:nvPr/>
        </p:nvSpPr>
        <p:spPr>
          <a:xfrm>
            <a:off x="8372475" y="5406402"/>
            <a:ext cx="285750" cy="18253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📄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743950" y="5333387"/>
            <a:ext cx="3152775" cy="401581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Mention the one move that explains their impact</a:t>
            </a:r>
          </a:p>
        </p:txBody>
      </p:sp>
      <p:sp>
        <p:nvSpPr>
          <p:cNvPr id="168" name="Oval 167"/>
          <p:cNvSpPr/>
          <p:nvPr/>
        </p:nvSpPr>
        <p:spPr>
          <a:xfrm>
            <a:off x="8372475" y="5999647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9" name="TextBox 168"/>
          <p:cNvSpPr txBox="1"/>
          <p:nvPr/>
        </p:nvSpPr>
        <p:spPr>
          <a:xfrm>
            <a:off x="8372475" y="6045282"/>
            <a:ext cx="285750" cy="182537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🚫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8743950" y="5972267"/>
            <a:ext cx="3152775" cy="401581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Do not rely on market share alone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1015" y="6052078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6445" y="6052078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1875" y="6052078"/>
            <a:ext cx="128699" cy="187198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57305" y="6052078"/>
            <a:ext cx="128699" cy="187198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2735" y="6052078"/>
            <a:ext cx="128699" cy="187198"/>
          </a:xfrm>
          <a:prstGeom prst="rect">
            <a:avLst/>
          </a:prstGeom>
        </p:spPr>
      </p:pic>
      <p:sp>
        <p:nvSpPr>
          <p:cNvPr id="177" name="TextBox 176"/>
          <p:cNvSpPr txBox="1"/>
          <p:nvPr/>
        </p:nvSpPr>
        <p:spPr>
          <a:xfrm>
            <a:off x="457200" y="2398079"/>
            <a:ext cx="59562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4083" y="2391038"/>
            <a:ext cx="92663" cy="134782"/>
          </a:xfrm>
          <a:prstGeom prst="rect">
            <a:avLst/>
          </a:prstGeom>
        </p:spPr>
      </p:pic>
      <p:sp>
        <p:nvSpPr>
          <p:cNvPr id="179" name="TextBox 178"/>
          <p:cNvSpPr txBox="1"/>
          <p:nvPr/>
        </p:nvSpPr>
        <p:spPr>
          <a:xfrm>
            <a:off x="2857500" y="2398079"/>
            <a:ext cx="59562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94383" y="2391038"/>
            <a:ext cx="92663" cy="134782"/>
          </a:xfrm>
          <a:prstGeom prst="rect">
            <a:avLst/>
          </a:prstGeom>
        </p:spPr>
      </p:pic>
      <p:sp>
        <p:nvSpPr>
          <p:cNvPr id="181" name="TextBox 180"/>
          <p:cNvSpPr txBox="1"/>
          <p:nvPr/>
        </p:nvSpPr>
        <p:spPr>
          <a:xfrm>
            <a:off x="5257800" y="2398079"/>
            <a:ext cx="59562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4683" y="2391038"/>
            <a:ext cx="92663" cy="134782"/>
          </a:xfrm>
          <a:prstGeom prst="rect">
            <a:avLst/>
          </a:prstGeom>
        </p:spPr>
      </p:pic>
      <p:sp>
        <p:nvSpPr>
          <p:cNvPr id="183" name="TextBox 182"/>
          <p:cNvSpPr txBox="1"/>
          <p:nvPr/>
        </p:nvSpPr>
        <p:spPr>
          <a:xfrm>
            <a:off x="7658100" y="2398079"/>
            <a:ext cx="59562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94983" y="2391038"/>
            <a:ext cx="92663" cy="134782"/>
          </a:xfrm>
          <a:prstGeom prst="rect">
            <a:avLst/>
          </a:prstGeom>
        </p:spPr>
      </p:pic>
      <p:sp>
        <p:nvSpPr>
          <p:cNvPr id="185" name="TextBox 184"/>
          <p:cNvSpPr txBox="1"/>
          <p:nvPr/>
        </p:nvSpPr>
        <p:spPr>
          <a:xfrm>
            <a:off x="10058400" y="2398079"/>
            <a:ext cx="595622" cy="13975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5283" y="2391038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ang="162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lIns="0" tIns="0" bIns="0" anchor="ctr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tIns="0" r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Beaphar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Beaphar Penetration &amp; Win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Beaphar SWOT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Beaphar Key Financials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Beaphar Strategy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Beaphar: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Country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86073" y="3299104"/>
            <a:ext cx="197242" cy="286897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204877"/>
            <a:ext cx="233084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Beaphar captures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556225" y="5194653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2731335" y="5204877"/>
            <a:ext cx="40592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5432715"/>
            <a:ext cx="685754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'Germany' is the largest SOM region; 'Rest of Europe' shows the highest SAM penetration (~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082920" y="5422491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258029" y="5432715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9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Beaphar: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Country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359287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7645037" y="2017974"/>
            <a:ext cx="14287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19050" rIns="57150" bIns="19050" rtlCol="0" anchor="ctr"/>
          <a:lstStyle/>
          <a:p>
            <a:pPr algn="l"/>
            <a:endParaRPr/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19050" rIns="57150" bIns="19050" rtlCol="0" anchor="ctr"/>
          <a:lstStyle/>
          <a:p>
            <a:pPr algn="l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19050" rIns="57150" bIns="19050" rtlCol="0" anchor="ctr"/>
          <a:lstStyle/>
          <a:p>
            <a:pPr algn="l"/>
            <a:endParaRPr/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597914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01828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90601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27425" y="2314517"/>
            <a:ext cx="199521" cy="290213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5788995"/>
            <a:ext cx="749667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'Rest of Europe' shows the highest SAM penetration; lower-penetration regions are the growth headroom.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~95-day sales cycle and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80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Beaphar: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Beaphar: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'Germany'.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'Rest of 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Beaphar's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Beaphar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94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094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094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094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4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74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7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574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74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51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151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149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149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149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149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Beaphar's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Beaphar: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32544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Beaphar's strongest end-market while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20906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311985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'Rest of 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5238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520347" y="3309524"/>
            <a:ext cx="20190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489328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'Germany' (largest SOM region) and build out under-served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081686"/>
            <a:ext cx="8381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geographies.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54711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484784"/>
            <a:ext cx="42563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2675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887882"/>
            <a:ext cx="5092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334125" y="4115720"/>
            <a:ext cx="310217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~95-day sales cycle and ~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410549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9560561" y="4115720"/>
            <a:ext cx="200366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Laboratoire Biogance: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Country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86073" y="3299104"/>
            <a:ext cx="197242" cy="286897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204877"/>
            <a:ext cx="309703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Laboratoire Biogance captures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22417" y="5194653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3497527" y="5204877"/>
            <a:ext cx="40592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5432715"/>
            <a:ext cx="718358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'Rest of Europe' is the largest SOM region; 'Rest of Europe' shows the highest SAM penetration (~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08965" y="5422491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584074" y="5432715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9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Laboratoire Biogance: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Country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629688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7915438" y="2017974"/>
            <a:ext cx="14287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19050" rIns="57150" bIns="19050" rtlCol="0" anchor="ctr"/>
          <a:lstStyle/>
          <a:p>
            <a:pPr algn="l"/>
            <a:endParaRPr/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19050" rIns="57150" bIns="19050" rtlCol="0" anchor="ctr"/>
          <a:lstStyle/>
          <a:p>
            <a:pPr algn="l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19050" rIns="57150" bIns="19050" rtlCol="0" anchor="ctr"/>
          <a:lstStyle/>
          <a:p>
            <a:pPr algn="l"/>
            <a:endParaRPr/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686687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0705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728466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27425" y="2314517"/>
            <a:ext cx="199521" cy="290213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5788995"/>
            <a:ext cx="749667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'Rest of Europe' shows the highest SAM penetration; lower-penetration regions are the growth headroom.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~90-day sales cycle and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80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Laboratoire Biogance: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Laboratoire Biogance: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'Rest of 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'Rest of 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Biogance's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Laboratoire Biogance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94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094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094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094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4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74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7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574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74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51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151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149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149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149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149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Biogance's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Laboratoire Biogance: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00738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Laboratoire Biogance's strongest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31749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end-market 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311985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'Rest of 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5238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520347" y="3309524"/>
            <a:ext cx="20190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2193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'Rest of Europe' (largest SOM region) and build out under-served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081686"/>
            <a:ext cx="8381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geographies.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54711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484784"/>
            <a:ext cx="42563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2675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887882"/>
            <a:ext cx="5092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334125" y="4115720"/>
            <a:ext cx="310217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~90-day sales cycle and ~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410549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9560561" y="4115720"/>
            <a:ext cx="200366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Laboratoire Francodex: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  <a:p>
            <a:pPr algn="ctr">
              <a:lnSpc>
                <a:spcPct val="95000"/>
              </a:lnSpc>
            </a:pPr>
            <a:endParaRPr/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Country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86073" y="3299104"/>
            <a:ext cx="197242" cy="286897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204877"/>
            <a:ext cx="317320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Laboratoire Francodex captures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98580" y="5194653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3573689" y="5204877"/>
            <a:ext cx="40592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5432715"/>
            <a:ext cx="718358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'Rest of Europe' is the largest SOM region; 'Rest of Europe' shows the highest SAM penetration (~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08965" y="5422491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584074" y="5432715"/>
            <a:ext cx="15721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9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1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Laboratoire Francodex: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Country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900089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8185839" y="2017974"/>
            <a:ext cx="14287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19050" rIns="57150" bIns="19050" rtlCol="0" anchor="ctr"/>
          <a:lstStyle/>
          <a:p>
            <a:pPr algn="l"/>
            <a:endParaRPr/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19050" rIns="57150" bIns="19050" rtlCol="0" anchor="ctr"/>
          <a:lstStyle/>
          <a:p>
            <a:pPr algn="l"/>
            <a:endParaRPr/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19050" rIns="57150" bIns="19050" rtlCol="0" anchor="ctr"/>
          <a:lstStyle/>
          <a:p>
            <a:pPr algn="l"/>
            <a:endParaRPr/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tIns="9525" rIns="2857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775460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95828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550920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27425" y="2314517"/>
            <a:ext cx="199521" cy="290213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5788995"/>
            <a:ext cx="7496671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'Rest of Europe' shows the highest SAM penetration; lower-penetration regions are the growth headroom.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~85-day sales cycle and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80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Laboratoire Francodex: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Laboratoire Francodex: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'Rest of 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'Rest of 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endParaRPr/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tIns="9525" rIns="2857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Francodex's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Laboratoire Francodex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79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94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094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094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0947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4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74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7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574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74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96309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51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151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46126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149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149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149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1490">
                <a:tc>
                  <a:txBody>
                    <a:bodyPr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100"/>
                        <a:t> </a:t>
                      </a:r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tIns="0" rIns="28575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tIns="0" rIns="28575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Francodex's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14300" tIns="57150" rIns="114300" bIns="57150" rtlCol="0" anchor="ctr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Laboratoire Francodex: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57150" tIns="9525" rIns="57150" bIns="9525" rtlCol="0" anchor="ctr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tIns="9525" rIns="19050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endParaRPr/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tIns="0" rIns="28575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0835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Laboratoire Francodex's strongest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31749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end-market 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311985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'Rest of 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5238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520347" y="3309524"/>
            <a:ext cx="201906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219327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'Rest of Europe' (largest SOM region) and build out under-served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081686"/>
            <a:ext cx="83811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geographies.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5471144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484784"/>
            <a:ext cx="425636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26753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887882"/>
            <a:ext cx="509215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334125" y="4115720"/>
            <a:ext cx="3102173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~85-day sales cycle and ~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410549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9560561" y="4115720"/>
            <a:ext cx="2003660" cy="194310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70">
      <a:dk1>
        <a:sysClr val="windowText" lastClr="000000"/>
      </a:dk1>
      <a:lt1>
        <a:sysClr val="window" lastClr="FFFFFF"/>
      </a:lt1>
      <a:dk2>
        <a:srgbClr val="000000"/>
      </a:dk2>
      <a:lt2>
        <a:srgbClr val="F8F8F8"/>
      </a:lt2>
      <a:accent1>
        <a:srgbClr val="3D85C6"/>
      </a:accent1>
      <a:accent2>
        <a:srgbClr val="9E7E0A"/>
      </a:accent2>
      <a:accent3>
        <a:srgbClr val="40315E"/>
      </a:accent3>
      <a:accent4>
        <a:srgbClr val="008189"/>
      </a:accent4>
      <a:accent5>
        <a:srgbClr val="A35313"/>
      </a:accent5>
      <a:accent6>
        <a:srgbClr val="5F5F5F"/>
      </a:accent6>
      <a:hlink>
        <a:srgbClr val="5F5F5F"/>
      </a:hlink>
      <a:folHlink>
        <a:srgbClr val="919191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9</TotalTime>
  <Words>65736</Words>
  <Application>Microsoft Office PowerPoint</Application>
  <PresentationFormat>Widescreen</PresentationFormat>
  <Paragraphs>22378</Paragraphs>
  <Slides>268</Slides>
  <Notes>229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268</vt:i4>
      </vt:variant>
    </vt:vector>
  </HeadingPairs>
  <TitlesOfParts>
    <vt:vector size="276" baseType="lpstr">
      <vt:lpstr>Aptos</vt:lpstr>
      <vt:lpstr>Arial</vt:lpstr>
      <vt:lpstr>Calibri</vt:lpstr>
      <vt:lpstr>Calibri Light</vt:lpstr>
      <vt:lpstr>Courier New</vt:lpstr>
      <vt:lpstr>Symbol</vt:lpstr>
      <vt:lpstr>Times New Roman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Anurag Sharma</cp:lastModifiedBy>
  <cp:revision>1</cp:revision>
  <dcterms:created xsi:type="dcterms:W3CDTF">2013-01-27T09:14:16Z</dcterms:created>
  <dcterms:modified xsi:type="dcterms:W3CDTF">2026-10-07T08:25:51Z</dcterms:modified>
  <cp:category/>
</cp:coreProperties>
</file>