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4360.0</c:v>
                </c:pt>
                <c:pt idx="1">
                  <c:v>4376.0</c:v>
                </c:pt>
                <c:pt idx="2">
                  <c:v>4392.0</c:v>
                </c:pt>
                <c:pt idx="3">
                  <c:v>4410.0</c:v>
                </c:pt>
                <c:pt idx="4">
                  <c:v>4437.0</c:v>
                </c:pt>
                <c:pt idx="5">
                  <c:v>4480.0</c:v>
                </c:pt>
                <c:pt idx="6">
                  <c:v>4528.0</c:v>
                </c:pt>
                <c:pt idx="7">
                  <c:v>4595.0</c:v>
                </c:pt>
                <c:pt idx="8">
                  <c:v>4679.0</c:v>
                </c:pt>
                <c:pt idx="9">
                  <c:v>4766.0</c:v>
                </c:pt>
                <c:pt idx="10">
                  <c:v>4844.0</c:v>
                </c:pt>
                <c:pt idx="11">
                  <c:v>4912.0</c:v>
                </c:pt>
                <c:pt idx="12">
                  <c:v>4965.0</c:v>
                </c:pt>
                <c:pt idx="13">
                  <c:v>5011.0</c:v>
                </c:pt>
                <c:pt idx="14">
                  <c:v>5051.0</c:v>
                </c:pt>
                <c:pt idx="15">
                  <c:v>5079.0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3051.0</c:v>
                </c:pt>
                <c:pt idx="1">
                  <c:v>3052.0</c:v>
                </c:pt>
                <c:pt idx="2">
                  <c:v>3059.0</c:v>
                </c:pt>
                <c:pt idx="3">
                  <c:v>3069.0</c:v>
                </c:pt>
                <c:pt idx="4">
                  <c:v>3085.0</c:v>
                </c:pt>
                <c:pt idx="5">
                  <c:v>3108.0</c:v>
                </c:pt>
                <c:pt idx="6">
                  <c:v>3131.0</c:v>
                </c:pt>
                <c:pt idx="7">
                  <c:v>3167.0</c:v>
                </c:pt>
                <c:pt idx="8">
                  <c:v>3216.0</c:v>
                </c:pt>
                <c:pt idx="9">
                  <c:v>3270.0</c:v>
                </c:pt>
                <c:pt idx="10">
                  <c:v>3324.0</c:v>
                </c:pt>
                <c:pt idx="11">
                  <c:v>3371.0</c:v>
                </c:pt>
                <c:pt idx="12">
                  <c:v>3410.0</c:v>
                </c:pt>
                <c:pt idx="13">
                  <c:v>3445.0</c:v>
                </c:pt>
                <c:pt idx="14">
                  <c:v>3474.0</c:v>
                </c:pt>
                <c:pt idx="15">
                  <c:v>3496.0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2793.0</c:v>
                </c:pt>
                <c:pt idx="1">
                  <c:v>2807.0</c:v>
                </c:pt>
                <c:pt idx="2">
                  <c:v>2820.0</c:v>
                </c:pt>
                <c:pt idx="3">
                  <c:v>2833.0</c:v>
                </c:pt>
                <c:pt idx="4">
                  <c:v>2844.0</c:v>
                </c:pt>
                <c:pt idx="5">
                  <c:v>2855.0</c:v>
                </c:pt>
                <c:pt idx="6">
                  <c:v>2907.0</c:v>
                </c:pt>
                <c:pt idx="7">
                  <c:v>2954.0</c:v>
                </c:pt>
                <c:pt idx="8">
                  <c:v>2995.0</c:v>
                </c:pt>
                <c:pt idx="9">
                  <c:v>3033.0</c:v>
                </c:pt>
                <c:pt idx="10">
                  <c:v>3070.0</c:v>
                </c:pt>
                <c:pt idx="11">
                  <c:v>3110.0</c:v>
                </c:pt>
                <c:pt idx="12">
                  <c:v>3150.0</c:v>
                </c:pt>
                <c:pt idx="13">
                  <c:v>3186.0</c:v>
                </c:pt>
                <c:pt idx="14">
                  <c:v>3219.0</c:v>
                </c:pt>
                <c:pt idx="15">
                  <c:v>3248.0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2631.0</c:v>
                </c:pt>
                <c:pt idx="1">
                  <c:v>2643.0</c:v>
                </c:pt>
                <c:pt idx="2">
                  <c:v>2654.0</c:v>
                </c:pt>
                <c:pt idx="3">
                  <c:v>2663.0</c:v>
                </c:pt>
                <c:pt idx="4">
                  <c:v>2672.0</c:v>
                </c:pt>
                <c:pt idx="5">
                  <c:v>2680.0</c:v>
                </c:pt>
                <c:pt idx="6">
                  <c:v>2712.0</c:v>
                </c:pt>
                <c:pt idx="7">
                  <c:v>2740.0</c:v>
                </c:pt>
                <c:pt idx="8">
                  <c:v>2768.0</c:v>
                </c:pt>
                <c:pt idx="9">
                  <c:v>2804.0</c:v>
                </c:pt>
                <c:pt idx="10">
                  <c:v>2842.0</c:v>
                </c:pt>
                <c:pt idx="11">
                  <c:v>2881.0</c:v>
                </c:pt>
                <c:pt idx="12">
                  <c:v>2919.0</c:v>
                </c:pt>
                <c:pt idx="13">
                  <c:v>2954.0</c:v>
                </c:pt>
                <c:pt idx="14">
                  <c:v>2986.0</c:v>
                </c:pt>
                <c:pt idx="15">
                  <c:v>3015.0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00.0"/>
          <c:min val="2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86.5</c:v>
                </c:pt>
                <c:pt idx="1">
                  <c:v>92.1</c:v>
                </c:pt>
                <c:pt idx="2">
                  <c:v>100.3</c:v>
                </c:pt>
                <c:pt idx="3">
                  <c:v>144.5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7.0"/>
          <c:min val="8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97.1</c:v>
                </c:pt>
                <c:pt idx="1">
                  <c:v>93.0</c:v>
                </c:pt>
                <c:pt idx="2">
                  <c:v>83.0</c:v>
                </c:pt>
                <c:pt idx="3">
                  <c:v>81.6</c:v>
                </c:pt>
                <c:pt idx="4">
                  <c:v>78.5</c:v>
                </c:pt>
                <c:pt idx="5">
                  <c:v>78.3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2"/>
            <c:spPr>
              <a:solidFill>
                <a:srgbClr val="5B7DB1"/>
              </a:solidFill>
            </c:spPr>
          </c:dPt>
          <c:dPt>
            <c:idx val="3"/>
            <c:spPr>
              <a:solidFill>
                <a:srgbClr val="5B7DB1"/>
              </a:solidFill>
            </c:spPr>
          </c:dPt>
          <c:dPt>
            <c:idx val="4"/>
            <c:spPr>
              <a:solidFill>
                <a:srgbClr val="5B7DB1"/>
              </a:solidFill>
            </c:spPr>
          </c:dPt>
          <c:dPt>
            <c:idx val="5"/>
            <c:spPr>
              <a:solidFill>
                <a:srgbClr val="5B7DB1"/>
              </a:solidFill>
            </c:spPr>
          </c:dPt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Europe</c:v>
                </c:pt>
                <c:pt idx="2">
                  <c:v>Middle East &amp; Africa</c:v>
                </c:pt>
                <c:pt idx="3">
                  <c:v>Latin America</c:v>
                </c:pt>
                <c:pt idx="4">
                  <c:v>East Asia</c:v>
                </c:pt>
                <c:pt idx="5">
                  <c:v>South Asia &amp; Pacific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65.4</c:v>
                </c:pt>
                <c:pt idx="1">
                  <c:v>61.3</c:v>
                </c:pt>
                <c:pt idx="2">
                  <c:v>55.6</c:v>
                </c:pt>
                <c:pt idx="3">
                  <c:v>55.0</c:v>
                </c:pt>
                <c:pt idx="4">
                  <c:v>53.4</c:v>
                </c:pt>
                <c:pt idx="5">
                  <c:v>52.1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65.0"/>
          <c:min val="75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4897.0</c:v>
                </c:pt>
                <c:pt idx="1">
                  <c:v>4919.0</c:v>
                </c:pt>
                <c:pt idx="2">
                  <c:v>4945.0</c:v>
                </c:pt>
                <c:pt idx="3">
                  <c:v>4974.0</c:v>
                </c:pt>
                <c:pt idx="4">
                  <c:v>5005.0</c:v>
                </c:pt>
                <c:pt idx="5">
                  <c:v>5038.0</c:v>
                </c:pt>
                <c:pt idx="6">
                  <c:v>5137.0</c:v>
                </c:pt>
                <c:pt idx="7">
                  <c:v>5227.0</c:v>
                </c:pt>
                <c:pt idx="8">
                  <c:v>5302.0</c:v>
                </c:pt>
                <c:pt idx="9">
                  <c:v>5374.0</c:v>
                </c:pt>
                <c:pt idx="10">
                  <c:v>5456.0</c:v>
                </c:pt>
                <c:pt idx="11">
                  <c:v>5546.0</c:v>
                </c:pt>
                <c:pt idx="12">
                  <c:v>5637.0</c:v>
                </c:pt>
                <c:pt idx="13">
                  <c:v>5723.0</c:v>
                </c:pt>
                <c:pt idx="14">
                  <c:v>5803.0</c:v>
                </c:pt>
                <c:pt idx="15">
                  <c:v>5873.0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3415.0</c:v>
                </c:pt>
                <c:pt idx="1">
                  <c:v>3435.0</c:v>
                </c:pt>
                <c:pt idx="2">
                  <c:v>3452.0</c:v>
                </c:pt>
                <c:pt idx="3">
                  <c:v>3468.0</c:v>
                </c:pt>
                <c:pt idx="4">
                  <c:v>3482.0</c:v>
                </c:pt>
                <c:pt idx="5">
                  <c:v>3494.0</c:v>
                </c:pt>
                <c:pt idx="6">
                  <c:v>3533.0</c:v>
                </c:pt>
                <c:pt idx="7">
                  <c:v>3571.0</c:v>
                </c:pt>
                <c:pt idx="8">
                  <c:v>3611.0</c:v>
                </c:pt>
                <c:pt idx="9">
                  <c:v>3661.0</c:v>
                </c:pt>
                <c:pt idx="10">
                  <c:v>3713.0</c:v>
                </c:pt>
                <c:pt idx="11">
                  <c:v>3764.0</c:v>
                </c:pt>
                <c:pt idx="12">
                  <c:v>3807.0</c:v>
                </c:pt>
                <c:pt idx="13">
                  <c:v>3846.0</c:v>
                </c:pt>
                <c:pt idx="14">
                  <c:v>3882.0</c:v>
                </c:pt>
                <c:pt idx="15">
                  <c:v>3912.0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3136.0</c:v>
                </c:pt>
                <c:pt idx="1">
                  <c:v>3152.0</c:v>
                </c:pt>
                <c:pt idx="2">
                  <c:v>3168.0</c:v>
                </c:pt>
                <c:pt idx="3">
                  <c:v>3184.0</c:v>
                </c:pt>
                <c:pt idx="4">
                  <c:v>3199.0</c:v>
                </c:pt>
                <c:pt idx="5">
                  <c:v>3214.0</c:v>
                </c:pt>
                <c:pt idx="6">
                  <c:v>3285.0</c:v>
                </c:pt>
                <c:pt idx="7">
                  <c:v>3350.0</c:v>
                </c:pt>
                <c:pt idx="8">
                  <c:v>3412.0</c:v>
                </c:pt>
                <c:pt idx="9">
                  <c:v>3468.0</c:v>
                </c:pt>
                <c:pt idx="10">
                  <c:v>3519.0</c:v>
                </c:pt>
                <c:pt idx="11">
                  <c:v>3564.0</c:v>
                </c:pt>
                <c:pt idx="12">
                  <c:v>3602.0</c:v>
                </c:pt>
                <c:pt idx="13">
                  <c:v>3642.0</c:v>
                </c:pt>
                <c:pt idx="14">
                  <c:v>3672.0</c:v>
                </c:pt>
                <c:pt idx="15">
                  <c:v>3706.0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2932.0</c:v>
                </c:pt>
                <c:pt idx="1">
                  <c:v>2948.0</c:v>
                </c:pt>
                <c:pt idx="2">
                  <c:v>2962.0</c:v>
                </c:pt>
                <c:pt idx="3">
                  <c:v>2977.0</c:v>
                </c:pt>
                <c:pt idx="4">
                  <c:v>2994.0</c:v>
                </c:pt>
                <c:pt idx="5">
                  <c:v>3011.0</c:v>
                </c:pt>
                <c:pt idx="6">
                  <c:v>3102.0</c:v>
                </c:pt>
                <c:pt idx="7">
                  <c:v>3192.0</c:v>
                </c:pt>
                <c:pt idx="8">
                  <c:v>3271.0</c:v>
                </c:pt>
                <c:pt idx="9">
                  <c:v>3343.0</c:v>
                </c:pt>
                <c:pt idx="10">
                  <c:v>3402.0</c:v>
                </c:pt>
                <c:pt idx="11">
                  <c:v>3446.0</c:v>
                </c:pt>
                <c:pt idx="12">
                  <c:v>3472.0</c:v>
                </c:pt>
                <c:pt idx="13">
                  <c:v>3501.0</c:v>
                </c:pt>
                <c:pt idx="14">
                  <c:v>3509.0</c:v>
                </c:pt>
                <c:pt idx="15">
                  <c:v>3491.0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0.0"/>
          <c:min val="2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86.4</c:v>
                </c:pt>
                <c:pt idx="1">
                  <c:v>92.2</c:v>
                </c:pt>
                <c:pt idx="2">
                  <c:v>100.2</c:v>
                </c:pt>
                <c:pt idx="3">
                  <c:v>144.5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7.0"/>
          <c:min val="8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4129.0</c:v>
                </c:pt>
                <c:pt idx="1">
                  <c:v>4149.0</c:v>
                </c:pt>
                <c:pt idx="2">
                  <c:v>4170.0</c:v>
                </c:pt>
                <c:pt idx="3">
                  <c:v>4193.0</c:v>
                </c:pt>
                <c:pt idx="4">
                  <c:v>4216.0</c:v>
                </c:pt>
                <c:pt idx="5">
                  <c:v>4237.0</c:v>
                </c:pt>
                <c:pt idx="6">
                  <c:v>4285.0</c:v>
                </c:pt>
                <c:pt idx="7">
                  <c:v>4336.0</c:v>
                </c:pt>
                <c:pt idx="8">
                  <c:v>4377.0</c:v>
                </c:pt>
                <c:pt idx="9">
                  <c:v>4433.0</c:v>
                </c:pt>
                <c:pt idx="10">
                  <c:v>4494.0</c:v>
                </c:pt>
                <c:pt idx="11">
                  <c:v>4556.0</c:v>
                </c:pt>
                <c:pt idx="12">
                  <c:v>4604.0</c:v>
                </c:pt>
                <c:pt idx="13">
                  <c:v>4655.0</c:v>
                </c:pt>
                <c:pt idx="14">
                  <c:v>4715.0</c:v>
                </c:pt>
                <c:pt idx="15">
                  <c:v>4791.0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2874.0</c:v>
                </c:pt>
                <c:pt idx="1">
                  <c:v>2879.0</c:v>
                </c:pt>
                <c:pt idx="2">
                  <c:v>2887.0</c:v>
                </c:pt>
                <c:pt idx="3">
                  <c:v>2901.0</c:v>
                </c:pt>
                <c:pt idx="4">
                  <c:v>2917.0</c:v>
                </c:pt>
                <c:pt idx="5">
                  <c:v>2943.0</c:v>
                </c:pt>
                <c:pt idx="6">
                  <c:v>2950.0</c:v>
                </c:pt>
                <c:pt idx="7">
                  <c:v>2965.0</c:v>
                </c:pt>
                <c:pt idx="8">
                  <c:v>2986.0</c:v>
                </c:pt>
                <c:pt idx="9">
                  <c:v>3016.0</c:v>
                </c:pt>
                <c:pt idx="10">
                  <c:v>3051.0</c:v>
                </c:pt>
                <c:pt idx="11">
                  <c:v>3092.0</c:v>
                </c:pt>
                <c:pt idx="12">
                  <c:v>3143.0</c:v>
                </c:pt>
                <c:pt idx="13">
                  <c:v>3204.0</c:v>
                </c:pt>
                <c:pt idx="14">
                  <c:v>3279.0</c:v>
                </c:pt>
                <c:pt idx="15">
                  <c:v>3367.0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2635.0</c:v>
                </c:pt>
                <c:pt idx="1">
                  <c:v>2656.0</c:v>
                </c:pt>
                <c:pt idx="2">
                  <c:v>2673.0</c:v>
                </c:pt>
                <c:pt idx="3">
                  <c:v>2686.0</c:v>
                </c:pt>
                <c:pt idx="4">
                  <c:v>2696.0</c:v>
                </c:pt>
                <c:pt idx="5">
                  <c:v>2703.0</c:v>
                </c:pt>
                <c:pt idx="6">
                  <c:v>2746.0</c:v>
                </c:pt>
                <c:pt idx="7">
                  <c:v>2784.0</c:v>
                </c:pt>
                <c:pt idx="8">
                  <c:v>2818.0</c:v>
                </c:pt>
                <c:pt idx="9">
                  <c:v>2851.0</c:v>
                </c:pt>
                <c:pt idx="10">
                  <c:v>2887.0</c:v>
                </c:pt>
                <c:pt idx="11">
                  <c:v>2925.0</c:v>
                </c:pt>
                <c:pt idx="12">
                  <c:v>2967.0</c:v>
                </c:pt>
                <c:pt idx="13">
                  <c:v>3009.0</c:v>
                </c:pt>
                <c:pt idx="14">
                  <c:v>3049.0</c:v>
                </c:pt>
                <c:pt idx="15">
                  <c:v>3086.0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2473.0</c:v>
                </c:pt>
                <c:pt idx="1">
                  <c:v>2478.0</c:v>
                </c:pt>
                <c:pt idx="2">
                  <c:v>2486.0</c:v>
                </c:pt>
                <c:pt idx="3">
                  <c:v>2499.0</c:v>
                </c:pt>
                <c:pt idx="4">
                  <c:v>2513.0</c:v>
                </c:pt>
                <c:pt idx="5">
                  <c:v>2531.0</c:v>
                </c:pt>
                <c:pt idx="6">
                  <c:v>2529.0</c:v>
                </c:pt>
                <c:pt idx="7">
                  <c:v>2535.0</c:v>
                </c:pt>
                <c:pt idx="8">
                  <c:v>2551.0</c:v>
                </c:pt>
                <c:pt idx="9">
                  <c:v>2574.0</c:v>
                </c:pt>
                <c:pt idx="10">
                  <c:v>2605.0</c:v>
                </c:pt>
                <c:pt idx="11">
                  <c:v>2643.0</c:v>
                </c:pt>
                <c:pt idx="12">
                  <c:v>2688.0</c:v>
                </c:pt>
                <c:pt idx="13">
                  <c:v>2742.0</c:v>
                </c:pt>
                <c:pt idx="14">
                  <c:v>2806.0</c:v>
                </c:pt>
                <c:pt idx="15">
                  <c:v>2879.0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0.0"/>
          <c:min val="20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86.1</c:v>
                </c:pt>
                <c:pt idx="1">
                  <c:v>92.0</c:v>
                </c:pt>
                <c:pt idx="2">
                  <c:v>100.2</c:v>
                </c:pt>
                <c:pt idx="3">
                  <c:v>144.2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6.0"/>
          <c:min val="8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Sheet1!$A$2:$A$4</c:f>
              <c:strCache>
                <c:ptCount val="3"/>
                <c:pt idx="0">
                  <c:v>Brazil</c:v>
                </c:pt>
                <c:pt idx="1">
                  <c:v>Colombia</c:v>
                </c:pt>
                <c:pt idx="2">
                  <c:v>Mexico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89.3</c:v>
                </c:pt>
                <c:pt idx="1">
                  <c:v>87.4</c:v>
                </c:pt>
                <c:pt idx="2">
                  <c:v>81.6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2"/>
            <c:spPr>
              <a:solidFill>
                <a:srgbClr val="5B7DB1"/>
              </a:solidFill>
            </c:spPr>
          </c:dPt>
          <c:cat>
            <c:strRef>
              <c:f>Sheet1!$A$2:$A$4</c:f>
              <c:strCache>
                <c:ptCount val="3"/>
                <c:pt idx="0">
                  <c:v>Brazil</c:v>
                </c:pt>
                <c:pt idx="1">
                  <c:v>Colombia</c:v>
                </c:pt>
                <c:pt idx="2">
                  <c:v>Mexico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60.6</c:v>
                </c:pt>
                <c:pt idx="1">
                  <c:v>58.5</c:v>
                </c:pt>
                <c:pt idx="2">
                  <c:v>54.5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50.0"/>
          <c:min val="8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4684.0</c:v>
                </c:pt>
                <c:pt idx="1">
                  <c:v>4715.0</c:v>
                </c:pt>
                <c:pt idx="2">
                  <c:v>4740.0</c:v>
                </c:pt>
                <c:pt idx="3">
                  <c:v>4759.0</c:v>
                </c:pt>
                <c:pt idx="4">
                  <c:v>4773.0</c:v>
                </c:pt>
                <c:pt idx="5">
                  <c:v>4783.0</c:v>
                </c:pt>
                <c:pt idx="6">
                  <c:v>4845.0</c:v>
                </c:pt>
                <c:pt idx="7">
                  <c:v>4900.0</c:v>
                </c:pt>
                <c:pt idx="8">
                  <c:v>4948.0</c:v>
                </c:pt>
                <c:pt idx="9">
                  <c:v>4997.0</c:v>
                </c:pt>
                <c:pt idx="10">
                  <c:v>5046.0</c:v>
                </c:pt>
                <c:pt idx="11">
                  <c:v>5101.0</c:v>
                </c:pt>
                <c:pt idx="12">
                  <c:v>5161.0</c:v>
                </c:pt>
                <c:pt idx="13">
                  <c:v>5220.0</c:v>
                </c:pt>
                <c:pt idx="14">
                  <c:v>5276.0</c:v>
                </c:pt>
                <c:pt idx="15">
                  <c:v>5329.0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3253.0</c:v>
                </c:pt>
                <c:pt idx="1">
                  <c:v>3260.0</c:v>
                </c:pt>
                <c:pt idx="2">
                  <c:v>3269.0</c:v>
                </c:pt>
                <c:pt idx="3">
                  <c:v>3285.0</c:v>
                </c:pt>
                <c:pt idx="4">
                  <c:v>3302.0</c:v>
                </c:pt>
                <c:pt idx="5">
                  <c:v>3324.0</c:v>
                </c:pt>
                <c:pt idx="6">
                  <c:v>3322.0</c:v>
                </c:pt>
                <c:pt idx="7">
                  <c:v>3333.0</c:v>
                </c:pt>
                <c:pt idx="8">
                  <c:v>3357.0</c:v>
                </c:pt>
                <c:pt idx="9">
                  <c:v>3395.0</c:v>
                </c:pt>
                <c:pt idx="10">
                  <c:v>3438.0</c:v>
                </c:pt>
                <c:pt idx="11">
                  <c:v>3485.0</c:v>
                </c:pt>
                <c:pt idx="12">
                  <c:v>3539.0</c:v>
                </c:pt>
                <c:pt idx="13">
                  <c:v>3605.0</c:v>
                </c:pt>
                <c:pt idx="14">
                  <c:v>3684.0</c:v>
                </c:pt>
                <c:pt idx="15">
                  <c:v>3774.0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2985.0</c:v>
                </c:pt>
                <c:pt idx="1">
                  <c:v>3003.0</c:v>
                </c:pt>
                <c:pt idx="2">
                  <c:v>3020.0</c:v>
                </c:pt>
                <c:pt idx="3">
                  <c:v>3034.0</c:v>
                </c:pt>
                <c:pt idx="4">
                  <c:v>3047.0</c:v>
                </c:pt>
                <c:pt idx="5">
                  <c:v>3058.0</c:v>
                </c:pt>
                <c:pt idx="6">
                  <c:v>3098.0</c:v>
                </c:pt>
                <c:pt idx="7">
                  <c:v>3136.0</c:v>
                </c:pt>
                <c:pt idx="8">
                  <c:v>3177.0</c:v>
                </c:pt>
                <c:pt idx="9">
                  <c:v>3227.0</c:v>
                </c:pt>
                <c:pt idx="10">
                  <c:v>3280.0</c:v>
                </c:pt>
                <c:pt idx="11">
                  <c:v>3332.0</c:v>
                </c:pt>
                <c:pt idx="12">
                  <c:v>3375.0</c:v>
                </c:pt>
                <c:pt idx="13">
                  <c:v>3415.0</c:v>
                </c:pt>
                <c:pt idx="14">
                  <c:v>3452.0</c:v>
                </c:pt>
                <c:pt idx="15">
                  <c:v>3483.0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2826.0</c:v>
                </c:pt>
                <c:pt idx="1">
                  <c:v>2831.0</c:v>
                </c:pt>
                <c:pt idx="2">
                  <c:v>2837.0</c:v>
                </c:pt>
                <c:pt idx="3">
                  <c:v>2847.0</c:v>
                </c:pt>
                <c:pt idx="4">
                  <c:v>2862.0</c:v>
                </c:pt>
                <c:pt idx="5">
                  <c:v>2883.0</c:v>
                </c:pt>
                <c:pt idx="6">
                  <c:v>2926.0</c:v>
                </c:pt>
                <c:pt idx="7">
                  <c:v>2981.0</c:v>
                </c:pt>
                <c:pt idx="8">
                  <c:v>3039.0</c:v>
                </c:pt>
                <c:pt idx="9">
                  <c:v>3090.0</c:v>
                </c:pt>
                <c:pt idx="10">
                  <c:v>3136.0</c:v>
                </c:pt>
                <c:pt idx="11">
                  <c:v>3172.0</c:v>
                </c:pt>
                <c:pt idx="12">
                  <c:v>3201.0</c:v>
                </c:pt>
                <c:pt idx="13">
                  <c:v>3229.0</c:v>
                </c:pt>
                <c:pt idx="14">
                  <c:v>3250.0</c:v>
                </c:pt>
                <c:pt idx="15">
                  <c:v>3262.0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00.0"/>
          <c:min val="2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86.9</c:v>
                </c:pt>
                <c:pt idx="1">
                  <c:v>92.2</c:v>
                </c:pt>
                <c:pt idx="2">
                  <c:v>100.2</c:v>
                </c:pt>
                <c:pt idx="3">
                  <c:v>144.1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6.0"/>
          <c:min val="84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Sheet1!$A$2:$A$12</c:f>
              <c:strCache>
                <c:ptCount val="11"/>
                <c:pt idx="0">
                  <c:v>Switzerland</c:v>
                </c:pt>
                <c:pt idx="1">
                  <c:v>Nordic</c:v>
                </c:pt>
                <c:pt idx="2">
                  <c:v>Germany</c:v>
                </c:pt>
                <c:pt idx="3">
                  <c:v>Belgium</c:v>
                </c:pt>
                <c:pt idx="4">
                  <c:v>U.K.</c:v>
                </c:pt>
                <c:pt idx="5">
                  <c:v>Netherlands</c:v>
                </c:pt>
                <c:pt idx="6">
                  <c:v>France</c:v>
                </c:pt>
                <c:pt idx="7">
                  <c:v>Italy</c:v>
                </c:pt>
                <c:pt idx="8">
                  <c:v>Spain</c:v>
                </c:pt>
                <c:pt idx="9">
                  <c:v>Poland</c:v>
                </c:pt>
                <c:pt idx="10">
                  <c:v>Russia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101.3</c:v>
                </c:pt>
                <c:pt idx="1">
                  <c:v>96.8</c:v>
                </c:pt>
                <c:pt idx="2">
                  <c:v>93.4</c:v>
                </c:pt>
                <c:pt idx="3">
                  <c:v>92.0</c:v>
                </c:pt>
                <c:pt idx="4">
                  <c:v>91.3</c:v>
                </c:pt>
                <c:pt idx="5">
                  <c:v>90.5</c:v>
                </c:pt>
                <c:pt idx="6">
                  <c:v>88.9</c:v>
                </c:pt>
                <c:pt idx="7">
                  <c:v>83.0</c:v>
                </c:pt>
                <c:pt idx="8">
                  <c:v>79.7</c:v>
                </c:pt>
                <c:pt idx="9">
                  <c:v>74.4</c:v>
                </c:pt>
                <c:pt idx="10">
                  <c:v>72.1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7"/>
            <c:spPr>
              <a:solidFill>
                <a:srgbClr val="5B7DB1"/>
              </a:solidFill>
            </c:spPr>
          </c:dPt>
          <c:dPt>
            <c:idx val="8"/>
            <c:spPr>
              <a:solidFill>
                <a:srgbClr val="5B7DB1"/>
              </a:solidFill>
            </c:spPr>
          </c:dPt>
          <c:dPt>
            <c:idx val="9"/>
            <c:spPr>
              <a:solidFill>
                <a:srgbClr val="5B7DB1"/>
              </a:solidFill>
            </c:spPr>
          </c:dPt>
          <c:dPt>
            <c:idx val="10"/>
            <c:spPr>
              <a:solidFill>
                <a:srgbClr val="5B7DB1"/>
              </a:solidFill>
            </c:spPr>
          </c:dPt>
          <c:cat>
            <c:strRef>
              <c:f>Sheet1!$A$2:$A$12</c:f>
              <c:strCache>
                <c:ptCount val="11"/>
                <c:pt idx="0">
                  <c:v>Switzerland</c:v>
                </c:pt>
                <c:pt idx="1">
                  <c:v>Nordic</c:v>
                </c:pt>
                <c:pt idx="2">
                  <c:v>Germany</c:v>
                </c:pt>
                <c:pt idx="3">
                  <c:v>Belgium</c:v>
                </c:pt>
                <c:pt idx="4">
                  <c:v>U.K.</c:v>
                </c:pt>
                <c:pt idx="5">
                  <c:v>Netherlands</c:v>
                </c:pt>
                <c:pt idx="6">
                  <c:v>France</c:v>
                </c:pt>
                <c:pt idx="7">
                  <c:v>Italy</c:v>
                </c:pt>
                <c:pt idx="8">
                  <c:v>Spain</c:v>
                </c:pt>
                <c:pt idx="9">
                  <c:v>Poland</c:v>
                </c:pt>
                <c:pt idx="10">
                  <c:v>Russia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68.1</c:v>
                </c:pt>
                <c:pt idx="1">
                  <c:v>65.1</c:v>
                </c:pt>
                <c:pt idx="2">
                  <c:v>63.0</c:v>
                </c:pt>
                <c:pt idx="3">
                  <c:v>61.4</c:v>
                </c:pt>
                <c:pt idx="4">
                  <c:v>61.6</c:v>
                </c:pt>
                <c:pt idx="5">
                  <c:v>61.0</c:v>
                </c:pt>
                <c:pt idx="6">
                  <c:v>59.9</c:v>
                </c:pt>
                <c:pt idx="7">
                  <c:v>55.9</c:v>
                </c:pt>
                <c:pt idx="8">
                  <c:v>53.9</c:v>
                </c:pt>
                <c:pt idx="9">
                  <c:v>50.1</c:v>
                </c:pt>
                <c:pt idx="10">
                  <c:v>48.4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70.0"/>
          <c:min val="7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3958.0</c:v>
                </c:pt>
                <c:pt idx="1">
                  <c:v>3981.0</c:v>
                </c:pt>
                <c:pt idx="2">
                  <c:v>4004.0</c:v>
                </c:pt>
                <c:pt idx="3">
                  <c:v>4029.0</c:v>
                </c:pt>
                <c:pt idx="4">
                  <c:v>4057.0</c:v>
                </c:pt>
                <c:pt idx="5">
                  <c:v>4088.0</c:v>
                </c:pt>
                <c:pt idx="6">
                  <c:v>4121.0</c:v>
                </c:pt>
                <c:pt idx="7">
                  <c:v>4160.0</c:v>
                </c:pt>
                <c:pt idx="8">
                  <c:v>4208.0</c:v>
                </c:pt>
                <c:pt idx="9">
                  <c:v>4265.0</c:v>
                </c:pt>
                <c:pt idx="10">
                  <c:v>4332.0</c:v>
                </c:pt>
                <c:pt idx="11">
                  <c:v>4409.0</c:v>
                </c:pt>
                <c:pt idx="12">
                  <c:v>4490.0</c:v>
                </c:pt>
                <c:pt idx="13">
                  <c:v>4574.0</c:v>
                </c:pt>
                <c:pt idx="14">
                  <c:v>4652.0</c:v>
                </c:pt>
                <c:pt idx="15">
                  <c:v>4728.0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2788.0</c:v>
                </c:pt>
                <c:pt idx="1">
                  <c:v>2805.0</c:v>
                </c:pt>
                <c:pt idx="2">
                  <c:v>2823.0</c:v>
                </c:pt>
                <c:pt idx="3">
                  <c:v>2835.0</c:v>
                </c:pt>
                <c:pt idx="4">
                  <c:v>2840.0</c:v>
                </c:pt>
                <c:pt idx="5">
                  <c:v>2843.0</c:v>
                </c:pt>
                <c:pt idx="6">
                  <c:v>2848.0</c:v>
                </c:pt>
                <c:pt idx="7">
                  <c:v>2867.0</c:v>
                </c:pt>
                <c:pt idx="8">
                  <c:v>2896.0</c:v>
                </c:pt>
                <c:pt idx="9">
                  <c:v>2930.0</c:v>
                </c:pt>
                <c:pt idx="10">
                  <c:v>2968.0</c:v>
                </c:pt>
                <c:pt idx="11">
                  <c:v>3011.0</c:v>
                </c:pt>
                <c:pt idx="12">
                  <c:v>3059.0</c:v>
                </c:pt>
                <c:pt idx="13">
                  <c:v>3111.0</c:v>
                </c:pt>
                <c:pt idx="14">
                  <c:v>3166.0</c:v>
                </c:pt>
                <c:pt idx="15">
                  <c:v>3220.0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2528.0</c:v>
                </c:pt>
                <c:pt idx="1">
                  <c:v>2543.0</c:v>
                </c:pt>
                <c:pt idx="2">
                  <c:v>2557.0</c:v>
                </c:pt>
                <c:pt idx="3">
                  <c:v>2569.0</c:v>
                </c:pt>
                <c:pt idx="4">
                  <c:v>2580.0</c:v>
                </c:pt>
                <c:pt idx="5">
                  <c:v>2590.0</c:v>
                </c:pt>
                <c:pt idx="6">
                  <c:v>2630.0</c:v>
                </c:pt>
                <c:pt idx="7">
                  <c:v>2675.0</c:v>
                </c:pt>
                <c:pt idx="8">
                  <c:v>2724.0</c:v>
                </c:pt>
                <c:pt idx="9">
                  <c:v>2771.0</c:v>
                </c:pt>
                <c:pt idx="10">
                  <c:v>2815.0</c:v>
                </c:pt>
                <c:pt idx="11">
                  <c:v>2854.0</c:v>
                </c:pt>
                <c:pt idx="12">
                  <c:v>2888.0</c:v>
                </c:pt>
                <c:pt idx="13">
                  <c:v>2920.0</c:v>
                </c:pt>
                <c:pt idx="14">
                  <c:v>2949.0</c:v>
                </c:pt>
                <c:pt idx="15">
                  <c:v>2976.0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2399.0</c:v>
                </c:pt>
                <c:pt idx="1">
                  <c:v>2401.0</c:v>
                </c:pt>
                <c:pt idx="2">
                  <c:v>2403.0</c:v>
                </c:pt>
                <c:pt idx="3">
                  <c:v>2410.0</c:v>
                </c:pt>
                <c:pt idx="4">
                  <c:v>2421.0</c:v>
                </c:pt>
                <c:pt idx="5">
                  <c:v>2434.0</c:v>
                </c:pt>
                <c:pt idx="6">
                  <c:v>2445.0</c:v>
                </c:pt>
                <c:pt idx="7">
                  <c:v>2460.0</c:v>
                </c:pt>
                <c:pt idx="8">
                  <c:v>2476.0</c:v>
                </c:pt>
                <c:pt idx="9">
                  <c:v>2496.0</c:v>
                </c:pt>
                <c:pt idx="10">
                  <c:v>2517.0</c:v>
                </c:pt>
                <c:pt idx="11">
                  <c:v>2542.0</c:v>
                </c:pt>
                <c:pt idx="12">
                  <c:v>2569.0</c:v>
                </c:pt>
                <c:pt idx="13">
                  <c:v>2598.0</c:v>
                </c:pt>
                <c:pt idx="14">
                  <c:v>2629.0</c:v>
                </c:pt>
                <c:pt idx="15">
                  <c:v>2663.0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0.0"/>
          <c:min val="20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86.2</c:v>
                </c:pt>
                <c:pt idx="1">
                  <c:v>91.8</c:v>
                </c:pt>
                <c:pt idx="2">
                  <c:v>100.7</c:v>
                </c:pt>
                <c:pt idx="3">
                  <c:v>144.8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7.0"/>
          <c:min val="8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Sheet1!$A$2:$A$4</c:f>
              <c:strCache>
                <c:ptCount val="3"/>
                <c:pt idx="0">
                  <c:v>Japan</c:v>
                </c:pt>
                <c:pt idx="1">
                  <c:v>South Korea</c:v>
                </c:pt>
                <c:pt idx="2">
                  <c:v>China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104.4</c:v>
                </c:pt>
                <c:pt idx="1">
                  <c:v>94.6</c:v>
                </c:pt>
                <c:pt idx="2">
                  <c:v>80.0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2"/>
            <c:spPr>
              <a:solidFill>
                <a:srgbClr val="5B7DB1"/>
              </a:solidFill>
            </c:spPr>
          </c:dPt>
          <c:cat>
            <c:strRef>
              <c:f>Sheet1!$A$2:$A$4</c:f>
              <c:strCache>
                <c:ptCount val="3"/>
                <c:pt idx="0">
                  <c:v>Japan</c:v>
                </c:pt>
                <c:pt idx="1">
                  <c:v>South Korea</c:v>
                </c:pt>
                <c:pt idx="2">
                  <c:v>China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70.6</c:v>
                </c:pt>
                <c:pt idx="1">
                  <c:v>64.6</c:v>
                </c:pt>
                <c:pt idx="2">
                  <c:v>54.5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75.0"/>
          <c:min val="75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3939.0</c:v>
                </c:pt>
                <c:pt idx="1">
                  <c:v>3956.0</c:v>
                </c:pt>
                <c:pt idx="2">
                  <c:v>3975.0</c:v>
                </c:pt>
                <c:pt idx="3">
                  <c:v>3995.0</c:v>
                </c:pt>
                <c:pt idx="4">
                  <c:v>4017.0</c:v>
                </c:pt>
                <c:pt idx="5">
                  <c:v>4041.0</c:v>
                </c:pt>
                <c:pt idx="6">
                  <c:v>4083.0</c:v>
                </c:pt>
                <c:pt idx="7">
                  <c:v>4130.0</c:v>
                </c:pt>
                <c:pt idx="8">
                  <c:v>4178.0</c:v>
                </c:pt>
                <c:pt idx="9">
                  <c:v>4227.0</c:v>
                </c:pt>
                <c:pt idx="10">
                  <c:v>4276.0</c:v>
                </c:pt>
                <c:pt idx="11">
                  <c:v>4323.0</c:v>
                </c:pt>
                <c:pt idx="12">
                  <c:v>4370.0</c:v>
                </c:pt>
                <c:pt idx="13">
                  <c:v>4414.0</c:v>
                </c:pt>
                <c:pt idx="14">
                  <c:v>4456.0</c:v>
                </c:pt>
                <c:pt idx="15">
                  <c:v>4494.0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2753.0</c:v>
                </c:pt>
                <c:pt idx="1">
                  <c:v>2757.0</c:v>
                </c:pt>
                <c:pt idx="2">
                  <c:v>2765.0</c:v>
                </c:pt>
                <c:pt idx="3">
                  <c:v>2774.0</c:v>
                </c:pt>
                <c:pt idx="4">
                  <c:v>2787.0</c:v>
                </c:pt>
                <c:pt idx="5">
                  <c:v>2802.0</c:v>
                </c:pt>
                <c:pt idx="6">
                  <c:v>2818.0</c:v>
                </c:pt>
                <c:pt idx="7">
                  <c:v>2839.0</c:v>
                </c:pt>
                <c:pt idx="8">
                  <c:v>2866.0</c:v>
                </c:pt>
                <c:pt idx="9">
                  <c:v>2901.0</c:v>
                </c:pt>
                <c:pt idx="10">
                  <c:v>2943.0</c:v>
                </c:pt>
                <c:pt idx="11">
                  <c:v>2988.0</c:v>
                </c:pt>
                <c:pt idx="12">
                  <c:v>3030.0</c:v>
                </c:pt>
                <c:pt idx="13">
                  <c:v>3072.0</c:v>
                </c:pt>
                <c:pt idx="14">
                  <c:v>3110.0</c:v>
                </c:pt>
                <c:pt idx="15">
                  <c:v>3145.0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2548.0</c:v>
                </c:pt>
                <c:pt idx="1">
                  <c:v>2557.0</c:v>
                </c:pt>
                <c:pt idx="2">
                  <c:v>2565.0</c:v>
                </c:pt>
                <c:pt idx="3">
                  <c:v>2575.0</c:v>
                </c:pt>
                <c:pt idx="4">
                  <c:v>2584.0</c:v>
                </c:pt>
                <c:pt idx="5">
                  <c:v>2594.0</c:v>
                </c:pt>
                <c:pt idx="6">
                  <c:v>2638.0</c:v>
                </c:pt>
                <c:pt idx="7">
                  <c:v>2680.0</c:v>
                </c:pt>
                <c:pt idx="8">
                  <c:v>2719.0</c:v>
                </c:pt>
                <c:pt idx="9">
                  <c:v>2755.0</c:v>
                </c:pt>
                <c:pt idx="10">
                  <c:v>2788.0</c:v>
                </c:pt>
                <c:pt idx="11">
                  <c:v>2819.0</c:v>
                </c:pt>
                <c:pt idx="12">
                  <c:v>2845.0</c:v>
                </c:pt>
                <c:pt idx="13">
                  <c:v>2869.0</c:v>
                </c:pt>
                <c:pt idx="14">
                  <c:v>2891.0</c:v>
                </c:pt>
                <c:pt idx="15">
                  <c:v>2911.0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2378.0</c:v>
                </c:pt>
                <c:pt idx="1">
                  <c:v>2389.0</c:v>
                </c:pt>
                <c:pt idx="2">
                  <c:v>2398.0</c:v>
                </c:pt>
                <c:pt idx="3">
                  <c:v>2407.0</c:v>
                </c:pt>
                <c:pt idx="4">
                  <c:v>2415.0</c:v>
                </c:pt>
                <c:pt idx="5">
                  <c:v>2426.0</c:v>
                </c:pt>
                <c:pt idx="6">
                  <c:v>2434.0</c:v>
                </c:pt>
                <c:pt idx="7">
                  <c:v>2451.0</c:v>
                </c:pt>
                <c:pt idx="8">
                  <c:v>2476.0</c:v>
                </c:pt>
                <c:pt idx="9">
                  <c:v>2506.0</c:v>
                </c:pt>
                <c:pt idx="10">
                  <c:v>2541.0</c:v>
                </c:pt>
                <c:pt idx="11">
                  <c:v>2578.0</c:v>
                </c:pt>
                <c:pt idx="12">
                  <c:v>2618.0</c:v>
                </c:pt>
                <c:pt idx="13">
                  <c:v>2657.0</c:v>
                </c:pt>
                <c:pt idx="14">
                  <c:v>2695.0</c:v>
                </c:pt>
                <c:pt idx="15">
                  <c:v>2732.0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500.0"/>
          <c:min val="20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5B7DB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86.5</c:v>
                </c:pt>
                <c:pt idx="1">
                  <c:v>92.5</c:v>
                </c:pt>
                <c:pt idx="2">
                  <c:v>99.9</c:v>
                </c:pt>
                <c:pt idx="3">
                  <c:v>144.0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6.0"/>
          <c:min val="8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Sheet1!$A$2:$A$9</c:f>
              <c:strCache>
                <c:ptCount val="8"/>
                <c:pt idx="0">
                  <c:v>Australia</c:v>
                </c:pt>
                <c:pt idx="1">
                  <c:v>New Zealand</c:v>
                </c:pt>
                <c:pt idx="2">
                  <c:v>Singapore</c:v>
                </c:pt>
                <c:pt idx="3">
                  <c:v>Philippines</c:v>
                </c:pt>
                <c:pt idx="4">
                  <c:v>Malaysia</c:v>
                </c:pt>
                <c:pt idx="5">
                  <c:v>Thailand</c:v>
                </c:pt>
                <c:pt idx="6">
                  <c:v>Indonesia</c:v>
                </c:pt>
                <c:pt idx="7">
                  <c:v>India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111.9</c:v>
                </c:pt>
                <c:pt idx="1">
                  <c:v>109.4</c:v>
                </c:pt>
                <c:pt idx="2">
                  <c:v>103.8</c:v>
                </c:pt>
                <c:pt idx="3">
                  <c:v>85.0</c:v>
                </c:pt>
                <c:pt idx="4">
                  <c:v>84.6</c:v>
                </c:pt>
                <c:pt idx="5">
                  <c:v>82.5</c:v>
                </c:pt>
                <c:pt idx="6">
                  <c:v>79.9</c:v>
                </c:pt>
                <c:pt idx="7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3"/>
            <c:spPr>
              <a:solidFill>
                <a:srgbClr val="5B7DB1"/>
              </a:solidFill>
            </c:spPr>
          </c:dPt>
          <c:dPt>
            <c:idx val="4"/>
            <c:spPr>
              <a:solidFill>
                <a:srgbClr val="5B7DB1"/>
              </a:solidFill>
            </c:spPr>
          </c:dPt>
          <c:dPt>
            <c:idx val="5"/>
            <c:spPr>
              <a:solidFill>
                <a:srgbClr val="5B7DB1"/>
              </a:solidFill>
            </c:spPr>
          </c:dPt>
          <c:dPt>
            <c:idx val="6"/>
            <c:spPr>
              <a:solidFill>
                <a:srgbClr val="5B7DB1"/>
              </a:solidFill>
            </c:spPr>
          </c:dPt>
          <c:dPt>
            <c:idx val="7"/>
            <c:spPr>
              <a:solidFill>
                <a:srgbClr val="5B7DB1"/>
              </a:solidFill>
            </c:spPr>
          </c:dPt>
          <c:cat>
            <c:strRef>
              <c:f>Sheet1!$A$2:$A$9</c:f>
              <c:strCache>
                <c:ptCount val="8"/>
                <c:pt idx="0">
                  <c:v>Australia</c:v>
                </c:pt>
                <c:pt idx="1">
                  <c:v>New Zealand</c:v>
                </c:pt>
                <c:pt idx="2">
                  <c:v>Singapore</c:v>
                </c:pt>
                <c:pt idx="3">
                  <c:v>Philippines</c:v>
                </c:pt>
                <c:pt idx="4">
                  <c:v>Malaysia</c:v>
                </c:pt>
                <c:pt idx="5">
                  <c:v>Thailand</c:v>
                </c:pt>
                <c:pt idx="6">
                  <c:v>Indonesia</c:v>
                </c:pt>
                <c:pt idx="7">
                  <c:v>India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75.5</c:v>
                </c:pt>
                <c:pt idx="1">
                  <c:v>75.2</c:v>
                </c:pt>
                <c:pt idx="2">
                  <c:v>68.2</c:v>
                </c:pt>
                <c:pt idx="3">
                  <c:v>58.7</c:v>
                </c:pt>
                <c:pt idx="4">
                  <c:v>56.7</c:v>
                </c:pt>
                <c:pt idx="5">
                  <c:v>55.7</c:v>
                </c:pt>
                <c:pt idx="6">
                  <c:v>53.2</c:v>
                </c:pt>
                <c:pt idx="7">
                  <c:v>52.4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90.0"/>
          <c:min val="75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Barrier Casings</c:v>
                </c:pt>
              </c:strCache>
            </c:strRef>
          </c:tx>
          <c:spPr>
            <a:ln w="25400">
              <a:solidFill>
                <a:srgbClr val="C55A11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4182.0</c:v>
                </c:pt>
                <c:pt idx="1">
                  <c:v>4192.0</c:v>
                </c:pt>
                <c:pt idx="2">
                  <c:v>4207.0</c:v>
                </c:pt>
                <c:pt idx="3">
                  <c:v>4234.0</c:v>
                </c:pt>
                <c:pt idx="4">
                  <c:v>4262.0</c:v>
                </c:pt>
                <c:pt idx="5">
                  <c:v>4297.0</c:v>
                </c:pt>
                <c:pt idx="6">
                  <c:v>4295.0</c:v>
                </c:pt>
                <c:pt idx="7">
                  <c:v>4303.0</c:v>
                </c:pt>
                <c:pt idx="8">
                  <c:v>4326.0</c:v>
                </c:pt>
                <c:pt idx="9">
                  <c:v>4358.0</c:v>
                </c:pt>
                <c:pt idx="10">
                  <c:v>4402.0</c:v>
                </c:pt>
                <c:pt idx="11">
                  <c:v>4455.0</c:v>
                </c:pt>
                <c:pt idx="12">
                  <c:v>4520.0</c:v>
                </c:pt>
                <c:pt idx="13">
                  <c:v>4596.0</c:v>
                </c:pt>
                <c:pt idx="14">
                  <c:v>4685.0</c:v>
                </c:pt>
                <c:pt idx="15">
                  <c:v>4787.0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Rollstock Films</c:v>
                </c:pt>
              </c:strCache>
            </c:strRef>
          </c:tx>
          <c:spPr>
            <a:ln w="25400">
              <a:solidFill>
                <a:srgbClr val="0B2E4A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2934.0</c:v>
                </c:pt>
                <c:pt idx="1">
                  <c:v>2946.0</c:v>
                </c:pt>
                <c:pt idx="2">
                  <c:v>2958.0</c:v>
                </c:pt>
                <c:pt idx="3">
                  <c:v>2972.0</c:v>
                </c:pt>
                <c:pt idx="4">
                  <c:v>2987.0</c:v>
                </c:pt>
                <c:pt idx="5">
                  <c:v>3003.0</c:v>
                </c:pt>
                <c:pt idx="6">
                  <c:v>3042.0</c:v>
                </c:pt>
                <c:pt idx="7">
                  <c:v>3084.0</c:v>
                </c:pt>
                <c:pt idx="8">
                  <c:v>3128.0</c:v>
                </c:pt>
                <c:pt idx="9">
                  <c:v>3172.0</c:v>
                </c:pt>
                <c:pt idx="10">
                  <c:v>3217.0</c:v>
                </c:pt>
                <c:pt idx="11">
                  <c:v>3260.0</c:v>
                </c:pt>
                <c:pt idx="12">
                  <c:v>3303.0</c:v>
                </c:pt>
                <c:pt idx="13">
                  <c:v>3343.0</c:v>
                </c:pt>
                <c:pt idx="14">
                  <c:v>3382.0</c:v>
                </c:pt>
                <c:pt idx="15">
                  <c:v>3417.0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Premade Pouches &amp; Bags</c:v>
                </c:pt>
              </c:strCache>
            </c:strRef>
          </c:tx>
          <c:spPr>
            <a:ln w="25400">
              <a:solidFill>
                <a:srgbClr val="7030A0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2694.0</c:v>
                </c:pt>
                <c:pt idx="1">
                  <c:v>2707.0</c:v>
                </c:pt>
                <c:pt idx="2">
                  <c:v>2718.0</c:v>
                </c:pt>
                <c:pt idx="3">
                  <c:v>2729.0</c:v>
                </c:pt>
                <c:pt idx="4">
                  <c:v>2738.0</c:v>
                </c:pt>
                <c:pt idx="5">
                  <c:v>2749.0</c:v>
                </c:pt>
                <c:pt idx="6">
                  <c:v>2773.0</c:v>
                </c:pt>
                <c:pt idx="7">
                  <c:v>2803.0</c:v>
                </c:pt>
                <c:pt idx="8">
                  <c:v>2841.0</c:v>
                </c:pt>
                <c:pt idx="9">
                  <c:v>2886.0</c:v>
                </c:pt>
                <c:pt idx="10">
                  <c:v>2932.0</c:v>
                </c:pt>
                <c:pt idx="11">
                  <c:v>2975.0</c:v>
                </c:pt>
                <c:pt idx="12">
                  <c:v>3015.0</c:v>
                </c:pt>
                <c:pt idx="13">
                  <c:v>3051.0</c:v>
                </c:pt>
                <c:pt idx="14">
                  <c:v>3085.0</c:v>
                </c:pt>
                <c:pt idx="15">
                  <c:v>3117.0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Sachets &amp; Stick Packs</c:v>
                </c:pt>
              </c:strCache>
            </c:strRef>
          </c:tx>
          <c:spPr>
            <a:ln w="25400">
              <a:solidFill>
                <a:srgbClr val="008189"/>
              </a:solidFill>
            </a:ln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  <c:pt idx="9">
                  <c:v>2030</c:v>
                </c:pt>
                <c:pt idx="10">
                  <c:v>2031</c:v>
                </c:pt>
                <c:pt idx="11">
                  <c:v>2032</c:v>
                </c:pt>
                <c:pt idx="12">
                  <c:v>2033</c:v>
                </c:pt>
                <c:pt idx="13">
                  <c:v>2034</c:v>
                </c:pt>
                <c:pt idx="14">
                  <c:v>2035</c:v>
                </c:pt>
                <c:pt idx="15">
                  <c:v>2036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2509.0</c:v>
                </c:pt>
                <c:pt idx="1">
                  <c:v>2522.0</c:v>
                </c:pt>
                <c:pt idx="2">
                  <c:v>2533.0</c:v>
                </c:pt>
                <c:pt idx="3">
                  <c:v>2544.0</c:v>
                </c:pt>
                <c:pt idx="4">
                  <c:v>2558.0</c:v>
                </c:pt>
                <c:pt idx="5">
                  <c:v>2573.0</c:v>
                </c:pt>
                <c:pt idx="6">
                  <c:v>2610.0</c:v>
                </c:pt>
                <c:pt idx="7">
                  <c:v>2649.0</c:v>
                </c:pt>
                <c:pt idx="8">
                  <c:v>2685.0</c:v>
                </c:pt>
                <c:pt idx="9">
                  <c:v>2720.0</c:v>
                </c:pt>
                <c:pt idx="10">
                  <c:v>2758.0</c:v>
                </c:pt>
                <c:pt idx="11">
                  <c:v>2801.0</c:v>
                </c:pt>
                <c:pt idx="12">
                  <c:v>2844.0</c:v>
                </c:pt>
                <c:pt idx="13">
                  <c:v>2886.0</c:v>
                </c:pt>
                <c:pt idx="14">
                  <c:v>2925.0</c:v>
                </c:pt>
                <c:pt idx="15">
                  <c:v>2961.0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00.0"/>
          <c:min val="2500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636E"/>
                </a:solidFill>
                <a:latin typeface="Calibri"/>
              </a:defRPr>
            </a:pPr>
          </a:p>
        </c:txPr>
        <c:crossAx val="2118791784"/>
        <c:crosses val="autoZero"/>
        <c:majorUnit val="50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5B7DB1"/>
              </a:solidFill>
            </c:spPr>
          </c:dPt>
          <c:dPt>
            <c:idx val="1"/>
            <c:spPr>
              <a:solidFill>
                <a:srgbClr val="5B7DB1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C55A11"/>
              </a:solidFill>
            </c:spPr>
          </c:dPt>
          <c:cat>
            <c:strRef>
              <c:f>Sheet1!$A$2:$A$5</c:f>
              <c:strCache>
                <c:ptCount val="4"/>
                <c:pt idx="0">
                  <c:v>Sachets &amp; Stick Packs</c:v>
                </c:pt>
                <c:pt idx="1">
                  <c:v>Premade Pouches &amp; Bags</c:v>
                </c:pt>
                <c:pt idx="2">
                  <c:v>Rollstock Films</c:v>
                </c:pt>
                <c:pt idx="3">
                  <c:v>Barrier Casings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86.1</c:v>
                </c:pt>
                <c:pt idx="1">
                  <c:v>91.9</c:v>
                </c:pt>
                <c:pt idx="2">
                  <c:v>100.4</c:v>
                </c:pt>
                <c:pt idx="3">
                  <c:v>143.7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 b="1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46.0"/>
          <c:min val="8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Sheet1!$A$2:$A$6</c:f>
              <c:strCache>
                <c:ptCount val="5"/>
                <c:pt idx="0">
                  <c:v>Israel</c:v>
                </c:pt>
                <c:pt idx="1">
                  <c:v>South Africa</c:v>
                </c:pt>
                <c:pt idx="2">
                  <c:v>UAE</c:v>
                </c:pt>
                <c:pt idx="3">
                  <c:v>Saudi Arabia</c:v>
                </c:pt>
                <c:pt idx="4">
                  <c:v>Turkey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98.3</c:v>
                </c:pt>
                <c:pt idx="1">
                  <c:v>89.9</c:v>
                </c:pt>
                <c:pt idx="2">
                  <c:v>88.6</c:v>
                </c:pt>
                <c:pt idx="3">
                  <c:v>83.6</c:v>
                </c:pt>
                <c:pt idx="4">
                  <c:v>79.2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8189"/>
            </a:solidFill>
          </c:spPr>
          <c:dPt>
            <c:idx val="3"/>
            <c:spPr>
              <a:solidFill>
                <a:srgbClr val="5B7DB1"/>
              </a:solidFill>
            </c:spPr>
          </c:dPt>
          <c:dPt>
            <c:idx val="4"/>
            <c:spPr>
              <a:solidFill>
                <a:srgbClr val="5B7DB1"/>
              </a:solidFill>
            </c:spPr>
          </c:dPt>
          <c:cat>
            <c:strRef>
              <c:f>Sheet1!$A$2:$A$6</c:f>
              <c:strCache>
                <c:ptCount val="5"/>
                <c:pt idx="0">
                  <c:v>Israel</c:v>
                </c:pt>
                <c:pt idx="1">
                  <c:v>South Africa</c:v>
                </c:pt>
                <c:pt idx="2">
                  <c:v>UAE</c:v>
                </c:pt>
                <c:pt idx="3">
                  <c:v>Saudi Arabia</c:v>
                </c:pt>
                <c:pt idx="4">
                  <c:v>Turkey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65.4</c:v>
                </c:pt>
                <c:pt idx="1">
                  <c:v>60.1</c:v>
                </c:pt>
                <c:pt idx="2">
                  <c:v>58.9</c:v>
                </c:pt>
                <c:pt idx="3">
                  <c:v>56.7</c:v>
                </c:pt>
                <c:pt idx="4">
                  <c:v>52.9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4"/>
            </a:solidFill>
          </a:ln>
        </c:spPr>
        <c:txPr>
          <a:bodyPr/>
          <a:lstStyle/>
          <a:p>
            <a:pPr>
              <a:defRPr sz="850">
                <a:solidFill>
                  <a:srgbClr val="1F1F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65.0"/>
          <c:min val="75.0"/>
        </c:scaling>
        <c:delete val="0"/>
        <c:axPos val="l"/>
        <c:majorGridlines>
          <c:spPr>
            <a:ln>
              <a:solidFill>
                <a:srgbClr val="D9DEE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59636E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Global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Global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North America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North America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Latin America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Latin America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Latin America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Europe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Europe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Europe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East Asia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East Asia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East Asia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South Asia &amp; Pacific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South Asia &amp; Pacific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South Asia &amp; Pacific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Product Pricing &amp; Regional Price Index Trends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Middle East &amp; Africa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Middle East &amp; Africa Pricing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Positioning &amp; Key Findings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Key Pricing Drivers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Factors Impacting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Regional Price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Middle East &amp; Africa Pricing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Flexible Plastic Packaging Market Pricing Price Forecast &amp;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4.xml"/><Relationship Id="rId4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Relationship Id="rId4" Type="http://schemas.openxmlformats.org/officeDocument/2006/relationships/chart" Target="../charts/chart16.xml"/><Relationship Id="rId5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Relationship Id="rId4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notesSlide" Target="../notesSlides/notesSlide5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0.xml"/><Relationship Id="rId4" Type="http://schemas.openxmlformats.org/officeDocument/2006/relationships/notesSlide" Target="../notesSlides/notesSlide5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05000" y="4476750"/>
            <a:ext cx="5334000" cy="5334000"/>
          </a:xfrm>
          <a:prstGeom prst="ellipse">
            <a:avLst/>
          </a:prstGeom>
          <a:solidFill>
            <a:srgbClr val="EAF6FB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-2000250"/>
            <a:ext cx="5334000" cy="5334000"/>
          </a:xfrm>
          <a:prstGeom prst="ellipse">
            <a:avLst/>
          </a:prstGeom>
          <a:noFill/>
          <a:ln w="19050">
            <a:solidFill>
              <a:srgbClr val="B2B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15375" y="-1285875"/>
            <a:ext cx="3905250" cy="3905250"/>
          </a:xfrm>
          <a:prstGeom prst="ellipse">
            <a:avLst/>
          </a:prstGeom>
          <a:noFill/>
          <a:ln w="19050">
            <a:solidFill>
              <a:srgbClr val="B2B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82125" y="-619125"/>
            <a:ext cx="2571750" cy="2571750"/>
          </a:xfrm>
          <a:prstGeom prst="ellipse">
            <a:avLst/>
          </a:prstGeom>
          <a:noFill/>
          <a:ln w="19050">
            <a:solidFill>
              <a:srgbClr val="B2B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96500" y="95250"/>
            <a:ext cx="1143000" cy="1143000"/>
          </a:xfrm>
          <a:prstGeom prst="ellipse">
            <a:avLst/>
          </a:prstGeom>
          <a:solidFill>
            <a:srgbClr val="EAF6F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10650" y="5848350"/>
            <a:ext cx="228600" cy="24765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91650" y="5676900"/>
            <a:ext cx="228600" cy="4191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72650" y="5772150"/>
            <a:ext cx="228600" cy="32385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53650" y="5524500"/>
            <a:ext cx="228600" cy="5715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34650" y="5314950"/>
            <a:ext cx="228600" cy="78105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15650" y="5600700"/>
            <a:ext cx="228600" cy="4953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296650" y="5181600"/>
            <a:ext cx="228600" cy="914400"/>
          </a:xfrm>
          <a:prstGeom prst="roundRect">
            <a:avLst/>
          </a:prstGeom>
          <a:solidFill>
            <a:srgbClr val="3D85C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1307592" cy="1325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3000" y="2667000"/>
            <a:ext cx="9334500" cy="1809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3400" b="1">
                <a:solidFill>
                  <a:srgbClr val="0B2E4A"/>
                </a:solidFill>
                <a:latin typeface="Calibri"/>
              </a:rPr>
              <a:t>Global Flexible Plastic Packaging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686300"/>
            <a:ext cx="9334500" cy="8572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600" b="0">
                <a:solidFill>
                  <a:srgbClr val="6C7A89"/>
                </a:solidFill>
                <a:latin typeface="Calibri"/>
              </a:rPr>
              <a:t>Value (US$ Mn) and Volume (Thousand MT) Analysis and Forecast, 2021–2036</a:t>
            </a:r>
          </a:p>
          <a:p>
            <a:pPr algn="l"/>
            <a:r>
              <a:rPr sz="1100" b="0">
                <a:solidFill>
                  <a:srgbClr val="8FCBE6"/>
                </a:solidFill>
                <a:latin typeface="Calibri"/>
              </a:rPr>
              <a:t>Region focus: Global   ·   Country focus: None   ·   Generated 08 Oct 2026   ·   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Global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Product Pricing &amp; Regional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2263.4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3854.7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5446.1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833037"/>
            <a:ext cx="0" cy="254459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833037"/>
            <a:ext cx="438150" cy="254459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680637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3495.7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411265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411265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5078.8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74576"/>
            <a:ext cx="0" cy="260250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74576"/>
            <a:ext cx="438150" cy="260250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2217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3248.2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107948"/>
            <a:ext cx="0" cy="219766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107948"/>
            <a:ext cx="438150" cy="219766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2955548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3014.9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Region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18237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88376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1482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5980359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18237"/>
            <a:ext cx="0" cy="1462122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18237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88376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24929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1482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5980359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51562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+16%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1709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+8%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18262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54815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-8%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5913684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-16%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77900" y="4635397"/>
            <a:ext cx="457200" cy="61390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492522"/>
            <a:ext cx="11747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52650" y="4614107"/>
            <a:ext cx="457200" cy="63519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1793875" y="4471232"/>
            <a:ext cx="11747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27400" y="4649184"/>
            <a:ext cx="457200" cy="60011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2968625" y="4506309"/>
            <a:ext cx="11747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02150" y="4632686"/>
            <a:ext cx="457200" cy="61661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MI Data Label"/>
          <p:cNvSpPr txBox="1"/>
          <p:nvPr/>
        </p:nvSpPr>
        <p:spPr>
          <a:xfrm>
            <a:off x="4143375" y="4489811"/>
            <a:ext cx="11747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76900" y="4704150"/>
            <a:ext cx="457200" cy="545148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MI Data Label"/>
          <p:cNvSpPr txBox="1"/>
          <p:nvPr/>
        </p:nvSpPr>
        <p:spPr>
          <a:xfrm>
            <a:off x="5318125" y="4561275"/>
            <a:ext cx="11747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1650" y="4644115"/>
            <a:ext cx="457200" cy="60518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MI Data Label"/>
          <p:cNvSpPr txBox="1"/>
          <p:nvPr/>
        </p:nvSpPr>
        <p:spPr>
          <a:xfrm>
            <a:off x="6492875" y="4501240"/>
            <a:ext cx="11747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125" y="6135380"/>
            <a:ext cx="11747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North America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93875" y="6135380"/>
            <a:ext cx="11747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Latin America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68625" y="6135380"/>
            <a:ext cx="11747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Europe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43375" y="6135380"/>
            <a:ext cx="11747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East Asia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18125" y="6135380"/>
            <a:ext cx="11747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Asia &amp; Pacific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875" y="6135380"/>
            <a:ext cx="11747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Middle East &amp; Africa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global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'Barrier Casings' shows the most movement (+16.5%) and 'Rollstock Films' the least (+14.6%)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region-level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Region price indices diverge by up to 14.2% between 2026 and 2036: higher-priced regions start higher and grow steadily, while lower-priced regions start lower and converge, reflecting catch-up growth.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US$ 4,480/MT, a 67.1%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Global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4,360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4,480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5,079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144.5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3,051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3,108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3,496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1.18%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100.3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2,855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92.1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2,631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2,680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3,015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1.18%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86.5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Global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3,037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3,100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3,501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1.22%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144.5, while Sachets &amp; Stick Packs trade at 86.5, which keeps the full product type spread within 67.1%.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Premade Pouches &amp; Bags post the fastest price growth at a 1.30% CAGR between 2026 and 2036, compared with 1.18% for Rollstock Films.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Global average price rises from US$ 3,100/MT in 2026 to US$ 3,501/MT in 2036, and the gap between the highest and lowest priced product type moves from 65.7% in 2021 to 68.5%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Global Flexible Plastic Packaging Market Pricing Assessment: Region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 average price and price range across product types, 2026 (US$/MT)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North America is the most premium Global region at US$ 3,486/MT in 2026, +12.5% above the global average, while South Asia &amp; Pacific is the lowest priced.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Region (US$/MT),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region, read on the price index axis (Global average = 100). Teal = above Global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North America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3,486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112.5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Europe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3,318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107.0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Middle East &amp; Africa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2,990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96.5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Latin America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2,938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94.8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1.33%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East Asia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2,823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91.1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44152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South Asia &amp; Pacific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2,805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90.5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1.15%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Region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regions differ by 24.3% in 2026, from US$ 2,805/MT in South Asia &amp; Pacific to US$ 3,486/MT in North America.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Latin America records the fastest average price growth at a 1.33% CAGR between 2026 and 2036, against 1.22% for Global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East Asia shows the widest gap between its cheapest and most expensive product type at 68.0%, so product mix shifts move its average price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region;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region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2,060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2,729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3,398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4,067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4,735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5,404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20340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North America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38955" y="2100912"/>
            <a:ext cx="3788102" cy="376433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4300" y="222721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292731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Latin America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707" y="2824823"/>
            <a:ext cx="3188637" cy="376433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48856" y="295112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365122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Europe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8445" y="3548733"/>
            <a:ext cx="3551169" cy="376433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12545" y="367503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437513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East Asia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9420" y="4272643"/>
            <a:ext cx="3091842" cy="376433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34682" y="439894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509904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South Asia &amp; Pacific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45494" y="4996553"/>
            <a:ext cx="3016920" cy="376433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91950" y="512285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582295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Middle East &amp; Africa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20877" y="5720463"/>
            <a:ext cx="3220219" cy="376433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46679" y="5846768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US$ 5,079 per MT in 2036. Average selling price of flexible plastic packaging is estimated at US$ 3,076 per MT in 2025 and is projected to increase to US$ 3,501 per MT by 2036. North America is the highest-priced region, while South Asia &amp; Pacific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global average of US$ 3,100 per MT in 2026 blends premium regions, where barrier-rich and mono-material structures and higher labour and compliance costs lift prices, with lower-priced regions that skew to commodity PE and PP film. Value growth of 6.6% against 5.3% for volume shows price rising to US$ 3,501 per MT by 2036. The dearest regions are those with the strictest food-safety and recyclability rules and the most specialised converting.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2" cy="22713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904"/>
                <a:gridCol w="1128887"/>
                <a:gridCol w="1128887"/>
                <a:gridCol w="1128887"/>
                <a:gridCol w="1128887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1,812.90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2,510.18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3,486.36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1,574.54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2,162.06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2,937.58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1,831.65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2,495.29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3,318.20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1,603.31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2,167.86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2,822.73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43%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1,638.32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2,199.40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2,805.35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42%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1,794.19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2,392.25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2,990.31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40%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299" cy="22713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8759"/>
                <a:gridCol w="947635"/>
                <a:gridCol w="947635"/>
                <a:gridCol w="947635"/>
                <a:gridCol w="947635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3,486.36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3,592.89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3,729.10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3,963.56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2,937.58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3,028.86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3,147.72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3,353.61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3,318.20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3,416.70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3,543.76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3,762.19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2,822.73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2,906.70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3,018.28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3,210.81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2,805.35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2,880.35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2,977.90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3,146.34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267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2,990.31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3,080.53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3,195.93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3,393.81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Global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region and sub-segment against the weighted average price of each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2771775"/>
          </a:xfrm>
          <a:prstGeom prst="roundRect">
            <a:avLst>
              <a:gd name="adj" fmla="val 27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1" cy="23050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1221"/>
                <a:gridCol w="2043196"/>
                <a:gridCol w="2043196"/>
                <a:gridCol w="2043196"/>
                <a:gridCol w="2043196"/>
                <a:gridCol w="2043196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4829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North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3,458.67–3,528.55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4,988.03–5,088.80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3,182.23–3,246.52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2,981.14–3,041.37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3,486.36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829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2,913.32–2,972.18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4,194.56–4,279.30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2,675.52–2,729.57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2,505.26–2,555.87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2,937.58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4829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3,290.91–3,357.39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4,735.09–4,830.74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3,027.32–3,088.48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2,853.72–2,911.37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3,318.20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829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East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2,814.18–2,871.04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4,047.24–4,129.00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2,564.16–2,615.96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2,409.22–2,457.89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2,822.73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4829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Asia &amp; Pacific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2,774.13–2,830.17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4,000.17–4,080.98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2,568.11–2,619.99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2,401.84–2,450.36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2,805.35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4829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Middle East &amp;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2,973.06–3,033.12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4,253.76–4,339.70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2,721.41–2,776.39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2,547.74–2,599.20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2,990.31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8620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229100"/>
            <a:ext cx="11906250" cy="2314575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3148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5529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638675"/>
            <a:ext cx="11639550" cy="18288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'North America' is the highest-priced region (~3,486.36 US$/MT) and 'South Asia &amp; Pacific' the most competitive (~2,805.35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~1.24×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North America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North America Flexible Plastic Packaging Market Product Pricing &amp;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2491.3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4402.8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6314.3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861253"/>
            <a:ext cx="0" cy="236821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861253"/>
            <a:ext cx="438150" cy="236821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708853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3912.2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464864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464864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5873.2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59537"/>
            <a:ext cx="0" cy="271302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59537"/>
            <a:ext cx="438150" cy="271302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07137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3705.7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061671"/>
            <a:ext cx="0" cy="266043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061671"/>
            <a:ext cx="438150" cy="266044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2909271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3491.2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2954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91609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8918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607573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29543"/>
            <a:ext cx="0" cy="154619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2954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91609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3026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8918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607573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6286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+16%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49415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+8%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23596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622511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-8%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600905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-16%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152650" y="4627936"/>
            <a:ext cx="457200" cy="674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485061"/>
            <a:ext cx="35242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76900" y="4642856"/>
            <a:ext cx="457200" cy="65978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4143375" y="4499981"/>
            <a:ext cx="352425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125" y="6242060"/>
            <a:ext cx="35242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U.S.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43375" y="6242060"/>
            <a:ext cx="352425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Canada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North America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'Barrier Casings' shows the most movement (+19.9%) and 'Rollstock Films' the least (+14.6%)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country-level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Country price indices diverge by up to 13.7% between 2026 and 2036: higher-priced countries start higher and grow steadily, while lower-priced countries start lower and converge, reflecting catch-up growth.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North America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US$ 5,038/MT, a 67.3%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North America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4,897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5,038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5,873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1.54%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144.5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3,415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3,494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3,912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1.14%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100.2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3,136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3,706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1.43%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92.2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2,932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3,011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3,491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1.49%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86.4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North America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3,401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3,486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3,964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1.29%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144.5, while Sachets &amp; Stick Packs trade at 86.4, which keeps the full product type spread within 67.3%.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post the fastest price growth at a 1.54% CAGR between 2026 and 2036, compared with 1.14% for Rollstock Films.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North America average price rises from US$ 3,486/MT in 2026 to US$ 3,964/MT in 2036, and the gap between the highest and lowest priced product type moves from 67.0% in 2021 to 68.2%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country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2,714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3,250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3,786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4,323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4,859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5,396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92731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U.S.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45494" y="2448389"/>
            <a:ext cx="4718445" cy="1129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62030" y="295112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509904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Canada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58847" y="4620120"/>
            <a:ext cx="4768209" cy="1129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93027" y="512285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US$ 5,873 per MT in 2036. Average selling price of flexible plastic packaging is estimated at US$ 3,457 per MT in 2025 and is projected to increase to US$ 3,964 per MT by 2036. Canada is the highest-priced country, while U.S.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North America has the highest average price among regions, at US$3,486 per MT in 2026 rising to US$3,964 in 2036, because converters supply a richer mix of high-barrier, resealable and e-commerce-ready formats with high labour and compliance costs. Value grows 5.6% against 4.3% in volume as recycled-content rules and resin costs keep pushing price up.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North America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1" cy="2271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5075"/>
                <a:gridCol w="1252844"/>
                <a:gridCol w="1252844"/>
                <a:gridCol w="1252844"/>
                <a:gridCol w="125284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280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1,810.43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2,506.75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3,481.60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280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1,895.24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2,602.43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3,535.90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299" cy="2271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7259"/>
                <a:gridCol w="1113010"/>
                <a:gridCol w="1113010"/>
                <a:gridCol w="1113010"/>
                <a:gridCol w="1113010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10280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3,481.60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3,587.92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3,724.01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3,958.64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102803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3,535.90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3,643.02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3,778.89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4,009.67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North America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country and sub-segment against the weighted average price of each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0" cy="18668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2830"/>
                <a:gridCol w="2226874"/>
                <a:gridCol w="2226874"/>
                <a:gridCol w="2226874"/>
                <a:gridCol w="2226874"/>
                <a:gridCol w="222687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8258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3,453.88–3,523.66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4,981.97–5,082.61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3,177.83–3,242.03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2,976.89–3,037.03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3,481.60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82581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Canada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3,508.61–3,579.49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5,051.28–5,153.33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3,228.28–3,293.50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3,025.06–3,086.17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3,535.90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448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800475"/>
            <a:ext cx="11906250" cy="274320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38862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1243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210050"/>
            <a:ext cx="11639550" cy="22574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'Canada' is the highest-priced region (~3,535.90 US$/MT) and 'U.S.' the most competitive (~3,481.60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~1.02×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Latin America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Latin America Flexible Plastic Packaging Market Product Pricing &amp;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2124.9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3631.7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5138.4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787581"/>
            <a:ext cx="0" cy="29763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787581"/>
            <a:ext cx="438150" cy="297637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635181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3366.9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399836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399836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4790.7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57208"/>
            <a:ext cx="0" cy="272258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57208"/>
            <a:ext cx="438150" cy="272258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04808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3086.1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082325"/>
            <a:ext cx="0" cy="245389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082325"/>
            <a:ext cx="438150" cy="245389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2929925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2878.9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2736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91500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90275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607791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27363"/>
            <a:ext cx="0" cy="155055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2736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91500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3026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90275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607791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6068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+17%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4832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+8%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23596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623600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-8%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601123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-17%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271588" y="4627936"/>
            <a:ext cx="457200" cy="674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485061"/>
            <a:ext cx="176212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33712" y="4628586"/>
            <a:ext cx="457200" cy="67405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2381250" y="4485711"/>
            <a:ext cx="176212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95838" y="4632788"/>
            <a:ext cx="457200" cy="66985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4143375" y="4489913"/>
            <a:ext cx="176212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57962" y="4630121"/>
            <a:ext cx="457200" cy="67251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MI Data Label"/>
          <p:cNvSpPr txBox="1"/>
          <p:nvPr/>
        </p:nvSpPr>
        <p:spPr>
          <a:xfrm>
            <a:off x="5905500" y="4487246"/>
            <a:ext cx="176212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125" y="6242060"/>
            <a:ext cx="176212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Brazil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81250" y="6242060"/>
            <a:ext cx="176212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Mexico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43375" y="6242060"/>
            <a:ext cx="176212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Colombia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0" y="6242060"/>
            <a:ext cx="176212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Latin America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Latin America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'Rollstock Films' shows the most movement (+17.1%) and 'Barrier Casings' the least (+16.0%)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country-level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Country price indices diverge by up to 14.4% between 2026 and 2036: higher-priced countries start higher and grow steadily, while lower-priced countries start lower and converge, reflecting catch-up growth.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Latin America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US$ 4,237/MT, a 67.4%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Latin America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4,129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4,237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4,791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144.2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2,943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3,367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100.2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2,635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92.0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2,473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2,531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2,879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Latin America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2,870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2,938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3,354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1.33%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144.2, while Sachets &amp; Stick Packs trade at 86.1, which keeps the full product type spread within 67.4%.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Rollstock Films post the fastest price growth at a 1.36% CAGR between 2026 and 2036, compared with 1.24% for Barrier Casings.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Latin America average price rises from US$ 2,938/MT in 2026 to US$ 3,354/MT in 2036, and the gap between the highest and lowest priced product type moves from 67.0% in 2021 to 66.4%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Latin America Flexible Plastic Packaging Market Pricing Assessment: Country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average price and price range across product types, 2026 (US$/MT)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Brazil is the most premium Latin America market at US$ 3,051/MT in 2026, +3.8% above the regional average, while Mexico is the lowest priced.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Country (US$/MT),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country, read on the price index axis (Latin America average = 100). Teal = above Latin America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10302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10302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3,051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103.8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0302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Mexico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2,763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94.1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Country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countries differ by 10.4% in 2026, from US$ 2,763/MT in Mexico to US$ 3,051/MT in Brazil.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Brazil records the fastest average price growth at a 1.36% CAGR between 2026 and 2036, against 1.33% for Latin America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Brazil shows the widest gap between its cheapest and most expensive product type at 67.8%, so product mix shifts move its average price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country;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country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2,117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2,631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3,144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3,657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4,171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4,684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38438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Brazil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6221" y="2187782"/>
            <a:ext cx="4330835" cy="56465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87543" y="2408194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347024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Mexico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45494" y="3273647"/>
            <a:ext cx="3896079" cy="56465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74209" y="349405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455611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Colombia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7630" y="4359512"/>
            <a:ext cx="4184021" cy="56465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07795" y="457992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5641978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 of Latin America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55348" y="5445378"/>
            <a:ext cx="4182658" cy="56465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20509" y="5665790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US$ 4,791 per MT in 2036. Average selling price of flexible plastic packaging is estimated at US$ 2,913 per MT in 2025 and is projected to increase to US$ 3,354 per MT by 2036. Brazil is the highest-priced country, while Mexico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Latin America's average price of US$ 2,938 per MT in 2026 sits below the global US$ 3,100, because the mix leans toward commodity PE and PP film and basic food packaging rather than high-barrier or specialty structures. Imported barrier resins and converting inputs add cost, yet price rises to US$ 3,354 per MT by 2036 as value growth of 7.2% outpaces volume at 5.7%.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Latin America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1" cy="2271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7387"/>
                <a:gridCol w="1119766"/>
                <a:gridCol w="1119766"/>
                <a:gridCol w="1119766"/>
                <a:gridCol w="1119766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1,586.28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2,196.39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3,050.54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1,481.06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2,033.70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2,763.18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Colombia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1,644.58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2,240.44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2,979.30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1,703.92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2,303.90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2,999.86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43%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301" cy="22713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4565"/>
                <a:gridCol w="936184"/>
                <a:gridCol w="936184"/>
                <a:gridCol w="936184"/>
                <a:gridCol w="9361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3,050.54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3,145.40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3,270.47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3,491.24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2,763.18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2,849.72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2,964.69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3,161.98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Colombia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2,979.30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3,078.18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3,201.18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3,406.61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14016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2,999.86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3,096.58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3,219.89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3,431.84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Latin America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country and sub-segment against the weighted average price of each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25527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2" cy="20859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1207"/>
                <a:gridCol w="2033199"/>
                <a:gridCol w="2033199"/>
                <a:gridCol w="2033199"/>
                <a:gridCol w="2033199"/>
                <a:gridCol w="203319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46767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Brazil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3,025.25–3,086.36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4,359.17–4,447.23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2,773.66–2,829.69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2,598.12–2,650.61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3,050.54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6767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Mexico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2,738.00–2,793.31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3,958.44–4,038.41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2,525.33–2,576.34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2,374.18–2,422.14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2,763.18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46767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Colombia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2,963.00–3,022.86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4,243.12–4,328.83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2,715.96–2,770.82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2,541.76–2,593.11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2,979.30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467678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Latin America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2,976.28–3,036.41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4,241.63–4,327.32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2,725.76–2,780.82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2,540.84–2,592.17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2,999.86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6671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010025"/>
            <a:ext cx="11906250" cy="253365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0957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3338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419600"/>
            <a:ext cx="11639550" cy="20478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'Brazil' is the highest-priced region (~3,050.54 US$/MT) and 'Mexico' the most competitive (~2,763.18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~1.10×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4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Europe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Europe Flexible Plastic Packaging Market Product Pricing &amp;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2450.7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4077.4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5704.2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797480"/>
            <a:ext cx="0" cy="29123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797480"/>
            <a:ext cx="438150" cy="291236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645080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3773.9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360483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360483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5328.8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60263"/>
            <a:ext cx="0" cy="278403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60263"/>
            <a:ext cx="438150" cy="278403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07863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3482.9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083980"/>
            <a:ext cx="0" cy="243734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083980"/>
            <a:ext cx="438150" cy="243734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2931580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3261.8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2035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88482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1376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5978237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20358"/>
            <a:ext cx="0" cy="1457879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2035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88482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24929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1376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5978237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5368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+18%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1815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+9%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18262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54709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-9%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5911562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-18%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18979" y="4692368"/>
            <a:ext cx="387668" cy="55693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549493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06354" y="4715061"/>
            <a:ext cx="387668" cy="53423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1206500" y="4572186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93729" y="4660989"/>
            <a:ext cx="387668" cy="588309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1793875" y="4518114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81104" y="4680067"/>
            <a:ext cx="387668" cy="56923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MI Data Label"/>
          <p:cNvSpPr txBox="1"/>
          <p:nvPr/>
        </p:nvSpPr>
        <p:spPr>
          <a:xfrm>
            <a:off x="2381250" y="4537192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8479" y="4733985"/>
            <a:ext cx="387668" cy="51531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MI Data Label"/>
          <p:cNvSpPr txBox="1"/>
          <p:nvPr/>
        </p:nvSpPr>
        <p:spPr>
          <a:xfrm>
            <a:off x="2968625" y="4591110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5854" y="4670445"/>
            <a:ext cx="387668" cy="57885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MI Data Label"/>
          <p:cNvSpPr txBox="1"/>
          <p:nvPr/>
        </p:nvSpPr>
        <p:spPr>
          <a:xfrm>
            <a:off x="3556000" y="4527570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43229" y="4632720"/>
            <a:ext cx="387668" cy="616578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MI Data Label"/>
          <p:cNvSpPr txBox="1"/>
          <p:nvPr/>
        </p:nvSpPr>
        <p:spPr>
          <a:xfrm>
            <a:off x="4143375" y="4489845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30604" y="4616034"/>
            <a:ext cx="387668" cy="63326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MI Data Label"/>
          <p:cNvSpPr txBox="1"/>
          <p:nvPr/>
        </p:nvSpPr>
        <p:spPr>
          <a:xfrm>
            <a:off x="4730750" y="4473159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+15.3%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17979" y="4630258"/>
            <a:ext cx="387668" cy="61904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MI Data Label"/>
          <p:cNvSpPr txBox="1"/>
          <p:nvPr/>
        </p:nvSpPr>
        <p:spPr>
          <a:xfrm>
            <a:off x="5318125" y="4487383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05354" y="4666754"/>
            <a:ext cx="387668" cy="58254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MI Data Label"/>
          <p:cNvSpPr txBox="1"/>
          <p:nvPr/>
        </p:nvSpPr>
        <p:spPr>
          <a:xfrm>
            <a:off x="5905500" y="4523879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+14.1%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92729" y="4682741"/>
            <a:ext cx="387668" cy="56655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MI Data Label"/>
          <p:cNvSpPr txBox="1"/>
          <p:nvPr/>
        </p:nvSpPr>
        <p:spPr>
          <a:xfrm>
            <a:off x="6492875" y="4539866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+13.7%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180104" y="4614107"/>
            <a:ext cx="387668" cy="63519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MI Data Label"/>
          <p:cNvSpPr txBox="1"/>
          <p:nvPr/>
        </p:nvSpPr>
        <p:spPr>
          <a:xfrm>
            <a:off x="7080250" y="4471232"/>
            <a:ext cx="587375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+15.3%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250" y="6135380"/>
            <a:ext cx="61912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Germany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06500" y="6135380"/>
            <a:ext cx="587375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U.K.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93875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France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81250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Italy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68625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Spain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56000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Belgium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38203" y="6135380"/>
            <a:ext cx="79771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Netherlands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30750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Nordic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0813" y="6135380"/>
            <a:ext cx="76200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Switzerland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05500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Russia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92875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Poland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80250" y="6135380"/>
            <a:ext cx="587375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Europe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Europe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'Premade Pouches &amp; Bags' shows the most movement (+16.7%) and 'Barrier Casings' the least (+13.8%)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country-level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Country price indices diverge by up to 15.3% between 2026 and 2036: higher-priced countries start higher and grow steadily, while lower-priced countries start lower and converge, reflecting catch-up growth.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Europe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US$ 4,783/MT, a 65.9%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Europe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4,684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4,783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5,329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1.09%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144.1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3,253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3,324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3,774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1.28%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100.2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2,985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92.2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2,826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2,883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3,262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1.24%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Europe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3,245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3,318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3,762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144.1, while Sachets &amp; Stick Packs trade at 86.9, which keeps the full product type spread within 65.9%.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Premade Pouches &amp; Bags post the fastest price growth at a 1.31% CAGR between 2026 and 2036, compared with 1.09% for Barrier Casings.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Europe average price rises from US$ 3,318/MT in 2026 to US$ 3,762/MT in 2036, and the gap between the highest and lowest priced product type moves from 65.8% in 2021 to 63.4%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Europe Flexible Plastic Packaging Market Pricing Assessment: Country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average price and price range across product types, 2026 (US$/MT)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Switzerland is the most premium Europe market at US$ 3,905/MT in 2026, +17.7% above the regional average, while Russia is the lowest priced.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Country (US$/MT),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country, read on the price index axis (Europe average = 100). Teal = above Europe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Switzerland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3,905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117.7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1.40%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Nordic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3,726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112.3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1.43%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3,592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108.2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Belgium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3,545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106.8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1.32%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U.K.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105.5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France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3,423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103.2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1.34%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Italy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3,194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96.3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Spain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3,075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92.7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1.18%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Poland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2,868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86.4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8097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2,782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83.8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1.32%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Country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countries differ by 40.4% in 2026, from US$ 2,782/MT in Russia to US$ 3,905/MT in Switzerland.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Nordic records the fastest average price growth at a 1.43% CAGR between 2026 and 2036, against 1.26% for Europe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Spain shows the widest gap between its cheapest and most expensive product type at 67.6%, so product mix shifts move its average price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country;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country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1,939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2,766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3,593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4,420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5,247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6,074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02242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Germany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6516" y="2014043"/>
            <a:ext cx="3160883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23759" y="204623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238438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U.K.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0934" y="2375998"/>
            <a:ext cx="3087689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84821" y="2408194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274633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France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7847" y="2737953"/>
            <a:ext cx="3003251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36806" y="277014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310829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Italy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91541" y="3099908"/>
            <a:ext cx="2804083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66221" y="3132104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347024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Spain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8279" y="3461864"/>
            <a:ext cx="2702895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75050" y="349405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383220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Belgium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6231" y="3823819"/>
            <a:ext cx="3077496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19556" y="385601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125" y="419415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Netherlands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8317" y="4185774"/>
            <a:ext cx="3060962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33374" y="4217970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125" y="455611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Nordic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85473" y="4547729"/>
            <a:ext cx="3265235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15511" y="457992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8125" y="491806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Switzerland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12011" y="4909684"/>
            <a:ext cx="3415045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97510" y="4941880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8125" y="528002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Russia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45494" y="5271639"/>
            <a:ext cx="2427668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802898" y="530383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8125" y="5641978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Poland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64263" y="5633594"/>
            <a:ext cx="2511728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946443" y="5665790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125" y="600393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 of Europe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0592" y="5995549"/>
            <a:ext cx="2688133" cy="18821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274389" y="602774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US$ 5,329 per MT in 2036. Average selling price of flexible plastic packaging is estimated at US$ 3,291 per MT in 2025 and is projected to increase to US$ 3,762 per MT by 2036. Switzerland is the highest-priced country, while Russia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Europe prices flexible packaging at a premium, with the average rising from US$3,318 to US$3,762 per MT, because regulation and retailer standards push the mix towards high-barrier, mono-material and recycled-content films. High energy, labour and compliance costs add to the price, and value growth of 6.6% outpaces 5.2% volume growth.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Europe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50734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49" cy="2284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477"/>
                <a:gridCol w="1233493"/>
                <a:gridCol w="1233493"/>
                <a:gridCol w="1233493"/>
                <a:gridCol w="1233493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1,867.73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2,586.08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3,591.78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1,876.11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2,576.16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3,500.21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1,889.58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2,574.21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3,423.16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1,814.27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2,453.10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3,194.14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43%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1,796.03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2,411.11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3,075.40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42%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Belgium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2,127.02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2,836.02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3,545.03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40%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Netherlands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1,814.52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2,512.42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3,489.47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68283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50734"/>
          </a:xfrm>
          <a:prstGeom prst="roundRect">
            <a:avLst>
              <a:gd name="adj" fmla="val 277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298" cy="2284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558"/>
                <a:gridCol w="1085935"/>
                <a:gridCol w="1085935"/>
                <a:gridCol w="1085935"/>
                <a:gridCol w="1085935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3,591.78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3,699.78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3,836.70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4,074.77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3,500.21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3,602.99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3,732.86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3,951.70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3,423.16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3,527.23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3,666.81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3,909.40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3,194.14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3,291.29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3,418.11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3,633.14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3,075.40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3,271.13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3,458.04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Belgium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3,545.03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3,654.31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3,796.00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4,040.49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553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Netherlands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3,489.47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3,604.22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3,753.37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4,008.95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68283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11906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238250"/>
          <a:ext cx="11887202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2354"/>
                <a:gridCol w="2426212"/>
                <a:gridCol w="2426212"/>
                <a:gridCol w="2426212"/>
                <a:gridCol w="2426212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1,997.02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2,742.17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3,725.77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Switzerland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2,155.46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2,936.42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3,904.81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1,579.96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2,136.29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2,781.62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43%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1,674.95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2,248.56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2,868.07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42%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1,844.54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2,459.39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3,074.24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40%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25431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2876550"/>
            <a:ext cx="1190625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125" y="29337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52400" y="3133725"/>
          <a:ext cx="11887202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6546"/>
                <a:gridCol w="2125164"/>
                <a:gridCol w="2125164"/>
                <a:gridCol w="2125164"/>
                <a:gridCol w="212516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3,725.77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3,853.80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4,018.45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4,295.44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Switzerland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3,904.81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4,032.75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4,199.14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4,488.45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2,781.62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2,869.44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2,982.27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3,172.87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2,868.07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2,956.64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3,068.00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3,260.40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16027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3,074.24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3,179.83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3,315.68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3,545.72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9075" y="44386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Europe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country and sub-segment against the weighted average price of each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409950"/>
          </a:xfrm>
          <a:prstGeom prst="roundRect">
            <a:avLst>
              <a:gd name="adj" fmla="val 223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1" cy="29432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4701"/>
                <a:gridCol w="2120500"/>
                <a:gridCol w="2120500"/>
                <a:gridCol w="2120500"/>
                <a:gridCol w="2120500"/>
                <a:gridCol w="2120500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Germany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3,577.84–3,650.12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5,140.14–5,243.98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3,291.52–3,358.02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3,069.17–3,131.18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3,591.78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U.K.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3,489.39–3,559.88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5,023.01–5,124.49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3,202.16–3,266.85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3,000.00–3,060.60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3,500.21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France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3,397.55–3,466.19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4,887.04–4,985.77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3,122.70–3,185.79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2,919.35–2,978.33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3,423.16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Italy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3,160.00–3,223.84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4,562.41–4,654.58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2,907.80–2,966.55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2,725.22–2,780.27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3,194.14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Spain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3,042.26–3,103.72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4,389.15–4,477.82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2,804.77–2,861.43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2,618.25–2,671.14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3,075.40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Belgium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3,510.51–3,581.42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5,039.46–5,141.27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3,232.50–3,297.80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3,023.12–3,084.20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3,545.03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Netherlands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3,453.17–3,522.93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4,977.58–5,078.13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3,176.91–3,241.09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2,972.07–3,032.12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3,489.47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Nordic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3,687.64–3,762.14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5,319.21–5,426.67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3,394.49–3,463.06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3,179.87–3,244.11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3,725.77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Switzerland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3,866.13–3,944.23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5,565.79–5,678.23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3,560.05–3,631.97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3,328.30–3,395.53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3,904.81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Russia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2,759.20–2,814.95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3,958.03–4,037.99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2,532.35–2,583.51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2,367.45–2,415.28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2,781.62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Poland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2,841.15–2,898.55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4,090.92–4,173.57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2,615.89–2,668.74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2,445.27–2,494.67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2,868.07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733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Europe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3,049.28–3,110.88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4,380.99–4,469.50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2,802.66–2,859.28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2,619.76–2,672.69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3,074.24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5243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876800"/>
            <a:ext cx="11906250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96252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520065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5286375"/>
            <a:ext cx="11639550" cy="118110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'Switzerland' is the highest-priced region (~3,904.81 US$/MT) and 'Russia' the most competitive (~2,781.62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~1.40×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5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East Asia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East Asia Flexible Plastic Packaging Market Product Pricing &amp;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2050.1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3563.8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5077.4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834240"/>
            <a:ext cx="0" cy="260103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834240"/>
            <a:ext cx="438150" cy="260104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681840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3220.2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46318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463187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4728.1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81059"/>
            <a:ext cx="0" cy="269065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81059"/>
            <a:ext cx="438150" cy="269064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28659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2976.0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169093"/>
            <a:ext cx="0" cy="158621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169093"/>
            <a:ext cx="438150" cy="158621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3016693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2663.2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2900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91582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89453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607626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29008"/>
            <a:ext cx="0" cy="154726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2900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91582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3026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89453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607626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6233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+17%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4914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+8%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23596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622778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-8%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600959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-17%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565275" y="4627936"/>
            <a:ext cx="457200" cy="674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485061"/>
            <a:ext cx="2349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4775" y="4714756"/>
            <a:ext cx="457200" cy="58788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2968625" y="4571881"/>
            <a:ext cx="2349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+12.7%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4275" y="4706255"/>
            <a:ext cx="457200" cy="59638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5318125" y="4563380"/>
            <a:ext cx="23495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125" y="6242060"/>
            <a:ext cx="234950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China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68625" y="6242060"/>
            <a:ext cx="234950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Japan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18125" y="6242060"/>
            <a:ext cx="2349500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Korea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East Asia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'Barrier Casings' shows the most movement (+19.5%) and 'Sachets &amp; Stick Packs' the least (+11.0%)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country-level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Country price indices diverge by up to 14.6% between 2026 and 2036: higher-priced countries start higher and grow steadily, while lower-priced countries start lower and converge, reflecting catch-up growth.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East Asia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US$ 4,088/MT, a 68.0%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East Asia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3,958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4,088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4,728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1.47%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144.8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2,788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2,843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3,220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1.25%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100.7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1.40%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91.8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2,399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2,434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2,663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0.91%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86.2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East Asia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2,765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2,823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3,211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144.8, while Sachets &amp; Stick Packs trade at 86.2, which keeps the full product type spread within 68.0%.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post the fastest price growth at a 1.47% CAGR between 2026 and 2036, compared with 0.91% for Sachets &amp; Stick Packs.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East Asia average price rises from US$ 2,823/MT in 2026 to US$ 3,211/MT in 2036, and the gap between the highest and lowest priced product type moves from 64.9% in 2021 to 77.5%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East Asia Flexible Plastic Packaging Market Pricing Assessment: Country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average price and price range across product types, 2026 (US$/MT)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Japan is the most premium East Asia market at US$ 3,427/MT in 2026, +21.4% above the regional average, while China is the lowest priced.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Country (US$/MT),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country, read on the price index axis (East Asia average = 100). Teal = above East Asia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10302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10302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3,427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121.4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103022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2,624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92.9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1.37%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Country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countries differ by 30.6% in 2026, from US$ 2,624/MT in China to US$ 3,427/MT in Japan.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China records the fastest average price growth at a 1.37% CAGR between 2026 and 2036, against 1.30% for East Asia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South Korea shows the widest gap between its cheapest and most expensive product type at 68.2%, so product mix shifts move its average price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country;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country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1,882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2,568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3,255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3,941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4,627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5,313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565359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China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45494" y="2274651"/>
            <a:ext cx="2803788" cy="75286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31977" y="258917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401318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Japan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8762" y="3722471"/>
            <a:ext cx="3628294" cy="75286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62957" y="403699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546100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South Korea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8471" y="5170292"/>
            <a:ext cx="3318530" cy="75286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7833" y="548481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US$ 4,728 per MT in 2036. Average selling price of flexible plastic packaging is estimated at US$ 2,801 per MT in 2025 and is projected to increase to US$ 3,211 per MT by 2036. Japan is the highest-priced country, while China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East Asia sits at a lower price point, with the average rising from US$2,823 to US$3,211 per MT, because large-scale local converting capacity, integrated resin supply and a volume-heavy mix of PE and PP films keep unit costs down. Price still climbs as barrier and premium formats grow, so value growth of 6.4% outpaces 5.0% volume growth.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East Asia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0" cy="227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7818"/>
                <a:gridCol w="1234658"/>
                <a:gridCol w="1234658"/>
                <a:gridCol w="1234658"/>
                <a:gridCol w="1234658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8535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1,364.23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1,888.93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2,623.51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8535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1,836.91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2,522.33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3,427.07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8535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1,717.33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2,339.55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3,111.11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299" cy="227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9095"/>
                <a:gridCol w="1087551"/>
                <a:gridCol w="1087551"/>
                <a:gridCol w="1087551"/>
                <a:gridCol w="1087551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68535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2,623.51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2,705.85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2,815.93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3,005.61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68535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3,427.07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3,523.53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3,648.09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3,861.98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68535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3,111.11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3,198.14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3,311.93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3,511.63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East Asia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country and sub-segment against the weighted average price of each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2447925"/>
          </a:xfrm>
          <a:prstGeom prst="roundRect">
            <a:avLst>
              <a:gd name="adj" fmla="val 311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1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4081"/>
                <a:gridCol w="2154624"/>
                <a:gridCol w="2154624"/>
                <a:gridCol w="2154624"/>
                <a:gridCol w="2154624"/>
                <a:gridCol w="215462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58864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China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2,614.06–2,666.87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3,759.14–3,835.09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2,393.70–2,442.06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2,234.82–2,279.97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2,623.51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Japan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3,405.53–3,474.33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4,888.76–4,987.52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3,120.61–3,183.66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2,916.18–2,975.09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3,427.07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58864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Korea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3,092.30–3,154.77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4,448.36–4,538.22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2,830.30–2,887.48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2,644.19–2,697.61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3,111.11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5623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905250"/>
            <a:ext cx="11906250" cy="2638425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39909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2291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314825"/>
            <a:ext cx="11639550" cy="21526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'Japan' is the highest-priced region (~3,427.07 US$/MT) and 'China' the most competitive (~2,623.51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~1.31×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6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South Asia &amp; Pacific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South Asia &amp; Pacific Flexible Plastic Packaging Market Product Pricing &amp;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2060.9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3436.0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4811.2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819941"/>
            <a:ext cx="0" cy="260012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819941"/>
            <a:ext cx="438150" cy="260012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667541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3145.5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367041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367042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4493.8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75094"/>
            <a:ext cx="0" cy="240403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75094"/>
            <a:ext cx="438150" cy="240403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22694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2911.0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093525"/>
            <a:ext cx="0" cy="234189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093525"/>
            <a:ext cx="438150" cy="234189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2941125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2732.1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1912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884209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14387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597947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19120"/>
            <a:ext cx="0" cy="1460356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1912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884209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24929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14387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597947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52445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+19%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17534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+10%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18262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547712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-10%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5912801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-19%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24929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82108" y="4804241"/>
            <a:ext cx="457200" cy="44505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661366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+11.6%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65275" y="4721882"/>
            <a:ext cx="457200" cy="52741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1402292" y="4579007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48442" y="4723514"/>
            <a:ext cx="457200" cy="52578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2185458" y="4580639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608" y="4741105"/>
            <a:ext cx="457200" cy="508193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MI Data Label"/>
          <p:cNvSpPr txBox="1"/>
          <p:nvPr/>
        </p:nvSpPr>
        <p:spPr>
          <a:xfrm>
            <a:off x="2968625" y="4598230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14775" y="4690438"/>
            <a:ext cx="457200" cy="55886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MI Data Label"/>
          <p:cNvSpPr txBox="1"/>
          <p:nvPr/>
        </p:nvSpPr>
        <p:spPr>
          <a:xfrm>
            <a:off x="3751792" y="4547563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97942" y="4708192"/>
            <a:ext cx="457200" cy="54110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MI Data Label"/>
          <p:cNvSpPr txBox="1"/>
          <p:nvPr/>
        </p:nvSpPr>
        <p:spPr>
          <a:xfrm>
            <a:off x="4534958" y="4565317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1108" y="4749742"/>
            <a:ext cx="457200" cy="49955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MI Data Label"/>
          <p:cNvSpPr txBox="1"/>
          <p:nvPr/>
        </p:nvSpPr>
        <p:spPr>
          <a:xfrm>
            <a:off x="5318125" y="4606867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+13.1%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4275" y="4692227"/>
            <a:ext cx="457200" cy="55707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MI Data Label"/>
          <p:cNvSpPr txBox="1"/>
          <p:nvPr/>
        </p:nvSpPr>
        <p:spPr>
          <a:xfrm>
            <a:off x="6101292" y="4549352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47442" y="4614107"/>
            <a:ext cx="457200" cy="635191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MI Data Label"/>
          <p:cNvSpPr txBox="1"/>
          <p:nvPr/>
        </p:nvSpPr>
        <p:spPr>
          <a:xfrm>
            <a:off x="6884458" y="4471232"/>
            <a:ext cx="783167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+16.6%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9125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India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02292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Thailand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85458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Malaysia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68625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Indonesia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51792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Singapore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34958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Philippines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18125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Australia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01292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New Zealand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84458" y="6135380"/>
            <a:ext cx="783167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South Asia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South Asia &amp; Pacific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'Sachets &amp; Stick Packs' shows the most movement (+14.9%) and 'Barrier Casings' the least (+14.1%)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country-level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Country price indices diverge by up to 16.6% between 2026 and 2036: higher-priced countries start higher and grow steadily, while lower-priced countries start lower and converge, reflecting catch-up growth.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South Asia &amp; Pacific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US$ 4,041/MT, a 66.5%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South Asia &amp; Pacific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3,939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4,041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4,494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1.07%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144.0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2,753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2,802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3,145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1.16%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99.9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92.5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2,378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2,426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2,732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1.19%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86.5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South Asia &amp; Pacific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2,753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2,805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3,146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1.15%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144.0, while Sachets &amp; Stick Packs trade at 86.5, which keeps the full product type spread within 66.5%.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Sachets &amp; Stick Packs post the fastest price growth at a 1.19% CAGR between 2026 and 2036, compared with 1.07% for Barrier Casings.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South Asia &amp; Pacific average price rises from US$ 2,805/MT in 2026 to US$ 3,146/MT in 2036, and the gap between the highest and lowest priced product type moves from 65.6% in 2021 to 64.5%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South Asia &amp; Pacific Flexible Plastic Packaging Market Pricing Assessment: Country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average price and price range across product types, 2026 (US$/MT)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Australia is the most premium South Asia &amp; Pacific market at US$ 3,619/MT in 2026, +29.0% above the regional average, while India is the lowest priced.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Country (US$/MT),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country, read on the price index axis (South Asia &amp; Pacific average = 100). Teal = above South Asia &amp; Pacific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3,619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129.0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New Zealand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3,588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127.9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1.37%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Singapore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3,365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120.0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Philippines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2,772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98.8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1.33%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Malaysia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2,738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97.6</a:t>
                      </a:r>
                    </a:p>
                  </a:txBody>
                  <a:tcPr marL="36576" marR="36576" marT="9144" marB="9144" anchor="ctr">
                    <a:solidFill>
                      <a:srgbClr val="D9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Thailand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2,681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95.6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Indonesia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2,607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92.9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4340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2,543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90.6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1.11%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Country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countries differ by 42.3% in 2026, from US$ 2,543/MT in India to US$ 3,619/MT in Australia.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Singapore records the fastest average price growth at a 1.37% CAGR between 2026 and 2036, against 1.15% for South Asia &amp; Pacific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Philippines shows the widest gap between its cheapest and most expensive product type at 69.1%, so product mix shifts move its average price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country;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country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1,755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2,541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3,328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4,115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4,901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082752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India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45494" y="2043000"/>
            <a:ext cx="2336961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767983" y="210656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2565359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Thailand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50995" y="2525606"/>
            <a:ext cx="2482222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18051" y="258917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3047966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Malaysia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45373" y="3008213"/>
            <a:ext cx="2529117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128134" y="3071778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353057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Indonesia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36959" y="3490820"/>
            <a:ext cx="2370906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74440" y="355438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401318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Singapore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667" y="3973427"/>
            <a:ext cx="3040222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61365" y="403699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4495786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Philippines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60563" y="4456034"/>
            <a:ext cx="2616855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80689" y="451959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125" y="497839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Australia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1030" y="4938640"/>
            <a:ext cx="3366026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616857" y="5002206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125" y="546100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New Zealand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48806" y="5421247"/>
            <a:ext cx="3350394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20296" y="548481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8125" y="5943607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 of South Asia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18467" y="5903854"/>
            <a:ext cx="2495358" cy="250956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89946" y="596741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US$ 4,494 per MT in 2036. Average selling price of flexible plastic packaging is estimated at US$ 2,785 per MT in 2025 and is projected to increase to US$ 3,146 per MT by 2036. Australia is the highest-priced country, while India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South Asia &amp; Pacific is priced lower, at US$2,805 per MT in 2026 rising to US$3,146 in 2036, because abundant local converting capacity, price-sensitive buyers and a larger share of commodity PE and PP films and sachets keep the mix basic. Value grows 7.8% against 6.5% in volume as demand gradually shifts toward barrier pouches and laminates.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South Asia &amp; Pacific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1" cy="2271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7927"/>
                <a:gridCol w="1157131"/>
                <a:gridCol w="1157131"/>
                <a:gridCol w="1157131"/>
                <a:gridCol w="1157131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1,322.32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1,830.90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2,542.92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Thailand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1,437.09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1,973.31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2,681.13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Malaysia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1,511.35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2,058.94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2,737.95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Indonesia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1,480.93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2,002.39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2,607.28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43%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Singapore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1,965.35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2,638.42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3,365.33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42%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Philippines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1,663.43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2,217.91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2,772.38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40%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Australia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1,881.91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2,605.72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3,619.05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New Zealand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1,923.12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2,640.70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3,587.91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South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1,468.49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2,000.56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2,660.32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298" cy="2271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4526"/>
                <a:gridCol w="983693"/>
                <a:gridCol w="983693"/>
                <a:gridCol w="983693"/>
                <a:gridCol w="983693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2,542.92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2,611.48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2,697.40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2,838.97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Thailand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2,681.13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2,763.26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2,869.16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3,051.03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Malaysia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2,737.95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2,819.04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2,926.91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3,114.52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Indonesia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2,607.28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2,689.94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2,789.30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2,953.87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Singapore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3,365.33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3,474.43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3,615.10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3,857.29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Philippines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2,772.38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2,857.03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2,970.74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3,164.79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Australia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3,619.05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3,725.89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3,860.11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4,091.96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New Zealand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3,587.91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3,702.12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3,851.66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4,110.74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284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South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2,660.32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2,754.09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2,881.39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3,102.34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South Asia &amp; Pacific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country and sub-segment against the weighted average price of each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0861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198" cy="26193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8438"/>
                <a:gridCol w="2073752"/>
                <a:gridCol w="2073752"/>
                <a:gridCol w="2073752"/>
                <a:gridCol w="2073752"/>
                <a:gridCol w="2073752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2,511.20–2,561.93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3,619.39–3,692.51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2,313.82–2,360.56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2,163.03–2,206.73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2,542.92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Thailand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2,661.08–2,714.84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3,837.98–3,915.52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2,440.63–2,489.94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2,291.10–2,337.38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2,681.13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Malaysia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2,729.85–2,785.00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3,926.02–4,005.33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2,499.42–2,549.92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2,349.91–2,397.39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2,737.95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Indonesia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2,585.92–2,638.16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3,697.55–3,772.24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2,369.32–2,417.18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2,220.03–2,264.88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2,607.28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Singapore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3,336.42–3,403.82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4,777.54–4,874.06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3,083.90–3,146.21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2,882.92–2,941.16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3,365.33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Philippines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2,761.48–2,817.27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3,990.16–4,070.77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2,525.18–2,576.20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2,359.38–2,407.04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2,772.38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Australia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3,606.63–3,679.50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5,205.15–5,310.30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3,296.93–3,363.53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3,107.49–3,170.27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3,619.05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New Zealand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3,556.75–3,628.61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5,125.47–5,229.02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3,255.72–3,321.49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3,037.56–3,098.92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3,587.91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67123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South Asia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2,641.80–2,695.17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3,825.90–3,903.19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2,422.21–2,471.14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2,270.83–2,316.70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2,660.32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20052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552950"/>
            <a:ext cx="11906250" cy="1990725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638675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8768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962525"/>
            <a:ext cx="11639550" cy="15049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'Australia' is the highest-priced region (~3,619.05 US$/MT) and 'India' the most competitive (~2,542.92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~1.42×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Section 7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1768475"/>
            <a:ext cx="8572500" cy="304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0">
                <a:solidFill>
                  <a:srgbClr val="0E72AE"/>
                </a:solidFill>
                <a:latin typeface="Calibri"/>
              </a:rPr>
              <a:t>Flexible Plastic Packaging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2111375"/>
            <a:ext cx="8572500" cy="5143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3000" b="1">
                <a:solidFill>
                  <a:srgbClr val="0B3C8C"/>
                </a:solidFill>
                <a:latin typeface="Calibri"/>
              </a:rPr>
              <a:t>Middle East &amp; Africa Pricing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7175"/>
            <a:ext cx="8458200" cy="324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Product Pricing &amp; Regional Price Index Trends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Positioning &amp; Key Findings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Key Pricing Drivers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Factors Impacting Pricing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Regional Price Assessment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Global Pricing Benchmarking</a:t>
            </a:r>
          </a:p>
          <a:p>
            <a:pPr marL="342900" indent="-323850"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➤	</a:t>
            </a:r>
            <a:r>
              <a:rPr sz="2000" b="0">
                <a:solidFill>
                  <a:srgbClr val="000000"/>
                </a:solidFill>
                <a:latin typeface="Calibri"/>
              </a:rPr>
              <a:t>Price Forecast &amp;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Middle East &amp; Africa Flexible Plastic Packaging Market Product Pricing &amp; Price Index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range by sub-segment and indexed regional price movement, highlighting dispersion and structural shifts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average USD pricing by product type and indexed regional price movement with base-year inflation adjustments.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260115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Pricing by Product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19" y="3471051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2167.8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919" y="2561000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3648.3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19" y="1650949"/>
            <a:ext cx="488156" cy="1333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5128.9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3525" y="2769879"/>
            <a:ext cx="0" cy="296862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14450" y="2769879"/>
            <a:ext cx="438150" cy="296862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" y="2617479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3417.0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Rollstock Films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6125" y="1927636"/>
            <a:ext cx="0" cy="372298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067050" y="1927636"/>
            <a:ext cx="438150" cy="372299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9825" y="177523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4787.2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98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Barrier Casings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38725" y="2954387"/>
            <a:ext cx="0" cy="259947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819650" y="2954387"/>
            <a:ext cx="438150" cy="259946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2425" y="2801987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3116.8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24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Premade Pouches &amp; Bags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91325" y="3050266"/>
            <a:ext cx="0" cy="277448"/>
          </a:xfrm>
          <a:prstGeom prst="line">
            <a:avLst/>
          </a:prstGeom>
          <a:ln w="17780">
            <a:solidFill>
              <a:srgbClr val="7C8B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72250" y="3050266"/>
            <a:ext cx="438150" cy="277448"/>
          </a:xfrm>
          <a:prstGeom prst="rect">
            <a:avLst/>
          </a:prstGeom>
          <a:solidFill>
            <a:srgbClr val="C9D9E8"/>
          </a:solidFill>
          <a:ln w="15875">
            <a:solidFill>
              <a:srgbClr val="7C8B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15025" y="2897866"/>
            <a:ext cx="17526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2960.8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5025" y="3566301"/>
            <a:ext cx="1752600" cy="2857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Sachets &amp; Stick Packs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2875" y="3991741"/>
            <a:ext cx="7696200" cy="2564645"/>
          </a:xfrm>
          <a:prstGeom prst="roundRect">
            <a:avLst>
              <a:gd name="adj" fmla="val 297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" y="4048891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Variation by Country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9125" y="4526914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19125" y="4914776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9125" y="5690500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9125" y="6078361"/>
            <a:ext cx="7048500" cy="0"/>
          </a:xfrm>
          <a:prstGeom prst="line">
            <a:avLst/>
          </a:prstGeom>
          <a:ln w="6350">
            <a:solidFill>
              <a:srgbClr val="E4EA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9125" y="4526914"/>
            <a:ext cx="0" cy="1551447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0550" y="4526914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90550" y="4914776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0550" y="5302638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0550" y="5690500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0550" y="6078361"/>
            <a:ext cx="28575" cy="0"/>
          </a:xfrm>
          <a:prstGeom prst="line">
            <a:avLst/>
          </a:prstGeom>
          <a:ln w="9525">
            <a:solidFill>
              <a:srgbClr val="6C7A8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MI Scale tick"/>
          <p:cNvSpPr txBox="1"/>
          <p:nvPr/>
        </p:nvSpPr>
        <p:spPr>
          <a:xfrm>
            <a:off x="219075" y="4460239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+17%</a:t>
            </a:r>
          </a:p>
        </p:txBody>
      </p:sp>
      <p:sp>
        <p:nvSpPr>
          <p:cNvPr id="46" name="FMI Scale tick"/>
          <p:cNvSpPr txBox="1"/>
          <p:nvPr/>
        </p:nvSpPr>
        <p:spPr>
          <a:xfrm>
            <a:off x="219075" y="4848101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+9%</a:t>
            </a:r>
          </a:p>
        </p:txBody>
      </p:sp>
      <p:sp>
        <p:nvSpPr>
          <p:cNvPr id="47" name="FMI Scale tick"/>
          <p:cNvSpPr txBox="1"/>
          <p:nvPr/>
        </p:nvSpPr>
        <p:spPr>
          <a:xfrm>
            <a:off x="219075" y="5235963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0%</a:t>
            </a:r>
          </a:p>
        </p:txBody>
      </p:sp>
      <p:sp>
        <p:nvSpPr>
          <p:cNvPr id="48" name="FMI Scale tick"/>
          <p:cNvSpPr txBox="1"/>
          <p:nvPr/>
        </p:nvSpPr>
        <p:spPr>
          <a:xfrm>
            <a:off x="219075" y="5623825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-9%</a:t>
            </a:r>
          </a:p>
        </p:txBody>
      </p:sp>
      <p:sp>
        <p:nvSpPr>
          <p:cNvPr id="49" name="FMI Scale tick"/>
          <p:cNvSpPr txBox="1"/>
          <p:nvPr/>
        </p:nvSpPr>
        <p:spPr>
          <a:xfrm>
            <a:off x="219075" y="6011686"/>
            <a:ext cx="361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6C7A89"/>
                </a:solidFill>
                <a:latin typeface="Calibri"/>
              </a:rPr>
              <a:t>-17%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9125" y="5302638"/>
            <a:ext cx="7048500" cy="0"/>
          </a:xfrm>
          <a:prstGeom prst="line">
            <a:avLst/>
          </a:prstGeom>
          <a:ln w="13970">
            <a:solidFill>
              <a:srgbClr val="6C7A8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93989" y="4700729"/>
            <a:ext cx="457200" cy="601909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MI Data Label"/>
          <p:cNvSpPr txBox="1"/>
          <p:nvPr/>
        </p:nvSpPr>
        <p:spPr>
          <a:xfrm>
            <a:off x="619125" y="4557854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00918" y="4680344"/>
            <a:ext cx="457200" cy="622294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MI Data Label"/>
          <p:cNvSpPr txBox="1"/>
          <p:nvPr/>
        </p:nvSpPr>
        <p:spPr>
          <a:xfrm>
            <a:off x="1626054" y="4537469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+13.7%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07846" y="4685102"/>
            <a:ext cx="457200" cy="617536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MI Data Label"/>
          <p:cNvSpPr txBox="1"/>
          <p:nvPr/>
        </p:nvSpPr>
        <p:spPr>
          <a:xfrm>
            <a:off x="2632982" y="4542227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+13.6%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14775" y="4750329"/>
            <a:ext cx="457200" cy="552309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MI Data Label"/>
          <p:cNvSpPr txBox="1"/>
          <p:nvPr/>
        </p:nvSpPr>
        <p:spPr>
          <a:xfrm>
            <a:off x="3639911" y="4607454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21704" y="4627936"/>
            <a:ext cx="457200" cy="674702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MI Data Label"/>
          <p:cNvSpPr txBox="1"/>
          <p:nvPr/>
        </p:nvSpPr>
        <p:spPr>
          <a:xfrm>
            <a:off x="4646839" y="4485061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28632" y="4632468"/>
            <a:ext cx="457200" cy="670170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MI Data Label"/>
          <p:cNvSpPr txBox="1"/>
          <p:nvPr/>
        </p:nvSpPr>
        <p:spPr>
          <a:xfrm>
            <a:off x="5653768" y="4489593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+14.8%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35561" y="4715251"/>
            <a:ext cx="457200" cy="587387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MI Data Label"/>
          <p:cNvSpPr txBox="1"/>
          <p:nvPr/>
        </p:nvSpPr>
        <p:spPr>
          <a:xfrm>
            <a:off x="6660696" y="4572376"/>
            <a:ext cx="1006929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1">
                <a:solidFill>
                  <a:srgbClr val="2E2E2E"/>
                </a:solidFill>
                <a:latin typeface="Calibri"/>
              </a:rPr>
              <a:t>+12.9%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125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UAE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26054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Saudi Arabia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32982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Turkey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39911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Israel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46839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GCC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3768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South Africa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0696" y="6242060"/>
            <a:ext cx="1006929" cy="2476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Rest of MEA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15275" y="1317574"/>
            <a:ext cx="4133850" cy="5238811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48625" y="1727149"/>
            <a:ext cx="3867150" cy="4753036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chart shows Middle East &amp; Africa average pricing of key product type types in USD, harmonised across regions. Each candlestick spans the minimum-to-maximum observed price within the base year, giving a clear read of price range and market dispersion.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Wider bodies mark a larger gap between opening and closing price levels 'Sachets &amp; Stick Packs' shows the most movement (+18.0%) and 'Barrier Casings' the least (+14.5%) variability stakeholders should monitor when planning procurement or pricing.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The lower chart indexes country-level price movement to the base year, applied consistently across the horizon to strip out year-on-year inflationary volatility and reveal structural price shifts.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Country price indices diverge by up to 14.9% between 2026 and 2036: higher-priced countries start higher and grow steadily, while lower-priced countries start lower and converge, reflecting catch-up growth.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Middle East &amp; Africa Flexible Plastic Packaging Market Pricing Assessment: By Product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Average price (US$/MT) by product type, 2021 to 2036, with 2026 price index and growth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Barrier Casings command the highest 2026 price point at US$ 4,297/MT, a 67.0% premium over Sachets &amp; Stick Packs.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644652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62179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Trend by Product Type, 2021 to 2036 (US$/MT)</a:t>
            </a:r>
          </a:p>
        </p:txBody>
      </p:sp>
      <p:graphicFrame>
        <p:nvGraphicFramePr>
          <p:cNvPr id="13" name="FMI Price Chart"/>
          <p:cNvGraphicFramePr>
            <a:graphicFrameLocks noGrp="1"/>
          </p:cNvGraphicFramePr>
          <p:nvPr/>
        </p:nvGraphicFramePr>
        <p:xfrm>
          <a:off x="347472" y="1831467"/>
          <a:ext cx="6309360" cy="31821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1593723"/>
            <a:ext cx="2103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/>
            <a:r>
              <a:rPr sz="850" b="0" i="1">
                <a:solidFill>
                  <a:srgbClr val="59636E"/>
                </a:solidFill>
                <a:latin typeface="Calibri"/>
              </a:rPr>
              <a:t>Forecast period: 2026 to 2036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29715"/>
            <a:ext cx="5056632" cy="16002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575435"/>
            <a:ext cx="484632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Index vs Middle East &amp; Africa Average (= 100)</a:t>
            </a:r>
          </a:p>
        </p:txBody>
      </p:sp>
      <p:graphicFrame>
        <p:nvGraphicFramePr>
          <p:cNvPr id="17" name="FMI Open Chart"/>
          <p:cNvGraphicFramePr>
            <a:graphicFrameLocks noGrp="1"/>
          </p:cNvGraphicFramePr>
          <p:nvPr/>
        </p:nvGraphicFramePr>
        <p:xfrm>
          <a:off x="6903720" y="1785747"/>
          <a:ext cx="4965192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3203067"/>
          <a:ext cx="505663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548640"/>
                <a:gridCol w="548640"/>
                <a:gridCol w="548640"/>
                <a:gridCol w="777240"/>
                <a:gridCol w="50292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Product Type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Barrier Casings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4,182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4,297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4,787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1.09%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143.7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Rollstock Films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2,934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3,003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3,417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1.30%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100.4</a:t>
                      </a:r>
                    </a:p>
                  </a:txBody>
                  <a:tcPr marL="36576" marR="36576" marT="9144" marB="9144" anchor="ctr">
                    <a:solidFill>
                      <a:srgbClr val="F7F7F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Premade Pouches &amp; Bags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2,694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2,749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3,117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Sachets &amp; Stick Packs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2,509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2,573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2,961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1.41%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86.1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1F1F"/>
                          </a:solidFill>
                          <a:latin typeface="Calibri"/>
                        </a:rPr>
                        <a:t>Middle East &amp; Africa Average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2,923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2,990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3,394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1.27%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Hierarchy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Barrier Casings sit at the top of the 2026 price ladder at an index of 143.7, while Sachets &amp; Stick Packs trade at 86.1, which keeps the full product type spread within 67.0%.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Price Momentum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Sachets &amp; Stick Packs post the fastest price growth at a 1.41% CAGR between 2026 and 2036, compared with 1.09% for Barrier Casings.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Outlook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The Middle East &amp; Africa average price rises from US$ 2,990/MT in 2026 to US$ 3,394/MT in 2036, and the gap between the highest and lowest priced product type moves from 66.6% in 2021 to 61.7% in 2036.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Average price = market value (US$) / market volume (MT). 2021 to 2025 historical, 2026 to 2036 forecast.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Middle East &amp; Africa Flexible Plastic Packaging Market Pricing Assessment: Country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Country average price and price range across product types, 2026 (US$/MT)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81075"/>
            <a:ext cx="11640312" cy="457200"/>
          </a:xfrm>
          <a:prstGeom prst="rect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wrap="square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Israel is the most premium Middle East &amp; Africa market at US$ 3,399/MT in 2026, +13.7% above the regional average, while Turkey is the lowest priced.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29715"/>
            <a:ext cx="7543800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75435"/>
            <a:ext cx="731520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2026 Price Range Across Product Types by Country (US$/MT), Ranked by Average</a:t>
            </a:r>
          </a:p>
        </p:txBody>
      </p:sp>
      <p:graphicFrame>
        <p:nvGraphicFramePr>
          <p:cNvPr id="13" name="FMI Open Chart"/>
          <p:cNvGraphicFramePr>
            <a:graphicFrameLocks noGrp="1"/>
          </p:cNvGraphicFramePr>
          <p:nvPr/>
        </p:nvGraphicFramePr>
        <p:xfrm>
          <a:off x="347472" y="2014347"/>
          <a:ext cx="740664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1804035"/>
            <a:ext cx="7223760" cy="2190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1">
                <a:solidFill>
                  <a:srgbClr val="59636E"/>
                </a:solidFill>
                <a:latin typeface="Calibri"/>
              </a:rPr>
              <a:t>Bar spans the lowest to highest product type price in each country, read on the price index axis (Middle East &amp; Africa average = 100). Teal = above Middle East &amp; Africa average, blue = below.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529715"/>
            <a:ext cx="3959352" cy="3520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575435"/>
            <a:ext cx="3749040" cy="257175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Premium and Discount Markets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046720" y="1868043"/>
          <a:ext cx="3776472" cy="3090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86384"/>
                <a:gridCol w="658368"/>
                <a:gridCol w="914400"/>
              </a:tblGrid>
              <a:tr h="61813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Avg. 2026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2026 to 2036</a:t>
                      </a:r>
                    </a:p>
                  </a:txBody>
                  <a:tcPr marL="36576" marR="36576" marT="9144" marB="9144" anchor="ctr">
                    <a:solidFill>
                      <a:srgbClr val="0B2E4A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Israel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3,399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113.7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1.16%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South Africa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3,134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104.8</a:t>
                      </a:r>
                    </a:p>
                  </a:txBody>
                  <a:tcPr marL="36576" marR="36576" marT="9144" marB="9144" anchor="ctr">
                    <a:solidFill>
                      <a:srgbClr val="F4B18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1.39%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Saudi Arabia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2,905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97.1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61813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1F1F"/>
                          </a:solidFill>
                          <a:latin typeface="Calibri"/>
                        </a:rPr>
                        <a:t>Turkey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2,749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 marL="36576" marR="36576" marT="9144" marB="9144" anchor="ctr">
                    <a:solidFill>
                      <a:srgbClr val="9DC0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Calibri"/>
                        </a:rPr>
                        <a:t>1.28%</a:t>
                      </a:r>
                    </a:p>
                  </a:txBody>
                  <a:tcPr marL="36576" marR="36576" marT="9144" marB="9144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620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145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Country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145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Average prices across the ranked countries differ by 23.7% in 2026, from US$ 2,749/MT in Turkey to US$ 3,399/MT in Israel.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0144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4444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4969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Growth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4969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South Africa records the fastest average price growth at a 1.39% CAGR between 2026 and 2036, against 1.27% for Middle East &amp; Africa as a whole.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5968" y="5141595"/>
            <a:ext cx="3788664" cy="123444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0268" y="5265420"/>
            <a:ext cx="314325" cy="314325"/>
          </a:xfrm>
          <a:prstGeom prst="ellipse">
            <a:avLst/>
          </a:prstGeom>
          <a:solidFill>
            <a:srgbClr val="0B2E4A"/>
          </a:solidFill>
          <a:ln>
            <a:noFill/>
          </a:ln>
          <a:effectLst/>
        </p:spPr>
        <p:txBody>
          <a:bodyPr rtlCol="0" anchor="ctr" lIns="0" rIns="0" wrap="non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93" y="5227320"/>
            <a:ext cx="3198114" cy="2667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50" b="1" i="0">
                <a:solidFill>
                  <a:srgbClr val="0B2E4A"/>
                </a:solidFill>
                <a:latin typeface="Calibri"/>
              </a:rPr>
              <a:t>Mix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93" y="5503545"/>
            <a:ext cx="3198114" cy="83439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F1F1F"/>
                </a:solidFill>
                <a:latin typeface="Calibri"/>
              </a:rPr>
              <a:t>Saudi Arabia shows the widest gap between its cheapest and most expensive product type at 67.8%, so product mix shifts move its average price the most.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63843"/>
            <a:ext cx="11612880" cy="20955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59636E"/>
                </a:solidFill>
                <a:latin typeface="Calibri"/>
              </a:rPr>
              <a:t>Source: FMI analysis. Range = lowest to highest product type price in each country; ranked by average price. Other geographies grouped as 'Other' are excluded from the ranking.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Positioning &amp; 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positioning of each country on a common axis with FMI's key findings on where premiums and discounts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Average selling price and price range by region on a shared price scale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7696200" cy="5238811"/>
          </a:xfrm>
          <a:prstGeom prst="roundRect">
            <a:avLst>
              <a:gd name="adj" fmla="val 145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75057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Average Price &amp; Range by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20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44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2,013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1175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6410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2,660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143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1378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3,307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1111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346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3,954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6079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1314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4,601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10475" y="1889074"/>
            <a:ext cx="0" cy="4381561"/>
          </a:xfrm>
          <a:prstGeom prst="line">
            <a:avLst/>
          </a:prstGeom>
          <a:ln w="6350">
            <a:solidFill>
              <a:srgbClr val="E3E8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2825" y="6289685"/>
            <a:ext cx="495300" cy="11430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ctr"/>
            <a:r>
              <a:rPr sz="1100" b="0">
                <a:solidFill>
                  <a:srgbClr val="6C7A89"/>
                </a:solidFill>
                <a:latin typeface="Calibri"/>
              </a:rPr>
              <a:t>5,248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" y="2151696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UAE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1973" y="2076093"/>
            <a:ext cx="3405109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77618" y="2175509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125" y="2772191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Saudi Arabia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1205" y="2696587"/>
            <a:ext cx="3275175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29535" y="2796003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125" y="3392685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Turkey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45494" y="3317082"/>
            <a:ext cx="3055931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017830" y="3416498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125" y="4013180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Israel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1956" y="3937576"/>
            <a:ext cx="3775100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57760" y="4036992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125" y="4633674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 of GCC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6352" y="4558070"/>
            <a:ext cx="3378767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01264" y="4657487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125" y="5254169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South Africa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68616" y="5178565"/>
            <a:ext cx="3470419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88878" y="5277981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125" y="5874663"/>
            <a:ext cx="10668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1100" b="1">
                <a:solidFill>
                  <a:srgbClr val="0B2E4A"/>
                </a:solidFill>
                <a:latin typeface="Calibri"/>
              </a:rPr>
              <a:t>Rest of MEA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6667" y="5799059"/>
            <a:ext cx="3569157" cy="322657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33323" y="5898475"/>
            <a:ext cx="123825" cy="123825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62075" y="1727149"/>
            <a:ext cx="114300" cy="1143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B9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95425" y="1717624"/>
            <a:ext cx="8382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Average Price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90775" y="1736674"/>
            <a:ext cx="190500" cy="114300"/>
          </a:xfrm>
          <a:prstGeom prst="rect">
            <a:avLst/>
          </a:prstGeom>
          <a:solidFill>
            <a:srgbClr val="CFE7F5"/>
          </a:solidFill>
          <a:ln w="12700">
            <a:solidFill>
              <a:srgbClr val="7F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9375" y="1717624"/>
            <a:ext cx="800100" cy="133350"/>
          </a:xfrm>
          <a:prstGeom prst="rect">
            <a:avLst/>
          </a:prstGeom>
          <a:noFill/>
        </p:spPr>
        <p:txBody>
          <a:bodyPr wrap="square" lIns="28575" rIns="28575" tIns="9525" bIns="9525">
            <a:spAutoFit/>
          </a:bodyPr>
          <a:lstStyle/>
          <a:p>
            <a:pPr algn="l"/>
            <a:r>
              <a:rPr sz="1100" b="0">
                <a:solidFill>
                  <a:srgbClr val="2E2E2E"/>
                </a:solidFill>
                <a:latin typeface="Calibri"/>
              </a:rPr>
              <a:t>Price Range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15275" y="1317574"/>
            <a:ext cx="4133850" cy="3924545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8625" y="1403299"/>
            <a:ext cx="38671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Findings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8625" y="1641424"/>
            <a:ext cx="38671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8625" y="1727149"/>
            <a:ext cx="3867150" cy="343877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Barrier casings segment is expected to command the highest average price of US$ 4,787 per MT in 2036. Average selling price of flexible plastic packaging is estimated at US$ 2,966 per MT in 2025 and is projected to increase to US$ 3,394 per MT by 2036. Israel is the highest-priced country, while Turkey is the most price-competitive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The orange dot is each region's average selling price; the blue band is its full low-to-high price range, all derived as Value ÷ Volume. Narrow bands point to commoditised, price-led competition; wider bands flag premiumisation headroom to trade buyers up the mix.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E2E2E"/>
                </a:solidFill>
                <a:latin typeface="Calibri"/>
              </a:rPr>
              <a:t>Middle East &amp; Africa sits mid-range, at US$2,990 per MT in 2026 rising to US$3,394 in 2036, because supply relies partly on imported film and resin, while hot climates and long import chains call for higher-barrier structures. Value grows 8.3% against 6.9% in volume as retail modernisation and rising incomes raise packaging specification.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15275" y="5351641"/>
            <a:ext cx="4133850" cy="1204744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Note: the above information is indicative in nature and does not constitute any form of analysis.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Key Pricing Drivers Influencing Flexible Plastic Packaging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Analysis of input costs, market conditions and competitive forces shaping pricing strategies and 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575" rIns="28575" tIns="9525" bIns="9525"/>
          <a:lstStyle/>
          <a:p>
            <a:pPr algn="ctr"/>
            <a:r>
              <a:rPr sz="1100" b="1">
                <a:solidFill>
                  <a:srgbClr val="0B2E4A"/>
                </a:solidFill>
                <a:latin typeface="Calibri"/>
              </a:rPr>
              <a:t>Middle East &amp; Africa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007261"/>
            <a:ext cx="11906250" cy="273805"/>
          </a:xfrm>
          <a:prstGeom prst="roundRect">
            <a:avLst>
              <a:gd name="adj" fmla="val 2782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Analysis of input costs, market conditions, and competitive forces shaping pricing strategies and profitability across the value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875" y="1354081"/>
            <a:ext cx="7029450" cy="5220558"/>
          </a:xfrm>
          <a:prstGeom prst="roundRect">
            <a:avLst>
              <a:gd name="adj" fmla="val 145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125" y="1411231"/>
            <a:ext cx="68389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Impacting Factors</a:t>
            </a:r>
          </a:p>
        </p:txBody>
      </p:sp>
      <p:sp>
        <p:nvSpPr>
          <p:cNvPr id="14" name="Freeform 13"/>
          <p:cNvSpPr/>
          <p:nvPr/>
        </p:nvSpPr>
        <p:spPr>
          <a:xfrm>
            <a:off x="3295650" y="3705225"/>
            <a:ext cx="723900" cy="752475"/>
          </a:xfrm>
          <a:custGeom>
            <a:avLst/>
            <a:gdLst/>
            <a:ahLst/>
            <a:cxnLst/>
            <a:rect l="l" t="t" r="r" b="b"/>
            <a:pathLst>
              <a:path w="76" h="79">
                <a:moveTo>
                  <a:pt x="38" y="0"/>
                </a:moveTo>
                <a:lnTo>
                  <a:pt x="61" y="7"/>
                </a:lnTo>
                <a:lnTo>
                  <a:pt x="76" y="27"/>
                </a:lnTo>
                <a:lnTo>
                  <a:pt x="76" y="51"/>
                </a:lnTo>
                <a:lnTo>
                  <a:pt x="61" y="71"/>
                </a:lnTo>
                <a:lnTo>
                  <a:pt x="38" y="79"/>
                </a:lnTo>
                <a:lnTo>
                  <a:pt x="15" y="71"/>
                </a:lnTo>
                <a:lnTo>
                  <a:pt x="0" y="51"/>
                </a:lnTo>
                <a:lnTo>
                  <a:pt x="0" y="27"/>
                </a:lnTo>
                <a:lnTo>
                  <a:pt x="15" y="7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943225" y="3324225"/>
            <a:ext cx="1428750" cy="1504950"/>
          </a:xfrm>
          <a:custGeom>
            <a:avLst/>
            <a:gdLst/>
            <a:ahLst/>
            <a:cxnLst/>
            <a:rect l="l" t="t" r="r" b="b"/>
            <a:pathLst>
              <a:path w="150" h="158">
                <a:moveTo>
                  <a:pt x="75" y="0"/>
                </a:moveTo>
                <a:lnTo>
                  <a:pt x="122" y="15"/>
                </a:lnTo>
                <a:lnTo>
                  <a:pt x="150" y="55"/>
                </a:lnTo>
                <a:lnTo>
                  <a:pt x="150" y="104"/>
                </a:lnTo>
                <a:lnTo>
                  <a:pt x="122" y="143"/>
                </a:lnTo>
                <a:lnTo>
                  <a:pt x="75" y="158"/>
                </a:lnTo>
                <a:lnTo>
                  <a:pt x="28" y="143"/>
                </a:lnTo>
                <a:lnTo>
                  <a:pt x="0" y="104"/>
                </a:lnTo>
                <a:lnTo>
                  <a:pt x="0" y="55"/>
                </a:lnTo>
                <a:lnTo>
                  <a:pt x="28" y="15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581275" y="2943225"/>
            <a:ext cx="2152650" cy="2266950"/>
          </a:xfrm>
          <a:custGeom>
            <a:avLst/>
            <a:gdLst/>
            <a:ahLst/>
            <a:cxnLst/>
            <a:rect l="l" t="t" r="r" b="b"/>
            <a:pathLst>
              <a:path w="226" h="238">
                <a:moveTo>
                  <a:pt x="113" y="0"/>
                </a:moveTo>
                <a:lnTo>
                  <a:pt x="183" y="23"/>
                </a:lnTo>
                <a:lnTo>
                  <a:pt x="226" y="82"/>
                </a:lnTo>
                <a:lnTo>
                  <a:pt x="226" y="156"/>
                </a:lnTo>
                <a:lnTo>
                  <a:pt x="183" y="215"/>
                </a:lnTo>
                <a:lnTo>
                  <a:pt x="113" y="238"/>
                </a:lnTo>
                <a:lnTo>
                  <a:pt x="43" y="215"/>
                </a:lnTo>
                <a:lnTo>
                  <a:pt x="0" y="156"/>
                </a:lnTo>
                <a:lnTo>
                  <a:pt x="0" y="82"/>
                </a:lnTo>
                <a:lnTo>
                  <a:pt x="43" y="23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219325" y="2571750"/>
            <a:ext cx="2876550" cy="3019425"/>
          </a:xfrm>
          <a:custGeom>
            <a:avLst/>
            <a:gdLst/>
            <a:ahLst/>
            <a:cxnLst/>
            <a:rect l="l" t="t" r="r" b="b"/>
            <a:pathLst>
              <a:path w="302" h="317">
                <a:moveTo>
                  <a:pt x="151" y="0"/>
                </a:moveTo>
                <a:lnTo>
                  <a:pt x="244" y="30"/>
                </a:lnTo>
                <a:lnTo>
                  <a:pt x="302" y="109"/>
                </a:lnTo>
                <a:lnTo>
                  <a:pt x="302" y="207"/>
                </a:lnTo>
                <a:lnTo>
                  <a:pt x="244" y="286"/>
                </a:lnTo>
                <a:lnTo>
                  <a:pt x="151" y="317"/>
                </a:lnTo>
                <a:lnTo>
                  <a:pt x="58" y="286"/>
                </a:lnTo>
                <a:lnTo>
                  <a:pt x="0" y="207"/>
                </a:lnTo>
                <a:lnTo>
                  <a:pt x="0" y="109"/>
                </a:lnTo>
                <a:lnTo>
                  <a:pt x="58" y="30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866900" y="2190750"/>
            <a:ext cx="3581400" cy="3771900"/>
          </a:xfrm>
          <a:custGeom>
            <a:avLst/>
            <a:gdLst/>
            <a:ahLst/>
            <a:cxnLst/>
            <a:rect l="l" t="t" r="r" b="b"/>
            <a:pathLst>
              <a:path w="376" h="396">
                <a:moveTo>
                  <a:pt x="188" y="0"/>
                </a:moveTo>
                <a:lnTo>
                  <a:pt x="304" y="38"/>
                </a:lnTo>
                <a:lnTo>
                  <a:pt x="376" y="137"/>
                </a:lnTo>
                <a:lnTo>
                  <a:pt x="376" y="259"/>
                </a:lnTo>
                <a:lnTo>
                  <a:pt x="304" y="358"/>
                </a:lnTo>
                <a:lnTo>
                  <a:pt x="188" y="396"/>
                </a:lnTo>
                <a:lnTo>
                  <a:pt x="72" y="358"/>
                </a:lnTo>
                <a:lnTo>
                  <a:pt x="0" y="259"/>
                </a:lnTo>
                <a:lnTo>
                  <a:pt x="0" y="137"/>
                </a:lnTo>
                <a:lnTo>
                  <a:pt x="72" y="38"/>
                </a:lnTo>
                <a:close/>
              </a:path>
            </a:pathLst>
          </a:custGeom>
          <a:noFill/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192281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657600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57600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4078660"/>
            <a:ext cx="0" cy="1886379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48814" y="4078660"/>
            <a:ext cx="1108786" cy="152611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63547" y="4078660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863547" y="3495737"/>
            <a:ext cx="1794053" cy="582923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48814" y="2552548"/>
            <a:ext cx="1108786" cy="1526112"/>
          </a:xfrm>
          <a:prstGeom prst="line">
            <a:avLst/>
          </a:prstGeom>
          <a:ln w="9525">
            <a:solidFill>
              <a:srgbClr val="D7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495550" y="2381250"/>
            <a:ext cx="2505075" cy="3209925"/>
          </a:xfrm>
          <a:custGeom>
            <a:avLst/>
            <a:gdLst/>
            <a:ahLst/>
            <a:cxnLst/>
            <a:rect l="l" t="t" r="r" b="b"/>
            <a:pathLst>
              <a:path w="263" h="337">
                <a:moveTo>
                  <a:pt x="122" y="0"/>
                </a:moveTo>
                <a:lnTo>
                  <a:pt x="203" y="66"/>
                </a:lnTo>
                <a:lnTo>
                  <a:pt x="244" y="138"/>
                </a:lnTo>
                <a:lnTo>
                  <a:pt x="263" y="224"/>
                </a:lnTo>
                <a:lnTo>
                  <a:pt x="221" y="314"/>
                </a:lnTo>
                <a:lnTo>
                  <a:pt x="122" y="337"/>
                </a:lnTo>
                <a:lnTo>
                  <a:pt x="52" y="274"/>
                </a:lnTo>
                <a:lnTo>
                  <a:pt x="18" y="212"/>
                </a:lnTo>
                <a:lnTo>
                  <a:pt x="0" y="138"/>
                </a:lnTo>
                <a:lnTo>
                  <a:pt x="70" y="106"/>
                </a:lnTo>
                <a:close/>
              </a:path>
            </a:pathLst>
          </a:custGeom>
          <a:solidFill>
            <a:srgbClr val="2B5F8E">
              <a:alpha val="62000"/>
            </a:srgbClr>
          </a:solidFill>
          <a:ln w="27940">
            <a:solidFill>
              <a:srgbClr val="2B5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24262" y="234758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0412" y="2977044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90397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69802" y="4482515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66730" y="5342518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24262" y="5554426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58991" y="496099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37533" y="4365930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58128" y="3666423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25309" y="3358572"/>
            <a:ext cx="66675" cy="66675"/>
          </a:xfrm>
          <a:prstGeom prst="ellipse">
            <a:avLst/>
          </a:prstGeom>
          <a:solidFill>
            <a:srgbClr val="2B5F8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86175" y="3634709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6175" y="3257434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6175" y="2880158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86175" y="2502882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6175" y="2125606"/>
            <a:ext cx="285750" cy="123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00375" y="1839856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Input Cost  13.0%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32331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 10.1%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722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Technology &amp; Innovation  9.4%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3722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 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2331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 12.3%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0375" y="6031714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Competitive Landscape  11.6%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8419" y="5631427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Regulatory &amp; Compliance Costs  8.7%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7028" y="458346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Currency &amp; Trade Dynamics  8.0%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028" y="3288108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Brand &amp; Value Perception  9.4%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68419" y="2240143"/>
            <a:ext cx="1314450" cy="2857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1100" b="0">
                <a:solidFill>
                  <a:srgbClr val="2E2E2E"/>
                </a:solidFill>
                <a:latin typeface="Calibri"/>
              </a:rPr>
              <a:t>Aftermarket &amp; Service Costs  6.5%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48525" y="1354081"/>
            <a:ext cx="4800600" cy="3479443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81875" y="1439806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Key Takeaways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81875" y="1677931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81875" y="1763656"/>
            <a:ext cx="4533900" cy="2993668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Pricing across the Flexible Plastic Packaging Market is shaped by a mix of input costs, operational efficiency and market dynamics with raw-material and input costs carrying the single heaviest weight on selling prices today.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Raw-material and input costs and demand and broader market conditions are the dominant cost pressures; as they fluctuate they feed directly into prices and squeeze margins along the value chain.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intensity and supply-chain and logistics conditions are the next most influential forces helping offset cost inflation and setting how aggressively players can price without ceding share.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strength, competitive intensity and supply-chain reliability together define the ceiling on pricing power across the Flexible Plastic Packaging Market.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Regulatory, currency and brand factors add second-order effects while aftermarket and service costs exert the least pressure collectively creating a pricing balance that must be monitored to stay competitive and profitable.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8525" y="4943046"/>
            <a:ext cx="4800600" cy="1686354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1875" y="5028771"/>
            <a:ext cx="45339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Highest-Impact Drivers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81875" y="5266896"/>
            <a:ext cx="45339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1875" y="5352621"/>
            <a:ext cx="4533900" cy="1200579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Input Cost 9.0 / 10  ·  dominant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Demand &amp; Market Conditions 8.5 / 10  ·  major cost pressure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Competitive Landscape 8.0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Supply Chain &amp; Logistics 7.5 / 10  ·  key pricing lever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00" b="0">
                <a:solidFill>
                  <a:srgbClr val="2E2E2E"/>
                </a:solidFill>
                <a:latin typeface="Calibri"/>
              </a:rPr>
              <a:t>Labor &amp; Production Costs 7.0 / 10  ·  supporting factor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Factors Impacting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Factors affecting the pricing decision of the product: category, price impact, direction of pressure and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The cost, demand, efficiency and regulatory forces shaping and impacting achievable selling prices grouped by category, with each factor's direction, impact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3114675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1390650"/>
          <a:ext cx="11887199" cy="2809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1515"/>
                <a:gridCol w="2697613"/>
                <a:gridCol w="1098187"/>
                <a:gridCol w="1211368"/>
                <a:gridCol w="1098187"/>
                <a:gridCol w="322032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Category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Price Impact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Score (0–10)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How It Shapes Price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9.0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Raw-material and input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Labour and production expenses.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Cost &amp; Input Pressures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7.5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Supply-chain and logistics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and broader market conditions.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8.0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Competitive intensity.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Demand &amp; Competitive Forces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Brand strength and value perception.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Technology and process innovation.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Innovation &amp; Operating Efficiency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Aftermarket and service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6.0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 and compliance costs.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59461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Regulatory, Currency &amp; Macro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5.5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Currency and trade dynamics.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" y="4581525"/>
            <a:ext cx="11906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225" y="466725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the Factors Imply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225" y="49053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225" y="4991100"/>
            <a:ext cx="11639550" cy="147637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Input Cost and Demand &amp; Market Conditions carry the heaviest weight on selling prices (9.0 and 8.5 / 10).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8 of 10 factors exert upward pressure on price; the rest pull prices down chiefly Technology &amp; Innovation and the Competitive Landscape.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Cost-side factors set the price floor; demand, brand and competitive forces determine how much of that cost can be passed through.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Aftermarket &amp; Service Costs exerts the least pressure a second-order effect to monitor rather than actively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Regional Price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Regional price assessment across the value chain, from manufacturer to retail, and average price by geography, 2026–2036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Regional price assessment across the value chain (US$/MT) and price trajectory to 2036.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590550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Regional Price by Value-Chain Level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5886450" cy="2271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294"/>
                <a:gridCol w="1230039"/>
                <a:gridCol w="1230039"/>
                <a:gridCol w="1230039"/>
                <a:gridCol w="123003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Manufacturer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Distribution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Retail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 Margin (%)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UAE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1,601.31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2,217.20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3,079.45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Saudi Arabia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1,556.89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2,137.82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2,904.64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46%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Turkey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1,517.32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2,067.08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2,748.77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45%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Israel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1,930.75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2,610.59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3,399.20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43%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GCC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1,740.59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2,336.69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2,980.47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42%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1,880.46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2,507.29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3,134.11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40%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MEA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1,657.16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2,294.53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3,186.84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48%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855604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775" y="1317574"/>
            <a:ext cx="5848350" cy="2738055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6025" y="1374724"/>
            <a:ext cx="56578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by Geography (US$/MT)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0300" y="1574749"/>
          <a:ext cx="5829301" cy="22713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4685"/>
                <a:gridCol w="1081154"/>
                <a:gridCol w="1081154"/>
                <a:gridCol w="1081154"/>
                <a:gridCol w="108115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Geography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2029F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UAE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3,079.45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3,171.22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3,289.44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3,488.05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Saudi Arabia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2,904.64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2,995.23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3,109.58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3,303.09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Turkey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2,748.77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2,833.46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2,940.01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3,122.96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Israel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3,399.20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3,491.20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3,609.02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3,813.06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GCC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2,980.47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3,075.02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3,201.60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3,423.76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3,134.11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3,237.90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3,370.43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3,597.12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9372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MEA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3,186.84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3,283.44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3,401.65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3,599.48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76975" y="3855604"/>
            <a:ext cx="56959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" y="4201658"/>
            <a:ext cx="11906250" cy="2354727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" y="4287383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What This Section 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225" y="4525508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225" y="4611233"/>
            <a:ext cx="11639550" cy="1868952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Manufacturer-level pricing ex-works / producer price benchmarked for each geography.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Distribution &amp; channel pricing logistics and channel margin layered onto the producer price.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Retail / end-market pricing the average price paid by the end customer across geographies.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Value-chain margin build-up cumulative margin from manufacturer to retail, by geography (prices derived as Value ÷ Volume).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Middle East &amp; Africa Pricing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Benchmarking of price range by country and sub-segment against the weighted average price of each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Development-stage price assumptions and manufacturer benchmarking price range by product type type and region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4450"/>
            <a:ext cx="119062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1600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Benchmarking by Region &amp;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1625"/>
          <a:ext cx="11887202" cy="24098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577"/>
                <a:gridCol w="2149925"/>
                <a:gridCol w="2149925"/>
                <a:gridCol w="2149925"/>
                <a:gridCol w="2149925"/>
                <a:gridCol w="2149925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Region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Weighted Avg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UAE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3,051.50–3,113.14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4,368.55–4,456.81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2,802.70–2,859.32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2,623.40–2,676.40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3,079.45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Saudi Arabia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2,879.11–2,937.28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4,152.94–4,236.84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2,626.13–2,679.19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2,474.38–2,524.37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2,904.64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Turkey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2,739.72–2,795.07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3,909.52–3,988.50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2,500.99–2,551.52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2,343.33–2,390.67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2,748.77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Israel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3,377.39–3,445.62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4,845.17–4,943.06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3,107.50–3,170.28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2,910.40–2,969.20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3,399.20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GCC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2,954.07–3,013.74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4,270.17–4,356.44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2,721.86–2,776.85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2,538.52–2,589.80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2,980.47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South Africa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3,112.85–3,175.73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4,441.31–4,531.03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2,857.40–2,915.13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2,662.68–2,716.48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3,134.11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13509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Rest of MEA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3,171.17–3,235.23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4,552.41–4,644.38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2,923.59–2,982.65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2,723.19–2,778.20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3,186.84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990975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333875"/>
            <a:ext cx="119062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" y="4419600"/>
            <a:ext cx="116395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Benchmarking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65772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" y="4743450"/>
            <a:ext cx="11639550" cy="172402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On a weighted-average basis 'Israel' is the highest-priced region (~3,399.20 US$/MT) and 'Turkey' the most competitive (~2,748.77 US$/MT).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Price ranges are benchmarked per product type type at 2026, derived as Value ÷ Volume with a ±1% observed trading band.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Cross-region price dispersion of ~1.24× reflects differences in mix, logistics and channel structure.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Benchmarks support price-corridor setting and margin-defence decisions across geographies.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rIns="28575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2100" b="1">
                <a:solidFill>
                  <a:srgbClr val="000000"/>
                </a:solidFill>
                <a:latin typeface="Calibri"/>
              </a:rPr>
              <a:t>Flexible Plastic Packaging Market Price Forecast &amp;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rIns="28575" tIns="0" bIns="0" anchor="t">
            <a:spAutoFit/>
          </a:bodyPr>
          <a:lstStyle/>
          <a:p>
            <a:pPr algn="l"/>
            <a:r>
              <a:rPr sz="1400" b="0" i="1">
                <a:solidFill>
                  <a:srgbClr val="252423"/>
                </a:solidFill>
                <a:latin typeface="Calibri"/>
              </a:rPr>
              <a:t>Price forecast by sub-segment, 2026–2036, with the factors and dynamics shaping the trajectory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1007261"/>
            <a:ext cx="11906250" cy="255552"/>
          </a:xfrm>
          <a:prstGeom prst="roundRect">
            <a:avLst>
              <a:gd name="adj" fmla="val 2981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57150" bIns="57150"/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E2E2E"/>
                </a:solidFill>
                <a:latin typeface="Calibri"/>
              </a:rPr>
              <a:t>Forward price trajectory to 2036 by product type type and the structural factors shaping it (US$/MT).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1317574"/>
            <a:ext cx="11906250" cy="1971399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" y="1374724"/>
            <a:ext cx="117157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Price Forecast to 2036 by Product Type (US$/MT)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574749"/>
          <a:ext cx="11887200" cy="1504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2896"/>
                <a:gridCol w="1377384"/>
                <a:gridCol w="1377384"/>
                <a:gridCol w="1377384"/>
                <a:gridCol w="1377384"/>
                <a:gridCol w="1377384"/>
                <a:gridCol w="1377384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2028F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2030F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2032F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2034F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Rollstock Films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3,108.17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3,161.67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3,226.42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3,303.43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3,392.67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3,495.65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Barrier Casings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4,479.87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4,566.48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4,667.25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4,784.35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4,920.60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5,078.83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Premade Pouches &amp; Bags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2,854.58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2,909.21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2,975.55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3,053.51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3,143.67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3,248.16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2352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Sachets &amp; Stick Packs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2,680.36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2,726.00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2,781.36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2,847.48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2,924.65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3,014.94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088948"/>
            <a:ext cx="1175385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398495"/>
            <a:ext cx="590550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125" y="3455645"/>
            <a:ext cx="571500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2E2E"/>
                </a:solidFill>
                <a:latin typeface="Calibri"/>
              </a:rPr>
              <a:t>Factors Impacting Pricing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3655670"/>
          <a:ext cx="5886449" cy="2691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7491"/>
                <a:gridCol w="1509479"/>
                <a:gridCol w="1509479"/>
              </a:tblGrid>
              <a:tr h="215265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Pricing Factor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Direction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Impact (H/M/L)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Input Cost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Labor &amp; Production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Technology &amp; Innovation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Supply Chain &amp; Logistics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Demand &amp; Market Conditions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Competitive Landscape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E44D3A"/>
                          </a:solidFill>
                          <a:latin typeface="Calibri"/>
                        </a:rPr>
                        <a:t>▼ Downward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High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Regulatory &amp; Compliance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Currency &amp; Trade Dynamics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Brand &amp; Value Perception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Medium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247590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Aftermarket &amp; Service Costs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▲ Upward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2E2E2E"/>
                          </a:solidFill>
                          <a:latin typeface="Calibri"/>
                        </a:rPr>
                        <a:t>Low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9075" y="6356360"/>
            <a:ext cx="5753100" cy="1714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100" b="0" i="1">
                <a:solidFill>
                  <a:srgbClr val="6C7A89"/>
                </a:solidFill>
                <a:latin typeface="Calibri"/>
              </a:rPr>
              <a:t>Source: FMI Analysis,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3398495"/>
            <a:ext cx="5848350" cy="3157890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4125" y="3484220"/>
            <a:ext cx="5581650" cy="209550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Calibri"/>
              </a:rPr>
              <a:t>Pricing Dynamics &amp; Outlook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4125" y="3722345"/>
            <a:ext cx="55816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4125" y="3808070"/>
            <a:ext cx="5581650" cy="2672115"/>
          </a:xfrm>
          <a:prstGeom prst="rect">
            <a:avLst/>
          </a:prstGeom>
          <a:noFill/>
        </p:spPr>
        <p:txBody>
          <a:bodyPr wrap="square" lIns="0" rIns="19050" tIns="9525" bIns="9525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Average product type price is projected to rise from ~3,280.75 to ~3,709.40 US$/MT by 2036 a +1.2% CAGR.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'Premade Pouches &amp; Bags' shows the strongest forecast price appreciation (+13.8%) over the horizon.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Upward pressure is led by input cost and demand &amp; market conditions; efficiency and competitive intensity work the other way.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72AE"/>
                </a:solidFill>
                <a:latin typeface="Calibri"/>
              </a:rPr>
              <a:t>▪  </a:t>
            </a:r>
            <a:r>
              <a:rPr sz="1150" b="0">
                <a:solidFill>
                  <a:srgbClr val="2E2E2E"/>
                </a:solidFill>
                <a:latin typeface="Calibri"/>
              </a:rPr>
              <a:t>Net outlook: modest, structural price appreciation mix and geography will determine realised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6686550"/>
            <a:ext cx="11887200" cy="152400"/>
          </a:xfrm>
          <a:prstGeom prst="rect">
            <a:avLst/>
          </a:prstGeom>
          <a:noFill/>
        </p:spPr>
        <p:txBody>
          <a:bodyPr wrap="square" lIns="28575" rIns="28575" tIns="0" bIns="0" anchor="ctr">
            <a:spAutoFit/>
          </a:bodyPr>
          <a:lstStyle/>
          <a:p>
            <a:pPr algn="l"/>
            <a:r>
              <a:rPr sz="900" b="0">
                <a:solidFill>
                  <a:srgbClr val="58595B"/>
                </a:solidFill>
                <a:latin typeface="Calibri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D85C6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