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497" r:id="rId249"/>
    <p:sldId id="491" r:id="rId243"/>
    <p:sldId id="492" r:id="rId244"/>
    <p:sldId id="493" r:id="rId245"/>
    <p:sldId id="494" r:id="rId246"/>
    <p:sldId id="495" r:id="rId247"/>
    <p:sldId id="496" r:id="rId248"/>
    <p:sldId id="507" r:id="rId259"/>
    <p:sldId id="498" r:id="rId250"/>
    <p:sldId id="499" r:id="rId251"/>
    <p:sldId id="500" r:id="rId252"/>
    <p:sldId id="501" r:id="rId253"/>
    <p:sldId id="502" r:id="rId254"/>
    <p:sldId id="503" r:id="rId255"/>
    <p:sldId id="504" r:id="rId256"/>
    <p:sldId id="505" r:id="rId257"/>
    <p:sldId id="506" r:id="rId258"/>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slide" Target="slides/slide85.xml"/><Relationship Id="rId93" Type="http://schemas.openxmlformats.org/officeDocument/2006/relationships/slide" Target="slides/slide86.xml"/><Relationship Id="rId94" Type="http://schemas.openxmlformats.org/officeDocument/2006/relationships/slide" Target="slides/slide87.xml"/><Relationship Id="rId95" Type="http://schemas.openxmlformats.org/officeDocument/2006/relationships/slide" Target="slides/slide88.xml"/><Relationship Id="rId96" Type="http://schemas.openxmlformats.org/officeDocument/2006/relationships/slide" Target="slides/slide89.xml"/><Relationship Id="rId97" Type="http://schemas.openxmlformats.org/officeDocument/2006/relationships/slide" Target="slides/slide90.xml"/><Relationship Id="rId98" Type="http://schemas.openxmlformats.org/officeDocument/2006/relationships/slide" Target="slides/slide91.xml"/><Relationship Id="rId99" Type="http://schemas.openxmlformats.org/officeDocument/2006/relationships/slide" Target="slides/slide92.xml"/><Relationship Id="rId100" Type="http://schemas.openxmlformats.org/officeDocument/2006/relationships/slide" Target="slides/slide93.xml"/><Relationship Id="rId101" Type="http://schemas.openxmlformats.org/officeDocument/2006/relationships/slide" Target="slides/slide94.xml"/><Relationship Id="rId102" Type="http://schemas.openxmlformats.org/officeDocument/2006/relationships/slide" Target="slides/slide95.xml"/><Relationship Id="rId103" Type="http://schemas.openxmlformats.org/officeDocument/2006/relationships/slide" Target="slides/slide96.xml"/><Relationship Id="rId104" Type="http://schemas.openxmlformats.org/officeDocument/2006/relationships/slide" Target="slides/slide97.xml"/><Relationship Id="rId105" Type="http://schemas.openxmlformats.org/officeDocument/2006/relationships/slide" Target="slides/slide98.xml"/><Relationship Id="rId106" Type="http://schemas.openxmlformats.org/officeDocument/2006/relationships/slide" Target="slides/slide99.xml"/><Relationship Id="rId107" Type="http://schemas.openxmlformats.org/officeDocument/2006/relationships/slide" Target="slides/slide100.xml"/><Relationship Id="rId108" Type="http://schemas.openxmlformats.org/officeDocument/2006/relationships/slide" Target="slides/slide101.xml"/><Relationship Id="rId109" Type="http://schemas.openxmlformats.org/officeDocument/2006/relationships/slide" Target="slides/slide102.xml"/><Relationship Id="rId110" Type="http://schemas.openxmlformats.org/officeDocument/2006/relationships/slide" Target="slides/slide103.xml"/><Relationship Id="rId111" Type="http://schemas.openxmlformats.org/officeDocument/2006/relationships/slide" Target="slides/slide104.xml"/><Relationship Id="rId112" Type="http://schemas.openxmlformats.org/officeDocument/2006/relationships/slide" Target="slides/slide105.xml"/><Relationship Id="rId113" Type="http://schemas.openxmlformats.org/officeDocument/2006/relationships/slide" Target="slides/slide106.xml"/><Relationship Id="rId114" Type="http://schemas.openxmlformats.org/officeDocument/2006/relationships/slide" Target="slides/slide107.xml"/><Relationship Id="rId115" Type="http://schemas.openxmlformats.org/officeDocument/2006/relationships/slide" Target="slides/slide108.xml"/><Relationship Id="rId116" Type="http://schemas.openxmlformats.org/officeDocument/2006/relationships/slide" Target="slides/slide109.xml"/><Relationship Id="rId117" Type="http://schemas.openxmlformats.org/officeDocument/2006/relationships/slide" Target="slides/slide110.xml"/><Relationship Id="rId118" Type="http://schemas.openxmlformats.org/officeDocument/2006/relationships/slide" Target="slides/slide111.xml"/><Relationship Id="rId119" Type="http://schemas.openxmlformats.org/officeDocument/2006/relationships/slide" Target="slides/slide112.xml"/><Relationship Id="rId120" Type="http://schemas.openxmlformats.org/officeDocument/2006/relationships/slide" Target="slides/slide113.xml"/><Relationship Id="rId121" Type="http://schemas.openxmlformats.org/officeDocument/2006/relationships/slide" Target="slides/slide114.xml"/><Relationship Id="rId122" Type="http://schemas.openxmlformats.org/officeDocument/2006/relationships/slide" Target="slides/slide115.xml"/><Relationship Id="rId123" Type="http://schemas.openxmlformats.org/officeDocument/2006/relationships/slide" Target="slides/slide116.xml"/><Relationship Id="rId124" Type="http://schemas.openxmlformats.org/officeDocument/2006/relationships/slide" Target="slides/slide117.xml"/><Relationship Id="rId125" Type="http://schemas.openxmlformats.org/officeDocument/2006/relationships/slide" Target="slides/slide118.xml"/><Relationship Id="rId126" Type="http://schemas.openxmlformats.org/officeDocument/2006/relationships/slide" Target="slides/slide119.xml"/><Relationship Id="rId127" Type="http://schemas.openxmlformats.org/officeDocument/2006/relationships/slide" Target="slides/slide120.xml"/><Relationship Id="rId128" Type="http://schemas.openxmlformats.org/officeDocument/2006/relationships/slide" Target="slides/slide121.xml"/><Relationship Id="rId129" Type="http://schemas.openxmlformats.org/officeDocument/2006/relationships/slide" Target="slides/slide122.xml"/><Relationship Id="rId130" Type="http://schemas.openxmlformats.org/officeDocument/2006/relationships/slide" Target="slides/slide123.xml"/><Relationship Id="rId131" Type="http://schemas.openxmlformats.org/officeDocument/2006/relationships/slide" Target="slides/slide124.xml"/><Relationship Id="rId132" Type="http://schemas.openxmlformats.org/officeDocument/2006/relationships/slide" Target="slides/slide125.xml"/><Relationship Id="rId133" Type="http://schemas.openxmlformats.org/officeDocument/2006/relationships/slide" Target="slides/slide126.xml"/><Relationship Id="rId134" Type="http://schemas.openxmlformats.org/officeDocument/2006/relationships/slide" Target="slides/slide127.xml"/><Relationship Id="rId135" Type="http://schemas.openxmlformats.org/officeDocument/2006/relationships/slide" Target="slides/slide128.xml"/><Relationship Id="rId136" Type="http://schemas.openxmlformats.org/officeDocument/2006/relationships/slide" Target="slides/slide129.xml"/><Relationship Id="rId137" Type="http://schemas.openxmlformats.org/officeDocument/2006/relationships/slide" Target="slides/slide130.xml"/><Relationship Id="rId138" Type="http://schemas.openxmlformats.org/officeDocument/2006/relationships/slide" Target="slides/slide131.xml"/><Relationship Id="rId139" Type="http://schemas.openxmlformats.org/officeDocument/2006/relationships/slide" Target="slides/slide132.xml"/><Relationship Id="rId140" Type="http://schemas.openxmlformats.org/officeDocument/2006/relationships/slide" Target="slides/slide133.xml"/><Relationship Id="rId141" Type="http://schemas.openxmlformats.org/officeDocument/2006/relationships/slide" Target="slides/slide134.xml"/><Relationship Id="rId142" Type="http://schemas.openxmlformats.org/officeDocument/2006/relationships/slide" Target="slides/slide135.xml"/><Relationship Id="rId143" Type="http://schemas.openxmlformats.org/officeDocument/2006/relationships/slide" Target="slides/slide136.xml"/><Relationship Id="rId144" Type="http://schemas.openxmlformats.org/officeDocument/2006/relationships/slide" Target="slides/slide137.xml"/><Relationship Id="rId145" Type="http://schemas.openxmlformats.org/officeDocument/2006/relationships/slide" Target="slides/slide138.xml"/><Relationship Id="rId146" Type="http://schemas.openxmlformats.org/officeDocument/2006/relationships/slide" Target="slides/slide139.xml"/><Relationship Id="rId147" Type="http://schemas.openxmlformats.org/officeDocument/2006/relationships/slide" Target="slides/slide140.xml"/><Relationship Id="rId148" Type="http://schemas.openxmlformats.org/officeDocument/2006/relationships/slide" Target="slides/slide141.xml"/><Relationship Id="rId149" Type="http://schemas.openxmlformats.org/officeDocument/2006/relationships/slide" Target="slides/slide142.xml"/><Relationship Id="rId150" Type="http://schemas.openxmlformats.org/officeDocument/2006/relationships/slide" Target="slides/slide143.xml"/><Relationship Id="rId151" Type="http://schemas.openxmlformats.org/officeDocument/2006/relationships/slide" Target="slides/slide144.xml"/><Relationship Id="rId152" Type="http://schemas.openxmlformats.org/officeDocument/2006/relationships/slide" Target="slides/slide145.xml"/><Relationship Id="rId153" Type="http://schemas.openxmlformats.org/officeDocument/2006/relationships/slide" Target="slides/slide146.xml"/><Relationship Id="rId154" Type="http://schemas.openxmlformats.org/officeDocument/2006/relationships/slide" Target="slides/slide147.xml"/><Relationship Id="rId155" Type="http://schemas.openxmlformats.org/officeDocument/2006/relationships/slide" Target="slides/slide148.xml"/><Relationship Id="rId156" Type="http://schemas.openxmlformats.org/officeDocument/2006/relationships/slide" Target="slides/slide149.xml"/><Relationship Id="rId157" Type="http://schemas.openxmlformats.org/officeDocument/2006/relationships/slide" Target="slides/slide150.xml"/><Relationship Id="rId158" Type="http://schemas.openxmlformats.org/officeDocument/2006/relationships/slide" Target="slides/slide151.xml"/><Relationship Id="rId159" Type="http://schemas.openxmlformats.org/officeDocument/2006/relationships/slide" Target="slides/slide152.xml"/><Relationship Id="rId160" Type="http://schemas.openxmlformats.org/officeDocument/2006/relationships/slide" Target="slides/slide153.xml"/><Relationship Id="rId161" Type="http://schemas.openxmlformats.org/officeDocument/2006/relationships/slide" Target="slides/slide154.xml"/><Relationship Id="rId162" Type="http://schemas.openxmlformats.org/officeDocument/2006/relationships/slide" Target="slides/slide155.xml"/><Relationship Id="rId163" Type="http://schemas.openxmlformats.org/officeDocument/2006/relationships/slide" Target="slides/slide156.xml"/><Relationship Id="rId164" Type="http://schemas.openxmlformats.org/officeDocument/2006/relationships/slide" Target="slides/slide157.xml"/><Relationship Id="rId165" Type="http://schemas.openxmlformats.org/officeDocument/2006/relationships/slide" Target="slides/slide158.xml"/><Relationship Id="rId166" Type="http://schemas.openxmlformats.org/officeDocument/2006/relationships/slide" Target="slides/slide159.xml"/><Relationship Id="rId167" Type="http://schemas.openxmlformats.org/officeDocument/2006/relationships/slide" Target="slides/slide160.xml"/><Relationship Id="rId168" Type="http://schemas.openxmlformats.org/officeDocument/2006/relationships/slide" Target="slides/slide161.xml"/><Relationship Id="rId169" Type="http://schemas.openxmlformats.org/officeDocument/2006/relationships/slide" Target="slides/slide162.xml"/><Relationship Id="rId170" Type="http://schemas.openxmlformats.org/officeDocument/2006/relationships/slide" Target="slides/slide163.xml"/><Relationship Id="rId171" Type="http://schemas.openxmlformats.org/officeDocument/2006/relationships/slide" Target="slides/slide164.xml"/><Relationship Id="rId172" Type="http://schemas.openxmlformats.org/officeDocument/2006/relationships/slide" Target="slides/slide165.xml"/><Relationship Id="rId173" Type="http://schemas.openxmlformats.org/officeDocument/2006/relationships/slide" Target="slides/slide166.xml"/><Relationship Id="rId174" Type="http://schemas.openxmlformats.org/officeDocument/2006/relationships/slide" Target="slides/slide167.xml"/><Relationship Id="rId175" Type="http://schemas.openxmlformats.org/officeDocument/2006/relationships/slide" Target="slides/slide168.xml"/><Relationship Id="rId176" Type="http://schemas.openxmlformats.org/officeDocument/2006/relationships/slide" Target="slides/slide169.xml"/><Relationship Id="rId177" Type="http://schemas.openxmlformats.org/officeDocument/2006/relationships/slide" Target="slides/slide170.xml"/><Relationship Id="rId178" Type="http://schemas.openxmlformats.org/officeDocument/2006/relationships/slide" Target="slides/slide171.xml"/><Relationship Id="rId179" Type="http://schemas.openxmlformats.org/officeDocument/2006/relationships/slide" Target="slides/slide172.xml"/><Relationship Id="rId180" Type="http://schemas.openxmlformats.org/officeDocument/2006/relationships/slide" Target="slides/slide173.xml"/><Relationship Id="rId181" Type="http://schemas.openxmlformats.org/officeDocument/2006/relationships/slide" Target="slides/slide174.xml"/><Relationship Id="rId182" Type="http://schemas.openxmlformats.org/officeDocument/2006/relationships/slide" Target="slides/slide175.xml"/><Relationship Id="rId183" Type="http://schemas.openxmlformats.org/officeDocument/2006/relationships/slide" Target="slides/slide176.xml"/><Relationship Id="rId184" Type="http://schemas.openxmlformats.org/officeDocument/2006/relationships/slide" Target="slides/slide177.xml"/><Relationship Id="rId185" Type="http://schemas.openxmlformats.org/officeDocument/2006/relationships/slide" Target="slides/slide178.xml"/><Relationship Id="rId186" Type="http://schemas.openxmlformats.org/officeDocument/2006/relationships/slide" Target="slides/slide179.xml"/><Relationship Id="rId187" Type="http://schemas.openxmlformats.org/officeDocument/2006/relationships/slide" Target="slides/slide180.xml"/><Relationship Id="rId188" Type="http://schemas.openxmlformats.org/officeDocument/2006/relationships/slide" Target="slides/slide181.xml"/><Relationship Id="rId189" Type="http://schemas.openxmlformats.org/officeDocument/2006/relationships/slide" Target="slides/slide182.xml"/><Relationship Id="rId190" Type="http://schemas.openxmlformats.org/officeDocument/2006/relationships/slide" Target="slides/slide183.xml"/><Relationship Id="rId191" Type="http://schemas.openxmlformats.org/officeDocument/2006/relationships/slide" Target="slides/slide184.xml"/><Relationship Id="rId192" Type="http://schemas.openxmlformats.org/officeDocument/2006/relationships/slide" Target="slides/slide185.xml"/><Relationship Id="rId193" Type="http://schemas.openxmlformats.org/officeDocument/2006/relationships/slide" Target="slides/slide186.xml"/><Relationship Id="rId194" Type="http://schemas.openxmlformats.org/officeDocument/2006/relationships/slide" Target="slides/slide187.xml"/><Relationship Id="rId195" Type="http://schemas.openxmlformats.org/officeDocument/2006/relationships/slide" Target="slides/slide188.xml"/><Relationship Id="rId196" Type="http://schemas.openxmlformats.org/officeDocument/2006/relationships/slide" Target="slides/slide189.xml"/><Relationship Id="rId197" Type="http://schemas.openxmlformats.org/officeDocument/2006/relationships/slide" Target="slides/slide190.xml"/><Relationship Id="rId198" Type="http://schemas.openxmlformats.org/officeDocument/2006/relationships/slide" Target="slides/slide191.xml"/><Relationship Id="rId199" Type="http://schemas.openxmlformats.org/officeDocument/2006/relationships/slide" Target="slides/slide192.xml"/><Relationship Id="rId200" Type="http://schemas.openxmlformats.org/officeDocument/2006/relationships/slide" Target="slides/slide193.xml"/><Relationship Id="rId201" Type="http://schemas.openxmlformats.org/officeDocument/2006/relationships/slide" Target="slides/slide194.xml"/><Relationship Id="rId202" Type="http://schemas.openxmlformats.org/officeDocument/2006/relationships/slide" Target="slides/slide195.xml"/><Relationship Id="rId203" Type="http://schemas.openxmlformats.org/officeDocument/2006/relationships/slide" Target="slides/slide196.xml"/><Relationship Id="rId204" Type="http://schemas.openxmlformats.org/officeDocument/2006/relationships/slide" Target="slides/slide197.xml"/><Relationship Id="rId205" Type="http://schemas.openxmlformats.org/officeDocument/2006/relationships/slide" Target="slides/slide198.xml"/><Relationship Id="rId206" Type="http://schemas.openxmlformats.org/officeDocument/2006/relationships/slide" Target="slides/slide199.xml"/><Relationship Id="rId207" Type="http://schemas.openxmlformats.org/officeDocument/2006/relationships/slide" Target="slides/slide200.xml"/><Relationship Id="rId208" Type="http://schemas.openxmlformats.org/officeDocument/2006/relationships/slide" Target="slides/slide201.xml"/><Relationship Id="rId209" Type="http://schemas.openxmlformats.org/officeDocument/2006/relationships/slide" Target="slides/slide202.xml"/><Relationship Id="rId210" Type="http://schemas.openxmlformats.org/officeDocument/2006/relationships/slide" Target="slides/slide203.xml"/><Relationship Id="rId211" Type="http://schemas.openxmlformats.org/officeDocument/2006/relationships/slide" Target="slides/slide204.xml"/><Relationship Id="rId212" Type="http://schemas.openxmlformats.org/officeDocument/2006/relationships/slide" Target="slides/slide205.xml"/><Relationship Id="rId213" Type="http://schemas.openxmlformats.org/officeDocument/2006/relationships/slide" Target="slides/slide206.xml"/><Relationship Id="rId214" Type="http://schemas.openxmlformats.org/officeDocument/2006/relationships/slide" Target="slides/slide207.xml"/><Relationship Id="rId215" Type="http://schemas.openxmlformats.org/officeDocument/2006/relationships/slide" Target="slides/slide208.xml"/><Relationship Id="rId216" Type="http://schemas.openxmlformats.org/officeDocument/2006/relationships/slide" Target="slides/slide209.xml"/><Relationship Id="rId217" Type="http://schemas.openxmlformats.org/officeDocument/2006/relationships/slide" Target="slides/slide210.xml"/><Relationship Id="rId218" Type="http://schemas.openxmlformats.org/officeDocument/2006/relationships/slide" Target="slides/slide211.xml"/><Relationship Id="rId219" Type="http://schemas.openxmlformats.org/officeDocument/2006/relationships/slide" Target="slides/slide212.xml"/><Relationship Id="rId220" Type="http://schemas.openxmlformats.org/officeDocument/2006/relationships/slide" Target="slides/slide213.xml"/><Relationship Id="rId221" Type="http://schemas.openxmlformats.org/officeDocument/2006/relationships/slide" Target="slides/slide214.xml"/><Relationship Id="rId222" Type="http://schemas.openxmlformats.org/officeDocument/2006/relationships/slide" Target="slides/slide215.xml"/><Relationship Id="rId223" Type="http://schemas.openxmlformats.org/officeDocument/2006/relationships/slide" Target="slides/slide216.xml"/><Relationship Id="rId224" Type="http://schemas.openxmlformats.org/officeDocument/2006/relationships/slide" Target="slides/slide217.xml"/><Relationship Id="rId225" Type="http://schemas.openxmlformats.org/officeDocument/2006/relationships/slide" Target="slides/slide218.xml"/><Relationship Id="rId226" Type="http://schemas.openxmlformats.org/officeDocument/2006/relationships/slide" Target="slides/slide219.xml"/><Relationship Id="rId227" Type="http://schemas.openxmlformats.org/officeDocument/2006/relationships/slide" Target="slides/slide220.xml"/><Relationship Id="rId228" Type="http://schemas.openxmlformats.org/officeDocument/2006/relationships/slide" Target="slides/slide221.xml"/><Relationship Id="rId229" Type="http://schemas.openxmlformats.org/officeDocument/2006/relationships/slide" Target="slides/slide222.xml"/><Relationship Id="rId230" Type="http://schemas.openxmlformats.org/officeDocument/2006/relationships/slide" Target="slides/slide223.xml"/><Relationship Id="rId231" Type="http://schemas.openxmlformats.org/officeDocument/2006/relationships/slide" Target="slides/slide224.xml"/><Relationship Id="rId232" Type="http://schemas.openxmlformats.org/officeDocument/2006/relationships/slide" Target="slides/slide225.xml"/><Relationship Id="rId233" Type="http://schemas.openxmlformats.org/officeDocument/2006/relationships/slide" Target="slides/slide226.xml"/><Relationship Id="rId234" Type="http://schemas.openxmlformats.org/officeDocument/2006/relationships/slide" Target="slides/slide227.xml"/><Relationship Id="rId235" Type="http://schemas.openxmlformats.org/officeDocument/2006/relationships/slide" Target="slides/slide228.xml"/><Relationship Id="rId236" Type="http://schemas.openxmlformats.org/officeDocument/2006/relationships/slide" Target="slides/slide229.xml"/><Relationship Id="rId237" Type="http://schemas.openxmlformats.org/officeDocument/2006/relationships/slide" Target="slides/slide230.xml"/><Relationship Id="rId238" Type="http://schemas.openxmlformats.org/officeDocument/2006/relationships/slide" Target="slides/slide231.xml"/><Relationship Id="rId239" Type="http://schemas.openxmlformats.org/officeDocument/2006/relationships/slide" Target="slides/slide232.xml"/><Relationship Id="rId240" Type="http://schemas.openxmlformats.org/officeDocument/2006/relationships/slide" Target="slides/slide233.xml"/><Relationship Id="rId241" Type="http://schemas.openxmlformats.org/officeDocument/2006/relationships/slide" Target="slides/slide234.xml"/><Relationship Id="rId242" Type="http://schemas.openxmlformats.org/officeDocument/2006/relationships/slide" Target="slides/slide235.xml"/><Relationship Id="rId243" Type="http://schemas.openxmlformats.org/officeDocument/2006/relationships/slide" Target="slides/slide236.xml"/><Relationship Id="rId244" Type="http://schemas.openxmlformats.org/officeDocument/2006/relationships/slide" Target="slides/slide237.xml"/><Relationship Id="rId245" Type="http://schemas.openxmlformats.org/officeDocument/2006/relationships/slide" Target="slides/slide238.xml"/><Relationship Id="rId246" Type="http://schemas.openxmlformats.org/officeDocument/2006/relationships/slide" Target="slides/slide239.xml"/><Relationship Id="rId247" Type="http://schemas.openxmlformats.org/officeDocument/2006/relationships/slide" Target="slides/slide240.xml"/><Relationship Id="rId248" Type="http://schemas.openxmlformats.org/officeDocument/2006/relationships/slide" Target="slides/slide241.xml"/><Relationship Id="rId249" Type="http://schemas.openxmlformats.org/officeDocument/2006/relationships/slide" Target="slides/slide242.xml"/><Relationship Id="rId250" Type="http://schemas.openxmlformats.org/officeDocument/2006/relationships/slide" Target="slides/slide243.xml"/><Relationship Id="rId251" Type="http://schemas.openxmlformats.org/officeDocument/2006/relationships/slide" Target="slides/slide244.xml"/><Relationship Id="rId252" Type="http://schemas.openxmlformats.org/officeDocument/2006/relationships/slide" Target="slides/slide245.xml"/><Relationship Id="rId253" Type="http://schemas.openxmlformats.org/officeDocument/2006/relationships/slide" Target="slides/slide246.xml"/><Relationship Id="rId254" Type="http://schemas.openxmlformats.org/officeDocument/2006/relationships/slide" Target="slides/slide247.xml"/><Relationship Id="rId255" Type="http://schemas.openxmlformats.org/officeDocument/2006/relationships/slide" Target="slides/slide248.xml"/><Relationship Id="rId256" Type="http://schemas.openxmlformats.org/officeDocument/2006/relationships/slide" Target="slides/slide249.xml"/><Relationship Id="rId257" Type="http://schemas.openxmlformats.org/officeDocument/2006/relationships/slide" Target="slides/slide250.xml"/><Relationship Id="rId258" Type="http://schemas.openxmlformats.org/officeDocument/2006/relationships/slide" Target="slides/slide251.xml"/><Relationship Id="rId259" Type="http://schemas.openxmlformats.org/officeDocument/2006/relationships/slide" Target="slides/slide252.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Sheet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Sheet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Sheet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Sheet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Sheet19.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Sheet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Sheet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Sheet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29.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Sheet33.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Sheet34.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Sheet35.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Sheet37.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Sheet38.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Sheet39.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Sheet40.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Sheet41.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Sheet42.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Sheet43.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Sheet44.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Sheet45.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Sheet46.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Sheet47.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Sheet48.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Sheet49.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Sheet50.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Sheet51.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Sheet52.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Sheet53.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Sheet54.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Sheet55.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Sheet56.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Sheet57.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Sheet58.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Sheet59.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Sheet60.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Sheet61.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Sheet62.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Sheet63.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Sheet64.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Sheet65.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Sheet66.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Sheet67.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Sheet68.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Sheet69.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Sheet70.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Sheet71.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Sheet72.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Sheet73.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Sheet74.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Sheet75.xlsx"/></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Sheet76.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Sheet77.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Sheet78.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Sheet79.xlsx"/></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Sheet80.xlsx"/></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Sheet81.xlsx"/></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Sheet82.xlsx"/></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Sheet83.xlsx"/></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Sheet84.xlsx"/></Relationships>
</file>

<file path=ppt/charts/_rels/chart85.xml.rels><?xml version='1.0' encoding='UTF-8' standalone='yes'?>
<Relationships xmlns="http://schemas.openxmlformats.org/package/2006/relationships"><Relationship Id="rId1" Type="http://schemas.openxmlformats.org/officeDocument/2006/relationships/package" Target="../embeddings/Microsoft_Excel_Sheet85.xlsx"/></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Sheet86.xlsx"/></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Sheet87.xlsx"/></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Sheet88.xlsx"/></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Sheet89.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Sheet90.xlsx"/></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Sheet91.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Sheet92.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Sheet93.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Sheet94.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Sheet95.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Sheet96.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Sheet97.xlsx"/></Relationships>
</file>

<file path=ppt/charts/_rels/chart98.xml.rels><?xml version='1.0' encoding='UTF-8' standalone='yes'?>
<Relationships xmlns="http://schemas.openxmlformats.org/package/2006/relationships"><Relationship Id="rId1" Type="http://schemas.openxmlformats.org/officeDocument/2006/relationships/package" Target="../embeddings/Microsoft_Excel_Sheet98.xlsx"/></Relationships>
</file>

<file path=ppt/charts/_rels/chart99.xml.rels><?xml version='1.0' encoding='UTF-8' standalone='yes'?>
<Relationships xmlns="http://schemas.openxmlformats.org/package/2006/relationships"><Relationship Id="rId1" Type="http://schemas.openxmlformats.org/officeDocument/2006/relationships/package" Target="../embeddings/Microsoft_Excel_Sheet99.xlsx"/></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Excel_Sheet100.xlsx"/></Relationships>
</file>

<file path=ppt/charts/_rels/chart101.xml.rels><?xml version='1.0' encoding='UTF-8' standalone='yes'?>
<Relationships xmlns="http://schemas.openxmlformats.org/package/2006/relationships"><Relationship Id="rId1" Type="http://schemas.openxmlformats.org/officeDocument/2006/relationships/package" Target="../embeddings/Microsoft_Excel_Sheet101.xlsx"/></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Excel_Sheet102.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Sheet103.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Sheet104.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Sheet105.xlsx"/></Relationships>
</file>

<file path=ppt/charts/_rels/chart106.xml.rels><?xml version='1.0' encoding='UTF-8' standalone='yes'?>
<Relationships xmlns="http://schemas.openxmlformats.org/package/2006/relationships"><Relationship Id="rId1" Type="http://schemas.openxmlformats.org/officeDocument/2006/relationships/package" Target="../embeddings/Microsoft_Excel_Sheet106.xlsx"/></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Sheet107.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Sheet108.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Sheet109.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Sheet110.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Sheet111.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Sheet112.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Sheet113.xlsx"/></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Sheet114.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Sheet115.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Sheet116.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Sheet117.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Sheet118.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Excel_Sheet119.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Sheet120.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Sheet121.xlsx"/></Relationships>
</file>

<file path=ppt/charts/_rels/chart122.xml.rels><?xml version='1.0' encoding='UTF-8' standalone='yes'?>
<Relationships xmlns="http://schemas.openxmlformats.org/package/2006/relationships"><Relationship Id="rId1" Type="http://schemas.openxmlformats.org/officeDocument/2006/relationships/package" Target="../embeddings/Microsoft_Excel_Sheet122.xlsx"/></Relationships>
</file>

<file path=ppt/charts/_rels/chart123.xml.rels><?xml version='1.0' encoding='UTF-8' standalone='yes'?>
<Relationships xmlns="http://schemas.openxmlformats.org/package/2006/relationships"><Relationship Id="rId1" Type="http://schemas.openxmlformats.org/officeDocument/2006/relationships/package" Target="../embeddings/Microsoft_Excel_Sheet123.xlsx"/></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Excel_Sheet124.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Sheet125.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Excel_Sheet126.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Sheet127.xlsx"/></Relationships>
</file>

<file path=ppt/charts/_rels/chart128.xml.rels><?xml version='1.0' encoding='UTF-8' standalone='yes'?>
<Relationships xmlns="http://schemas.openxmlformats.org/package/2006/relationships"><Relationship Id="rId1" Type="http://schemas.openxmlformats.org/officeDocument/2006/relationships/package" Target="../embeddings/Microsoft_Excel_Sheet128.xlsx"/></Relationships>
</file>

<file path=ppt/charts/_rels/chart129.xml.rels><?xml version='1.0' encoding='UTF-8' standalone='yes'?>
<Relationships xmlns="http://schemas.openxmlformats.org/package/2006/relationships"><Relationship Id="rId1" Type="http://schemas.openxmlformats.org/officeDocument/2006/relationships/package" Target="../embeddings/Microsoft_Excel_Sheet129.xlsx"/></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Sheet130.xlsx"/></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Sheet131.xlsx"/></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Sheet132.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Sheet133.xlsx"/></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Sheet134.xlsx"/></Relationships>
</file>

<file path=ppt/charts/_rels/chart135.xml.rels><?xml version='1.0' encoding='UTF-8' standalone='yes'?>
<Relationships xmlns="http://schemas.openxmlformats.org/package/2006/relationships"><Relationship Id="rId1" Type="http://schemas.openxmlformats.org/officeDocument/2006/relationships/package" Target="../embeddings/Microsoft_Excel_Sheet135.xlsx"/></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Sheet136.xlsx"/></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Sheet137.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Sheet138.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Sheet139.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Excel_Sheet140.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Sheet141.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Excel_Sheet142.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Excel_Sheet143.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Sheet144.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Excel_Sheet145.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4.070094359475784</c:v>
                </c:pt>
                <c:pt idx="1">
                  <c:v>5.0179156323661545</c:v>
                </c:pt>
                <c:pt idx="2">
                  <c:v>4.701019924592353</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623648634723324"/>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9963.726999999999</c:v>
                </c:pt>
                <c:pt idx="2">
                  <c:v>0.0</c:v>
                </c:pt>
                <c:pt idx="3">
                  <c:v>12163.304</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9963.726999999999</c:v>
                </c:pt>
                <c:pt idx="1">
                  <c:v>2199.577000000001</c:v>
                </c:pt>
                <c:pt idx="2">
                  <c:v>12163.304</c:v>
                </c:pt>
                <c:pt idx="3">
                  <c:v>7683.268</c:v>
                </c:pt>
                <c:pt idx="4">
                  <c:v>19846.572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4.503464195083362</c:v>
                </c:pt>
                <c:pt idx="1">
                  <c:v>6.379477948898282</c:v>
                </c:pt>
                <c:pt idx="2">
                  <c:v>5.750427619924681</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420910892545733"/>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27546.573</c:v>
                </c:pt>
                <c:pt idx="2">
                  <c:v>0.0</c:v>
                </c:pt>
                <c:pt idx="3">
                  <c:v>34333.732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27546.573</c:v>
                </c:pt>
                <c:pt idx="1">
                  <c:v>6787.159000000003</c:v>
                </c:pt>
                <c:pt idx="2">
                  <c:v>34333.732</c:v>
                </c:pt>
                <c:pt idx="3">
                  <c:v>29389.759</c:v>
                </c:pt>
                <c:pt idx="4">
                  <c:v>63723.491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27546.573</c:v>
                </c:pt>
                <c:pt idx="1">
                  <c:v>28682.06</c:v>
                </c:pt>
                <c:pt idx="2">
                  <c:v>29896.445</c:v>
                </c:pt>
                <c:pt idx="3">
                  <c:v>31216.079</c:v>
                </c:pt>
                <c:pt idx="4">
                  <c:v>32642.998</c:v>
                </c:pt>
              </c:numCache>
            </c:numRef>
          </c:val>
        </c:ser>
        <c:gapWidth val="50"/>
        <c:axId val="-2068027336"/>
        <c:axId val="-2113994440"/>
      </c:barChart>
      <c:barChart>
        <c:barDir val="col"/>
        <c:grouping val="clustered"/>
        <c:varyColors val="0"/>
        <c:ser>
          <c:idx val="1"/>
          <c:order val="1"/>
          <c:tx>
            <c:strRef>
              <c:f>Sheet1!$C$1</c:f>
              <c:strCache>
                <c:ptCount val="1"/>
                <c:pt idx="0">
                  <c:v>Volume (Thousand MT)</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9963.726999999999</c:v>
                </c:pt>
                <c:pt idx="1">
                  <c:v>10349.391000000001</c:v>
                </c:pt>
                <c:pt idx="2">
                  <c:v>10757.242</c:v>
                </c:pt>
                <c:pt idx="3">
                  <c:v>11191.285</c:v>
                </c:pt>
                <c:pt idx="4">
                  <c:v>11656.096</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38519"/>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5832"/>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34333.732</c:v>
                </c:pt>
                <c:pt idx="1">
                  <c:v>36209.12899999999</c:v>
                </c:pt>
                <c:pt idx="2">
                  <c:v>38289.632000000005</c:v>
                </c:pt>
                <c:pt idx="3">
                  <c:v>40591.606999999996</c:v>
                </c:pt>
                <c:pt idx="4">
                  <c:v>43149.37</c:v>
                </c:pt>
                <c:pt idx="5">
                  <c:v>45971.029</c:v>
                </c:pt>
                <c:pt idx="6">
                  <c:v>49058.715</c:v>
                </c:pt>
                <c:pt idx="7">
                  <c:v>52390.462999999996</c:v>
                </c:pt>
                <c:pt idx="8">
                  <c:v>55955.026999999995</c:v>
                </c:pt>
                <c:pt idx="9">
                  <c:v>59731.859000000004</c:v>
                </c:pt>
                <c:pt idx="10">
                  <c:v>63723.491</c:v>
                </c:pt>
              </c:numCache>
            </c:numRef>
          </c:val>
        </c:ser>
        <c:gapWidth val="50"/>
        <c:axId val="-2068027336"/>
        <c:axId val="-2113994440"/>
      </c:barChart>
      <c:barChart>
        <c:barDir val="col"/>
        <c:grouping val="clustered"/>
        <c:varyColors val="0"/>
        <c:ser>
          <c:idx val="1"/>
          <c:order val="1"/>
          <c:tx>
            <c:strRef>
              <c:f>Sheet1!$C$1</c:f>
              <c:strCache>
                <c:ptCount val="1"/>
                <c:pt idx="0">
                  <c:v>Volume (Thousand MT)</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12163.304</c:v>
                </c:pt>
                <c:pt idx="1">
                  <c:v>12715.045</c:v>
                </c:pt>
                <c:pt idx="2">
                  <c:v>13314.570999999998</c:v>
                </c:pt>
                <c:pt idx="3">
                  <c:v>13964.859</c:v>
                </c:pt>
                <c:pt idx="4">
                  <c:v>14672.091</c:v>
                </c:pt>
                <c:pt idx="5">
                  <c:v>15436.327000000001</c:v>
                </c:pt>
                <c:pt idx="6">
                  <c:v>16253.839000000002</c:v>
                </c:pt>
                <c:pt idx="7">
                  <c:v>17113.233</c:v>
                </c:pt>
                <c:pt idx="8">
                  <c:v>18005.708</c:v>
                </c:pt>
                <c:pt idx="9">
                  <c:v>18917.416</c:v>
                </c:pt>
                <c:pt idx="10">
                  <c:v>19846.572</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75194"/>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30271"/>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Sheet1!$A$2:$A$4</c:f>
              <c:strCache>
                <c:ptCount val="3"/>
                <c:pt idx="0">
                  <c:v>Japan</c:v>
                </c:pt>
                <c:pt idx="1">
                  <c:v>China</c:v>
                </c:pt>
                <c:pt idx="2">
                  <c:v>South Korea</c:v>
                </c:pt>
              </c:strCache>
            </c:strRef>
          </c:cat>
          <c:val>
            <c:numRef>
              <c:f>Sheet1!$B$2:$B$4</c:f>
              <c:numCache>
                <c:formatCode>General</c:formatCode>
                <c:ptCount val="3"/>
                <c:pt idx="0">
                  <c:v>86.24812295616576</c:v>
                </c:pt>
                <c:pt idx="1">
                  <c:v>101.71007177321056</c:v>
                </c:pt>
                <c:pt idx="2">
                  <c:v>115.08584235756337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Sheet1!$A$2:$A$4</c:f>
              <c:strCache>
                <c:ptCount val="3"/>
                <c:pt idx="0">
                  <c:v>South Korea</c:v>
                </c:pt>
                <c:pt idx="1">
                  <c:v>Japan</c:v>
                </c:pt>
                <c:pt idx="2">
                  <c:v>China</c:v>
                </c:pt>
              </c:strCache>
            </c:strRef>
          </c:cat>
          <c:val>
            <c:numRef>
              <c:f>Sheet1!$B$2:$B$4</c:f>
              <c:numCache>
                <c:formatCode>General</c:formatCode>
                <c:ptCount val="3"/>
                <c:pt idx="0">
                  <c:v>13.988947646695573</c:v>
                </c:pt>
                <c:pt idx="1">
                  <c:v>18.4870655114933</c:v>
                </c:pt>
                <c:pt idx="2">
                  <c:v>67.52398003671959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tx>
                <c:rich>
                  <a:bodyPr/>
                  <a:lstStyle/>
                  <a:p>
                    <a:pPr>
                      <a:defRPr sz="1100" b="1">
                        <a:solidFill>
                          <a:srgbClr val="FFFFFF"/>
                        </a:solidFill>
                        <a:latin typeface="Calibri"/>
                      </a:defRPr>
                    </a:pPr>
                    <a:r>
                      <a:t>53.7%</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10.8%</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29.0%</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6.5%</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Rollstock Films</c:v>
                </c:pt>
                <c:pt idx="1">
                  <c:v>Barrier Casings</c:v>
                </c:pt>
                <c:pt idx="2">
                  <c:v>Premade Pouches &amp; Bags</c:v>
                </c:pt>
                <c:pt idx="3">
                  <c:v>Sachets &amp; Stick Packs</c:v>
                </c:pt>
              </c:strCache>
            </c:strRef>
          </c:cat>
          <c:val>
            <c:numRef>
              <c:f>Sheet1!$B$2:$B$5</c:f>
              <c:numCache>
                <c:formatCode>General</c:formatCode>
                <c:ptCount val="4"/>
                <c:pt idx="0">
                  <c:v>34249.245</c:v>
                </c:pt>
                <c:pt idx="1">
                  <c:v>6870.709000000001</c:v>
                </c:pt>
                <c:pt idx="2">
                  <c:v>18491.685999999998</c:v>
                </c:pt>
                <c:pt idx="3">
                  <c:v>4111.851000000001</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0.08555077660283932</c:v>
                </c:pt>
                <c:pt idx="1">
                  <c:v>0.0832844646518048</c:v>
                </c:pt>
                <c:pt idx="2">
                  <c:v>0.08097839284198018</c:v>
                </c:pt>
                <c:pt idx="3">
                  <c:v>0.07843376187941509</c:v>
                </c:pt>
                <c:pt idx="4">
                  <c:v>0.07711600655951532</c:v>
                </c:pt>
                <c:pt idx="5">
                  <c:v>0.07705352678141662</c:v>
                </c:pt>
                <c:pt idx="6">
                  <c:v>0.07761016480447773</c:v>
                </c:pt>
                <c:pt idx="7">
                  <c:v>0.07746248532897172</c:v>
                </c:pt>
                <c:pt idx="8">
                  <c:v>0.07610497015028186</c:v>
                </c:pt>
                <c:pt idx="9">
                  <c:v>0.07480425476986356</c:v>
                </c:pt>
                <c:pt idx="10">
                  <c:v>0.07371369864304994</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0.06446326262615927</c:v>
                </c:pt>
                <c:pt idx="1">
                  <c:v>0.06774383458563166</c:v>
                </c:pt>
                <c:pt idx="2">
                  <c:v>0.0696272527252035</c:v>
                </c:pt>
                <c:pt idx="3">
                  <c:v>0.0691272908190626</c:v>
                </c:pt>
                <c:pt idx="4">
                  <c:v>0.06660008611541895</c:v>
                </c:pt>
                <c:pt idx="5">
                  <c:v>0.06260723965952668</c:v>
                </c:pt>
                <c:pt idx="6">
                  <c:v>0.06038823065144932</c:v>
                </c:pt>
                <c:pt idx="7">
                  <c:v>0.05873767148186091</c:v>
                </c:pt>
                <c:pt idx="8">
                  <c:v>0.057813084395162015</c:v>
                </c:pt>
                <c:pt idx="9">
                  <c:v>0.05716244903785538</c:v>
                </c:pt>
                <c:pt idx="10">
                  <c:v>0.0555324362479714</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0.04993056946377408</c:v>
                </c:pt>
                <c:pt idx="1">
                  <c:v>0.04836056946377408</c:v>
                </c:pt>
                <c:pt idx="2">
                  <c:v>0.04701056946377409</c:v>
                </c:pt>
                <c:pt idx="3">
                  <c:v>0.045990569463774084</c:v>
                </c:pt>
                <c:pt idx="4">
                  <c:v>0.045930569463774086</c:v>
                </c:pt>
                <c:pt idx="5">
                  <c:v>0.04610056946377408</c:v>
                </c:pt>
                <c:pt idx="6">
                  <c:v>0.046670569463774084</c:v>
                </c:pt>
                <c:pt idx="7">
                  <c:v>0.047350569463774084</c:v>
                </c:pt>
                <c:pt idx="8">
                  <c:v>0.047240569463774085</c:v>
                </c:pt>
                <c:pt idx="9">
                  <c:v>0.046610569463774086</c:v>
                </c:pt>
                <c:pt idx="10">
                  <c:v>0.04610056946377408</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China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71.06403819225434</c:v>
                </c:pt>
                <c:pt idx="1">
                  <c:v>71.28463797173639</c:v>
                </c:pt>
              </c:numCache>
            </c:numRef>
          </c:val>
        </c:ser>
        <c:ser>
          <c:idx val="1"/>
          <c:order val="1"/>
          <c:tx>
            <c:strRef>
              <c:f>Sheet1!$C$1</c:f>
              <c:strCache>
                <c:ptCount val="1"/>
                <c:pt idx="0">
                  <c:v>Japan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18.397155904349674</c:v>
                </c:pt>
                <c:pt idx="1">
                  <c:v>17.094025104184237</c:v>
                </c:pt>
              </c:numCache>
            </c:numRef>
          </c:val>
        </c:ser>
        <c:ser>
          <c:idx val="2"/>
          <c:order val="2"/>
          <c:tx>
            <c:strRef>
              <c:f>Sheet1!$D$1</c:f>
              <c:strCache>
                <c:ptCount val="1"/>
                <c:pt idx="0">
                  <c:v>South Korea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10.538805903395984</c:v>
                </c:pt>
                <c:pt idx="1">
                  <c:v>11.621336924079383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China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66.0485612765404</c:v>
                </c:pt>
                <c:pt idx="1">
                  <c:v>66.72903560792048</c:v>
                </c:pt>
              </c:numCache>
            </c:numRef>
          </c:val>
        </c:ser>
        <c:ser>
          <c:idx val="1"/>
          <c:order val="1"/>
          <c:tx>
            <c:strRef>
              <c:f>Sheet1!$C$1</c:f>
              <c:strCache>
                <c:ptCount val="1"/>
                <c:pt idx="0">
                  <c:v>Japan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22.33596490448825</c:v>
                </c:pt>
                <c:pt idx="1">
                  <c:v>20.560822695668072</c:v>
                </c:pt>
              </c:numCache>
            </c:numRef>
          </c:val>
        </c:ser>
        <c:ser>
          <c:idx val="2"/>
          <c:order val="2"/>
          <c:tx>
            <c:strRef>
              <c:f>Sheet1!$D$1</c:f>
              <c:strCache>
                <c:ptCount val="1"/>
                <c:pt idx="0">
                  <c:v>South Korea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11.61547381897134</c:v>
                </c:pt>
                <c:pt idx="1">
                  <c:v>12.710141696411453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China</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7067.151</c:v>
                </c:pt>
                <c:pt idx="1">
                  <c:v>7343.04</c:v>
                </c:pt>
                <c:pt idx="2">
                  <c:v>7635.479</c:v>
                </c:pt>
                <c:pt idx="3">
                  <c:v>7946.882</c:v>
                </c:pt>
                <c:pt idx="4">
                  <c:v>8280.396</c:v>
                </c:pt>
                <c:pt idx="5">
                  <c:v>8643.735</c:v>
                </c:pt>
                <c:pt idx="6">
                  <c:v>9038.63</c:v>
                </c:pt>
                <c:pt idx="7">
                  <c:v>9466.978</c:v>
                </c:pt>
                <c:pt idx="8">
                  <c:v>9930.8</c:v>
                </c:pt>
                <c:pt idx="9">
                  <c:v>10434.858</c:v>
                </c:pt>
                <c:pt idx="10">
                  <c:v>10980.347</c:v>
                </c:pt>
                <c:pt idx="11">
                  <c:v>11565.642</c:v>
                </c:pt>
                <c:pt idx="12">
                  <c:v>12182.69</c:v>
                </c:pt>
                <c:pt idx="13">
                  <c:v>12824.291</c:v>
                </c:pt>
                <c:pt idx="14">
                  <c:v>13479.578</c:v>
                </c:pt>
                <c:pt idx="15">
                  <c:v>14147.557</c:v>
                </c:pt>
              </c:numCache>
            </c:numRef>
          </c:val>
        </c:ser>
        <c:ser>
          <c:idx val="1"/>
          <c:order val="1"/>
          <c:tx>
            <c:strRef>
              <c:f>Sheet1!$C$1</c:f>
              <c:strCache>
                <c:ptCount val="1"/>
                <c:pt idx="0">
                  <c:v>Japan</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1901.09</c:v>
                </c:pt>
                <c:pt idx="1">
                  <c:v>1960.574</c:v>
                </c:pt>
                <c:pt idx="2">
                  <c:v>2022.962</c:v>
                </c:pt>
                <c:pt idx="3">
                  <c:v>2088.978</c:v>
                </c:pt>
                <c:pt idx="4">
                  <c:v>2159.787</c:v>
                </c:pt>
                <c:pt idx="5">
                  <c:v>2237.702</c:v>
                </c:pt>
                <c:pt idx="6">
                  <c:v>2322.83</c:v>
                </c:pt>
                <c:pt idx="7">
                  <c:v>2415.615</c:v>
                </c:pt>
                <c:pt idx="8">
                  <c:v>2516.434</c:v>
                </c:pt>
                <c:pt idx="9">
                  <c:v>2625.989</c:v>
                </c:pt>
                <c:pt idx="10">
                  <c:v>2743.237</c:v>
                </c:pt>
                <c:pt idx="11">
                  <c:v>2866.664</c:v>
                </c:pt>
                <c:pt idx="12">
                  <c:v>2994.383</c:v>
                </c:pt>
                <c:pt idx="13">
                  <c:v>3125.449</c:v>
                </c:pt>
                <c:pt idx="14">
                  <c:v>3258.246</c:v>
                </c:pt>
                <c:pt idx="15">
                  <c:v>3392.578</c:v>
                </c:pt>
              </c:numCache>
            </c:numRef>
          </c:val>
        </c:ser>
        <c:ser>
          <c:idx val="2"/>
          <c:order val="2"/>
          <c:tx>
            <c:strRef>
              <c:f>Sheet1!$D$1</c:f>
              <c:strCache>
                <c:ptCount val="1"/>
                <c:pt idx="0">
                  <c:v>South Korea</c:v>
                </c:pt>
              </c:strCache>
            </c:strRef>
          </c:tx>
          <c:spPr>
            <a:solidFill>
              <a:srgbClr val="008189"/>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995.486</c:v>
                </c:pt>
                <c:pt idx="1">
                  <c:v>1045.777</c:v>
                </c:pt>
                <c:pt idx="2">
                  <c:v>1098.801</c:v>
                </c:pt>
                <c:pt idx="3">
                  <c:v>1155.425</c:v>
                </c:pt>
                <c:pt idx="4">
                  <c:v>1215.913</c:v>
                </c:pt>
                <c:pt idx="5">
                  <c:v>1281.867</c:v>
                </c:pt>
                <c:pt idx="6">
                  <c:v>1353.585</c:v>
                </c:pt>
                <c:pt idx="7">
                  <c:v>1431.978</c:v>
                </c:pt>
                <c:pt idx="8">
                  <c:v>1517.625</c:v>
                </c:pt>
                <c:pt idx="9">
                  <c:v>1611.244</c:v>
                </c:pt>
                <c:pt idx="10">
                  <c:v>1712.743</c:v>
                </c:pt>
                <c:pt idx="11">
                  <c:v>1821.533</c:v>
                </c:pt>
                <c:pt idx="12">
                  <c:v>1936.16</c:v>
                </c:pt>
                <c:pt idx="13">
                  <c:v>2055.968</c:v>
                </c:pt>
                <c:pt idx="14">
                  <c:v>2179.592</c:v>
                </c:pt>
                <c:pt idx="15">
                  <c:v>2306.437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China</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18146.226</c:v>
                </c:pt>
                <c:pt idx="1">
                  <c:v>18900.13</c:v>
                </c:pt>
                <c:pt idx="2">
                  <c:v>19709.369</c:v>
                </c:pt>
                <c:pt idx="3">
                  <c:v>20590.182</c:v>
                </c:pt>
                <c:pt idx="4">
                  <c:v>21544.378</c:v>
                </c:pt>
                <c:pt idx="5">
                  <c:v>22676.938</c:v>
                </c:pt>
                <c:pt idx="6">
                  <c:v>23933.655</c:v>
                </c:pt>
                <c:pt idx="7">
                  <c:v>25328.223</c:v>
                </c:pt>
                <c:pt idx="8">
                  <c:v>26871.282</c:v>
                </c:pt>
                <c:pt idx="9">
                  <c:v>28587.646</c:v>
                </c:pt>
                <c:pt idx="10">
                  <c:v>30485.292</c:v>
                </c:pt>
                <c:pt idx="11">
                  <c:v>32568.076</c:v>
                </c:pt>
                <c:pt idx="12">
                  <c:v>34823.578</c:v>
                </c:pt>
                <c:pt idx="13">
                  <c:v>37240.708</c:v>
                </c:pt>
                <c:pt idx="14">
                  <c:v>39805.819</c:v>
                </c:pt>
                <c:pt idx="15">
                  <c:v>42522.071</c:v>
                </c:pt>
              </c:numCache>
            </c:numRef>
          </c:val>
        </c:ser>
        <c:ser>
          <c:idx val="1"/>
          <c:order val="1"/>
          <c:tx>
            <c:strRef>
              <c:f>Sheet1!$C$1</c:f>
              <c:strCache>
                <c:ptCount val="1"/>
                <c:pt idx="0">
                  <c:v>Japan</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6369.845</c:v>
                </c:pt>
                <c:pt idx="1">
                  <c:v>6589.394</c:v>
                </c:pt>
                <c:pt idx="2">
                  <c:v>6822.018</c:v>
                </c:pt>
                <c:pt idx="3">
                  <c:v>7073.543</c:v>
                </c:pt>
                <c:pt idx="4">
                  <c:v>7344.677</c:v>
                </c:pt>
                <c:pt idx="5">
                  <c:v>7668.771</c:v>
                </c:pt>
                <c:pt idx="6">
                  <c:v>8028.417</c:v>
                </c:pt>
                <c:pt idx="7">
                  <c:v>8426.936</c:v>
                </c:pt>
                <c:pt idx="8">
                  <c:v>8866.741</c:v>
                </c:pt>
                <c:pt idx="9">
                  <c:v>9352.698</c:v>
                </c:pt>
                <c:pt idx="10">
                  <c:v>9884.041</c:v>
                </c:pt>
                <c:pt idx="11">
                  <c:v>10457.856</c:v>
                </c:pt>
                <c:pt idx="12">
                  <c:v>11068.13</c:v>
                </c:pt>
                <c:pt idx="13">
                  <c:v>11714.64</c:v>
                </c:pt>
                <c:pt idx="14">
                  <c:v>12392.843</c:v>
                </c:pt>
                <c:pt idx="15">
                  <c:v>13102.074</c:v>
                </c:pt>
              </c:numCache>
            </c:numRef>
          </c:val>
        </c:ser>
        <c:ser>
          <c:idx val="2"/>
          <c:order val="2"/>
          <c:tx>
            <c:strRef>
              <c:f>Sheet1!$D$1</c:f>
              <c:strCache>
                <c:ptCount val="1"/>
                <c:pt idx="0">
                  <c:v>South Korea</c:v>
                </c:pt>
              </c:strCache>
            </c:strRef>
          </c:tx>
          <c:spPr>
            <a:solidFill>
              <a:srgbClr val="008189"/>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3030.505</c:v>
                </c:pt>
                <c:pt idx="1">
                  <c:v>3192.536</c:v>
                </c:pt>
                <c:pt idx="2">
                  <c:v>3365.058</c:v>
                </c:pt>
                <c:pt idx="3">
                  <c:v>3552.356</c:v>
                </c:pt>
                <c:pt idx="4">
                  <c:v>3753.944</c:v>
                </c:pt>
                <c:pt idx="5">
                  <c:v>3988.026</c:v>
                </c:pt>
                <c:pt idx="6">
                  <c:v>4247.055</c:v>
                </c:pt>
                <c:pt idx="7">
                  <c:v>4534.474</c:v>
                </c:pt>
                <c:pt idx="8">
                  <c:v>4853.583</c:v>
                </c:pt>
                <c:pt idx="9">
                  <c:v>5209.026</c:v>
                </c:pt>
                <c:pt idx="10">
                  <c:v>5601.694</c:v>
                </c:pt>
                <c:pt idx="11">
                  <c:v>6032.783</c:v>
                </c:pt>
                <c:pt idx="12">
                  <c:v>6498.753</c:v>
                </c:pt>
                <c:pt idx="13">
                  <c:v>6999.678</c:v>
                </c:pt>
                <c:pt idx="14">
                  <c:v>7533.198</c:v>
                </c:pt>
                <c:pt idx="15">
                  <c:v>8099.346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Rollstock Films</c:v>
                </c:pt>
              </c:strCache>
            </c:strRef>
          </c:tx>
          <c:spPr>
            <a:solidFill>
              <a:srgbClr val="3D85C6"/>
            </a:solidFill>
            <a:ln>
              <a:noFill/>
            </a:ln>
          </c:spPr>
          <c:dLbls>
            <c:dLbl>
              <c:idx val="0"/>
              <c:tx>
                <c:rich>
                  <a:bodyPr/>
                  <a:lstStyle/>
                  <a:p>
                    <a:r>
                      <a:rPr sz="1100">
                        <a:solidFill>
                          <a:srgbClr val="FFFFFF"/>
                        </a:solidFill>
                        <a:latin typeface="Calibri"/>
                      </a:rPr>
                      <a:t>54%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56%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53%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Sheet1!$B$2:$B$4</c:f>
              <c:numCache>
                <c:formatCode>General</c:formatCode>
                <c:ptCount val="3"/>
                <c:pt idx="0">
                  <c:v>53.74211124479819</c:v>
                </c:pt>
                <c:pt idx="1">
                  <c:v>55.675269426809834</c:v>
                </c:pt>
                <c:pt idx="2">
                  <c:v>53.15326936200876</c:v>
                </c:pt>
              </c:numCache>
            </c:numRef>
          </c:val>
        </c:ser>
        <c:ser>
          <c:idx val="1"/>
          <c:order val="1"/>
          <c:tx>
            <c:strRef>
              <c:f>Sheet1!$C$1</c:f>
              <c:strCache>
                <c:ptCount val="1"/>
                <c:pt idx="0">
                  <c:v>Barrier Casings</c:v>
                </c:pt>
              </c:strCache>
            </c:strRef>
          </c:tx>
          <c:spPr>
            <a:solidFill>
              <a:srgbClr val="9E7E0A"/>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Sheet1!$C$2:$C$4</c:f>
              <c:numCache>
                <c:formatCode>General</c:formatCode>
                <c:ptCount val="3"/>
                <c:pt idx="0">
                  <c:v>11.082698662669635</c:v>
                </c:pt>
                <c:pt idx="1">
                  <c:v>11.022369435556541</c:v>
                </c:pt>
                <c:pt idx="2">
                  <c:v>10.650757784080751</c:v>
                </c:pt>
              </c:numCache>
            </c:numRef>
          </c:val>
        </c:ser>
        <c:ser>
          <c:idx val="2"/>
          <c:order val="2"/>
          <c:tx>
            <c:strRef>
              <c:f>Sheet1!$D$1</c:f>
              <c:strCache>
                <c:ptCount val="1"/>
                <c:pt idx="0">
                  <c:v>Premade Pouches &amp; Bags</c:v>
                </c:pt>
              </c:strCache>
            </c:strRef>
          </c:tx>
          <c:spPr>
            <a:solidFill>
              <a:srgbClr val="008189"/>
            </a:solidFill>
            <a:ln>
              <a:noFill/>
            </a:ln>
          </c:spPr>
          <c:dLbls>
            <c:dLbl>
              <c:idx val="0"/>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Sheet1!$D$2:$D$4</c:f>
              <c:numCache>
                <c:formatCode>General</c:formatCode>
                <c:ptCount val="3"/>
                <c:pt idx="0">
                  <c:v>28.32535223527335</c:v>
                </c:pt>
                <c:pt idx="1">
                  <c:v>26.677959535261365</c:v>
                </c:pt>
                <c:pt idx="2">
                  <c:v>29.871911465840334</c:v>
                </c:pt>
              </c:numCache>
            </c:numRef>
          </c:val>
        </c:ser>
        <c:ser>
          <c:idx val="3"/>
          <c:order val="3"/>
          <c:tx>
            <c:strRef>
              <c:f>Sheet1!$E$1</c:f>
              <c:strCache>
                <c:ptCount val="1"/>
                <c:pt idx="0">
                  <c:v>Sachets &amp; Stick Packs</c:v>
                </c:pt>
              </c:strCache>
            </c:strRef>
          </c:tx>
          <c:spPr>
            <a:solidFill>
              <a:srgbClr val="40315E"/>
            </a:solidFill>
            <a:ln>
              <a:noFill/>
            </a:ln>
          </c:spPr>
          <c:cat>
            <c:strRef>
              <c:f>Sheet1!$A$2:$A$4</c:f>
              <c:strCache>
                <c:ptCount val="3"/>
                <c:pt idx="0">
                  <c:v>South Korea  ·  8,099</c:v>
                </c:pt>
                <c:pt idx="1">
                  <c:v>Japan  ·  13,102</c:v>
                </c:pt>
                <c:pt idx="2">
                  <c:v>China  ·  42,522</c:v>
                </c:pt>
              </c:strCache>
            </c:strRef>
          </c:cat>
          <c:val>
            <c:numRef>
              <c:f>Sheet1!$E$2:$E$4</c:f>
              <c:numCache>
                <c:formatCode>General</c:formatCode>
                <c:ptCount val="3"/>
                <c:pt idx="0">
                  <c:v>6.849837857258828</c:v>
                </c:pt>
                <c:pt idx="1">
                  <c:v>6.6244016023722665</c:v>
                </c:pt>
                <c:pt idx="2">
                  <c:v>6.324061388070143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Rollstock Films</c:v>
                </c:pt>
              </c:strCache>
            </c:strRef>
          </c:tx>
          <c:spPr>
            <a:solidFill>
              <a:srgbClr val="3D85C6"/>
            </a:solidFill>
          </c:spPr>
          <c:invertIfNegative val="0"/>
          <c:xVal>
            <c:numRef>
              <c:f>Sheet1!$A$2:$A$2</c:f>
              <c:numCache>
                <c:formatCode>General</c:formatCode>
                <c:ptCount val="1"/>
                <c:pt idx="0">
                  <c:v>98.9651527677139</c:v>
                </c:pt>
              </c:numCache>
            </c:numRef>
          </c:xVal>
          <c:yVal>
            <c:numRef>
              <c:f>Sheet1!$B$2:$B$2</c:f>
              <c:numCache>
                <c:formatCode>General</c:formatCode>
                <c:ptCount val="1"/>
                <c:pt idx="0">
                  <c:v>216.32536771708942</c:v>
                </c:pt>
              </c:numCache>
            </c:numRef>
          </c:yVal>
          <c:bubbleSize>
            <c:numRef>
              <c:f>Sheet1!$C$2:$C$2</c:f>
              <c:numCache>
                <c:formatCode>General</c:formatCode>
                <c:ptCount val="1"/>
                <c:pt idx="0">
                  <c:v>34249.245</c:v>
                </c:pt>
              </c:numCache>
            </c:numRef>
          </c:bubbleSize>
          <c:bubble3D val="0"/>
        </c:ser>
        <c:ser>
          <c:idx val="1"/>
          <c:order val="1"/>
          <c:tx>
            <c:strRef>
              <c:f>Sheet1!$B$4</c:f>
              <c:strCache>
                <c:ptCount val="1"/>
                <c:pt idx="0">
                  <c:v>Barrier Casings</c:v>
                </c:pt>
              </c:strCache>
            </c:strRef>
          </c:tx>
          <c:spPr>
            <a:solidFill>
              <a:srgbClr val="9E7E0A"/>
            </a:solidFill>
          </c:spPr>
          <c:invertIfNegative val="0"/>
          <c:xVal>
            <c:numRef>
              <c:f>Sheet1!$A$5:$A$5</c:f>
              <c:numCache>
                <c:formatCode>General</c:formatCode>
                <c:ptCount val="1"/>
                <c:pt idx="0">
                  <c:v>103.17185796296262</c:v>
                </c:pt>
              </c:numCache>
            </c:numRef>
          </c:xVal>
          <c:yVal>
            <c:numRef>
              <c:f>Sheet1!$B$5:$B$5</c:f>
              <c:numCache>
                <c:formatCode>General</c:formatCode>
                <c:ptCount val="1"/>
                <c:pt idx="0">
                  <c:v>42.31642514131583</c:v>
                </c:pt>
              </c:numCache>
            </c:numRef>
          </c:yVal>
          <c:bubbleSize>
            <c:numRef>
              <c:f>Sheet1!$C$5:$C$5</c:f>
              <c:numCache>
                <c:formatCode>General</c:formatCode>
                <c:ptCount val="1"/>
                <c:pt idx="0">
                  <c:v>6870.709000000001</c:v>
                </c:pt>
              </c:numCache>
            </c:numRef>
          </c:bubbleSize>
          <c:bubble3D val="0"/>
        </c:ser>
        <c:ser>
          <c:idx val="2"/>
          <c:order val="2"/>
          <c:tx>
            <c:strRef>
              <c:f>Sheet1!$B$7</c:f>
              <c:strCache>
                <c:ptCount val="1"/>
                <c:pt idx="0">
                  <c:v>Premade Pouches &amp; Bags</c:v>
                </c:pt>
              </c:strCache>
            </c:strRef>
          </c:tx>
          <c:spPr>
            <a:solidFill>
              <a:srgbClr val="008189"/>
            </a:solidFill>
          </c:spPr>
          <c:invertIfNegative val="0"/>
          <c:xVal>
            <c:numRef>
              <c:f>Sheet1!$A$8:$A$8</c:f>
              <c:numCache>
                <c:formatCode>General</c:formatCode>
                <c:ptCount val="1"/>
                <c:pt idx="0">
                  <c:v>102.90720994742249</c:v>
                </c:pt>
              </c:numCache>
            </c:numRef>
          </c:xVal>
          <c:yVal>
            <c:numRef>
              <c:f>Sheet1!$B$8:$B$8</c:f>
              <c:numCache>
                <c:formatCode>General</c:formatCode>
                <c:ptCount val="1"/>
                <c:pt idx="0">
                  <c:v>114.07012788472863</c:v>
                </c:pt>
              </c:numCache>
            </c:numRef>
          </c:yVal>
          <c:bubbleSize>
            <c:numRef>
              <c:f>Sheet1!$C$8:$C$8</c:f>
              <c:numCache>
                <c:formatCode>General</c:formatCode>
                <c:ptCount val="1"/>
                <c:pt idx="0">
                  <c:v>18491.685999999998</c:v>
                </c:pt>
              </c:numCache>
            </c:numRef>
          </c:bubbleSize>
          <c:bubble3D val="0"/>
        </c:ser>
        <c:ser>
          <c:idx val="3"/>
          <c:order val="3"/>
          <c:tx>
            <c:strRef>
              <c:f>Sheet1!$B$10</c:f>
              <c:strCache>
                <c:ptCount val="1"/>
                <c:pt idx="0">
                  <c:v>Sachets &amp; Stick Packs</c:v>
                </c:pt>
              </c:strCache>
            </c:strRef>
          </c:tx>
          <c:spPr>
            <a:solidFill>
              <a:srgbClr val="40315E"/>
            </a:solidFill>
          </c:spPr>
          <c:invertIfNegative val="0"/>
          <c:xVal>
            <c:numRef>
              <c:f>Sheet1!$A$11:$A$11</c:f>
              <c:numCache>
                <c:formatCode>General</c:formatCode>
                <c:ptCount val="1"/>
                <c:pt idx="0">
                  <c:v>90.74343834152128</c:v>
                </c:pt>
              </c:numCache>
            </c:numRef>
          </c:xVal>
          <c:yVal>
            <c:numRef>
              <c:f>Sheet1!$B$11:$B$11</c:f>
              <c:numCache>
                <c:formatCode>General</c:formatCode>
                <c:ptCount val="1"/>
                <c:pt idx="0">
                  <c:v>27.288079256866098</c:v>
                </c:pt>
              </c:numCache>
            </c:numRef>
          </c:yVal>
          <c:bubbleSize>
            <c:numRef>
              <c:f>Sheet1!$C$11:$C$11</c:f>
              <c:numCache>
                <c:formatCode>General</c:formatCode>
                <c:ptCount val="1"/>
                <c:pt idx="0">
                  <c:v>4111.851000000001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18568.143</c:v>
                </c:pt>
                <c:pt idx="2">
                  <c:v>20735.072</c:v>
                </c:pt>
                <c:pt idx="3">
                  <c:v>23379.597</c:v>
                </c:pt>
                <c:pt idx="4">
                  <c:v>26530.515</c:v>
                </c:pt>
                <c:pt idx="5">
                  <c:v>30167.185999999998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18568.143</c:v>
                </c:pt>
                <c:pt idx="1">
                  <c:v>2166.929</c:v>
                </c:pt>
                <c:pt idx="2">
                  <c:v>2644.5250000000015</c:v>
                </c:pt>
                <c:pt idx="3">
                  <c:v>3150.917999999998</c:v>
                </c:pt>
                <c:pt idx="4">
                  <c:v>3636.6709999999985</c:v>
                </c:pt>
                <c:pt idx="5">
                  <c:v>4082.0590000000047</c:v>
                </c:pt>
                <c:pt idx="6">
                  <c:v>34249.245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3632.202</c:v>
                </c:pt>
                <c:pt idx="2">
                  <c:v>4039.379</c:v>
                </c:pt>
                <c:pt idx="3">
                  <c:v>4551.94</c:v>
                </c:pt>
                <c:pt idx="4">
                  <c:v>5208.573</c:v>
                </c:pt>
                <c:pt idx="5">
                  <c:v>5986.222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3632.202</c:v>
                </c:pt>
                <c:pt idx="1">
                  <c:v>407.1769999999997</c:v>
                </c:pt>
                <c:pt idx="2">
                  <c:v>512.5609999999997</c:v>
                </c:pt>
                <c:pt idx="3">
                  <c:v>656.6330000000007</c:v>
                </c:pt>
                <c:pt idx="4">
                  <c:v>777.6489999999994</c:v>
                </c:pt>
                <c:pt idx="5">
                  <c:v>884.487000000001</c:v>
                </c:pt>
                <c:pt idx="6">
                  <c:v>6870.709000000001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9791.133</c:v>
                </c:pt>
                <c:pt idx="2">
                  <c:v>10924.951</c:v>
                </c:pt>
                <c:pt idx="3">
                  <c:v>12322.889</c:v>
                </c:pt>
                <c:pt idx="4">
                  <c:v>14069.186</c:v>
                </c:pt>
                <c:pt idx="5">
                  <c:v>16142.048999999999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9791.133</c:v>
                </c:pt>
                <c:pt idx="1">
                  <c:v>1133.8179999999993</c:v>
                </c:pt>
                <c:pt idx="2">
                  <c:v>1397.938</c:v>
                </c:pt>
                <c:pt idx="3">
                  <c:v>1746.2970000000005</c:v>
                </c:pt>
                <c:pt idx="4">
                  <c:v>2072.8629999999994</c:v>
                </c:pt>
                <c:pt idx="5">
                  <c:v>2349.636999999999</c:v>
                </c:pt>
                <c:pt idx="6">
                  <c:v>18491.685999999998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2342.254</c:v>
                </c:pt>
                <c:pt idx="2">
                  <c:v>2590.23</c:v>
                </c:pt>
                <c:pt idx="3">
                  <c:v>2894.944</c:v>
                </c:pt>
                <c:pt idx="4">
                  <c:v>3250.441</c:v>
                </c:pt>
                <c:pt idx="5">
                  <c:v>3659.5699999999997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2342.254</c:v>
                </c:pt>
                <c:pt idx="1">
                  <c:v>247.9760000000001</c:v>
                </c:pt>
                <c:pt idx="2">
                  <c:v>304.71399999999994</c:v>
                </c:pt>
                <c:pt idx="3">
                  <c:v>355.49699999999984</c:v>
                </c:pt>
                <c:pt idx="4">
                  <c:v>409.1289999999999</c:v>
                </c:pt>
                <c:pt idx="5">
                  <c:v>452.28100000000086</c:v>
                </c:pt>
                <c:pt idx="6">
                  <c:v>4111.851000000001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Rollstock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54.00451446355958</c:v>
                </c:pt>
                <c:pt idx="1">
                  <c:v>54.081341929272355</c:v>
                </c:pt>
                <c:pt idx="2">
                  <c:v>53.74665521699055</c:v>
                </c:pt>
              </c:numCache>
            </c:numRef>
          </c:val>
        </c:ser>
        <c:ser>
          <c:idx val="1"/>
          <c:order val="1"/>
          <c:tx>
            <c:strRef>
              <c:f>Sheet1!$C$1</c:f>
              <c:strCache>
                <c:ptCount val="1"/>
                <c:pt idx="0">
                  <c:v>Premade Pouches &amp; Bags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28.365931399161703</c:v>
                </c:pt>
                <c:pt idx="1">
                  <c:v>28.51753197118216</c:v>
                </c:pt>
                <c:pt idx="2">
                  <c:v>29.018633018708904</c:v>
                </c:pt>
              </c:numCache>
            </c:numRef>
          </c:val>
        </c:ser>
        <c:ser>
          <c:idx val="2"/>
          <c:order val="2"/>
          <c:tx>
            <c:strRef>
              <c:f>Sheet1!$D$1</c:f>
              <c:strCache>
                <c:ptCount val="1"/>
                <c:pt idx="0">
                  <c:v>Barrier Casings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10.78124309691808</c:v>
                </c:pt>
                <c:pt idx="1">
                  <c:v>10.579106285328958</c:v>
                </c:pt>
                <c:pt idx="2">
                  <c:v>10.782066224212356</c:v>
                </c:pt>
              </c:numCache>
            </c:numRef>
          </c:val>
        </c:ser>
        <c:ser>
          <c:idx val="3"/>
          <c:order val="3"/>
          <c:tx>
            <c:strRef>
              <c:f>Sheet1!$E$1</c:f>
              <c:strCache>
                <c:ptCount val="1"/>
                <c:pt idx="0">
                  <c:v>Sachets &amp; Stick Packs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6.848311040360628</c:v>
                </c:pt>
                <c:pt idx="1">
                  <c:v>6.8220198142165245</c:v>
                </c:pt>
                <c:pt idx="2">
                  <c:v>6.452645540088192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PE-Based</c:v>
                </c:pt>
              </c:strCache>
            </c:strRef>
          </c:tx>
          <c:spPr>
            <a:solidFill>
              <a:srgbClr val="3D85C6"/>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Sheet1!$B$2:$B$4</c:f>
              <c:numCache>
                <c:formatCode>General</c:formatCode>
                <c:ptCount val="3"/>
                <c:pt idx="0">
                  <c:v>31.316046999350323</c:v>
                </c:pt>
                <c:pt idx="1">
                  <c:v>31.918585414905653</c:v>
                </c:pt>
                <c:pt idx="2">
                  <c:v>29.79594291162347</c:v>
                </c:pt>
              </c:numCache>
            </c:numRef>
          </c:val>
        </c:ser>
        <c:ser>
          <c:idx val="1"/>
          <c:order val="1"/>
          <c:tx>
            <c:strRef>
              <c:f>Sheet1!$C$1</c:f>
              <c:strCache>
                <c:ptCount val="1"/>
                <c:pt idx="0">
                  <c:v>PP-Based</c:v>
                </c:pt>
              </c:strCache>
            </c:strRef>
          </c:tx>
          <c:spPr>
            <a:solidFill>
              <a:srgbClr val="9E7E0A"/>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Sheet1!$C$2:$C$4</c:f>
              <c:numCache>
                <c:formatCode>General</c:formatCode>
                <c:ptCount val="3"/>
                <c:pt idx="0">
                  <c:v>20.926343929497516</c:v>
                </c:pt>
                <c:pt idx="1">
                  <c:v>20.834539567205958</c:v>
                </c:pt>
                <c:pt idx="2">
                  <c:v>20.345808180415297</c:v>
                </c:pt>
              </c:numCache>
            </c:numRef>
          </c:val>
        </c:ser>
        <c:ser>
          <c:idx val="2"/>
          <c:order val="2"/>
          <c:tx>
            <c:strRef>
              <c:f>Sheet1!$D$1</c:f>
              <c:strCache>
                <c:ptCount val="1"/>
                <c:pt idx="0">
                  <c:v>PET-Based</c:v>
                </c:pt>
              </c:strCache>
            </c:strRef>
          </c:tx>
          <c:spPr>
            <a:solidFill>
              <a:srgbClr val="008189"/>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Sheet1!$D$2:$D$4</c:f>
              <c:numCache>
                <c:formatCode>General</c:formatCode>
                <c:ptCount val="3"/>
                <c:pt idx="0">
                  <c:v>9.352779841730431</c:v>
                </c:pt>
                <c:pt idx="1">
                  <c:v>9.460356470253757</c:v>
                </c:pt>
                <c:pt idx="2">
                  <c:v>10.678868392840037</c:v>
                </c:pt>
              </c:numCache>
            </c:numRef>
          </c:val>
        </c:ser>
        <c:ser>
          <c:idx val="3"/>
          <c:order val="3"/>
          <c:tx>
            <c:strRef>
              <c:f>Sheet1!$E$1</c:f>
              <c:strCache>
                <c:ptCount val="1"/>
                <c:pt idx="0">
                  <c:v>PA-Based</c:v>
                </c:pt>
              </c:strCache>
            </c:strRef>
          </c:tx>
          <c:spPr>
            <a:solidFill>
              <a:srgbClr val="40315E"/>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Sheet1!$E$2:$E$4</c:f>
              <c:numCache>
                <c:formatCode>General</c:formatCode>
                <c:ptCount val="3"/>
                <c:pt idx="0">
                  <c:v>8.347636957354336</c:v>
                </c:pt>
                <c:pt idx="1">
                  <c:v>8.314652450089012</c:v>
                </c:pt>
                <c:pt idx="2">
                  <c:v>8.111662764497053</c:v>
                </c:pt>
              </c:numCache>
            </c:numRef>
          </c:val>
        </c:ser>
        <c:ser>
          <c:idx val="4"/>
          <c:order val="4"/>
          <c:tx>
            <c:strRef>
              <c:f>Sheet1!$F$1</c:f>
              <c:strCache>
                <c:ptCount val="1"/>
                <c:pt idx="0">
                  <c:v>EVOH-Based</c:v>
                </c:pt>
              </c:strCache>
            </c:strRef>
          </c:tx>
          <c:spPr>
            <a:solidFill>
              <a:srgbClr val="A35313"/>
            </a:solidFill>
            <a:ln>
              <a:noFill/>
            </a:ln>
          </c:spPr>
          <c:dLbls>
            <c:dLbl>
              <c:idx val="0"/>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Sheet1!$F$2:$F$4</c:f>
              <c:numCache>
                <c:formatCode>General</c:formatCode>
                <c:ptCount val="3"/>
                <c:pt idx="0">
                  <c:v>7.453577115979488</c:v>
                </c:pt>
                <c:pt idx="1">
                  <c:v>7.5442630270396105</c:v>
                </c:pt>
                <c:pt idx="2">
                  <c:v>8.522503525286904</c:v>
                </c:pt>
              </c:numCache>
            </c:numRef>
          </c:val>
        </c:ser>
        <c:ser>
          <c:idx val="5"/>
          <c:order val="5"/>
          <c:tx>
            <c:strRef>
              <c:f>Sheet1!$G$1</c:f>
              <c:strCache>
                <c:ptCount val="1"/>
                <c:pt idx="0">
                  <c:v>PVDC-Based</c:v>
                </c:pt>
              </c:strCache>
            </c:strRef>
          </c:tx>
          <c:spPr>
            <a:solidFill>
              <a:srgbClr val="808080"/>
            </a:solidFill>
            <a:ln>
              <a:noFill/>
            </a:ln>
          </c:spPr>
          <c:cat>
            <c:strRef>
              <c:f>Sheet1!$A$2:$A$4</c:f>
              <c:strCache>
                <c:ptCount val="3"/>
                <c:pt idx="0">
                  <c:v>South Korea  ·  8,099</c:v>
                </c:pt>
                <c:pt idx="1">
                  <c:v>Japan  ·  13,102</c:v>
                </c:pt>
                <c:pt idx="2">
                  <c:v>China  ·  42,522</c:v>
                </c:pt>
              </c:strCache>
            </c:strRef>
          </c:cat>
          <c:val>
            <c:numRef>
              <c:f>Sheet1!$G$2:$G$4</c:f>
              <c:numCache>
                <c:formatCode>General</c:formatCode>
                <c:ptCount val="3"/>
                <c:pt idx="0">
                  <c:v>4.9383987299715315</c:v>
                </c:pt>
                <c:pt idx="1">
                  <c:v>4.916587639744085</c:v>
                </c:pt>
                <c:pt idx="2">
                  <c:v>4.793696431201575</c:v>
                </c:pt>
              </c:numCache>
            </c:numRef>
          </c:val>
        </c:ser>
        <c:ser>
          <c:idx val="6"/>
          <c:order val="6"/>
          <c:tx>
            <c:strRef>
              <c:f>Sheet1!$H$1</c:f>
              <c:strCache>
                <c:ptCount val="1"/>
                <c:pt idx="0">
                  <c:v>PVOH-Based</c:v>
                </c:pt>
              </c:strCache>
            </c:strRef>
          </c:tx>
          <c:spPr>
            <a:solidFill>
              <a:srgbClr val="0E72AE"/>
            </a:solidFill>
            <a:ln>
              <a:noFill/>
            </a:ln>
          </c:spPr>
          <c:cat>
            <c:strRef>
              <c:f>Sheet1!$A$2:$A$4</c:f>
              <c:strCache>
                <c:ptCount val="3"/>
                <c:pt idx="0">
                  <c:v>South Korea  ·  8,099</c:v>
                </c:pt>
                <c:pt idx="1">
                  <c:v>Japan  ·  13,102</c:v>
                </c:pt>
                <c:pt idx="2">
                  <c:v>China  ·  42,522</c:v>
                </c:pt>
              </c:strCache>
            </c:strRef>
          </c:cat>
          <c:val>
            <c:numRef>
              <c:f>Sheet1!$H$2:$H$4</c:f>
              <c:numCache>
                <c:formatCode>General</c:formatCode>
                <c:ptCount val="3"/>
                <c:pt idx="0">
                  <c:v>2.180163682351637</c:v>
                </c:pt>
                <c:pt idx="1">
                  <c:v>1.8797785846898296</c:v>
                </c:pt>
                <c:pt idx="2">
                  <c:v>2.1251998756128314</c:v>
                </c:pt>
              </c:numCache>
            </c:numRef>
          </c:val>
        </c:ser>
        <c:ser>
          <c:idx val="7"/>
          <c:order val="7"/>
          <c:tx>
            <c:strRef>
              <c:f>Sheet1!$I$1</c:f>
              <c:strCache>
                <c:ptCount val="1"/>
                <c:pt idx="0">
                  <c:v>Metallized Barrier</c:v>
                </c:pt>
              </c:strCache>
            </c:strRef>
          </c:tx>
          <c:spPr>
            <a:solidFill>
              <a:srgbClr val="A86F00"/>
            </a:solidFill>
            <a:ln>
              <a:noFill/>
            </a:ln>
          </c:spPr>
          <c:cat>
            <c:strRef>
              <c:f>Sheet1!$A$2:$A$4</c:f>
              <c:strCache>
                <c:ptCount val="3"/>
                <c:pt idx="0">
                  <c:v>South Korea  ·  8,099</c:v>
                </c:pt>
                <c:pt idx="1">
                  <c:v>Japan  ·  13,102</c:v>
                </c:pt>
                <c:pt idx="2">
                  <c:v>China  ·  42,522</c:v>
                </c:pt>
              </c:strCache>
            </c:strRef>
          </c:cat>
          <c:val>
            <c:numRef>
              <c:f>Sheet1!$I$2:$I$4</c:f>
              <c:numCache>
                <c:formatCode>General</c:formatCode>
                <c:ptCount val="3"/>
                <c:pt idx="0">
                  <c:v>6.223835850450148</c:v>
                </c:pt>
                <c:pt idx="1">
                  <c:v>6.20481107000227</c:v>
                </c:pt>
                <c:pt idx="2">
                  <c:v>6.041072176376358</c:v>
                </c:pt>
              </c:numCache>
            </c:numRef>
          </c:val>
        </c:ser>
        <c:ser>
          <c:idx val="8"/>
          <c:order val="8"/>
          <c:tx>
            <c:strRef>
              <c:f>Sheet1!$J$1</c:f>
              <c:strCache>
                <c:ptCount val="1"/>
                <c:pt idx="0">
                  <c:v>AlOx / SiOx-Coated</c:v>
                </c:pt>
              </c:strCache>
            </c:strRef>
          </c:tx>
          <c:spPr>
            <a:solidFill>
              <a:srgbClr val="0B2E4A"/>
            </a:solidFill>
            <a:ln>
              <a:noFill/>
            </a:ln>
          </c:spPr>
          <c:cat>
            <c:strRef>
              <c:f>Sheet1!$A$2:$A$4</c:f>
              <c:strCache>
                <c:ptCount val="3"/>
                <c:pt idx="0">
                  <c:v>South Korea  ·  8,099</c:v>
                </c:pt>
                <c:pt idx="1">
                  <c:v>Japan  ·  13,102</c:v>
                </c:pt>
                <c:pt idx="2">
                  <c:v>China  ·  42,522</c:v>
                </c:pt>
              </c:strCache>
            </c:strRef>
          </c:cat>
          <c:val>
            <c:numRef>
              <c:f>Sheet1!$J$2:$J$4</c:f>
              <c:numCache>
                <c:formatCode>General</c:formatCode>
                <c:ptCount val="3"/>
                <c:pt idx="0">
                  <c:v>3.2630906248479814</c:v>
                </c:pt>
                <c:pt idx="1">
                  <c:v>2.8098679026032136</c:v>
                </c:pt>
                <c:pt idx="2">
                  <c:v>3.179247784050782</c:v>
                </c:pt>
              </c:numCache>
            </c:numRef>
          </c:val>
        </c:ser>
        <c:ser>
          <c:idx val="9"/>
          <c:order val="9"/>
          <c:tx>
            <c:strRef>
              <c:f>Sheet1!$K$1</c:f>
              <c:strCache>
                <c:ptCount val="1"/>
                <c:pt idx="0">
                  <c:v>Aluminum Foil-Based</c:v>
                </c:pt>
              </c:strCache>
            </c:strRef>
          </c:tx>
          <c:spPr>
            <a:solidFill>
              <a:srgbClr val="6C7A89"/>
            </a:solidFill>
            <a:ln>
              <a:noFill/>
            </a:ln>
          </c:spPr>
          <c:cat>
            <c:strRef>
              <c:f>Sheet1!$A$2:$A$4</c:f>
              <c:strCache>
                <c:ptCount val="3"/>
                <c:pt idx="0">
                  <c:v>South Korea  ·  8,099</c:v>
                </c:pt>
                <c:pt idx="1">
                  <c:v>Japan  ·  13,102</c:v>
                </c:pt>
                <c:pt idx="2">
                  <c:v>China  ·  42,522</c:v>
                </c:pt>
              </c:strCache>
            </c:strRef>
          </c:cat>
          <c:val>
            <c:numRef>
              <c:f>Sheet1!$K$2:$K$4</c:f>
              <c:numCache>
                <c:formatCode>General</c:formatCode>
                <c:ptCount val="3"/>
                <c:pt idx="0">
                  <c:v>2.944805667025461</c:v>
                </c:pt>
                <c:pt idx="1">
                  <c:v>2.750976467467939</c:v>
                </c:pt>
                <c:pt idx="2">
                  <c:v>3.152000757441941</c:v>
                </c:pt>
              </c:numCache>
            </c:numRef>
          </c:val>
        </c:ser>
        <c:ser>
          <c:idx val="10"/>
          <c:order val="10"/>
          <c:tx>
            <c:strRef>
              <c:f>Sheet1!$L$1</c:f>
              <c:strCache>
                <c:ptCount val="1"/>
                <c:pt idx="0">
                  <c:v>Other Specialty Barrier Technologies</c:v>
                </c:pt>
              </c:strCache>
            </c:strRef>
          </c:tx>
          <c:spPr>
            <a:solidFill>
              <a:srgbClr val="B2B2B2"/>
            </a:solidFill>
            <a:ln>
              <a:noFill/>
            </a:ln>
          </c:spPr>
          <c:cat>
            <c:strRef>
              <c:f>Sheet1!$A$2:$A$4</c:f>
              <c:strCache>
                <c:ptCount val="3"/>
                <c:pt idx="0">
                  <c:v>South Korea  ·  8,099</c:v>
                </c:pt>
                <c:pt idx="1">
                  <c:v>Japan  ·  13,102</c:v>
                </c:pt>
                <c:pt idx="2">
                  <c:v>China  ·  42,522</c:v>
                </c:pt>
              </c:strCache>
            </c:strRef>
          </c:cat>
          <c:val>
            <c:numRef>
              <c:f>Sheet1!$L$2:$L$4</c:f>
              <c:numCache>
                <c:formatCode>General</c:formatCode>
                <c:ptCount val="3"/>
                <c:pt idx="0">
                  <c:v>3.053320601441154</c:v>
                </c:pt>
                <c:pt idx="1">
                  <c:v>3.365581405998668</c:v>
                </c:pt>
                <c:pt idx="2">
                  <c:v>3.253997200653749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PE-Based</c:v>
                </c:pt>
              </c:strCache>
            </c:strRef>
          </c:tx>
          <c:spPr>
            <a:solidFill>
              <a:srgbClr val="3D85C6"/>
            </a:solidFill>
          </c:spPr>
          <c:invertIfNegative val="0"/>
          <c:xVal>
            <c:numRef>
              <c:f>Sheet1!$A$2:$A$2</c:f>
              <c:numCache>
                <c:formatCode>General</c:formatCode>
                <c:ptCount val="1"/>
                <c:pt idx="0">
                  <c:v>102.06469977728084</c:v>
                </c:pt>
              </c:numCache>
            </c:numRef>
          </c:xVal>
          <c:yVal>
            <c:numRef>
              <c:f>Sheet1!$B$2:$B$2</c:f>
              <c:numCache>
                <c:formatCode>General</c:formatCode>
                <c:ptCount val="1"/>
                <c:pt idx="0">
                  <c:v>330.56554928948015</c:v>
                </c:pt>
              </c:numCache>
            </c:numRef>
          </c:yVal>
          <c:bubbleSize>
            <c:numRef>
              <c:f>Sheet1!$C$2:$C$2</c:f>
              <c:numCache>
                <c:formatCode>General</c:formatCode>
                <c:ptCount val="1"/>
                <c:pt idx="0">
                  <c:v>19388.244</c:v>
                </c:pt>
              </c:numCache>
            </c:numRef>
          </c:bubbleSize>
          <c:bubble3D val="0"/>
        </c:ser>
        <c:ser>
          <c:idx val="1"/>
          <c:order val="1"/>
          <c:tx>
            <c:strRef>
              <c:f>Sheet1!$B$4</c:f>
              <c:strCache>
                <c:ptCount val="1"/>
                <c:pt idx="0">
                  <c:v>PP-Based</c:v>
                </c:pt>
              </c:strCache>
            </c:strRef>
          </c:tx>
          <c:spPr>
            <a:solidFill>
              <a:srgbClr val="9E7E0A"/>
            </a:solidFill>
          </c:spPr>
          <c:invertIfNegative val="0"/>
          <c:xVal>
            <c:numRef>
              <c:f>Sheet1!$A$5:$A$5</c:f>
              <c:numCache>
                <c:formatCode>General</c:formatCode>
                <c:ptCount val="1"/>
                <c:pt idx="0">
                  <c:v>96.7829779303416</c:v>
                </c:pt>
              </c:numCache>
            </c:numRef>
          </c:xVal>
          <c:yVal>
            <c:numRef>
              <c:f>Sheet1!$B$5:$B$5</c:f>
              <c:numCache>
                <c:formatCode>General</c:formatCode>
                <c:ptCount val="1"/>
                <c:pt idx="0">
                  <c:v>230.1221282763985</c:v>
                </c:pt>
              </c:numCache>
            </c:numRef>
          </c:yVal>
          <c:bubbleSize>
            <c:numRef>
              <c:f>Sheet1!$C$5:$C$5</c:f>
              <c:numCache>
                <c:formatCode>General</c:formatCode>
                <c:ptCount val="1"/>
                <c:pt idx="0">
                  <c:v>13076.113</c:v>
                </c:pt>
              </c:numCache>
            </c:numRef>
          </c:bubbleSize>
          <c:bubble3D val="0"/>
        </c:ser>
        <c:ser>
          <c:idx val="2"/>
          <c:order val="2"/>
          <c:tx>
            <c:strRef>
              <c:f>Sheet1!$B$7</c:f>
              <c:strCache>
                <c:ptCount val="1"/>
                <c:pt idx="0">
                  <c:v>PET-Based</c:v>
                </c:pt>
              </c:strCache>
            </c:strRef>
          </c:tx>
          <c:spPr>
            <a:solidFill>
              <a:srgbClr val="008189"/>
            </a:solidFill>
          </c:spPr>
          <c:invertIfNegative val="0"/>
          <c:xVal>
            <c:numRef>
              <c:f>Sheet1!$A$8:$A$8</c:f>
              <c:numCache>
                <c:formatCode>General</c:formatCode>
                <c:ptCount val="1"/>
                <c:pt idx="0">
                  <c:v>101.69695539757373</c:v>
                </c:pt>
              </c:numCache>
            </c:numRef>
          </c:xVal>
          <c:yVal>
            <c:numRef>
              <c:f>Sheet1!$B$8:$B$8</c:f>
              <c:numCache>
                <c:formatCode>General</c:formatCode>
                <c:ptCount val="1"/>
                <c:pt idx="0">
                  <c:v>111.71554415167637</c:v>
                </c:pt>
              </c:numCache>
            </c:numRef>
          </c:yVal>
          <c:bubbleSize>
            <c:numRef>
              <c:f>Sheet1!$C$8:$C$8</c:f>
              <c:numCache>
                <c:formatCode>General</c:formatCode>
                <c:ptCount val="1"/>
                <c:pt idx="0">
                  <c:v>6537.893</c:v>
                </c:pt>
              </c:numCache>
            </c:numRef>
          </c:bubbleSize>
          <c:bubble3D val="0"/>
        </c:ser>
        <c:ser>
          <c:idx val="3"/>
          <c:order val="3"/>
          <c:tx>
            <c:strRef>
              <c:f>Sheet1!$B$10</c:f>
              <c:strCache>
                <c:ptCount val="1"/>
                <c:pt idx="0">
                  <c:v>PA-Based</c:v>
                </c:pt>
              </c:strCache>
            </c:strRef>
          </c:tx>
          <c:spPr>
            <a:solidFill>
              <a:srgbClr val="40315E"/>
            </a:solidFill>
          </c:spPr>
          <c:invertIfNegative val="0"/>
          <c:xVal>
            <c:numRef>
              <c:f>Sheet1!$A$11:$A$11</c:f>
              <c:numCache>
                <c:formatCode>General</c:formatCode>
                <c:ptCount val="1"/>
                <c:pt idx="0">
                  <c:v>99.7779408432922</c:v>
                </c:pt>
              </c:numCache>
            </c:numRef>
          </c:xVal>
          <c:yVal>
            <c:numRef>
              <c:f>Sheet1!$B$11:$B$11</c:f>
              <c:numCache>
                <c:formatCode>General</c:formatCode>
                <c:ptCount val="1"/>
                <c:pt idx="0">
                  <c:v>90.13725741934987</c:v>
                </c:pt>
              </c:numCache>
            </c:numRef>
          </c:yVal>
          <c:bubbleSize>
            <c:numRef>
              <c:f>Sheet1!$C$11:$C$11</c:f>
              <c:numCache>
                <c:formatCode>General</c:formatCode>
                <c:ptCount val="1"/>
                <c:pt idx="0">
                  <c:v>5214.742</c:v>
                </c:pt>
              </c:numCache>
            </c:numRef>
          </c:bubbleSize>
          <c:bubble3D val="0"/>
        </c:ser>
        <c:ser>
          <c:idx val="4"/>
          <c:order val="4"/>
          <c:tx>
            <c:strRef>
              <c:f>Sheet1!$B$13</c:f>
              <c:strCache>
                <c:ptCount val="1"/>
                <c:pt idx="0">
                  <c:v>EVOH-Based</c:v>
                </c:pt>
              </c:strCache>
            </c:strRef>
          </c:tx>
          <c:spPr>
            <a:solidFill>
              <a:srgbClr val="A35313"/>
            </a:solidFill>
          </c:spPr>
          <c:invertIfNegative val="0"/>
          <c:xVal>
            <c:numRef>
              <c:f>Sheet1!$A$14:$A$14</c:f>
              <c:numCache>
                <c:formatCode>General</c:formatCode>
                <c:ptCount val="1"/>
                <c:pt idx="0">
                  <c:v>102.61001928144229</c:v>
                </c:pt>
              </c:numCache>
            </c:numRef>
          </c:xVal>
          <c:yVal>
            <c:numRef>
              <c:f>Sheet1!$B$14:$B$14</c:f>
              <c:numCache>
                <c:formatCode>General</c:formatCode>
                <c:ptCount val="1"/>
                <c:pt idx="0">
                  <c:v>88.64330406688046</c:v>
                </c:pt>
              </c:numCache>
            </c:numRef>
          </c:yVal>
          <c:bubbleSize>
            <c:numRef>
              <c:f>Sheet1!$C$14:$C$14</c:f>
              <c:numCache>
                <c:formatCode>General</c:formatCode>
                <c:ptCount val="1"/>
                <c:pt idx="0">
                  <c:v>5216.09</c:v>
                </c:pt>
              </c:numCache>
            </c:numRef>
          </c:bubbleSize>
          <c:bubble3D val="0"/>
        </c:ser>
        <c:ser>
          <c:idx val="5"/>
          <c:order val="5"/>
          <c:tx>
            <c:strRef>
              <c:f>Sheet1!$B$16</c:f>
              <c:strCache>
                <c:ptCount val="1"/>
                <c:pt idx="0">
                  <c:v>PVDC-Based</c:v>
                </c:pt>
              </c:strCache>
            </c:strRef>
          </c:tx>
          <c:spPr>
            <a:solidFill>
              <a:srgbClr val="808080"/>
            </a:solidFill>
          </c:spPr>
          <c:invertIfNegative val="0"/>
          <c:xVal>
            <c:numRef>
              <c:f>Sheet1!$A$17:$A$17</c:f>
              <c:numCache>
                <c:formatCode>General</c:formatCode>
                <c:ptCount val="1"/>
                <c:pt idx="0">
                  <c:v>90.53121068070905</c:v>
                </c:pt>
              </c:numCache>
            </c:numRef>
          </c:xVal>
          <c:yVal>
            <c:numRef>
              <c:f>Sheet1!$B$17:$B$17</c:f>
              <c:numCache>
                <c:formatCode>General</c:formatCode>
                <c:ptCount val="1"/>
                <c:pt idx="0">
                  <c:v>56.3289616952842</c:v>
                </c:pt>
              </c:numCache>
            </c:numRef>
          </c:yVal>
          <c:bubbleSize>
            <c:numRef>
              <c:f>Sheet1!$C$17:$C$17</c:f>
              <c:numCache>
                <c:formatCode>General</c:formatCode>
                <c:ptCount val="1"/>
                <c:pt idx="0">
                  <c:v>3082.532</c:v>
                </c:pt>
              </c:numCache>
            </c:numRef>
          </c:bubbleSize>
          <c:bubble3D val="0"/>
        </c:ser>
        <c:ser>
          <c:idx val="6"/>
          <c:order val="6"/>
          <c:tx>
            <c:strRef>
              <c:f>Sheet1!$B$19</c:f>
              <c:strCache>
                <c:ptCount val="1"/>
                <c:pt idx="0">
                  <c:v>PVOH-Based</c:v>
                </c:pt>
              </c:strCache>
            </c:strRef>
          </c:tx>
          <c:spPr>
            <a:solidFill>
              <a:srgbClr val="0E72AE"/>
            </a:solidFill>
          </c:spPr>
          <c:invertIfNegative val="0"/>
          <c:xVal>
            <c:numRef>
              <c:f>Sheet1!$A$20:$A$20</c:f>
              <c:numCache>
                <c:formatCode>General</c:formatCode>
                <c:ptCount val="1"/>
                <c:pt idx="0">
                  <c:v>105.12672237455665</c:v>
                </c:pt>
              </c:numCache>
            </c:numRef>
          </c:xVal>
          <c:yVal>
            <c:numRef>
              <c:f>Sheet1!$B$20:$B$20</c:f>
              <c:numCache>
                <c:formatCode>General</c:formatCode>
                <c:ptCount val="1"/>
                <c:pt idx="0">
                  <c:v>22.206721109523297</c:v>
                </c:pt>
              </c:numCache>
            </c:numRef>
          </c:yVal>
          <c:bubbleSize>
            <c:numRef>
              <c:f>Sheet1!$C$20:$C$20</c:f>
              <c:numCache>
                <c:formatCode>General</c:formatCode>
                <c:ptCount val="1"/>
                <c:pt idx="0">
                  <c:v>1326.548</c:v>
                </c:pt>
              </c:numCache>
            </c:numRef>
          </c:bubbleSize>
          <c:bubble3D val="0"/>
        </c:ser>
        <c:ser>
          <c:idx val="7"/>
          <c:order val="7"/>
          <c:tx>
            <c:strRef>
              <c:f>Sheet1!$B$22</c:f>
              <c:strCache>
                <c:ptCount val="1"/>
                <c:pt idx="0">
                  <c:v>Metallized Barrier</c:v>
                </c:pt>
              </c:strCache>
            </c:strRef>
          </c:tx>
          <c:spPr>
            <a:solidFill>
              <a:srgbClr val="A86F00"/>
            </a:solidFill>
          </c:spPr>
          <c:invertIfNegative val="0"/>
          <c:xVal>
            <c:numRef>
              <c:f>Sheet1!$A$23:$A$23</c:f>
              <c:numCache>
                <c:formatCode>General</c:formatCode>
                <c:ptCount val="1"/>
                <c:pt idx="0">
                  <c:v>99.17157532309925</c:v>
                </c:pt>
              </c:numCache>
            </c:numRef>
          </c:xVal>
          <c:yVal>
            <c:numRef>
              <c:f>Sheet1!$B$23:$B$23</c:f>
              <c:numCache>
                <c:formatCode>General</c:formatCode>
                <c:ptCount val="1"/>
                <c:pt idx="0">
                  <c:v>67.41180161692863</c:v>
                </c:pt>
              </c:numCache>
            </c:numRef>
          </c:yVal>
          <c:bubbleSize>
            <c:numRef>
              <c:f>Sheet1!$C$23:$C$23</c:f>
              <c:numCache>
                <c:formatCode>General</c:formatCode>
                <c:ptCount val="1"/>
                <c:pt idx="0">
                  <c:v>3885.838</c:v>
                </c:pt>
              </c:numCache>
            </c:numRef>
          </c:bubbleSize>
          <c:bubble3D val="0"/>
        </c:ser>
        <c:ser>
          <c:idx val="8"/>
          <c:order val="8"/>
          <c:tx>
            <c:strRef>
              <c:f>Sheet1!$B$25</c:f>
              <c:strCache>
                <c:ptCount val="1"/>
                <c:pt idx="0">
                  <c:v>AlOx / SiOx-Coated</c:v>
                </c:pt>
              </c:strCache>
            </c:strRef>
          </c:tx>
          <c:spPr>
            <a:solidFill>
              <a:srgbClr val="0B2E4A"/>
            </a:solidFill>
          </c:spPr>
          <c:invertIfNegative val="0"/>
          <c:xVal>
            <c:numRef>
              <c:f>Sheet1!$A$26:$A$26</c:f>
              <c:numCache>
                <c:formatCode>General</c:formatCode>
                <c:ptCount val="1"/>
                <c:pt idx="0">
                  <c:v>103.98956145669887</c:v>
                </c:pt>
              </c:numCache>
            </c:numRef>
          </c:xVal>
          <c:yVal>
            <c:numRef>
              <c:f>Sheet1!$B$26:$B$26</c:f>
              <c:numCache>
                <c:formatCode>General</c:formatCode>
                <c:ptCount val="1"/>
                <c:pt idx="0">
                  <c:v>33.444691250611356</c:v>
                </c:pt>
              </c:numCache>
            </c:numRef>
          </c:yVal>
          <c:bubbleSize>
            <c:numRef>
              <c:f>Sheet1!$C$26:$C$26</c:f>
              <c:numCache>
                <c:formatCode>General</c:formatCode>
                <c:ptCount val="1"/>
                <c:pt idx="0">
                  <c:v>1984.322</c:v>
                </c:pt>
              </c:numCache>
            </c:numRef>
          </c:bubbleSize>
          <c:bubble3D val="0"/>
        </c:ser>
        <c:ser>
          <c:idx val="9"/>
          <c:order val="9"/>
          <c:tx>
            <c:strRef>
              <c:f>Sheet1!$B$28</c:f>
              <c:strCache>
                <c:ptCount val="1"/>
                <c:pt idx="0">
                  <c:v>Aluminum Foil-Based</c:v>
                </c:pt>
              </c:strCache>
            </c:strRef>
          </c:tx>
          <c:spPr>
            <a:solidFill>
              <a:srgbClr val="6C7A89"/>
            </a:solidFill>
          </c:spPr>
          <c:invertIfNegative val="0"/>
          <c:xVal>
            <c:numRef>
              <c:f>Sheet1!$A$29:$A$29</c:f>
              <c:numCache>
                <c:formatCode>General</c:formatCode>
                <c:ptCount val="1"/>
                <c:pt idx="0">
                  <c:v>91.95795296216758</c:v>
                </c:pt>
              </c:numCache>
            </c:numRef>
          </c:xVal>
          <c:yVal>
            <c:numRef>
              <c:f>Sheet1!$B$29:$B$29</c:f>
              <c:numCache>
                <c:formatCode>General</c:formatCode>
                <c:ptCount val="1"/>
                <c:pt idx="0">
                  <c:v>35.133406396554115</c:v>
                </c:pt>
              </c:numCache>
            </c:numRef>
          </c:yVal>
          <c:bubbleSize>
            <c:numRef>
              <c:f>Sheet1!$C$29:$C$29</c:f>
              <c:numCache>
                <c:formatCode>General</c:formatCode>
                <c:ptCount val="1"/>
                <c:pt idx="0">
                  <c:v>1939.24</c:v>
                </c:pt>
              </c:numCache>
            </c:numRef>
          </c:bubbleSize>
          <c:bubble3D val="0"/>
        </c:ser>
        <c:ser>
          <c:idx val="10"/>
          <c:order val="10"/>
          <c:tx>
            <c:strRef>
              <c:f>Sheet1!$B$31</c:f>
              <c:strCache>
                <c:ptCount val="1"/>
                <c:pt idx="0">
                  <c:v>Other Specialty Barrier Technologies</c:v>
                </c:pt>
              </c:strCache>
            </c:strRef>
          </c:tx>
          <c:spPr>
            <a:solidFill>
              <a:srgbClr val="B2B2B2"/>
            </a:solidFill>
          </c:spPr>
          <c:invertIfNegative val="0"/>
          <c:xVal>
            <c:numRef>
              <c:f>Sheet1!$A$32:$A$32</c:f>
              <c:numCache>
                <c:formatCode>General</c:formatCode>
                <c:ptCount val="1"/>
                <c:pt idx="0">
                  <c:v>107.0382737525783</c:v>
                </c:pt>
              </c:numCache>
            </c:numRef>
          </c:xVal>
          <c:yVal>
            <c:numRef>
              <c:f>Sheet1!$B$32:$B$32</c:f>
              <c:numCache>
                <c:formatCode>General</c:formatCode>
                <c:ptCount val="1"/>
                <c:pt idx="0">
                  <c:v>34.290634727313105</c:v>
                </c:pt>
              </c:numCache>
            </c:numRef>
          </c:yVal>
          <c:bubbleSize>
            <c:numRef>
              <c:f>Sheet1!$C$32:$C$32</c:f>
              <c:numCache>
                <c:formatCode>General</c:formatCode>
                <c:ptCount val="1"/>
                <c:pt idx="0">
                  <c:v>2071.927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4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10317.773</c:v>
                </c:pt>
                <c:pt idx="2">
                  <c:v>11535.144</c:v>
                </c:pt>
                <c:pt idx="3">
                  <c:v>13053.214</c:v>
                </c:pt>
                <c:pt idx="4">
                  <c:v>14887.585</c:v>
                </c:pt>
                <c:pt idx="5">
                  <c:v>17008.865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10317.773</c:v>
                </c:pt>
                <c:pt idx="1">
                  <c:v>1217.371000000001</c:v>
                </c:pt>
                <c:pt idx="2">
                  <c:v>1518.0699999999997</c:v>
                </c:pt>
                <c:pt idx="3">
                  <c:v>1834.3709999999992</c:v>
                </c:pt>
                <c:pt idx="4">
                  <c:v>2121.2800000000025</c:v>
                </c:pt>
                <c:pt idx="5">
                  <c:v>2379.378999999997</c:v>
                </c:pt>
                <c:pt idx="6">
                  <c:v>19388.244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7182.684</c:v>
                </c:pt>
                <c:pt idx="2">
                  <c:v>8037.081</c:v>
                </c:pt>
                <c:pt idx="3">
                  <c:v>9053.817</c:v>
                </c:pt>
                <c:pt idx="4">
                  <c:v>10217.915</c:v>
                </c:pt>
                <c:pt idx="5">
                  <c:v>11560.728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7182.684</c:v>
                </c:pt>
                <c:pt idx="1">
                  <c:v>854.3969999999999</c:v>
                </c:pt>
                <c:pt idx="2">
                  <c:v>1016.735999999999</c:v>
                </c:pt>
                <c:pt idx="3">
                  <c:v>1164.0980000000018</c:v>
                </c:pt>
                <c:pt idx="4">
                  <c:v>1342.8129999999983</c:v>
                </c:pt>
                <c:pt idx="5">
                  <c:v>1515.3850000000002</c:v>
                </c:pt>
                <c:pt idx="6">
                  <c:v>13076.113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3486.92</c:v>
                </c:pt>
                <c:pt idx="2">
                  <c:v>3915.023</c:v>
                </c:pt>
                <c:pt idx="3">
                  <c:v>4410.543</c:v>
                </c:pt>
                <c:pt idx="4">
                  <c:v>5011.727</c:v>
                </c:pt>
                <c:pt idx="5">
                  <c:v>5727.28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3486.92</c:v>
                </c:pt>
                <c:pt idx="1">
                  <c:v>428.10300000000007</c:v>
                </c:pt>
                <c:pt idx="2">
                  <c:v>495.5199999999995</c:v>
                </c:pt>
                <c:pt idx="3">
                  <c:v>601.1840000000002</c:v>
                </c:pt>
                <c:pt idx="4">
                  <c:v>715.5529999999999</c:v>
                </c:pt>
                <c:pt idx="5">
                  <c:v>810.6130000000003</c:v>
                </c:pt>
                <c:pt idx="6">
                  <c:v>6537.893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2813.408</c:v>
                </c:pt>
                <c:pt idx="2">
                  <c:v>3077.391</c:v>
                </c:pt>
                <c:pt idx="3">
                  <c:v>3431.895</c:v>
                </c:pt>
                <c:pt idx="4">
                  <c:v>3922.924</c:v>
                </c:pt>
                <c:pt idx="5">
                  <c:v>4527.707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2813.408</c:v>
                </c:pt>
                <c:pt idx="1">
                  <c:v>263.9830000000002</c:v>
                </c:pt>
                <c:pt idx="2">
                  <c:v>354.5039999999999</c:v>
                </c:pt>
                <c:pt idx="3">
                  <c:v>491.029</c:v>
                </c:pt>
                <c:pt idx="4">
                  <c:v>604.7830000000004</c:v>
                </c:pt>
                <c:pt idx="5">
                  <c:v>687.0349999999999</c:v>
                </c:pt>
                <c:pt idx="6">
                  <c:v>5214.742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2766.778</c:v>
                </c:pt>
                <c:pt idx="2">
                  <c:v>3091.188</c:v>
                </c:pt>
                <c:pt idx="3">
                  <c:v>3497.951</c:v>
                </c:pt>
                <c:pt idx="4">
                  <c:v>3998.564</c:v>
                </c:pt>
                <c:pt idx="5">
                  <c:v>4574.068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2766.778</c:v>
                </c:pt>
                <c:pt idx="1">
                  <c:v>324.4100000000003</c:v>
                </c:pt>
                <c:pt idx="2">
                  <c:v>406.7629999999999</c:v>
                </c:pt>
                <c:pt idx="3">
                  <c:v>500.61299999999983</c:v>
                </c:pt>
                <c:pt idx="4">
                  <c:v>575.5040000000004</c:v>
                </c:pt>
                <c:pt idx="5">
                  <c:v>642.0219999999999</c:v>
                </c:pt>
                <c:pt idx="6">
                  <c:v>5216.09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1758.167</c:v>
                </c:pt>
                <c:pt idx="2">
                  <c:v>1935.173</c:v>
                </c:pt>
                <c:pt idx="3">
                  <c:v>2153.962</c:v>
                </c:pt>
                <c:pt idx="4">
                  <c:v>2420.804</c:v>
                </c:pt>
                <c:pt idx="5">
                  <c:v>2732.484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1758.167</c:v>
                </c:pt>
                <c:pt idx="1">
                  <c:v>177.00600000000009</c:v>
                </c:pt>
                <c:pt idx="2">
                  <c:v>218.789</c:v>
                </c:pt>
                <c:pt idx="3">
                  <c:v>266.8420000000001</c:v>
                </c:pt>
                <c:pt idx="4">
                  <c:v>311.67999999999984</c:v>
                </c:pt>
                <c:pt idx="5">
                  <c:v>350.04800000000023</c:v>
                </c:pt>
                <c:pt idx="6">
                  <c:v>3082.532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693.127</c:v>
                </c:pt>
                <c:pt idx="2">
                  <c:v>770.58</c:v>
                </c:pt>
                <c:pt idx="3">
                  <c:v>873.671</c:v>
                </c:pt>
                <c:pt idx="4">
                  <c:v>1001.07</c:v>
                </c:pt>
                <c:pt idx="5">
                  <c:v>1152.75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693.127</c:v>
                </c:pt>
                <c:pt idx="1">
                  <c:v>77.45300000000009</c:v>
                </c:pt>
                <c:pt idx="2">
                  <c:v>103.09100000000001</c:v>
                </c:pt>
                <c:pt idx="3">
                  <c:v>127.399</c:v>
                </c:pt>
                <c:pt idx="4">
                  <c:v>151.67999999999995</c:v>
                </c:pt>
                <c:pt idx="5">
                  <c:v>173.798</c:v>
                </c:pt>
                <c:pt idx="6">
                  <c:v>1326.548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2104.09</c:v>
                </c:pt>
                <c:pt idx="2">
                  <c:v>2331.327</c:v>
                </c:pt>
                <c:pt idx="3">
                  <c:v>2617.305</c:v>
                </c:pt>
                <c:pt idx="4">
                  <c:v>2982.216</c:v>
                </c:pt>
                <c:pt idx="5">
                  <c:v>3407.314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2104.09</c:v>
                </c:pt>
                <c:pt idx="1">
                  <c:v>227.23700000000008</c:v>
                </c:pt>
                <c:pt idx="2">
                  <c:v>285.9779999999996</c:v>
                </c:pt>
                <c:pt idx="3">
                  <c:v>364.91100000000006</c:v>
                </c:pt>
                <c:pt idx="4">
                  <c:v>425.09799999999996</c:v>
                </c:pt>
                <c:pt idx="5">
                  <c:v>478.52400000000034</c:v>
                </c:pt>
                <c:pt idx="6">
                  <c:v>3885.838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1043.892</c:v>
                </c:pt>
                <c:pt idx="2">
                  <c:v>1166.498</c:v>
                </c:pt>
                <c:pt idx="3">
                  <c:v>1315.938</c:v>
                </c:pt>
                <c:pt idx="4">
                  <c:v>1503.755</c:v>
                </c:pt>
                <c:pt idx="5">
                  <c:v>1728.297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1043.892</c:v>
                </c:pt>
                <c:pt idx="1">
                  <c:v>122.606</c:v>
                </c:pt>
                <c:pt idx="2">
                  <c:v>149.44000000000005</c:v>
                </c:pt>
                <c:pt idx="3">
                  <c:v>187.817</c:v>
                </c:pt>
                <c:pt idx="4">
                  <c:v>224.54199999999992</c:v>
                </c:pt>
                <c:pt idx="5">
                  <c:v>256.02499999999986</c:v>
                </c:pt>
                <c:pt idx="6">
                  <c:v>1984.322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1096.601</c:v>
                </c:pt>
                <c:pt idx="2">
                  <c:v>1205.745</c:v>
                </c:pt>
                <c:pt idx="3">
                  <c:v>1341.188</c:v>
                </c:pt>
                <c:pt idx="4">
                  <c:v>1511.975</c:v>
                </c:pt>
                <c:pt idx="5">
                  <c:v>1712.803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1096.601</c:v>
                </c:pt>
                <c:pt idx="1">
                  <c:v>109.14399999999978</c:v>
                </c:pt>
                <c:pt idx="2">
                  <c:v>135.4430000000002</c:v>
                </c:pt>
                <c:pt idx="3">
                  <c:v>170.7869999999998</c:v>
                </c:pt>
                <c:pt idx="4">
                  <c:v>200.8280000000002</c:v>
                </c:pt>
                <c:pt idx="5">
                  <c:v>226.4369999999999</c:v>
                </c:pt>
                <c:pt idx="6">
                  <c:v>1939.24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1070.296</c:v>
                </c:pt>
                <c:pt idx="2">
                  <c:v>1224.483</c:v>
                </c:pt>
                <c:pt idx="3">
                  <c:v>1399.889</c:v>
                </c:pt>
                <c:pt idx="4">
                  <c:v>1600.181</c:v>
                </c:pt>
                <c:pt idx="5">
                  <c:v>1822.729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1070.296</c:v>
                </c:pt>
                <c:pt idx="1">
                  <c:v>154.1869999999999</c:v>
                </c:pt>
                <c:pt idx="2">
                  <c:v>175.40599999999995</c:v>
                </c:pt>
                <c:pt idx="3">
                  <c:v>200.29200000000014</c:v>
                </c:pt>
                <c:pt idx="4">
                  <c:v>222.548</c:v>
                </c:pt>
                <c:pt idx="5">
                  <c:v>249.1980000000001</c:v>
                </c:pt>
                <c:pt idx="6">
                  <c:v>2071.927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PE-Based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30.20465630317585</c:v>
                </c:pt>
                <c:pt idx="1">
                  <c:v>30.051413571770922</c:v>
                </c:pt>
                <c:pt idx="2">
                  <c:v>30.425584512486438</c:v>
                </c:pt>
              </c:numCache>
            </c:numRef>
          </c:val>
        </c:ser>
        <c:ser>
          <c:idx val="1"/>
          <c:order val="1"/>
          <c:tx>
            <c:strRef>
              <c:f>Sheet1!$C$1</c:f>
              <c:strCache>
                <c:ptCount val="1"/>
                <c:pt idx="0">
                  <c:v>PP-Based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20.506956690875604</c:v>
                </c:pt>
                <c:pt idx="1">
                  <c:v>20.92019347967259</c:v>
                </c:pt>
                <c:pt idx="2">
                  <c:v>20.520083261605464</c:v>
                </c:pt>
              </c:numCache>
            </c:numRef>
          </c:val>
        </c:ser>
        <c:ser>
          <c:idx val="2"/>
          <c:order val="2"/>
          <c:tx>
            <c:strRef>
              <c:f>Sheet1!$D$1</c:f>
              <c:strCache>
                <c:ptCount val="1"/>
                <c:pt idx="0">
                  <c:v>PET-Based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9.763954675452563</c:v>
                </c:pt>
                <c:pt idx="1">
                  <c:v>10.155958559243308</c:v>
                </c:pt>
                <c:pt idx="2">
                  <c:v>10.259785053514568</c:v>
                </c:pt>
              </c:numCache>
            </c:numRef>
          </c:val>
        </c:ser>
        <c:ser>
          <c:idx val="3"/>
          <c:order val="3"/>
          <c:tx>
            <c:strRef>
              <c:f>Sheet1!$E$1</c:f>
              <c:strCache>
                <c:ptCount val="1"/>
                <c:pt idx="0">
                  <c:v>EVOH-Based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7.806150412751873</c:v>
                </c:pt>
                <c:pt idx="1">
                  <c:v>8.058482187898223</c:v>
                </c:pt>
                <c:pt idx="2">
                  <c:v>8.185505975669347</c:v>
                </c:pt>
              </c:numCache>
            </c:numRef>
          </c:val>
        </c:ser>
        <c:ser>
          <c:idx val="4"/>
          <c:order val="4"/>
          <c:tx>
            <c:strRef>
              <c:f>Sheet1!$F$1</c:f>
              <c:strCache>
                <c:ptCount val="1"/>
                <c:pt idx="0">
                  <c:v>PA-Based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8.848915295237802</c:v>
                </c:pt>
                <c:pt idx="1">
                  <c:v>8.194296129031807</c:v>
                </c:pt>
                <c:pt idx="2">
                  <c:v>8.183390586162036</c:v>
                </c:pt>
              </c:numCache>
            </c:numRef>
          </c:val>
        </c:ser>
        <c:ser>
          <c:idx val="5"/>
          <c:order val="5"/>
          <c:tx>
            <c:strRef>
              <c:f>Sheet1!$G$1</c:f>
              <c:strCache>
                <c:ptCount val="1"/>
                <c:pt idx="0">
                  <c:v>Metallized Barrier</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6.322532159534612</c:v>
                </c:pt>
                <c:pt idx="1">
                  <c:v>6.128345601538966</c:v>
                </c:pt>
                <c:pt idx="2">
                  <c:v>6.097968050682222</c:v>
                </c:pt>
              </c:numCache>
            </c:numRef>
          </c:val>
        </c:ser>
        <c:ser>
          <c:idx val="6"/>
          <c:order val="6"/>
          <c:tx>
            <c:strRef>
              <c:f>Sheet1!$H$1</c:f>
              <c:strCache>
                <c:ptCount val="1"/>
                <c:pt idx="0">
                  <c:v>PVDC-Based</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5.340373724877728</c:v>
                </c:pt>
                <c:pt idx="1">
                  <c:v>5.12081469957129</c:v>
                </c:pt>
                <c:pt idx="2">
                  <c:v>4.837355970888537</c:v>
                </c:pt>
              </c:numCache>
            </c:numRef>
          </c:val>
        </c:ser>
        <c:ser>
          <c:idx val="7"/>
          <c:order val="7"/>
          <c:tx>
            <c:strRef>
              <c:f>Sheet1!$I$1</c:f>
              <c:strCache>
                <c:ptCount val="1"/>
                <c:pt idx="0">
                  <c:v>Other Specialty Barrier Technologies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2.8659462334590136</c:v>
                </c:pt>
                <c:pt idx="1">
                  <c:v>3.117330429755737</c:v>
                </c:pt>
                <c:pt idx="2">
                  <c:v>3.251433706023222</c:v>
                </c:pt>
              </c:numCache>
            </c:numRef>
          </c:val>
        </c:ser>
        <c:ser>
          <c:idx val="8"/>
          <c:order val="8"/>
          <c:tx>
            <c:strRef>
              <c:f>Sheet1!$J$1</c:f>
              <c:strCache>
                <c:ptCount val="1"/>
                <c:pt idx="0">
                  <c:v>AlOx / SiOx-Coated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Sheet1!$J$2:$J$4</c:f>
              <c:numCache>
                <c:formatCode>General</c:formatCode>
                <c:ptCount val="3"/>
                <c:pt idx="0">
                  <c:v>2.9376284687888954</c:v>
                </c:pt>
                <c:pt idx="1">
                  <c:v>3.0404264773283054</c:v>
                </c:pt>
                <c:pt idx="2">
                  <c:v>3.1139569272486005</c:v>
                </c:pt>
              </c:numCache>
            </c:numRef>
          </c:val>
        </c:ser>
        <c:ser>
          <c:idx val="9"/>
          <c:order val="9"/>
          <c:tx>
            <c:strRef>
              <c:f>Sheet1!$K$1</c:f>
              <c:strCache>
                <c:ptCount val="1"/>
                <c:pt idx="0">
                  <c:v>Aluminum Foil-Based</c:v>
                </c:pt>
              </c:strCache>
            </c:strRef>
          </c:tx>
          <c:spPr>
            <a:solidFill>
              <a:srgbClr val="6C7A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Sheet1!$K$2:$K$4</c:f>
              <c:numCache>
                <c:formatCode>General</c:formatCode>
                <c:ptCount val="3"/>
                <c:pt idx="0">
                  <c:v>3.321647185599196</c:v>
                </c:pt>
                <c:pt idx="1">
                  <c:v>3.193946036050374</c:v>
                </c:pt>
                <c:pt idx="2">
                  <c:v>3.043210644037397</c:v>
                </c:pt>
              </c:numCache>
            </c:numRef>
          </c:val>
        </c:ser>
        <c:ser>
          <c:idx val="10"/>
          <c:order val="10"/>
          <c:tx>
            <c:strRef>
              <c:f>Sheet1!$L$1</c:f>
              <c:strCache>
                <c:ptCount val="1"/>
                <c:pt idx="0">
                  <c:v>PVOH-Based</c:v>
                </c:pt>
              </c:strCache>
            </c:strRef>
          </c:tx>
          <c:spPr>
            <a:solidFill>
              <a:srgbClr val="B2B2B2"/>
            </a:solidFill>
            <a:ln>
              <a:noFill/>
            </a:ln>
          </c:spPr>
          <c:dLbls>
            <c:numFmt formatCode="0&quot;%&quot;" sourceLinked="0"/>
            <c:txPr>
              <a:bodyPr rot="0" vert="horz"/>
              <a:lstStyle/>
              <a:p>
                <a:pPr>
                  <a:defRPr sz="1100">
                    <a:solidFill>
                      <a:srgbClr val="2E2E2E"/>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Sheet1!$L$2:$L$4</c:f>
              <c:numCache>
                <c:formatCode>General</c:formatCode>
                <c:ptCount val="3"/>
                <c:pt idx="0">
                  <c:v>2.081238850246858</c:v>
                </c:pt>
                <c:pt idx="1">
                  <c:v>2.0187928281384817</c:v>
                </c:pt>
                <c:pt idx="2">
                  <c:v>2.0817253116821646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Monolayer Films</c:v>
                </c:pt>
              </c:strCache>
            </c:strRef>
          </c:tx>
          <c:spPr>
            <a:solidFill>
              <a:srgbClr val="3D85C6"/>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Sheet1!$B$2:$B$4</c:f>
              <c:numCache>
                <c:formatCode>General</c:formatCode>
                <c:ptCount val="3"/>
                <c:pt idx="0">
                  <c:v>14.846272773135013</c:v>
                </c:pt>
                <c:pt idx="1">
                  <c:v>14.666578741655709</c:v>
                </c:pt>
                <c:pt idx="2">
                  <c:v>16.902869100613657</c:v>
                </c:pt>
              </c:numCache>
            </c:numRef>
          </c:val>
        </c:ser>
        <c:ser>
          <c:idx val="1"/>
          <c:order val="1"/>
          <c:tx>
            <c:strRef>
              <c:f>Sheet1!$C$1</c:f>
              <c:strCache>
                <c:ptCount val="1"/>
                <c:pt idx="0">
                  <c:v>Coextruded Multilayer Films</c:v>
                </c:pt>
              </c:strCache>
            </c:strRef>
          </c:tx>
          <c:spPr>
            <a:solidFill>
              <a:srgbClr val="9E7E0A"/>
            </a:solidFill>
            <a:ln>
              <a:noFill/>
            </a:ln>
          </c:spPr>
          <c:dLbls>
            <c:dLbl>
              <c:idx val="0"/>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Sheet1!$C$2:$C$4</c:f>
              <c:numCache>
                <c:formatCode>General</c:formatCode>
                <c:ptCount val="3"/>
                <c:pt idx="0">
                  <c:v>29.280178918149684</c:v>
                </c:pt>
                <c:pt idx="1">
                  <c:v>29.269419482747537</c:v>
                </c:pt>
                <c:pt idx="2">
                  <c:v>28.404267985912547</c:v>
                </c:pt>
              </c:numCache>
            </c:numRef>
          </c:val>
        </c:ser>
        <c:ser>
          <c:idx val="2"/>
          <c:order val="2"/>
          <c:tx>
            <c:strRef>
              <c:f>Sheet1!$D$1</c:f>
              <c:strCache>
                <c:ptCount val="1"/>
                <c:pt idx="0">
                  <c:v>Laminated Films</c:v>
                </c:pt>
              </c:strCache>
            </c:strRef>
          </c:tx>
          <c:spPr>
            <a:solidFill>
              <a:srgbClr val="008189"/>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Sheet1!$D$2:$D$4</c:f>
              <c:numCache>
                <c:formatCode>General</c:formatCode>
                <c:ptCount val="3"/>
                <c:pt idx="0">
                  <c:v>26.071697640772467</c:v>
                </c:pt>
                <c:pt idx="1">
                  <c:v>26.046357240845992</c:v>
                </c:pt>
                <c:pt idx="2">
                  <c:v>25.339901718333525</c:v>
                </c:pt>
              </c:numCache>
            </c:numRef>
          </c:val>
        </c:ser>
        <c:ser>
          <c:idx val="3"/>
          <c:order val="3"/>
          <c:tx>
            <c:strRef>
              <c:f>Sheet1!$E$1</c:f>
              <c:strCache>
                <c:ptCount val="1"/>
                <c:pt idx="0">
                  <c:v>Coated Films</c:v>
                </c:pt>
              </c:strCache>
            </c:strRef>
          </c:tx>
          <c:spPr>
            <a:solidFill>
              <a:srgbClr val="40315E"/>
            </a:solidFill>
            <a:ln>
              <a:noFill/>
            </a:ln>
          </c:spPr>
          <c:cat>
            <c:strRef>
              <c:f>Sheet1!$A$2:$A$4</c:f>
              <c:strCache>
                <c:ptCount val="3"/>
                <c:pt idx="0">
                  <c:v>South Korea  ·  8,099</c:v>
                </c:pt>
                <c:pt idx="1">
                  <c:v>Japan  ·  13,102</c:v>
                </c:pt>
                <c:pt idx="2">
                  <c:v>China  ·  42,522</c:v>
                </c:pt>
              </c:strCache>
            </c:strRef>
          </c:cat>
          <c:val>
            <c:numRef>
              <c:f>Sheet1!$E$2:$E$4</c:f>
              <c:numCache>
                <c:formatCode>General</c:formatCode>
                <c:ptCount val="3"/>
                <c:pt idx="0">
                  <c:v>6.351401705767354</c:v>
                </c:pt>
                <c:pt idx="1">
                  <c:v>6.748610945106859</c:v>
                </c:pt>
                <c:pt idx="2">
                  <c:v>6.335037162230411</c:v>
                </c:pt>
              </c:numCache>
            </c:numRef>
          </c:val>
        </c:ser>
        <c:ser>
          <c:idx val="4"/>
          <c:order val="4"/>
          <c:tx>
            <c:strRef>
              <c:f>Sheet1!$F$1</c:f>
              <c:strCache>
                <c:ptCount val="1"/>
                <c:pt idx="0">
                  <c:v>Metallized Films</c:v>
                </c:pt>
              </c:strCache>
            </c:strRef>
          </c:tx>
          <c:spPr>
            <a:solidFill>
              <a:srgbClr val="A35313"/>
            </a:solidFill>
            <a:ln>
              <a:noFill/>
            </a:ln>
          </c:spPr>
          <c:dLbls>
            <c:dLbl>
              <c:idx val="0"/>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Sheet1!$F$2:$F$4</c:f>
              <c:numCache>
                <c:formatCode>General</c:formatCode>
                <c:ptCount val="3"/>
                <c:pt idx="0">
                  <c:v>7.058718074274144</c:v>
                </c:pt>
                <c:pt idx="1">
                  <c:v>6.486866125164611</c:v>
                </c:pt>
                <c:pt idx="2">
                  <c:v>7.067891871964563</c:v>
                </c:pt>
              </c:numCache>
            </c:numRef>
          </c:val>
        </c:ser>
        <c:ser>
          <c:idx val="5"/>
          <c:order val="5"/>
          <c:tx>
            <c:strRef>
              <c:f>Sheet1!$G$1</c:f>
              <c:strCache>
                <c:ptCount val="1"/>
                <c:pt idx="0">
                  <c:v>Foil-Laminated Structures</c:v>
                </c:pt>
              </c:strCache>
            </c:strRef>
          </c:tx>
          <c:spPr>
            <a:solidFill>
              <a:srgbClr val="808080"/>
            </a:solidFill>
            <a:ln>
              <a:noFill/>
            </a:ln>
          </c:spPr>
          <c:dLbls>
            <c:dLbl>
              <c:idx val="0"/>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Sheet1!$G$2:$G$4</c:f>
              <c:numCache>
                <c:formatCode>General</c:formatCode>
                <c:ptCount val="3"/>
                <c:pt idx="0">
                  <c:v>7.414512233456873</c:v>
                </c:pt>
                <c:pt idx="1">
                  <c:v>7.872982552227989</c:v>
                </c:pt>
                <c:pt idx="2">
                  <c:v>7.400980069855959</c:v>
                </c:pt>
              </c:numCache>
            </c:numRef>
          </c:val>
        </c:ser>
        <c:ser>
          <c:idx val="6"/>
          <c:order val="6"/>
          <c:tx>
            <c:strRef>
              <c:f>Sheet1!$H$1</c:f>
              <c:strCache>
                <c:ptCount val="1"/>
                <c:pt idx="0">
                  <c:v>Mono-Material Recyclable Structures</c:v>
                </c:pt>
              </c:strCache>
            </c:strRef>
          </c:tx>
          <c:spPr>
            <a:solidFill>
              <a:srgbClr val="0E72AE"/>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Sheet1!$H$2:$H$4</c:f>
              <c:numCache>
                <c:formatCode>General</c:formatCode>
                <c:ptCount val="3"/>
                <c:pt idx="0">
                  <c:v>8.977218654444444</c:v>
                </c:pt>
                <c:pt idx="1">
                  <c:v>8.909184912251296</c:v>
                </c:pt>
                <c:pt idx="2">
                  <c:v>8.549052091089356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Monolayer Films</c:v>
                </c:pt>
              </c:strCache>
            </c:strRef>
          </c:tx>
          <c:spPr>
            <a:solidFill>
              <a:srgbClr val="3D85C6"/>
            </a:solidFill>
          </c:spPr>
          <c:invertIfNegative val="0"/>
          <c:xVal>
            <c:numRef>
              <c:f>Sheet1!$A$2:$A$2</c:f>
              <c:numCache>
                <c:formatCode>General</c:formatCode>
                <c:ptCount val="1"/>
                <c:pt idx="0">
                  <c:v>102.05142115093709</c:v>
                </c:pt>
              </c:numCache>
            </c:numRef>
          </c:xVal>
          <c:yVal>
            <c:numRef>
              <c:f>Sheet1!$B$2:$B$2</c:f>
              <c:numCache>
                <c:formatCode>General</c:formatCode>
                <c:ptCount val="1"/>
                <c:pt idx="0">
                  <c:v>111.88760524051331</c:v>
                </c:pt>
              </c:numCache>
            </c:numRef>
          </c:yVal>
          <c:bubbleSize>
            <c:numRef>
              <c:f>Sheet1!$C$2:$C$2</c:f>
              <c:numCache>
                <c:formatCode>General</c:formatCode>
                <c:ptCount val="1"/>
                <c:pt idx="0">
                  <c:v>10311.527</c:v>
                </c:pt>
              </c:numCache>
            </c:numRef>
          </c:bubbleSize>
          <c:bubble3D val="0"/>
        </c:ser>
        <c:ser>
          <c:idx val="1"/>
          <c:order val="1"/>
          <c:tx>
            <c:strRef>
              <c:f>Sheet1!$B$4</c:f>
              <c:strCache>
                <c:ptCount val="1"/>
                <c:pt idx="0">
                  <c:v>Coextruded Multilayer Films</c:v>
                </c:pt>
              </c:strCache>
            </c:strRef>
          </c:tx>
          <c:spPr>
            <a:solidFill>
              <a:srgbClr val="9E7E0A"/>
            </a:solidFill>
          </c:spPr>
          <c:invertIfNegative val="0"/>
          <c:xVal>
            <c:numRef>
              <c:f>Sheet1!$A$5:$A$5</c:f>
              <c:numCache>
                <c:formatCode>General</c:formatCode>
                <c:ptCount val="1"/>
                <c:pt idx="0">
                  <c:v>97.92067212512224</c:v>
                </c:pt>
              </c:numCache>
            </c:numRef>
          </c:xVal>
          <c:yVal>
            <c:numRef>
              <c:f>Sheet1!$B$5:$B$5</c:f>
              <c:numCache>
                <c:formatCode>General</c:formatCode>
                <c:ptCount val="1"/>
                <c:pt idx="0">
                  <c:v>203.37619244232553</c:v>
                </c:pt>
              </c:numCache>
            </c:numRef>
          </c:yVal>
          <c:bubbleSize>
            <c:numRef>
              <c:f>Sheet1!$C$5:$C$5</c:f>
              <c:numCache>
                <c:formatCode>General</c:formatCode>
                <c:ptCount val="1"/>
                <c:pt idx="0">
                  <c:v>18284.488</c:v>
                </c:pt>
              </c:numCache>
            </c:numRef>
          </c:bubbleSize>
          <c:bubble3D val="0"/>
        </c:ser>
        <c:ser>
          <c:idx val="2"/>
          <c:order val="2"/>
          <c:tx>
            <c:strRef>
              <c:f>Sheet1!$B$7</c:f>
              <c:strCache>
                <c:ptCount val="1"/>
                <c:pt idx="0">
                  <c:v>Laminated Films</c:v>
                </c:pt>
              </c:strCache>
            </c:strRef>
          </c:tx>
          <c:spPr>
            <a:solidFill>
              <a:srgbClr val="008189"/>
            </a:solidFill>
          </c:spPr>
          <c:invertIfNegative val="0"/>
          <c:xVal>
            <c:numRef>
              <c:f>Sheet1!$A$8:$A$8</c:f>
              <c:numCache>
                <c:formatCode>General</c:formatCode>
                <c:ptCount val="1"/>
                <c:pt idx="0">
                  <c:v>98.75856185956738</c:v>
                </c:pt>
              </c:numCache>
            </c:numRef>
          </c:xVal>
          <c:yVal>
            <c:numRef>
              <c:f>Sheet1!$B$8:$B$8</c:f>
              <c:numCache>
                <c:formatCode>General</c:formatCode>
                <c:ptCount val="1"/>
                <c:pt idx="0">
                  <c:v>180.38560091450583</c:v>
                </c:pt>
              </c:numCache>
            </c:numRef>
          </c:yVal>
          <c:bubbleSize>
            <c:numRef>
              <c:f>Sheet1!$C$8:$C$8</c:f>
              <c:numCache>
                <c:formatCode>General</c:formatCode>
                <c:ptCount val="1"/>
                <c:pt idx="0">
                  <c:v>16299.3</c:v>
                </c:pt>
              </c:numCache>
            </c:numRef>
          </c:bubbleSize>
          <c:bubble3D val="0"/>
        </c:ser>
        <c:ser>
          <c:idx val="3"/>
          <c:order val="3"/>
          <c:tx>
            <c:strRef>
              <c:f>Sheet1!$B$10</c:f>
              <c:strCache>
                <c:ptCount val="1"/>
                <c:pt idx="0">
                  <c:v>Coated Films</c:v>
                </c:pt>
              </c:strCache>
            </c:strRef>
          </c:tx>
          <c:spPr>
            <a:solidFill>
              <a:srgbClr val="40315E"/>
            </a:solidFill>
          </c:spPr>
          <c:invertIfNegative val="0"/>
          <c:xVal>
            <c:numRef>
              <c:f>Sheet1!$A$11:$A$11</c:f>
              <c:numCache>
                <c:formatCode>General</c:formatCode>
                <c:ptCount val="1"/>
                <c:pt idx="0">
                  <c:v>99.1144003386087</c:v>
                </c:pt>
              </c:numCache>
            </c:numRef>
          </c:xVal>
          <c:yVal>
            <c:numRef>
              <c:f>Sheet1!$B$11:$B$11</c:f>
              <c:numCache>
                <c:formatCode>General</c:formatCode>
                <c:ptCount val="1"/>
                <c:pt idx="0">
                  <c:v>45.19450781586951</c:v>
                </c:pt>
              </c:numCache>
            </c:numRef>
          </c:yVal>
          <c:bubbleSize>
            <c:numRef>
              <c:f>Sheet1!$C$11:$C$11</c:f>
              <c:numCache>
                <c:formatCode>General</c:formatCode>
                <c:ptCount val="1"/>
                <c:pt idx="0">
                  <c:v>4092.419</c:v>
                </c:pt>
              </c:numCache>
            </c:numRef>
          </c:bubbleSize>
          <c:bubble3D val="0"/>
        </c:ser>
        <c:ser>
          <c:idx val="4"/>
          <c:order val="4"/>
          <c:tx>
            <c:strRef>
              <c:f>Sheet1!$B$13</c:f>
              <c:strCache>
                <c:ptCount val="1"/>
                <c:pt idx="0">
                  <c:v>Metallized Films</c:v>
                </c:pt>
              </c:strCache>
            </c:strRef>
          </c:tx>
          <c:spPr>
            <a:solidFill>
              <a:srgbClr val="A35313"/>
            </a:solidFill>
          </c:spPr>
          <c:invertIfNegative val="0"/>
          <c:xVal>
            <c:numRef>
              <c:f>Sheet1!$A$14:$A$14</c:f>
              <c:numCache>
                <c:formatCode>General</c:formatCode>
                <c:ptCount val="1"/>
                <c:pt idx="0">
                  <c:v>94.57826706320502</c:v>
                </c:pt>
              </c:numCache>
            </c:numRef>
          </c:xVal>
          <c:yVal>
            <c:numRef>
              <c:f>Sheet1!$B$14:$B$14</c:f>
              <c:numCache>
                <c:formatCode>General</c:formatCode>
                <c:ptCount val="1"/>
                <c:pt idx="0">
                  <c:v>50.240646692221326</c:v>
                </c:pt>
              </c:numCache>
            </c:numRef>
          </c:yVal>
          <c:bubbleSize>
            <c:numRef>
              <c:f>Sheet1!$C$14:$C$14</c:f>
              <c:numCache>
                <c:formatCode>General</c:formatCode>
                <c:ptCount val="1"/>
                <c:pt idx="0">
                  <c:v>4427.038</c:v>
                </c:pt>
              </c:numCache>
            </c:numRef>
          </c:bubbleSize>
          <c:bubble3D val="0"/>
        </c:ser>
        <c:ser>
          <c:idx val="5"/>
          <c:order val="5"/>
          <c:tx>
            <c:strRef>
              <c:f>Sheet1!$B$16</c:f>
              <c:strCache>
                <c:ptCount val="1"/>
                <c:pt idx="0">
                  <c:v>Foil-Laminated Structures</c:v>
                </c:pt>
              </c:strCache>
            </c:strRef>
          </c:tx>
          <c:spPr>
            <a:solidFill>
              <a:srgbClr val="808080"/>
            </a:solidFill>
          </c:spPr>
          <c:invertIfNegative val="0"/>
          <c:xVal>
            <c:numRef>
              <c:f>Sheet1!$A$17:$A$17</c:f>
              <c:numCache>
                <c:formatCode>General</c:formatCode>
                <c:ptCount val="1"/>
                <c:pt idx="0">
                  <c:v>101.20546011376636</c:v>
                </c:pt>
              </c:numCache>
            </c:numRef>
          </c:xVal>
          <c:yVal>
            <c:numRef>
              <c:f>Sheet1!$B$17:$B$17</c:f>
              <c:numCache>
                <c:formatCode>General</c:formatCode>
                <c:ptCount val="1"/>
                <c:pt idx="0">
                  <c:v>52.12022658996388</c:v>
                </c:pt>
              </c:numCache>
            </c:numRef>
          </c:yVal>
          <c:bubbleSize>
            <c:numRef>
              <c:f>Sheet1!$C$17:$C$17</c:f>
              <c:numCache>
                <c:formatCode>General</c:formatCode>
                <c:ptCount val="1"/>
                <c:pt idx="0">
                  <c:v>4779.101</c:v>
                </c:pt>
              </c:numCache>
            </c:numRef>
          </c:bubbleSize>
          <c:bubble3D val="0"/>
        </c:ser>
        <c:ser>
          <c:idx val="6"/>
          <c:order val="6"/>
          <c:tx>
            <c:strRef>
              <c:f>Sheet1!$B$19</c:f>
              <c:strCache>
                <c:ptCount val="1"/>
                <c:pt idx="0">
                  <c:v>Mono-Material Recyclable Structures</c:v>
                </c:pt>
              </c:strCache>
            </c:strRef>
          </c:tx>
          <c:spPr>
            <a:solidFill>
              <a:srgbClr val="0E72AE"/>
            </a:solidFill>
          </c:spPr>
          <c:invertIfNegative val="0"/>
          <c:xVal>
            <c:numRef>
              <c:f>Sheet1!$A$20:$A$20</c:f>
              <c:numCache>
                <c:formatCode>General</c:formatCode>
                <c:ptCount val="1"/>
                <c:pt idx="0">
                  <c:v>111.24244548427727</c:v>
                </c:pt>
              </c:numCache>
            </c:numRef>
          </c:xVal>
          <c:yVal>
            <c:numRef>
              <c:f>Sheet1!$B$20:$B$20</c:f>
              <c:numCache>
                <c:formatCode>General</c:formatCode>
                <c:ptCount val="1"/>
                <c:pt idx="0">
                  <c:v>56.79522030460071</c:v>
                </c:pt>
              </c:numCache>
            </c:numRef>
          </c:yVal>
          <c:bubbleSize>
            <c:numRef>
              <c:f>Sheet1!$C$20:$C$20</c:f>
              <c:numCache>
                <c:formatCode>General</c:formatCode>
                <c:ptCount val="1"/>
                <c:pt idx="0">
                  <c:v>5529.618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5487.885</c:v>
                </c:pt>
                <c:pt idx="2">
                  <c:v>6181.794</c:v>
                </c:pt>
                <c:pt idx="3">
                  <c:v>7007.646</c:v>
                </c:pt>
                <c:pt idx="4">
                  <c:v>7957.971</c:v>
                </c:pt>
                <c:pt idx="5">
                  <c:v>9062.228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5487.885</c:v>
                </c:pt>
                <c:pt idx="1">
                  <c:v>693.9089999999997</c:v>
                </c:pt>
                <c:pt idx="2">
                  <c:v>825.8519999999999</c:v>
                </c:pt>
                <c:pt idx="3">
                  <c:v>950.3249999999998</c:v>
                </c:pt>
                <c:pt idx="4">
                  <c:v>1104.2569999999996</c:v>
                </c:pt>
                <c:pt idx="5">
                  <c:v>1249.299000000001</c:v>
                </c:pt>
                <c:pt idx="6">
                  <c:v>10311.527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9975.235</c:v>
                </c:pt>
                <c:pt idx="2">
                  <c:v>11085.681</c:v>
                </c:pt>
                <c:pt idx="3">
                  <c:v>12468.489</c:v>
                </c:pt>
                <c:pt idx="4">
                  <c:v>14153.696</c:v>
                </c:pt>
                <c:pt idx="5">
                  <c:v>16100.016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9975.235</c:v>
                </c:pt>
                <c:pt idx="1">
                  <c:v>1110.446</c:v>
                </c:pt>
                <c:pt idx="2">
                  <c:v>1382.807999999999</c:v>
                </c:pt>
                <c:pt idx="3">
                  <c:v>1685.2070000000003</c:v>
                </c:pt>
                <c:pt idx="4">
                  <c:v>1946.3199999999997</c:v>
                </c:pt>
                <c:pt idx="5">
                  <c:v>2184.4720000000016</c:v>
                </c:pt>
                <c:pt idx="6">
                  <c:v>18284.488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8847.588</c:v>
                </c:pt>
                <c:pt idx="2">
                  <c:v>9865.488</c:v>
                </c:pt>
                <c:pt idx="3">
                  <c:v>11101.957</c:v>
                </c:pt>
                <c:pt idx="4">
                  <c:v>12605.197</c:v>
                </c:pt>
                <c:pt idx="5">
                  <c:v>14346.069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8847.588</c:v>
                </c:pt>
                <c:pt idx="1">
                  <c:v>1017.8999999999996</c:v>
                </c:pt>
                <c:pt idx="2">
                  <c:v>1236.469000000001</c:v>
                </c:pt>
                <c:pt idx="3">
                  <c:v>1503.2399999999998</c:v>
                </c:pt>
                <c:pt idx="4">
                  <c:v>1740.8719999999994</c:v>
                </c:pt>
                <c:pt idx="5">
                  <c:v>1953.2309999999998</c:v>
                </c:pt>
                <c:pt idx="6">
                  <c:v>16299.3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2216.709</c:v>
                </c:pt>
                <c:pt idx="2">
                  <c:v>2469.297</c:v>
                </c:pt>
                <c:pt idx="3">
                  <c:v>2782.814</c:v>
                </c:pt>
                <c:pt idx="4">
                  <c:v>3165.975</c:v>
                </c:pt>
                <c:pt idx="5">
                  <c:v>3605.064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2216.709</c:v>
                </c:pt>
                <c:pt idx="1">
                  <c:v>252.5880000000002</c:v>
                </c:pt>
                <c:pt idx="2">
                  <c:v>313.5169999999998</c:v>
                </c:pt>
                <c:pt idx="3">
                  <c:v>383.16100000000006</c:v>
                </c:pt>
                <c:pt idx="4">
                  <c:v>439.08899999999994</c:v>
                </c:pt>
                <c:pt idx="5">
                  <c:v>487.355</c:v>
                </c:pt>
                <c:pt idx="6">
                  <c:v>4092.419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2464.213</c:v>
                </c:pt>
                <c:pt idx="2">
                  <c:v>2744.76</c:v>
                </c:pt>
                <c:pt idx="3">
                  <c:v>3066.134</c:v>
                </c:pt>
                <c:pt idx="4">
                  <c:v>3453.751</c:v>
                </c:pt>
                <c:pt idx="5">
                  <c:v>3912.038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2464.213</c:v>
                </c:pt>
                <c:pt idx="1">
                  <c:v>280.547</c:v>
                </c:pt>
                <c:pt idx="2">
                  <c:v>321.3739999999998</c:v>
                </c:pt>
                <c:pt idx="3">
                  <c:v>387.6170000000002</c:v>
                </c:pt>
                <c:pt idx="4">
                  <c:v>458.2869999999998</c:v>
                </c:pt>
                <c:pt idx="5">
                  <c:v>514.9999999999995</c:v>
                </c:pt>
                <c:pt idx="6">
                  <c:v>4427.038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2556.403</c:v>
                </c:pt>
                <c:pt idx="2">
                  <c:v>2834.04</c:v>
                </c:pt>
                <c:pt idx="3">
                  <c:v>3198.402</c:v>
                </c:pt>
                <c:pt idx="4">
                  <c:v>3645.97</c:v>
                </c:pt>
                <c:pt idx="5">
                  <c:v>4175.921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2556.403</c:v>
                </c:pt>
                <c:pt idx="1">
                  <c:v>277.63700000000017</c:v>
                </c:pt>
                <c:pt idx="2">
                  <c:v>364.3620000000001</c:v>
                </c:pt>
                <c:pt idx="3">
                  <c:v>447.56799999999976</c:v>
                </c:pt>
                <c:pt idx="4">
                  <c:v>529.9510000000005</c:v>
                </c:pt>
                <c:pt idx="5">
                  <c:v>603.1799999999994</c:v>
                </c:pt>
                <c:pt idx="6">
                  <c:v>4779.101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2785.703</c:v>
                </c:pt>
                <c:pt idx="2">
                  <c:v>3108.574</c:v>
                </c:pt>
                <c:pt idx="3">
                  <c:v>3523.928</c:v>
                </c:pt>
                <c:pt idx="4">
                  <c:v>4076.156</c:v>
                </c:pt>
                <c:pt idx="5">
                  <c:v>4753.692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2785.703</c:v>
                </c:pt>
                <c:pt idx="1">
                  <c:v>322.8710000000001</c:v>
                </c:pt>
                <c:pt idx="2">
                  <c:v>415.3539999999998</c:v>
                </c:pt>
                <c:pt idx="3">
                  <c:v>552.2280000000001</c:v>
                </c:pt>
                <c:pt idx="4">
                  <c:v>677.5360000000001</c:v>
                </c:pt>
                <c:pt idx="5">
                  <c:v>775.9260000000004</c:v>
                </c:pt>
                <c:pt idx="6">
                  <c:v>5529.618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Coextruded Multilayer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29.39124117576291</c:v>
                </c:pt>
                <c:pt idx="1">
                  <c:v>29.05374177747508</c:v>
                </c:pt>
                <c:pt idx="2">
                  <c:v>28.693481341127402</c:v>
                </c:pt>
              </c:numCache>
            </c:numRef>
          </c:val>
        </c:ser>
        <c:ser>
          <c:idx val="1"/>
          <c:order val="1"/>
          <c:tx>
            <c:strRef>
              <c:f>Sheet1!$C$1</c:f>
              <c:strCache>
                <c:ptCount val="1"/>
                <c:pt idx="0">
                  <c:v>Laminated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25.86406207900844</c:v>
                </c:pt>
                <c:pt idx="1">
                  <c:v>25.769371559215116</c:v>
                </c:pt>
                <c:pt idx="2">
                  <c:v>25.57816551513162</c:v>
                </c:pt>
              </c:numCache>
            </c:numRef>
          </c:val>
        </c:ser>
        <c:ser>
          <c:idx val="2"/>
          <c:order val="2"/>
          <c:tx>
            <c:strRef>
              <c:f>Sheet1!$D$1</c:f>
              <c:strCache>
                <c:ptCount val="1"/>
                <c:pt idx="0">
                  <c:v>Monolayer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15.413771600054513</c:v>
                </c:pt>
                <c:pt idx="1">
                  <c:v>15.983943605787616</c:v>
                </c:pt>
                <c:pt idx="2">
                  <c:v>16.181673097602264</c:v>
                </c:pt>
              </c:numCache>
            </c:numRef>
          </c:val>
        </c:ser>
        <c:ser>
          <c:idx val="3"/>
          <c:order val="3"/>
          <c:tx>
            <c:strRef>
              <c:f>Sheet1!$E$1</c:f>
              <c:strCache>
                <c:ptCount val="1"/>
                <c:pt idx="0">
                  <c:v>Mono-Material Recyclable Structures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8.287146706519657</c:v>
                </c:pt>
                <c:pt idx="1">
                  <c:v>8.113602900657243</c:v>
                </c:pt>
                <c:pt idx="2">
                  <c:v>8.677518938816457</c:v>
                </c:pt>
              </c:numCache>
            </c:numRef>
          </c:val>
        </c:ser>
        <c:ser>
          <c:idx val="4"/>
          <c:order val="4"/>
          <c:tx>
            <c:strRef>
              <c:f>Sheet1!$F$1</c:f>
              <c:strCache>
                <c:ptCount val="1"/>
                <c:pt idx="0">
                  <c:v>Foil-Laminated Structures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7.704711300940727</c:v>
                </c:pt>
                <c:pt idx="1">
                  <c:v>7.445746655709125</c:v>
                </c:pt>
                <c:pt idx="2">
                  <c:v>7.499747620543889</c:v>
                </c:pt>
              </c:numCache>
            </c:numRef>
          </c:val>
        </c:ser>
        <c:ser>
          <c:idx val="5"/>
          <c:order val="5"/>
          <c:tx>
            <c:strRef>
              <c:f>Sheet1!$G$1</c:f>
              <c:strCache>
                <c:ptCount val="1"/>
                <c:pt idx="0">
                  <c:v>Metallized Films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7.038646620810268</c:v>
                </c:pt>
                <c:pt idx="1">
                  <c:v>7.177235241745904</c:v>
                </c:pt>
                <c:pt idx="2">
                  <c:v>6.9472621956634475</c:v>
                </c:pt>
              </c:numCache>
            </c:numRef>
          </c:val>
        </c:ser>
        <c:ser>
          <c:idx val="6"/>
          <c:order val="6"/>
          <c:tx>
            <c:strRef>
              <c:f>Sheet1!$H$1</c:f>
              <c:strCache>
                <c:ptCount val="1"/>
                <c:pt idx="0">
                  <c:v>Coated Films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6.300420516903481</c:v>
                </c:pt>
                <c:pt idx="1">
                  <c:v>6.456358259409929</c:v>
                </c:pt>
                <c:pt idx="2">
                  <c:v>6.422151291114919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Low-Barrier Films</c:v>
                </c:pt>
              </c:strCache>
            </c:strRef>
          </c:tx>
          <c:spPr>
            <a:solidFill>
              <a:srgbClr val="3D85C6"/>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Sheet1!$B$2:$B$4</c:f>
              <c:numCache>
                <c:formatCode>General</c:formatCode>
                <c:ptCount val="3"/>
                <c:pt idx="0">
                  <c:v>21.66766571864762</c:v>
                </c:pt>
                <c:pt idx="1">
                  <c:v>20.450733254195725</c:v>
                </c:pt>
                <c:pt idx="2">
                  <c:v>19.908242943017594</c:v>
                </c:pt>
              </c:numCache>
            </c:numRef>
          </c:val>
        </c:ser>
        <c:ser>
          <c:idx val="1"/>
          <c:order val="1"/>
          <c:tx>
            <c:strRef>
              <c:f>Sheet1!$C$1</c:f>
              <c:strCache>
                <c:ptCount val="1"/>
                <c:pt idx="0">
                  <c:v>Medium-Barrier Films</c:v>
                </c:pt>
              </c:strCache>
            </c:strRef>
          </c:tx>
          <c:spPr>
            <a:solidFill>
              <a:srgbClr val="9E7E0A"/>
            </a:solidFill>
            <a:ln>
              <a:noFill/>
            </a:ln>
          </c:spPr>
          <c:dLbls>
            <c:dLbl>
              <c:idx val="0"/>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Sheet1!$C$2:$C$4</c:f>
              <c:numCache>
                <c:formatCode>General</c:formatCode>
                <c:ptCount val="3"/>
                <c:pt idx="0">
                  <c:v>30.423682408886147</c:v>
                </c:pt>
                <c:pt idx="1">
                  <c:v>33.218483823132416</c:v>
                </c:pt>
                <c:pt idx="2">
                  <c:v>32.75509635349361</c:v>
                </c:pt>
              </c:numCache>
            </c:numRef>
          </c:val>
        </c:ser>
        <c:ser>
          <c:idx val="2"/>
          <c:order val="2"/>
          <c:tx>
            <c:strRef>
              <c:f>Sheet1!$D$1</c:f>
              <c:strCache>
                <c:ptCount val="1"/>
                <c:pt idx="0">
                  <c:v>High-Barrier Films</c:v>
                </c:pt>
              </c:strCache>
            </c:strRef>
          </c:tx>
          <c:spPr>
            <a:solidFill>
              <a:srgbClr val="008189"/>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Sheet1!$D$2:$D$4</c:f>
              <c:numCache>
                <c:formatCode>General</c:formatCode>
                <c:ptCount val="3"/>
                <c:pt idx="0">
                  <c:v>34.46163856459997</c:v>
                </c:pt>
                <c:pt idx="1">
                  <c:v>32.07097838639733</c:v>
                </c:pt>
                <c:pt idx="2">
                  <c:v>34.025796486389304</c:v>
                </c:pt>
              </c:numCache>
            </c:numRef>
          </c:val>
        </c:ser>
        <c:ser>
          <c:idx val="3"/>
          <c:order val="3"/>
          <c:tx>
            <c:strRef>
              <c:f>Sheet1!$E$1</c:f>
              <c:strCache>
                <c:ptCount val="1"/>
                <c:pt idx="0">
                  <c:v>Ultra-High-Barrier Films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Sheet1!$E$2:$E$4</c:f>
              <c:numCache>
                <c:formatCode>General</c:formatCode>
                <c:ptCount val="3"/>
                <c:pt idx="0">
                  <c:v>13.447013307866252</c:v>
                </c:pt>
                <c:pt idx="1">
                  <c:v>14.259804536274526</c:v>
                </c:pt>
                <c:pt idx="2">
                  <c:v>13.310864217099496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Low-Barrier Films</c:v>
                </c:pt>
              </c:strCache>
            </c:strRef>
          </c:tx>
          <c:spPr>
            <a:solidFill>
              <a:srgbClr val="3D85C6"/>
            </a:solidFill>
          </c:spPr>
          <c:invertIfNegative val="0"/>
          <c:xVal>
            <c:numRef>
              <c:f>Sheet1!$A$2:$A$2</c:f>
              <c:numCache>
                <c:formatCode>General</c:formatCode>
                <c:ptCount val="1"/>
                <c:pt idx="0">
                  <c:v>98.65154378367113</c:v>
                </c:pt>
              </c:numCache>
            </c:numRef>
          </c:xVal>
          <c:yVal>
            <c:numRef>
              <c:f>Sheet1!$B$2:$B$2</c:f>
              <c:numCache>
                <c:formatCode>General</c:formatCode>
                <c:ptCount val="1"/>
                <c:pt idx="0">
                  <c:v>81.63135178855431</c:v>
                </c:pt>
              </c:numCache>
            </c:numRef>
          </c:yVal>
          <c:bubbleSize>
            <c:numRef>
              <c:f>Sheet1!$C$2:$C$2</c:f>
              <c:numCache>
                <c:formatCode>General</c:formatCode>
                <c:ptCount val="1"/>
                <c:pt idx="0">
                  <c:v>12899.806</c:v>
                </c:pt>
              </c:numCache>
            </c:numRef>
          </c:bubbleSize>
          <c:bubble3D val="0"/>
        </c:ser>
        <c:ser>
          <c:idx val="1"/>
          <c:order val="1"/>
          <c:tx>
            <c:strRef>
              <c:f>Sheet1!$B$4</c:f>
              <c:strCache>
                <c:ptCount val="1"/>
                <c:pt idx="0">
                  <c:v>Medium-Barrier Films</c:v>
                </c:pt>
              </c:strCache>
            </c:strRef>
          </c:tx>
          <c:spPr>
            <a:solidFill>
              <a:srgbClr val="9E7E0A"/>
            </a:solidFill>
          </c:spPr>
          <c:invertIfNegative val="0"/>
          <c:xVal>
            <c:numRef>
              <c:f>Sheet1!$A$5:$A$5</c:f>
              <c:numCache>
                <c:formatCode>General</c:formatCode>
                <c:ptCount val="1"/>
                <c:pt idx="0">
                  <c:v>93.23105637280096</c:v>
                </c:pt>
              </c:numCache>
            </c:numRef>
          </c:xVal>
          <c:yVal>
            <c:numRef>
              <c:f>Sheet1!$B$5:$B$5</c:f>
              <c:numCache>
                <c:formatCode>General</c:formatCode>
                <c:ptCount val="1"/>
                <c:pt idx="0">
                  <c:v>135.62197063616878</c:v>
                </c:pt>
              </c:numCache>
            </c:numRef>
          </c:yVal>
          <c:bubbleSize>
            <c:numRef>
              <c:f>Sheet1!$C$5:$C$5</c:f>
              <c:numCache>
                <c:formatCode>General</c:formatCode>
                <c:ptCount val="1"/>
                <c:pt idx="0">
                  <c:v>20744.575</c:v>
                </c:pt>
              </c:numCache>
            </c:numRef>
          </c:bubbleSize>
          <c:bubble3D val="0"/>
        </c:ser>
        <c:ser>
          <c:idx val="2"/>
          <c:order val="2"/>
          <c:tx>
            <c:strRef>
              <c:f>Sheet1!$B$7</c:f>
              <c:strCache>
                <c:ptCount val="1"/>
                <c:pt idx="0">
                  <c:v>High-Barrier Films</c:v>
                </c:pt>
              </c:strCache>
            </c:strRef>
          </c:tx>
          <c:spPr>
            <a:solidFill>
              <a:srgbClr val="008189"/>
            </a:solidFill>
          </c:spPr>
          <c:invertIfNegative val="0"/>
          <c:xVal>
            <c:numRef>
              <c:f>Sheet1!$A$8:$A$8</c:f>
              <c:numCache>
                <c:formatCode>General</c:formatCode>
                <c:ptCount val="1"/>
                <c:pt idx="0">
                  <c:v>107.5903539844314</c:v>
                </c:pt>
              </c:numCache>
            </c:numRef>
          </c:xVal>
          <c:yVal>
            <c:numRef>
              <c:f>Sheet1!$B$8:$B$8</c:f>
              <c:numCache>
                <c:formatCode>General</c:formatCode>
                <c:ptCount val="1"/>
                <c:pt idx="0">
                  <c:v>128.73569391736729</c:v>
                </c:pt>
              </c:numCache>
            </c:numRef>
          </c:yVal>
          <c:bubbleSize>
            <c:numRef>
              <c:f>Sheet1!$C$8:$C$8</c:f>
              <c:numCache>
                <c:formatCode>General</c:formatCode>
                <c:ptCount val="1"/>
                <c:pt idx="0">
                  <c:v>21461.604</c:v>
                </c:pt>
              </c:numCache>
            </c:numRef>
          </c:bubbleSize>
          <c:bubble3D val="0"/>
        </c:ser>
        <c:ser>
          <c:idx val="3"/>
          <c:order val="3"/>
          <c:tx>
            <c:strRef>
              <c:f>Sheet1!$B$10</c:f>
              <c:strCache>
                <c:ptCount val="1"/>
                <c:pt idx="0">
                  <c:v>Ultra-High-Barrier Films</c:v>
                </c:pt>
              </c:strCache>
            </c:strRef>
          </c:tx>
          <c:spPr>
            <a:solidFill>
              <a:srgbClr val="40315E"/>
            </a:solidFill>
          </c:spPr>
          <c:invertIfNegative val="0"/>
          <c:xVal>
            <c:numRef>
              <c:f>Sheet1!$A$11:$A$11</c:f>
              <c:numCache>
                <c:formatCode>General</c:formatCode>
                <c:ptCount val="1"/>
                <c:pt idx="0">
                  <c:v>100.25339414990191</c:v>
                </c:pt>
              </c:numCache>
            </c:numRef>
          </c:xVal>
          <c:yVal>
            <c:numRef>
              <c:f>Sheet1!$B$11:$B$11</c:f>
              <c:numCache>
                <c:formatCode>General</c:formatCode>
                <c:ptCount val="1"/>
                <c:pt idx="0">
                  <c:v>54.01098365790964</c:v>
                </c:pt>
              </c:numCache>
            </c:numRef>
          </c:yVal>
          <c:bubbleSize>
            <c:numRef>
              <c:f>Sheet1!$C$11:$C$11</c:f>
              <c:numCache>
                <c:formatCode>General</c:formatCode>
                <c:ptCount val="1"/>
                <c:pt idx="0">
                  <c:v>8617.505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7006.773</c:v>
                </c:pt>
                <c:pt idx="2">
                  <c:v>7773.475</c:v>
                </c:pt>
                <c:pt idx="3">
                  <c:v>8767.795</c:v>
                </c:pt>
                <c:pt idx="4">
                  <c:v>9983.923</c:v>
                </c:pt>
                <c:pt idx="5">
                  <c:v>11362.482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7006.773</c:v>
                </c:pt>
                <c:pt idx="1">
                  <c:v>766.7020000000002</c:v>
                </c:pt>
                <c:pt idx="2">
                  <c:v>994.3199999999997</c:v>
                </c:pt>
                <c:pt idx="3">
                  <c:v>1216.1280000000006</c:v>
                </c:pt>
                <c:pt idx="4">
                  <c:v>1378.5589999999993</c:v>
                </c:pt>
                <c:pt idx="5">
                  <c:v>1537.3240000000005</c:v>
                </c:pt>
                <c:pt idx="6">
                  <c:v>12899.806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11641.022</c:v>
                </c:pt>
                <c:pt idx="2">
                  <c:v>12914.337</c:v>
                </c:pt>
                <c:pt idx="3">
                  <c:v>14454.818</c:v>
                </c:pt>
                <c:pt idx="4">
                  <c:v>16273.698</c:v>
                </c:pt>
                <c:pt idx="5">
                  <c:v>18383.429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11641.022</c:v>
                </c:pt>
                <c:pt idx="1">
                  <c:v>1273.3149999999987</c:v>
                </c:pt>
                <c:pt idx="2">
                  <c:v>1540.4809999999998</c:v>
                </c:pt>
                <c:pt idx="3">
                  <c:v>1818.880000000001</c:v>
                </c:pt>
                <c:pt idx="4">
                  <c:v>2109.7309999999998</c:v>
                </c:pt>
                <c:pt idx="5">
                  <c:v>2361.1460000000006</c:v>
                </c:pt>
                <c:pt idx="6">
                  <c:v>20744.575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11049.943</c:v>
                </c:pt>
                <c:pt idx="2">
                  <c:v>12347.686</c:v>
                </c:pt>
                <c:pt idx="3">
                  <c:v>13975.725</c:v>
                </c:pt>
                <c:pt idx="4">
                  <c:v>16059.212</c:v>
                </c:pt>
                <c:pt idx="5">
                  <c:v>18580.16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11049.943</c:v>
                </c:pt>
                <c:pt idx="1">
                  <c:v>1297.7430000000004</c:v>
                </c:pt>
                <c:pt idx="2">
                  <c:v>1628.0390000000007</c:v>
                </c:pt>
                <c:pt idx="3">
                  <c:v>2083.486999999999</c:v>
                </c:pt>
                <c:pt idx="4">
                  <c:v>2520.9480000000003</c:v>
                </c:pt>
                <c:pt idx="5">
                  <c:v>2881.4439999999995</c:v>
                </c:pt>
                <c:pt idx="6">
                  <c:v>21461.604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4635.997</c:v>
                </c:pt>
                <c:pt idx="2">
                  <c:v>5254.135</c:v>
                </c:pt>
                <c:pt idx="3">
                  <c:v>5951.032</c:v>
                </c:pt>
                <c:pt idx="4">
                  <c:v>6741.882</c:v>
                </c:pt>
                <c:pt idx="5">
                  <c:v>7628.954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4635.997</c:v>
                </c:pt>
                <c:pt idx="1">
                  <c:v>618.1379999999999</c:v>
                </c:pt>
                <c:pt idx="2">
                  <c:v>696.8969999999999</c:v>
                </c:pt>
                <c:pt idx="3">
                  <c:v>790.8499999999995</c:v>
                </c:pt>
                <c:pt idx="4">
                  <c:v>887.0720000000001</c:v>
                </c:pt>
                <c:pt idx="5">
                  <c:v>988.5509999999995</c:v>
                </c:pt>
                <c:pt idx="6">
                  <c:v>8617.505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High-Barrier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32.40434064851983</c:v>
                </c:pt>
                <c:pt idx="1">
                  <c:v>32.18392347934182</c:v>
                </c:pt>
                <c:pt idx="2">
                  <c:v>33.679266468299204</c:v>
                </c:pt>
              </c:numCache>
            </c:numRef>
          </c:val>
        </c:ser>
        <c:ser>
          <c:idx val="1"/>
          <c:order val="1"/>
          <c:tx>
            <c:strRef>
              <c:f>Sheet1!$C$1</c:f>
              <c:strCache>
                <c:ptCount val="1"/>
                <c:pt idx="0">
                  <c:v>Medium-Barrier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34.22702822401696</c:v>
                </c:pt>
                <c:pt idx="1">
                  <c:v>33.905492659042196</c:v>
                </c:pt>
                <c:pt idx="2">
                  <c:v>32.55404718103168</c:v>
                </c:pt>
              </c:numCache>
            </c:numRef>
          </c:val>
        </c:ser>
        <c:ser>
          <c:idx val="2"/>
          <c:order val="2"/>
          <c:tx>
            <c:strRef>
              <c:f>Sheet1!$D$1</c:f>
              <c:strCache>
                <c:ptCount val="1"/>
                <c:pt idx="0">
                  <c:v>Low-Barrier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20.613197829494226</c:v>
                </c:pt>
                <c:pt idx="1">
                  <c:v>20.407837947138578</c:v>
                </c:pt>
                <c:pt idx="2">
                  <c:v>20.243407886165684</c:v>
                </c:pt>
              </c:numCache>
            </c:numRef>
          </c:val>
        </c:ser>
        <c:ser>
          <c:idx val="3"/>
          <c:order val="3"/>
          <c:tx>
            <c:strRef>
              <c:f>Sheet1!$E$1</c:f>
              <c:strCache>
                <c:ptCount val="1"/>
                <c:pt idx="0">
                  <c:v>Ultra-High-Barrier Films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12.755433297968985</c:v>
                </c:pt>
                <c:pt idx="1">
                  <c:v>13.50274591447741</c:v>
                </c:pt>
                <c:pt idx="2">
                  <c:v>13.523278464503436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Food Packaging</c:v>
                </c:pt>
              </c:strCache>
            </c:strRef>
          </c:tx>
          <c:spPr>
            <a:solidFill>
              <a:srgbClr val="3D85C6"/>
            </a:solidFill>
            <a:ln>
              <a:noFill/>
            </a:ln>
          </c:spPr>
          <c:dLbls>
            <c:dLbl>
              <c:idx val="0"/>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Sheet1!$B$2:$B$4</c:f>
              <c:numCache>
                <c:formatCode>General</c:formatCode>
                <c:ptCount val="3"/>
                <c:pt idx="0">
                  <c:v>84.41529338672366</c:v>
                </c:pt>
                <c:pt idx="1">
                  <c:v>83.18735516127867</c:v>
                </c:pt>
                <c:pt idx="2">
                  <c:v>82.85066595180653</c:v>
                </c:pt>
              </c:numCache>
            </c:numRef>
          </c:val>
        </c:ser>
        <c:ser>
          <c:idx val="1"/>
          <c:order val="1"/>
          <c:tx>
            <c:strRef>
              <c:f>Sheet1!$C$1</c:f>
              <c:strCache>
                <c:ptCount val="1"/>
                <c:pt idx="0">
                  <c:v>Non-Food Packaging</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Sheet1!$C$2:$C$4</c:f>
              <c:numCache>
                <c:formatCode>General</c:formatCode>
                <c:ptCount val="3"/>
                <c:pt idx="0">
                  <c:v>15.584706613276333</c:v>
                </c:pt>
                <c:pt idx="1">
                  <c:v>16.812644838721322</c:v>
                </c:pt>
                <c:pt idx="2">
                  <c:v>17.149334048193467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Food Packaging</c:v>
                </c:pt>
              </c:strCache>
            </c:strRef>
          </c:tx>
          <c:spPr>
            <a:solidFill>
              <a:srgbClr val="3D85C6"/>
            </a:solidFill>
          </c:spPr>
          <c:invertIfNegative val="0"/>
          <c:xVal>
            <c:numRef>
              <c:f>Sheet1!$A$2:$A$2</c:f>
              <c:numCache>
                <c:formatCode>General</c:formatCode>
                <c:ptCount val="1"/>
                <c:pt idx="0">
                  <c:v>100.1882440740181</c:v>
                </c:pt>
              </c:numCache>
            </c:numRef>
          </c:xVal>
          <c:yVal>
            <c:numRef>
              <c:f>Sheet1!$B$2:$B$2</c:f>
              <c:numCache>
                <c:formatCode>General</c:formatCode>
                <c:ptCount val="1"/>
                <c:pt idx="0">
                  <c:v>166.04995442820038</c:v>
                </c:pt>
              </c:numCache>
            </c:numRef>
          </c:yVal>
          <c:bubbleSize>
            <c:numRef>
              <c:f>Sheet1!$C$2:$C$2</c:f>
              <c:numCache>
                <c:formatCode>General</c:formatCode>
                <c:ptCount val="1"/>
                <c:pt idx="0">
                  <c:v>52966.171</c:v>
                </c:pt>
              </c:numCache>
            </c:numRef>
          </c:bubbleSize>
          <c:bubble3D val="0"/>
        </c:ser>
        <c:ser>
          <c:idx val="1"/>
          <c:order val="1"/>
          <c:tx>
            <c:strRef>
              <c:f>Sheet1!$B$4</c:f>
              <c:strCache>
                <c:ptCount val="1"/>
                <c:pt idx="0">
                  <c:v>Non-Food Packaging</c:v>
                </c:pt>
              </c:strCache>
            </c:strRef>
          </c:tx>
          <c:spPr>
            <a:solidFill>
              <a:srgbClr val="9E7E0A"/>
            </a:solidFill>
          </c:spPr>
          <c:invertIfNegative val="0"/>
          <c:xVal>
            <c:numRef>
              <c:f>Sheet1!$A$5:$A$5</c:f>
              <c:numCache>
                <c:formatCode>General</c:formatCode>
                <c:ptCount val="1"/>
                <c:pt idx="0">
                  <c:v>99.07653085282848</c:v>
                </c:pt>
              </c:numCache>
            </c:numRef>
          </c:xVal>
          <c:yVal>
            <c:numRef>
              <c:f>Sheet1!$B$5:$B$5</c:f>
              <c:numCache>
                <c:formatCode>General</c:formatCode>
                <c:ptCount val="1"/>
                <c:pt idx="0">
                  <c:v>33.950045571799606</c:v>
                </c:pt>
              </c:numCache>
            </c:numRef>
          </c:yVal>
          <c:bubbleSize>
            <c:numRef>
              <c:f>Sheet1!$C$5:$C$5</c:f>
              <c:numCache>
                <c:formatCode>General</c:formatCode>
                <c:ptCount val="1"/>
                <c:pt idx="0">
                  <c:v>10757.322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28505.574</c:v>
                </c:pt>
                <c:pt idx="2">
                  <c:v>31798.281</c:v>
                </c:pt>
                <c:pt idx="3">
                  <c:v>35849.836</c:v>
                </c:pt>
                <c:pt idx="4">
                  <c:v>40766.069</c:v>
                </c:pt>
                <c:pt idx="5">
                  <c:v>46502.736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28505.574</c:v>
                </c:pt>
                <c:pt idx="1">
                  <c:v>3292.7069999999985</c:v>
                </c:pt>
                <c:pt idx="2">
                  <c:v>4051.555000000004</c:v>
                </c:pt>
                <c:pt idx="3">
                  <c:v>4916.233</c:v>
                </c:pt>
                <c:pt idx="4">
                  <c:v>5736.666999999994</c:v>
                </c:pt>
                <c:pt idx="5">
                  <c:v>6463.435000000005</c:v>
                </c:pt>
                <c:pt idx="6">
                  <c:v>52966.171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5828.159</c:v>
                </c:pt>
                <c:pt idx="2">
                  <c:v>6491.353</c:v>
                </c:pt>
                <c:pt idx="3">
                  <c:v>7299.535</c:v>
                </c:pt>
                <c:pt idx="4">
                  <c:v>8292.647</c:v>
                </c:pt>
                <c:pt idx="5">
                  <c:v>9452.29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5828.159</c:v>
                </c:pt>
                <c:pt idx="1">
                  <c:v>663.1940000000004</c:v>
                </c:pt>
                <c:pt idx="2">
                  <c:v>808.1819999999998</c:v>
                </c:pt>
                <c:pt idx="3">
                  <c:v>993.112000000001</c:v>
                </c:pt>
                <c:pt idx="4">
                  <c:v>1159.643</c:v>
                </c:pt>
                <c:pt idx="5">
                  <c:v>1305.0319999999992</c:v>
                </c:pt>
                <c:pt idx="6">
                  <c:v>10757.322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Food Packaging</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82.94180434832248</c:v>
                </c:pt>
                <c:pt idx="1">
                  <c:v>83.02497721410019</c:v>
                </c:pt>
                <c:pt idx="2">
                  <c:v>83.11875025432143</c:v>
                </c:pt>
              </c:numCache>
            </c:numRef>
          </c:val>
        </c:ser>
        <c:ser>
          <c:idx val="1"/>
          <c:order val="1"/>
          <c:tx>
            <c:strRef>
              <c:f>Sheet1!$C$1</c:f>
              <c:strCache>
                <c:ptCount val="1"/>
                <c:pt idx="0">
                  <c:v>Non-Food Packaging</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17.05819565167752</c:v>
                </c:pt>
                <c:pt idx="1">
                  <c:v>16.975022785899803</c:v>
                </c:pt>
                <c:pt idx="2">
                  <c:v>16.881249745678566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Low-Barrier Films</c:v>
                </c:pt>
              </c:strCache>
            </c:strRef>
          </c:tx>
          <c:spPr>
            <a:solidFill>
              <a:srgbClr val="3D85C6"/>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Sheet1!$B$2:$B$4</c:f>
              <c:numCache>
                <c:formatCode>General</c:formatCode>
                <c:ptCount val="3"/>
                <c:pt idx="0">
                  <c:v>21.66766304341116</c:v>
                </c:pt>
                <c:pt idx="1">
                  <c:v>20.450730132440853</c:v>
                </c:pt>
                <c:pt idx="2">
                  <c:v>19.908243890179104</c:v>
                </c:pt>
              </c:numCache>
            </c:numRef>
          </c:val>
        </c:ser>
        <c:ser>
          <c:idx val="1"/>
          <c:order val="1"/>
          <c:tx>
            <c:strRef>
              <c:f>Sheet1!$C$1</c:f>
              <c:strCache>
                <c:ptCount val="1"/>
                <c:pt idx="0">
                  <c:v>Medium-Barrier Films</c:v>
                </c:pt>
              </c:strCache>
            </c:strRef>
          </c:tx>
          <c:spPr>
            <a:solidFill>
              <a:srgbClr val="9E7E0A"/>
            </a:solidFill>
            <a:ln>
              <a:noFill/>
            </a:ln>
          </c:spPr>
          <c:dLbls>
            <c:dLbl>
              <c:idx val="0"/>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Sheet1!$C$2:$C$4</c:f>
              <c:numCache>
                <c:formatCode>General</c:formatCode>
                <c:ptCount val="3"/>
                <c:pt idx="0">
                  <c:v>30.423666305896795</c:v>
                </c:pt>
                <c:pt idx="1">
                  <c:v>33.2184863847902</c:v>
                </c:pt>
                <c:pt idx="2">
                  <c:v>32.75509874600892</c:v>
                </c:pt>
              </c:numCache>
            </c:numRef>
          </c:val>
        </c:ser>
        <c:ser>
          <c:idx val="2"/>
          <c:order val="2"/>
          <c:tx>
            <c:strRef>
              <c:f>Sheet1!$D$1</c:f>
              <c:strCache>
                <c:ptCount val="1"/>
                <c:pt idx="0">
                  <c:v>High-Barrier Films</c:v>
                </c:pt>
              </c:strCache>
            </c:strRef>
          </c:tx>
          <c:spPr>
            <a:solidFill>
              <a:srgbClr val="008189"/>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Sheet1!$D$2:$D$4</c:f>
              <c:numCache>
                <c:formatCode>General</c:formatCode>
                <c:ptCount val="3"/>
                <c:pt idx="0">
                  <c:v>34.461646656409044</c:v>
                </c:pt>
                <c:pt idx="1">
                  <c:v>32.070981123219035</c:v>
                </c:pt>
                <c:pt idx="2">
                  <c:v>34.02579643753492</c:v>
                </c:pt>
              </c:numCache>
            </c:numRef>
          </c:val>
        </c:ser>
        <c:ser>
          <c:idx val="3"/>
          <c:order val="3"/>
          <c:tx>
            <c:strRef>
              <c:f>Sheet1!$E$1</c:f>
              <c:strCache>
                <c:ptCount val="1"/>
                <c:pt idx="0">
                  <c:v>Ultra-High-Barrier Films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Sheet1!$A$2:$A$4</c:f>
              <c:strCache>
                <c:ptCount val="3"/>
                <c:pt idx="0">
                  <c:v>South Korea  ·  8,099</c:v>
                </c:pt>
                <c:pt idx="1">
                  <c:v>Japan  ·  13,102</c:v>
                </c:pt>
                <c:pt idx="2">
                  <c:v>China  ·  42,522</c:v>
                </c:pt>
              </c:strCache>
            </c:strRef>
          </c:cat>
          <c:val>
            <c:numRef>
              <c:f>Sheet1!$E$2:$E$4</c:f>
              <c:numCache>
                <c:formatCode>General</c:formatCode>
                <c:ptCount val="3"/>
                <c:pt idx="0">
                  <c:v>13.447023994282995</c:v>
                </c:pt>
                <c:pt idx="1">
                  <c:v>14.25980235954992</c:v>
                </c:pt>
                <c:pt idx="2">
                  <c:v>13.31086092627704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Low-Barrier Films</c:v>
                </c:pt>
              </c:strCache>
            </c:strRef>
          </c:tx>
          <c:spPr>
            <a:solidFill>
              <a:srgbClr val="3D85C6"/>
            </a:solidFill>
          </c:spPr>
          <c:invertIfNegative val="0"/>
          <c:xVal>
            <c:numRef>
              <c:f>Sheet1!$A$2:$A$2</c:f>
              <c:numCache>
                <c:formatCode>General</c:formatCode>
                <c:ptCount val="1"/>
                <c:pt idx="0">
                  <c:v>98.65153565869079</c:v>
                </c:pt>
              </c:numCache>
            </c:numRef>
          </c:xVal>
          <c:yVal>
            <c:numRef>
              <c:f>Sheet1!$B$2:$B$2</c:f>
              <c:numCache>
                <c:formatCode>General</c:formatCode>
                <c:ptCount val="1"/>
                <c:pt idx="0">
                  <c:v>81.63134941097002</c:v>
                </c:pt>
              </c:numCache>
            </c:numRef>
          </c:yVal>
          <c:bubbleSize>
            <c:numRef>
              <c:f>Sheet1!$C$2:$C$2</c:f>
              <c:numCache>
                <c:formatCode>General</c:formatCode>
                <c:ptCount val="1"/>
                <c:pt idx="0">
                  <c:v>12899.805</c:v>
                </c:pt>
              </c:numCache>
            </c:numRef>
          </c:bubbleSize>
          <c:bubble3D val="0"/>
        </c:ser>
        <c:ser>
          <c:idx val="1"/>
          <c:order val="1"/>
          <c:tx>
            <c:strRef>
              <c:f>Sheet1!$B$4</c:f>
              <c:strCache>
                <c:ptCount val="1"/>
                <c:pt idx="0">
                  <c:v>Medium-Barrier Films</c:v>
                </c:pt>
              </c:strCache>
            </c:strRef>
          </c:tx>
          <c:spPr>
            <a:solidFill>
              <a:srgbClr val="9E7E0A"/>
            </a:solidFill>
          </c:spPr>
          <c:invertIfNegative val="0"/>
          <c:xVal>
            <c:numRef>
              <c:f>Sheet1!$A$5:$A$5</c:f>
              <c:numCache>
                <c:formatCode>General</c:formatCode>
                <c:ptCount val="1"/>
                <c:pt idx="0">
                  <c:v>93.23106716154447</c:v>
                </c:pt>
              </c:numCache>
            </c:numRef>
          </c:xVal>
          <c:yVal>
            <c:numRef>
              <c:f>Sheet1!$B$5:$B$5</c:f>
              <c:numCache>
                <c:formatCode>General</c:formatCode>
                <c:ptCount val="1"/>
                <c:pt idx="0">
                  <c:v>135.6219550357118</c:v>
                </c:pt>
              </c:numCache>
            </c:numRef>
          </c:yVal>
          <c:bubbleSize>
            <c:numRef>
              <c:f>Sheet1!$C$5:$C$5</c:f>
              <c:numCache>
                <c:formatCode>General</c:formatCode>
                <c:ptCount val="1"/>
                <c:pt idx="0">
                  <c:v>20744.574</c:v>
                </c:pt>
              </c:numCache>
            </c:numRef>
          </c:bubbleSize>
          <c:bubble3D val="0"/>
        </c:ser>
        <c:ser>
          <c:idx val="2"/>
          <c:order val="2"/>
          <c:tx>
            <c:strRef>
              <c:f>Sheet1!$B$7</c:f>
              <c:strCache>
                <c:ptCount val="1"/>
                <c:pt idx="0">
                  <c:v>High-Barrier Films</c:v>
                </c:pt>
              </c:strCache>
            </c:strRef>
          </c:tx>
          <c:spPr>
            <a:solidFill>
              <a:srgbClr val="008189"/>
            </a:solidFill>
          </c:spPr>
          <c:invertIfNegative val="0"/>
          <c:xVal>
            <c:numRef>
              <c:f>Sheet1!$A$8:$A$8</c:f>
              <c:numCache>
                <c:formatCode>General</c:formatCode>
                <c:ptCount val="1"/>
                <c:pt idx="0">
                  <c:v>107.59034405038994</c:v>
                </c:pt>
              </c:numCache>
            </c:numRef>
          </c:xVal>
          <c:yVal>
            <c:numRef>
              <c:f>Sheet1!$B$8:$B$8</c:f>
              <c:numCache>
                <c:formatCode>General</c:formatCode>
                <c:ptCount val="1"/>
                <c:pt idx="0">
                  <c:v>128.7357018181767</c:v>
                </c:pt>
              </c:numCache>
            </c:numRef>
          </c:yVal>
          <c:bubbleSize>
            <c:numRef>
              <c:f>Sheet1!$C$8:$C$8</c:f>
              <c:numCache>
                <c:formatCode>General</c:formatCode>
                <c:ptCount val="1"/>
                <c:pt idx="0">
                  <c:v>21461.604</c:v>
                </c:pt>
              </c:numCache>
            </c:numRef>
          </c:bubbleSize>
          <c:bubble3D val="0"/>
        </c:ser>
        <c:ser>
          <c:idx val="3"/>
          <c:order val="3"/>
          <c:tx>
            <c:strRef>
              <c:f>Sheet1!$B$10</c:f>
              <c:strCache>
                <c:ptCount val="1"/>
                <c:pt idx="0">
                  <c:v>Ultra-High-Barrier Films</c:v>
                </c:pt>
              </c:strCache>
            </c:strRef>
          </c:tx>
          <c:spPr>
            <a:solidFill>
              <a:srgbClr val="40315E"/>
            </a:solidFill>
          </c:spPr>
          <c:invertIfNegative val="0"/>
          <c:xVal>
            <c:numRef>
              <c:f>Sheet1!$A$11:$A$11</c:f>
              <c:numCache>
                <c:formatCode>General</c:formatCode>
                <c:ptCount val="1"/>
                <c:pt idx="0">
                  <c:v>100.2534017512504</c:v>
                </c:pt>
              </c:numCache>
            </c:numRef>
          </c:xVal>
          <c:yVal>
            <c:numRef>
              <c:f>Sheet1!$B$11:$B$11</c:f>
              <c:numCache>
                <c:formatCode>General</c:formatCode>
                <c:ptCount val="1"/>
                <c:pt idx="0">
                  <c:v>54.01099373514142</c:v>
                </c:pt>
              </c:numCache>
            </c:numRef>
          </c:yVal>
          <c:bubbleSize>
            <c:numRef>
              <c:f>Sheet1!$C$11:$C$11</c:f>
              <c:numCache>
                <c:formatCode>General</c:formatCode>
                <c:ptCount val="1"/>
                <c:pt idx="0">
                  <c:v>8617.507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7006.773</c:v>
                </c:pt>
                <c:pt idx="2">
                  <c:v>7773.474</c:v>
                </c:pt>
                <c:pt idx="3">
                  <c:v>8767.796</c:v>
                </c:pt>
                <c:pt idx="4">
                  <c:v>9983.923</c:v>
                </c:pt>
                <c:pt idx="5">
                  <c:v>11362.482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7006.773</c:v>
                </c:pt>
                <c:pt idx="1">
                  <c:v>766.701</c:v>
                </c:pt>
                <c:pt idx="2">
                  <c:v>994.3220000000001</c:v>
                </c:pt>
                <c:pt idx="3">
                  <c:v>1216.1270000000004</c:v>
                </c:pt>
                <c:pt idx="4">
                  <c:v>1378.5589999999993</c:v>
                </c:pt>
                <c:pt idx="5">
                  <c:v>1537.3230000000003</c:v>
                </c:pt>
                <c:pt idx="6">
                  <c:v>12899.805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11641.021</c:v>
                </c:pt>
                <c:pt idx="2">
                  <c:v>12914.337000000001</c:v>
                </c:pt>
                <c:pt idx="3">
                  <c:v>14454.818</c:v>
                </c:pt>
                <c:pt idx="4">
                  <c:v>16273.699</c:v>
                </c:pt>
                <c:pt idx="5">
                  <c:v>18383.43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11641.021</c:v>
                </c:pt>
                <c:pt idx="1">
                  <c:v>1273.3160000000007</c:v>
                </c:pt>
                <c:pt idx="2">
                  <c:v>1540.480999999998</c:v>
                </c:pt>
                <c:pt idx="3">
                  <c:v>1818.8810000000012</c:v>
                </c:pt>
                <c:pt idx="4">
                  <c:v>2109.7309999999998</c:v>
                </c:pt>
                <c:pt idx="5">
                  <c:v>2361.1440000000002</c:v>
                </c:pt>
                <c:pt idx="6">
                  <c:v>20744.574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11049.944</c:v>
                </c:pt>
                <c:pt idx="2">
                  <c:v>12347.687</c:v>
                </c:pt>
                <c:pt idx="3">
                  <c:v>13975.725</c:v>
                </c:pt>
                <c:pt idx="4">
                  <c:v>16059.214</c:v>
                </c:pt>
                <c:pt idx="5">
                  <c:v>18580.159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11049.944</c:v>
                </c:pt>
                <c:pt idx="1">
                  <c:v>1297.7430000000004</c:v>
                </c:pt>
                <c:pt idx="2">
                  <c:v>1628.0380000000005</c:v>
                </c:pt>
                <c:pt idx="3">
                  <c:v>2083.4889999999996</c:v>
                </c:pt>
                <c:pt idx="4">
                  <c:v>2520.9449999999997</c:v>
                </c:pt>
                <c:pt idx="5">
                  <c:v>2881.4449999999997</c:v>
                </c:pt>
                <c:pt idx="6">
                  <c:v>21461.604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4635.998</c:v>
                </c:pt>
                <c:pt idx="2">
                  <c:v>5254.135</c:v>
                </c:pt>
                <c:pt idx="3">
                  <c:v>5951.033</c:v>
                </c:pt>
                <c:pt idx="4">
                  <c:v>6741.883</c:v>
                </c:pt>
                <c:pt idx="5">
                  <c:v>7628.956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4635.998</c:v>
                </c:pt>
                <c:pt idx="1">
                  <c:v>618.1370000000006</c:v>
                </c:pt>
                <c:pt idx="2">
                  <c:v>696.8980000000001</c:v>
                </c:pt>
                <c:pt idx="3">
                  <c:v>790.8499999999995</c:v>
                </c:pt>
                <c:pt idx="4">
                  <c:v>887.0730000000003</c:v>
                </c:pt>
                <c:pt idx="5">
                  <c:v>988.5509999999995</c:v>
                </c:pt>
                <c:pt idx="6">
                  <c:v>8617.507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High-Barrier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32.40434310238775</c:v>
                </c:pt>
                <c:pt idx="1">
                  <c:v>32.18392545454418</c:v>
                </c:pt>
                <c:pt idx="2">
                  <c:v>33.679266468299204</c:v>
                </c:pt>
              </c:numCache>
            </c:numRef>
          </c:val>
        </c:ser>
        <c:ser>
          <c:idx val="1"/>
          <c:order val="1"/>
          <c:tx>
            <c:strRef>
              <c:f>Sheet1!$C$1</c:f>
              <c:strCache>
                <c:ptCount val="1"/>
                <c:pt idx="0">
                  <c:v>Medium-Barrier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34.22702698150216</c:v>
                </c:pt>
                <c:pt idx="1">
                  <c:v>33.90548875892796</c:v>
                </c:pt>
                <c:pt idx="2">
                  <c:v>32.55404561175165</c:v>
                </c:pt>
              </c:numCache>
            </c:numRef>
          </c:val>
        </c:ser>
        <c:ser>
          <c:idx val="2"/>
          <c:order val="2"/>
          <c:tx>
            <c:strRef>
              <c:f>Sheet1!$D$1</c:f>
              <c:strCache>
                <c:ptCount val="1"/>
                <c:pt idx="0">
                  <c:v>Low-Barrier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20.61319708119078</c:v>
                </c:pt>
                <c:pt idx="1">
                  <c:v>20.407837352742504</c:v>
                </c:pt>
                <c:pt idx="2">
                  <c:v>20.24340631688566</c:v>
                </c:pt>
              </c:numCache>
            </c:numRef>
          </c:val>
        </c:ser>
        <c:ser>
          <c:idx val="3"/>
          <c:order val="3"/>
          <c:tx>
            <c:strRef>
              <c:f>Sheet1!$E$1</c:f>
              <c:strCache>
                <c:ptCount val="1"/>
                <c:pt idx="0">
                  <c:v>Ultra-High-Barrier Films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12.7554328349193</c:v>
                </c:pt>
                <c:pt idx="1">
                  <c:v>13.502748433785358</c:v>
                </c:pt>
                <c:pt idx="2">
                  <c:v>13.523281603063486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7067.151</c:v>
                </c:pt>
                <c:pt idx="1">
                  <c:v>7343.04</c:v>
                </c:pt>
                <c:pt idx="2">
                  <c:v>7635.479</c:v>
                </c:pt>
                <c:pt idx="3">
                  <c:v>7946.8820000000005</c:v>
                </c:pt>
                <c:pt idx="4">
                  <c:v>8280.395999999999</c:v>
                </c:pt>
                <c:pt idx="5">
                  <c:v>8643.735</c:v>
                </c:pt>
                <c:pt idx="6">
                  <c:v>9038.63</c:v>
                </c:pt>
                <c:pt idx="7">
                  <c:v>9466.978000000001</c:v>
                </c:pt>
                <c:pt idx="8">
                  <c:v>9930.8</c:v>
                </c:pt>
                <c:pt idx="9">
                  <c:v>10434.858</c:v>
                </c:pt>
                <c:pt idx="10">
                  <c:v>10980.347</c:v>
                </c:pt>
                <c:pt idx="11">
                  <c:v>11565.642</c:v>
                </c:pt>
                <c:pt idx="12">
                  <c:v>12182.689999999999</c:v>
                </c:pt>
                <c:pt idx="13">
                  <c:v>12824.291000000001</c:v>
                </c:pt>
                <c:pt idx="14">
                  <c:v>13479.578</c:v>
                </c:pt>
                <c:pt idx="15">
                  <c:v>14147.556999999999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East Asia</c:v>
                </c:pt>
                <c:pt idx="1">
                  <c:v>China</c:v>
                </c:pt>
              </c:strCache>
            </c:strRef>
          </c:cat>
          <c:val>
            <c:numRef>
              <c:f>Sheet1!$B$2:$B$3</c:f>
              <c:numCache>
                <c:formatCode>General</c:formatCode>
                <c:ptCount val="2"/>
                <c:pt idx="0">
                  <c:v>0.050179156323661545</c:v>
                </c:pt>
                <c:pt idx="1">
                  <c:v>0.050504702563913595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681813484612833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8643.735</c:v>
                </c:pt>
                <c:pt idx="2">
                  <c:v>9038.63</c:v>
                </c:pt>
                <c:pt idx="3">
                  <c:v>9466.978000000001</c:v>
                </c:pt>
                <c:pt idx="4">
                  <c:v>9930.8</c:v>
                </c:pt>
                <c:pt idx="5">
                  <c:v>10434.858</c:v>
                </c:pt>
                <c:pt idx="6">
                  <c:v>10980.347</c:v>
                </c:pt>
                <c:pt idx="7">
                  <c:v>11565.642</c:v>
                </c:pt>
                <c:pt idx="8">
                  <c:v>12182.689999999999</c:v>
                </c:pt>
                <c:pt idx="9">
                  <c:v>12824.291000000001</c:v>
                </c:pt>
                <c:pt idx="10">
                  <c:v>13479.578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8643.735</c:v>
                </c:pt>
                <c:pt idx="1">
                  <c:v>394.8949999999986</c:v>
                </c:pt>
                <c:pt idx="2">
                  <c:v>428.3480000000018</c:v>
                </c:pt>
                <c:pt idx="3">
                  <c:v>463.8219999999983</c:v>
                </c:pt>
                <c:pt idx="4">
                  <c:v>504.0580000000009</c:v>
                </c:pt>
                <c:pt idx="5">
                  <c:v>545.4889999999996</c:v>
                </c:pt>
                <c:pt idx="6">
                  <c:v>585.2950000000001</c:v>
                </c:pt>
                <c:pt idx="7">
                  <c:v>617.0479999999989</c:v>
                </c:pt>
                <c:pt idx="8">
                  <c:v>641.6010000000024</c:v>
                </c:pt>
                <c:pt idx="9">
                  <c:v>655.2869999999984</c:v>
                </c:pt>
                <c:pt idx="10">
                  <c:v>667.9789999999994</c:v>
                </c:pt>
                <c:pt idx="11">
                  <c:v>14147.556999999999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China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East Asia</c:v>
                </c:pt>
              </c:strCache>
            </c:strRef>
          </c:cat>
          <c:val>
            <c:numRef>
              <c:f>Sheet1!$B$2:$B$2</c:f>
              <c:numCache>
                <c:formatCode>General</c:formatCode>
                <c:ptCount val="1"/>
                <c:pt idx="0">
                  <c:v>71.06403819225433</c:v>
                </c:pt>
              </c:numCache>
            </c:numRef>
          </c:val>
        </c:ser>
        <c:ser>
          <c:idx val="1"/>
          <c:order val="1"/>
          <c:tx>
            <c:strRef>
              <c:f>Sheet1!$C$1</c:f>
              <c:strCache>
                <c:ptCount val="1"/>
                <c:pt idx="0">
                  <c:v>Rest of East Asia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East Asia</c:v>
                </c:pt>
              </c:strCache>
            </c:strRef>
          </c:cat>
          <c:val>
            <c:numRef>
              <c:f>Sheet1!$C$2:$C$2</c:f>
              <c:numCache>
                <c:formatCode>General</c:formatCode>
                <c:ptCount val="1"/>
                <c:pt idx="0">
                  <c:v>28.93596180774567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18146.226000000002</c:v>
                </c:pt>
                <c:pt idx="1">
                  <c:v>18900.130999999998</c:v>
                </c:pt>
                <c:pt idx="2">
                  <c:v>19709.367</c:v>
                </c:pt>
                <c:pt idx="3">
                  <c:v>20590.178999999996</c:v>
                </c:pt>
                <c:pt idx="4">
                  <c:v>21544.376</c:v>
                </c:pt>
                <c:pt idx="5">
                  <c:v>22676.938000000002</c:v>
                </c:pt>
                <c:pt idx="6">
                  <c:v>23933.658</c:v>
                </c:pt>
                <c:pt idx="7">
                  <c:v>25328.223</c:v>
                </c:pt>
                <c:pt idx="8">
                  <c:v>26871.283</c:v>
                </c:pt>
                <c:pt idx="9">
                  <c:v>28587.644</c:v>
                </c:pt>
                <c:pt idx="10">
                  <c:v>30485.293999999998</c:v>
                </c:pt>
                <c:pt idx="11">
                  <c:v>32568.076</c:v>
                </c:pt>
                <c:pt idx="12">
                  <c:v>34823.579000000005</c:v>
                </c:pt>
                <c:pt idx="13">
                  <c:v>37240.708</c:v>
                </c:pt>
                <c:pt idx="14">
                  <c:v>39805.821</c:v>
                </c:pt>
                <c:pt idx="15">
                  <c:v>42522.073000000004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East Asia</c:v>
                </c:pt>
                <c:pt idx="1">
                  <c:v>China</c:v>
                </c:pt>
              </c:strCache>
            </c:strRef>
          </c:cat>
          <c:val>
            <c:numRef>
              <c:f>Sheet1!$B$2:$B$3</c:f>
              <c:numCache>
                <c:formatCode>General</c:formatCode>
                <c:ptCount val="2"/>
                <c:pt idx="0">
                  <c:v>0.06379477948898282</c:v>
                </c:pt>
                <c:pt idx="1">
                  <c:v>0.06488571600580584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75957166078378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22676.938000000002</c:v>
                </c:pt>
                <c:pt idx="2">
                  <c:v>23933.658</c:v>
                </c:pt>
                <c:pt idx="3">
                  <c:v>25328.223</c:v>
                </c:pt>
                <c:pt idx="4">
                  <c:v>26871.283</c:v>
                </c:pt>
                <c:pt idx="5">
                  <c:v>28587.644</c:v>
                </c:pt>
                <c:pt idx="6">
                  <c:v>30485.293999999998</c:v>
                </c:pt>
                <c:pt idx="7">
                  <c:v>32568.076</c:v>
                </c:pt>
                <c:pt idx="8">
                  <c:v>34823.579000000005</c:v>
                </c:pt>
                <c:pt idx="9">
                  <c:v>37240.708</c:v>
                </c:pt>
                <c:pt idx="10">
                  <c:v>39805.821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22676.938000000002</c:v>
                </c:pt>
                <c:pt idx="1">
                  <c:v>1256.7199999999975</c:v>
                </c:pt>
                <c:pt idx="2">
                  <c:v>1394.5650000000023</c:v>
                </c:pt>
                <c:pt idx="3">
                  <c:v>1543.0599999999977</c:v>
                </c:pt>
                <c:pt idx="4">
                  <c:v>1716.3610000000008</c:v>
                </c:pt>
                <c:pt idx="5">
                  <c:v>1897.6499999999978</c:v>
                </c:pt>
                <c:pt idx="6">
                  <c:v>2082.782000000003</c:v>
                </c:pt>
                <c:pt idx="7">
                  <c:v>2255.5030000000042</c:v>
                </c:pt>
                <c:pt idx="8">
                  <c:v>2417.1289999999935</c:v>
                </c:pt>
                <c:pt idx="9">
                  <c:v>2565.113000000005</c:v>
                </c:pt>
                <c:pt idx="10">
                  <c:v>2716.2520000000004</c:v>
                </c:pt>
                <c:pt idx="11">
                  <c:v>42522.073000000004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China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East Asia</c:v>
                </c:pt>
              </c:strCache>
            </c:strRef>
          </c:cat>
          <c:val>
            <c:numRef>
              <c:f>Sheet1!$B$2:$B$2</c:f>
              <c:numCache>
                <c:formatCode>General</c:formatCode>
                <c:ptCount val="1"/>
                <c:pt idx="0">
                  <c:v>66.04856127654041</c:v>
                </c:pt>
              </c:numCache>
            </c:numRef>
          </c:val>
        </c:ser>
        <c:ser>
          <c:idx val="1"/>
          <c:order val="1"/>
          <c:tx>
            <c:strRef>
              <c:f>Sheet1!$C$1</c:f>
              <c:strCache>
                <c:ptCount val="1"/>
                <c:pt idx="0">
                  <c:v>Rest of East Asia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East Asia</c:v>
                </c:pt>
              </c:strCache>
            </c:strRef>
          </c:cat>
          <c:val>
            <c:numRef>
              <c:f>Sheet1!$C$2:$C$2</c:f>
              <c:numCache>
                <c:formatCode>General</c:formatCode>
                <c:ptCount val="1"/>
                <c:pt idx="0">
                  <c:v>33.95143872345959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1521.217</c:v>
                </c:pt>
                <c:pt idx="8">
                  <c:v>2368.044</c:v>
                </c:pt>
                <c:pt idx="9">
                  <c:v>6623.245</c:v>
                </c:pt>
                <c:pt idx="10">
                  <c:v>12164.432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6300.338880000001"/>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Other Specialty Barri…</c:v>
                </c:pt>
                <c:pt idx="3">
                  <c:v>Aluminum Foil-Based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465.86</c:v>
                </c:pt>
                <c:pt idx="1">
                  <c:v>704.911</c:v>
                </c:pt>
                <c:pt idx="2">
                  <c:v>708.566</c:v>
                </c:pt>
                <c:pt idx="3">
                  <c:v>752.176</c:v>
                </c:pt>
                <c:pt idx="4">
                  <c:v>1147.624</c:v>
                </c:pt>
                <c:pt idx="5">
                  <c:v>1371.351</c:v>
                </c:pt>
                <c:pt idx="6">
                  <c:v>1832.373</c:v>
                </c:pt>
                <c:pt idx="7">
                  <c:v>1904.992</c:v>
                </c:pt>
                <c:pt idx="8">
                  <c:v>2407.804</c:v>
                </c:pt>
                <c:pt idx="9">
                  <c:v>4686.825</c:v>
                </c:pt>
                <c:pt idx="10">
                  <c:v>6694.456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970.57104"/>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Foil-Laminated Struct…</c:v>
                </c:pt>
                <c:pt idx="6">
                  <c:v>Metallized Films</c:v>
                </c:pt>
                <c:pt idx="7">
                  <c:v>Mono-Material Recycla…</c:v>
                </c:pt>
                <c:pt idx="8">
                  <c:v>Monolayer Films</c:v>
                </c:pt>
                <c:pt idx="9">
                  <c:v>Laminated Films</c:v>
                </c:pt>
                <c:pt idx="10">
                  <c:v>Coextruded Multilayer…</c:v>
                </c:pt>
              </c:strCache>
            </c:strRef>
          </c:cat>
          <c:val>
            <c:numRef>
              <c:f>Sheet1!$B$2:$B$12</c:f>
              <c:numCache>
                <c:formatCode>General</c:formatCode>
                <c:ptCount val="11"/>
                <c:pt idx="4">
                  <c:v>1444.6</c:v>
                </c:pt>
                <c:pt idx="5">
                  <c:v>1656.06</c:v>
                </c:pt>
                <c:pt idx="6">
                  <c:v>1665.594</c:v>
                </c:pt>
                <c:pt idx="7">
                  <c:v>1808.26</c:v>
                </c:pt>
                <c:pt idx="8">
                  <c:v>3780.498</c:v>
                </c:pt>
                <c:pt idx="9">
                  <c:v>5807.027</c:v>
                </c:pt>
                <c:pt idx="10">
                  <c:v>6514.898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729.9633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3016.178</c:v>
                </c:pt>
                <c:pt idx="8">
                  <c:v>4544.662</c:v>
                </c:pt>
                <c:pt idx="9">
                  <c:v>7387.701</c:v>
                </c:pt>
                <c:pt idx="10">
                  <c:v>7728.398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0356.0533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3911.011</c:v>
                </c:pt>
                <c:pt idx="10">
                  <c:v>18765.925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5146.3395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3016.177</c:v>
                </c:pt>
                <c:pt idx="8">
                  <c:v>4544.663</c:v>
                </c:pt>
                <c:pt idx="9">
                  <c:v>7387.701</c:v>
                </c:pt>
                <c:pt idx="10">
                  <c:v>7728.398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0356.0533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22676.938000000002</c:v>
                </c:pt>
                <c:pt idx="2">
                  <c:v>33114.378</c:v>
                </c:pt>
                <c:pt idx="3">
                  <c:v>35275.257</c:v>
                </c:pt>
                <c:pt idx="4">
                  <c:v>41354.168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22676.938000000002</c:v>
                </c:pt>
                <c:pt idx="1">
                  <c:v>10437.439999999999</c:v>
                </c:pt>
                <c:pt idx="2">
                  <c:v>2160.879</c:v>
                </c:pt>
                <c:pt idx="3">
                  <c:v>6078.910999999999</c:v>
                </c:pt>
                <c:pt idx="4">
                  <c:v>1167.9049999999997</c:v>
                </c:pt>
                <c:pt idx="5">
                  <c:v>42522.073000000004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10437.439999999999</c:v>
                </c:pt>
                <c:pt idx="2">
                  <c:v>12598.319</c:v>
                </c:pt>
                <c:pt idx="3">
                  <c:v>18677.23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10437.439999999999</c:v>
                </c:pt>
                <c:pt idx="1">
                  <c:v>2160.879</c:v>
                </c:pt>
                <c:pt idx="2">
                  <c:v>6078.910999999999</c:v>
                </c:pt>
                <c:pt idx="3">
                  <c:v>1167.9049999999997</c:v>
                </c:pt>
                <c:pt idx="4">
                  <c:v>19845.135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22676.938</c:v>
                </c:pt>
                <c:pt idx="2">
                  <c:v>28652.334</c:v>
                </c:pt>
                <c:pt idx="3">
                  <c:v>32616.968</c:v>
                </c:pt>
                <c:pt idx="4">
                  <c:v>34750.04</c:v>
                </c:pt>
                <c:pt idx="5">
                  <c:v>36366.914000000004</c:v>
                </c:pt>
                <c:pt idx="6">
                  <c:v>38085.867000000006</c:v>
                </c:pt>
                <c:pt idx="7">
                  <c:v>38976.622</c:v>
                </c:pt>
                <c:pt idx="8">
                  <c:v>39414.441000000006</c:v>
                </c:pt>
                <c:pt idx="9">
                  <c:v>40611.87900000001</c:v>
                </c:pt>
                <c:pt idx="10">
                  <c:v>41258.850000000006</c:v>
                </c:pt>
                <c:pt idx="11">
                  <c:v>41846.97000000001</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22676.938</c:v>
                </c:pt>
                <c:pt idx="1">
                  <c:v>5975.396000000001</c:v>
                </c:pt>
                <c:pt idx="2">
                  <c:v>3964.634000000001</c:v>
                </c:pt>
                <c:pt idx="3">
                  <c:v>2133.072</c:v>
                </c:pt>
                <c:pt idx="4">
                  <c:v>1616.8739999999998</c:v>
                </c:pt>
                <c:pt idx="5">
                  <c:v>1718.9530000000002</c:v>
                </c:pt>
                <c:pt idx="6">
                  <c:v>890.7549999999999</c:v>
                </c:pt>
                <c:pt idx="7">
                  <c:v>437.81899999999996</c:v>
                </c:pt>
                <c:pt idx="8">
                  <c:v>1197.438</c:v>
                </c:pt>
                <c:pt idx="9">
                  <c:v>646.9710000000001</c:v>
                </c:pt>
                <c:pt idx="10">
                  <c:v>588.12</c:v>
                </c:pt>
                <c:pt idx="11">
                  <c:v>675.1009999999999</c:v>
                </c:pt>
                <c:pt idx="12">
                  <c:v>42522.071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5975.396000000001</c:v>
                </c:pt>
                <c:pt idx="2">
                  <c:v>9940.030000000002</c:v>
                </c:pt>
                <c:pt idx="3">
                  <c:v>12073.102000000003</c:v>
                </c:pt>
                <c:pt idx="4">
                  <c:v>13689.976000000002</c:v>
                </c:pt>
                <c:pt idx="5">
                  <c:v>15408.929000000002</c:v>
                </c:pt>
                <c:pt idx="6">
                  <c:v>16299.684000000001</c:v>
                </c:pt>
                <c:pt idx="7">
                  <c:v>16737.503</c:v>
                </c:pt>
                <c:pt idx="8">
                  <c:v>17934.941</c:v>
                </c:pt>
                <c:pt idx="9">
                  <c:v>18581.912</c:v>
                </c:pt>
                <c:pt idx="10">
                  <c:v>19170.032</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5975.396000000001</c:v>
                </c:pt>
                <c:pt idx="1">
                  <c:v>3964.634000000001</c:v>
                </c:pt>
                <c:pt idx="2">
                  <c:v>2133.072</c:v>
                </c:pt>
                <c:pt idx="3">
                  <c:v>1616.8739999999998</c:v>
                </c:pt>
                <c:pt idx="4">
                  <c:v>1718.9530000000002</c:v>
                </c:pt>
                <c:pt idx="5">
                  <c:v>890.7549999999999</c:v>
                </c:pt>
                <c:pt idx="6">
                  <c:v>437.81899999999996</c:v>
                </c:pt>
                <c:pt idx="7">
                  <c:v>1197.438</c:v>
                </c:pt>
                <c:pt idx="8">
                  <c:v>646.9710000000001</c:v>
                </c:pt>
                <c:pt idx="9">
                  <c:v>588.12</c:v>
                </c:pt>
                <c:pt idx="10">
                  <c:v>675.1009999999999</c:v>
                </c:pt>
                <c:pt idx="11">
                  <c:v>19845.133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22676.937</c:v>
                </c:pt>
                <c:pt idx="2">
                  <c:v>26083.889000000003</c:v>
                </c:pt>
                <c:pt idx="3">
                  <c:v>31647.074000000004</c:v>
                </c:pt>
                <c:pt idx="4">
                  <c:v>36615.098000000005</c:v>
                </c:pt>
                <c:pt idx="5">
                  <c:v>37864.287000000004</c:v>
                </c:pt>
                <c:pt idx="6">
                  <c:v>39204.107</c:v>
                </c:pt>
                <c:pt idx="7">
                  <c:v>40695.097</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22676.937</c:v>
                </c:pt>
                <c:pt idx="1">
                  <c:v>3406.9519999999998</c:v>
                </c:pt>
                <c:pt idx="2">
                  <c:v>5563.185</c:v>
                </c:pt>
                <c:pt idx="3">
                  <c:v>4968.023999999999</c:v>
                </c:pt>
                <c:pt idx="4">
                  <c:v>1249.1890000000003</c:v>
                </c:pt>
                <c:pt idx="5">
                  <c:v>1339.8200000000002</c:v>
                </c:pt>
                <c:pt idx="6">
                  <c:v>1490.9900000000002</c:v>
                </c:pt>
                <c:pt idx="7">
                  <c:v>1826.974</c:v>
                </c:pt>
                <c:pt idx="8">
                  <c:v>42522.070999999996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3406.9519999999998</c:v>
                </c:pt>
                <c:pt idx="2">
                  <c:v>8970.137</c:v>
                </c:pt>
                <c:pt idx="3">
                  <c:v>13938.161</c:v>
                </c:pt>
                <c:pt idx="4">
                  <c:v>15187.35</c:v>
                </c:pt>
                <c:pt idx="5">
                  <c:v>16527.170000000002</c:v>
                </c:pt>
                <c:pt idx="6">
                  <c:v>18018.160000000003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3406.9519999999998</c:v>
                </c:pt>
                <c:pt idx="1">
                  <c:v>5563.185</c:v>
                </c:pt>
                <c:pt idx="2">
                  <c:v>4968.023999999999</c:v>
                </c:pt>
                <c:pt idx="3">
                  <c:v>1249.1890000000003</c:v>
                </c:pt>
                <c:pt idx="4">
                  <c:v>1339.8200000000002</c:v>
                </c:pt>
                <c:pt idx="5">
                  <c:v>1490.9900000000002</c:v>
                </c:pt>
                <c:pt idx="6">
                  <c:v>1826.974</c:v>
                </c:pt>
                <c:pt idx="7">
                  <c:v>19845.134000000002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22676.939000000002</c:v>
                </c:pt>
                <c:pt idx="2">
                  <c:v>26597.674000000003</c:v>
                </c:pt>
                <c:pt idx="3">
                  <c:v>32797.421</c:v>
                </c:pt>
                <c:pt idx="4">
                  <c:v>39878.193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22676.939000000002</c:v>
                </c:pt>
                <c:pt idx="1">
                  <c:v>3920.7350000000006</c:v>
                </c:pt>
                <c:pt idx="2">
                  <c:v>6199.747</c:v>
                </c:pt>
                <c:pt idx="3">
                  <c:v>7080.772</c:v>
                </c:pt>
                <c:pt idx="4">
                  <c:v>2643.8770000000004</c:v>
                </c:pt>
                <c:pt idx="5">
                  <c:v>42522.07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3920.7350000000006</c:v>
                </c:pt>
                <c:pt idx="2">
                  <c:v>10120.482</c:v>
                </c:pt>
                <c:pt idx="3">
                  <c:v>17201.254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3920.7350000000006</c:v>
                </c:pt>
                <c:pt idx="1">
                  <c:v>6199.747</c:v>
                </c:pt>
                <c:pt idx="2">
                  <c:v>7080.772</c:v>
                </c:pt>
                <c:pt idx="3">
                  <c:v>2643.8770000000004</c:v>
                </c:pt>
                <c:pt idx="4">
                  <c:v>19845.131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22676.935999999998</c:v>
                </c:pt>
                <c:pt idx="2">
                  <c:v>39140.83</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22676.935999999998</c:v>
                </c:pt>
                <c:pt idx="1">
                  <c:v>16463.894000000004</c:v>
                </c:pt>
                <c:pt idx="2">
                  <c:v>3381.2410000000004</c:v>
                </c:pt>
                <c:pt idx="3">
                  <c:v>42522.071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16463.894000000004</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16463.894000000004</c:v>
                </c:pt>
                <c:pt idx="1">
                  <c:v>3381.2410000000004</c:v>
                </c:pt>
                <c:pt idx="2">
                  <c:v>19845.135000000006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22676.939</c:v>
                </c:pt>
                <c:pt idx="2">
                  <c:v>26597.674</c:v>
                </c:pt>
                <c:pt idx="3">
                  <c:v>32797.422999999995</c:v>
                </c:pt>
                <c:pt idx="4">
                  <c:v>39878.195999999996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22676.939</c:v>
                </c:pt>
                <c:pt idx="1">
                  <c:v>3920.7349999999997</c:v>
                </c:pt>
                <c:pt idx="2">
                  <c:v>6199.748999999999</c:v>
                </c:pt>
                <c:pt idx="3">
                  <c:v>7080.773</c:v>
                </c:pt>
                <c:pt idx="4">
                  <c:v>2643.877</c:v>
                </c:pt>
                <c:pt idx="5">
                  <c:v>42522.073000000004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3920.7349999999997</c:v>
                </c:pt>
                <c:pt idx="2">
                  <c:v>10120.483999999999</c:v>
                </c:pt>
                <c:pt idx="3">
                  <c:v>17201.256999999998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3920.7349999999997</c:v>
                </c:pt>
                <c:pt idx="1">
                  <c:v>6199.748999999999</c:v>
                </c:pt>
                <c:pt idx="2">
                  <c:v>7080.773</c:v>
                </c:pt>
                <c:pt idx="3">
                  <c:v>2643.877</c:v>
                </c:pt>
                <c:pt idx="4">
                  <c:v>19845.134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1901.0900000000001</c:v>
                </c:pt>
                <c:pt idx="1">
                  <c:v>1960.5739999999998</c:v>
                </c:pt>
                <c:pt idx="2">
                  <c:v>2022.962</c:v>
                </c:pt>
                <c:pt idx="3">
                  <c:v>2088.978</c:v>
                </c:pt>
                <c:pt idx="4">
                  <c:v>2159.7870000000003</c:v>
                </c:pt>
                <c:pt idx="5">
                  <c:v>2237.7019999999998</c:v>
                </c:pt>
                <c:pt idx="6">
                  <c:v>2322.83</c:v>
                </c:pt>
                <c:pt idx="7">
                  <c:v>2415.615</c:v>
                </c:pt>
                <c:pt idx="8">
                  <c:v>2516.434</c:v>
                </c:pt>
                <c:pt idx="9">
                  <c:v>2625.989</c:v>
                </c:pt>
                <c:pt idx="10">
                  <c:v>2743.237</c:v>
                </c:pt>
                <c:pt idx="11">
                  <c:v>2866.664</c:v>
                </c:pt>
                <c:pt idx="12">
                  <c:v>2994.3830000000003</c:v>
                </c:pt>
                <c:pt idx="13">
                  <c:v>3125.449</c:v>
                </c:pt>
                <c:pt idx="14">
                  <c:v>3258.2460000000005</c:v>
                </c:pt>
                <c:pt idx="15">
                  <c:v>3392.5779999999995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East Asia</c:v>
                </c:pt>
                <c:pt idx="1">
                  <c:v>Japan</c:v>
                </c:pt>
              </c:strCache>
            </c:strRef>
          </c:cat>
          <c:val>
            <c:numRef>
              <c:f>Sheet1!$B$2:$B$3</c:f>
              <c:numCache>
                <c:formatCode>General</c:formatCode>
                <c:ptCount val="2"/>
                <c:pt idx="0">
                  <c:v>0.050179156323661545</c:v>
                </c:pt>
                <c:pt idx="1">
                  <c:v>0.04249206775471315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677418610369430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2237.7019999999998</c:v>
                </c:pt>
                <c:pt idx="2">
                  <c:v>2322.83</c:v>
                </c:pt>
                <c:pt idx="3">
                  <c:v>2415.615</c:v>
                </c:pt>
                <c:pt idx="4">
                  <c:v>2516.434</c:v>
                </c:pt>
                <c:pt idx="5">
                  <c:v>2625.989</c:v>
                </c:pt>
                <c:pt idx="6">
                  <c:v>2743.237</c:v>
                </c:pt>
                <c:pt idx="7">
                  <c:v>2866.664</c:v>
                </c:pt>
                <c:pt idx="8">
                  <c:v>2994.3830000000003</c:v>
                </c:pt>
                <c:pt idx="9">
                  <c:v>3125.449</c:v>
                </c:pt>
                <c:pt idx="10">
                  <c:v>3258.2460000000005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2237.7019999999998</c:v>
                </c:pt>
                <c:pt idx="1">
                  <c:v>85.12800000000016</c:v>
                </c:pt>
                <c:pt idx="2">
                  <c:v>92.78499999999985</c:v>
                </c:pt>
                <c:pt idx="3">
                  <c:v>100.81900000000041</c:v>
                </c:pt>
                <c:pt idx="4">
                  <c:v>109.55499999999984</c:v>
                </c:pt>
                <c:pt idx="5">
                  <c:v>117.24800000000005</c:v>
                </c:pt>
                <c:pt idx="6">
                  <c:v>123.42700000000013</c:v>
                </c:pt>
                <c:pt idx="7">
                  <c:v>127.71900000000005</c:v>
                </c:pt>
                <c:pt idx="8">
                  <c:v>131.0659999999998</c:v>
                </c:pt>
                <c:pt idx="9">
                  <c:v>132.79700000000048</c:v>
                </c:pt>
                <c:pt idx="10">
                  <c:v>134.33199999999897</c:v>
                </c:pt>
                <c:pt idx="11">
                  <c:v>3392.5779999999995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Japan</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East Asia</c:v>
                </c:pt>
              </c:strCache>
            </c:strRef>
          </c:cat>
          <c:val>
            <c:numRef>
              <c:f>Sheet1!$B$2:$B$2</c:f>
              <c:numCache>
                <c:formatCode>General</c:formatCode>
                <c:ptCount val="1"/>
                <c:pt idx="0">
                  <c:v>18.397155904349667</c:v>
                </c:pt>
              </c:numCache>
            </c:numRef>
          </c:val>
        </c:ser>
        <c:ser>
          <c:idx val="1"/>
          <c:order val="1"/>
          <c:tx>
            <c:strRef>
              <c:f>Sheet1!$C$1</c:f>
              <c:strCache>
                <c:ptCount val="1"/>
                <c:pt idx="0">
                  <c:v>Rest of East Asia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East Asia</c:v>
                </c:pt>
              </c:strCache>
            </c:strRef>
          </c:cat>
          <c:val>
            <c:numRef>
              <c:f>Sheet1!$C$2:$C$2</c:f>
              <c:numCache>
                <c:formatCode>General</c:formatCode>
                <c:ptCount val="1"/>
                <c:pt idx="0">
                  <c:v>81.60284409565034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6369.842</c:v>
                </c:pt>
                <c:pt idx="1">
                  <c:v>6589.394</c:v>
                </c:pt>
                <c:pt idx="2">
                  <c:v>6822.016</c:v>
                </c:pt>
                <c:pt idx="3">
                  <c:v>7073.545999999999</c:v>
                </c:pt>
                <c:pt idx="4">
                  <c:v>7344.676</c:v>
                </c:pt>
                <c:pt idx="5">
                  <c:v>7668.77</c:v>
                </c:pt>
                <c:pt idx="6">
                  <c:v>8028.418</c:v>
                </c:pt>
                <c:pt idx="7">
                  <c:v>8426.934</c:v>
                </c:pt>
                <c:pt idx="8">
                  <c:v>8866.74</c:v>
                </c:pt>
                <c:pt idx="9">
                  <c:v>9352.697</c:v>
                </c:pt>
                <c:pt idx="10">
                  <c:v>9884.042</c:v>
                </c:pt>
                <c:pt idx="11">
                  <c:v>10457.853999999998</c:v>
                </c:pt>
                <c:pt idx="12">
                  <c:v>11068.131000000001</c:v>
                </c:pt>
                <c:pt idx="13">
                  <c:v>11714.641</c:v>
                </c:pt>
                <c:pt idx="14">
                  <c:v>12392.849</c:v>
                </c:pt>
                <c:pt idx="15">
                  <c:v>13102.073999999999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East Asia</c:v>
                </c:pt>
                <c:pt idx="1">
                  <c:v>Japan</c:v>
                </c:pt>
              </c:strCache>
            </c:strRef>
          </c:cat>
          <c:val>
            <c:numRef>
              <c:f>Sheet1!$B$2:$B$3</c:f>
              <c:numCache>
                <c:formatCode>General</c:formatCode>
                <c:ptCount val="2"/>
                <c:pt idx="0">
                  <c:v>0.06379477948898282</c:v>
                </c:pt>
                <c:pt idx="1">
                  <c:v>0.05502179985327271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61229523101268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7668.77</c:v>
                </c:pt>
                <c:pt idx="2">
                  <c:v>8028.418</c:v>
                </c:pt>
                <c:pt idx="3">
                  <c:v>8426.934</c:v>
                </c:pt>
                <c:pt idx="4">
                  <c:v>8866.74</c:v>
                </c:pt>
                <c:pt idx="5">
                  <c:v>9352.697</c:v>
                </c:pt>
                <c:pt idx="6">
                  <c:v>9884.042</c:v>
                </c:pt>
                <c:pt idx="7">
                  <c:v>10457.853999999998</c:v>
                </c:pt>
                <c:pt idx="8">
                  <c:v>11068.131000000001</c:v>
                </c:pt>
                <c:pt idx="9">
                  <c:v>11714.641</c:v>
                </c:pt>
                <c:pt idx="10">
                  <c:v>12392.849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7668.77</c:v>
                </c:pt>
                <c:pt idx="1">
                  <c:v>359.64799999999923</c:v>
                </c:pt>
                <c:pt idx="2">
                  <c:v>398.5159999999996</c:v>
                </c:pt>
                <c:pt idx="3">
                  <c:v>439.8060000000005</c:v>
                </c:pt>
                <c:pt idx="4">
                  <c:v>485.95700000000033</c:v>
                </c:pt>
                <c:pt idx="5">
                  <c:v>531.3449999999993</c:v>
                </c:pt>
                <c:pt idx="6">
                  <c:v>573.8119999999981</c:v>
                </c:pt>
                <c:pt idx="7">
                  <c:v>610.2770000000037</c:v>
                </c:pt>
                <c:pt idx="8">
                  <c:v>646.5099999999984</c:v>
                </c:pt>
                <c:pt idx="9">
                  <c:v>678.2080000000005</c:v>
                </c:pt>
                <c:pt idx="10">
                  <c:v>709.2249999999985</c:v>
                </c:pt>
                <c:pt idx="11">
                  <c:v>13102.073999999999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Japan</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East Asia</c:v>
                </c:pt>
              </c:strCache>
            </c:strRef>
          </c:cat>
          <c:val>
            <c:numRef>
              <c:f>Sheet1!$B$2:$B$2</c:f>
              <c:numCache>
                <c:formatCode>General</c:formatCode>
                <c:ptCount val="1"/>
                <c:pt idx="0">
                  <c:v>22.33596199190097</c:v>
                </c:pt>
              </c:numCache>
            </c:numRef>
          </c:val>
        </c:ser>
        <c:ser>
          <c:idx val="1"/>
          <c:order val="1"/>
          <c:tx>
            <c:strRef>
              <c:f>Sheet1!$C$1</c:f>
              <c:strCache>
                <c:ptCount val="1"/>
                <c:pt idx="0">
                  <c:v>Rest of East Asia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East Asia</c:v>
                </c:pt>
              </c:strCache>
            </c:strRef>
          </c:cat>
          <c:val>
            <c:numRef>
              <c:f>Sheet1!$C$2:$C$2</c:f>
              <c:numCache>
                <c:formatCode>General</c:formatCode>
                <c:ptCount val="1"/>
                <c:pt idx="0">
                  <c:v>77.66403800809903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538.359</c:v>
                </c:pt>
                <c:pt idx="8">
                  <c:v>823.42</c:v>
                </c:pt>
                <c:pt idx="9">
                  <c:v>2061.906</c:v>
                </c:pt>
                <c:pt idx="10">
                  <c:v>4245.085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688.4139000000005"/>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Aluminum Foil-Based</c:v>
                </c:pt>
                <c:pt idx="3">
                  <c:v>Other Specialty Barri…</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141.833</c:v>
                </c:pt>
                <c:pt idx="1">
                  <c:v>211.478</c:v>
                </c:pt>
                <c:pt idx="2">
                  <c:v>222.883</c:v>
                </c:pt>
                <c:pt idx="3">
                  <c:v>244.33</c:v>
                </c:pt>
                <c:pt idx="4">
                  <c:v>401.095</c:v>
                </c:pt>
                <c:pt idx="5">
                  <c:v>483.831</c:v>
                </c:pt>
                <c:pt idx="6">
                  <c:v>570.275</c:v>
                </c:pt>
                <c:pt idx="7">
                  <c:v>644.105</c:v>
                </c:pt>
                <c:pt idx="8">
                  <c:v>716.862</c:v>
                </c:pt>
                <c:pt idx="9">
                  <c:v>1644.255</c:v>
                </c:pt>
                <c:pt idx="10">
                  <c:v>2387.824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199.68416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Metallized Films</c:v>
                </c:pt>
                <c:pt idx="5">
                  <c:v>Coated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512.416</c:v>
                </c:pt>
                <c:pt idx="5">
                  <c:v>518.653</c:v>
                </c:pt>
                <c:pt idx="6">
                  <c:v>603.922</c:v>
                </c:pt>
                <c:pt idx="7">
                  <c:v>640.479</c:v>
                </c:pt>
                <c:pt idx="8">
                  <c:v>1120.42</c:v>
                </c:pt>
                <c:pt idx="9">
                  <c:v>1997.645</c:v>
                </c:pt>
                <c:pt idx="10">
                  <c:v>2275.235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048.8149000000003"/>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1077.781</c:v>
                </c:pt>
                <c:pt idx="8">
                  <c:v>1588.699</c:v>
                </c:pt>
                <c:pt idx="9">
                  <c:v>2360.586</c:v>
                </c:pt>
                <c:pt idx="10">
                  <c:v>2641.705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539.8847"/>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1292.773</c:v>
                </c:pt>
                <c:pt idx="10">
                  <c:v>6376.0</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543.84"/>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1077.78</c:v>
                </c:pt>
                <c:pt idx="8">
                  <c:v>1588.698</c:v>
                </c:pt>
                <c:pt idx="9">
                  <c:v>2360.585</c:v>
                </c:pt>
                <c:pt idx="10">
                  <c:v>2641.705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539.8847"/>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7668.77</c:v>
                </c:pt>
                <c:pt idx="2">
                  <c:v>10718.3</c:v>
                </c:pt>
                <c:pt idx="3">
                  <c:v>11339.038999999999</c:v>
                </c:pt>
                <c:pt idx="4">
                  <c:v>12772.499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7668.77</c:v>
                </c:pt>
                <c:pt idx="1">
                  <c:v>3049.5299999999997</c:v>
                </c:pt>
                <c:pt idx="2">
                  <c:v>620.7390000000001</c:v>
                </c:pt>
                <c:pt idx="3">
                  <c:v>1433.46</c:v>
                </c:pt>
                <c:pt idx="4">
                  <c:v>329.57499999999993</c:v>
                </c:pt>
                <c:pt idx="5">
                  <c:v>13102.073999999999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3049.5299999999997</c:v>
                </c:pt>
                <c:pt idx="2">
                  <c:v>3670.269</c:v>
                </c:pt>
                <c:pt idx="3">
                  <c:v>5103.728999999999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3049.5299999999997</c:v>
                </c:pt>
                <c:pt idx="1">
                  <c:v>620.7390000000001</c:v>
                </c:pt>
                <c:pt idx="2">
                  <c:v>1433.46</c:v>
                </c:pt>
                <c:pt idx="3">
                  <c:v>329.57499999999993</c:v>
                </c:pt>
                <c:pt idx="4">
                  <c:v>5433.303999999999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7668.771</c:v>
                </c:pt>
                <c:pt idx="2">
                  <c:v>9462.944</c:v>
                </c:pt>
                <c:pt idx="3">
                  <c:v>10548.446</c:v>
                </c:pt>
                <c:pt idx="4">
                  <c:v>11071.087</c:v>
                </c:pt>
                <c:pt idx="5">
                  <c:v>11516.374</c:v>
                </c:pt>
                <c:pt idx="6">
                  <c:v>11934.554</c:v>
                </c:pt>
                <c:pt idx="7">
                  <c:v>12177.634</c:v>
                </c:pt>
                <c:pt idx="8">
                  <c:v>12282.091</c:v>
                </c:pt>
                <c:pt idx="9">
                  <c:v>12611.219000000001</c:v>
                </c:pt>
                <c:pt idx="10">
                  <c:v>12767.892000000002</c:v>
                </c:pt>
                <c:pt idx="11">
                  <c:v>12905.444000000001</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7668.771</c:v>
                </c:pt>
                <c:pt idx="1">
                  <c:v>1794.1730000000002</c:v>
                </c:pt>
                <c:pt idx="2">
                  <c:v>1085.502</c:v>
                </c:pt>
                <c:pt idx="3">
                  <c:v>522.641</c:v>
                </c:pt>
                <c:pt idx="4">
                  <c:v>445.28700000000003</c:v>
                </c:pt>
                <c:pt idx="5">
                  <c:v>418.18000000000006</c:v>
                </c:pt>
                <c:pt idx="6">
                  <c:v>243.07999999999993</c:v>
                </c:pt>
                <c:pt idx="7">
                  <c:v>104.457</c:v>
                </c:pt>
                <c:pt idx="8">
                  <c:v>329.12799999999993</c:v>
                </c:pt>
                <c:pt idx="9">
                  <c:v>156.673</c:v>
                </c:pt>
                <c:pt idx="10">
                  <c:v>137.552</c:v>
                </c:pt>
                <c:pt idx="11">
                  <c:v>196.631</c:v>
                </c:pt>
                <c:pt idx="12">
                  <c:v>13102.075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1794.1730000000002</c:v>
                </c:pt>
                <c:pt idx="2">
                  <c:v>2879.675</c:v>
                </c:pt>
                <c:pt idx="3">
                  <c:v>3402.3160000000003</c:v>
                </c:pt>
                <c:pt idx="4">
                  <c:v>3847.603</c:v>
                </c:pt>
                <c:pt idx="5">
                  <c:v>4265.783</c:v>
                </c:pt>
                <c:pt idx="6">
                  <c:v>4508.863</c:v>
                </c:pt>
                <c:pt idx="7">
                  <c:v>4613.320000000001</c:v>
                </c:pt>
                <c:pt idx="8">
                  <c:v>4942.448</c:v>
                </c:pt>
                <c:pt idx="9">
                  <c:v>5099.121</c:v>
                </c:pt>
                <c:pt idx="10">
                  <c:v>5236.673</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1794.1730000000002</c:v>
                </c:pt>
                <c:pt idx="1">
                  <c:v>1085.502</c:v>
                </c:pt>
                <c:pt idx="2">
                  <c:v>522.641</c:v>
                </c:pt>
                <c:pt idx="3">
                  <c:v>445.28700000000003</c:v>
                </c:pt>
                <c:pt idx="4">
                  <c:v>418.18000000000006</c:v>
                </c:pt>
                <c:pt idx="5">
                  <c:v>243.07999999999993</c:v>
                </c:pt>
                <c:pt idx="6">
                  <c:v>104.457</c:v>
                </c:pt>
                <c:pt idx="7">
                  <c:v>329.12799999999993</c:v>
                </c:pt>
                <c:pt idx="8">
                  <c:v>156.673</c:v>
                </c:pt>
                <c:pt idx="9">
                  <c:v>137.552</c:v>
                </c:pt>
                <c:pt idx="10">
                  <c:v>196.631</c:v>
                </c:pt>
                <c:pt idx="11">
                  <c:v>5433.304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7668.770000000001</c:v>
                </c:pt>
                <c:pt idx="2">
                  <c:v>8469.976</c:v>
                </c:pt>
                <c:pt idx="3">
                  <c:v>10029.642</c:v>
                </c:pt>
                <c:pt idx="4">
                  <c:v>11444.61</c:v>
                </c:pt>
                <c:pt idx="5">
                  <c:v>11810.165</c:v>
                </c:pt>
                <c:pt idx="6">
                  <c:v>12147.663</c:v>
                </c:pt>
                <c:pt idx="7">
                  <c:v>12575.265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7668.770000000001</c:v>
                </c:pt>
                <c:pt idx="1">
                  <c:v>801.2059999999999</c:v>
                </c:pt>
                <c:pt idx="2">
                  <c:v>1559.6659999999997</c:v>
                </c:pt>
                <c:pt idx="3">
                  <c:v>1414.9679999999998</c:v>
                </c:pt>
                <c:pt idx="4">
                  <c:v>365.55499999999995</c:v>
                </c:pt>
                <c:pt idx="5">
                  <c:v>337.49799999999993</c:v>
                </c:pt>
                <c:pt idx="6">
                  <c:v>427.60199999999986</c:v>
                </c:pt>
                <c:pt idx="7">
                  <c:v>526.809</c:v>
                </c:pt>
                <c:pt idx="8">
                  <c:v>13102.074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801.2059999999999</c:v>
                </c:pt>
                <c:pt idx="2">
                  <c:v>2360.8719999999994</c:v>
                </c:pt>
                <c:pt idx="3">
                  <c:v>3775.8399999999992</c:v>
                </c:pt>
                <c:pt idx="4">
                  <c:v>4141.3949999999995</c:v>
                </c:pt>
                <c:pt idx="5">
                  <c:v>4478.892999999999</c:v>
                </c:pt>
                <c:pt idx="6">
                  <c:v>4906.494999999999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801.2059999999999</c:v>
                </c:pt>
                <c:pt idx="1">
                  <c:v>1559.6659999999997</c:v>
                </c:pt>
                <c:pt idx="2">
                  <c:v>1414.9679999999998</c:v>
                </c:pt>
                <c:pt idx="3">
                  <c:v>365.55499999999995</c:v>
                </c:pt>
                <c:pt idx="4">
                  <c:v>337.49799999999993</c:v>
                </c:pt>
                <c:pt idx="5">
                  <c:v>427.60199999999986</c:v>
                </c:pt>
                <c:pt idx="6">
                  <c:v>526.809</c:v>
                </c:pt>
                <c:pt idx="7">
                  <c:v>5433.303999999999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7668.771</c:v>
                </c:pt>
                <c:pt idx="2">
                  <c:v>8759.542</c:v>
                </c:pt>
                <c:pt idx="3">
                  <c:v>10470.147</c:v>
                </c:pt>
                <c:pt idx="4">
                  <c:v>12311.524000000001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7668.771</c:v>
                </c:pt>
                <c:pt idx="1">
                  <c:v>1090.7709999999997</c:v>
                </c:pt>
                <c:pt idx="2">
                  <c:v>1710.6050000000005</c:v>
                </c:pt>
                <c:pt idx="3">
                  <c:v>1841.377</c:v>
                </c:pt>
                <c:pt idx="4">
                  <c:v>790.549</c:v>
                </c:pt>
                <c:pt idx="5">
                  <c:v>13102.073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1090.7709999999997</c:v>
                </c:pt>
                <c:pt idx="2">
                  <c:v>2801.376</c:v>
                </c:pt>
                <c:pt idx="3">
                  <c:v>4642.753000000001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1090.7709999999997</c:v>
                </c:pt>
                <c:pt idx="1">
                  <c:v>1710.6050000000005</c:v>
                </c:pt>
                <c:pt idx="2">
                  <c:v>1841.377</c:v>
                </c:pt>
                <c:pt idx="3">
                  <c:v>790.549</c:v>
                </c:pt>
                <c:pt idx="4">
                  <c:v>5433.302000000001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7668.773</c:v>
                </c:pt>
                <c:pt idx="2">
                  <c:v>12192.041000000001</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7668.773</c:v>
                </c:pt>
                <c:pt idx="1">
                  <c:v>4523.268</c:v>
                </c:pt>
                <c:pt idx="2">
                  <c:v>910.0319999999999</c:v>
                </c:pt>
                <c:pt idx="3">
                  <c:v>13102.073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4523.268</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4523.268</c:v>
                </c:pt>
                <c:pt idx="1">
                  <c:v>910.0319999999999</c:v>
                </c:pt>
                <c:pt idx="2">
                  <c:v>5433.3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7668.768</c:v>
                </c:pt>
                <c:pt idx="2">
                  <c:v>8759.539999999999</c:v>
                </c:pt>
                <c:pt idx="3">
                  <c:v>10470.145999999999</c:v>
                </c:pt>
                <c:pt idx="4">
                  <c:v>12311.524999999998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7668.768</c:v>
                </c:pt>
                <c:pt idx="1">
                  <c:v>1090.7719999999997</c:v>
                </c:pt>
                <c:pt idx="2">
                  <c:v>1710.6059999999998</c:v>
                </c:pt>
                <c:pt idx="3">
                  <c:v>1841.379</c:v>
                </c:pt>
                <c:pt idx="4">
                  <c:v>790.55</c:v>
                </c:pt>
                <c:pt idx="5">
                  <c:v>13102.074999999999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1090.7719999999997</c:v>
                </c:pt>
                <c:pt idx="2">
                  <c:v>2801.3779999999997</c:v>
                </c:pt>
                <c:pt idx="3">
                  <c:v>4642.757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1090.7719999999997</c:v>
                </c:pt>
                <c:pt idx="1">
                  <c:v>1710.6059999999998</c:v>
                </c:pt>
                <c:pt idx="2">
                  <c:v>1841.379</c:v>
                </c:pt>
                <c:pt idx="3">
                  <c:v>790.55</c:v>
                </c:pt>
                <c:pt idx="4">
                  <c:v>5433.307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995.4860000000001</c:v>
                </c:pt>
                <c:pt idx="1">
                  <c:v>1045.777</c:v>
                </c:pt>
                <c:pt idx="2">
                  <c:v>1098.801</c:v>
                </c:pt>
                <c:pt idx="3">
                  <c:v>1155.425</c:v>
                </c:pt>
                <c:pt idx="4">
                  <c:v>1215.913</c:v>
                </c:pt>
                <c:pt idx="5">
                  <c:v>1281.867</c:v>
                </c:pt>
                <c:pt idx="6">
                  <c:v>1353.585</c:v>
                </c:pt>
                <c:pt idx="7">
                  <c:v>1431.978</c:v>
                </c:pt>
                <c:pt idx="8">
                  <c:v>1517.625</c:v>
                </c:pt>
                <c:pt idx="9">
                  <c:v>1611.2440000000001</c:v>
                </c:pt>
                <c:pt idx="10">
                  <c:v>1712.7430000000002</c:v>
                </c:pt>
                <c:pt idx="11">
                  <c:v>1821.533</c:v>
                </c:pt>
                <c:pt idx="12">
                  <c:v>1936.1599999999999</c:v>
                </c:pt>
                <c:pt idx="13">
                  <c:v>2055.968</c:v>
                </c:pt>
                <c:pt idx="14">
                  <c:v>2179.592</c:v>
                </c:pt>
                <c:pt idx="15">
                  <c:v>2306.437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East Asia</c:v>
                </c:pt>
                <c:pt idx="1">
                  <c:v>South Korea</c:v>
                </c:pt>
              </c:strCache>
            </c:strRef>
          </c:cat>
          <c:val>
            <c:numRef>
              <c:f>Sheet1!$B$2:$B$3</c:f>
              <c:numCache>
                <c:formatCode>General</c:formatCode>
                <c:ptCount val="2"/>
                <c:pt idx="0">
                  <c:v>0.050179156323661545</c:v>
                </c:pt>
                <c:pt idx="1">
                  <c:v>0.06049802220513545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16723299769328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1281.867</c:v>
                </c:pt>
                <c:pt idx="2">
                  <c:v>1353.585</c:v>
                </c:pt>
                <c:pt idx="3">
                  <c:v>1431.978</c:v>
                </c:pt>
                <c:pt idx="4">
                  <c:v>1517.625</c:v>
                </c:pt>
                <c:pt idx="5">
                  <c:v>1611.2440000000001</c:v>
                </c:pt>
                <c:pt idx="6">
                  <c:v>1712.7430000000002</c:v>
                </c:pt>
                <c:pt idx="7">
                  <c:v>1821.533</c:v>
                </c:pt>
                <c:pt idx="8">
                  <c:v>1936.1599999999999</c:v>
                </c:pt>
                <c:pt idx="9">
                  <c:v>2055.968</c:v>
                </c:pt>
                <c:pt idx="10">
                  <c:v>2179.592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1281.867</c:v>
                </c:pt>
                <c:pt idx="1">
                  <c:v>71.71800000000007</c:v>
                </c:pt>
                <c:pt idx="2">
                  <c:v>78.39300000000003</c:v>
                </c:pt>
                <c:pt idx="3">
                  <c:v>85.64699999999993</c:v>
                </c:pt>
                <c:pt idx="4">
                  <c:v>93.61900000000014</c:v>
                </c:pt>
                <c:pt idx="5">
                  <c:v>101.49900000000002</c:v>
                </c:pt>
                <c:pt idx="6">
                  <c:v>108.78999999999974</c:v>
                </c:pt>
                <c:pt idx="7">
                  <c:v>114.62699999999995</c:v>
                </c:pt>
                <c:pt idx="8">
                  <c:v>119.80799999999999</c:v>
                </c:pt>
                <c:pt idx="9">
                  <c:v>123.62400000000025</c:v>
                </c:pt>
                <c:pt idx="10">
                  <c:v>126.8449999999998</c:v>
                </c:pt>
                <c:pt idx="11">
                  <c:v>2306.437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South Korea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East Asia</c:v>
                </c:pt>
              </c:strCache>
            </c:strRef>
          </c:cat>
          <c:val>
            <c:numRef>
              <c:f>Sheet1!$B$2:$B$2</c:f>
              <c:numCache>
                <c:formatCode>General</c:formatCode>
                <c:ptCount val="1"/>
                <c:pt idx="0">
                  <c:v>10.538805903395982</c:v>
                </c:pt>
              </c:numCache>
            </c:numRef>
          </c:val>
        </c:ser>
        <c:ser>
          <c:idx val="1"/>
          <c:order val="1"/>
          <c:tx>
            <c:strRef>
              <c:f>Sheet1!$C$1</c:f>
              <c:strCache>
                <c:ptCount val="1"/>
                <c:pt idx="0">
                  <c:v>Rest of East Asia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East Asia</c:v>
                </c:pt>
              </c:strCache>
            </c:strRef>
          </c:cat>
          <c:val>
            <c:numRef>
              <c:f>Sheet1!$C$2:$C$2</c:f>
              <c:numCache>
                <c:formatCode>General</c:formatCode>
                <c:ptCount val="1"/>
                <c:pt idx="0">
                  <c:v>89.46119409660402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3030.505</c:v>
                </c:pt>
                <c:pt idx="1">
                  <c:v>3192.535</c:v>
                </c:pt>
                <c:pt idx="2">
                  <c:v>3365.0580000000004</c:v>
                </c:pt>
                <c:pt idx="3">
                  <c:v>3552.356</c:v>
                </c:pt>
                <c:pt idx="4">
                  <c:v>3753.944</c:v>
                </c:pt>
                <c:pt idx="5">
                  <c:v>3988.027</c:v>
                </c:pt>
                <c:pt idx="6">
                  <c:v>4247.0560000000005</c:v>
                </c:pt>
                <c:pt idx="7">
                  <c:v>4534.469999999999</c:v>
                </c:pt>
                <c:pt idx="8">
                  <c:v>4853.582</c:v>
                </c:pt>
                <c:pt idx="9">
                  <c:v>5209.026</c:v>
                </c:pt>
                <c:pt idx="10">
                  <c:v>5601.692999999999</c:v>
                </c:pt>
                <c:pt idx="11">
                  <c:v>6032.78</c:v>
                </c:pt>
                <c:pt idx="12">
                  <c:v>6498.754</c:v>
                </c:pt>
                <c:pt idx="13">
                  <c:v>6999.676</c:v>
                </c:pt>
                <c:pt idx="14">
                  <c:v>7533.195</c:v>
                </c:pt>
                <c:pt idx="15">
                  <c:v>8099.345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East Asia</c:v>
                </c:pt>
                <c:pt idx="1">
                  <c:v>South Korea</c:v>
                </c:pt>
              </c:strCache>
            </c:strRef>
          </c:cat>
          <c:val>
            <c:numRef>
              <c:f>Sheet1!$B$2:$B$3</c:f>
              <c:numCache>
                <c:formatCode>General</c:formatCode>
                <c:ptCount val="2"/>
                <c:pt idx="0">
                  <c:v>0.06379477948898282</c:v>
                </c:pt>
                <c:pt idx="1">
                  <c:v>0.07341875935504594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911532512931202"/>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3988.027</c:v>
                </c:pt>
                <c:pt idx="2">
                  <c:v>4247.0560000000005</c:v>
                </c:pt>
                <c:pt idx="3">
                  <c:v>4534.469999999999</c:v>
                </c:pt>
                <c:pt idx="4">
                  <c:v>4853.582</c:v>
                </c:pt>
                <c:pt idx="5">
                  <c:v>5209.026</c:v>
                </c:pt>
                <c:pt idx="6">
                  <c:v>5601.692999999999</c:v>
                </c:pt>
                <c:pt idx="7">
                  <c:v>6032.78</c:v>
                </c:pt>
                <c:pt idx="8">
                  <c:v>6498.754</c:v>
                </c:pt>
                <c:pt idx="9">
                  <c:v>6999.676</c:v>
                </c:pt>
                <c:pt idx="10">
                  <c:v>7533.195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3988.027</c:v>
                </c:pt>
                <c:pt idx="1">
                  <c:v>259.02900000000045</c:v>
                </c:pt>
                <c:pt idx="2">
                  <c:v>287.41399999999885</c:v>
                </c:pt>
                <c:pt idx="3">
                  <c:v>319.112000000001</c:v>
                </c:pt>
                <c:pt idx="4">
                  <c:v>355.4439999999995</c:v>
                </c:pt>
                <c:pt idx="5">
                  <c:v>392.66699999999946</c:v>
                </c:pt>
                <c:pt idx="6">
                  <c:v>431.08700000000044</c:v>
                </c:pt>
                <c:pt idx="7">
                  <c:v>465.97400000000016</c:v>
                </c:pt>
                <c:pt idx="8">
                  <c:v>500.9220000000005</c:v>
                </c:pt>
                <c:pt idx="9">
                  <c:v>533.5189999999993</c:v>
                </c:pt>
                <c:pt idx="10">
                  <c:v>566.1500000000005</c:v>
                </c:pt>
                <c:pt idx="11">
                  <c:v>8099.345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South Korea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East Asia</c:v>
                </c:pt>
              </c:strCache>
            </c:strRef>
          </c:cat>
          <c:val>
            <c:numRef>
              <c:f>Sheet1!$B$2:$B$2</c:f>
              <c:numCache>
                <c:formatCode>General</c:formatCode>
                <c:ptCount val="1"/>
                <c:pt idx="0">
                  <c:v>11.615476731558626</c:v>
                </c:pt>
              </c:numCache>
            </c:numRef>
          </c:val>
        </c:ser>
        <c:ser>
          <c:idx val="1"/>
          <c:order val="1"/>
          <c:tx>
            <c:strRef>
              <c:f>Sheet1!$C$1</c:f>
              <c:strCache>
                <c:ptCount val="1"/>
                <c:pt idx="0">
                  <c:v>Rest of East Asia</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East Asia</c:v>
                </c:pt>
              </c:strCache>
            </c:strRef>
          </c:cat>
          <c:val>
            <c:numRef>
              <c:f>Sheet1!$C$2:$C$2</c:f>
              <c:numCache>
                <c:formatCode>General</c:formatCode>
                <c:ptCount val="1"/>
                <c:pt idx="0">
                  <c:v>88.38452326844137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282.677</c:v>
                </c:pt>
                <c:pt idx="8">
                  <c:v>440.738</c:v>
                </c:pt>
                <c:pt idx="9">
                  <c:v>1105.984</c:v>
                </c:pt>
                <c:pt idx="10">
                  <c:v>2158.628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892.5615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Aluminum Foil-Based</c:v>
                </c:pt>
                <c:pt idx="3">
                  <c:v>AlOx / SiOx-Coated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85.434</c:v>
                </c:pt>
                <c:pt idx="1">
                  <c:v>117.401</c:v>
                </c:pt>
                <c:pt idx="2">
                  <c:v>121.542</c:v>
                </c:pt>
                <c:pt idx="3">
                  <c:v>127.503</c:v>
                </c:pt>
                <c:pt idx="4">
                  <c:v>209.449</c:v>
                </c:pt>
                <c:pt idx="5">
                  <c:v>248.907</c:v>
                </c:pt>
                <c:pt idx="6">
                  <c:v>291.511</c:v>
                </c:pt>
                <c:pt idx="7">
                  <c:v>336.93</c:v>
                </c:pt>
                <c:pt idx="8">
                  <c:v>362.254</c:v>
                </c:pt>
                <c:pt idx="9">
                  <c:v>851.603</c:v>
                </c:pt>
                <c:pt idx="10">
                  <c:v>1235.492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655.55928"/>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253.456</c:v>
                </c:pt>
                <c:pt idx="5">
                  <c:v>286.203</c:v>
                </c:pt>
                <c:pt idx="6">
                  <c:v>296.42</c:v>
                </c:pt>
                <c:pt idx="7">
                  <c:v>336.965</c:v>
                </c:pt>
                <c:pt idx="8">
                  <c:v>586.966</c:v>
                </c:pt>
                <c:pt idx="9">
                  <c:v>1042.915</c:v>
                </c:pt>
                <c:pt idx="10">
                  <c:v>1185.102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588.03668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542.039</c:v>
                </c:pt>
                <c:pt idx="8">
                  <c:v>873.412</c:v>
                </c:pt>
                <c:pt idx="9">
                  <c:v>1270.919</c:v>
                </c:pt>
                <c:pt idx="10">
                  <c:v>1301.656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744.21904"/>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624.378</c:v>
                </c:pt>
                <c:pt idx="10">
                  <c:v>3363.65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507.291"/>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542.039</c:v>
                </c:pt>
                <c:pt idx="8">
                  <c:v>873.413</c:v>
                </c:pt>
                <c:pt idx="9">
                  <c:v>1270.918</c:v>
                </c:pt>
                <c:pt idx="10">
                  <c:v>1301.658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744.2217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3988.027</c:v>
                </c:pt>
                <c:pt idx="2">
                  <c:v>6182.157999999999</c:v>
                </c:pt>
                <c:pt idx="3">
                  <c:v>6639.045999999999</c:v>
                </c:pt>
                <c:pt idx="4">
                  <c:v>7827.23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3988.027</c:v>
                </c:pt>
                <c:pt idx="1">
                  <c:v>2194.131</c:v>
                </c:pt>
                <c:pt idx="2">
                  <c:v>456.888</c:v>
                </c:pt>
                <c:pt idx="3">
                  <c:v>1188.1840000000002</c:v>
                </c:pt>
                <c:pt idx="4">
                  <c:v>272.115</c:v>
                </c:pt>
                <c:pt idx="5">
                  <c:v>8099.345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2194.131</c:v>
                </c:pt>
                <c:pt idx="2">
                  <c:v>2651.019</c:v>
                </c:pt>
                <c:pt idx="3">
                  <c:v>3839.203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2194.131</c:v>
                </c:pt>
                <c:pt idx="1">
                  <c:v>456.888</c:v>
                </c:pt>
                <c:pt idx="2">
                  <c:v>1188.1840000000002</c:v>
                </c:pt>
                <c:pt idx="3">
                  <c:v>272.115</c:v>
                </c:pt>
                <c:pt idx="4">
                  <c:v>4111.318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3988.0259999999994</c:v>
                </c:pt>
                <c:pt idx="2">
                  <c:v>5288.928999999999</c:v>
                </c:pt>
                <c:pt idx="3">
                  <c:v>6132.222999999999</c:v>
                </c:pt>
                <c:pt idx="4">
                  <c:v>6527.482999999999</c:v>
                </c:pt>
                <c:pt idx="5">
                  <c:v>6866.656999999999</c:v>
                </c:pt>
                <c:pt idx="6">
                  <c:v>7178.8369999999995</c:v>
                </c:pt>
                <c:pt idx="7">
                  <c:v>7369.366</c:v>
                </c:pt>
                <c:pt idx="8">
                  <c:v>7460.511</c:v>
                </c:pt>
                <c:pt idx="9">
                  <c:v>7715.694</c:v>
                </c:pt>
                <c:pt idx="10">
                  <c:v>7852.4800000000005</c:v>
                </c:pt>
                <c:pt idx="11">
                  <c:v>7969.448</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3988.0259999999994</c:v>
                </c:pt>
                <c:pt idx="1">
                  <c:v>1300.903</c:v>
                </c:pt>
                <c:pt idx="2">
                  <c:v>843.294</c:v>
                </c:pt>
                <c:pt idx="3">
                  <c:v>395.26</c:v>
                </c:pt>
                <c:pt idx="4">
                  <c:v>339.17400000000004</c:v>
                </c:pt>
                <c:pt idx="5">
                  <c:v>312.18</c:v>
                </c:pt>
                <c:pt idx="6">
                  <c:v>190.529</c:v>
                </c:pt>
                <c:pt idx="7">
                  <c:v>91.14500000000001</c:v>
                </c:pt>
                <c:pt idx="8">
                  <c:v>255.18299999999996</c:v>
                </c:pt>
                <c:pt idx="9">
                  <c:v>136.786</c:v>
                </c:pt>
                <c:pt idx="10">
                  <c:v>116.96799999999999</c:v>
                </c:pt>
                <c:pt idx="11">
                  <c:v>129.89800000000002</c:v>
                </c:pt>
                <c:pt idx="12">
                  <c:v>8099.346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1300.903</c:v>
                </c:pt>
                <c:pt idx="2">
                  <c:v>2144.197</c:v>
                </c:pt>
                <c:pt idx="3">
                  <c:v>2539.4570000000003</c:v>
                </c:pt>
                <c:pt idx="4">
                  <c:v>2878.6310000000003</c:v>
                </c:pt>
                <c:pt idx="5">
                  <c:v>3190.811</c:v>
                </c:pt>
                <c:pt idx="6">
                  <c:v>3381.34</c:v>
                </c:pt>
                <c:pt idx="7">
                  <c:v>3472.485</c:v>
                </c:pt>
                <c:pt idx="8">
                  <c:v>3727.668</c:v>
                </c:pt>
                <c:pt idx="9">
                  <c:v>3864.454</c:v>
                </c:pt>
                <c:pt idx="10">
                  <c:v>3981.422</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1300.903</c:v>
                </c:pt>
                <c:pt idx="1">
                  <c:v>843.294</c:v>
                </c:pt>
                <c:pt idx="2">
                  <c:v>395.26</c:v>
                </c:pt>
                <c:pt idx="3">
                  <c:v>339.17400000000004</c:v>
                </c:pt>
                <c:pt idx="4">
                  <c:v>312.18</c:v>
                </c:pt>
                <c:pt idx="5">
                  <c:v>190.529</c:v>
                </c:pt>
                <c:pt idx="6">
                  <c:v>91.14500000000001</c:v>
                </c:pt>
                <c:pt idx="7">
                  <c:v>255.18299999999996</c:v>
                </c:pt>
                <c:pt idx="8">
                  <c:v>136.786</c:v>
                </c:pt>
                <c:pt idx="9">
                  <c:v>116.96799999999999</c:v>
                </c:pt>
                <c:pt idx="10">
                  <c:v>129.89800000000002</c:v>
                </c:pt>
                <c:pt idx="11">
                  <c:v>4111.320000000001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3988.0270000000005</c:v>
                </c:pt>
                <c:pt idx="2">
                  <c:v>4603.512000000001</c:v>
                </c:pt>
                <c:pt idx="3">
                  <c:v>5789.9130000000005</c:v>
                </c:pt>
                <c:pt idx="4">
                  <c:v>6858.635</c:v>
                </c:pt>
                <c:pt idx="5">
                  <c:v>7119.601000000001</c:v>
                </c:pt>
                <c:pt idx="6">
                  <c:v>7405.108</c:v>
                </c:pt>
                <c:pt idx="7">
                  <c:v>7709.215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3988.0270000000005</c:v>
                </c:pt>
                <c:pt idx="1">
                  <c:v>615.485</c:v>
                </c:pt>
                <c:pt idx="2">
                  <c:v>1186.401</c:v>
                </c:pt>
                <c:pt idx="3">
                  <c:v>1068.7219999999998</c:v>
                </c:pt>
                <c:pt idx="4">
                  <c:v>260.966</c:v>
                </c:pt>
                <c:pt idx="5">
                  <c:v>285.50700000000006</c:v>
                </c:pt>
                <c:pt idx="6">
                  <c:v>304.107</c:v>
                </c:pt>
                <c:pt idx="7">
                  <c:v>390.13100000000003</c:v>
                </c:pt>
                <c:pt idx="8">
                  <c:v>8099.346000000001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615.485</c:v>
                </c:pt>
                <c:pt idx="2">
                  <c:v>1801.886</c:v>
                </c:pt>
                <c:pt idx="3">
                  <c:v>2870.6079999999997</c:v>
                </c:pt>
                <c:pt idx="4">
                  <c:v>3131.5739999999996</c:v>
                </c:pt>
                <c:pt idx="5">
                  <c:v>3417.0809999999997</c:v>
                </c:pt>
                <c:pt idx="6">
                  <c:v>3721.1879999999996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615.485</c:v>
                </c:pt>
                <c:pt idx="1">
                  <c:v>1186.401</c:v>
                </c:pt>
                <c:pt idx="2">
                  <c:v>1068.7219999999998</c:v>
                </c:pt>
                <c:pt idx="3">
                  <c:v>260.966</c:v>
                </c:pt>
                <c:pt idx="4">
                  <c:v>285.50700000000006</c:v>
                </c:pt>
                <c:pt idx="5">
                  <c:v>304.107</c:v>
                </c:pt>
                <c:pt idx="6">
                  <c:v>390.13100000000003</c:v>
                </c:pt>
                <c:pt idx="7">
                  <c:v>4111.3189999999995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3988.026</c:v>
                </c:pt>
                <c:pt idx="2">
                  <c:v>4869.553</c:v>
                </c:pt>
                <c:pt idx="3">
                  <c:v>6062.753</c:v>
                </c:pt>
                <c:pt idx="4">
                  <c:v>7552.263999999999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3988.026</c:v>
                </c:pt>
                <c:pt idx="1">
                  <c:v>881.527</c:v>
                </c:pt>
                <c:pt idx="2">
                  <c:v>1193.2</c:v>
                </c:pt>
                <c:pt idx="3">
                  <c:v>1489.511</c:v>
                </c:pt>
                <c:pt idx="4">
                  <c:v>547.0809999999999</c:v>
                </c:pt>
                <c:pt idx="5">
                  <c:v>8099.345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881.527</c:v>
                </c:pt>
                <c:pt idx="2">
                  <c:v>2074.727</c:v>
                </c:pt>
                <c:pt idx="3">
                  <c:v>3564.238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881.527</c:v>
                </c:pt>
                <c:pt idx="1">
                  <c:v>1193.2</c:v>
                </c:pt>
                <c:pt idx="2">
                  <c:v>1489.511</c:v>
                </c:pt>
                <c:pt idx="3">
                  <c:v>547.0809999999999</c:v>
                </c:pt>
                <c:pt idx="4">
                  <c:v>4111.3189999999995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3988.0280000000002</c:v>
                </c:pt>
                <c:pt idx="2">
                  <c:v>7461.463</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3988.0280000000002</c:v>
                </c:pt>
                <c:pt idx="1">
                  <c:v>3473.435</c:v>
                </c:pt>
                <c:pt idx="2">
                  <c:v>637.881</c:v>
                </c:pt>
                <c:pt idx="3">
                  <c:v>8099.344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3473.435</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3473.435</c:v>
                </c:pt>
                <c:pt idx="1">
                  <c:v>637.881</c:v>
                </c:pt>
                <c:pt idx="2">
                  <c:v>4111.316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3988.0280000000002</c:v>
                </c:pt>
                <c:pt idx="2">
                  <c:v>4869.554</c:v>
                </c:pt>
                <c:pt idx="3">
                  <c:v>6062.754</c:v>
                </c:pt>
                <c:pt idx="4">
                  <c:v>7552.264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3988.0280000000002</c:v>
                </c:pt>
                <c:pt idx="1">
                  <c:v>881.5260000000001</c:v>
                </c:pt>
                <c:pt idx="2">
                  <c:v>1193.2</c:v>
                </c:pt>
                <c:pt idx="3">
                  <c:v>1489.5100000000002</c:v>
                </c:pt>
                <c:pt idx="4">
                  <c:v>547.0820000000001</c:v>
                </c:pt>
                <c:pt idx="5">
                  <c:v>8099.3460000000005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881.5260000000001</c:v>
                </c:pt>
                <c:pt idx="2">
                  <c:v>2074.726</c:v>
                </c:pt>
                <c:pt idx="3">
                  <c:v>3564.2360000000003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881.5260000000001</c:v>
                </c:pt>
                <c:pt idx="1">
                  <c:v>1193.2</c:v>
                </c:pt>
                <c:pt idx="2">
                  <c:v>1489.5100000000002</c:v>
                </c:pt>
                <c:pt idx="3">
                  <c:v>547.0820000000001</c:v>
                </c:pt>
                <c:pt idx="4">
                  <c:v>4111.318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f>Sheet1!$B$1</c:f>
              <c:strCache>
                <c:ptCount val="1"/>
                <c:pt idx="0">
                  <c:v>Barrier Casings</c:v>
                </c:pt>
              </c:strCache>
            </c:strRef>
          </c:tx>
          <c:spPr>
            <a:ln w="25400">
              <a:solidFill>
                <a:srgbClr val="C55A11"/>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3958.0</c:v>
                </c:pt>
                <c:pt idx="1">
                  <c:v>3981.0</c:v>
                </c:pt>
                <c:pt idx="2">
                  <c:v>4004.0</c:v>
                </c:pt>
                <c:pt idx="3">
                  <c:v>4029.0</c:v>
                </c:pt>
                <c:pt idx="4">
                  <c:v>4057.0</c:v>
                </c:pt>
                <c:pt idx="5">
                  <c:v>4088.0</c:v>
                </c:pt>
                <c:pt idx="6">
                  <c:v>4121.0</c:v>
                </c:pt>
                <c:pt idx="7">
                  <c:v>4160.0</c:v>
                </c:pt>
                <c:pt idx="8">
                  <c:v>4208.0</c:v>
                </c:pt>
                <c:pt idx="9">
                  <c:v>4265.0</c:v>
                </c:pt>
                <c:pt idx="10">
                  <c:v>4332.0</c:v>
                </c:pt>
                <c:pt idx="11">
                  <c:v>4409.0</c:v>
                </c:pt>
                <c:pt idx="12">
                  <c:v>4490.0</c:v>
                </c:pt>
                <c:pt idx="13">
                  <c:v>4574.0</c:v>
                </c:pt>
                <c:pt idx="14">
                  <c:v>4652.0</c:v>
                </c:pt>
                <c:pt idx="15">
                  <c:v>4728.0</c:v>
                </c:pt>
              </c:numCache>
            </c:numRef>
          </c:val>
          <c:smooth val="0"/>
        </c:ser>
        <c:ser>
          <c:idx val="1"/>
          <c:order val="1"/>
          <c:tx>
            <c:strRef>
              <c:f>Sheet1!$C$1</c:f>
              <c:strCache>
                <c:ptCount val="1"/>
                <c:pt idx="0">
                  <c:v>Rollstock Films</c:v>
                </c:pt>
              </c:strCache>
            </c:strRef>
          </c:tx>
          <c:spPr>
            <a:ln w="25400">
              <a:solidFill>
                <a:srgbClr val="0B2E4A"/>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2788.0</c:v>
                </c:pt>
                <c:pt idx="1">
                  <c:v>2805.0</c:v>
                </c:pt>
                <c:pt idx="2">
                  <c:v>2823.0</c:v>
                </c:pt>
                <c:pt idx="3">
                  <c:v>2835.0</c:v>
                </c:pt>
                <c:pt idx="4">
                  <c:v>2840.0</c:v>
                </c:pt>
                <c:pt idx="5">
                  <c:v>2843.0</c:v>
                </c:pt>
                <c:pt idx="6">
                  <c:v>2848.0</c:v>
                </c:pt>
                <c:pt idx="7">
                  <c:v>2867.0</c:v>
                </c:pt>
                <c:pt idx="8">
                  <c:v>2896.0</c:v>
                </c:pt>
                <c:pt idx="9">
                  <c:v>2930.0</c:v>
                </c:pt>
                <c:pt idx="10">
                  <c:v>2968.0</c:v>
                </c:pt>
                <c:pt idx="11">
                  <c:v>3011.0</c:v>
                </c:pt>
                <c:pt idx="12">
                  <c:v>3059.0</c:v>
                </c:pt>
                <c:pt idx="13">
                  <c:v>3111.0</c:v>
                </c:pt>
                <c:pt idx="14">
                  <c:v>3166.0</c:v>
                </c:pt>
                <c:pt idx="15">
                  <c:v>3220.0</c:v>
                </c:pt>
              </c:numCache>
            </c:numRef>
          </c:val>
          <c:smooth val="0"/>
        </c:ser>
        <c:ser>
          <c:idx val="2"/>
          <c:order val="2"/>
          <c:tx>
            <c:strRef>
              <c:f>Sheet1!$D$1</c:f>
              <c:strCache>
                <c:ptCount val="1"/>
                <c:pt idx="0">
                  <c:v>Premade Pouches &amp; Bags</c:v>
                </c:pt>
              </c:strCache>
            </c:strRef>
          </c:tx>
          <c:spPr>
            <a:ln w="25400">
              <a:solidFill>
                <a:srgbClr val="7030A0"/>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2528.0</c:v>
                </c:pt>
                <c:pt idx="1">
                  <c:v>2543.0</c:v>
                </c:pt>
                <c:pt idx="2">
                  <c:v>2557.0</c:v>
                </c:pt>
                <c:pt idx="3">
                  <c:v>2569.0</c:v>
                </c:pt>
                <c:pt idx="4">
                  <c:v>2580.0</c:v>
                </c:pt>
                <c:pt idx="5">
                  <c:v>2590.0</c:v>
                </c:pt>
                <c:pt idx="6">
                  <c:v>2630.0</c:v>
                </c:pt>
                <c:pt idx="7">
                  <c:v>2675.0</c:v>
                </c:pt>
                <c:pt idx="8">
                  <c:v>2724.0</c:v>
                </c:pt>
                <c:pt idx="9">
                  <c:v>2771.0</c:v>
                </c:pt>
                <c:pt idx="10">
                  <c:v>2815.0</c:v>
                </c:pt>
                <c:pt idx="11">
                  <c:v>2854.0</c:v>
                </c:pt>
                <c:pt idx="12">
                  <c:v>2888.0</c:v>
                </c:pt>
                <c:pt idx="13">
                  <c:v>2920.0</c:v>
                </c:pt>
                <c:pt idx="14">
                  <c:v>2949.0</c:v>
                </c:pt>
                <c:pt idx="15">
                  <c:v>2976.0</c:v>
                </c:pt>
              </c:numCache>
            </c:numRef>
          </c:val>
          <c:smooth val="0"/>
        </c:ser>
        <c:ser>
          <c:idx val="3"/>
          <c:order val="3"/>
          <c:tx>
            <c:strRef>
              <c:f>Sheet1!$E$1</c:f>
              <c:strCache>
                <c:ptCount val="1"/>
                <c:pt idx="0">
                  <c:v>Sachets &amp; Stick Packs</c:v>
                </c:pt>
              </c:strCache>
            </c:strRef>
          </c:tx>
          <c:spPr>
            <a:ln w="25400">
              <a:solidFill>
                <a:srgbClr val="008189"/>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2399.0</c:v>
                </c:pt>
                <c:pt idx="1">
                  <c:v>2401.0</c:v>
                </c:pt>
                <c:pt idx="2">
                  <c:v>2403.0</c:v>
                </c:pt>
                <c:pt idx="3">
                  <c:v>2410.0</c:v>
                </c:pt>
                <c:pt idx="4">
                  <c:v>2421.0</c:v>
                </c:pt>
                <c:pt idx="5">
                  <c:v>2434.0</c:v>
                </c:pt>
                <c:pt idx="6">
                  <c:v>2445.0</c:v>
                </c:pt>
                <c:pt idx="7">
                  <c:v>2460.0</c:v>
                </c:pt>
                <c:pt idx="8">
                  <c:v>2476.0</c:v>
                </c:pt>
                <c:pt idx="9">
                  <c:v>2496.0</c:v>
                </c:pt>
                <c:pt idx="10">
                  <c:v>2517.0</c:v>
                </c:pt>
                <c:pt idx="11">
                  <c:v>2542.0</c:v>
                </c:pt>
                <c:pt idx="12">
                  <c:v>2569.0</c:v>
                </c:pt>
                <c:pt idx="13">
                  <c:v>2598.0</c:v>
                </c:pt>
                <c:pt idx="14">
                  <c:v>2629.0</c:v>
                </c:pt>
                <c:pt idx="15">
                  <c:v>2663.0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000.0"/>
          <c:min val="200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externalData r:id="rId1">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Index</c:v>
                </c:pt>
              </c:strCache>
            </c:strRef>
          </c:tx>
          <c:dPt>
            <c:idx val="0"/>
            <c:spPr>
              <a:solidFill>
                <a:srgbClr val="5B7DB1"/>
              </a:solidFill>
            </c:spPr>
          </c:dPt>
          <c:dPt>
            <c:idx val="1"/>
            <c:spPr>
              <a:solidFill>
                <a:srgbClr val="5B7DB1"/>
              </a:solidFill>
            </c:spPr>
          </c:dPt>
          <c:dPt>
            <c:idx val="2"/>
            <c:spPr>
              <a:solidFill>
                <a:srgbClr val="C55A11"/>
              </a:solidFill>
            </c:spPr>
          </c:dPt>
          <c:dPt>
            <c:idx val="3"/>
            <c:spPr>
              <a:solidFill>
                <a:srgbClr val="C55A11"/>
              </a:solidFill>
            </c:spPr>
          </c:dPt>
          <c:cat>
            <c:strRef>
              <c:f>Sheet1!$A$2:$A$5</c:f>
              <c:strCache>
                <c:ptCount val="4"/>
                <c:pt idx="0">
                  <c:v>Sachets &amp; Stick Packs</c:v>
                </c:pt>
                <c:pt idx="1">
                  <c:v>Premade Pouches &amp; Bags</c:v>
                </c:pt>
                <c:pt idx="2">
                  <c:v>Rollstock Films</c:v>
                </c:pt>
                <c:pt idx="3">
                  <c:v>Barrier Casings</c:v>
                </c:pt>
              </c:strCache>
            </c:strRef>
          </c:cat>
          <c:val>
            <c:numRef>
              <c:f>Sheet1!$B$2:$B$5</c:f>
              <c:numCache>
                <c:formatCode>General</c:formatCode>
                <c:ptCount val="4"/>
                <c:pt idx="0">
                  <c:v>86.2</c:v>
                </c:pt>
                <c:pt idx="1">
                  <c:v>91.8</c:v>
                </c:pt>
                <c:pt idx="2">
                  <c:v>100.7</c:v>
                </c:pt>
                <c:pt idx="3">
                  <c:v>144.8</c:v>
                </c:pt>
              </c:numCache>
            </c:numRef>
          </c:val>
        </c:ser>
        <c:dLbls>
          <c:numFmt formatCode="0.0" sourceLinked="0"/>
          <c:txPr>
            <a:bodyPr/>
            <a:lstStyle/>
            <a:p>
              <a:pPr>
                <a:defRPr sz="900" b="1">
                  <a:solidFill>
                    <a:srgbClr val="1F1F1F"/>
                  </a:solidFill>
                </a:defRPr>
              </a:pPr>
            </a:p>
          </c:txPr>
          <c:dLblPos val="outEnd"/>
          <c:showLegendKey val="0"/>
          <c:showVal val="1"/>
          <c:showCatName val="0"/>
          <c:showSerName val="0"/>
          <c:showPercent val="0"/>
          <c:showBubbleSize val="0"/>
          <c:showLeaderLines val="1"/>
        </c:dLbls>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47.0"/>
          <c:min val="83.0"/>
        </c:scaling>
        <c:delete/>
        <c:axPos val="b"/>
        <c:majorTickMark val="out"/>
        <c:minorTickMark val="none"/>
        <c:tickLblPos val="nextTo"/>
        <c:crossAx val="-2068027336"/>
        <c:crosses val="autoZero"/>
      </c:valAx>
    </c:plotArea>
    <c:dispBlanksAs val="gap"/>
  </c:chart>
  <c:txPr>
    <a:bodyPr/>
    <a:lstStyle/>
    <a:p>
      <a:pPr>
        <a:defRPr sz="1800"/>
      </a:pPr>
      <a:endParaRPr lang="en-US"/>
    </a:p>
  </c:txPr>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f>Sheet1!$B$1</c:f>
              <c:strCache>
                <c:ptCount val="1"/>
                <c:pt idx="0">
                  <c:v>Base</c:v>
                </c:pt>
              </c:strCache>
            </c:strRef>
          </c:tx>
          <c:spPr>
            <a:noFill/>
          </c:spPr>
          <c:cat>
            <c:strRef>
              <c:f>Sheet1!$A$2:$A$4</c:f>
              <c:strCache>
                <c:ptCount val="3"/>
                <c:pt idx="0">
                  <c:v>Japan</c:v>
                </c:pt>
                <c:pt idx="1">
                  <c:v>South Korea</c:v>
                </c:pt>
                <c:pt idx="2">
                  <c:v>China</c:v>
                </c:pt>
              </c:strCache>
            </c:strRef>
          </c:cat>
          <c:val>
            <c:numRef>
              <c:f>Sheet1!$B$2:$B$4</c:f>
              <c:numCache>
                <c:formatCode>General</c:formatCode>
                <c:ptCount val="3"/>
                <c:pt idx="0">
                  <c:v>104.4</c:v>
                </c:pt>
                <c:pt idx="1">
                  <c:v>94.6</c:v>
                </c:pt>
                <c:pt idx="2">
                  <c:v>80.0</c:v>
                </c:pt>
              </c:numCache>
            </c:numRef>
          </c:val>
        </c:ser>
        <c:ser>
          <c:idx val="1"/>
          <c:order val="1"/>
          <c:tx>
            <c:strRef>
              <c:f>Sheet1!$C$1</c:f>
              <c:strCache>
                <c:ptCount val="1"/>
                <c:pt idx="0">
                  <c:v>Range</c:v>
                </c:pt>
              </c:strCache>
            </c:strRef>
          </c:tx>
          <c:spPr>
            <a:solidFill>
              <a:srgbClr val="008189"/>
            </a:solidFill>
          </c:spPr>
          <c:dPt>
            <c:idx val="2"/>
            <c:spPr>
              <a:solidFill>
                <a:srgbClr val="5B7DB1"/>
              </a:solidFill>
            </c:spPr>
          </c:dPt>
          <c:cat>
            <c:strRef>
              <c:f>Sheet1!$A$2:$A$4</c:f>
              <c:strCache>
                <c:ptCount val="3"/>
                <c:pt idx="0">
                  <c:v>Japan</c:v>
                </c:pt>
                <c:pt idx="1">
                  <c:v>South Korea</c:v>
                </c:pt>
                <c:pt idx="2">
                  <c:v>China</c:v>
                </c:pt>
              </c:strCache>
            </c:strRef>
          </c:cat>
          <c:val>
            <c:numRef>
              <c:f>Sheet1!$C$2:$C$4</c:f>
              <c:numCache>
                <c:formatCode>General</c:formatCode>
                <c:ptCount val="3"/>
                <c:pt idx="0">
                  <c:v>70.6</c:v>
                </c:pt>
                <c:pt idx="1">
                  <c:v>64.6</c:v>
                </c:pt>
                <c:pt idx="2">
                  <c:v>54.5</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75.0"/>
          <c:min val="75.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East Asia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East Asia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East Asia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East Asia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East Asia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East Asia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East Asia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East Asia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East Asia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East Asia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East Asia Flexible Plastic Packaging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By Principal Material / Barrier Technology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By Principal Material / Barrier Technology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(1/3)</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(2/3)</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(3/3)</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By Material Structure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By Material Structure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By Barrier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By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By Barrier Level Vs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East Asia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East Asia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East Asia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(1/6)</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(2/6)</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(3/6)</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(4/6)</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(5/6)</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(6/6)</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(1/5)</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(2/5)</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(3/5)</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(4/5)</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(5/5)</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242.xml"/><Relationship Id="rId7" Type="http://schemas.openxmlformats.org/officeDocument/2006/relationships/slide" Target="slide252.xml"/><Relationship Id="rId8" Type="http://schemas.openxmlformats.org/officeDocument/2006/relationships/slide" Target="slide10.xml"/><Relationship Id="rId9" Type="http://schemas.openxmlformats.org/officeDocument/2006/relationships/slide" Target="slide11.xml"/><Relationship Id="rId10" Type="http://schemas.openxmlformats.org/officeDocument/2006/relationships/slide" Target="slide21.xml"/><Relationship Id="rId11" Type="http://schemas.openxmlformats.org/officeDocument/2006/relationships/slide" Target="slide29.xml"/><Relationship Id="rId12" Type="http://schemas.openxmlformats.org/officeDocument/2006/relationships/slide" Target="slide103.xml"/><Relationship Id="rId13" Type="http://schemas.openxmlformats.org/officeDocument/2006/relationships/slide" Target="slide105.xml"/><Relationship Id="rId14" Type="http://schemas.openxmlformats.org/officeDocument/2006/relationships/slide" Target="slide109.xml"/><Relationship Id="rId15" Type="http://schemas.openxmlformats.org/officeDocument/2006/relationships/slide" Target="slide211.xml"/><Relationship Id="rId16" Type="http://schemas.openxmlformats.org/officeDocument/2006/relationships/slide" Target="slide212.xml"/><Relationship Id="rId17" Type="http://schemas.openxmlformats.org/officeDocument/2006/relationships/slide" Target="slide223.xml"/><Relationship Id="rId18" Type="http://schemas.openxmlformats.org/officeDocument/2006/relationships/slide" Target="slide227.xml"/><Relationship Id="rId19" Type="http://schemas.openxmlformats.org/officeDocument/2006/relationships/slide" Target="slide22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7" Type="http://schemas.openxmlformats.org/officeDocument/2006/relationships/notesSlide" Target="../notesSlides/notesSlide2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notesSlide" Target="../notesSlides/notesSlide3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notesSlide" Target="../notesSlides/notesSlide38.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xml"/><Relationship Id="rId4" Type="http://schemas.openxmlformats.org/officeDocument/2006/relationships/chart" Target="../charts/chart29.xml"/><Relationship Id="rId5" Type="http://schemas.openxmlformats.org/officeDocument/2006/relationships/chart" Target="../charts/chart30.xml"/><Relationship Id="rId6" Type="http://schemas.openxmlformats.org/officeDocument/2006/relationships/chart" Target="../charts/chart31.xml"/><Relationship Id="rId7" Type="http://schemas.openxmlformats.org/officeDocument/2006/relationships/notesSlide" Target="../notesSlides/notesSlide3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xml"/><Relationship Id="rId4" Type="http://schemas.openxmlformats.org/officeDocument/2006/relationships/chart" Target="../charts/chart33.xml"/><Relationship Id="rId5" Type="http://schemas.openxmlformats.org/officeDocument/2006/relationships/chart" Target="../charts/chart34.xml"/><Relationship Id="rId6" Type="http://schemas.openxmlformats.org/officeDocument/2006/relationships/notesSlide" Target="../notesSlides/notesSlide4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xml"/><Relationship Id="rId4" Type="http://schemas.openxmlformats.org/officeDocument/2006/relationships/notesSlide" Target="../notesSlides/notesSlide4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notesSlide" Target="../notesSlides/notesSlide4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xml"/><Relationship Id="rId4" Type="http://schemas.openxmlformats.org/officeDocument/2006/relationships/chart" Target="../charts/chart39.xml"/><Relationship Id="rId5" Type="http://schemas.openxmlformats.org/officeDocument/2006/relationships/chart" Target="../charts/chart40.xml"/><Relationship Id="rId6" Type="http://schemas.openxmlformats.org/officeDocument/2006/relationships/chart" Target="../charts/chart41.xml"/><Relationship Id="rId7" Type="http://schemas.openxmlformats.org/officeDocument/2006/relationships/notesSlide" Target="../notesSlides/notesSlide4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xml"/><Relationship Id="rId4" Type="http://schemas.openxmlformats.org/officeDocument/2006/relationships/chart" Target="../charts/chart43.xml"/><Relationship Id="rId5" Type="http://schemas.openxmlformats.org/officeDocument/2006/relationships/chart" Target="../charts/chart44.xml"/><Relationship Id="rId6" Type="http://schemas.openxmlformats.org/officeDocument/2006/relationships/notesSlide" Target="../notesSlides/notesSlide5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xml"/><Relationship Id="rId4" Type="http://schemas.openxmlformats.org/officeDocument/2006/relationships/notesSlide" Target="../notesSlides/notesSlide5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chart" Target="../charts/chart47.xml"/><Relationship Id="rId5" Type="http://schemas.openxmlformats.org/officeDocument/2006/relationships/notesSlide" Target="../notesSlides/notesSlide6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xml"/><Relationship Id="rId4" Type="http://schemas.openxmlformats.org/officeDocument/2006/relationships/chart" Target="../charts/chart49.xml"/><Relationship Id="rId5" Type="http://schemas.openxmlformats.org/officeDocument/2006/relationships/chart" Target="../charts/chart50.xml"/><Relationship Id="rId6" Type="http://schemas.openxmlformats.org/officeDocument/2006/relationships/chart" Target="../charts/chart51.xml"/><Relationship Id="rId7" Type="http://schemas.openxmlformats.org/officeDocument/2006/relationships/notesSlide" Target="../notesSlides/notesSlide6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6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chart" Target="../charts/chart54.xml"/><Relationship Id="rId5" Type="http://schemas.openxmlformats.org/officeDocument/2006/relationships/notesSlide" Target="../notesSlides/notesSlide69.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chart" Target="../charts/chart56.xml"/><Relationship Id="rId5" Type="http://schemas.openxmlformats.org/officeDocument/2006/relationships/notesSlide" Target="../notesSlides/notesSlide70.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xml"/><Relationship Id="rId4" Type="http://schemas.openxmlformats.org/officeDocument/2006/relationships/notesSlide" Target="../notesSlides/notesSlide75.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chart" Target="../charts/chart59.xml"/><Relationship Id="rId5" Type="http://schemas.openxmlformats.org/officeDocument/2006/relationships/notesSlide" Target="../notesSlides/notesSlide8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xml"/><Relationship Id="rId4" Type="http://schemas.openxmlformats.org/officeDocument/2006/relationships/chart" Target="../charts/chart61.xml"/><Relationship Id="rId5" Type="http://schemas.openxmlformats.org/officeDocument/2006/relationships/chart" Target="../charts/chart62.xml"/><Relationship Id="rId6" Type="http://schemas.openxmlformats.org/officeDocument/2006/relationships/chart" Target="../charts/chart63.xml"/><Relationship Id="rId7" Type="http://schemas.openxmlformats.org/officeDocument/2006/relationships/notesSlide" Target="../notesSlides/notesSlide8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notesSlide" Target="../notesSlides/notesSlide8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chart" Target="../charts/chart66.xml"/><Relationship Id="rId5" Type="http://schemas.openxmlformats.org/officeDocument/2006/relationships/chart" Target="../charts/chart67.xml"/><Relationship Id="rId6" Type="http://schemas.openxmlformats.org/officeDocument/2006/relationships/chart" Target="../charts/chart68.xml"/><Relationship Id="rId7" Type="http://schemas.openxmlformats.org/officeDocument/2006/relationships/notesSlide" Target="../notesSlides/notesSlide9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9.xml"/><Relationship Id="rId4" Type="http://schemas.openxmlformats.org/officeDocument/2006/relationships/chart" Target="../charts/chart70.xml"/><Relationship Id="rId5" Type="http://schemas.openxmlformats.org/officeDocument/2006/relationships/chart" Target="../charts/chart71.xml"/><Relationship Id="rId6" Type="http://schemas.openxmlformats.org/officeDocument/2006/relationships/chart" Target="../charts/chart72.xml"/><Relationship Id="rId7" Type="http://schemas.openxmlformats.org/officeDocument/2006/relationships/notesSlide" Target="../notesSlides/notesSlide9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chart" Target="../charts/chart74.xml"/><Relationship Id="rId5" Type="http://schemas.openxmlformats.org/officeDocument/2006/relationships/chart" Target="../charts/chart75.xml"/><Relationship Id="rId6" Type="http://schemas.openxmlformats.org/officeDocument/2006/relationships/chart" Target="../charts/chart76.xml"/><Relationship Id="rId7" Type="http://schemas.openxmlformats.org/officeDocument/2006/relationships/chart" Target="../charts/chart77.xml"/><Relationship Id="rId8" Type="http://schemas.openxmlformats.org/officeDocument/2006/relationships/chart" Target="../charts/chart78.xml"/><Relationship Id="rId9" Type="http://schemas.openxmlformats.org/officeDocument/2006/relationships/notesSlide" Target="../notesSlides/notesSlide93.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xml"/><Relationship Id="rId4" Type="http://schemas.openxmlformats.org/officeDocument/2006/relationships/chart" Target="../charts/chart80.xml"/><Relationship Id="rId5" Type="http://schemas.openxmlformats.org/officeDocument/2006/relationships/notesSlide" Target="../notesSlides/notesSlide9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xml"/><Relationship Id="rId4" Type="http://schemas.openxmlformats.org/officeDocument/2006/relationships/notesSlide" Target="../notesSlides/notesSlide99.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notesSlide" Target="../notesSlides/notesSlide10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xml"/><Relationship Id="rId4" Type="http://schemas.openxmlformats.org/officeDocument/2006/relationships/chart" Target="../charts/chart84.xml"/><Relationship Id="rId5" Type="http://schemas.openxmlformats.org/officeDocument/2006/relationships/notesSlide" Target="../notesSlides/notesSlide105.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xml"/><Relationship Id="rId4" Type="http://schemas.openxmlformats.org/officeDocument/2006/relationships/chart" Target="../charts/chart86.xml"/><Relationship Id="rId5" Type="http://schemas.openxmlformats.org/officeDocument/2006/relationships/notesSlide" Target="../notesSlides/notesSlide11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chart" Target="../charts/chart88.xml"/><Relationship Id="rId5" Type="http://schemas.openxmlformats.org/officeDocument/2006/relationships/notesSlide" Target="../notesSlides/notesSlide11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xml"/><Relationship Id="rId4" Type="http://schemas.openxmlformats.org/officeDocument/2006/relationships/chart" Target="../charts/chart90.xml"/><Relationship Id="rId5" Type="http://schemas.openxmlformats.org/officeDocument/2006/relationships/notesSlide" Target="../notesSlides/notesSlide118.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xml"/><Relationship Id="rId4" Type="http://schemas.openxmlformats.org/officeDocument/2006/relationships/chart" Target="../charts/chart92.xml"/><Relationship Id="rId5" Type="http://schemas.openxmlformats.org/officeDocument/2006/relationships/chart" Target="../charts/chart93.xml"/><Relationship Id="rId6" Type="http://schemas.openxmlformats.org/officeDocument/2006/relationships/chart" Target="../charts/chart94.xml"/><Relationship Id="rId7" Type="http://schemas.openxmlformats.org/officeDocument/2006/relationships/notesSlide" Target="../notesSlides/notesSlide12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xml"/><Relationship Id="rId4" Type="http://schemas.openxmlformats.org/officeDocument/2006/relationships/chart" Target="../charts/chart96.xml"/><Relationship Id="rId5" Type="http://schemas.openxmlformats.org/officeDocument/2006/relationships/chart" Target="../charts/chart97.xml"/><Relationship Id="rId6" Type="http://schemas.openxmlformats.org/officeDocument/2006/relationships/chart" Target="../charts/chart98.xml"/><Relationship Id="rId7" Type="http://schemas.openxmlformats.org/officeDocument/2006/relationships/notesSlide" Target="../notesSlides/notesSlide12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chart" Target="../charts/chart100.xml"/><Relationship Id="rId5" Type="http://schemas.openxmlformats.org/officeDocument/2006/relationships/chart" Target="../charts/chart101.xml"/><Relationship Id="rId6" Type="http://schemas.openxmlformats.org/officeDocument/2006/relationships/chart" Target="../charts/chart102.xml"/><Relationship Id="rId7" Type="http://schemas.openxmlformats.org/officeDocument/2006/relationships/chart" Target="../charts/chart103.xml"/><Relationship Id="rId8" Type="http://schemas.openxmlformats.org/officeDocument/2006/relationships/chart" Target="../charts/chart104.xml"/><Relationship Id="rId9" Type="http://schemas.openxmlformats.org/officeDocument/2006/relationships/notesSlide" Target="../notesSlides/notesSlide125.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chart" Target="../charts/chart106.xml"/><Relationship Id="rId5" Type="http://schemas.openxmlformats.org/officeDocument/2006/relationships/notesSlide" Target="../notesSlides/notesSlide12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notesSlide" Target="../notesSlides/notesSlide131.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xml"/><Relationship Id="rId4" Type="http://schemas.openxmlformats.org/officeDocument/2006/relationships/notesSlide" Target="../notesSlides/notesSlide13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xml"/><Relationship Id="rId4" Type="http://schemas.openxmlformats.org/officeDocument/2006/relationships/chart" Target="../charts/chart110.xml"/><Relationship Id="rId5" Type="http://schemas.openxmlformats.org/officeDocument/2006/relationships/notesSlide" Target="../notesSlides/notesSlide13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notesSlide" Target="../notesSlides/notesSlide14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xml"/><Relationship Id="rId4" Type="http://schemas.openxmlformats.org/officeDocument/2006/relationships/chart" Target="../charts/chart114.xml"/><Relationship Id="rId5" Type="http://schemas.openxmlformats.org/officeDocument/2006/relationships/notesSlide" Target="../notesSlides/notesSlide145.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notesSlide" Target="../notesSlides/notesSlide150.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xml"/><Relationship Id="rId4" Type="http://schemas.openxmlformats.org/officeDocument/2006/relationships/chart" Target="../charts/chart118.xml"/><Relationship Id="rId5" Type="http://schemas.openxmlformats.org/officeDocument/2006/relationships/chart" Target="../charts/chart119.xml"/><Relationship Id="rId6" Type="http://schemas.openxmlformats.org/officeDocument/2006/relationships/chart" Target="../charts/chart120.xml"/><Relationship Id="rId7" Type="http://schemas.openxmlformats.org/officeDocument/2006/relationships/notesSlide" Target="../notesSlides/notesSlide155.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xml"/><Relationship Id="rId4" Type="http://schemas.openxmlformats.org/officeDocument/2006/relationships/chart" Target="../charts/chart122.xml"/><Relationship Id="rId5" Type="http://schemas.openxmlformats.org/officeDocument/2006/relationships/chart" Target="../charts/chart123.xml"/><Relationship Id="rId6" Type="http://schemas.openxmlformats.org/officeDocument/2006/relationships/chart" Target="../charts/chart124.xml"/><Relationship Id="rId7" Type="http://schemas.openxmlformats.org/officeDocument/2006/relationships/notesSlide" Target="../notesSlides/notesSlide156.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xml"/><Relationship Id="rId4" Type="http://schemas.openxmlformats.org/officeDocument/2006/relationships/chart" Target="../charts/chart126.xml"/><Relationship Id="rId5" Type="http://schemas.openxmlformats.org/officeDocument/2006/relationships/chart" Target="../charts/chart127.xml"/><Relationship Id="rId6" Type="http://schemas.openxmlformats.org/officeDocument/2006/relationships/chart" Target="../charts/chart128.xml"/><Relationship Id="rId7" Type="http://schemas.openxmlformats.org/officeDocument/2006/relationships/chart" Target="../charts/chart129.xml"/><Relationship Id="rId8" Type="http://schemas.openxmlformats.org/officeDocument/2006/relationships/chart" Target="../charts/chart130.xml"/><Relationship Id="rId9" Type="http://schemas.openxmlformats.org/officeDocument/2006/relationships/notesSlide" Target="../notesSlides/notesSlide15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chart" Target="../charts/chart132.xml"/><Relationship Id="rId5" Type="http://schemas.openxmlformats.org/officeDocument/2006/relationships/notesSlide" Target="../notesSlides/notesSlide158.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notesSlide" Target="../notesSlides/notesSlide16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notesSlide" Target="../notesSlides/notesSlide164.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xml"/><Relationship Id="rId4" Type="http://schemas.openxmlformats.org/officeDocument/2006/relationships/chart" Target="../charts/chart136.xml"/><Relationship Id="rId5" Type="http://schemas.openxmlformats.org/officeDocument/2006/relationships/notesSlide" Target="../notesSlides/notesSlide169.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chart" Target="../charts/chart138.xml"/><Relationship Id="rId5" Type="http://schemas.openxmlformats.org/officeDocument/2006/relationships/notesSlide" Target="../notesSlides/notesSlide174.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chart" Target="../charts/chart140.xml"/><Relationship Id="rId5" Type="http://schemas.openxmlformats.org/officeDocument/2006/relationships/notesSlide" Target="../notesSlides/notesSlide17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xml"/><Relationship Id="rId4" Type="http://schemas.openxmlformats.org/officeDocument/2006/relationships/chart" Target="../charts/chart142.xml"/><Relationship Id="rId5" Type="http://schemas.openxmlformats.org/officeDocument/2006/relationships/notesSlide" Target="../notesSlides/notesSlide18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4.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6.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xml"/><Relationship Id="rId4" Type="http://schemas.openxmlformats.org/officeDocument/2006/relationships/chart" Target="../charts/chart144.xml"/><Relationship Id="rId5" Type="http://schemas.openxmlformats.org/officeDocument/2006/relationships/notesSlide" Target="../notesSlides/notesSlide189.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5.xml"/><Relationship Id="rId4" Type="http://schemas.openxmlformats.org/officeDocument/2006/relationships/notesSlide" Target="../notesSlides/notesSlide190.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5.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6.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1.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6.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4.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5.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6.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9.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0.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1.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2.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3.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East Asia Flexible Plastic Packaging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(Thousand MT) Analysis and Forecast, 2021–2036</a:t>
            </a:r>
          </a:p>
          <a:p>
            <a:pPr algn="l"/>
            <a:r>
              <a:rPr sz="1100" b="0">
                <a:solidFill>
                  <a:srgbClr val="8FCBE6"/>
                </a:solidFill>
                <a:latin typeface="Calibri"/>
              </a:rPr>
              <a:t>Region focus: East Asia   ·   Country focus: China   ·   Generated 08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71915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86913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345325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403737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East Asia Market Outlook</a:t>
            </a:r>
          </a:p>
        </p:txBody>
      </p:sp>
      <p:sp>
        <p:nvSpPr>
          <p:cNvPr id="16" name="Rounded Rectangle 15">
            <a:hlinkClick action="ppaction://hlinksldjump" r:id="rId9"/>
          </p:cNvPr>
          <p:cNvSpPr/>
          <p:nvPr/>
        </p:nvSpPr>
        <p:spPr>
          <a:xfrm>
            <a:off x="314325" y="460324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East Asia Overview</a:t>
            </a:r>
          </a:p>
        </p:txBody>
      </p:sp>
      <p:sp>
        <p:nvSpPr>
          <p:cNvPr id="17" name="Rounded Rectangle 16">
            <a:hlinkClick action="ppaction://hlinksldjump" r:id="rId10"/>
          </p:cNvPr>
          <p:cNvSpPr/>
          <p:nvPr/>
        </p:nvSpPr>
        <p:spPr>
          <a:xfrm>
            <a:off x="314325" y="518735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East Asia Market Analysis By Country</a:t>
            </a:r>
          </a:p>
        </p:txBody>
      </p:sp>
      <p:sp>
        <p:nvSpPr>
          <p:cNvPr id="18" name="Rounded Rectangle 17">
            <a:hlinkClick action="ppaction://hlinksldjump" r:id="rId11"/>
          </p:cNvPr>
          <p:cNvSpPr/>
          <p:nvPr/>
        </p:nvSpPr>
        <p:spPr>
          <a:xfrm>
            <a:off x="314325" y="5771476"/>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East Asia Market Analysis By Segments</a:t>
            </a:r>
          </a:p>
        </p:txBody>
      </p:sp>
      <p:sp>
        <p:nvSpPr>
          <p:cNvPr id="19" name="Rounded Rectangle 18">
            <a:hlinkClick action="ppaction://hlinksldjump" r:id="rId12"/>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0" name="Rounded Rectangle 19">
            <a:hlinkClick action="ppaction://hlinksldjump" r:id="rId13"/>
          </p:cNvPr>
          <p:cNvSpPr/>
          <p:nvPr/>
        </p:nvSpPr>
        <p:spPr>
          <a:xfrm>
            <a:off x="6391275" y="1700902"/>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Flexible Plastic Packaging Market Overview (Volume &amp; Value)</a:t>
            </a:r>
          </a:p>
        </p:txBody>
      </p:sp>
      <p:sp>
        <p:nvSpPr>
          <p:cNvPr id="21" name="Rounded Rectangle 20">
            <a:hlinkClick action="ppaction://hlinksldjump" r:id="rId14"/>
          </p:cNvPr>
          <p:cNvSpPr/>
          <p:nvPr/>
        </p:nvSpPr>
        <p:spPr>
          <a:xfrm>
            <a:off x="639127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Segment Overview (Volume &amp; Value)</a:t>
            </a:r>
          </a:p>
        </p:txBody>
      </p:sp>
      <p:sp>
        <p:nvSpPr>
          <p:cNvPr id="22" name="Rounded Rectangle 21">
            <a:hlinkClick action="ppaction://hlinksldjump" r:id="rId15"/>
          </p:cNvPr>
          <p:cNvSpPr/>
          <p:nvPr/>
        </p:nvSpPr>
        <p:spPr>
          <a:xfrm>
            <a:off x="6219825" y="2869138"/>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23" name="Rounded Rectangle 22">
            <a:hlinkClick action="ppaction://hlinksldjump" r:id="rId16"/>
          </p:cNvPr>
          <p:cNvSpPr/>
          <p:nvPr/>
        </p:nvSpPr>
        <p:spPr>
          <a:xfrm>
            <a:off x="6391275" y="3435003"/>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Flexible Plastic Packaging Market Pricing Analysis</a:t>
            </a:r>
          </a:p>
        </p:txBody>
      </p:sp>
      <p:sp>
        <p:nvSpPr>
          <p:cNvPr id="24" name="Rounded Rectangle 23">
            <a:hlinkClick action="ppaction://hlinksldjump" r:id="rId17"/>
          </p:cNvPr>
          <p:cNvSpPr/>
          <p:nvPr/>
        </p:nvSpPr>
        <p:spPr>
          <a:xfrm>
            <a:off x="6391275" y="4019121"/>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Supply Chain Analysis</a:t>
            </a:r>
          </a:p>
        </p:txBody>
      </p:sp>
      <p:sp>
        <p:nvSpPr>
          <p:cNvPr id="25" name="Rounded Rectangle 24">
            <a:hlinkClick action="ppaction://hlinksldjump" r:id="rId18"/>
          </p:cNvPr>
          <p:cNvSpPr/>
          <p:nvPr/>
        </p:nvSpPr>
        <p:spPr>
          <a:xfrm>
            <a:off x="6219825" y="4603240"/>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26" name="Rounded Rectangle 25">
            <a:hlinkClick action="ppaction://hlinksldjump" r:id="rId19"/>
          </p:cNvPr>
          <p:cNvSpPr/>
          <p:nvPr/>
        </p:nvSpPr>
        <p:spPr>
          <a:xfrm>
            <a:off x="6391275" y="5169104"/>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Market Dynamics &amp; Forces</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Flexible Plastic Packaging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Flexible Plastic Packaging demand, the evidence behind each and what it implies for the East Asia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Flexible Plastic Packaging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East Asia demand expands at a 6.6% forecast CAGR (2026–2036), accelerating from 4.5% across 2021–2025.</a:t>
                      </a:r>
                    </a:p>
                  </a:txBody>
                  <a:tcPr marL="70000" marR="70000" marT="45000" marB="45000" anchor="ctr">
                    <a:solidFill>
                      <a:srgbClr val="FFFFFF"/>
                    </a:solidFill>
                  </a:tcPr>
                </a:tc>
                <a:tc>
                  <a:txBody>
                    <a:bodyPr wrap="square"/>
                    <a:lstStyle/>
                    <a:p>
                      <a:pPr algn="l"/>
                      <a:r>
                        <a:rPr sz="1100" b="0">
                          <a:solidFill>
                            <a:srgbClr val="2E2E2E"/>
                          </a:solidFill>
                          <a:latin typeface="Calibri"/>
                        </a:rPr>
                        <a:t>127,346 → 240,208 US$ Mn  ·  CAGR 6.6%</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Rollstock Films leads Product Type, at 53.6% of 2036 value, within a mix of 4 tracked categories.</a:t>
                      </a:r>
                    </a:p>
                  </a:txBody>
                  <a:tcPr marL="70000" marR="70000" marT="45000" marB="45000" anchor="ctr">
                    <a:solidFill>
                      <a:srgbClr val="F6F9FC"/>
                    </a:solidFill>
                  </a:tcPr>
                </a:tc>
                <a:tc>
                  <a:txBody>
                    <a:bodyPr wrap="square"/>
                    <a:lstStyle/>
                    <a:p>
                      <a:pPr algn="l"/>
                      <a:r>
                        <a:rPr sz="1100" b="0">
                          <a:solidFill>
                            <a:srgbClr val="2E2E2E"/>
                          </a:solidFill>
                          <a:latin typeface="Calibri"/>
                        </a:rPr>
                        <a:t>Lead: Rollstock Films  ·  53.6% share (2036)</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Food Packaging is the fastest-growing part of Application, at a 6.6% forecast CAGR outpacing the wider market.</a:t>
                      </a:r>
                    </a:p>
                  </a:txBody>
                  <a:tcPr marL="70000" marR="70000" marT="45000" marB="45000" anchor="ctr">
                    <a:solidFill>
                      <a:srgbClr val="FFFFFF"/>
                    </a:solidFill>
                  </a:tcPr>
                </a:tc>
                <a:tc>
                  <a:txBody>
                    <a:bodyPr wrap="square"/>
                    <a:lstStyle/>
                    <a:p>
                      <a:pPr algn="l"/>
                      <a:r>
                        <a:rPr sz="1100" b="0">
                          <a:solidFill>
                            <a:srgbClr val="2E2E2E"/>
                          </a:solidFill>
                          <a:latin typeface="Calibri"/>
                        </a:rPr>
                        <a:t>Fastest: Food Packaging  ·  6.6% F-CAGR</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Flexible Plastic Packaging demand?</a:t>
                      </a:r>
                    </a:p>
                  </a:txBody>
                  <a:tcPr marL="70000" marR="70000" marT="45000" marB="45000" anchor="ctr">
                    <a:solidFill>
                      <a:srgbClr val="F6F9FC"/>
                    </a:solidFill>
                  </a:tcPr>
                </a:tc>
                <a:tc>
                  <a:txBody>
                    <a:bodyPr wrap="square"/>
                    <a:lstStyle/>
                    <a:p>
                      <a:pPr algn="l"/>
                      <a:r>
                        <a:rPr sz="1100" b="0">
                          <a:solidFill>
                            <a:srgbClr val="2E2E2E"/>
                          </a:solidFill>
                          <a:latin typeface="Calibri"/>
                        </a:rPr>
                        <a:t>East Asia is the largest regional market (26.5% of 2036 value), while Middle East &amp; Africa grows fastest at 8.3%.</a:t>
                      </a:r>
                    </a:p>
                  </a:txBody>
                  <a:tcPr marL="70000" marR="70000" marT="45000" marB="45000" anchor="ctr">
                    <a:solidFill>
                      <a:srgbClr val="F6F9FC"/>
                    </a:solidFill>
                  </a:tcPr>
                </a:tc>
                <a:tc>
                  <a:txBody>
                    <a:bodyPr wrap="square"/>
                    <a:lstStyle/>
                    <a:p>
                      <a:pPr algn="l"/>
                      <a:r>
                        <a:rPr sz="1100" b="0">
                          <a:solidFill>
                            <a:srgbClr val="2E2E2E"/>
                          </a:solidFill>
                          <a:latin typeface="Calibri"/>
                        </a:rPr>
                        <a:t>Largest: East Asia (26.5%)  ·  Fastest: Middle East &amp; Africa (8.3%)</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An incremental 112,862 US$ Mn of demand is added between 2026 and 2036, front-loaded in the leading categories and regions above.</a:t>
                      </a:r>
                    </a:p>
                  </a:txBody>
                  <a:tcPr marL="70000" marR="70000" marT="45000" marB="45000" anchor="ctr">
                    <a:solidFill>
                      <a:srgbClr val="FFFFFF"/>
                    </a:solidFill>
                  </a:tcPr>
                </a:tc>
                <a:tc>
                  <a:txBody>
                    <a:bodyPr wrap="square"/>
                    <a:lstStyle/>
                    <a:p>
                      <a:pPr algn="l"/>
                      <a:r>
                        <a:rPr sz="1100" b="0">
                          <a:solidFill>
                            <a:srgbClr val="2E2E2E"/>
                          </a:solidFill>
                          <a:latin typeface="Calibri"/>
                        </a:rPr>
                        <a:t>$ opportunity 112,862 US$ Mn (2026–2036)  ·  44,547 by 2031</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East Asia market broken into 3 countries and the countries assessed under each</a:t>
            </a:r>
          </a:p>
        </p:txBody>
      </p:sp>
      <p:cxnSp>
        <p:nvCxnSpPr>
          <p:cNvPr id="10" name="Connector 9"/>
          <p:cNvCxnSpPr/>
          <p:nvPr/>
        </p:nvCxnSpPr>
        <p:spPr>
          <a:xfrm>
            <a:off x="6096000" y="1682648"/>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846931"/>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75048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09730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45325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80007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1468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49371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84966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9648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54330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901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4607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24211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5" name="Rounded Rectangle 54"/>
          <p:cNvSpPr/>
          <p:nvPr/>
        </p:nvSpPr>
        <p:spPr>
          <a:xfrm>
            <a:off x="4667250" y="1080276"/>
            <a:ext cx="2857500" cy="602372"/>
          </a:xfrm>
          <a:prstGeom prst="roundRect">
            <a:avLst>
              <a:gd name="adj" fmla="val 10606"/>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Flexible Plastic Packaging Market</a:t>
            </a:r>
          </a:p>
        </p:txBody>
      </p:sp>
      <p:sp>
        <p:nvSpPr>
          <p:cNvPr id="56" name="Rounded Rectangle 55"/>
          <p:cNvSpPr/>
          <p:nvPr/>
        </p:nvSpPr>
        <p:spPr>
          <a:xfrm>
            <a:off x="1428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7" name="Rounded Rectangle 56"/>
          <p:cNvSpPr/>
          <p:nvPr/>
        </p:nvSpPr>
        <p:spPr>
          <a:xfrm>
            <a:off x="2762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8" name="Rounded Rectangle 57"/>
          <p:cNvSpPr/>
          <p:nvPr/>
        </p:nvSpPr>
        <p:spPr>
          <a:xfrm>
            <a:off x="27622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59" name="Rounded Rectangle 58"/>
          <p:cNvSpPr/>
          <p:nvPr/>
        </p:nvSpPr>
        <p:spPr>
          <a:xfrm>
            <a:off x="214312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0" name="Rounded Rectangle 59"/>
          <p:cNvSpPr/>
          <p:nvPr/>
        </p:nvSpPr>
        <p:spPr>
          <a:xfrm>
            <a:off x="227647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1" name="Rounded Rectangle 60"/>
          <p:cNvSpPr/>
          <p:nvPr/>
        </p:nvSpPr>
        <p:spPr>
          <a:xfrm>
            <a:off x="227647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2" name="Rounded Rectangle 61"/>
          <p:cNvSpPr/>
          <p:nvPr/>
        </p:nvSpPr>
        <p:spPr>
          <a:xfrm>
            <a:off x="2276475"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3" name="Rounded Rectangle 62"/>
          <p:cNvSpPr/>
          <p:nvPr/>
        </p:nvSpPr>
        <p:spPr>
          <a:xfrm>
            <a:off x="2276475"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4" name="Rounded Rectangle 63"/>
          <p:cNvSpPr/>
          <p:nvPr/>
        </p:nvSpPr>
        <p:spPr>
          <a:xfrm>
            <a:off x="41433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5" name="Rounded Rectangle 64"/>
          <p:cNvSpPr/>
          <p:nvPr/>
        </p:nvSpPr>
        <p:spPr>
          <a:xfrm>
            <a:off x="42767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6" name="Rounded Rectangle 65"/>
          <p:cNvSpPr/>
          <p:nvPr/>
        </p:nvSpPr>
        <p:spPr>
          <a:xfrm>
            <a:off x="4276725" y="281437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7" name="Rounded Rectangle 66"/>
          <p:cNvSpPr/>
          <p:nvPr/>
        </p:nvSpPr>
        <p:spPr>
          <a:xfrm>
            <a:off x="4276725" y="317032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8" name="Rounded Rectangle 67"/>
          <p:cNvSpPr/>
          <p:nvPr/>
        </p:nvSpPr>
        <p:spPr>
          <a:xfrm>
            <a:off x="4276725" y="35171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69" name="Rounded Rectangle 68"/>
          <p:cNvSpPr/>
          <p:nvPr/>
        </p:nvSpPr>
        <p:spPr>
          <a:xfrm>
            <a:off x="4276725" y="386396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0" name="Rounded Rectangle 69"/>
          <p:cNvSpPr/>
          <p:nvPr/>
        </p:nvSpPr>
        <p:spPr>
          <a:xfrm>
            <a:off x="4276725" y="421078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1" name="Rounded Rectangle 70"/>
          <p:cNvSpPr/>
          <p:nvPr/>
        </p:nvSpPr>
        <p:spPr>
          <a:xfrm>
            <a:off x="4276725" y="456673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2" name="Rounded Rectangle 71"/>
          <p:cNvSpPr/>
          <p:nvPr/>
        </p:nvSpPr>
        <p:spPr>
          <a:xfrm>
            <a:off x="4276725" y="491355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3" name="Rounded Rectangle 72"/>
          <p:cNvSpPr/>
          <p:nvPr/>
        </p:nvSpPr>
        <p:spPr>
          <a:xfrm>
            <a:off x="4276725" y="526037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4" name="Rounded Rectangle 73"/>
          <p:cNvSpPr/>
          <p:nvPr/>
        </p:nvSpPr>
        <p:spPr>
          <a:xfrm>
            <a:off x="4276725" y="560719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5" name="Rounded Rectangle 74"/>
          <p:cNvSpPr/>
          <p:nvPr/>
        </p:nvSpPr>
        <p:spPr>
          <a:xfrm>
            <a:off x="4276725" y="59631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6" name="Rounded Rectangle 75"/>
          <p:cNvSpPr/>
          <p:nvPr/>
        </p:nvSpPr>
        <p:spPr>
          <a:xfrm>
            <a:off x="4276725" y="630996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7" name="Rounded Rectangle 76"/>
          <p:cNvSpPr/>
          <p:nvPr/>
        </p:nvSpPr>
        <p:spPr>
          <a:xfrm>
            <a:off x="61531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8" name="Rounded Rectangle 77"/>
          <p:cNvSpPr/>
          <p:nvPr/>
        </p:nvSpPr>
        <p:spPr>
          <a:xfrm>
            <a:off x="62865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79" name="Rounded Rectangle 78"/>
          <p:cNvSpPr/>
          <p:nvPr/>
        </p:nvSpPr>
        <p:spPr>
          <a:xfrm>
            <a:off x="62865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0" name="Rounded Rectangle 79"/>
          <p:cNvSpPr/>
          <p:nvPr/>
        </p:nvSpPr>
        <p:spPr>
          <a:xfrm>
            <a:off x="62865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1" name="Rounded Rectangle 80"/>
          <p:cNvSpPr/>
          <p:nvPr/>
        </p:nvSpPr>
        <p:spPr>
          <a:xfrm>
            <a:off x="815340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2" name="Rounded Rectangle 81"/>
          <p:cNvSpPr/>
          <p:nvPr/>
        </p:nvSpPr>
        <p:spPr>
          <a:xfrm>
            <a:off x="828675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3" name="Rounded Rectangle 82"/>
          <p:cNvSpPr/>
          <p:nvPr/>
        </p:nvSpPr>
        <p:spPr>
          <a:xfrm>
            <a:off x="828675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4" name="Rounded Rectangle 83"/>
          <p:cNvSpPr/>
          <p:nvPr/>
        </p:nvSpPr>
        <p:spPr>
          <a:xfrm>
            <a:off x="828675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5" name="Rounded Rectangle 84"/>
          <p:cNvSpPr/>
          <p:nvPr/>
        </p:nvSpPr>
        <p:spPr>
          <a:xfrm>
            <a:off x="828675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6" name="Rounded Rectangle 85"/>
          <p:cNvSpPr/>
          <p:nvPr/>
        </p:nvSpPr>
        <p:spPr>
          <a:xfrm>
            <a:off x="828675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7" name="Rounded Rectangle 86"/>
          <p:cNvSpPr/>
          <p:nvPr/>
        </p:nvSpPr>
        <p:spPr>
          <a:xfrm>
            <a:off x="828675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8" name="Rounded Rectangle 87"/>
          <p:cNvSpPr/>
          <p:nvPr/>
        </p:nvSpPr>
        <p:spPr>
          <a:xfrm>
            <a:off x="828675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89" name="Rounded Rectangle 88"/>
          <p:cNvSpPr/>
          <p:nvPr/>
        </p:nvSpPr>
        <p:spPr>
          <a:xfrm>
            <a:off x="828675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0" name="Rounded Rectangle 89"/>
          <p:cNvSpPr/>
          <p:nvPr/>
        </p:nvSpPr>
        <p:spPr>
          <a:xfrm>
            <a:off x="8286750" y="531513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a:t>
            </a:r>
          </a:p>
        </p:txBody>
      </p:sp>
      <p:sp>
        <p:nvSpPr>
          <p:cNvPr id="91" name="Rounded Rectangle 90"/>
          <p:cNvSpPr/>
          <p:nvPr/>
        </p:nvSpPr>
        <p:spPr>
          <a:xfrm>
            <a:off x="101536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2" name="Rounded Rectangle 91"/>
          <p:cNvSpPr/>
          <p:nvPr/>
        </p:nvSpPr>
        <p:spPr>
          <a:xfrm>
            <a:off x="102870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3" name="Rounded Rectangle 92"/>
          <p:cNvSpPr/>
          <p:nvPr/>
        </p:nvSpPr>
        <p:spPr>
          <a:xfrm>
            <a:off x="102870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4" name="Rounded Rectangle 93"/>
          <p:cNvSpPr/>
          <p:nvPr/>
        </p:nvSpPr>
        <p:spPr>
          <a:xfrm>
            <a:off x="102870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5" name="Rounded Rectangle 94"/>
          <p:cNvSpPr/>
          <p:nvPr/>
        </p:nvSpPr>
        <p:spPr>
          <a:xfrm>
            <a:off x="1028700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6" name="Rounded Rectangle 95"/>
          <p:cNvSpPr/>
          <p:nvPr/>
        </p:nvSpPr>
        <p:spPr>
          <a:xfrm>
            <a:off x="1028700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GCC</a:t>
            </a:r>
          </a:p>
        </p:txBody>
      </p:sp>
      <p:sp>
        <p:nvSpPr>
          <p:cNvPr id="97" name="Rounded Rectangle 96"/>
          <p:cNvSpPr/>
          <p:nvPr/>
        </p:nvSpPr>
        <p:spPr>
          <a:xfrm>
            <a:off x="1028700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98" name="Rounded Rectangle 97"/>
          <p:cNvSpPr/>
          <p:nvPr/>
        </p:nvSpPr>
        <p:spPr>
          <a:xfrm>
            <a:off x="1028700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MEA</a:t>
            </a:r>
          </a:p>
        </p:txBody>
      </p:sp>
      <p:sp>
        <p:nvSpPr>
          <p:cNvPr id="99" name="TextBox 9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6 axes and the sub-segments sized under each</a:t>
            </a:r>
          </a:p>
        </p:txBody>
      </p:sp>
      <p:sp>
        <p:nvSpPr>
          <p:cNvPr id="10" name="Rectangle 9"/>
          <p:cNvSpPr/>
          <p:nvPr/>
        </p:nvSpPr>
        <p:spPr>
          <a:xfrm>
            <a:off x="142875" y="1028700"/>
            <a:ext cx="2876550" cy="377190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Rollstock Films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Lidding &amp; Tray-Sealing Films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Thermoforming Films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Vacuum Skin Packaging Films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HFFS / Flow-Pack Films</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VFFS Rollstock Films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&amp; Overwrap Films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Barrier Casings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Non-Shrink Casings</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Casings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714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5619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Casings</a:t>
            </a:r>
          </a:p>
        </p:txBody>
      </p:sp>
      <p:cxnSp>
        <p:nvCxnSpPr>
          <p:cNvPr id="45" name="Connector 44"/>
          <p:cNvCxnSpPr/>
          <p:nvPr/>
        </p:nvCxnSpPr>
        <p:spPr>
          <a:xfrm>
            <a:off x="1524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2000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3905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Premade Pouches &amp; Bags</a:t>
            </a:r>
          </a:p>
        </p:txBody>
      </p:sp>
      <p:cxnSp>
        <p:nvCxnSpPr>
          <p:cNvPr id="48" name="Connector 47"/>
          <p:cNvCxnSpPr/>
          <p:nvPr/>
        </p:nvCxnSpPr>
        <p:spPr>
          <a:xfrm>
            <a:off x="1524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714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5619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Vacuum Pouches</a:t>
            </a:r>
          </a:p>
        </p:txBody>
      </p:sp>
      <p:cxnSp>
        <p:nvCxnSpPr>
          <p:cNvPr id="51" name="Connector 50"/>
          <p:cNvCxnSpPr/>
          <p:nvPr/>
        </p:nvCxnSpPr>
        <p:spPr>
          <a:xfrm>
            <a:off x="1524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3714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3" name="TextBox 52"/>
          <p:cNvSpPr txBox="1"/>
          <p:nvPr/>
        </p:nvSpPr>
        <p:spPr>
          <a:xfrm>
            <a:off x="5619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Bags</a:t>
            </a:r>
          </a:p>
        </p:txBody>
      </p:sp>
      <p:cxnSp>
        <p:nvCxnSpPr>
          <p:cNvPr id="54" name="Connector 53"/>
          <p:cNvCxnSpPr/>
          <p:nvPr/>
        </p:nvCxnSpPr>
        <p:spPr>
          <a:xfrm>
            <a:off x="1524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3714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6" name="TextBox 55"/>
          <p:cNvSpPr txBox="1"/>
          <p:nvPr/>
        </p:nvSpPr>
        <p:spPr>
          <a:xfrm>
            <a:off x="5619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Stand-Up Pouches</a:t>
            </a:r>
          </a:p>
        </p:txBody>
      </p:sp>
      <p:cxnSp>
        <p:nvCxnSpPr>
          <p:cNvPr id="57" name="Connector 56"/>
          <p:cNvCxnSpPr/>
          <p:nvPr/>
        </p:nvCxnSpPr>
        <p:spPr>
          <a:xfrm>
            <a:off x="1524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714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9" name="TextBox 58"/>
          <p:cNvSpPr txBox="1"/>
          <p:nvPr/>
        </p:nvSpPr>
        <p:spPr>
          <a:xfrm>
            <a:off x="5619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Flat Pouches</a:t>
            </a:r>
          </a:p>
        </p:txBody>
      </p:sp>
      <p:cxnSp>
        <p:nvCxnSpPr>
          <p:cNvPr id="60" name="Connector 59"/>
          <p:cNvCxnSpPr/>
          <p:nvPr/>
        </p:nvCxnSpPr>
        <p:spPr>
          <a:xfrm>
            <a:off x="152400" y="40919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714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2" name="TextBox 61"/>
          <p:cNvSpPr txBox="1"/>
          <p:nvPr/>
        </p:nvSpPr>
        <p:spPr>
          <a:xfrm>
            <a:off x="561975" y="40919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Retort Pouches</a:t>
            </a:r>
          </a:p>
        </p:txBody>
      </p:sp>
      <p:cxnSp>
        <p:nvCxnSpPr>
          <p:cNvPr id="63" name="Connector 62"/>
          <p:cNvCxnSpPr/>
          <p:nvPr/>
        </p:nvCxnSpPr>
        <p:spPr>
          <a:xfrm>
            <a:off x="152400" y="42691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20002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5" name="TextBox 64"/>
          <p:cNvSpPr txBox="1"/>
          <p:nvPr/>
        </p:nvSpPr>
        <p:spPr>
          <a:xfrm>
            <a:off x="390525" y="426910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Sachets &amp; Stick Packs</a:t>
            </a:r>
          </a:p>
        </p:txBody>
      </p:sp>
      <p:cxnSp>
        <p:nvCxnSpPr>
          <p:cNvPr id="66" name="Connector 65"/>
          <p:cNvCxnSpPr/>
          <p:nvPr/>
        </p:nvCxnSpPr>
        <p:spPr>
          <a:xfrm>
            <a:off x="152400" y="44462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3714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61975" y="44462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Sachets</a:t>
            </a:r>
          </a:p>
        </p:txBody>
      </p:sp>
      <p:cxnSp>
        <p:nvCxnSpPr>
          <p:cNvPr id="69" name="Connector 68"/>
          <p:cNvCxnSpPr/>
          <p:nvPr/>
        </p:nvCxnSpPr>
        <p:spPr>
          <a:xfrm>
            <a:off x="152400" y="46234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3714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61975" y="46234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Stick Packs</a:t>
            </a:r>
          </a:p>
        </p:txBody>
      </p:sp>
      <p:sp>
        <p:nvSpPr>
          <p:cNvPr id="72" name="Rectangle 71"/>
          <p:cNvSpPr/>
          <p:nvPr/>
        </p:nvSpPr>
        <p:spPr>
          <a:xfrm>
            <a:off x="3152775" y="1028700"/>
            <a:ext cx="2876550" cy="23602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3152775" y="1028700"/>
            <a:ext cx="2876550" cy="41148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228975" y="1028700"/>
            <a:ext cx="2724150" cy="411480"/>
          </a:xfrm>
          <a:prstGeom prst="rect">
            <a:avLst/>
          </a:prstGeom>
          <a:noFill/>
        </p:spPr>
        <p:txBody>
          <a:bodyPr wrap="square" lIns="28575" rIns="28575" tIns="9525" bIns="9525" anchor="t">
            <a:spAutoFit/>
          </a:bodyPr>
          <a:lstStyle/>
          <a:p>
            <a:pPr algn="l">
              <a:lnSpc>
                <a:spcPct val="100000"/>
              </a:lnSpc>
            </a:pPr>
            <a:r>
              <a:rPr sz="1100" b="1">
                <a:solidFill>
                  <a:srgbClr val="FFFFFF"/>
                </a:solidFill>
                <a:latin typeface="Calibri"/>
              </a:rPr>
              <a:t>By Principal Material / Barrier Technology</a:t>
            </a:r>
          </a:p>
        </p:txBody>
      </p:sp>
      <p:sp>
        <p:nvSpPr>
          <p:cNvPr id="75" name="TextBox 74"/>
          <p:cNvSpPr txBox="1"/>
          <p:nvPr/>
        </p:nvSpPr>
        <p:spPr>
          <a:xfrm>
            <a:off x="3209925" y="1440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6" name="TextBox 75"/>
          <p:cNvSpPr txBox="1"/>
          <p:nvPr/>
        </p:nvSpPr>
        <p:spPr>
          <a:xfrm>
            <a:off x="3400425" y="144018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cxnSp>
        <p:nvCxnSpPr>
          <p:cNvPr id="77" name="Connector 76"/>
          <p:cNvCxnSpPr/>
          <p:nvPr/>
        </p:nvCxnSpPr>
        <p:spPr>
          <a:xfrm>
            <a:off x="3162300" y="1617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3209925" y="1617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3400425" y="161734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cxnSp>
        <p:nvCxnSpPr>
          <p:cNvPr id="80" name="Connector 79"/>
          <p:cNvCxnSpPr/>
          <p:nvPr/>
        </p:nvCxnSpPr>
        <p:spPr>
          <a:xfrm>
            <a:off x="3162300" y="1794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3209925" y="1794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2" name="TextBox 81"/>
          <p:cNvSpPr txBox="1"/>
          <p:nvPr/>
        </p:nvSpPr>
        <p:spPr>
          <a:xfrm>
            <a:off x="3400425" y="179451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cxnSp>
        <p:nvCxnSpPr>
          <p:cNvPr id="83" name="Connector 82"/>
          <p:cNvCxnSpPr/>
          <p:nvPr/>
        </p:nvCxnSpPr>
        <p:spPr>
          <a:xfrm>
            <a:off x="3162300" y="1971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3209925" y="1971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5" name="TextBox 84"/>
          <p:cNvSpPr txBox="1"/>
          <p:nvPr/>
        </p:nvSpPr>
        <p:spPr>
          <a:xfrm>
            <a:off x="3400425" y="197167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cxnSp>
        <p:nvCxnSpPr>
          <p:cNvPr id="86" name="Connector 85"/>
          <p:cNvCxnSpPr/>
          <p:nvPr/>
        </p:nvCxnSpPr>
        <p:spPr>
          <a:xfrm>
            <a:off x="3162300" y="2148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3209925" y="2148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8" name="TextBox 87"/>
          <p:cNvSpPr txBox="1"/>
          <p:nvPr/>
        </p:nvSpPr>
        <p:spPr>
          <a:xfrm>
            <a:off x="3400425" y="214884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cxnSp>
        <p:nvCxnSpPr>
          <p:cNvPr id="89" name="Connector 88"/>
          <p:cNvCxnSpPr/>
          <p:nvPr/>
        </p:nvCxnSpPr>
        <p:spPr>
          <a:xfrm>
            <a:off x="3162300" y="2326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209925" y="2326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1" name="TextBox 90"/>
          <p:cNvSpPr txBox="1"/>
          <p:nvPr/>
        </p:nvSpPr>
        <p:spPr>
          <a:xfrm>
            <a:off x="3400425" y="232600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cxnSp>
        <p:nvCxnSpPr>
          <p:cNvPr id="92" name="Connector 91"/>
          <p:cNvCxnSpPr/>
          <p:nvPr/>
        </p:nvCxnSpPr>
        <p:spPr>
          <a:xfrm>
            <a:off x="3162300" y="2503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3209925" y="2503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4" name="TextBox 93"/>
          <p:cNvSpPr txBox="1"/>
          <p:nvPr/>
        </p:nvSpPr>
        <p:spPr>
          <a:xfrm>
            <a:off x="3400425" y="250317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cxnSp>
        <p:nvCxnSpPr>
          <p:cNvPr id="95" name="Connector 94"/>
          <p:cNvCxnSpPr/>
          <p:nvPr/>
        </p:nvCxnSpPr>
        <p:spPr>
          <a:xfrm>
            <a:off x="3162300" y="2680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3209925" y="2680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7" name="TextBox 96"/>
          <p:cNvSpPr txBox="1"/>
          <p:nvPr/>
        </p:nvSpPr>
        <p:spPr>
          <a:xfrm>
            <a:off x="3400425" y="268033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cxnSp>
        <p:nvCxnSpPr>
          <p:cNvPr id="98" name="Connector 97"/>
          <p:cNvCxnSpPr/>
          <p:nvPr/>
        </p:nvCxnSpPr>
        <p:spPr>
          <a:xfrm>
            <a:off x="3162300" y="2857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3209925" y="2857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3400425" y="28575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cxnSp>
        <p:nvCxnSpPr>
          <p:cNvPr id="101" name="Connector 100"/>
          <p:cNvCxnSpPr/>
          <p:nvPr/>
        </p:nvCxnSpPr>
        <p:spPr>
          <a:xfrm>
            <a:off x="3162300" y="3034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209925" y="3034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3400425" y="30346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cxnSp>
        <p:nvCxnSpPr>
          <p:cNvPr id="104" name="Connector 103"/>
          <p:cNvCxnSpPr/>
          <p:nvPr/>
        </p:nvCxnSpPr>
        <p:spPr>
          <a:xfrm>
            <a:off x="3162300" y="32118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3209925" y="32118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3400425" y="32118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07" name="Rectangle 106"/>
          <p:cNvSpPr/>
          <p:nvPr/>
        </p:nvSpPr>
        <p:spPr>
          <a:xfrm>
            <a:off x="3152775" y="3503295"/>
            <a:ext cx="2876550" cy="235458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3152775" y="35032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3228975" y="35032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Barrier Level Vs Application</a:t>
            </a:r>
          </a:p>
        </p:txBody>
      </p:sp>
      <p:sp>
        <p:nvSpPr>
          <p:cNvPr id="110" name="TextBox 109"/>
          <p:cNvSpPr txBox="1"/>
          <p:nvPr/>
        </p:nvSpPr>
        <p:spPr>
          <a:xfrm>
            <a:off x="3209925" y="37318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1" name="TextBox 110"/>
          <p:cNvSpPr txBox="1"/>
          <p:nvPr/>
        </p:nvSpPr>
        <p:spPr>
          <a:xfrm>
            <a:off x="3400425" y="37318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Low-Barrier Films</a:t>
            </a:r>
          </a:p>
        </p:txBody>
      </p:sp>
      <p:cxnSp>
        <p:nvCxnSpPr>
          <p:cNvPr id="112" name="Connector 111"/>
          <p:cNvCxnSpPr/>
          <p:nvPr/>
        </p:nvCxnSpPr>
        <p:spPr>
          <a:xfrm>
            <a:off x="3162300" y="39090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3" name="TextBox 112"/>
          <p:cNvSpPr txBox="1"/>
          <p:nvPr/>
        </p:nvSpPr>
        <p:spPr>
          <a:xfrm>
            <a:off x="3381375" y="39090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4" name="TextBox 113"/>
          <p:cNvSpPr txBox="1"/>
          <p:nvPr/>
        </p:nvSpPr>
        <p:spPr>
          <a:xfrm>
            <a:off x="3571875" y="39090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15" name="Connector 114"/>
          <p:cNvCxnSpPr/>
          <p:nvPr/>
        </p:nvCxnSpPr>
        <p:spPr>
          <a:xfrm>
            <a:off x="3162300" y="40862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3381375" y="40862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3571875" y="40862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18" name="Connector 117"/>
          <p:cNvCxnSpPr/>
          <p:nvPr/>
        </p:nvCxnSpPr>
        <p:spPr>
          <a:xfrm>
            <a:off x="3162300" y="42633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9" name="TextBox 118"/>
          <p:cNvSpPr txBox="1"/>
          <p:nvPr/>
        </p:nvSpPr>
        <p:spPr>
          <a:xfrm>
            <a:off x="3209925" y="42633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3400425" y="42633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Medium-Barrier Films</a:t>
            </a:r>
          </a:p>
        </p:txBody>
      </p:sp>
      <p:cxnSp>
        <p:nvCxnSpPr>
          <p:cNvPr id="121" name="Connector 120"/>
          <p:cNvCxnSpPr/>
          <p:nvPr/>
        </p:nvCxnSpPr>
        <p:spPr>
          <a:xfrm>
            <a:off x="3162300" y="44405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3381375" y="44405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3" name="TextBox 122"/>
          <p:cNvSpPr txBox="1"/>
          <p:nvPr/>
        </p:nvSpPr>
        <p:spPr>
          <a:xfrm>
            <a:off x="3571875" y="44405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24" name="Connector 123"/>
          <p:cNvCxnSpPr/>
          <p:nvPr/>
        </p:nvCxnSpPr>
        <p:spPr>
          <a:xfrm>
            <a:off x="3162300" y="46177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3381375" y="46177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6" name="TextBox 125"/>
          <p:cNvSpPr txBox="1"/>
          <p:nvPr/>
        </p:nvSpPr>
        <p:spPr>
          <a:xfrm>
            <a:off x="3571875" y="46177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27" name="Connector 126"/>
          <p:cNvCxnSpPr/>
          <p:nvPr/>
        </p:nvCxnSpPr>
        <p:spPr>
          <a:xfrm>
            <a:off x="3162300" y="47948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8" name="TextBox 127"/>
          <p:cNvSpPr txBox="1"/>
          <p:nvPr/>
        </p:nvSpPr>
        <p:spPr>
          <a:xfrm>
            <a:off x="3209925" y="47948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3400425" y="47948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High-Barrier Films</a:t>
            </a:r>
          </a:p>
        </p:txBody>
      </p:sp>
      <p:cxnSp>
        <p:nvCxnSpPr>
          <p:cNvPr id="130" name="Connector 129"/>
          <p:cNvCxnSpPr/>
          <p:nvPr/>
        </p:nvCxnSpPr>
        <p:spPr>
          <a:xfrm>
            <a:off x="3162300" y="49720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3381375" y="49720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3571875" y="49720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33" name="Connector 132"/>
          <p:cNvCxnSpPr/>
          <p:nvPr/>
        </p:nvCxnSpPr>
        <p:spPr>
          <a:xfrm>
            <a:off x="3162300" y="51492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4" name="TextBox 133"/>
          <p:cNvSpPr txBox="1"/>
          <p:nvPr/>
        </p:nvSpPr>
        <p:spPr>
          <a:xfrm>
            <a:off x="3381375" y="51492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5" name="TextBox 134"/>
          <p:cNvSpPr txBox="1"/>
          <p:nvPr/>
        </p:nvSpPr>
        <p:spPr>
          <a:xfrm>
            <a:off x="3571875" y="51492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36" name="Connector 135"/>
          <p:cNvCxnSpPr/>
          <p:nvPr/>
        </p:nvCxnSpPr>
        <p:spPr>
          <a:xfrm>
            <a:off x="3162300" y="53263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3209925" y="53263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8" name="TextBox 137"/>
          <p:cNvSpPr txBox="1"/>
          <p:nvPr/>
        </p:nvSpPr>
        <p:spPr>
          <a:xfrm>
            <a:off x="3400425" y="53263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Ultra-High-Barrier Films</a:t>
            </a:r>
          </a:p>
        </p:txBody>
      </p:sp>
      <p:cxnSp>
        <p:nvCxnSpPr>
          <p:cNvPr id="139" name="Connector 138"/>
          <p:cNvCxnSpPr/>
          <p:nvPr/>
        </p:nvCxnSpPr>
        <p:spPr>
          <a:xfrm>
            <a:off x="3162300" y="55035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0" name="TextBox 139"/>
          <p:cNvSpPr txBox="1"/>
          <p:nvPr/>
        </p:nvSpPr>
        <p:spPr>
          <a:xfrm>
            <a:off x="3381375" y="55035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1" name="TextBox 140"/>
          <p:cNvSpPr txBox="1"/>
          <p:nvPr/>
        </p:nvSpPr>
        <p:spPr>
          <a:xfrm>
            <a:off x="3571875" y="55035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42" name="Connector 141"/>
          <p:cNvCxnSpPr/>
          <p:nvPr/>
        </p:nvCxnSpPr>
        <p:spPr>
          <a:xfrm>
            <a:off x="3162300" y="56807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3381375" y="56807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3571875" y="56807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45" name="Rectangle 144"/>
          <p:cNvSpPr/>
          <p:nvPr/>
        </p:nvSpPr>
        <p:spPr>
          <a:xfrm>
            <a:off x="6162675" y="1028700"/>
            <a:ext cx="2876550" cy="306324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Material Structure</a:t>
            </a:r>
          </a:p>
        </p:txBody>
      </p:sp>
      <p:sp>
        <p:nvSpPr>
          <p:cNvPr id="148" name="TextBox 147"/>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9" name="TextBox 148"/>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Monolayer Films</a:t>
            </a:r>
          </a:p>
        </p:txBody>
      </p:sp>
      <p:cxnSp>
        <p:nvCxnSpPr>
          <p:cNvPr id="150" name="Connector 149"/>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1" name="TextBox 150"/>
          <p:cNvSpPr txBox="1"/>
          <p:nvPr/>
        </p:nvSpPr>
        <p:spPr>
          <a:xfrm>
            <a:off x="62198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2" name="TextBox 151"/>
          <p:cNvSpPr txBox="1"/>
          <p:nvPr/>
        </p:nvSpPr>
        <p:spPr>
          <a:xfrm>
            <a:off x="6410325" y="143446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Coextruded Multilayer Films</a:t>
            </a:r>
          </a:p>
        </p:txBody>
      </p:sp>
      <p:cxnSp>
        <p:nvCxnSpPr>
          <p:cNvPr id="153" name="Connector 152"/>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4" name="TextBox 153"/>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5" name="TextBox 154"/>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3–5 Layer</a:t>
            </a:r>
          </a:p>
        </p:txBody>
      </p:sp>
      <p:cxnSp>
        <p:nvCxnSpPr>
          <p:cNvPr id="156" name="Connector 155"/>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7" name="TextBox 156"/>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8" name="TextBox 157"/>
          <p:cNvSpPr txBox="1"/>
          <p:nvPr/>
        </p:nvSpPr>
        <p:spPr>
          <a:xfrm>
            <a:off x="65817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7 Layer</a:t>
            </a:r>
          </a:p>
        </p:txBody>
      </p:sp>
      <p:cxnSp>
        <p:nvCxnSpPr>
          <p:cNvPr id="159" name="Connector 158"/>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63912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1" name="TextBox 160"/>
          <p:cNvSpPr txBox="1"/>
          <p:nvPr/>
        </p:nvSpPr>
        <p:spPr>
          <a:xfrm>
            <a:off x="65817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9 Layer and Above</a:t>
            </a:r>
          </a:p>
        </p:txBody>
      </p:sp>
      <p:cxnSp>
        <p:nvCxnSpPr>
          <p:cNvPr id="162" name="Connector 161"/>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3" name="TextBox 162"/>
          <p:cNvSpPr txBox="1"/>
          <p:nvPr/>
        </p:nvSpPr>
        <p:spPr>
          <a:xfrm>
            <a:off x="62198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4" name="TextBox 163"/>
          <p:cNvSpPr txBox="1"/>
          <p:nvPr/>
        </p:nvSpPr>
        <p:spPr>
          <a:xfrm>
            <a:off x="6410325" y="214312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Laminated Films</a:t>
            </a:r>
          </a:p>
        </p:txBody>
      </p:sp>
      <p:cxnSp>
        <p:nvCxnSpPr>
          <p:cNvPr id="165" name="Connector 164"/>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6" name="TextBox 165"/>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7" name="TextBox 166"/>
          <p:cNvSpPr txBox="1"/>
          <p:nvPr/>
        </p:nvSpPr>
        <p:spPr>
          <a:xfrm>
            <a:off x="65817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Duplex</a:t>
            </a:r>
          </a:p>
        </p:txBody>
      </p:sp>
      <p:cxnSp>
        <p:nvCxnSpPr>
          <p:cNvPr id="168" name="Connector 167"/>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9" name="TextBox 168"/>
          <p:cNvSpPr txBox="1"/>
          <p:nvPr/>
        </p:nvSpPr>
        <p:spPr>
          <a:xfrm>
            <a:off x="63912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0" name="TextBox 169"/>
          <p:cNvSpPr txBox="1"/>
          <p:nvPr/>
        </p:nvSpPr>
        <p:spPr>
          <a:xfrm>
            <a:off x="65817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Triplex</a:t>
            </a:r>
          </a:p>
        </p:txBody>
      </p:sp>
      <p:cxnSp>
        <p:nvCxnSpPr>
          <p:cNvPr id="171" name="Connector 170"/>
          <p:cNvCxnSpPr/>
          <p:nvPr/>
        </p:nvCxnSpPr>
        <p:spPr>
          <a:xfrm>
            <a:off x="61722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2" name="TextBox 171"/>
          <p:cNvSpPr txBox="1"/>
          <p:nvPr/>
        </p:nvSpPr>
        <p:spPr>
          <a:xfrm>
            <a:off x="63912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3" name="TextBox 172"/>
          <p:cNvSpPr txBox="1"/>
          <p:nvPr/>
        </p:nvSpPr>
        <p:spPr>
          <a:xfrm>
            <a:off x="65817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Multi-Ply</a:t>
            </a:r>
          </a:p>
        </p:txBody>
      </p:sp>
      <p:cxnSp>
        <p:nvCxnSpPr>
          <p:cNvPr id="174" name="Connector 173"/>
          <p:cNvCxnSpPr/>
          <p:nvPr/>
        </p:nvCxnSpPr>
        <p:spPr>
          <a:xfrm>
            <a:off x="61722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5" name="TextBox 174"/>
          <p:cNvSpPr txBox="1"/>
          <p:nvPr/>
        </p:nvSpPr>
        <p:spPr>
          <a:xfrm>
            <a:off x="62198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6" name="TextBox 175"/>
          <p:cNvSpPr txBox="1"/>
          <p:nvPr/>
        </p:nvSpPr>
        <p:spPr>
          <a:xfrm>
            <a:off x="64103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Coated Films</a:t>
            </a:r>
          </a:p>
        </p:txBody>
      </p:sp>
      <p:cxnSp>
        <p:nvCxnSpPr>
          <p:cNvPr id="177" name="Connector 176"/>
          <p:cNvCxnSpPr/>
          <p:nvPr/>
        </p:nvCxnSpPr>
        <p:spPr>
          <a:xfrm>
            <a:off x="61722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8" name="TextBox 177"/>
          <p:cNvSpPr txBox="1"/>
          <p:nvPr/>
        </p:nvSpPr>
        <p:spPr>
          <a:xfrm>
            <a:off x="62198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9" name="TextBox 178"/>
          <p:cNvSpPr txBox="1"/>
          <p:nvPr/>
        </p:nvSpPr>
        <p:spPr>
          <a:xfrm>
            <a:off x="64103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Metallized Films</a:t>
            </a:r>
          </a:p>
        </p:txBody>
      </p:sp>
      <p:cxnSp>
        <p:nvCxnSpPr>
          <p:cNvPr id="180" name="Connector 179"/>
          <p:cNvCxnSpPr/>
          <p:nvPr/>
        </p:nvCxnSpPr>
        <p:spPr>
          <a:xfrm>
            <a:off x="61722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1" name="TextBox 180"/>
          <p:cNvSpPr txBox="1"/>
          <p:nvPr/>
        </p:nvSpPr>
        <p:spPr>
          <a:xfrm>
            <a:off x="62198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2" name="TextBox 181"/>
          <p:cNvSpPr txBox="1"/>
          <p:nvPr/>
        </p:nvSpPr>
        <p:spPr>
          <a:xfrm>
            <a:off x="64103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Foil-Laminated Structures</a:t>
            </a:r>
          </a:p>
        </p:txBody>
      </p:sp>
      <p:cxnSp>
        <p:nvCxnSpPr>
          <p:cNvPr id="183" name="Connector 182"/>
          <p:cNvCxnSpPr/>
          <p:nvPr/>
        </p:nvCxnSpPr>
        <p:spPr>
          <a:xfrm>
            <a:off x="61722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4" name="TextBox 183"/>
          <p:cNvSpPr txBox="1"/>
          <p:nvPr/>
        </p:nvSpPr>
        <p:spPr>
          <a:xfrm>
            <a:off x="621982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5" name="TextBox 184"/>
          <p:cNvSpPr txBox="1"/>
          <p:nvPr/>
        </p:nvSpPr>
        <p:spPr>
          <a:xfrm>
            <a:off x="6410325" y="33832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Mono-Material Recyclable Structures</a:t>
            </a:r>
          </a:p>
        </p:txBody>
      </p:sp>
      <p:cxnSp>
        <p:nvCxnSpPr>
          <p:cNvPr id="186" name="Connector 185"/>
          <p:cNvCxnSpPr/>
          <p:nvPr/>
        </p:nvCxnSpPr>
        <p:spPr>
          <a:xfrm>
            <a:off x="61722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63912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8" name="TextBox 187"/>
          <p:cNvSpPr txBox="1"/>
          <p:nvPr/>
        </p:nvSpPr>
        <p:spPr>
          <a:xfrm>
            <a:off x="65817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cxnSp>
        <p:nvCxnSpPr>
          <p:cNvPr id="189" name="Connector 188"/>
          <p:cNvCxnSpPr/>
          <p:nvPr/>
        </p:nvCxnSpPr>
        <p:spPr>
          <a:xfrm>
            <a:off x="61722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0" name="TextBox 189"/>
          <p:cNvSpPr txBox="1"/>
          <p:nvPr/>
        </p:nvSpPr>
        <p:spPr>
          <a:xfrm>
            <a:off x="63912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1" name="TextBox 190"/>
          <p:cNvSpPr txBox="1"/>
          <p:nvPr/>
        </p:nvSpPr>
        <p:spPr>
          <a:xfrm>
            <a:off x="65817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cxnSp>
        <p:nvCxnSpPr>
          <p:cNvPr id="192" name="Connector 191"/>
          <p:cNvCxnSpPr/>
          <p:nvPr/>
        </p:nvCxnSpPr>
        <p:spPr>
          <a:xfrm>
            <a:off x="61722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3" name="TextBox 192"/>
          <p:cNvSpPr txBox="1"/>
          <p:nvPr/>
        </p:nvSpPr>
        <p:spPr>
          <a:xfrm>
            <a:off x="63912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4" name="TextBox 193"/>
          <p:cNvSpPr txBox="1"/>
          <p:nvPr/>
        </p:nvSpPr>
        <p:spPr>
          <a:xfrm>
            <a:off x="65817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195" name="Rectangle 194"/>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TextBox 196"/>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Barrier Level</a:t>
            </a:r>
          </a:p>
        </p:txBody>
      </p:sp>
      <p:sp>
        <p:nvSpPr>
          <p:cNvPr id="198" name="TextBox 197"/>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9" name="TextBox 198"/>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cxnSp>
        <p:nvCxnSpPr>
          <p:cNvPr id="200" name="Connector 199"/>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1" name="TextBox 200"/>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2" name="TextBox 201"/>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cxnSp>
        <p:nvCxnSpPr>
          <p:cNvPr id="203" name="Connector 202"/>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4" name="TextBox 203"/>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5" name="TextBox 204"/>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cxnSp>
        <p:nvCxnSpPr>
          <p:cNvPr id="206" name="Connector 205"/>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7" name="TextBox 206"/>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8" name="TextBox 207"/>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209" name="Rectangle 208"/>
          <p:cNvSpPr/>
          <p:nvPr/>
        </p:nvSpPr>
        <p:spPr>
          <a:xfrm>
            <a:off x="9172575" y="2080260"/>
            <a:ext cx="2876550" cy="341757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Application</a:t>
            </a:r>
          </a:p>
        </p:txBody>
      </p:sp>
      <p:sp>
        <p:nvSpPr>
          <p:cNvPr id="212" name="TextBox 211"/>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3" name="TextBox 212"/>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 Packaging</a:t>
            </a:r>
          </a:p>
        </p:txBody>
      </p:sp>
      <p:cxnSp>
        <p:nvCxnSpPr>
          <p:cNvPr id="214" name="Connector 213"/>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5" name="TextBox 214"/>
          <p:cNvSpPr txBox="1"/>
          <p:nvPr/>
        </p:nvSpPr>
        <p:spPr>
          <a:xfrm>
            <a:off x="940117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6" name="TextBox 215"/>
          <p:cNvSpPr txBox="1"/>
          <p:nvPr/>
        </p:nvSpPr>
        <p:spPr>
          <a:xfrm>
            <a:off x="9591675" y="24860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Meat and Processed Meat</a:t>
            </a:r>
          </a:p>
        </p:txBody>
      </p:sp>
      <p:cxnSp>
        <p:nvCxnSpPr>
          <p:cNvPr id="217" name="Connector 216"/>
          <p:cNvCxnSpPr/>
          <p:nvPr/>
        </p:nvCxnSpPr>
        <p:spPr>
          <a:xfrm>
            <a:off x="91821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940117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9" name="TextBox 218"/>
          <p:cNvSpPr txBox="1"/>
          <p:nvPr/>
        </p:nvSpPr>
        <p:spPr>
          <a:xfrm>
            <a:off x="9591675" y="26631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Poultry</a:t>
            </a:r>
          </a:p>
        </p:txBody>
      </p:sp>
      <p:cxnSp>
        <p:nvCxnSpPr>
          <p:cNvPr id="220" name="Connector 219"/>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1" name="TextBox 220"/>
          <p:cNvSpPr txBox="1"/>
          <p:nvPr/>
        </p:nvSpPr>
        <p:spPr>
          <a:xfrm>
            <a:off x="94011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2" name="TextBox 221"/>
          <p:cNvSpPr txBox="1"/>
          <p:nvPr/>
        </p:nvSpPr>
        <p:spPr>
          <a:xfrm>
            <a:off x="95916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Fish and Seafood</a:t>
            </a:r>
          </a:p>
        </p:txBody>
      </p:sp>
      <p:cxnSp>
        <p:nvCxnSpPr>
          <p:cNvPr id="223" name="Connector 222"/>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4" name="TextBox 223"/>
          <p:cNvSpPr txBox="1"/>
          <p:nvPr/>
        </p:nvSpPr>
        <p:spPr>
          <a:xfrm>
            <a:off x="94011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5" name="TextBox 224"/>
          <p:cNvSpPr txBox="1"/>
          <p:nvPr/>
        </p:nvSpPr>
        <p:spPr>
          <a:xfrm>
            <a:off x="95916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Dairy and Cheese</a:t>
            </a:r>
          </a:p>
        </p:txBody>
      </p:sp>
      <p:cxnSp>
        <p:nvCxnSpPr>
          <p:cNvPr id="226" name="Connector 225"/>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7" name="TextBox 226"/>
          <p:cNvSpPr txBox="1"/>
          <p:nvPr/>
        </p:nvSpPr>
        <p:spPr>
          <a:xfrm>
            <a:off x="94011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8" name="TextBox 227"/>
          <p:cNvSpPr txBox="1"/>
          <p:nvPr/>
        </p:nvSpPr>
        <p:spPr>
          <a:xfrm>
            <a:off x="95916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Ready Meals and Prepared Foods</a:t>
            </a:r>
          </a:p>
        </p:txBody>
      </p:sp>
      <p:cxnSp>
        <p:nvCxnSpPr>
          <p:cNvPr id="229" name="Connector 228"/>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0" name="TextBox 229"/>
          <p:cNvSpPr txBox="1"/>
          <p:nvPr/>
        </p:nvSpPr>
        <p:spPr>
          <a:xfrm>
            <a:off x="940117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1" name="TextBox 230"/>
          <p:cNvSpPr txBox="1"/>
          <p:nvPr/>
        </p:nvSpPr>
        <p:spPr>
          <a:xfrm>
            <a:off x="9591675" y="33718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Bakery, Confectionery and Snacks</a:t>
            </a:r>
          </a:p>
        </p:txBody>
      </p:sp>
      <p:cxnSp>
        <p:nvCxnSpPr>
          <p:cNvPr id="232" name="Connector 231"/>
          <p:cNvCxnSpPr/>
          <p:nvPr/>
        </p:nvCxnSpPr>
        <p:spPr>
          <a:xfrm>
            <a:off x="91821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3" name="TextBox 232"/>
          <p:cNvSpPr txBox="1"/>
          <p:nvPr/>
        </p:nvSpPr>
        <p:spPr>
          <a:xfrm>
            <a:off x="940117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4" name="TextBox 233"/>
          <p:cNvSpPr txBox="1"/>
          <p:nvPr/>
        </p:nvSpPr>
        <p:spPr>
          <a:xfrm>
            <a:off x="9591675" y="35490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Dry Foods and Powders</a:t>
            </a:r>
          </a:p>
        </p:txBody>
      </p:sp>
      <p:cxnSp>
        <p:nvCxnSpPr>
          <p:cNvPr id="235" name="Connector 234"/>
          <p:cNvCxnSpPr/>
          <p:nvPr/>
        </p:nvCxnSpPr>
        <p:spPr>
          <a:xfrm>
            <a:off x="91821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6" name="TextBox 235"/>
          <p:cNvSpPr txBox="1"/>
          <p:nvPr/>
        </p:nvSpPr>
        <p:spPr>
          <a:xfrm>
            <a:off x="940117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7" name="TextBox 236"/>
          <p:cNvSpPr txBox="1"/>
          <p:nvPr/>
        </p:nvSpPr>
        <p:spPr>
          <a:xfrm>
            <a:off x="9591675" y="37261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Pet Food</a:t>
            </a:r>
          </a:p>
        </p:txBody>
      </p:sp>
      <p:cxnSp>
        <p:nvCxnSpPr>
          <p:cNvPr id="238" name="Connector 237"/>
          <p:cNvCxnSpPr/>
          <p:nvPr/>
        </p:nvCxnSpPr>
        <p:spPr>
          <a:xfrm>
            <a:off x="91821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9" name="TextBox 238"/>
          <p:cNvSpPr txBox="1"/>
          <p:nvPr/>
        </p:nvSpPr>
        <p:spPr>
          <a:xfrm>
            <a:off x="94011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0" name="TextBox 239"/>
          <p:cNvSpPr txBox="1"/>
          <p:nvPr/>
        </p:nvSpPr>
        <p:spPr>
          <a:xfrm>
            <a:off x="9591675" y="3903345"/>
            <a:ext cx="2419350" cy="531495"/>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Other Food Products (Fresh Produce, Plant-Based Foods, Condiments and Dressings, Foodservice Products)</a:t>
            </a:r>
          </a:p>
        </p:txBody>
      </p:sp>
      <p:cxnSp>
        <p:nvCxnSpPr>
          <p:cNvPr id="241" name="Connector 240"/>
          <p:cNvCxnSpPr/>
          <p:nvPr/>
        </p:nvCxnSpPr>
        <p:spPr>
          <a:xfrm>
            <a:off x="91821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2" name="TextBox 241"/>
          <p:cNvSpPr txBox="1"/>
          <p:nvPr/>
        </p:nvSpPr>
        <p:spPr>
          <a:xfrm>
            <a:off x="922972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3" name="TextBox 242"/>
          <p:cNvSpPr txBox="1"/>
          <p:nvPr/>
        </p:nvSpPr>
        <p:spPr>
          <a:xfrm>
            <a:off x="9420225" y="443484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Non-Food Packaging</a:t>
            </a:r>
          </a:p>
        </p:txBody>
      </p:sp>
      <p:cxnSp>
        <p:nvCxnSpPr>
          <p:cNvPr id="244" name="Connector 243"/>
          <p:cNvCxnSpPr/>
          <p:nvPr/>
        </p:nvCxnSpPr>
        <p:spPr>
          <a:xfrm>
            <a:off x="91821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5" name="TextBox 244"/>
          <p:cNvSpPr txBox="1"/>
          <p:nvPr/>
        </p:nvSpPr>
        <p:spPr>
          <a:xfrm>
            <a:off x="94011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6" name="TextBox 245"/>
          <p:cNvSpPr txBox="1"/>
          <p:nvPr/>
        </p:nvSpPr>
        <p:spPr>
          <a:xfrm>
            <a:off x="95916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Pharmaceutical and Healthcare</a:t>
            </a:r>
          </a:p>
        </p:txBody>
      </p:sp>
      <p:cxnSp>
        <p:nvCxnSpPr>
          <p:cNvPr id="247" name="Connector 246"/>
          <p:cNvCxnSpPr/>
          <p:nvPr/>
        </p:nvCxnSpPr>
        <p:spPr>
          <a:xfrm>
            <a:off x="91821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8" name="TextBox 247"/>
          <p:cNvSpPr txBox="1"/>
          <p:nvPr/>
        </p:nvSpPr>
        <p:spPr>
          <a:xfrm>
            <a:off x="94011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9" name="TextBox 248"/>
          <p:cNvSpPr txBox="1"/>
          <p:nvPr/>
        </p:nvSpPr>
        <p:spPr>
          <a:xfrm>
            <a:off x="95916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Personal Care and Cosmetics</a:t>
            </a:r>
          </a:p>
        </p:txBody>
      </p:sp>
      <p:cxnSp>
        <p:nvCxnSpPr>
          <p:cNvPr id="250" name="Connector 249"/>
          <p:cNvCxnSpPr/>
          <p:nvPr/>
        </p:nvCxnSpPr>
        <p:spPr>
          <a:xfrm>
            <a:off x="91821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1" name="TextBox 250"/>
          <p:cNvSpPr txBox="1"/>
          <p:nvPr/>
        </p:nvSpPr>
        <p:spPr>
          <a:xfrm>
            <a:off x="94011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2" name="TextBox 251"/>
          <p:cNvSpPr txBox="1"/>
          <p:nvPr/>
        </p:nvSpPr>
        <p:spPr>
          <a:xfrm>
            <a:off x="95916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Household Care</a:t>
            </a:r>
          </a:p>
        </p:txBody>
      </p:sp>
      <p:cxnSp>
        <p:nvCxnSpPr>
          <p:cNvPr id="253" name="Connector 252"/>
          <p:cNvCxnSpPr/>
          <p:nvPr/>
        </p:nvCxnSpPr>
        <p:spPr>
          <a:xfrm>
            <a:off x="91821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4" name="TextBox 253"/>
          <p:cNvSpPr txBox="1"/>
          <p:nvPr/>
        </p:nvSpPr>
        <p:spPr>
          <a:xfrm>
            <a:off x="94011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5" name="TextBox 254"/>
          <p:cNvSpPr txBox="1"/>
          <p:nvPr/>
        </p:nvSpPr>
        <p:spPr>
          <a:xfrm>
            <a:off x="95916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Chemicals and Agrochemicals</a:t>
            </a:r>
          </a:p>
        </p:txBody>
      </p:sp>
      <p:cxnSp>
        <p:nvCxnSpPr>
          <p:cNvPr id="256" name="Connector 255"/>
          <p:cNvCxnSpPr/>
          <p:nvPr/>
        </p:nvCxnSpPr>
        <p:spPr>
          <a:xfrm>
            <a:off x="9182100" y="5320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7" name="TextBox 256"/>
          <p:cNvSpPr txBox="1"/>
          <p:nvPr/>
        </p:nvSpPr>
        <p:spPr>
          <a:xfrm>
            <a:off x="9401175" y="5320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8" name="TextBox 257"/>
          <p:cNvSpPr txBox="1"/>
          <p:nvPr/>
        </p:nvSpPr>
        <p:spPr>
          <a:xfrm>
            <a:off x="9591675" y="53206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Electronics and Technical Products</a:t>
            </a:r>
          </a:p>
        </p:txBody>
      </p:sp>
      <p:sp>
        <p:nvSpPr>
          <p:cNvPr id="259" name="TextBox 2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Flexible Plastic Packaging Market profiled and benchmarked in the Competition Assessment section.</a:t>
            </a:r>
          </a:p>
        </p:txBody>
      </p:sp>
      <p:sp>
        <p:nvSpPr>
          <p:cNvPr id="11" name="Rectangle 10"/>
          <p:cNvSpPr/>
          <p:nvPr/>
        </p:nvSpPr>
        <p:spPr>
          <a:xfrm>
            <a:off x="142875"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A</a:t>
            </a:r>
          </a:p>
        </p:txBody>
      </p:sp>
      <p:sp>
        <p:nvSpPr>
          <p:cNvPr id="16" name="Rectangle 15"/>
          <p:cNvSpPr/>
          <p:nvPr/>
        </p:nvSpPr>
        <p:spPr>
          <a:xfrm>
            <a:off x="152400"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B</a:t>
            </a:r>
          </a:p>
        </p:txBody>
      </p:sp>
      <p:cxnSp>
        <p:nvCxnSpPr>
          <p:cNvPr id="20" name="Connector 19"/>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C</a:t>
            </a:r>
          </a:p>
        </p:txBody>
      </p:sp>
      <p:sp>
        <p:nvSpPr>
          <p:cNvPr id="23" name="Rectangle 22"/>
          <p:cNvSpPr/>
          <p:nvPr/>
        </p:nvSpPr>
        <p:spPr>
          <a:xfrm>
            <a:off x="152400"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D</a:t>
            </a:r>
          </a:p>
        </p:txBody>
      </p:sp>
      <p:sp>
        <p:nvSpPr>
          <p:cNvPr id="27" name="Rectangle 26"/>
          <p:cNvSpPr/>
          <p:nvPr/>
        </p:nvSpPr>
        <p:spPr>
          <a:xfrm>
            <a:off x="6191250"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191250"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191250"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30" name="TextBox 29"/>
          <p:cNvSpPr txBox="1"/>
          <p:nvPr/>
        </p:nvSpPr>
        <p:spPr>
          <a:xfrm>
            <a:off x="6381750"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1" name="TextBox 30"/>
          <p:cNvSpPr txBox="1"/>
          <p:nvPr/>
        </p:nvSpPr>
        <p:spPr>
          <a:xfrm>
            <a:off x="6629400"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E</a:t>
            </a:r>
          </a:p>
        </p:txBody>
      </p:sp>
      <p:sp>
        <p:nvSpPr>
          <p:cNvPr id="32" name="Rectangle 31"/>
          <p:cNvSpPr/>
          <p:nvPr/>
        </p:nvSpPr>
        <p:spPr>
          <a:xfrm>
            <a:off x="6200775"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3" name="Connector 32"/>
          <p:cNvCxnSpPr/>
          <p:nvPr/>
        </p:nvCxnSpPr>
        <p:spPr>
          <a:xfrm>
            <a:off x="6200775"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6381750"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5" name="TextBox 34"/>
          <p:cNvSpPr txBox="1"/>
          <p:nvPr/>
        </p:nvSpPr>
        <p:spPr>
          <a:xfrm>
            <a:off x="6629400"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F</a:t>
            </a:r>
          </a:p>
        </p:txBody>
      </p:sp>
      <p:cxnSp>
        <p:nvCxnSpPr>
          <p:cNvPr id="36" name="Connector 35"/>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6381750"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8" name="TextBox 37"/>
          <p:cNvSpPr txBox="1"/>
          <p:nvPr/>
        </p:nvSpPr>
        <p:spPr>
          <a:xfrm>
            <a:off x="6629400"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G</a:t>
            </a:r>
          </a:p>
        </p:txBody>
      </p:sp>
      <p:sp>
        <p:nvSpPr>
          <p:cNvPr id="39" name="Rectangle 38"/>
          <p:cNvSpPr/>
          <p:nvPr/>
        </p:nvSpPr>
        <p:spPr>
          <a:xfrm>
            <a:off x="6200775"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0" name="Connector 39"/>
          <p:cNvCxnSpPr/>
          <p:nvPr/>
        </p:nvCxnSpPr>
        <p:spPr>
          <a:xfrm>
            <a:off x="6200775"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6381750"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2" name="TextBox 41"/>
          <p:cNvSpPr txBox="1"/>
          <p:nvPr/>
        </p:nvSpPr>
        <p:spPr>
          <a:xfrm>
            <a:off x="6629400"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H</a:t>
            </a:r>
          </a:p>
        </p:txBody>
      </p:sp>
      <p:sp>
        <p:nvSpPr>
          <p:cNvPr id="43" name="TextBox 42"/>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94500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2249805"/>
            <a:ext cx="7239000" cy="971550"/>
          </a:xfrm>
          <a:prstGeom prst="rect">
            <a:avLst/>
          </a:prstGeom>
          <a:noFill/>
        </p:spPr>
        <p:txBody>
          <a:bodyPr wrap="square" lIns="0" rIns="0" tIns="0">
            <a:spAutoFit/>
          </a:bodyPr>
          <a:lstStyle/>
          <a:p>
            <a:r>
              <a:rPr sz="3000" b="1" cap="all" spc="400">
                <a:solidFill>
                  <a:srgbClr val="FFFFFF"/>
                </a:solidFill>
                <a:latin typeface="Calibri"/>
              </a:rPr>
              <a:t>East Asia Market Outlook</a:t>
            </a:r>
          </a:p>
        </p:txBody>
      </p:sp>
      <p:sp>
        <p:nvSpPr>
          <p:cNvPr id="7" name="TextBox 6"/>
          <p:cNvSpPr txBox="1"/>
          <p:nvPr/>
        </p:nvSpPr>
        <p:spPr>
          <a:xfrm>
            <a:off x="914400" y="3411855"/>
            <a:ext cx="7124700" cy="29298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East Asia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East Asia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East Asia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Principal Material / Barrier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Barrier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Barrier Level Vs Application</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East Asia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Summary, By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East Asia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(THOUSAND MT)</a:t>
            </a:r>
          </a:p>
          <a:p>
            <a:pPr algn="ctr">
              <a:lnSpc>
                <a:spcPct val="95000"/>
              </a:lnSpc>
            </a:pPr>
            <a:r>
              <a:rPr sz="1500" b="1">
                <a:solidFill>
                  <a:srgbClr val="0E72AE"/>
                </a:solidFill>
                <a:latin typeface="Calibri"/>
              </a:rPr>
              <a:t>12,163</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19,847</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4.0%</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5.0%</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(Thousand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East Asia flexible plastic packaging market is projected to register 1.7X increase in volume by the end of forecast period, 2036. East Asia flexible plastic packaging market volume stood at 11,656 Thousand MT in 2025 and is expected to reach 19,847 Thousand MT by 2036 end, at a CAGR of 5.0%.</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Korea' leads regional growth at 6.0%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'Rollstock Films'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2,050</a:t>
            </a:r>
          </a:p>
        </p:txBody>
      </p:sp>
      <p:sp>
        <p:nvSpPr>
          <p:cNvPr id="25"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3,564</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5,077</a:t>
            </a:r>
          </a:p>
        </p:txBody>
      </p:sp>
      <p:cxnSp>
        <p:nvCxnSpPr>
          <p:cNvPr id="27" name="Connector 26"/>
          <p:cNvCxnSpPr/>
          <p:nvPr/>
        </p:nvCxnSpPr>
        <p:spPr>
          <a:xfrm flipV="1">
            <a:off x="1533525" y="2608756"/>
            <a:ext cx="0" cy="26923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87798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60875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718788"/>
            <a:ext cx="438150" cy="14001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80226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45635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2,909</a:t>
            </a:r>
          </a:p>
        </p:txBody>
      </p:sp>
      <p:cxnSp>
        <p:nvCxnSpPr>
          <p:cNvPr id="33" name="Connector 32"/>
          <p:cNvCxnSpPr/>
          <p:nvPr/>
        </p:nvCxnSpPr>
        <p:spPr>
          <a:xfrm flipV="1">
            <a:off x="3286125" y="1670329"/>
            <a:ext cx="0" cy="47944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14977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1853803"/>
            <a:ext cx="438150" cy="24374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199417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4,208</a:t>
            </a:r>
          </a:p>
        </p:txBody>
      </p:sp>
      <p:cxnSp>
        <p:nvCxnSpPr>
          <p:cNvPr id="39" name="Connector 38"/>
          <p:cNvCxnSpPr/>
          <p:nvPr/>
        </p:nvCxnSpPr>
        <p:spPr>
          <a:xfrm flipV="1">
            <a:off x="5038725" y="2760729"/>
            <a:ext cx="0" cy="27850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303923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27607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2872562"/>
            <a:ext cx="438150" cy="144184"/>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295800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26083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2,659</a:t>
            </a:r>
          </a:p>
        </p:txBody>
      </p:sp>
      <p:cxnSp>
        <p:nvCxnSpPr>
          <p:cNvPr id="45" name="Connector 44"/>
          <p:cNvCxnSpPr/>
          <p:nvPr/>
        </p:nvCxnSpPr>
        <p:spPr>
          <a:xfrm flipV="1">
            <a:off x="6791325" y="2955362"/>
            <a:ext cx="0" cy="16419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95536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3023440"/>
            <a:ext cx="438150" cy="8403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7376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802962"/>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2,473</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Rollstock Films</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Barrier Casings</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Premade Pouches &amp; Bags</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Sachets &amp; Stick Packs</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East Asia  ·  2026–2036</a:t>
            </a:r>
          </a:p>
        </p:txBody>
      </p:sp>
      <p:cxnSp>
        <p:nvCxnSpPr>
          <p:cNvPr id="57" name="Connector 56"/>
          <p:cNvCxnSpPr/>
          <p:nvPr/>
        </p:nvCxnSpPr>
        <p:spPr>
          <a:xfrm>
            <a:off x="619125" y="432669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5990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62632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605953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26695"/>
            <a:ext cx="0" cy="1732841"/>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2669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5990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62632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605953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219075" y="4260020"/>
            <a:ext cx="361950" cy="133350"/>
          </a:xfrm>
          <a:prstGeom prst="rect">
            <a:avLst/>
          </a:prstGeom>
          <a:noFill/>
        </p:spPr>
        <p:txBody>
          <a:bodyPr wrap="none" lIns="0" rIns="0" tIns="0" bIns="0" anchor="ctr">
            <a:spAutoFit/>
          </a:bodyPr>
          <a:lstStyle/>
          <a:p>
            <a:pPr algn="r"/>
            <a:r>
              <a:rPr sz="1100" b="0">
                <a:solidFill>
                  <a:srgbClr val="6C7A89"/>
                </a:solidFill>
                <a:latin typeface="Calibri"/>
              </a:rPr>
              <a:t>+24%</a:t>
            </a:r>
          </a:p>
        </p:txBody>
      </p:sp>
      <p:sp>
        <p:nvSpPr>
          <p:cNvPr id="69" name="FMI Scale tick"/>
          <p:cNvSpPr txBox="1"/>
          <p:nvPr/>
        </p:nvSpPr>
        <p:spPr>
          <a:xfrm>
            <a:off x="219075" y="4693230"/>
            <a:ext cx="361950" cy="133350"/>
          </a:xfrm>
          <a:prstGeom prst="rect">
            <a:avLst/>
          </a:prstGeom>
          <a:noFill/>
        </p:spPr>
        <p:txBody>
          <a:bodyPr wrap="none" lIns="0" rIns="0" tIns="0" bIns="0" anchor="ctr">
            <a:spAutoFit/>
          </a:bodyPr>
          <a:lstStyle/>
          <a:p>
            <a:pPr algn="r"/>
            <a:r>
              <a:rPr sz="1100" b="0">
                <a:solidFill>
                  <a:srgbClr val="6C7A89"/>
                </a:solidFill>
                <a:latin typeface="Calibri"/>
              </a:rPr>
              <a:t>+12%</a:t>
            </a:r>
          </a:p>
        </p:txBody>
      </p:sp>
      <p:sp>
        <p:nvSpPr>
          <p:cNvPr id="70"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East Asia</a:t>
            </a:r>
          </a:p>
        </p:txBody>
      </p:sp>
      <p:sp>
        <p:nvSpPr>
          <p:cNvPr id="71" name="FMI Scale tick"/>
          <p:cNvSpPr txBox="1"/>
          <p:nvPr/>
        </p:nvSpPr>
        <p:spPr>
          <a:xfrm>
            <a:off x="219075" y="5559651"/>
            <a:ext cx="361950" cy="133350"/>
          </a:xfrm>
          <a:prstGeom prst="rect">
            <a:avLst/>
          </a:prstGeom>
          <a:noFill/>
        </p:spPr>
        <p:txBody>
          <a:bodyPr wrap="none" lIns="0" rIns="0" tIns="0" bIns="0" anchor="ctr">
            <a:spAutoFit/>
          </a:bodyPr>
          <a:lstStyle/>
          <a:p>
            <a:pPr algn="r"/>
            <a:r>
              <a:rPr sz="1100" b="0">
                <a:solidFill>
                  <a:srgbClr val="6C7A89"/>
                </a:solidFill>
                <a:latin typeface="Calibri"/>
              </a:rPr>
              <a:t>-12%</a:t>
            </a:r>
          </a:p>
        </p:txBody>
      </p:sp>
      <p:sp>
        <p:nvSpPr>
          <p:cNvPr id="72" name="FMI Scale tick"/>
          <p:cNvSpPr txBox="1"/>
          <p:nvPr/>
        </p:nvSpPr>
        <p:spPr>
          <a:xfrm>
            <a:off x="219075" y="5992861"/>
            <a:ext cx="361950" cy="133350"/>
          </a:xfrm>
          <a:prstGeom prst="rect">
            <a:avLst/>
          </a:prstGeom>
          <a:noFill/>
        </p:spPr>
        <p:txBody>
          <a:bodyPr wrap="none" lIns="0" rIns="0" tIns="0" bIns="0" anchor="ctr">
            <a:spAutoFit/>
          </a:bodyPr>
          <a:lstStyle/>
          <a:p>
            <a:pPr algn="r"/>
            <a:r>
              <a:rPr sz="1100" b="0">
                <a:solidFill>
                  <a:srgbClr val="6C7A89"/>
                </a:solidFill>
                <a:latin typeface="Calibri"/>
              </a:rPr>
              <a:t>-24%</a:t>
            </a:r>
          </a:p>
        </p:txBody>
      </p:sp>
      <p:cxnSp>
        <p:nvCxnSpPr>
          <p:cNvPr id="73" name="Connector 72"/>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565275" y="5193116"/>
            <a:ext cx="457200" cy="244281"/>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5446922"/>
            <a:ext cx="2349500" cy="133350"/>
          </a:xfrm>
          <a:prstGeom prst="rect">
            <a:avLst/>
          </a:prstGeom>
          <a:noFill/>
        </p:spPr>
        <p:txBody>
          <a:bodyPr wrap="square" lIns="28575" rIns="28575" tIns="9525" bIns="9525">
            <a:spAutoFit/>
          </a:bodyPr>
          <a:lstStyle/>
          <a:p>
            <a:pPr algn="ctr"/>
            <a:r>
              <a:rPr sz="1100" b="1">
                <a:solidFill>
                  <a:srgbClr val="2E2E2E"/>
                </a:solidFill>
                <a:latin typeface="Calibri"/>
              </a:rPr>
              <a:t>-6.7%</a:t>
            </a:r>
          </a:p>
        </p:txBody>
      </p:sp>
      <p:sp>
        <p:nvSpPr>
          <p:cNvPr id="76" name="Rectangle 75"/>
          <p:cNvSpPr/>
          <p:nvPr/>
        </p:nvSpPr>
        <p:spPr>
          <a:xfrm>
            <a:off x="3914775"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2968625" y="4294412"/>
            <a:ext cx="2349500" cy="133350"/>
          </a:xfrm>
          <a:prstGeom prst="rect">
            <a:avLst/>
          </a:prstGeom>
          <a:noFill/>
        </p:spPr>
        <p:txBody>
          <a:bodyPr wrap="square" lIns="28575" rIns="28575" tIns="9525" bIns="9525">
            <a:spAutoFit/>
          </a:bodyPr>
          <a:lstStyle/>
          <a:p>
            <a:pPr algn="ctr"/>
            <a:r>
              <a:rPr sz="1100" b="1">
                <a:solidFill>
                  <a:srgbClr val="2E2E2E"/>
                </a:solidFill>
                <a:latin typeface="Calibri"/>
              </a:rPr>
              <a:t>+20.8%</a:t>
            </a:r>
          </a:p>
        </p:txBody>
      </p:sp>
      <p:sp>
        <p:nvSpPr>
          <p:cNvPr id="78" name="Rectangle 77"/>
          <p:cNvSpPr/>
          <p:nvPr/>
        </p:nvSpPr>
        <p:spPr>
          <a:xfrm>
            <a:off x="6264275" y="4832863"/>
            <a:ext cx="457200" cy="36025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MI Data Label"/>
          <p:cNvSpPr txBox="1"/>
          <p:nvPr/>
        </p:nvSpPr>
        <p:spPr>
          <a:xfrm>
            <a:off x="5318125" y="4689988"/>
            <a:ext cx="2349500" cy="133350"/>
          </a:xfrm>
          <a:prstGeom prst="rect">
            <a:avLst/>
          </a:prstGeom>
          <a:noFill/>
        </p:spPr>
        <p:txBody>
          <a:bodyPr wrap="square" lIns="28575" rIns="28575" tIns="9525" bIns="9525">
            <a:spAutoFit/>
          </a:bodyPr>
          <a:lstStyle/>
          <a:p>
            <a:pPr algn="ctr"/>
            <a:r>
              <a:rPr sz="1100" b="1">
                <a:solidFill>
                  <a:srgbClr val="2E2E2E"/>
                </a:solidFill>
                <a:latin typeface="Calibri"/>
              </a:rPr>
              <a:t>+9.9%</a:t>
            </a:r>
          </a:p>
        </p:txBody>
      </p:sp>
      <p:sp>
        <p:nvSpPr>
          <p:cNvPr id="80" name="TextBox 79"/>
          <p:cNvSpPr txBox="1"/>
          <p:nvPr/>
        </p:nvSpPr>
        <p:spPr>
          <a:xfrm>
            <a:off x="619125" y="6242060"/>
            <a:ext cx="2349500" cy="247650"/>
          </a:xfrm>
          <a:prstGeom prst="rect">
            <a:avLst/>
          </a:prstGeom>
          <a:noFill/>
        </p:spPr>
        <p:txBody>
          <a:bodyPr wrap="square" lIns="28575" rIns="28575" tIns="9525" bIns="9525">
            <a:spAutoFit/>
          </a:bodyPr>
          <a:lstStyle/>
          <a:p>
            <a:pPr algn="ctr"/>
            <a:r>
              <a:rPr sz="1100" b="0">
                <a:solidFill>
                  <a:srgbClr val="2E2E2E"/>
                </a:solidFill>
                <a:latin typeface="Calibri"/>
              </a:rPr>
              <a:t>China</a:t>
            </a:r>
          </a:p>
        </p:txBody>
      </p:sp>
      <p:sp>
        <p:nvSpPr>
          <p:cNvPr id="81" name="TextBox 80"/>
          <p:cNvSpPr txBox="1"/>
          <p:nvPr/>
        </p:nvSpPr>
        <p:spPr>
          <a:xfrm>
            <a:off x="2968625" y="6242060"/>
            <a:ext cx="2349500" cy="247650"/>
          </a:xfrm>
          <a:prstGeom prst="rect">
            <a:avLst/>
          </a:prstGeom>
          <a:noFill/>
        </p:spPr>
        <p:txBody>
          <a:bodyPr wrap="square" lIns="28575" rIns="28575" tIns="9525" bIns="9525">
            <a:spAutoFit/>
          </a:bodyPr>
          <a:lstStyle/>
          <a:p>
            <a:pPr algn="ctr"/>
            <a:r>
              <a:rPr sz="1100" b="0">
                <a:solidFill>
                  <a:srgbClr val="2E2E2E"/>
                </a:solidFill>
                <a:latin typeface="Calibri"/>
              </a:rPr>
              <a:t>Japan</a:t>
            </a:r>
          </a:p>
        </p:txBody>
      </p:sp>
      <p:sp>
        <p:nvSpPr>
          <p:cNvPr id="82" name="TextBox 81"/>
          <p:cNvSpPr txBox="1"/>
          <p:nvPr/>
        </p:nvSpPr>
        <p:spPr>
          <a:xfrm>
            <a:off x="5318125" y="6242060"/>
            <a:ext cx="2349500" cy="247650"/>
          </a:xfrm>
          <a:prstGeom prst="rect">
            <a:avLst/>
          </a:prstGeom>
          <a:noFill/>
        </p:spPr>
        <p:txBody>
          <a:bodyPr wrap="square" lIns="28575" rIns="28575" tIns="9525" bIns="9525">
            <a:spAutoFit/>
          </a:bodyPr>
          <a:lstStyle/>
          <a:p>
            <a:pPr algn="ctr"/>
            <a:r>
              <a:rPr sz="1100" b="0">
                <a:solidFill>
                  <a:srgbClr val="2E2E2E"/>
                </a:solidFill>
                <a:latin typeface="Calibri"/>
              </a:rPr>
              <a:t>South Korea</a:t>
            </a:r>
          </a:p>
        </p:txBody>
      </p:sp>
      <p:sp>
        <p:nvSpPr>
          <p:cNvPr id="83" name="Rounded Rectangle 82"/>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5" name="Rectangle 84"/>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Barrier casings segment is expected to command the highest average price of US$ 4,728 per MT in 2036. Average selling price of flexible plastic packaging is estimated at US$ 2,801 per MT in 2025 and is projected to increase to US$ 3,211 per MT by 2036. Japan is the highest-priced country, while China is the most price-competitive market.</a:t>
            </a:r>
          </a:p>
          <a:p>
            <a:pPr algn="l">
              <a:lnSpc>
                <a:spcPct val="110000"/>
              </a:lnSpc>
              <a:spcBef>
                <a:spcPts val="0"/>
              </a:spcBef>
              <a:spcAft>
                <a:spcPts val="500"/>
              </a:spcAft>
            </a:pPr>
            <a:r>
              <a:rPr sz="1150" b="0">
                <a:solidFill>
                  <a:srgbClr val="2E2E2E"/>
                </a:solidFill>
                <a:latin typeface="Calibri"/>
              </a:rPr>
              <a:t>Against the East Asia price of 3,013 US$/MT, 2 of 3 countries price above and 1 below. 'Japan' is the dearest at +20.8% versus East Asia, 'China' the cheapest at -6.7% pointing to premiumisation headroom in the lower-priced countries.</a:t>
            </a:r>
          </a:p>
          <a:p>
            <a:pPr algn="l">
              <a:lnSpc>
                <a:spcPct val="110000"/>
              </a:lnSpc>
              <a:spcBef>
                <a:spcPts val="0"/>
              </a:spcBef>
              <a:spcAft>
                <a:spcPts val="500"/>
              </a:spcAft>
            </a:pPr>
            <a:r>
              <a:rPr sz="1150" b="0">
                <a:solidFill>
                  <a:srgbClr val="2E2E2E"/>
                </a:solidFill>
                <a:latin typeface="Calibri"/>
              </a:rPr>
              <a:t>East Asia's average price rises from US$2,823 to US$3,211 per MT because value grows at 6.4% against 5.0% volume, reflecting a mix shift toward high-barrier, mono-material and thinner engineered films in China, Japan and South Korea. Large local converting capacity in China keeps prices competitive, while Japan and South Korea demand premium specification for food and electronics packaging.</a:t>
            </a:r>
          </a:p>
        </p:txBody>
      </p:sp>
      <p:sp>
        <p:nvSpPr>
          <p:cNvPr id="87" name="TextBox 8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East Asia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34,334</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63,723</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4.3%</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6.4%</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046469"/>
          </a:xfrm>
          <a:prstGeom prst="roundRect">
            <a:avLst>
              <a:gd name="adj" fmla="val 25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560694"/>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Flexible plastic packaging market value in East Asia is expected to increase 2.0X between 2025 and 2036. In 2025, the flexible plastic packaging market in East Asia was valued at US$ 32,643 Mn and is estimated to account for US$ 34,334 Mn by the end of 2026, reflecting a Y-o-Y growth rate of 5.2%.</a:t>
            </a:r>
          </a:p>
          <a:p>
            <a:pPr algn="l">
              <a:lnSpc>
                <a:spcPct val="100000"/>
              </a:lnSpc>
              <a:spcBef>
                <a:spcPts val="0"/>
              </a:spcBef>
              <a:spcAft>
                <a:spcPts val="300"/>
              </a:spcAft>
            </a:pPr>
            <a:r>
              <a:rPr sz="1100" b="0">
                <a:solidFill>
                  <a:srgbClr val="2E2E2E"/>
                </a:solidFill>
                <a:latin typeface="Calibri"/>
              </a:rPr>
              <a:t>The market in East Asia is expected to account for US$ 63,723 Mn by 2036 at a CAGR of 6.4% over the forecast period. East Asia is expected to create an incremental opportunity of US$ 31,080 Mn for the overall flexible plastic packaging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US$ 1,691 Mn.</a:t>
            </a:r>
          </a:p>
        </p:txBody>
      </p:sp>
      <p:sp>
        <p:nvSpPr>
          <p:cNvPr id="25" name="Rounded Rectangle 24"/>
          <p:cNvSpPr/>
          <p:nvPr/>
        </p:nvSpPr>
        <p:spPr>
          <a:xfrm>
            <a:off x="7915275" y="4729117"/>
            <a:ext cx="4133850" cy="1827269"/>
          </a:xfrm>
          <a:prstGeom prst="roundRect">
            <a:avLst>
              <a:gd name="adj" fmla="val 41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814842"/>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05296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138692"/>
            <a:ext cx="3867150" cy="134149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Korea' leads regional growth at 7.3%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'Rollstock Films'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East Asia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4695825" cy="2466975"/>
          </a:xfrm>
          <a:prstGeom prst="roundRect">
            <a:avLst>
              <a:gd name="adj" fmla="val 308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2021–2025 (Historical)</a:t>
            </a:r>
          </a:p>
        </p:txBody>
      </p:sp>
      <p:graphicFrame>
        <p:nvGraphicFramePr>
          <p:cNvPr id="13" name="Chart 12"/>
          <p:cNvGraphicFramePr>
            <a:graphicFrameLocks noGrp="1"/>
          </p:cNvGraphicFramePr>
          <p:nvPr/>
        </p:nvGraphicFramePr>
        <p:xfrm>
          <a:off x="238125" y="1266825"/>
          <a:ext cx="4505325" cy="212407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466975"/>
          </a:xfrm>
          <a:prstGeom prst="roundRect">
            <a:avLst>
              <a:gd name="adj" fmla="val 308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2026–2036 (Forecast)</a:t>
            </a:r>
          </a:p>
        </p:txBody>
      </p:sp>
      <p:graphicFrame>
        <p:nvGraphicFramePr>
          <p:cNvPr id="16" name="Chart 15"/>
          <p:cNvGraphicFramePr>
            <a:graphicFrameLocks noGrp="1"/>
          </p:cNvGraphicFramePr>
          <p:nvPr/>
        </p:nvGraphicFramePr>
        <p:xfrm>
          <a:off x="5086350" y="1266825"/>
          <a:ext cx="6858000" cy="21240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581400"/>
            <a:ext cx="2514600" cy="6286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4.3%</a:t>
            </a:r>
          </a:p>
        </p:txBody>
      </p:sp>
      <p:sp>
        <p:nvSpPr>
          <p:cNvPr id="18" name="Rounded Rectangle 17"/>
          <p:cNvSpPr/>
          <p:nvPr/>
        </p:nvSpPr>
        <p:spPr>
          <a:xfrm>
            <a:off x="2809875" y="3581400"/>
            <a:ext cx="2514600" cy="6286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6.4%</a:t>
            </a:r>
          </a:p>
        </p:txBody>
      </p:sp>
      <p:sp>
        <p:nvSpPr>
          <p:cNvPr id="19" name="Rounded Rectangle 18"/>
          <p:cNvSpPr/>
          <p:nvPr/>
        </p:nvSpPr>
        <p:spPr>
          <a:xfrm>
            <a:off x="5476875" y="3581400"/>
            <a:ext cx="3200400" cy="6286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11,637 US$ Mn</a:t>
            </a:r>
          </a:p>
        </p:txBody>
      </p:sp>
      <p:sp>
        <p:nvSpPr>
          <p:cNvPr id="20" name="Rounded Rectangle 19"/>
          <p:cNvSpPr/>
          <p:nvPr/>
        </p:nvSpPr>
        <p:spPr>
          <a:xfrm>
            <a:off x="8829675" y="3581400"/>
            <a:ext cx="3200400" cy="6286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29,390 US$ Mn</a:t>
            </a:r>
          </a:p>
        </p:txBody>
      </p:sp>
      <p:sp>
        <p:nvSpPr>
          <p:cNvPr id="21" name="Rounded Rectangle 20"/>
          <p:cNvSpPr/>
          <p:nvPr/>
        </p:nvSpPr>
        <p:spPr>
          <a:xfrm>
            <a:off x="142875" y="4343400"/>
            <a:ext cx="11906250" cy="2276475"/>
          </a:xfrm>
          <a:prstGeom prst="roundRect">
            <a:avLst>
              <a:gd name="adj" fmla="val 3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29125"/>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Volume &amp; Value Analysis</a:t>
            </a:r>
          </a:p>
        </p:txBody>
      </p:sp>
      <p:sp>
        <p:nvSpPr>
          <p:cNvPr id="23" name="Rectangle 22"/>
          <p:cNvSpPr/>
          <p:nvPr/>
        </p:nvSpPr>
        <p:spPr>
          <a:xfrm>
            <a:off x="276225" y="4667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752975"/>
            <a:ext cx="11639550" cy="17907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Flexible plastic packaging market value in East Asia is expected to increase 2.0X between 2025 and 2036. In 2025, the flexible plastic packaging market in East Asia was valued at US$ 32,643 Mn and is estimated to account for US$ 34,334 Mn by the end of 2026, reflecting a Y-o-Y growth rate of 5.2%. The market in East Asia is expected to account for US$ 63,723 Mn by 2036 at a CAGR of 6.4% over the forecast period. East Asia is expected to create an incremental opportunity of US$ 31,080 Mn for the overall flexible plastic packaging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US$ 1,691 Mn. East Asia flexible plastic packaging market is projected to register 1.7X increase in volume by the end of forecast period, 2036. East Asia flexible plastic packaging market volume stood at 11,656 Thousand MT in 2025 and is expected to reach 19,847 Thousand MT by 2036 end, at a CAGR of 5.0%. Value is projected to grow faster than volume over the forecast period, owing to an increase in average selling price.</a:t>
            </a:r>
          </a:p>
          <a:p>
            <a:pPr algn="l">
              <a:lnSpc>
                <a:spcPct val="100000"/>
              </a:lnSpc>
              <a:spcBef>
                <a:spcPts val="0"/>
              </a:spcBef>
              <a:spcAft>
                <a:spcPts val="300"/>
              </a:spcAft>
            </a:pPr>
            <a:r>
              <a:rPr sz="1100" b="0">
                <a:solidFill>
                  <a:srgbClr val="2E2E2E"/>
                </a:solidFill>
                <a:latin typeface="Calibri"/>
              </a:rPr>
              <a:t>East Asia grows 6.4% in value and 5.0% in volume, accelerating from 4.3% and 4.0% in 2021-25, as China's food processing, e-commerce and cold-chain growth and South Korea's delivery culture outweigh Japan's mature demand. Value outpaces volume as average price rises from US$2,823 to US$3,211 per MT with a shift to high-barrier and mono-material structures.</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5" cy="2132070"/>
        </p:xfrm>
        <a:graphic>
          <a:graphicData uri="http://schemas.openxmlformats.org/drawingml/2006/table">
            <a:tbl>
              <a:tblPr>
                <a:tableStyleId>{5C22544A-7EE6-4342-B048-85BDC9FD1C3A}</a:tableStyleId>
              </a:tblPr>
              <a:tblGrid>
                <a:gridCol w="1009523"/>
                <a:gridCol w="971339"/>
                <a:gridCol w="662934"/>
                <a:gridCol w="1270979"/>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638935">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FFFFF"/>
                    </a:solidFill>
                  </a:tcPr>
                </a:tc>
              </a:tr>
              <a:tr h="638935">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19,845</a:t>
                      </a:r>
                      <a:endParaRPr sz="1100"/>
                    </a:p>
                  </a:txBody>
                  <a:tcPr marL="47625" marR="38100" marT="19050" marB="19050" anchor="ctr">
                    <a:solidFill>
                      <a:srgbClr val="F5F8FA"/>
                    </a:solidFill>
                  </a:tcPr>
                </a:tc>
              </a:tr>
              <a:tr h="638935">
                <a:tc>
                  <a:txBody>
                    <a:bodyPr wrap="none"/>
                    <a:lstStyle/>
                    <a:p>
                      <a:pPr algn="l"/>
                      <a:r>
                        <a:rPr sz="1100" b="1">
                          <a:solidFill>
                            <a:srgbClr val="2E2E2E"/>
                          </a:solidFill>
                          <a:latin typeface="Calibri"/>
                        </a:rPr>
                        <a:t>Japan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5,433</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59926"/>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42,522</a:t>
            </a:r>
          </a:p>
        </p:txBody>
      </p:sp>
      <p:sp>
        <p:nvSpPr>
          <p:cNvPr id="19" name="Rectangle 18"/>
          <p:cNvSpPr/>
          <p:nvPr/>
        </p:nvSpPr>
        <p:spPr>
          <a:xfrm>
            <a:off x="4210050" y="4352937"/>
            <a:ext cx="2313304" cy="1525673"/>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13,102</a:t>
            </a:r>
          </a:p>
        </p:txBody>
      </p:sp>
      <p:sp>
        <p:nvSpPr>
          <p:cNvPr id="20" name="Rectangle 19"/>
          <p:cNvSpPr/>
          <p:nvPr/>
        </p:nvSpPr>
        <p:spPr>
          <a:xfrm>
            <a:off x="6523354" y="4352937"/>
            <a:ext cx="1430021" cy="1525673"/>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Korea</a:t>
            </a:r>
          </a:p>
          <a:p>
            <a:pPr algn="ctr"/>
            <a:r>
              <a:rPr sz="1100" b="0">
                <a:solidFill>
                  <a:srgbClr val="FFFFFF"/>
                </a:solidFill>
                <a:latin typeface="Calibri"/>
              </a:rPr>
              <a:t>8,099</a:t>
            </a:r>
          </a:p>
        </p:txBody>
      </p:sp>
      <p:sp>
        <p:nvSpPr>
          <p:cNvPr id="21" name="Rounded Rectangle 20"/>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3" name="Chart 22"/>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4" name="Rounded Rectangle 23"/>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5" name="Table 24"/>
          <p:cNvGraphicFramePr>
            <a:graphicFrameLocks noGrp="1"/>
          </p:cNvGraphicFramePr>
          <p:nvPr/>
        </p:nvGraphicFramePr>
        <p:xfrm>
          <a:off x="8096250" y="3547710"/>
          <a:ext cx="3914775" cy="2159448"/>
        </p:xfrm>
        <a:graphic>
          <a:graphicData uri="http://schemas.openxmlformats.org/drawingml/2006/table">
            <a:tbl>
              <a:tblPr>
                <a:tableStyleId>{5C22544A-7EE6-4342-B048-85BDC9FD1C3A}</a:tableStyleId>
              </a:tblPr>
              <a:tblGrid>
                <a:gridCol w="951003"/>
                <a:gridCol w="1141964"/>
                <a:gridCol w="624505"/>
                <a:gridCol w="1197303"/>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648061">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19,845</a:t>
                      </a:r>
                      <a:endParaRPr sz="1100"/>
                    </a:p>
                  </a:txBody>
                  <a:tcPr marL="47625" marR="38100" marT="19050" marB="19050" anchor="ctr">
                    <a:solidFill>
                      <a:srgbClr val="FFFFFF"/>
                    </a:solidFill>
                  </a:tcPr>
                </a:tc>
              </a:tr>
              <a:tr h="648061">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5,433</a:t>
                      </a:r>
                      <a:endParaRPr sz="1100"/>
                    </a:p>
                  </a:txBody>
                  <a:tcPr marL="47625" marR="38100" marT="19050" marB="19050" anchor="ctr">
                    <a:solidFill>
                      <a:srgbClr val="F5F8FA"/>
                    </a:solidFill>
                  </a:tcPr>
                </a:tc>
              </a:tr>
              <a:tr h="648061">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FFFFF"/>
                    </a:solidFill>
                  </a:tcPr>
                </a:tc>
              </a:tr>
            </a:tbl>
          </a:graphicData>
        </a:graphic>
      </p:graphicFrame>
      <p:sp>
        <p:nvSpPr>
          <p:cNvPr id="26" name="TextBox 25"/>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7" name="Rounded Rectangle 26"/>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China flexible plastic packaging market is projected to register 3.2X higher value than Japan in 2036. South Korea posts the highest CAGR Index (115), growing at 7.3% against the East Asia benchmark, while China offers the largest absolute opportunity 19,845 US$ Mn of incremental market between 2026 and 2036 (68% of the East Asia increment).</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flexible plastic packaging market is expected to witness 2.0X increase in revenue by 2036 end. Global flexible plastic packaging market accounted for US$ 32,643 Mn in 2025, which is expected to increase to US$ 63,723 Mn in 2036 at a CAGR of 6.4%.</a:t>
            </a:r>
          </a:p>
          <a:p>
            <a:pPr algn="l">
              <a:lnSpc>
                <a:spcPct val="110000"/>
              </a:lnSpc>
              <a:spcBef>
                <a:spcPts val="0"/>
              </a:spcBef>
              <a:spcAft>
                <a:spcPts val="500"/>
              </a:spcAft>
            </a:pPr>
            <a:r>
              <a:rPr sz="1150" b="0">
                <a:solidFill>
                  <a:srgbClr val="2E2E2E"/>
                </a:solidFill>
                <a:latin typeface="Calibri"/>
              </a:rPr>
              <a:t>The global flexible plastic packaging market has been analysed on the basis of product type, principal material / barrier technology, material structure and barrier level across the globe. China is expected to remain the largest market for flexible plastic packaging, while demand in South Korea is projected to increase at the highest CAGR of 7.3%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consolidated: the leading product type category 'Rollstock Films' holds 53.7%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3 countries and 6 segmentation lenses (4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China is the largest country market at 66.7%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'Barrier Casings' (6.6%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South Korea (7.3%).</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Food Packaging within application (6.4%).</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'Sachets &amp; Stick Packs' (5.8%).</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6.4%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'Rollstock Films'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'Barrier Casings'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Korea outpacing the East Asia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'Barrier Casings' and South Korea.</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China and South Korea.</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2026 size 34,334 US$ Mn; 2036 63,723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Forecast CAGR 6.4% (2026–2036).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category 'Rollstock Films' 53.7% of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country China 66.7%.</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Incremental opportunity 29,390 US$ Mn.</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Investment is flowing toward the fastest-growing tier 'Barrier Casings' (6.6%).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Korea (7.3%) is a priority country for new capacity.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Scale players anchor around 'Rollstock Films' (53.7% share).</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R&amp;D aligns with the migration to 'Barrier Casings' and adjacent premium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Development spend targets product type categories gaining share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Innovation underpins the 6.4% forecast CAGR.</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'Rollstock Films' with targeted growth in 'Barrier Casings', pursuing the 6.4% CAGR trajectory to 2036.</a:t>
            </a:r>
          </a:p>
        </p:txBody>
      </p:sp>
      <p:sp>
        <p:nvSpPr>
          <p:cNvPr id="14" name="Rounded Rectangle 13"/>
          <p:cNvSpPr/>
          <p:nvPr/>
        </p:nvSpPr>
        <p:spPr>
          <a:xfrm>
            <a:off x="6172200"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'Barrier Casings' tier and Food Packaging within application.</a:t>
            </a:r>
          </a:p>
        </p:txBody>
      </p:sp>
      <p:sp>
        <p:nvSpPr>
          <p:cNvPr id="18" name="Rounded Rectangle 17"/>
          <p:cNvSpPr/>
          <p:nvPr/>
        </p:nvSpPr>
        <p:spPr>
          <a:xfrm>
            <a:off x="142875"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'Barrier Casings' (6.6%); 'Rollstock Films' anchors 53.7% of value.</a:t>
            </a:r>
          </a:p>
        </p:txBody>
      </p:sp>
      <p:sp>
        <p:nvSpPr>
          <p:cNvPr id="22" name="Rounded Rectangle 21"/>
          <p:cNvSpPr/>
          <p:nvPr/>
        </p:nvSpPr>
        <p:spPr>
          <a:xfrm>
            <a:off x="6172200"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China (66.7%); capture upside in South Korea (7.3%).</a:t>
            </a:r>
          </a:p>
        </p:txBody>
      </p:sp>
      <p:sp>
        <p:nvSpPr>
          <p:cNvPr id="26" name="Rounded Rectangle 25"/>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Flexible Plastic Packaging adds 29,390 US$ Mn of demand to 2036 a 1.9× expansion.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'Rollstock Films' as the value anchor of the portfolio.</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74,856 US$ Mn</a:t>
            </a:r>
          </a:p>
          <a:p>
            <a:pPr algn="ctr">
              <a:lnSpc>
                <a:spcPct val="95000"/>
              </a:lnSpc>
            </a:pPr>
            <a:r>
              <a:rPr sz="1100" b="0">
                <a:solidFill>
                  <a:srgbClr val="6C7A89"/>
                </a:solidFill>
                <a:latin typeface="Calibri"/>
              </a:rPr>
              <a:t>CAGR 7.8%</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63,723 US$ Mn</a:t>
            </a:r>
          </a:p>
          <a:p>
            <a:pPr algn="ctr">
              <a:lnSpc>
                <a:spcPct val="95000"/>
              </a:lnSpc>
            </a:pPr>
            <a:r>
              <a:rPr sz="1100" b="0">
                <a:solidFill>
                  <a:srgbClr val="6C7A89"/>
                </a:solidFill>
                <a:latin typeface="Calibri"/>
              </a:rPr>
              <a:t>CAGR 6.4%</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54,116 US$ Mn</a:t>
            </a:r>
          </a:p>
          <a:p>
            <a:pPr algn="ctr">
              <a:lnSpc>
                <a:spcPct val="95000"/>
              </a:lnSpc>
            </a:pPr>
            <a:r>
              <a:rPr sz="1100" b="0">
                <a:solidFill>
                  <a:srgbClr val="6C7A89"/>
                </a:solidFill>
                <a:latin typeface="Calibri"/>
              </a:rPr>
              <a:t>CAGR 4.7%</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Flexible Plastic Packaging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563881"/>
            <a:ext cx="635826" cy="741419"/>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76171"/>
            <a:ext cx="635826" cy="1229129"/>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57950"/>
            <a:ext cx="635826" cy="1447350"/>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5088"/>
            <a:ext cx="635826" cy="1700212"/>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42821"/>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38046"/>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4.7%</a:t>
            </a:r>
          </a:p>
        </p:txBody>
      </p:sp>
      <p:cxnSp>
        <p:nvCxnSpPr>
          <p:cNvPr id="22" name="Connector 21"/>
          <p:cNvCxnSpPr/>
          <p:nvPr/>
        </p:nvCxnSpPr>
        <p:spPr>
          <a:xfrm>
            <a:off x="1456468" y="2685646"/>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80871"/>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6.4%</a:t>
            </a:r>
          </a:p>
        </p:txBody>
      </p:sp>
      <p:cxnSp>
        <p:nvCxnSpPr>
          <p:cNvPr id="24" name="Connector 23"/>
          <p:cNvCxnSpPr/>
          <p:nvPr/>
        </p:nvCxnSpPr>
        <p:spPr>
          <a:xfrm>
            <a:off x="1456468" y="2428471"/>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23696"/>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7.8%</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Flexible Plastic Packaging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74,856 US$ Mn by 2036 at 7.8%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63,723 US$ Mn at 6.4%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54,116 US$ Mn at 4.7%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±25% across the 2026–2036 horizon.</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East Asia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East Asia Flexible Plastic Packaging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3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East Asia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China</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22,677</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42,522</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6.5%</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Japan</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7,669</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13,102</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5.5%</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Korea</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3,988</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8,099</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7.3%</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China flexible plastic packaging market is projected to register 3.2X higher value than Japan in 2036. Among flexible plastic packaging by country, South Korea is expected to witness the highest CAGR of 7.3% over the forecast period.</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In terms of value share by country, China is expected to dominate the market, gaining 68 BPS and accounting for 66.7% share by 2036. Japan is expected to lose 178 BPS over the forecast period to account for 20.6% share by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China: </a:t>
            </a:r>
            <a:r>
              <a:rPr sz="1100" b="0">
                <a:solidFill>
                  <a:srgbClr val="2E2E2E"/>
                </a:solidFill>
                <a:latin typeface="Calibri"/>
              </a:rPr>
              <a:t>66% of 2026 value · 6.5%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Japan: </a:t>
            </a:r>
            <a:r>
              <a:rPr sz="1100" b="0">
                <a:solidFill>
                  <a:srgbClr val="2E2E2E"/>
                </a:solidFill>
                <a:latin typeface="Calibri"/>
              </a:rPr>
              <a:t>22% of 2026 value · 5.5%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South Korea: </a:t>
            </a:r>
            <a:r>
              <a:rPr sz="1100" b="0">
                <a:solidFill>
                  <a:srgbClr val="2E2E2E"/>
                </a:solidFill>
                <a:latin typeface="Calibri"/>
              </a:rPr>
              <a:t>12% of 2026 value · 7.3% CAGR grows fastest.</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East Asia market is projected to grow at a CAGR of 6.4%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Analysis, By Country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7517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67040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9420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Korea</a:t>
            </a:r>
          </a:p>
        </p:txBody>
      </p:sp>
      <p:sp>
        <p:nvSpPr>
          <p:cNvPr id="19" name="BPS Value 1"/>
          <p:cNvSpPr txBox="1"/>
          <p:nvPr/>
        </p:nvSpPr>
        <p:spPr>
          <a:xfrm>
            <a:off x="6305550" y="1656122"/>
            <a:ext cx="514350" cy="123825"/>
          </a:xfrm>
          <a:prstGeom prst="rect">
            <a:avLst/>
          </a:prstGeom>
          <a:noFill/>
        </p:spPr>
        <p:txBody>
          <a:bodyPr wrap="none" lIns="0" rIns="0" tIns="0" bIns="0" anchor="ctr">
            <a:spAutoFit/>
          </a:bodyPr>
          <a:lstStyle/>
          <a:p>
            <a:pPr algn="r"/>
            <a:r>
              <a:rPr sz="900" b="1">
                <a:solidFill>
                  <a:srgbClr val="2E7D32"/>
                </a:solidFill>
                <a:latin typeface="Calibri"/>
              </a:rPr>
              <a:t>+108</a:t>
            </a:r>
          </a:p>
        </p:txBody>
      </p:sp>
      <p:sp>
        <p:nvSpPr>
          <p:cNvPr id="20" name="FMI Legend Chip"/>
          <p:cNvSpPr/>
          <p:nvPr/>
        </p:nvSpPr>
        <p:spPr>
          <a:xfrm>
            <a:off x="4551045" y="220168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219692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212072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Japan</a:t>
            </a:r>
          </a:p>
        </p:txBody>
      </p:sp>
      <p:sp>
        <p:nvSpPr>
          <p:cNvPr id="23" name="BPS Value 2"/>
          <p:cNvSpPr txBox="1"/>
          <p:nvPr/>
        </p:nvSpPr>
        <p:spPr>
          <a:xfrm>
            <a:off x="6305550" y="2182636"/>
            <a:ext cx="514350" cy="123825"/>
          </a:xfrm>
          <a:prstGeom prst="rect">
            <a:avLst/>
          </a:prstGeom>
          <a:noFill/>
        </p:spPr>
        <p:txBody>
          <a:bodyPr wrap="none" lIns="0" rIns="0" tIns="0" bIns="0" anchor="ctr">
            <a:spAutoFit/>
          </a:bodyPr>
          <a:lstStyle/>
          <a:p>
            <a:pPr algn="r"/>
            <a:r>
              <a:rPr sz="900" b="1">
                <a:solidFill>
                  <a:srgbClr val="E44D3A"/>
                </a:solidFill>
                <a:latin typeface="Calibri"/>
              </a:rPr>
              <a:t>-130</a:t>
            </a:r>
          </a:p>
        </p:txBody>
      </p:sp>
      <p:sp>
        <p:nvSpPr>
          <p:cNvPr id="24" name="FMI Legend Chip"/>
          <p:cNvSpPr/>
          <p:nvPr/>
        </p:nvSpPr>
        <p:spPr>
          <a:xfrm>
            <a:off x="4551045" y="382216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381740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374120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China</a:t>
            </a:r>
          </a:p>
        </p:txBody>
      </p:sp>
      <p:sp>
        <p:nvSpPr>
          <p:cNvPr id="27" name="BPS Value 3"/>
          <p:cNvSpPr txBox="1"/>
          <p:nvPr/>
        </p:nvSpPr>
        <p:spPr>
          <a:xfrm>
            <a:off x="6305550" y="3803114"/>
            <a:ext cx="514350" cy="123825"/>
          </a:xfrm>
          <a:prstGeom prst="rect">
            <a:avLst/>
          </a:prstGeom>
          <a:noFill/>
        </p:spPr>
        <p:txBody>
          <a:bodyPr wrap="none" lIns="0" rIns="0" tIns="0" bIns="0" anchor="ctr">
            <a:spAutoFit/>
          </a:bodyPr>
          <a:lstStyle/>
          <a:p>
            <a:pPr algn="r"/>
            <a:r>
              <a:rPr sz="900" b="1">
                <a:solidFill>
                  <a:srgbClr val="2E7D32"/>
                </a:solidFill>
                <a:latin typeface="Calibri"/>
              </a:rPr>
              <a:t>+22</a:t>
            </a:r>
          </a:p>
        </p:txBody>
      </p:sp>
      <p:sp>
        <p:nvSpPr>
          <p:cNvPr id="28" name="Rounded Rectangle 27"/>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30" name="Rectangle 29"/>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China flexible plastic packaging market is projected to register 4.2X higher volume than Japan in 2036. Among flexible plastic packaging by country, South Korea is expected to witness the highest CAGR of 6.0% over the forecast period.</a:t>
            </a:r>
          </a:p>
          <a:p>
            <a:pPr algn="l">
              <a:lnSpc>
                <a:spcPct val="110000"/>
              </a:lnSpc>
              <a:spcBef>
                <a:spcPts val="0"/>
              </a:spcBef>
              <a:spcAft>
                <a:spcPts val="500"/>
              </a:spcAft>
            </a:pPr>
            <a:r>
              <a:rPr sz="1150" b="0">
                <a:solidFill>
                  <a:srgbClr val="2E2E2E"/>
                </a:solidFill>
                <a:latin typeface="Calibri"/>
              </a:rPr>
              <a:t>In terms of volume share by country, China is expected to dominate the market, gaining 22 BPS and accounting for 71.3% share by 2036. Japan is expected to lose 130 BPS over the forecast period to account for 17.1% share by 2036.</a:t>
            </a:r>
          </a:p>
          <a:p>
            <a:pPr algn="l">
              <a:lnSpc>
                <a:spcPct val="110000"/>
              </a:lnSpc>
              <a:spcBef>
                <a:spcPts val="0"/>
              </a:spcBef>
              <a:spcAft>
                <a:spcPts val="500"/>
              </a:spcAft>
            </a:pPr>
            <a:r>
              <a:rPr sz="1150" b="0">
                <a:solidFill>
                  <a:srgbClr val="2E2E2E"/>
                </a:solidFill>
                <a:latin typeface="Calibri"/>
              </a:rPr>
              <a:t>South Korea grows fastest at 6.0% in volume against 5.0% for East Asia, gaining 108 BPS of share. Strong food delivery and e-commerce penetration, rapid growth in ready meals and single-person households, and a sophisticated converting sector drive demand for pouches and barrier films. Japan loses 130 BPS at 4.2% as its ageing population and mature market limit volume, while China holds near flat.</a:t>
            </a:r>
          </a:p>
        </p:txBody>
      </p:sp>
      <p:sp>
        <p:nvSpPr>
          <p:cNvPr id="32" name="Rounded Rectangle 31"/>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(THOUSAND MT)</a:t>
            </a:r>
          </a:p>
          <a:p>
            <a:pPr algn="ctr">
              <a:lnSpc>
                <a:spcPct val="95000"/>
              </a:lnSpc>
            </a:pPr>
            <a:r>
              <a:rPr sz="2000" b="1">
                <a:solidFill>
                  <a:srgbClr val="0E72AE"/>
                </a:solidFill>
                <a:latin typeface="Calibri"/>
              </a:rPr>
              <a:t>12,163</a:t>
            </a:r>
          </a:p>
        </p:txBody>
      </p:sp>
      <p:sp>
        <p:nvSpPr>
          <p:cNvPr id="33" name="Rounded Rectangle 32"/>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(THOUSAND MT)</a:t>
            </a:r>
          </a:p>
          <a:p>
            <a:pPr algn="ctr">
              <a:lnSpc>
                <a:spcPct val="95000"/>
              </a:lnSpc>
            </a:pPr>
            <a:r>
              <a:rPr sz="2000" b="1">
                <a:solidFill>
                  <a:srgbClr val="0E72AE"/>
                </a:solidFill>
                <a:latin typeface="Calibri"/>
              </a:rPr>
              <a:t>19,847</a:t>
            </a:r>
          </a:p>
        </p:txBody>
      </p:sp>
      <p:sp>
        <p:nvSpPr>
          <p:cNvPr id="34" name="Rounded Rectangle 33"/>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5.0%</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9513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69037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61417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Korea</a:t>
            </a:r>
          </a:p>
        </p:txBody>
      </p:sp>
      <p:sp>
        <p:nvSpPr>
          <p:cNvPr id="19" name="BPS Value 1"/>
          <p:cNvSpPr txBox="1"/>
          <p:nvPr/>
        </p:nvSpPr>
        <p:spPr>
          <a:xfrm>
            <a:off x="6305550" y="1676086"/>
            <a:ext cx="514350" cy="123825"/>
          </a:xfrm>
          <a:prstGeom prst="rect">
            <a:avLst/>
          </a:prstGeom>
          <a:noFill/>
        </p:spPr>
        <p:txBody>
          <a:bodyPr wrap="none" lIns="0" rIns="0" tIns="0" bIns="0" anchor="ctr">
            <a:spAutoFit/>
          </a:bodyPr>
          <a:lstStyle/>
          <a:p>
            <a:pPr algn="r"/>
            <a:r>
              <a:rPr sz="900" b="1">
                <a:solidFill>
                  <a:srgbClr val="2E7D32"/>
                </a:solidFill>
                <a:latin typeface="Calibri"/>
              </a:rPr>
              <a:t>+109</a:t>
            </a:r>
          </a:p>
        </p:txBody>
      </p:sp>
      <p:sp>
        <p:nvSpPr>
          <p:cNvPr id="20" name="FMI Legend Chip"/>
          <p:cNvSpPr/>
          <p:nvPr/>
        </p:nvSpPr>
        <p:spPr>
          <a:xfrm>
            <a:off x="4551045" y="230518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23004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222421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Japan</a:t>
            </a:r>
          </a:p>
        </p:txBody>
      </p:sp>
      <p:sp>
        <p:nvSpPr>
          <p:cNvPr id="23" name="BPS Value 2"/>
          <p:cNvSpPr txBox="1"/>
          <p:nvPr/>
        </p:nvSpPr>
        <p:spPr>
          <a:xfrm>
            <a:off x="6305550" y="2286130"/>
            <a:ext cx="514350" cy="123825"/>
          </a:xfrm>
          <a:prstGeom prst="rect">
            <a:avLst/>
          </a:prstGeom>
          <a:noFill/>
        </p:spPr>
        <p:txBody>
          <a:bodyPr wrap="none" lIns="0" rIns="0" tIns="0" bIns="0" anchor="ctr">
            <a:spAutoFit/>
          </a:bodyPr>
          <a:lstStyle/>
          <a:p>
            <a:pPr algn="r"/>
            <a:r>
              <a:rPr sz="900" b="1">
                <a:solidFill>
                  <a:srgbClr val="E44D3A"/>
                </a:solidFill>
                <a:latin typeface="Calibri"/>
              </a:rPr>
              <a:t>-178</a:t>
            </a:r>
          </a:p>
        </p:txBody>
      </p:sp>
      <p:sp>
        <p:nvSpPr>
          <p:cNvPr id="24" name="FMI Legend Chip"/>
          <p:cNvSpPr/>
          <p:nvPr/>
        </p:nvSpPr>
        <p:spPr>
          <a:xfrm>
            <a:off x="4551045" y="390569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390093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382473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China</a:t>
            </a:r>
          </a:p>
        </p:txBody>
      </p:sp>
      <p:sp>
        <p:nvSpPr>
          <p:cNvPr id="27" name="BPS Value 3"/>
          <p:cNvSpPr txBox="1"/>
          <p:nvPr/>
        </p:nvSpPr>
        <p:spPr>
          <a:xfrm>
            <a:off x="6305550" y="3886644"/>
            <a:ext cx="514350" cy="123825"/>
          </a:xfrm>
          <a:prstGeom prst="rect">
            <a:avLst/>
          </a:prstGeom>
          <a:noFill/>
        </p:spPr>
        <p:txBody>
          <a:bodyPr wrap="none" lIns="0" rIns="0" tIns="0" bIns="0" anchor="ctr">
            <a:spAutoFit/>
          </a:bodyPr>
          <a:lstStyle/>
          <a:p>
            <a:pPr algn="r"/>
            <a:r>
              <a:rPr sz="900" b="1">
                <a:solidFill>
                  <a:srgbClr val="2E7D32"/>
                </a:solidFill>
                <a:latin typeface="Calibri"/>
              </a:rPr>
              <a:t>+68</a:t>
            </a:r>
          </a:p>
        </p:txBody>
      </p:sp>
      <p:sp>
        <p:nvSpPr>
          <p:cNvPr id="28" name="Rounded Rectangle 27"/>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30" name="Rectangle 29"/>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China flexible plastic packaging market is projected to register 3.2X higher value than Japan in 2036. Among flexible plastic packaging by country, South Korea is expected to witness the highest CAGR of 7.3% over the forecast period.</a:t>
            </a:r>
          </a:p>
          <a:p>
            <a:pPr algn="l">
              <a:lnSpc>
                <a:spcPct val="110000"/>
              </a:lnSpc>
              <a:spcBef>
                <a:spcPts val="0"/>
              </a:spcBef>
              <a:spcAft>
                <a:spcPts val="500"/>
              </a:spcAft>
            </a:pPr>
            <a:r>
              <a:rPr sz="1150" b="0">
                <a:solidFill>
                  <a:srgbClr val="2E2E2E"/>
                </a:solidFill>
                <a:latin typeface="Calibri"/>
              </a:rPr>
              <a:t>In terms of value share by country, China is expected to dominate the market, gaining 68 BPS and accounting for 66.7% share by 2036. Japan is expected to lose 178 BPS over the forecast period to account for 20.6% share by 2036.</a:t>
            </a:r>
          </a:p>
          <a:p>
            <a:pPr algn="l">
              <a:lnSpc>
                <a:spcPct val="110000"/>
              </a:lnSpc>
              <a:spcBef>
                <a:spcPts val="0"/>
              </a:spcBef>
              <a:spcAft>
                <a:spcPts val="500"/>
              </a:spcAft>
            </a:pPr>
            <a:r>
              <a:rPr sz="1150" b="0">
                <a:solidFill>
                  <a:srgbClr val="2E2E2E"/>
                </a:solidFill>
                <a:latin typeface="Calibri"/>
              </a:rPr>
              <a:t>South Korea grows fastest at 7.3% because premium ready meals, strong e-commerce and delivery culture and advanced barrier-film adoption raise packaging intensity, whereas China at 6.5% is large and moving to higher-value formats on scale-driven local converting capacity. Japan trails at 5.5% as an ageing, saturated market where gains come from price and mix rather than volume.</a:t>
            </a:r>
          </a:p>
        </p:txBody>
      </p:sp>
      <p:sp>
        <p:nvSpPr>
          <p:cNvPr id="32" name="Rounded Rectangle 31"/>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34,334</a:t>
            </a:r>
          </a:p>
        </p:txBody>
      </p:sp>
      <p:sp>
        <p:nvSpPr>
          <p:cNvPr id="33" name="Rounded Rectangle 32"/>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63,723</a:t>
            </a:r>
          </a:p>
        </p:txBody>
      </p:sp>
      <p:sp>
        <p:nvSpPr>
          <p:cNvPr id="34" name="Rounded Rectangle 33"/>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6.4%</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Share Analysis, By Country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Size, By Country (Thousand MT)</a:t>
            </a:r>
          </a:p>
        </p:txBody>
      </p:sp>
      <p:graphicFrame>
        <p:nvGraphicFramePr>
          <p:cNvPr id="13" name="Table 12"/>
          <p:cNvGraphicFramePr>
            <a:graphicFrameLocks noGrp="1"/>
          </p:cNvGraphicFramePr>
          <p:nvPr/>
        </p:nvGraphicFramePr>
        <p:xfrm>
          <a:off x="152400" y="1238250"/>
          <a:ext cx="11887199" cy="1076325"/>
        </p:xfrm>
        <a:graphic>
          <a:graphicData uri="http://schemas.openxmlformats.org/drawingml/2006/table">
            <a:tbl>
              <a:tblPr>
                <a:tableStyleId>{5C22544A-7EE6-4342-B048-85BDC9FD1C3A}</a:tableStyleId>
              </a:tblPr>
              <a:tblGrid>
                <a:gridCol w="977279"/>
                <a:gridCol w="641760"/>
                <a:gridCol w="641760"/>
                <a:gridCol w="641760"/>
                <a:gridCol w="641760"/>
                <a:gridCol w="641760"/>
                <a:gridCol w="641760"/>
                <a:gridCol w="641760"/>
                <a:gridCol w="641760"/>
                <a:gridCol w="641760"/>
                <a:gridCol w="641760"/>
                <a:gridCol w="641760"/>
                <a:gridCol w="641760"/>
                <a:gridCol w="641760"/>
                <a:gridCol w="641760"/>
                <a:gridCol w="641760"/>
                <a:gridCol w="641760"/>
                <a:gridCol w="64176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Volume Share Read-out, By Country</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China flexible plastic packaging market is projected to register 4.2X higher volume than Japan in 2036. Among flexible plastic packaging by country, South Korea is expected to witness the highest CAGR of 6.0% over the forecast period.</a:t>
            </a:r>
          </a:p>
          <a:p>
            <a:pPr algn="l">
              <a:lnSpc>
                <a:spcPct val="110000"/>
              </a:lnSpc>
              <a:spcBef>
                <a:spcPts val="0"/>
              </a:spcBef>
              <a:spcAft>
                <a:spcPts val="500"/>
              </a:spcAft>
            </a:pPr>
            <a:r>
              <a:rPr sz="1150" b="0">
                <a:solidFill>
                  <a:srgbClr val="2E2E2E"/>
                </a:solidFill>
                <a:latin typeface="Calibri"/>
              </a:rPr>
              <a:t>In terms of volume share by country, China is expected to dominate the market, gaining 22 BPS and accounting for 71.3% share by 2036. Japan is expected to lose 130 BPS over the forecast period to account for 17.1% share by 2036.</a:t>
            </a:r>
          </a:p>
          <a:p>
            <a:pPr algn="l">
              <a:lnSpc>
                <a:spcPct val="110000"/>
              </a:lnSpc>
              <a:spcBef>
                <a:spcPts val="0"/>
              </a:spcBef>
              <a:spcAft>
                <a:spcPts val="500"/>
              </a:spcAft>
            </a:pPr>
            <a:r>
              <a:rPr sz="1150" b="0">
                <a:solidFill>
                  <a:srgbClr val="2E2E2E"/>
                </a:solidFill>
                <a:latin typeface="Calibri"/>
              </a:rPr>
              <a:t>South Korea gains 108 BPS because it grows fastest at 6.0%, supported by strong convenience food, e-commerce delivery and ready-meal consumption and a technology-led converting base. Japan loses 130 BPS as an ageing, declining population holds volume growth to 4.2%. China, at 5.1%, holds its dominant share with a slight gain on large-scale food processing and e-commerce.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Size, By Country (US$ Mn)</a:t>
            </a:r>
          </a:p>
        </p:txBody>
      </p:sp>
      <p:graphicFrame>
        <p:nvGraphicFramePr>
          <p:cNvPr id="13" name="Table 12"/>
          <p:cNvGraphicFramePr>
            <a:graphicFrameLocks noGrp="1"/>
          </p:cNvGraphicFramePr>
          <p:nvPr/>
        </p:nvGraphicFramePr>
        <p:xfrm>
          <a:off x="152400" y="1238250"/>
          <a:ext cx="11887199" cy="1076325"/>
        </p:xfrm>
        <a:graphic>
          <a:graphicData uri="http://schemas.openxmlformats.org/drawingml/2006/table">
            <a:tbl>
              <a:tblPr>
                <a:tableStyleId>{5C22544A-7EE6-4342-B048-85BDC9FD1C3A}</a:tableStyleId>
              </a:tblPr>
              <a:tblGrid>
                <a:gridCol w="977279"/>
                <a:gridCol w="641760"/>
                <a:gridCol w="641760"/>
                <a:gridCol w="641760"/>
                <a:gridCol w="641760"/>
                <a:gridCol w="641760"/>
                <a:gridCol w="641760"/>
                <a:gridCol w="641760"/>
                <a:gridCol w="641760"/>
                <a:gridCol w="641760"/>
                <a:gridCol w="641760"/>
                <a:gridCol w="641760"/>
                <a:gridCol w="641760"/>
                <a:gridCol w="641760"/>
                <a:gridCol w="641760"/>
                <a:gridCol w="641760"/>
                <a:gridCol w="641760"/>
                <a:gridCol w="64176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Share Read-out, By Country</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China flexible plastic packaging market is projected to register 3.2X higher value than Japan in 2036. Among flexible plastic packaging by country, South Korea is expected to witness the highest CAGR of 7.3% over the forecast period.</a:t>
            </a:r>
          </a:p>
          <a:p>
            <a:pPr algn="l">
              <a:lnSpc>
                <a:spcPct val="110000"/>
              </a:lnSpc>
              <a:spcBef>
                <a:spcPts val="0"/>
              </a:spcBef>
              <a:spcAft>
                <a:spcPts val="500"/>
              </a:spcAft>
            </a:pPr>
            <a:r>
              <a:rPr sz="1150" b="0">
                <a:solidFill>
                  <a:srgbClr val="2E2E2E"/>
                </a:solidFill>
                <a:latin typeface="Calibri"/>
              </a:rPr>
              <a:t>In terms of value share by country, China is expected to dominate the market, gaining 68 BPS and accounting for 66.7% share by 2036. Japan is expected to lose 178 BPS over the forecast period to account for 20.6% share by 2036.</a:t>
            </a:r>
          </a:p>
          <a:p>
            <a:pPr algn="l">
              <a:lnSpc>
                <a:spcPct val="110000"/>
              </a:lnSpc>
              <a:spcBef>
                <a:spcPts val="0"/>
              </a:spcBef>
              <a:spcAft>
                <a:spcPts val="500"/>
              </a:spcAft>
            </a:pPr>
            <a:r>
              <a:rPr sz="1150" b="0">
                <a:solidFill>
                  <a:srgbClr val="2E2E2E"/>
                </a:solidFill>
                <a:latin typeface="Calibri"/>
              </a:rPr>
              <a:t>South Korea gains 109 BPS of share and Japan loses 178 BPS because South Korea grows at 7.3% on strong e-commerce, delivery and ready-meal demand, while Japan, at 5.5%, is a mature market with an ageing population. China, at 6.5%, edges up 68 BPS on its large food-processing base and rising consumption of convenience and cold-chain foods.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By Country (Thousand MT)</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Top 3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East Asia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market by country  ·  2036 (US$ Mn)  ·  tile size = market value</a:t>
            </a:r>
          </a:p>
        </p:txBody>
      </p:sp>
      <p:sp>
        <p:nvSpPr>
          <p:cNvPr id="13" name="Rectangle 12"/>
          <p:cNvSpPr/>
          <p:nvPr/>
        </p:nvSpPr>
        <p:spPr>
          <a:xfrm>
            <a:off x="238125" y="1266825"/>
            <a:ext cx="7817807"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42,522</a:t>
            </a:r>
          </a:p>
        </p:txBody>
      </p:sp>
      <p:sp>
        <p:nvSpPr>
          <p:cNvPr id="14" name="Rectangle 13"/>
          <p:cNvSpPr/>
          <p:nvPr/>
        </p:nvSpPr>
        <p:spPr>
          <a:xfrm>
            <a:off x="8055932" y="1266825"/>
            <a:ext cx="3897943" cy="327865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13,102</a:t>
            </a:r>
          </a:p>
        </p:txBody>
      </p:sp>
      <p:sp>
        <p:nvSpPr>
          <p:cNvPr id="15" name="Rectangle 14"/>
          <p:cNvSpPr/>
          <p:nvPr/>
        </p:nvSpPr>
        <p:spPr>
          <a:xfrm>
            <a:off x="8055932" y="4545477"/>
            <a:ext cx="3897943" cy="2026773"/>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South Korea</a:t>
            </a:r>
          </a:p>
          <a:p>
            <a:pPr algn="ctr"/>
            <a:r>
              <a:rPr sz="1100" b="0">
                <a:solidFill>
                  <a:srgbClr val="FFFFFF"/>
                </a:solidFill>
                <a:latin typeface="Calibri"/>
              </a:rPr>
              <a:t>8,099</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East Asia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Principal Material / Barrier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Vs Application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Rollstock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18,568</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34,249</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6.3%</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Premade Pouches &amp; Bags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9,791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18,492</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6.6%</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Barrier Casings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3,632</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6,871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6.6%</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Sachets &amp; Stick Packs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2,342</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4,112</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5.8%</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product type, barrier casings segment is expected to witness the highest CAGR of 6.6% over the forecast period. In terms of value share by product type, the rollstock films segment is expected to dominate the market, losing 33 BPS and accounting for 53.7%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Rollstock films segment is projected to register 1.9X higher value than premade pouches &amp; bags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Rollstock Films: </a:t>
            </a:r>
            <a:r>
              <a:rPr sz="1100" b="0">
                <a:solidFill>
                  <a:srgbClr val="2E2E2E"/>
                </a:solidFill>
                <a:latin typeface="Calibri"/>
              </a:rPr>
              <a:t>54% of 2026 value · 6.3%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Premade Pouches &amp; Bags: </a:t>
            </a:r>
            <a:r>
              <a:rPr sz="1100" b="0">
                <a:solidFill>
                  <a:srgbClr val="2E2E2E"/>
                </a:solidFill>
                <a:latin typeface="Calibri"/>
              </a:rPr>
              <a:t>29% of 2026 value · 6.6%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Barrier Casings: </a:t>
            </a:r>
            <a:r>
              <a:rPr sz="1100" b="0">
                <a:solidFill>
                  <a:srgbClr val="2E2E2E"/>
                </a:solidFill>
                <a:latin typeface="Calibri"/>
              </a:rPr>
              <a:t>11% of 2026 value · 6.6%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Sachets &amp; Stick Packs: </a:t>
            </a:r>
            <a:r>
              <a:rPr sz="1100" b="0">
                <a:solidFill>
                  <a:srgbClr val="2E2E2E"/>
                </a:solidFill>
                <a:latin typeface="Calibri"/>
              </a:rPr>
              <a:t>7% of 2026 value · 5.8%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Type segment is projected to grow at a CAGR of 6.4%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Rollstock films followed by premade pouches &amp; bags are expected to be the two most attractive product type segments in the East Asia flexible plastic packaging market in terms of value over the forecast period. Rollstock films and premade pouches &amp; bags exhibit a CAGR index of 99 and 103 and a market share index of 216 and 114 respectively, against the segment average of 100. The sachets &amp; stick packs segment is expected to be less attractive as compared to other segments over the forecast period, owing to its lower CAGR and incremental opportunity. Premade Pouches &amp; Bags rank most attractive, growing at 6.6% with a share rising 50 BPS to 29.0% and a large base of 28.5%. Food delivery, e-commerce, ready meals and pet food in China, Japan and South Korea favour stand-up and retort pouches. Barrier Casings also grow at 6.6% but are smaller at 10.6%, while Rollstock Films stay the largest pool at 54.1% with slower 6.3% growth.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Rollstock Films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Barrier Casings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Premade Pouches &amp; Bags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Sachets &amp; Stick Packs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Volume Analysis, By Product Type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By Product Type (Thousand MT)</a:t>
            </a:r>
          </a:p>
        </p:txBody>
      </p:sp>
      <p:graphicFrame>
        <p:nvGraphicFramePr>
          <p:cNvPr id="13" name="Table 12"/>
          <p:cNvGraphicFramePr>
            <a:graphicFrameLocks noGrp="1"/>
          </p:cNvGraphicFramePr>
          <p:nvPr/>
        </p:nvGraphicFramePr>
        <p:xfrm>
          <a:off x="152400" y="1238250"/>
          <a:ext cx="11887205" cy="3448050"/>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Volume Analysis, By Product Type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By Product Type (Thousand MT)</a:t>
            </a:r>
          </a:p>
        </p:txBody>
      </p:sp>
      <p:graphicFrame>
        <p:nvGraphicFramePr>
          <p:cNvPr id="12" name="Table 11"/>
          <p:cNvGraphicFramePr>
            <a:graphicFrameLocks noGrp="1"/>
          </p:cNvGraphicFramePr>
          <p:nvPr/>
        </p:nvGraphicFramePr>
        <p:xfrm>
          <a:off x="152400" y="1238250"/>
          <a:ext cx="11887207" cy="1514475"/>
        </p:xfrm>
        <a:graphic>
          <a:graphicData uri="http://schemas.openxmlformats.org/drawingml/2006/table">
            <a:tbl>
              <a:tblPr>
                <a:tableStyleId>{5C22544A-7EE6-4342-B048-85BDC9FD1C3A}</a:tableStyleId>
              </a:tblPr>
              <a:tblGrid>
                <a:gridCol w="1522732"/>
                <a:gridCol w="609675"/>
                <a:gridCol w="609675"/>
                <a:gridCol w="609675"/>
                <a:gridCol w="609675"/>
                <a:gridCol w="609675"/>
                <a:gridCol w="609675"/>
                <a:gridCol w="609675"/>
                <a:gridCol w="609675"/>
                <a:gridCol w="609675"/>
                <a:gridCol w="609675"/>
                <a:gridCol w="609675"/>
                <a:gridCol w="609675"/>
                <a:gridCol w="609675"/>
                <a:gridCol w="609675"/>
                <a:gridCol w="609675"/>
                <a:gridCol w="609675"/>
                <a:gridCol w="60967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Flat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Retort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Sachets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Volume Analysis, By Product Type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Rollstock films segment is projected to register 1.7X higher volume than premade pouches &amp; bags segment in 2036. Among flexible plastic packaging by product type, premade pouches &amp; bags segment is expected to witness the highest CAGR of 5.1% over the forecast period.</a:t>
            </a:r>
          </a:p>
          <a:p>
            <a:pPr algn="l">
              <a:lnSpc>
                <a:spcPct val="110000"/>
              </a:lnSpc>
              <a:spcBef>
                <a:spcPts val="0"/>
              </a:spcBef>
              <a:spcAft>
                <a:spcPts val="500"/>
              </a:spcAft>
            </a:pPr>
            <a:r>
              <a:rPr sz="1150" b="0">
                <a:solidFill>
                  <a:srgbClr val="2E2E2E"/>
                </a:solidFill>
                <a:latin typeface="Calibri"/>
              </a:rPr>
              <a:t>In terms of volume share by product type, the rollstock films segment is expected to dominate the market, losing 11 BPS and accounting for 53.6% share by 2036. The sachets &amp; stick packs segment is expected to lose 13 BPS over the forecast period to account for 7.8% share by 2036.</a:t>
            </a:r>
          </a:p>
          <a:p>
            <a:pPr algn="l">
              <a:lnSpc>
                <a:spcPct val="110000"/>
              </a:lnSpc>
              <a:spcBef>
                <a:spcPts val="0"/>
              </a:spcBef>
              <a:spcAft>
                <a:spcPts val="500"/>
              </a:spcAft>
            </a:pPr>
            <a:r>
              <a:rPr sz="1150" b="0">
                <a:solidFill>
                  <a:srgbClr val="2E2E2E"/>
                </a:solidFill>
                <a:latin typeface="Calibri"/>
              </a:rPr>
              <a:t>Premade Pouches &amp; Bags gain 23 BPS because e-commerce, food delivery and retort and ready-meal categories in East Asia favour stand-up and spouted pouches, and their volume growth of 5.1% edges ahead of the market. Sachets &amp; Stick Packs lose 13 BPS at 4.8%, as single-serve formats in mature categories such as Japan grow slowly.</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Product Type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Product Type (US$ Mn)</a:t>
            </a:r>
          </a:p>
        </p:txBody>
      </p:sp>
      <p:graphicFrame>
        <p:nvGraphicFramePr>
          <p:cNvPr id="13" name="Table 12"/>
          <p:cNvGraphicFramePr>
            <a:graphicFrameLocks noGrp="1"/>
          </p:cNvGraphicFramePr>
          <p:nvPr/>
        </p:nvGraphicFramePr>
        <p:xfrm>
          <a:off x="152400" y="1238250"/>
          <a:ext cx="11887205" cy="3448050"/>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Product Type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Product Type (US$ Mn)</a:t>
            </a:r>
          </a:p>
        </p:txBody>
      </p:sp>
      <p:graphicFrame>
        <p:nvGraphicFramePr>
          <p:cNvPr id="12" name="Table 11"/>
          <p:cNvGraphicFramePr>
            <a:graphicFrameLocks noGrp="1"/>
          </p:cNvGraphicFramePr>
          <p:nvPr/>
        </p:nvGraphicFramePr>
        <p:xfrm>
          <a:off x="152400" y="1238250"/>
          <a:ext cx="11887207" cy="1514475"/>
        </p:xfrm>
        <a:graphic>
          <a:graphicData uri="http://schemas.openxmlformats.org/drawingml/2006/table">
            <a:tbl>
              <a:tblPr>
                <a:tableStyleId>{5C22544A-7EE6-4342-B048-85BDC9FD1C3A}</a:tableStyleId>
              </a:tblPr>
              <a:tblGrid>
                <a:gridCol w="1522732"/>
                <a:gridCol w="609675"/>
                <a:gridCol w="609675"/>
                <a:gridCol w="609675"/>
                <a:gridCol w="609675"/>
                <a:gridCol w="609675"/>
                <a:gridCol w="609675"/>
                <a:gridCol w="609675"/>
                <a:gridCol w="609675"/>
                <a:gridCol w="609675"/>
                <a:gridCol w="609675"/>
                <a:gridCol w="609675"/>
                <a:gridCol w="609675"/>
                <a:gridCol w="609675"/>
                <a:gridCol w="609675"/>
                <a:gridCol w="609675"/>
                <a:gridCol w="609675"/>
                <a:gridCol w="60967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Flat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Retort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Sachets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Product Type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Rollstock films segment is projected to register 1.9X higher value than premade pouches &amp; bags segment in 2036. Among flexible plastic packaging by product type, barrier casings segment is expected to witness the highest CAGR of 6.6% over the forecast period.</a:t>
            </a:r>
          </a:p>
          <a:p>
            <a:pPr algn="l">
              <a:lnSpc>
                <a:spcPct val="110000"/>
              </a:lnSpc>
              <a:spcBef>
                <a:spcPts val="0"/>
              </a:spcBef>
              <a:spcAft>
                <a:spcPts val="500"/>
              </a:spcAft>
            </a:pPr>
            <a:r>
              <a:rPr sz="1150" b="0">
                <a:solidFill>
                  <a:srgbClr val="2E2E2E"/>
                </a:solidFill>
                <a:latin typeface="Calibri"/>
              </a:rPr>
              <a:t>In terms of value share by product type, the rollstock films segment is expected to dominate the market, losing 33 BPS and accounting for 53.7% share by 2036. The sachets &amp; stick packs segment is expected to lose 37 BPS over the forecast period to account for 6.5% share by 2036.</a:t>
            </a:r>
          </a:p>
          <a:p>
            <a:pPr algn="l">
              <a:lnSpc>
                <a:spcPct val="110000"/>
              </a:lnSpc>
              <a:spcBef>
                <a:spcPts val="0"/>
              </a:spcBef>
              <a:spcAft>
                <a:spcPts val="500"/>
              </a:spcAft>
            </a:pPr>
            <a:r>
              <a:rPr sz="1150" b="0">
                <a:solidFill>
                  <a:srgbClr val="2E2E2E"/>
                </a:solidFill>
                <a:latin typeface="Calibri"/>
              </a:rPr>
              <a:t>Premade Pouches &amp; Bags gains 50 BPS of value share because stand-up and zip-closure pouches deliver the convenience, shelf impact and e-commerce durability that brand owners want. Its 6.6% CAGR compares with a 6.4% market rate, while Sachets &amp; Stick Packs loses 37 BPS at 5.8% as single-serve formats are mature and compete with larger resealable pouches. In East Asia, advanced converting capability, convenience retail and ready-meal demand steer specifications.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877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1401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78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Sachets &amp; Stick Packs</a:t>
            </a:r>
          </a:p>
        </p:txBody>
      </p:sp>
      <p:sp>
        <p:nvSpPr>
          <p:cNvPr id="19" name="BPS Value 1"/>
          <p:cNvSpPr txBox="1"/>
          <p:nvPr/>
        </p:nvSpPr>
        <p:spPr>
          <a:xfrm>
            <a:off x="6896100" y="1799726"/>
            <a:ext cx="514350" cy="123825"/>
          </a:xfrm>
          <a:prstGeom prst="rect">
            <a:avLst/>
          </a:prstGeom>
          <a:noFill/>
        </p:spPr>
        <p:txBody>
          <a:bodyPr wrap="none" lIns="0" rIns="0" tIns="0" bIns="0" anchor="ctr">
            <a:spAutoFit/>
          </a:bodyPr>
          <a:lstStyle/>
          <a:p>
            <a:pPr algn="r"/>
            <a:r>
              <a:rPr sz="900" b="1">
                <a:solidFill>
                  <a:srgbClr val="E44D3A"/>
                </a:solidFill>
                <a:latin typeface="Calibri"/>
              </a:rPr>
              <a:t>-37</a:t>
            </a:r>
          </a:p>
        </p:txBody>
      </p:sp>
      <p:sp>
        <p:nvSpPr>
          <p:cNvPr id="20" name="FMI Legend Chip"/>
          <p:cNvSpPr/>
          <p:nvPr/>
        </p:nvSpPr>
        <p:spPr>
          <a:xfrm>
            <a:off x="4928997" y="221279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0803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3183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Barrier Casings</a:t>
            </a:r>
          </a:p>
        </p:txBody>
      </p:sp>
      <p:sp>
        <p:nvSpPr>
          <p:cNvPr id="23" name="BPS Value 2"/>
          <p:cNvSpPr txBox="1"/>
          <p:nvPr/>
        </p:nvSpPr>
        <p:spPr>
          <a:xfrm>
            <a:off x="6896100" y="2193745"/>
            <a:ext cx="514350" cy="123825"/>
          </a:xfrm>
          <a:prstGeom prst="rect">
            <a:avLst/>
          </a:prstGeom>
          <a:noFill/>
        </p:spPr>
        <p:txBody>
          <a:bodyPr wrap="none" lIns="0" rIns="0" tIns="0" bIns="0" anchor="ctr">
            <a:spAutoFit/>
          </a:bodyPr>
          <a:lstStyle/>
          <a:p>
            <a:pPr algn="r"/>
            <a:r>
              <a:rPr sz="900" b="1">
                <a:solidFill>
                  <a:srgbClr val="2E7D32"/>
                </a:solidFill>
                <a:latin typeface="Calibri"/>
              </a:rPr>
              <a:t>+20</a:t>
            </a:r>
          </a:p>
        </p:txBody>
      </p:sp>
      <p:sp>
        <p:nvSpPr>
          <p:cNvPr id="24" name="FMI Legend Chip"/>
          <p:cNvSpPr/>
          <p:nvPr/>
        </p:nvSpPr>
        <p:spPr>
          <a:xfrm>
            <a:off x="4928997" y="312271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11795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04175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Premade Pouches &amp; Bags</a:t>
            </a:r>
          </a:p>
        </p:txBody>
      </p:sp>
      <p:sp>
        <p:nvSpPr>
          <p:cNvPr id="27" name="BPS Value 3"/>
          <p:cNvSpPr txBox="1"/>
          <p:nvPr/>
        </p:nvSpPr>
        <p:spPr>
          <a:xfrm>
            <a:off x="6896100" y="3103664"/>
            <a:ext cx="514350" cy="123825"/>
          </a:xfrm>
          <a:prstGeom prst="rect">
            <a:avLst/>
          </a:prstGeom>
          <a:noFill/>
        </p:spPr>
        <p:txBody>
          <a:bodyPr wrap="none" lIns="0" rIns="0" tIns="0" bIns="0" anchor="ctr">
            <a:spAutoFit/>
          </a:bodyPr>
          <a:lstStyle/>
          <a:p>
            <a:pPr algn="r"/>
            <a:r>
              <a:rPr sz="900" b="1">
                <a:solidFill>
                  <a:srgbClr val="2E7D32"/>
                </a:solidFill>
                <a:latin typeface="Calibri"/>
              </a:rPr>
              <a:t>+50</a:t>
            </a:r>
          </a:p>
        </p:txBody>
      </p:sp>
      <p:sp>
        <p:nvSpPr>
          <p:cNvPr id="28" name="FMI Legend Chip"/>
          <p:cNvSpPr/>
          <p:nvPr/>
        </p:nvSpPr>
        <p:spPr>
          <a:xfrm>
            <a:off x="4928997" y="501488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01012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93392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Rollstock Films</a:t>
            </a:r>
          </a:p>
        </p:txBody>
      </p:sp>
      <p:sp>
        <p:nvSpPr>
          <p:cNvPr id="31" name="BPS Value 4"/>
          <p:cNvSpPr txBox="1"/>
          <p:nvPr/>
        </p:nvSpPr>
        <p:spPr>
          <a:xfrm>
            <a:off x="6896100" y="4995837"/>
            <a:ext cx="514350" cy="123825"/>
          </a:xfrm>
          <a:prstGeom prst="rect">
            <a:avLst/>
          </a:prstGeom>
          <a:noFill/>
        </p:spPr>
        <p:txBody>
          <a:bodyPr wrap="none" lIns="0" rIns="0" tIns="0" bIns="0" anchor="ctr">
            <a:spAutoFit/>
          </a:bodyPr>
          <a:lstStyle/>
          <a:p>
            <a:pPr algn="r"/>
            <a:r>
              <a:rPr sz="900" b="1">
                <a:solidFill>
                  <a:srgbClr val="E44D3A"/>
                </a:solidFill>
                <a:latin typeface="Calibri"/>
              </a:rPr>
              <a:t>-33</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product type, barrier casings segment is expected to witness the highest CAGR of 6.6% over the forecast period. In terms of value share by product type, the rollstock films segment is expected to dominate the market, losing 33 BPS and accounting for 53.7% share by 2036.</a:t>
            </a:r>
          </a:p>
          <a:p>
            <a:pPr algn="l">
              <a:lnSpc>
                <a:spcPct val="110000"/>
              </a:lnSpc>
              <a:spcBef>
                <a:spcPts val="0"/>
              </a:spcBef>
              <a:spcAft>
                <a:spcPts val="500"/>
              </a:spcAft>
            </a:pPr>
            <a:r>
              <a:rPr sz="1150" b="0">
                <a:solidFill>
                  <a:srgbClr val="2E2E2E"/>
                </a:solidFill>
                <a:latin typeface="Calibri"/>
              </a:rPr>
              <a:t>The sachets &amp; stick packs segment is expected to lose 37 BPS over the forecast period to account for 6.5% share by 2036.</a:t>
            </a:r>
          </a:p>
          <a:p>
            <a:pPr algn="l">
              <a:lnSpc>
                <a:spcPct val="110000"/>
              </a:lnSpc>
              <a:spcBef>
                <a:spcPts val="0"/>
              </a:spcBef>
              <a:spcAft>
                <a:spcPts val="500"/>
              </a:spcAft>
            </a:pPr>
            <a:r>
              <a:rPr sz="1150" b="0">
                <a:solidFill>
                  <a:srgbClr val="2E2E2E"/>
                </a:solidFill>
                <a:latin typeface="Calibri"/>
              </a:rPr>
              <a:t>Barrier Casings grow fastest at 6.6% against 6.4% for the region because rising consumption of processed meat, sausage and cheese, and demand for longer shelf life, support multilayer casing films. Premade Pouches &amp; Bags match that pace at 6.6% on delivery and e-commerce. Sachets &amp; Stick Packs grow slowest at 5.8% as consumers trade up to larger or more premium formats.</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Volume, By Product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Volume, By Product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YoY Heatmap, By Product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Rollstock Films</a:t>
            </a:r>
          </a:p>
        </p:txBody>
      </p:sp>
      <p:sp>
        <p:nvSpPr>
          <p:cNvPr id="28" name="Rectangle 27"/>
          <p:cNvSpPr/>
          <p:nvPr/>
        </p:nvSpPr>
        <p:spPr>
          <a:xfrm>
            <a:off x="1857375" y="1409700"/>
            <a:ext cx="643890" cy="25812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258128"/>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258128"/>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258128"/>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258128"/>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258128"/>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258128"/>
          </a:xfrm>
          <a:prstGeom prst="rect">
            <a:avLst/>
          </a:prstGeom>
          <a:solidFill>
            <a:srgbClr val="67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25812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258128"/>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25812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66782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Lidding &amp; Tray-Sealing Films</a:t>
            </a:r>
          </a:p>
        </p:txBody>
      </p:sp>
      <p:sp>
        <p:nvSpPr>
          <p:cNvPr id="44" name="Rectangle 43"/>
          <p:cNvSpPr/>
          <p:nvPr/>
        </p:nvSpPr>
        <p:spPr>
          <a:xfrm>
            <a:off x="1857375" y="1667828"/>
            <a:ext cx="643890" cy="25812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667828"/>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667828"/>
            <a:ext cx="643890" cy="258128"/>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667828"/>
            <a:ext cx="643890" cy="258128"/>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667828"/>
            <a:ext cx="643890" cy="258128"/>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667828"/>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667828"/>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667828"/>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667828"/>
            <a:ext cx="643890" cy="25812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667828"/>
            <a:ext cx="643890" cy="25812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667828"/>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667828"/>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667828"/>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667828"/>
            <a:ext cx="643890" cy="258128"/>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667828"/>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192595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Thermoforming Films</a:t>
            </a:r>
          </a:p>
        </p:txBody>
      </p:sp>
      <p:sp>
        <p:nvSpPr>
          <p:cNvPr id="60" name="Rectangle 59"/>
          <p:cNvSpPr/>
          <p:nvPr/>
        </p:nvSpPr>
        <p:spPr>
          <a:xfrm>
            <a:off x="1857375" y="1925955"/>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1925955"/>
            <a:ext cx="643890" cy="258128"/>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1925955"/>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1925955"/>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1925955"/>
            <a:ext cx="643890" cy="25812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1925955"/>
            <a:ext cx="643890" cy="258128"/>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1925955"/>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1925955"/>
            <a:ext cx="643890" cy="25812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1925955"/>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1925955"/>
            <a:ext cx="643890" cy="258128"/>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1925955"/>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1925955"/>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1925955"/>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1925955"/>
            <a:ext cx="643890" cy="258128"/>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1925955"/>
            <a:ext cx="643890" cy="258128"/>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18408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Skin Packaging Films</a:t>
            </a:r>
          </a:p>
        </p:txBody>
      </p:sp>
      <p:sp>
        <p:nvSpPr>
          <p:cNvPr id="76" name="Rectangle 75"/>
          <p:cNvSpPr/>
          <p:nvPr/>
        </p:nvSpPr>
        <p:spPr>
          <a:xfrm>
            <a:off x="1857375" y="2184082"/>
            <a:ext cx="643890" cy="258128"/>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184082"/>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184082"/>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184082"/>
            <a:ext cx="643890" cy="258128"/>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184082"/>
            <a:ext cx="643890" cy="258128"/>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184082"/>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184082"/>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184082"/>
            <a:ext cx="643890" cy="258128"/>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184082"/>
            <a:ext cx="643890" cy="25812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184082"/>
            <a:ext cx="643890" cy="25812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184082"/>
            <a:ext cx="643890" cy="258128"/>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184082"/>
            <a:ext cx="643890" cy="258128"/>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184082"/>
            <a:ext cx="643890" cy="258128"/>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184082"/>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184082"/>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44221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HFFS / Flow-Pack Films</a:t>
            </a:r>
          </a:p>
        </p:txBody>
      </p:sp>
      <p:sp>
        <p:nvSpPr>
          <p:cNvPr id="92" name="Rectangle 91"/>
          <p:cNvSpPr/>
          <p:nvPr/>
        </p:nvSpPr>
        <p:spPr>
          <a:xfrm>
            <a:off x="1857375" y="2442210"/>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442210"/>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442210"/>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442210"/>
            <a:ext cx="643890" cy="258128"/>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442210"/>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442210"/>
            <a:ext cx="643890" cy="258128"/>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442210"/>
            <a:ext cx="643890" cy="25812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442210"/>
            <a:ext cx="643890" cy="258128"/>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442210"/>
            <a:ext cx="643890" cy="258128"/>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442210"/>
            <a:ext cx="643890" cy="258128"/>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442210"/>
            <a:ext cx="643890" cy="258128"/>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442210"/>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442210"/>
            <a:ext cx="643890" cy="258128"/>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442210"/>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442210"/>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270033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VFFS Rollstock Films</a:t>
            </a:r>
          </a:p>
        </p:txBody>
      </p:sp>
      <p:sp>
        <p:nvSpPr>
          <p:cNvPr id="108" name="Rectangle 107"/>
          <p:cNvSpPr/>
          <p:nvPr/>
        </p:nvSpPr>
        <p:spPr>
          <a:xfrm>
            <a:off x="1857375" y="2700338"/>
            <a:ext cx="643890" cy="258128"/>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2700338"/>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2700338"/>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2700338"/>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2700338"/>
            <a:ext cx="643890" cy="258128"/>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2700338"/>
            <a:ext cx="643890" cy="258128"/>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2700338"/>
            <a:ext cx="643890" cy="258128"/>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2700338"/>
            <a:ext cx="643890" cy="258128"/>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2700338"/>
            <a:ext cx="643890" cy="25812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2700338"/>
            <a:ext cx="643890" cy="258128"/>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2700338"/>
            <a:ext cx="643890" cy="258128"/>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2700338"/>
            <a:ext cx="643890" cy="258128"/>
          </a:xfrm>
          <a:prstGeom prst="rect">
            <a:avLst/>
          </a:prstGeom>
          <a:solidFill>
            <a:srgbClr val="7E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2700338"/>
            <a:ext cx="643890" cy="258128"/>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2700338"/>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2700338"/>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295846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&amp; Overwrap Films</a:t>
            </a:r>
          </a:p>
        </p:txBody>
      </p:sp>
      <p:sp>
        <p:nvSpPr>
          <p:cNvPr id="124" name="Rectangle 123"/>
          <p:cNvSpPr/>
          <p:nvPr/>
        </p:nvSpPr>
        <p:spPr>
          <a:xfrm>
            <a:off x="1857375" y="2958465"/>
            <a:ext cx="643890" cy="25812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2958465"/>
            <a:ext cx="643890" cy="25812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2958465"/>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2958465"/>
            <a:ext cx="643890" cy="258128"/>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2958465"/>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2958465"/>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2958465"/>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2958465"/>
            <a:ext cx="643890" cy="258128"/>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2958465"/>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2958465"/>
            <a:ext cx="643890" cy="258128"/>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2958465"/>
            <a:ext cx="643890" cy="258128"/>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2958465"/>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2958465"/>
            <a:ext cx="643890" cy="25812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2958465"/>
            <a:ext cx="643890" cy="25812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2958465"/>
            <a:ext cx="643890" cy="258128"/>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216593"/>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Barrier Casings</a:t>
            </a:r>
          </a:p>
        </p:txBody>
      </p:sp>
      <p:sp>
        <p:nvSpPr>
          <p:cNvPr id="140" name="Rectangle 139"/>
          <p:cNvSpPr/>
          <p:nvPr/>
        </p:nvSpPr>
        <p:spPr>
          <a:xfrm>
            <a:off x="1857375" y="3216593"/>
            <a:ext cx="643890" cy="25812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216593"/>
            <a:ext cx="643890" cy="258128"/>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216593"/>
            <a:ext cx="643890" cy="258128"/>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216593"/>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216593"/>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216593"/>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216593"/>
            <a:ext cx="643890" cy="258128"/>
          </a:xfrm>
          <a:prstGeom prst="rect">
            <a:avLst/>
          </a:prstGeom>
          <a:solidFill>
            <a:srgbClr val="A2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216593"/>
            <a:ext cx="643890" cy="25812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216593"/>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216593"/>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216593"/>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216593"/>
            <a:ext cx="643890" cy="258128"/>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216593"/>
            <a:ext cx="643890" cy="258128"/>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216593"/>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216593"/>
            <a:ext cx="643890" cy="25812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47472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Non-Shrink Casings</a:t>
            </a:r>
          </a:p>
        </p:txBody>
      </p:sp>
      <p:sp>
        <p:nvSpPr>
          <p:cNvPr id="156" name="Rectangle 155"/>
          <p:cNvSpPr/>
          <p:nvPr/>
        </p:nvSpPr>
        <p:spPr>
          <a:xfrm>
            <a:off x="1857375" y="3474720"/>
            <a:ext cx="643890" cy="25812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474720"/>
            <a:ext cx="643890" cy="25812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474720"/>
            <a:ext cx="643890" cy="25812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474720"/>
            <a:ext cx="643890" cy="258128"/>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474720"/>
            <a:ext cx="643890" cy="258128"/>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474720"/>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474720"/>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474720"/>
            <a:ext cx="643890" cy="25812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474720"/>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474720"/>
            <a:ext cx="643890" cy="258128"/>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474720"/>
            <a:ext cx="643890" cy="25812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474720"/>
            <a:ext cx="643890" cy="258128"/>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474720"/>
            <a:ext cx="643890" cy="25812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474720"/>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474720"/>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373284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Casings</a:t>
            </a:r>
          </a:p>
        </p:txBody>
      </p:sp>
      <p:sp>
        <p:nvSpPr>
          <p:cNvPr id="172" name="Rectangle 171"/>
          <p:cNvSpPr/>
          <p:nvPr/>
        </p:nvSpPr>
        <p:spPr>
          <a:xfrm>
            <a:off x="1857375" y="3732848"/>
            <a:ext cx="643890" cy="25812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3732848"/>
            <a:ext cx="643890" cy="25812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3732848"/>
            <a:ext cx="643890" cy="25812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3732848"/>
            <a:ext cx="643890" cy="25812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3732848"/>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3732848"/>
            <a:ext cx="643890" cy="258128"/>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3732848"/>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3732848"/>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3732848"/>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3732848"/>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3732848"/>
            <a:ext cx="643890" cy="258128"/>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3732848"/>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3732848"/>
            <a:ext cx="643890" cy="258128"/>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3732848"/>
            <a:ext cx="643890" cy="258128"/>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3732848"/>
            <a:ext cx="643890" cy="258128"/>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399097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Other Specialty Casings</a:t>
            </a:r>
          </a:p>
        </p:txBody>
      </p:sp>
      <p:sp>
        <p:nvSpPr>
          <p:cNvPr id="188" name="Rectangle 187"/>
          <p:cNvSpPr/>
          <p:nvPr/>
        </p:nvSpPr>
        <p:spPr>
          <a:xfrm>
            <a:off x="1857375" y="3990975"/>
            <a:ext cx="643890" cy="25812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3990975"/>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3990975"/>
            <a:ext cx="643890" cy="258128"/>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3990975"/>
            <a:ext cx="643890" cy="258128"/>
          </a:xfrm>
          <a:prstGeom prst="rect">
            <a:avLst/>
          </a:prstGeom>
          <a:solidFill>
            <a:srgbClr val="0E6E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3990975"/>
            <a:ext cx="643890" cy="258128"/>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3990975"/>
            <a:ext cx="643890" cy="258128"/>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3990975"/>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3990975"/>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3990975"/>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3990975"/>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3990975"/>
            <a:ext cx="643890" cy="258128"/>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3990975"/>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3990975"/>
            <a:ext cx="643890" cy="258128"/>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3990975"/>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3990975"/>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24910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Premade Pouches &amp; Bags</a:t>
            </a:r>
          </a:p>
        </p:txBody>
      </p:sp>
      <p:sp>
        <p:nvSpPr>
          <p:cNvPr id="204" name="Rectangle 203"/>
          <p:cNvSpPr/>
          <p:nvPr/>
        </p:nvSpPr>
        <p:spPr>
          <a:xfrm>
            <a:off x="1857375" y="4249102"/>
            <a:ext cx="643890" cy="258128"/>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249102"/>
            <a:ext cx="643890" cy="25812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249102"/>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249102"/>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249102"/>
            <a:ext cx="643890" cy="258128"/>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249102"/>
            <a:ext cx="643890" cy="258128"/>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249102"/>
            <a:ext cx="643890" cy="258128"/>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249102"/>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249102"/>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249102"/>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249102"/>
            <a:ext cx="643890" cy="258128"/>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249102"/>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249102"/>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249102"/>
            <a:ext cx="643890" cy="258128"/>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249102"/>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450723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Pouches</a:t>
            </a:r>
          </a:p>
        </p:txBody>
      </p:sp>
      <p:sp>
        <p:nvSpPr>
          <p:cNvPr id="220" name="Rectangle 219"/>
          <p:cNvSpPr/>
          <p:nvPr/>
        </p:nvSpPr>
        <p:spPr>
          <a:xfrm>
            <a:off x="1857375" y="4507230"/>
            <a:ext cx="643890" cy="25812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4507230"/>
            <a:ext cx="643890" cy="258128"/>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4507230"/>
            <a:ext cx="643890" cy="25812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4507230"/>
            <a:ext cx="643890" cy="258128"/>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4507230"/>
            <a:ext cx="643890" cy="25812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4507230"/>
            <a:ext cx="643890" cy="258128"/>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4507230"/>
            <a:ext cx="643890" cy="258128"/>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4507230"/>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4507230"/>
            <a:ext cx="643890" cy="25812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4507230"/>
            <a:ext cx="643890" cy="258128"/>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4507230"/>
            <a:ext cx="643890" cy="258128"/>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4507230"/>
            <a:ext cx="643890" cy="258128"/>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4507230"/>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4507230"/>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4507230"/>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476535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Bags</a:t>
            </a:r>
          </a:p>
        </p:txBody>
      </p:sp>
      <p:sp>
        <p:nvSpPr>
          <p:cNvPr id="236" name="Rectangle 235"/>
          <p:cNvSpPr/>
          <p:nvPr/>
        </p:nvSpPr>
        <p:spPr>
          <a:xfrm>
            <a:off x="1857375" y="4765358"/>
            <a:ext cx="643890" cy="258128"/>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4765358"/>
            <a:ext cx="643890" cy="258128"/>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4765358"/>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4765358"/>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4765358"/>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4765358"/>
            <a:ext cx="643890" cy="25812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4765358"/>
            <a:ext cx="643890" cy="258128"/>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4765358"/>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4765358"/>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4765358"/>
            <a:ext cx="643890" cy="25812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4765358"/>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4765358"/>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4765358"/>
            <a:ext cx="643890" cy="258128"/>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4765358"/>
            <a:ext cx="643890" cy="25812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4765358"/>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02348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Stand-Up Pouches</a:t>
            </a:r>
          </a:p>
        </p:txBody>
      </p:sp>
      <p:sp>
        <p:nvSpPr>
          <p:cNvPr id="252" name="Rectangle 251"/>
          <p:cNvSpPr/>
          <p:nvPr/>
        </p:nvSpPr>
        <p:spPr>
          <a:xfrm>
            <a:off x="1857375" y="5023485"/>
            <a:ext cx="643890" cy="25812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023485"/>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023485"/>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023485"/>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023485"/>
            <a:ext cx="643890" cy="258128"/>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023485"/>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023485"/>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023485"/>
            <a:ext cx="643890" cy="258128"/>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023485"/>
            <a:ext cx="643890" cy="258128"/>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023485"/>
            <a:ext cx="643890" cy="258128"/>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023485"/>
            <a:ext cx="643890" cy="258128"/>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023485"/>
            <a:ext cx="643890" cy="258128"/>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023485"/>
            <a:ext cx="643890" cy="258128"/>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023485"/>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023485"/>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528161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Flat Pouches</a:t>
            </a:r>
          </a:p>
        </p:txBody>
      </p:sp>
      <p:sp>
        <p:nvSpPr>
          <p:cNvPr id="268" name="Rectangle 267"/>
          <p:cNvSpPr/>
          <p:nvPr/>
        </p:nvSpPr>
        <p:spPr>
          <a:xfrm>
            <a:off x="1857375" y="5281612"/>
            <a:ext cx="643890" cy="258128"/>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5281612"/>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5281612"/>
            <a:ext cx="643890" cy="25812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5281612"/>
            <a:ext cx="643890" cy="258128"/>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5281612"/>
            <a:ext cx="643890" cy="258128"/>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5281612"/>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5281612"/>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5281612"/>
            <a:ext cx="643890" cy="25812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5281612"/>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5281612"/>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5281612"/>
            <a:ext cx="643890" cy="258128"/>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5281612"/>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5281612"/>
            <a:ext cx="643890" cy="25812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5281612"/>
            <a:ext cx="643890" cy="258128"/>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5281612"/>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238125" y="553974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Retort Pouches</a:t>
            </a:r>
          </a:p>
        </p:txBody>
      </p:sp>
      <p:sp>
        <p:nvSpPr>
          <p:cNvPr id="284" name="Rectangle 283"/>
          <p:cNvSpPr/>
          <p:nvPr/>
        </p:nvSpPr>
        <p:spPr>
          <a:xfrm>
            <a:off x="1857375" y="5539740"/>
            <a:ext cx="643890" cy="25812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2501265" y="5539740"/>
            <a:ext cx="643890" cy="258128"/>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3145155" y="5539740"/>
            <a:ext cx="643890" cy="25812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3789045" y="5539740"/>
            <a:ext cx="643890" cy="258128"/>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4432935" y="5539740"/>
            <a:ext cx="643890" cy="258128"/>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5076825" y="5539740"/>
            <a:ext cx="643890" cy="258128"/>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5720715" y="5539740"/>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6364605" y="5539740"/>
            <a:ext cx="643890" cy="258128"/>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7008495" y="5539740"/>
            <a:ext cx="643890" cy="25812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7652385" y="5539740"/>
            <a:ext cx="643890" cy="25812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8296275" y="5539740"/>
            <a:ext cx="643890" cy="25812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8940165" y="5539740"/>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9584055" y="5539740"/>
            <a:ext cx="643890" cy="25812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0227945" y="5539740"/>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0871835" y="5539740"/>
            <a:ext cx="643890" cy="258128"/>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38125" y="579786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Sachets &amp; Stick Packs</a:t>
            </a:r>
          </a:p>
        </p:txBody>
      </p:sp>
      <p:sp>
        <p:nvSpPr>
          <p:cNvPr id="300" name="Rectangle 299"/>
          <p:cNvSpPr/>
          <p:nvPr/>
        </p:nvSpPr>
        <p:spPr>
          <a:xfrm>
            <a:off x="1857375" y="5797868"/>
            <a:ext cx="643890" cy="258128"/>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2501265" y="5797868"/>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3145155" y="5797868"/>
            <a:ext cx="643890" cy="258128"/>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3789045" y="5797868"/>
            <a:ext cx="643890" cy="258128"/>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4432935" y="5797868"/>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5076825" y="5797868"/>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5720715" y="5797868"/>
            <a:ext cx="643890" cy="258128"/>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6364605" y="5797868"/>
            <a:ext cx="643890" cy="25812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7008495" y="5797868"/>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7652385" y="5797868"/>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8296275" y="5797868"/>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8940165" y="5797868"/>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9584055" y="5797868"/>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0227945" y="5797868"/>
            <a:ext cx="643890" cy="258128"/>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0871835" y="5797868"/>
            <a:ext cx="643890" cy="258128"/>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238125" y="605599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Sachets</a:t>
            </a:r>
          </a:p>
        </p:txBody>
      </p:sp>
      <p:sp>
        <p:nvSpPr>
          <p:cNvPr id="316" name="Rectangle 315"/>
          <p:cNvSpPr/>
          <p:nvPr/>
        </p:nvSpPr>
        <p:spPr>
          <a:xfrm>
            <a:off x="1857375" y="6055995"/>
            <a:ext cx="643890" cy="25812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2501265" y="6055995"/>
            <a:ext cx="643890" cy="258128"/>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3145155" y="6055995"/>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3789045" y="6055995"/>
            <a:ext cx="643890" cy="258128"/>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4432935" y="6055995"/>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5076825" y="6055995"/>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5720715" y="6055995"/>
            <a:ext cx="643890" cy="25812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6364605" y="6055995"/>
            <a:ext cx="643890" cy="25812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Rectangle 323"/>
          <p:cNvSpPr/>
          <p:nvPr/>
        </p:nvSpPr>
        <p:spPr>
          <a:xfrm>
            <a:off x="7008495" y="6055995"/>
            <a:ext cx="643890" cy="25812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Rectangle 324"/>
          <p:cNvSpPr/>
          <p:nvPr/>
        </p:nvSpPr>
        <p:spPr>
          <a:xfrm>
            <a:off x="7652385" y="6055995"/>
            <a:ext cx="643890" cy="258128"/>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6" name="Rectangle 325"/>
          <p:cNvSpPr/>
          <p:nvPr/>
        </p:nvSpPr>
        <p:spPr>
          <a:xfrm>
            <a:off x="8296275" y="6055995"/>
            <a:ext cx="643890" cy="25812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Rectangle 326"/>
          <p:cNvSpPr/>
          <p:nvPr/>
        </p:nvSpPr>
        <p:spPr>
          <a:xfrm>
            <a:off x="8940165" y="6055995"/>
            <a:ext cx="643890" cy="258128"/>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8" name="Rectangle 327"/>
          <p:cNvSpPr/>
          <p:nvPr/>
        </p:nvSpPr>
        <p:spPr>
          <a:xfrm>
            <a:off x="9584055" y="6055995"/>
            <a:ext cx="643890" cy="258128"/>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Rectangle 328"/>
          <p:cNvSpPr/>
          <p:nvPr/>
        </p:nvSpPr>
        <p:spPr>
          <a:xfrm>
            <a:off x="10227945" y="6055995"/>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Rectangle 329"/>
          <p:cNvSpPr/>
          <p:nvPr/>
        </p:nvSpPr>
        <p:spPr>
          <a:xfrm>
            <a:off x="10871835" y="6055995"/>
            <a:ext cx="643890" cy="258128"/>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238125" y="631412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Stick Packs</a:t>
            </a:r>
          </a:p>
        </p:txBody>
      </p:sp>
      <p:sp>
        <p:nvSpPr>
          <p:cNvPr id="332" name="Rectangle 331"/>
          <p:cNvSpPr/>
          <p:nvPr/>
        </p:nvSpPr>
        <p:spPr>
          <a:xfrm>
            <a:off x="1857375" y="6314122"/>
            <a:ext cx="643890" cy="258128"/>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Rectangle 332"/>
          <p:cNvSpPr/>
          <p:nvPr/>
        </p:nvSpPr>
        <p:spPr>
          <a:xfrm>
            <a:off x="2501265" y="6314122"/>
            <a:ext cx="643890" cy="25812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Rectangle 333"/>
          <p:cNvSpPr/>
          <p:nvPr/>
        </p:nvSpPr>
        <p:spPr>
          <a:xfrm>
            <a:off x="3145155" y="6314122"/>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5" name="Rectangle 334"/>
          <p:cNvSpPr/>
          <p:nvPr/>
        </p:nvSpPr>
        <p:spPr>
          <a:xfrm>
            <a:off x="3789045" y="6314122"/>
            <a:ext cx="643890" cy="258128"/>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Rectangle 335"/>
          <p:cNvSpPr/>
          <p:nvPr/>
        </p:nvSpPr>
        <p:spPr>
          <a:xfrm>
            <a:off x="4432935" y="6314122"/>
            <a:ext cx="643890" cy="25812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7" name="Rectangle 336"/>
          <p:cNvSpPr/>
          <p:nvPr/>
        </p:nvSpPr>
        <p:spPr>
          <a:xfrm>
            <a:off x="5076825" y="6314122"/>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Rectangle 337"/>
          <p:cNvSpPr/>
          <p:nvPr/>
        </p:nvSpPr>
        <p:spPr>
          <a:xfrm>
            <a:off x="5720715" y="6314122"/>
            <a:ext cx="643890" cy="258128"/>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Rectangle 338"/>
          <p:cNvSpPr/>
          <p:nvPr/>
        </p:nvSpPr>
        <p:spPr>
          <a:xfrm>
            <a:off x="6364605" y="6314122"/>
            <a:ext cx="643890" cy="258128"/>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Rectangle 339"/>
          <p:cNvSpPr/>
          <p:nvPr/>
        </p:nvSpPr>
        <p:spPr>
          <a:xfrm>
            <a:off x="7008495" y="6314122"/>
            <a:ext cx="643890" cy="258128"/>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1" name="Rectangle 340"/>
          <p:cNvSpPr/>
          <p:nvPr/>
        </p:nvSpPr>
        <p:spPr>
          <a:xfrm>
            <a:off x="7652385" y="6314122"/>
            <a:ext cx="643890" cy="258128"/>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2" name="Rectangle 341"/>
          <p:cNvSpPr/>
          <p:nvPr/>
        </p:nvSpPr>
        <p:spPr>
          <a:xfrm>
            <a:off x="8296275" y="6314122"/>
            <a:ext cx="643890" cy="258128"/>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3" name="Rectangle 342"/>
          <p:cNvSpPr/>
          <p:nvPr/>
        </p:nvSpPr>
        <p:spPr>
          <a:xfrm>
            <a:off x="8940165" y="6314122"/>
            <a:ext cx="643890" cy="25812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4" name="Rectangle 343"/>
          <p:cNvSpPr/>
          <p:nvPr/>
        </p:nvSpPr>
        <p:spPr>
          <a:xfrm>
            <a:off x="9584055" y="6314122"/>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5" name="Rectangle 344"/>
          <p:cNvSpPr/>
          <p:nvPr/>
        </p:nvSpPr>
        <p:spPr>
          <a:xfrm>
            <a:off x="10227945" y="6314122"/>
            <a:ext cx="643890" cy="258128"/>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6" name="Rectangle 345"/>
          <p:cNvSpPr/>
          <p:nvPr/>
        </p:nvSpPr>
        <p:spPr>
          <a:xfrm>
            <a:off x="10871835" y="6314122"/>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7" name="Rectangle 34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8" name="Rectangle 34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9" name="Rectangle 34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0" name="Rectangle 34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Rectangle 35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2" name="Rectangle 35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Rectangle 35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Rectangle 35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5" name="Rectangle 35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Rectangle 35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Rectangle 35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8" name="Rectangle 35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Rectangle 35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Rectangle 35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1" name="Rectangle 36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Rectangle 36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Rectangle 36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4" name="Rectangle 36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Rectangle 36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Rectangle 36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7" name="Rectangle 36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Rectangle 36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Rectangle 36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0" name="Rectangle 36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Rectangle 37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2" name="Rectangle 37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3" name="Rectangle 37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4" name="Rectangle 37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5" name="Rectangle 37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6" name="Rectangle 37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7" name="Rectangle 37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8" name="Rectangle 37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9" name="Rectangle 37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0" name="Rectangle 37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1" name="Rectangle 38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2" name="Rectangle 38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3" name="Rectangle 38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4" name="Rectangle 38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5" name="Rectangle 38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6" name="Rectangle 38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7" name="Rectangle 38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8" name="TextBox 38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89" name="TextBox 38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90" name="TextBox 38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91" name="TextBox 3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Product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Product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Product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Rollstock Films</a:t>
            </a:r>
          </a:p>
        </p:txBody>
      </p:sp>
      <p:sp>
        <p:nvSpPr>
          <p:cNvPr id="28" name="Rectangle 27"/>
          <p:cNvSpPr/>
          <p:nvPr/>
        </p:nvSpPr>
        <p:spPr>
          <a:xfrm>
            <a:off x="1857375" y="1409700"/>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25812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258128"/>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258128"/>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258128"/>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25812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258128"/>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25812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258128"/>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258128"/>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258128"/>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25812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66782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Lidding &amp; Tray-Sealing Films</a:t>
            </a:r>
          </a:p>
        </p:txBody>
      </p:sp>
      <p:sp>
        <p:nvSpPr>
          <p:cNvPr id="44" name="Rectangle 43"/>
          <p:cNvSpPr/>
          <p:nvPr/>
        </p:nvSpPr>
        <p:spPr>
          <a:xfrm>
            <a:off x="1857375" y="1667828"/>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667828"/>
            <a:ext cx="643890" cy="258128"/>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667828"/>
            <a:ext cx="643890" cy="258128"/>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667828"/>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667828"/>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667828"/>
            <a:ext cx="643890" cy="258128"/>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667828"/>
            <a:ext cx="643890" cy="258128"/>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667828"/>
            <a:ext cx="643890" cy="25812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667828"/>
            <a:ext cx="643890" cy="258128"/>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667828"/>
            <a:ext cx="643890" cy="258128"/>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667828"/>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667828"/>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667828"/>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667828"/>
            <a:ext cx="643890" cy="258128"/>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667828"/>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192595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Thermoforming Films</a:t>
            </a:r>
          </a:p>
        </p:txBody>
      </p:sp>
      <p:sp>
        <p:nvSpPr>
          <p:cNvPr id="60" name="Rectangle 59"/>
          <p:cNvSpPr/>
          <p:nvPr/>
        </p:nvSpPr>
        <p:spPr>
          <a:xfrm>
            <a:off x="1857375" y="1925955"/>
            <a:ext cx="643890" cy="258128"/>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1925955"/>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1925955"/>
            <a:ext cx="643890" cy="258128"/>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1925955"/>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1925955"/>
            <a:ext cx="643890" cy="25812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1925955"/>
            <a:ext cx="643890" cy="258128"/>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1925955"/>
            <a:ext cx="643890" cy="258128"/>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1925955"/>
            <a:ext cx="643890" cy="258128"/>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1925955"/>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1925955"/>
            <a:ext cx="643890" cy="258128"/>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1925955"/>
            <a:ext cx="643890" cy="258128"/>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1925955"/>
            <a:ext cx="643890" cy="258128"/>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1925955"/>
            <a:ext cx="643890" cy="258128"/>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1925955"/>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1925955"/>
            <a:ext cx="643890" cy="258128"/>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18408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Skin Packaging Films</a:t>
            </a:r>
          </a:p>
        </p:txBody>
      </p:sp>
      <p:sp>
        <p:nvSpPr>
          <p:cNvPr id="76" name="Rectangle 75"/>
          <p:cNvSpPr/>
          <p:nvPr/>
        </p:nvSpPr>
        <p:spPr>
          <a:xfrm>
            <a:off x="1857375" y="2184082"/>
            <a:ext cx="643890" cy="25812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184082"/>
            <a:ext cx="643890" cy="25812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184082"/>
            <a:ext cx="643890" cy="258128"/>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184082"/>
            <a:ext cx="643890" cy="25812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184082"/>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184082"/>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184082"/>
            <a:ext cx="643890" cy="25812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184082"/>
            <a:ext cx="643890" cy="258128"/>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184082"/>
            <a:ext cx="643890" cy="258128"/>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184082"/>
            <a:ext cx="643890" cy="258128"/>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184082"/>
            <a:ext cx="643890" cy="258128"/>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184082"/>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184082"/>
            <a:ext cx="643890" cy="258128"/>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184082"/>
            <a:ext cx="643890" cy="258128"/>
          </a:xfrm>
          <a:prstGeom prst="rect">
            <a:avLst/>
          </a:prstGeom>
          <a:solidFill>
            <a:srgbClr val="74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184082"/>
            <a:ext cx="643890" cy="25812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44221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HFFS / Flow-Pack Films</a:t>
            </a:r>
          </a:p>
        </p:txBody>
      </p:sp>
      <p:sp>
        <p:nvSpPr>
          <p:cNvPr id="92" name="Rectangle 91"/>
          <p:cNvSpPr/>
          <p:nvPr/>
        </p:nvSpPr>
        <p:spPr>
          <a:xfrm>
            <a:off x="1857375" y="2442210"/>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442210"/>
            <a:ext cx="643890" cy="25812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442210"/>
            <a:ext cx="643890" cy="25812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442210"/>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442210"/>
            <a:ext cx="643890" cy="258128"/>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442210"/>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442210"/>
            <a:ext cx="643890" cy="25812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442210"/>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442210"/>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442210"/>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442210"/>
            <a:ext cx="643890" cy="258128"/>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442210"/>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442210"/>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442210"/>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442210"/>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270033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VFFS Rollstock Films</a:t>
            </a:r>
          </a:p>
        </p:txBody>
      </p:sp>
      <p:sp>
        <p:nvSpPr>
          <p:cNvPr id="108" name="Rectangle 107"/>
          <p:cNvSpPr/>
          <p:nvPr/>
        </p:nvSpPr>
        <p:spPr>
          <a:xfrm>
            <a:off x="1857375" y="2700338"/>
            <a:ext cx="643890" cy="258128"/>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2700338"/>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2700338"/>
            <a:ext cx="643890" cy="25812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2700338"/>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2700338"/>
            <a:ext cx="643890" cy="258128"/>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2700338"/>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2700338"/>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2700338"/>
            <a:ext cx="643890" cy="258128"/>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2700338"/>
            <a:ext cx="643890" cy="258128"/>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2700338"/>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2700338"/>
            <a:ext cx="643890" cy="258128"/>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2700338"/>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2700338"/>
            <a:ext cx="643890" cy="258128"/>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2700338"/>
            <a:ext cx="643890" cy="258128"/>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2700338"/>
            <a:ext cx="643890" cy="25812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295846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&amp; Overwrap Films</a:t>
            </a:r>
          </a:p>
        </p:txBody>
      </p:sp>
      <p:sp>
        <p:nvSpPr>
          <p:cNvPr id="124" name="Rectangle 123"/>
          <p:cNvSpPr/>
          <p:nvPr/>
        </p:nvSpPr>
        <p:spPr>
          <a:xfrm>
            <a:off x="1857375" y="2958465"/>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2958465"/>
            <a:ext cx="643890" cy="25812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2958465"/>
            <a:ext cx="643890" cy="25812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2958465"/>
            <a:ext cx="643890" cy="258128"/>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2958465"/>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2958465"/>
            <a:ext cx="643890" cy="258128"/>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2958465"/>
            <a:ext cx="643890" cy="258128"/>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2958465"/>
            <a:ext cx="643890" cy="258128"/>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2958465"/>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2958465"/>
            <a:ext cx="643890" cy="25812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2958465"/>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2958465"/>
            <a:ext cx="643890" cy="258128"/>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2958465"/>
            <a:ext cx="643890" cy="25812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2958465"/>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2958465"/>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216593"/>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Barrier Casings</a:t>
            </a:r>
          </a:p>
        </p:txBody>
      </p:sp>
      <p:sp>
        <p:nvSpPr>
          <p:cNvPr id="140" name="Rectangle 139"/>
          <p:cNvSpPr/>
          <p:nvPr/>
        </p:nvSpPr>
        <p:spPr>
          <a:xfrm>
            <a:off x="1857375" y="3216593"/>
            <a:ext cx="643890" cy="25812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216593"/>
            <a:ext cx="643890" cy="25812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216593"/>
            <a:ext cx="643890" cy="25812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216593"/>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216593"/>
            <a:ext cx="643890" cy="258128"/>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216593"/>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216593"/>
            <a:ext cx="643890" cy="258128"/>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216593"/>
            <a:ext cx="643890" cy="258128"/>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216593"/>
            <a:ext cx="643890" cy="25812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216593"/>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216593"/>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216593"/>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216593"/>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216593"/>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216593"/>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47472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Non-Shrink Casings</a:t>
            </a:r>
          </a:p>
        </p:txBody>
      </p:sp>
      <p:sp>
        <p:nvSpPr>
          <p:cNvPr id="156" name="Rectangle 155"/>
          <p:cNvSpPr/>
          <p:nvPr/>
        </p:nvSpPr>
        <p:spPr>
          <a:xfrm>
            <a:off x="1857375" y="3474720"/>
            <a:ext cx="643890" cy="25812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474720"/>
            <a:ext cx="643890" cy="258128"/>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474720"/>
            <a:ext cx="643890" cy="258128"/>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474720"/>
            <a:ext cx="643890" cy="258128"/>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474720"/>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474720"/>
            <a:ext cx="643890" cy="258128"/>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474720"/>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474720"/>
            <a:ext cx="643890" cy="258128"/>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474720"/>
            <a:ext cx="643890" cy="258128"/>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474720"/>
            <a:ext cx="643890" cy="258128"/>
          </a:xfrm>
          <a:prstGeom prst="rect">
            <a:avLst/>
          </a:prstGeom>
          <a:solidFill>
            <a:srgbClr val="67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474720"/>
            <a:ext cx="643890" cy="25812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474720"/>
            <a:ext cx="643890" cy="258128"/>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474720"/>
            <a:ext cx="643890" cy="25812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474720"/>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474720"/>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373284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Casings</a:t>
            </a:r>
          </a:p>
        </p:txBody>
      </p:sp>
      <p:sp>
        <p:nvSpPr>
          <p:cNvPr id="172" name="Rectangle 171"/>
          <p:cNvSpPr/>
          <p:nvPr/>
        </p:nvSpPr>
        <p:spPr>
          <a:xfrm>
            <a:off x="1857375" y="3732848"/>
            <a:ext cx="643890" cy="25812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3732848"/>
            <a:ext cx="643890" cy="25812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3732848"/>
            <a:ext cx="643890" cy="258128"/>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3732848"/>
            <a:ext cx="643890" cy="258128"/>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3732848"/>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3732848"/>
            <a:ext cx="643890" cy="258128"/>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3732848"/>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3732848"/>
            <a:ext cx="643890" cy="258128"/>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3732848"/>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3732848"/>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3732848"/>
            <a:ext cx="643890" cy="258128"/>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3732848"/>
            <a:ext cx="643890" cy="258128"/>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3732848"/>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3732848"/>
            <a:ext cx="643890" cy="258128"/>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3732848"/>
            <a:ext cx="643890" cy="258128"/>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399097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Other Specialty Casings</a:t>
            </a:r>
          </a:p>
        </p:txBody>
      </p:sp>
      <p:sp>
        <p:nvSpPr>
          <p:cNvPr id="188" name="Rectangle 187"/>
          <p:cNvSpPr/>
          <p:nvPr/>
        </p:nvSpPr>
        <p:spPr>
          <a:xfrm>
            <a:off x="1857375" y="3990975"/>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3990975"/>
            <a:ext cx="643890" cy="25812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3990975"/>
            <a:ext cx="643890" cy="25812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3990975"/>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3990975"/>
            <a:ext cx="643890" cy="258128"/>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3990975"/>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3990975"/>
            <a:ext cx="643890" cy="25812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3990975"/>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3990975"/>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3990975"/>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3990975"/>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3990975"/>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3990975"/>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3990975"/>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3990975"/>
            <a:ext cx="643890" cy="25812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24910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Premade Pouches &amp; Bags</a:t>
            </a:r>
          </a:p>
        </p:txBody>
      </p:sp>
      <p:sp>
        <p:nvSpPr>
          <p:cNvPr id="204" name="Rectangle 203"/>
          <p:cNvSpPr/>
          <p:nvPr/>
        </p:nvSpPr>
        <p:spPr>
          <a:xfrm>
            <a:off x="1857375" y="4249102"/>
            <a:ext cx="643890" cy="258128"/>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249102"/>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249102"/>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249102"/>
            <a:ext cx="643890" cy="25812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249102"/>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249102"/>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249102"/>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249102"/>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249102"/>
            <a:ext cx="643890" cy="25812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249102"/>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249102"/>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249102"/>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249102"/>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249102"/>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249102"/>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450723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Pouches</a:t>
            </a:r>
          </a:p>
        </p:txBody>
      </p:sp>
      <p:sp>
        <p:nvSpPr>
          <p:cNvPr id="220" name="Rectangle 219"/>
          <p:cNvSpPr/>
          <p:nvPr/>
        </p:nvSpPr>
        <p:spPr>
          <a:xfrm>
            <a:off x="1857375" y="4507230"/>
            <a:ext cx="643890" cy="258128"/>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4507230"/>
            <a:ext cx="643890" cy="25812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4507230"/>
            <a:ext cx="643890" cy="258128"/>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4507230"/>
            <a:ext cx="643890" cy="25812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4507230"/>
            <a:ext cx="643890" cy="25812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4507230"/>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4507230"/>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4507230"/>
            <a:ext cx="643890" cy="25812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4507230"/>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4507230"/>
            <a:ext cx="643890" cy="25812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4507230"/>
            <a:ext cx="643890" cy="258128"/>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4507230"/>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4507230"/>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4507230"/>
            <a:ext cx="643890" cy="258128"/>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4507230"/>
            <a:ext cx="643890" cy="258128"/>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476535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Bags</a:t>
            </a:r>
          </a:p>
        </p:txBody>
      </p:sp>
      <p:sp>
        <p:nvSpPr>
          <p:cNvPr id="236" name="Rectangle 235"/>
          <p:cNvSpPr/>
          <p:nvPr/>
        </p:nvSpPr>
        <p:spPr>
          <a:xfrm>
            <a:off x="1857375" y="4765358"/>
            <a:ext cx="643890" cy="258128"/>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4765358"/>
            <a:ext cx="643890" cy="25812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4765358"/>
            <a:ext cx="643890" cy="258128"/>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4765358"/>
            <a:ext cx="643890" cy="258128"/>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4765358"/>
            <a:ext cx="643890" cy="258128"/>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4765358"/>
            <a:ext cx="643890" cy="258128"/>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4765358"/>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4765358"/>
            <a:ext cx="643890" cy="258128"/>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4765358"/>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4765358"/>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4765358"/>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4765358"/>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4765358"/>
            <a:ext cx="643890" cy="258128"/>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4765358"/>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4765358"/>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02348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Stand-Up Pouches</a:t>
            </a:r>
          </a:p>
        </p:txBody>
      </p:sp>
      <p:sp>
        <p:nvSpPr>
          <p:cNvPr id="252" name="Rectangle 251"/>
          <p:cNvSpPr/>
          <p:nvPr/>
        </p:nvSpPr>
        <p:spPr>
          <a:xfrm>
            <a:off x="1857375" y="5023485"/>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023485"/>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023485"/>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023485"/>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023485"/>
            <a:ext cx="643890" cy="258128"/>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023485"/>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023485"/>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023485"/>
            <a:ext cx="643890" cy="258128"/>
          </a:xfrm>
          <a:prstGeom prst="rect">
            <a:avLst/>
          </a:prstGeom>
          <a:solidFill>
            <a:srgbClr val="8A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023485"/>
            <a:ext cx="643890" cy="258128"/>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023485"/>
            <a:ext cx="643890" cy="258128"/>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023485"/>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023485"/>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023485"/>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023485"/>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023485"/>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528161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Flat Pouches</a:t>
            </a:r>
          </a:p>
        </p:txBody>
      </p:sp>
      <p:sp>
        <p:nvSpPr>
          <p:cNvPr id="268" name="Rectangle 267"/>
          <p:cNvSpPr/>
          <p:nvPr/>
        </p:nvSpPr>
        <p:spPr>
          <a:xfrm>
            <a:off x="1857375" y="5281612"/>
            <a:ext cx="643890" cy="258128"/>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5281612"/>
            <a:ext cx="643890" cy="258128"/>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5281612"/>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5281612"/>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5281612"/>
            <a:ext cx="643890" cy="258128"/>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5281612"/>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5281612"/>
            <a:ext cx="643890" cy="25812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5281612"/>
            <a:ext cx="643890" cy="258128"/>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5281612"/>
            <a:ext cx="643890" cy="258128"/>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5281612"/>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5281612"/>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5281612"/>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5281612"/>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5281612"/>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5281612"/>
            <a:ext cx="643890" cy="25812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238125" y="553974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Retort Pouches</a:t>
            </a:r>
          </a:p>
        </p:txBody>
      </p:sp>
      <p:sp>
        <p:nvSpPr>
          <p:cNvPr id="284" name="Rectangle 283"/>
          <p:cNvSpPr/>
          <p:nvPr/>
        </p:nvSpPr>
        <p:spPr>
          <a:xfrm>
            <a:off x="1857375" y="5539740"/>
            <a:ext cx="643890" cy="258128"/>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2501265" y="5539740"/>
            <a:ext cx="643890" cy="258128"/>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3145155" y="5539740"/>
            <a:ext cx="643890" cy="258128"/>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3789045" y="5539740"/>
            <a:ext cx="643890" cy="25812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4432935" y="5539740"/>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5076825" y="5539740"/>
            <a:ext cx="643890" cy="258128"/>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5720715" y="5539740"/>
            <a:ext cx="643890" cy="25812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6364605" y="5539740"/>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7008495" y="5539740"/>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7652385" y="5539740"/>
            <a:ext cx="643890" cy="25812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8296275" y="5539740"/>
            <a:ext cx="643890" cy="258128"/>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8940165" y="5539740"/>
            <a:ext cx="643890" cy="258128"/>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9584055" y="5539740"/>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0227945" y="5539740"/>
            <a:ext cx="643890" cy="258128"/>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0871835" y="5539740"/>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38125" y="579786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Sachets &amp; Stick Packs</a:t>
            </a:r>
          </a:p>
        </p:txBody>
      </p:sp>
      <p:sp>
        <p:nvSpPr>
          <p:cNvPr id="300" name="Rectangle 299"/>
          <p:cNvSpPr/>
          <p:nvPr/>
        </p:nvSpPr>
        <p:spPr>
          <a:xfrm>
            <a:off x="1857375" y="5797868"/>
            <a:ext cx="643890" cy="258128"/>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2501265" y="5797868"/>
            <a:ext cx="643890" cy="258128"/>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3145155" y="5797868"/>
            <a:ext cx="643890" cy="258128"/>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3789045" y="5797868"/>
            <a:ext cx="643890" cy="258128"/>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4432935" y="5797868"/>
            <a:ext cx="643890" cy="258128"/>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5076825" y="5797868"/>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5720715" y="5797868"/>
            <a:ext cx="643890" cy="258128"/>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6364605" y="5797868"/>
            <a:ext cx="643890" cy="258128"/>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7008495" y="5797868"/>
            <a:ext cx="643890" cy="258128"/>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7652385" y="5797868"/>
            <a:ext cx="643890" cy="258128"/>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8296275" y="5797868"/>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8940165" y="5797868"/>
            <a:ext cx="643890" cy="25812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9584055" y="5797868"/>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0227945" y="5797868"/>
            <a:ext cx="643890" cy="258128"/>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0871835" y="5797868"/>
            <a:ext cx="643890" cy="258128"/>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238125" y="605599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Sachets</a:t>
            </a:r>
          </a:p>
        </p:txBody>
      </p:sp>
      <p:sp>
        <p:nvSpPr>
          <p:cNvPr id="316" name="Rectangle 315"/>
          <p:cNvSpPr/>
          <p:nvPr/>
        </p:nvSpPr>
        <p:spPr>
          <a:xfrm>
            <a:off x="1857375" y="6055995"/>
            <a:ext cx="643890" cy="25812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2501265" y="6055995"/>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3145155" y="6055995"/>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3789045" y="6055995"/>
            <a:ext cx="643890" cy="25812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4432935" y="6055995"/>
            <a:ext cx="643890" cy="258128"/>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5076825" y="6055995"/>
            <a:ext cx="643890" cy="258128"/>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5720715" y="6055995"/>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6364605" y="6055995"/>
            <a:ext cx="643890" cy="258128"/>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Rectangle 323"/>
          <p:cNvSpPr/>
          <p:nvPr/>
        </p:nvSpPr>
        <p:spPr>
          <a:xfrm>
            <a:off x="7008495" y="6055995"/>
            <a:ext cx="643890" cy="25812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Rectangle 324"/>
          <p:cNvSpPr/>
          <p:nvPr/>
        </p:nvSpPr>
        <p:spPr>
          <a:xfrm>
            <a:off x="7652385" y="6055995"/>
            <a:ext cx="643890" cy="258128"/>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6" name="Rectangle 325"/>
          <p:cNvSpPr/>
          <p:nvPr/>
        </p:nvSpPr>
        <p:spPr>
          <a:xfrm>
            <a:off x="8296275" y="6055995"/>
            <a:ext cx="643890" cy="25812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Rectangle 326"/>
          <p:cNvSpPr/>
          <p:nvPr/>
        </p:nvSpPr>
        <p:spPr>
          <a:xfrm>
            <a:off x="8940165" y="6055995"/>
            <a:ext cx="643890" cy="258128"/>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8" name="Rectangle 327"/>
          <p:cNvSpPr/>
          <p:nvPr/>
        </p:nvSpPr>
        <p:spPr>
          <a:xfrm>
            <a:off x="9584055" y="6055995"/>
            <a:ext cx="643890" cy="258128"/>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Rectangle 328"/>
          <p:cNvSpPr/>
          <p:nvPr/>
        </p:nvSpPr>
        <p:spPr>
          <a:xfrm>
            <a:off x="10227945" y="6055995"/>
            <a:ext cx="643890" cy="25812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Rectangle 329"/>
          <p:cNvSpPr/>
          <p:nvPr/>
        </p:nvSpPr>
        <p:spPr>
          <a:xfrm>
            <a:off x="10871835" y="6055995"/>
            <a:ext cx="643890" cy="258128"/>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238125" y="631412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Stick Packs</a:t>
            </a:r>
          </a:p>
        </p:txBody>
      </p:sp>
      <p:sp>
        <p:nvSpPr>
          <p:cNvPr id="332" name="Rectangle 331"/>
          <p:cNvSpPr/>
          <p:nvPr/>
        </p:nvSpPr>
        <p:spPr>
          <a:xfrm>
            <a:off x="1857375" y="6314122"/>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Rectangle 332"/>
          <p:cNvSpPr/>
          <p:nvPr/>
        </p:nvSpPr>
        <p:spPr>
          <a:xfrm>
            <a:off x="2501265" y="6314122"/>
            <a:ext cx="643890" cy="258128"/>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Rectangle 333"/>
          <p:cNvSpPr/>
          <p:nvPr/>
        </p:nvSpPr>
        <p:spPr>
          <a:xfrm>
            <a:off x="3145155" y="6314122"/>
            <a:ext cx="643890" cy="258128"/>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5" name="Rectangle 334"/>
          <p:cNvSpPr/>
          <p:nvPr/>
        </p:nvSpPr>
        <p:spPr>
          <a:xfrm>
            <a:off x="3789045" y="6314122"/>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Rectangle 335"/>
          <p:cNvSpPr/>
          <p:nvPr/>
        </p:nvSpPr>
        <p:spPr>
          <a:xfrm>
            <a:off x="4432935" y="6314122"/>
            <a:ext cx="643890" cy="25812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7" name="Rectangle 336"/>
          <p:cNvSpPr/>
          <p:nvPr/>
        </p:nvSpPr>
        <p:spPr>
          <a:xfrm>
            <a:off x="5076825" y="6314122"/>
            <a:ext cx="643890" cy="258128"/>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Rectangle 337"/>
          <p:cNvSpPr/>
          <p:nvPr/>
        </p:nvSpPr>
        <p:spPr>
          <a:xfrm>
            <a:off x="5720715" y="6314122"/>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Rectangle 338"/>
          <p:cNvSpPr/>
          <p:nvPr/>
        </p:nvSpPr>
        <p:spPr>
          <a:xfrm>
            <a:off x="6364605" y="6314122"/>
            <a:ext cx="643890" cy="258128"/>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Rectangle 339"/>
          <p:cNvSpPr/>
          <p:nvPr/>
        </p:nvSpPr>
        <p:spPr>
          <a:xfrm>
            <a:off x="7008495" y="6314122"/>
            <a:ext cx="643890" cy="258128"/>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1" name="Rectangle 340"/>
          <p:cNvSpPr/>
          <p:nvPr/>
        </p:nvSpPr>
        <p:spPr>
          <a:xfrm>
            <a:off x="7652385" y="6314122"/>
            <a:ext cx="643890" cy="258128"/>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2" name="Rectangle 341"/>
          <p:cNvSpPr/>
          <p:nvPr/>
        </p:nvSpPr>
        <p:spPr>
          <a:xfrm>
            <a:off x="8296275" y="6314122"/>
            <a:ext cx="643890" cy="25812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3" name="Rectangle 342"/>
          <p:cNvSpPr/>
          <p:nvPr/>
        </p:nvSpPr>
        <p:spPr>
          <a:xfrm>
            <a:off x="8940165" y="6314122"/>
            <a:ext cx="643890" cy="258128"/>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4" name="Rectangle 343"/>
          <p:cNvSpPr/>
          <p:nvPr/>
        </p:nvSpPr>
        <p:spPr>
          <a:xfrm>
            <a:off x="9584055" y="6314122"/>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5" name="Rectangle 344"/>
          <p:cNvSpPr/>
          <p:nvPr/>
        </p:nvSpPr>
        <p:spPr>
          <a:xfrm>
            <a:off x="10227945" y="6314122"/>
            <a:ext cx="643890" cy="258128"/>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6" name="Rectangle 345"/>
          <p:cNvSpPr/>
          <p:nvPr/>
        </p:nvSpPr>
        <p:spPr>
          <a:xfrm>
            <a:off x="10871835" y="6314122"/>
            <a:ext cx="643890" cy="258128"/>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7" name="Rectangle 34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8" name="Rectangle 34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9" name="Rectangle 34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0" name="Rectangle 34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Rectangle 35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2" name="Rectangle 35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Rectangle 35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Rectangle 35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5" name="Rectangle 35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Rectangle 35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Rectangle 35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8" name="Rectangle 35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Rectangle 35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Rectangle 35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1" name="Rectangle 36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Rectangle 36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Rectangle 36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4" name="Rectangle 36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Rectangle 36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Rectangle 36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7" name="Rectangle 36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Rectangle 36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Rectangle 36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0" name="Rectangle 36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Rectangle 37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2" name="Rectangle 37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3" name="Rectangle 37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4" name="Rectangle 37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5" name="Rectangle 37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6" name="Rectangle 37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7" name="Rectangle 37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8" name="Rectangle 37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9" name="Rectangle 37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0" name="Rectangle 37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1" name="Rectangle 38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2" name="Rectangle 38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3" name="Rectangle 38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4" name="Rectangle 38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5" name="Rectangle 38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6" name="Rectangle 38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7" name="Rectangle 38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8" name="TextBox 38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89" name="TextBox 38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90" name="TextBox 38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91" name="TextBox 3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Principal Material / Barrier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Principal Material / Barrier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Principal Material / Barrier Technology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11 sub-segments of Principal Material / Barrier Technology…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Principal Material / Barrier Technology segment categorizes the market by principal material / barrier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PE-Based</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10,318</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19,388</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6.5%</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PP-Based</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7,183</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13,076</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6.2%</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PET-Based</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3,487</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6,538</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6.5%</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PA-Based</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2,813</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5,215</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6.4%</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EVOH-Based</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2,767</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5,216</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6.5%</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Metallized Barrier</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2,104</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3,886</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6.3%</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Among flexible plastic packaging by principal material / barrier technology, other specialty barrier technologies segment is expected to witness the highest CAGR of 6.8% over the forecast period. In terms of value share by principal material / barrier technology, the pe-based segment is expected to dominate the market, gaining 37 BPS and accounting for 30.4% share by 2036.</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Pe-based segment is projected to register 1.5X higher value than pp-based segment in 2036.</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PE-Based: </a:t>
            </a:r>
            <a:r>
              <a:rPr sz="1100" b="0">
                <a:solidFill>
                  <a:srgbClr val="2E2E2E"/>
                </a:solidFill>
                <a:latin typeface="Calibri"/>
              </a:rPr>
              <a:t>30% of 2026 value · 6.5%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PP-Based: </a:t>
            </a:r>
            <a:r>
              <a:rPr sz="1100" b="0">
                <a:solidFill>
                  <a:srgbClr val="2E2E2E"/>
                </a:solidFill>
                <a:latin typeface="Calibri"/>
              </a:rPr>
              <a:t>21% of 2026 value · 6.2%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PET-Based: </a:t>
            </a:r>
            <a:r>
              <a:rPr sz="1100" b="0">
                <a:solidFill>
                  <a:srgbClr val="2E2E2E"/>
                </a:solidFill>
                <a:latin typeface="Calibri"/>
              </a:rPr>
              <a:t>10% of 2026 value · 6.5%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PA-Based: </a:t>
            </a:r>
            <a:r>
              <a:rPr sz="1100" b="0">
                <a:solidFill>
                  <a:srgbClr val="2E2E2E"/>
                </a:solidFill>
                <a:latin typeface="Calibri"/>
              </a:rPr>
              <a:t>8% of 2026 value · 6.4%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EVOH-Based: </a:t>
            </a:r>
            <a:r>
              <a:rPr sz="1100" b="0">
                <a:solidFill>
                  <a:srgbClr val="2E2E2E"/>
                </a:solidFill>
                <a:latin typeface="Calibri"/>
              </a:rPr>
              <a:t>8% of 2026 value · 6.5%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Metallized Barrier: </a:t>
            </a:r>
            <a:r>
              <a:rPr sz="1100" b="0">
                <a:solidFill>
                  <a:srgbClr val="2E2E2E"/>
                </a:solidFill>
                <a:latin typeface="Calibri"/>
              </a:rPr>
              <a:t>6% of 2026 value · 6.3% CAGR serves a niche.</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Principal Material / Barrier Technology split shows how demand is distributed across principal material / barrier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Principal Material / Barrier Technology segment is projected to grow at a CAGR of 6.4%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Principal Material / Barrier Technology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11 sub-segments of Principal Material / Barrier Technology…</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Principal Material / Barrier Technology segment categorizes the market by principal material / barrier technology.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90881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90881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PVDC-Based</a:t>
            </a:r>
          </a:p>
        </p:txBody>
      </p:sp>
      <p:sp>
        <p:nvSpPr>
          <p:cNvPr id="22" name="Rectangle 21"/>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1,758</a:t>
            </a:r>
          </a:p>
        </p:txBody>
      </p:sp>
      <p:sp>
        <p:nvSpPr>
          <p:cNvPr id="23" name="Rectangle 22"/>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3,083</a:t>
            </a:r>
          </a:p>
        </p:txBody>
      </p:sp>
      <p:sp>
        <p:nvSpPr>
          <p:cNvPr id="24" name="Rectangle 23"/>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5.8%</a:t>
            </a:r>
          </a:p>
        </p:txBody>
      </p:sp>
      <p:sp>
        <p:nvSpPr>
          <p:cNvPr id="25" name="Oval 24"/>
          <p:cNvSpPr/>
          <p:nvPr/>
        </p:nvSpPr>
        <p:spPr>
          <a:xfrm>
            <a:off x="265938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26" name="Rounded Rectangle 25"/>
          <p:cNvSpPr/>
          <p:nvPr/>
        </p:nvSpPr>
        <p:spPr>
          <a:xfrm>
            <a:off x="389001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89001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Aluminum Foil-Based</a:t>
            </a:r>
          </a:p>
        </p:txBody>
      </p:sp>
      <p:sp>
        <p:nvSpPr>
          <p:cNvPr id="29" name="Rectangle 28"/>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1,097</a:t>
            </a:r>
          </a:p>
        </p:txBody>
      </p:sp>
      <p:sp>
        <p:nvSpPr>
          <p:cNvPr id="30" name="Rectangle 29"/>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1,939</a:t>
            </a:r>
          </a:p>
        </p:txBody>
      </p:sp>
      <p:sp>
        <p:nvSpPr>
          <p:cNvPr id="31" name="Rectangle 30"/>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5.9%</a:t>
            </a:r>
          </a:p>
        </p:txBody>
      </p:sp>
      <p:sp>
        <p:nvSpPr>
          <p:cNvPr id="32" name="Oval 31"/>
          <p:cNvSpPr/>
          <p:nvPr/>
        </p:nvSpPr>
        <p:spPr>
          <a:xfrm>
            <a:off x="468249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33" name="Rounded Rectangle 32"/>
          <p:cNvSpPr/>
          <p:nvPr/>
        </p:nvSpPr>
        <p:spPr>
          <a:xfrm>
            <a:off x="591312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12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Specialty Barrier Technolog…</a:t>
            </a:r>
          </a:p>
        </p:txBody>
      </p:sp>
      <p:sp>
        <p:nvSpPr>
          <p:cNvPr id="36" name="Rectangle 35"/>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1,070</a:t>
            </a:r>
          </a:p>
        </p:txBody>
      </p:sp>
      <p:sp>
        <p:nvSpPr>
          <p:cNvPr id="37" name="Rectangle 36"/>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2,072</a:t>
            </a:r>
          </a:p>
        </p:txBody>
      </p:sp>
      <p:sp>
        <p:nvSpPr>
          <p:cNvPr id="38" name="Rectangle 37"/>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6.8%</a:t>
            </a:r>
          </a:p>
        </p:txBody>
      </p:sp>
      <p:sp>
        <p:nvSpPr>
          <p:cNvPr id="39" name="Oval 38"/>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40" name="Rounded Rectangle 39"/>
          <p:cNvSpPr/>
          <p:nvPr/>
        </p:nvSpPr>
        <p:spPr>
          <a:xfrm>
            <a:off x="793623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93623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AlOx / SiOx-Coated</a:t>
            </a:r>
          </a:p>
        </p:txBody>
      </p:sp>
      <p:sp>
        <p:nvSpPr>
          <p:cNvPr id="43" name="Rectangle 42"/>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1,044</a:t>
            </a:r>
          </a:p>
        </p:txBody>
      </p:sp>
      <p:sp>
        <p:nvSpPr>
          <p:cNvPr id="44" name="Rectangle 43"/>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1,984</a:t>
            </a:r>
          </a:p>
        </p:txBody>
      </p:sp>
      <p:sp>
        <p:nvSpPr>
          <p:cNvPr id="45" name="Rectangle 44"/>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6.6%</a:t>
            </a:r>
          </a:p>
        </p:txBody>
      </p:sp>
      <p:sp>
        <p:nvSpPr>
          <p:cNvPr id="46" name="Oval 45"/>
          <p:cNvSpPr/>
          <p:nvPr/>
        </p:nvSpPr>
        <p:spPr>
          <a:xfrm>
            <a:off x="872871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10</a:t>
            </a:r>
          </a:p>
        </p:txBody>
      </p:sp>
      <p:sp>
        <p:nvSpPr>
          <p:cNvPr id="47" name="Rounded Rectangle 46"/>
          <p:cNvSpPr/>
          <p:nvPr/>
        </p:nvSpPr>
        <p:spPr>
          <a:xfrm>
            <a:off x="995934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995934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PVOH-Based</a:t>
            </a:r>
          </a:p>
        </p:txBody>
      </p:sp>
      <p:sp>
        <p:nvSpPr>
          <p:cNvPr id="50" name="Rectangle 49"/>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693.1</a:t>
            </a:r>
          </a:p>
        </p:txBody>
      </p:sp>
      <p:sp>
        <p:nvSpPr>
          <p:cNvPr id="51" name="Rectangle 50"/>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1,327</a:t>
            </a:r>
          </a:p>
        </p:txBody>
      </p:sp>
      <p:sp>
        <p:nvSpPr>
          <p:cNvPr id="52" name="Rectangle 51"/>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6.7%</a:t>
            </a:r>
          </a:p>
        </p:txBody>
      </p:sp>
      <p:sp>
        <p:nvSpPr>
          <p:cNvPr id="53" name="Oval 52"/>
          <p:cNvSpPr/>
          <p:nvPr/>
        </p:nvSpPr>
        <p:spPr>
          <a:xfrm>
            <a:off x="1075182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11</a:t>
            </a:r>
          </a:p>
        </p:txBody>
      </p:sp>
      <p:sp>
        <p:nvSpPr>
          <p:cNvPr id="54" name="Rounded Rectangle 53"/>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6" name="Rectangle 55"/>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PVDC-Based: </a:t>
            </a:r>
            <a:r>
              <a:rPr sz="1100" b="0">
                <a:solidFill>
                  <a:srgbClr val="2E2E2E"/>
                </a:solidFill>
                <a:latin typeface="Calibri"/>
              </a:rPr>
              <a:t>5% of 2026 value · 5.8%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Aluminum Foil-Based: </a:t>
            </a:r>
            <a:r>
              <a:rPr sz="1100" b="0">
                <a:solidFill>
                  <a:srgbClr val="2E2E2E"/>
                </a:solidFill>
                <a:latin typeface="Calibri"/>
              </a:rPr>
              <a:t>3% of 2026 value · 5.9% CAGR serves a niche.</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Other Specialty Barrier Technologies: </a:t>
            </a:r>
            <a:r>
              <a:rPr sz="1100" b="0">
                <a:solidFill>
                  <a:srgbClr val="2E2E2E"/>
                </a:solidFill>
                <a:latin typeface="Calibri"/>
              </a:rPr>
              <a:t>3% of 2026 value · 6.8%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AlOx / SiOx-Coated: </a:t>
            </a:r>
            <a:r>
              <a:rPr sz="1100" b="0">
                <a:solidFill>
                  <a:srgbClr val="2E2E2E"/>
                </a:solidFill>
                <a:latin typeface="Calibri"/>
              </a:rPr>
              <a:t>3% of 2026 value · 6.6%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PVOH-Based: </a:t>
            </a:r>
            <a:r>
              <a:rPr sz="1100" b="0">
                <a:solidFill>
                  <a:srgbClr val="2E2E2E"/>
                </a:solidFill>
                <a:latin typeface="Calibri"/>
              </a:rPr>
              <a:t>2% of 2026 value · 6.7% CAGR serves a niche.</a:t>
            </a:r>
          </a:p>
        </p:txBody>
      </p:sp>
      <p:sp>
        <p:nvSpPr>
          <p:cNvPr id="58" name="TextBox 5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9" name="TextBox 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Principal Material / Barrier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Principal Material / Barrier Technology mix within each country and the attractiveness of each sub-segment on growth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Principal Material / Barrier Technology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Pe-based followed by pp-based are expected to be the two most attractive principal material / barrier technology segments in the East Asia flexible plastic packaging market in terms of value over the forecast period. PE-Based and PP-Based exhibit a CAGR index of 102 and 97 and a market share index of 331 and 230 respectively, against the segment average of 100. The aluminum foil-based segment is expected to be less attractive as compared to other segments over the forecast period, owing to its lower CAGR and incremental opportunity. PE-Based ranks most attractive on scale, holding 30.1% of value and growing at 6.5%, above the 6.4% market, because mono-PE suits recyclable food, protein and e-commerce packs. Other Specialty Barrier Technologies lead growth at 6.8% but from only 3.1%, and dense e-commerce and convenience retail, ready-meal growth and deep local converting capacity support both.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Principal Material / Barrier Technology (1/3)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PE-Based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PP-Based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PET-Based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PA-Based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Principal Material / Barrier Technology (2/3)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EVOH-Based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PVDC-Based</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PVOH-Based</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Metallized Barrier</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Principal Material / Barrier Technology (3/3)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AlOx / SiOx-Coated</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Aluminum Foil-Based</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Other Specialty Barrier Technologies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East Asia Absolute $ Opportunity Analysis, By Principal Material / Barrier Technology</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By 2036, pe-based segment is anticipated to witness an increase of 1.9X in terms of value as compared to 2026. The PE-Based segment is expected to create an incremental opportunity of US$ 9,070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The PP-Based segment is expected to create an incremental opportunity of US$ 5,893 Mn for the overall flexible plastic packaging market from 2026 to 2036. The PET-Based segment is expected to create an incremental opportunity of US$ 3,051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PE-Based adds the most absolute value because it holds the largest base at about 30% and grows at 6.5%, supported by mono-material recyclable design and strong demand for food and e-commerce packaging. PET-Based and EVOH-Based also contribute meaningfully at 6.5% on retort, ready-meal and fresh food barrier needs. PP-Based and PVDC-Based lose share as buyers move away from older builds.</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Volume Analysis, By Principal Material / Barrier Technology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Principal Material / Barrier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Volume Analysis, By Principal Material / Barrier Technology</a:t>
            </a:r>
          </a:p>
        </p:txBody>
      </p:sp>
      <p:sp>
        <p:nvSpPr>
          <p:cNvPr id="17" name="Rectangle 16"/>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Pe-based segment is projected to register 1.5X higher volume than pp-based segment in 2036. Among flexible plastic packaging by principal material / barrier technology, other specialty barrier technologies segment is expected to witness the highest CAGR of 5.5% over the forecast period.</a:t>
            </a:r>
          </a:p>
          <a:p>
            <a:pPr algn="l">
              <a:lnSpc>
                <a:spcPct val="110000"/>
              </a:lnSpc>
              <a:spcBef>
                <a:spcPts val="0"/>
              </a:spcBef>
              <a:spcAft>
                <a:spcPts val="500"/>
              </a:spcAft>
            </a:pPr>
            <a:r>
              <a:rPr sz="1150" b="0">
                <a:solidFill>
                  <a:srgbClr val="2E2E2E"/>
                </a:solidFill>
                <a:latin typeface="Calibri"/>
              </a:rPr>
              <a:t>In terms of volume share by principal material / barrier technology, the pe-based segment is expected to dominate the market, gaining 36 BPS and accounting for 30.3% share by 2036. The pp-based segment is expected to lose 39 BPS over the forecast period to account for 20.5% share by 2036.</a:t>
            </a:r>
          </a:p>
          <a:p>
            <a:pPr algn="l">
              <a:lnSpc>
                <a:spcPct val="110000"/>
              </a:lnSpc>
              <a:spcBef>
                <a:spcPts val="0"/>
              </a:spcBef>
              <a:spcAft>
                <a:spcPts val="500"/>
              </a:spcAft>
            </a:pPr>
            <a:r>
              <a:rPr sz="1150" b="0">
                <a:solidFill>
                  <a:srgbClr val="2E2E2E"/>
                </a:solidFill>
                <a:latin typeface="Calibri"/>
              </a:rPr>
              <a:t>PE-Based gains 36 BPS of volume share because PE combines low resin cost, strong sealability and straightforward mono-material recycling, which suits lightweight stand-up and lidding formats. Its 5.1% CAGR compares with a 5.0% market rate, while PP-Based loses 39 BPS at 4.8% as PE is displacing PP in mono-material pouch and lidding redesigns. In East Asia, advanced converting capability, convenience retail and ready-meal demand steer specifications.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Principal Material / Barrier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Principal Material / Barrier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Principal Material / Barrier Technology (US$ Mn)</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Principal Material / Barrier Technology</a:t>
            </a:r>
          </a:p>
        </p:txBody>
      </p:sp>
      <p:sp>
        <p:nvSpPr>
          <p:cNvPr id="17" name="Rectangle 16"/>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Pe-based segment is projected to register 1.5X higher value than pp-based segment in 2036. Among flexible plastic packaging by principal material / barrier technology, other specialty barrier technologies segment is expected to witness the highest CAGR of 6.8% over the forecast period.</a:t>
            </a:r>
          </a:p>
          <a:p>
            <a:pPr algn="l">
              <a:lnSpc>
                <a:spcPct val="110000"/>
              </a:lnSpc>
              <a:spcBef>
                <a:spcPts val="0"/>
              </a:spcBef>
              <a:spcAft>
                <a:spcPts val="500"/>
              </a:spcAft>
            </a:pPr>
            <a:r>
              <a:rPr sz="1150" b="0">
                <a:solidFill>
                  <a:srgbClr val="2E2E2E"/>
                </a:solidFill>
                <a:latin typeface="Calibri"/>
              </a:rPr>
              <a:t>In terms of value share by principal material / barrier technology, the pe-based segment is expected to dominate the market, gaining 37 BPS and accounting for 30.4% share by 2036. The pp-based segment is expected to lose 40 BPS over the forecast period to account for 20.5% share by 2036.</a:t>
            </a:r>
          </a:p>
          <a:p>
            <a:pPr algn="l">
              <a:lnSpc>
                <a:spcPct val="110000"/>
              </a:lnSpc>
              <a:spcBef>
                <a:spcPts val="0"/>
              </a:spcBef>
              <a:spcAft>
                <a:spcPts val="500"/>
              </a:spcAft>
            </a:pPr>
            <a:r>
              <a:rPr sz="1150" b="0">
                <a:solidFill>
                  <a:srgbClr val="2E2E2E"/>
                </a:solidFill>
                <a:latin typeface="Calibri"/>
              </a:rPr>
              <a:t>PE-Based gains 37 BPS and grows at 6.5% because polyethylene is cost-efficient and heat-sealable and fits the shift toward mono-material recyclable packs in a region with expanding recycling policy. PP-Based loses 40 BPS at 6.2% as PE and specialty barriers take applications in frozen food and pouches. PVDC-Based also loses ground at 5.8% as brands move away from chlorinated barrier layers.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Principal Material / Barrier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Principal Material / Barrier Technology in 2021, 2026 and 2036, highlighting share shifts in basis…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Principal Material / Barrier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3318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5684" y="18331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903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PE-Based</a:t>
            </a:r>
          </a:p>
        </p:txBody>
      </p:sp>
      <p:sp>
        <p:nvSpPr>
          <p:cNvPr id="19" name="BPS Value 1"/>
          <p:cNvSpPr txBox="1"/>
          <p:nvPr/>
        </p:nvSpPr>
        <p:spPr>
          <a:xfrm>
            <a:off x="6896100" y="1790319"/>
            <a:ext cx="514350" cy="171450"/>
          </a:xfrm>
          <a:prstGeom prst="rect">
            <a:avLst/>
          </a:prstGeom>
          <a:noFill/>
        </p:spPr>
        <p:txBody>
          <a:bodyPr wrap="none" lIns="0" rIns="0" tIns="0" bIns="0" anchor="ctr">
            <a:spAutoFit/>
          </a:bodyPr>
          <a:lstStyle/>
          <a:p>
            <a:pPr algn="r"/>
            <a:r>
              <a:rPr sz="900" b="1">
                <a:solidFill>
                  <a:srgbClr val="2E7D32"/>
                </a:solidFill>
                <a:latin typeface="Calibri"/>
              </a:rPr>
              <a:t>+37</a:t>
            </a:r>
          </a:p>
        </p:txBody>
      </p:sp>
      <p:sp>
        <p:nvSpPr>
          <p:cNvPr id="20" name="FMI Legend Chip"/>
          <p:cNvSpPr/>
          <p:nvPr/>
        </p:nvSpPr>
        <p:spPr>
          <a:xfrm>
            <a:off x="4928997" y="200463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5684" y="20046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61769"/>
            <a:ext cx="2178844" cy="171450"/>
          </a:xfrm>
          <a:prstGeom prst="rect">
            <a:avLst/>
          </a:prstGeom>
          <a:noFill/>
        </p:spPr>
        <p:txBody>
          <a:bodyPr wrap="none" lIns="19050" rIns="19050" tIns="0" bIns="0" anchor="ctr">
            <a:spAutoFit/>
          </a:bodyPr>
          <a:lstStyle/>
          <a:p>
            <a:pPr algn="l"/>
            <a:r>
              <a:rPr sz="900" b="0">
                <a:solidFill>
                  <a:srgbClr val="2E2E2E"/>
                </a:solidFill>
                <a:latin typeface="Calibri"/>
              </a:rPr>
              <a:t>Other Specialty Barrier Technologies</a:t>
            </a:r>
          </a:p>
        </p:txBody>
      </p:sp>
      <p:sp>
        <p:nvSpPr>
          <p:cNvPr id="23" name="BPS Value 2"/>
          <p:cNvSpPr txBox="1"/>
          <p:nvPr/>
        </p:nvSpPr>
        <p:spPr>
          <a:xfrm>
            <a:off x="6896100" y="1961769"/>
            <a:ext cx="514350" cy="171450"/>
          </a:xfrm>
          <a:prstGeom prst="rect">
            <a:avLst/>
          </a:prstGeom>
          <a:noFill/>
        </p:spPr>
        <p:txBody>
          <a:bodyPr wrap="none" lIns="0" rIns="0" tIns="0" bIns="0" anchor="ctr">
            <a:spAutoFit/>
          </a:bodyPr>
          <a:lstStyle/>
          <a:p>
            <a:pPr algn="r"/>
            <a:r>
              <a:rPr sz="900" b="1">
                <a:solidFill>
                  <a:srgbClr val="2E7D32"/>
                </a:solidFill>
                <a:latin typeface="Calibri"/>
              </a:rPr>
              <a:t>+13</a:t>
            </a:r>
          </a:p>
        </p:txBody>
      </p:sp>
      <p:sp>
        <p:nvSpPr>
          <p:cNvPr id="24" name="FMI Legend Chip"/>
          <p:cNvSpPr/>
          <p:nvPr/>
        </p:nvSpPr>
        <p:spPr>
          <a:xfrm>
            <a:off x="4928997" y="217608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5684" y="21760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1332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EVOH-Based</a:t>
            </a:r>
          </a:p>
        </p:txBody>
      </p:sp>
      <p:sp>
        <p:nvSpPr>
          <p:cNvPr id="27" name="BPS Value 3"/>
          <p:cNvSpPr txBox="1"/>
          <p:nvPr/>
        </p:nvSpPr>
        <p:spPr>
          <a:xfrm>
            <a:off x="6896100" y="2133219"/>
            <a:ext cx="514350" cy="171450"/>
          </a:xfrm>
          <a:prstGeom prst="rect">
            <a:avLst/>
          </a:prstGeom>
          <a:noFill/>
        </p:spPr>
        <p:txBody>
          <a:bodyPr wrap="none" lIns="0" rIns="0" tIns="0" bIns="0" anchor="ctr">
            <a:spAutoFit/>
          </a:bodyPr>
          <a:lstStyle/>
          <a:p>
            <a:pPr algn="r"/>
            <a:r>
              <a:rPr sz="900" b="1">
                <a:solidFill>
                  <a:srgbClr val="2E7D32"/>
                </a:solidFill>
                <a:latin typeface="Calibri"/>
              </a:rPr>
              <a:t>+13</a:t>
            </a:r>
          </a:p>
        </p:txBody>
      </p:sp>
      <p:sp>
        <p:nvSpPr>
          <p:cNvPr id="28" name="FMI Legend Chip"/>
          <p:cNvSpPr/>
          <p:nvPr/>
        </p:nvSpPr>
        <p:spPr>
          <a:xfrm>
            <a:off x="4928997" y="234753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5684" y="23475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3046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PET-Based</a:t>
            </a:r>
          </a:p>
        </p:txBody>
      </p:sp>
      <p:sp>
        <p:nvSpPr>
          <p:cNvPr id="31" name="BPS Value 4"/>
          <p:cNvSpPr txBox="1"/>
          <p:nvPr/>
        </p:nvSpPr>
        <p:spPr>
          <a:xfrm>
            <a:off x="6896100" y="2304669"/>
            <a:ext cx="514350" cy="171450"/>
          </a:xfrm>
          <a:prstGeom prst="rect">
            <a:avLst/>
          </a:prstGeom>
          <a:noFill/>
        </p:spPr>
        <p:txBody>
          <a:bodyPr wrap="none" lIns="0" rIns="0" tIns="0" bIns="0" anchor="ctr">
            <a:spAutoFit/>
          </a:bodyPr>
          <a:lstStyle/>
          <a:p>
            <a:pPr algn="r"/>
            <a:r>
              <a:rPr sz="900" b="1">
                <a:solidFill>
                  <a:srgbClr val="2E7D32"/>
                </a:solidFill>
                <a:latin typeface="Calibri"/>
              </a:rPr>
              <a:t>+10</a:t>
            </a:r>
          </a:p>
        </p:txBody>
      </p:sp>
      <p:sp>
        <p:nvSpPr>
          <p:cNvPr id="32" name="FMI Legend Chip"/>
          <p:cNvSpPr/>
          <p:nvPr/>
        </p:nvSpPr>
        <p:spPr>
          <a:xfrm>
            <a:off x="4928997" y="2518982"/>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5684" y="25189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24761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AlOx / SiOx-Coated</a:t>
            </a:r>
          </a:p>
        </p:txBody>
      </p:sp>
      <p:sp>
        <p:nvSpPr>
          <p:cNvPr id="35" name="BPS Value 5"/>
          <p:cNvSpPr txBox="1"/>
          <p:nvPr/>
        </p:nvSpPr>
        <p:spPr>
          <a:xfrm>
            <a:off x="6896100" y="2476119"/>
            <a:ext cx="514350" cy="171450"/>
          </a:xfrm>
          <a:prstGeom prst="rect">
            <a:avLst/>
          </a:prstGeom>
          <a:noFill/>
        </p:spPr>
        <p:txBody>
          <a:bodyPr wrap="none" lIns="0" rIns="0" tIns="0" bIns="0" anchor="ctr">
            <a:spAutoFit/>
          </a:bodyPr>
          <a:lstStyle/>
          <a:p>
            <a:pPr algn="r"/>
            <a:r>
              <a:rPr sz="900" b="1">
                <a:solidFill>
                  <a:srgbClr val="2E7D32"/>
                </a:solidFill>
                <a:latin typeface="Calibri"/>
              </a:rPr>
              <a:t>+7</a:t>
            </a:r>
          </a:p>
        </p:txBody>
      </p:sp>
      <p:sp>
        <p:nvSpPr>
          <p:cNvPr id="36" name="FMI Legend Chip"/>
          <p:cNvSpPr/>
          <p:nvPr/>
        </p:nvSpPr>
        <p:spPr>
          <a:xfrm>
            <a:off x="4928997" y="2690432"/>
            <a:ext cx="85725" cy="85725"/>
          </a:xfrm>
          <a:prstGeom prst="rect">
            <a:avLst/>
          </a:prstGeom>
          <a:solidFill>
            <a:srgbClr val="B2B2B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5684" y="26904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26475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PVOH-Based</a:t>
            </a:r>
          </a:p>
        </p:txBody>
      </p:sp>
      <p:sp>
        <p:nvSpPr>
          <p:cNvPr id="39" name="BPS Value 6"/>
          <p:cNvSpPr txBox="1"/>
          <p:nvPr/>
        </p:nvSpPr>
        <p:spPr>
          <a:xfrm>
            <a:off x="6896100" y="2647569"/>
            <a:ext cx="514350" cy="171450"/>
          </a:xfrm>
          <a:prstGeom prst="rect">
            <a:avLst/>
          </a:prstGeom>
          <a:noFill/>
        </p:spPr>
        <p:txBody>
          <a:bodyPr wrap="none" lIns="0" rIns="0" tIns="0" bIns="0" anchor="ctr">
            <a:spAutoFit/>
          </a:bodyPr>
          <a:lstStyle/>
          <a:p>
            <a:pPr algn="r"/>
            <a:r>
              <a:rPr sz="900" b="1">
                <a:solidFill>
                  <a:srgbClr val="2E7D32"/>
                </a:solidFill>
                <a:latin typeface="Calibri"/>
              </a:rPr>
              <a:t>+6</a:t>
            </a:r>
          </a:p>
        </p:txBody>
      </p:sp>
      <p:sp>
        <p:nvSpPr>
          <p:cNvPr id="40" name="FMI Legend Chip"/>
          <p:cNvSpPr/>
          <p:nvPr/>
        </p:nvSpPr>
        <p:spPr>
          <a:xfrm>
            <a:off x="4928997" y="286188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5684" y="28618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28190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PA-Based</a:t>
            </a:r>
          </a:p>
        </p:txBody>
      </p:sp>
      <p:sp>
        <p:nvSpPr>
          <p:cNvPr id="43" name="BPS Value 7"/>
          <p:cNvSpPr txBox="1"/>
          <p:nvPr/>
        </p:nvSpPr>
        <p:spPr>
          <a:xfrm>
            <a:off x="6896100" y="2819019"/>
            <a:ext cx="514350" cy="171450"/>
          </a:xfrm>
          <a:prstGeom prst="rect">
            <a:avLst/>
          </a:prstGeom>
          <a:noFill/>
        </p:spPr>
        <p:txBody>
          <a:bodyPr wrap="none" lIns="0" rIns="0" tIns="0" bIns="0" anchor="ctr">
            <a:spAutoFit/>
          </a:bodyPr>
          <a:lstStyle/>
          <a:p>
            <a:pPr algn="r"/>
            <a:r>
              <a:rPr sz="900" b="1">
                <a:solidFill>
                  <a:srgbClr val="E44D3A"/>
                </a:solidFill>
                <a:latin typeface="Calibri"/>
              </a:rPr>
              <a:t>-1</a:t>
            </a:r>
          </a:p>
        </p:txBody>
      </p:sp>
      <p:sp>
        <p:nvSpPr>
          <p:cNvPr id="44" name="FMI Legend Chip"/>
          <p:cNvSpPr/>
          <p:nvPr/>
        </p:nvSpPr>
        <p:spPr>
          <a:xfrm>
            <a:off x="4928997" y="303333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5095684" y="303333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29904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Metallized Barrier</a:t>
            </a:r>
          </a:p>
        </p:txBody>
      </p:sp>
      <p:sp>
        <p:nvSpPr>
          <p:cNvPr id="47" name="BPS Value 8"/>
          <p:cNvSpPr txBox="1"/>
          <p:nvPr/>
        </p:nvSpPr>
        <p:spPr>
          <a:xfrm>
            <a:off x="6896100" y="2990469"/>
            <a:ext cx="514350" cy="171450"/>
          </a:xfrm>
          <a:prstGeom prst="rect">
            <a:avLst/>
          </a:prstGeom>
          <a:noFill/>
        </p:spPr>
        <p:txBody>
          <a:bodyPr wrap="none" lIns="0" rIns="0" tIns="0" bIns="0" anchor="ctr">
            <a:spAutoFit/>
          </a:bodyPr>
          <a:lstStyle/>
          <a:p>
            <a:pPr algn="r"/>
            <a:r>
              <a:rPr sz="900" b="1">
                <a:solidFill>
                  <a:srgbClr val="E44D3A"/>
                </a:solidFill>
                <a:latin typeface="Calibri"/>
              </a:rPr>
              <a:t>-3</a:t>
            </a:r>
          </a:p>
        </p:txBody>
      </p:sp>
      <p:sp>
        <p:nvSpPr>
          <p:cNvPr id="48" name="FMI Legend Chip"/>
          <p:cNvSpPr/>
          <p:nvPr/>
        </p:nvSpPr>
        <p:spPr>
          <a:xfrm>
            <a:off x="4928997" y="3204782"/>
            <a:ext cx="85725" cy="8572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rot="10800000">
            <a:off x="5095684" y="32047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5233797" y="31619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Aluminum Foil-Based</a:t>
            </a:r>
          </a:p>
        </p:txBody>
      </p:sp>
      <p:sp>
        <p:nvSpPr>
          <p:cNvPr id="51" name="BPS Value 9"/>
          <p:cNvSpPr txBox="1"/>
          <p:nvPr/>
        </p:nvSpPr>
        <p:spPr>
          <a:xfrm>
            <a:off x="6896100" y="3161919"/>
            <a:ext cx="514350" cy="171450"/>
          </a:xfrm>
          <a:prstGeom prst="rect">
            <a:avLst/>
          </a:prstGeom>
          <a:noFill/>
        </p:spPr>
        <p:txBody>
          <a:bodyPr wrap="none" lIns="0" rIns="0" tIns="0" bIns="0" anchor="ctr">
            <a:spAutoFit/>
          </a:bodyPr>
          <a:lstStyle/>
          <a:p>
            <a:pPr algn="r"/>
            <a:r>
              <a:rPr sz="900" b="1">
                <a:solidFill>
                  <a:srgbClr val="E44D3A"/>
                </a:solidFill>
                <a:latin typeface="Calibri"/>
              </a:rPr>
              <a:t>-15</a:t>
            </a:r>
          </a:p>
        </p:txBody>
      </p:sp>
      <p:sp>
        <p:nvSpPr>
          <p:cNvPr id="52" name="FMI Legend Chip"/>
          <p:cNvSpPr/>
          <p:nvPr/>
        </p:nvSpPr>
        <p:spPr>
          <a:xfrm>
            <a:off x="4928997" y="337623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Isosceles Triangle 52"/>
          <p:cNvSpPr/>
          <p:nvPr/>
        </p:nvSpPr>
        <p:spPr>
          <a:xfrm rot="10800000">
            <a:off x="5095684" y="337623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BPS Name 10"/>
          <p:cNvSpPr txBox="1"/>
          <p:nvPr/>
        </p:nvSpPr>
        <p:spPr>
          <a:xfrm>
            <a:off x="5233797" y="33333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PVDC-Based</a:t>
            </a:r>
          </a:p>
        </p:txBody>
      </p:sp>
      <p:sp>
        <p:nvSpPr>
          <p:cNvPr id="55" name="BPS Value 10"/>
          <p:cNvSpPr txBox="1"/>
          <p:nvPr/>
        </p:nvSpPr>
        <p:spPr>
          <a:xfrm>
            <a:off x="6896100" y="3333369"/>
            <a:ext cx="514350" cy="171450"/>
          </a:xfrm>
          <a:prstGeom prst="rect">
            <a:avLst/>
          </a:prstGeom>
          <a:noFill/>
        </p:spPr>
        <p:txBody>
          <a:bodyPr wrap="none" lIns="0" rIns="0" tIns="0" bIns="0" anchor="ctr">
            <a:spAutoFit/>
          </a:bodyPr>
          <a:lstStyle/>
          <a:p>
            <a:pPr algn="r"/>
            <a:r>
              <a:rPr sz="900" b="1">
                <a:solidFill>
                  <a:srgbClr val="E44D3A"/>
                </a:solidFill>
                <a:latin typeface="Calibri"/>
              </a:rPr>
              <a:t>-28</a:t>
            </a:r>
          </a:p>
        </p:txBody>
      </p:sp>
      <p:sp>
        <p:nvSpPr>
          <p:cNvPr id="56" name="FMI Legend Chip"/>
          <p:cNvSpPr/>
          <p:nvPr/>
        </p:nvSpPr>
        <p:spPr>
          <a:xfrm>
            <a:off x="4928997" y="354768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Isosceles Triangle 56"/>
          <p:cNvSpPr/>
          <p:nvPr/>
        </p:nvSpPr>
        <p:spPr>
          <a:xfrm rot="10800000">
            <a:off x="5095684" y="35476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BPS Name 11"/>
          <p:cNvSpPr txBox="1"/>
          <p:nvPr/>
        </p:nvSpPr>
        <p:spPr>
          <a:xfrm>
            <a:off x="5233797" y="35048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PP-Based</a:t>
            </a:r>
          </a:p>
        </p:txBody>
      </p:sp>
      <p:sp>
        <p:nvSpPr>
          <p:cNvPr id="59" name="BPS Value 11"/>
          <p:cNvSpPr txBox="1"/>
          <p:nvPr/>
        </p:nvSpPr>
        <p:spPr>
          <a:xfrm>
            <a:off x="6896100" y="3504819"/>
            <a:ext cx="514350" cy="171450"/>
          </a:xfrm>
          <a:prstGeom prst="rect">
            <a:avLst/>
          </a:prstGeom>
          <a:noFill/>
        </p:spPr>
        <p:txBody>
          <a:bodyPr wrap="none" lIns="0" rIns="0" tIns="0" bIns="0" anchor="ctr">
            <a:spAutoFit/>
          </a:bodyPr>
          <a:lstStyle/>
          <a:p>
            <a:pPr algn="r"/>
            <a:r>
              <a:rPr sz="900" b="1">
                <a:solidFill>
                  <a:srgbClr val="E44D3A"/>
                </a:solidFill>
                <a:latin typeface="Calibri"/>
              </a:rPr>
              <a:t>-40</a:t>
            </a:r>
          </a:p>
        </p:txBody>
      </p:sp>
      <p:sp>
        <p:nvSpPr>
          <p:cNvPr id="60" name="Rounded Rectangle 5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Principal Material / Barrier Technology</a:t>
            </a:r>
          </a:p>
        </p:txBody>
      </p:sp>
      <p:sp>
        <p:nvSpPr>
          <p:cNvPr id="62" name="Rectangle 6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principal material / barrier technology, other specialty barrier technologies segment is expected to witness the highest CAGR of 6.8% over the forecast period. In terms of value share by principal material / barrier technology, the pe-based segment is expected to dominate the market, gaining 37 BPS and accounting for 30.4% share by 2036.</a:t>
            </a:r>
          </a:p>
          <a:p>
            <a:pPr algn="l">
              <a:lnSpc>
                <a:spcPct val="110000"/>
              </a:lnSpc>
              <a:spcBef>
                <a:spcPts val="0"/>
              </a:spcBef>
              <a:spcAft>
                <a:spcPts val="500"/>
              </a:spcAft>
            </a:pPr>
            <a:r>
              <a:rPr sz="1150" b="0">
                <a:solidFill>
                  <a:srgbClr val="2E2E2E"/>
                </a:solidFill>
                <a:latin typeface="Calibri"/>
              </a:rPr>
              <a:t>The pp-based segment is expected to lose 40 BPS over the forecast period to account for 20.5% share by 2036.</a:t>
            </a:r>
          </a:p>
          <a:p>
            <a:pPr algn="l">
              <a:lnSpc>
                <a:spcPct val="110000"/>
              </a:lnSpc>
              <a:spcBef>
                <a:spcPts val="0"/>
              </a:spcBef>
              <a:spcAft>
                <a:spcPts val="500"/>
              </a:spcAft>
            </a:pPr>
            <a:r>
              <a:rPr sz="1150" b="0">
                <a:solidFill>
                  <a:srgbClr val="2E2E2E"/>
                </a:solidFill>
                <a:latin typeface="Calibri"/>
              </a:rPr>
              <a:t>Other Specialty Barrier Technologies grow fastest at 6.8% against the 6.4% market because new coatings, bio-based and recyclable-barrier solutions are replacing PVDC and foil in applications needing high oxygen and moisture protection. Small starting size amplifies growth, while demand is helped by dense e-commerce and convenience retail, ready-meal growth and deep local converting capacity.</a:t>
            </a:r>
          </a:p>
        </p:txBody>
      </p:sp>
      <p:sp>
        <p:nvSpPr>
          <p:cNvPr id="64" name="TextBox 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Volume, By Principal Material / Barrier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Principal Material / Barrier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YoY Growth,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YoY Heatmap, By Principal Material / Barrier Technology (%)  ·  light = lower, dark = higher growth</a:t>
            </a:r>
          </a:p>
        </p:txBody>
      </p:sp>
      <p:sp>
        <p:nvSpPr>
          <p:cNvPr id="17" name="TextBox 16"/>
          <p:cNvSpPr txBox="1"/>
          <p:nvPr/>
        </p:nvSpPr>
        <p:spPr>
          <a:xfrm>
            <a:off x="18573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60057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sp>
        <p:nvSpPr>
          <p:cNvPr id="33" name="Rectangle 32"/>
          <p:cNvSpPr/>
          <p:nvPr/>
        </p:nvSpPr>
        <p:spPr>
          <a:xfrm>
            <a:off x="1857375" y="4600575"/>
            <a:ext cx="643890" cy="179243"/>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600575"/>
            <a:ext cx="643890" cy="179243"/>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600575"/>
            <a:ext cx="643890" cy="17924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600575"/>
            <a:ext cx="643890" cy="17924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600575"/>
            <a:ext cx="643890" cy="179243"/>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600575"/>
            <a:ext cx="643890" cy="179243"/>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600575"/>
            <a:ext cx="643890" cy="179243"/>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600575"/>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600575"/>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600575"/>
            <a:ext cx="643890" cy="179243"/>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600575"/>
            <a:ext cx="643890" cy="179243"/>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600575"/>
            <a:ext cx="643890" cy="17924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600575"/>
            <a:ext cx="643890" cy="17924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600575"/>
            <a:ext cx="643890" cy="179243"/>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600575"/>
            <a:ext cx="643890" cy="179243"/>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7981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sp>
        <p:nvSpPr>
          <p:cNvPr id="49" name="Rectangle 48"/>
          <p:cNvSpPr/>
          <p:nvPr/>
        </p:nvSpPr>
        <p:spPr>
          <a:xfrm>
            <a:off x="1857375" y="4779818"/>
            <a:ext cx="643890" cy="179243"/>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779818"/>
            <a:ext cx="643890" cy="179243"/>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779818"/>
            <a:ext cx="643890" cy="179243"/>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779818"/>
            <a:ext cx="643890" cy="179243"/>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779818"/>
            <a:ext cx="643890" cy="17924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779818"/>
            <a:ext cx="643890" cy="179243"/>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779818"/>
            <a:ext cx="643890" cy="179243"/>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779818"/>
            <a:ext cx="643890" cy="179243"/>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779818"/>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779818"/>
            <a:ext cx="643890" cy="179243"/>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779818"/>
            <a:ext cx="643890" cy="17924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779818"/>
            <a:ext cx="643890" cy="179243"/>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779818"/>
            <a:ext cx="643890" cy="179243"/>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779818"/>
            <a:ext cx="643890" cy="179243"/>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779818"/>
            <a:ext cx="643890" cy="179243"/>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5906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65" name="Rectangle 64"/>
          <p:cNvSpPr/>
          <p:nvPr/>
        </p:nvSpPr>
        <p:spPr>
          <a:xfrm>
            <a:off x="1857375" y="4959061"/>
            <a:ext cx="643890" cy="17924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59061"/>
            <a:ext cx="643890" cy="17924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59061"/>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59061"/>
            <a:ext cx="643890" cy="179243"/>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59061"/>
            <a:ext cx="643890" cy="179243"/>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59061"/>
            <a:ext cx="643890" cy="179243"/>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59061"/>
            <a:ext cx="643890" cy="179243"/>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59061"/>
            <a:ext cx="643890" cy="17924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59061"/>
            <a:ext cx="643890" cy="179243"/>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59061"/>
            <a:ext cx="643890" cy="179243"/>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59061"/>
            <a:ext cx="643890" cy="17924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59061"/>
            <a:ext cx="643890" cy="17924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59061"/>
            <a:ext cx="643890" cy="179243"/>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59061"/>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59061"/>
            <a:ext cx="643890" cy="179243"/>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3830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sp>
        <p:nvSpPr>
          <p:cNvPr id="81" name="Rectangle 80"/>
          <p:cNvSpPr/>
          <p:nvPr/>
        </p:nvSpPr>
        <p:spPr>
          <a:xfrm>
            <a:off x="1857375" y="5138305"/>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38305"/>
            <a:ext cx="643890" cy="17924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38305"/>
            <a:ext cx="643890" cy="17924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38305"/>
            <a:ext cx="643890" cy="179243"/>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38305"/>
            <a:ext cx="643890" cy="179243"/>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38305"/>
            <a:ext cx="643890" cy="17924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38305"/>
            <a:ext cx="643890" cy="179243"/>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38305"/>
            <a:ext cx="643890" cy="179243"/>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38305"/>
            <a:ext cx="643890" cy="179243"/>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38305"/>
            <a:ext cx="643890" cy="179243"/>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38305"/>
            <a:ext cx="643890" cy="179243"/>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38305"/>
            <a:ext cx="643890" cy="179243"/>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38305"/>
            <a:ext cx="643890" cy="179243"/>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38305"/>
            <a:ext cx="643890" cy="179243"/>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38305"/>
            <a:ext cx="643890" cy="179243"/>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1754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sp>
        <p:nvSpPr>
          <p:cNvPr id="97" name="Rectangle 96"/>
          <p:cNvSpPr/>
          <p:nvPr/>
        </p:nvSpPr>
        <p:spPr>
          <a:xfrm>
            <a:off x="1857375" y="5317548"/>
            <a:ext cx="643890" cy="179243"/>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317548"/>
            <a:ext cx="643890" cy="179243"/>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317548"/>
            <a:ext cx="643890" cy="179243"/>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317548"/>
            <a:ext cx="643890" cy="179243"/>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317548"/>
            <a:ext cx="643890" cy="179243"/>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317548"/>
            <a:ext cx="643890" cy="179243"/>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317548"/>
            <a:ext cx="643890" cy="17924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317548"/>
            <a:ext cx="643890" cy="179243"/>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317548"/>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317548"/>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317548"/>
            <a:ext cx="643890" cy="17924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317548"/>
            <a:ext cx="643890" cy="17924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317548"/>
            <a:ext cx="643890" cy="17924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317548"/>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317548"/>
            <a:ext cx="643890" cy="179243"/>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49679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sp>
        <p:nvSpPr>
          <p:cNvPr id="113" name="Rectangle 112"/>
          <p:cNvSpPr/>
          <p:nvPr/>
        </p:nvSpPr>
        <p:spPr>
          <a:xfrm>
            <a:off x="1857375" y="5496791"/>
            <a:ext cx="643890" cy="179243"/>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496791"/>
            <a:ext cx="643890" cy="179243"/>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496791"/>
            <a:ext cx="643890" cy="17924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496791"/>
            <a:ext cx="643890" cy="179243"/>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496791"/>
            <a:ext cx="643890" cy="17924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496791"/>
            <a:ext cx="643890" cy="17924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496791"/>
            <a:ext cx="643890" cy="17924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496791"/>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496791"/>
            <a:ext cx="643890" cy="179243"/>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496791"/>
            <a:ext cx="643890" cy="179243"/>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496791"/>
            <a:ext cx="643890" cy="17924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496791"/>
            <a:ext cx="643890" cy="179243"/>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496791"/>
            <a:ext cx="643890" cy="179243"/>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496791"/>
            <a:ext cx="643890" cy="179243"/>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496791"/>
            <a:ext cx="643890" cy="179243"/>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67603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sp>
        <p:nvSpPr>
          <p:cNvPr id="129" name="Rectangle 128"/>
          <p:cNvSpPr/>
          <p:nvPr/>
        </p:nvSpPr>
        <p:spPr>
          <a:xfrm>
            <a:off x="1857375" y="5676034"/>
            <a:ext cx="643890" cy="179243"/>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676034"/>
            <a:ext cx="643890" cy="179243"/>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676034"/>
            <a:ext cx="643890" cy="17924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676034"/>
            <a:ext cx="643890" cy="179243"/>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676034"/>
            <a:ext cx="643890" cy="179243"/>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676034"/>
            <a:ext cx="643890" cy="179243"/>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676034"/>
            <a:ext cx="643890" cy="179243"/>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676034"/>
            <a:ext cx="643890" cy="179243"/>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676034"/>
            <a:ext cx="643890" cy="179243"/>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676034"/>
            <a:ext cx="643890" cy="179243"/>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676034"/>
            <a:ext cx="643890" cy="179243"/>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676034"/>
            <a:ext cx="643890" cy="179243"/>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676034"/>
            <a:ext cx="643890" cy="179243"/>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676034"/>
            <a:ext cx="643890" cy="179243"/>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676034"/>
            <a:ext cx="643890" cy="179243"/>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585527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sp>
        <p:nvSpPr>
          <p:cNvPr id="145" name="Rectangle 144"/>
          <p:cNvSpPr/>
          <p:nvPr/>
        </p:nvSpPr>
        <p:spPr>
          <a:xfrm>
            <a:off x="1857375" y="5855277"/>
            <a:ext cx="643890" cy="179243"/>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5855277"/>
            <a:ext cx="643890" cy="17924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5855277"/>
            <a:ext cx="643890" cy="179243"/>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5855277"/>
            <a:ext cx="643890" cy="17924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5855277"/>
            <a:ext cx="643890" cy="179243"/>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5855277"/>
            <a:ext cx="643890" cy="17924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5855277"/>
            <a:ext cx="643890" cy="179243"/>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5855277"/>
            <a:ext cx="643890" cy="179243"/>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5855277"/>
            <a:ext cx="643890" cy="179243"/>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5855277"/>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5855277"/>
            <a:ext cx="643890" cy="17924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5855277"/>
            <a:ext cx="643890" cy="179243"/>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5855277"/>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5855277"/>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5855277"/>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034520"/>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sp>
        <p:nvSpPr>
          <p:cNvPr id="161" name="Rectangle 160"/>
          <p:cNvSpPr/>
          <p:nvPr/>
        </p:nvSpPr>
        <p:spPr>
          <a:xfrm>
            <a:off x="1857375" y="6034520"/>
            <a:ext cx="643890" cy="17924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501265" y="6034520"/>
            <a:ext cx="643890" cy="179243"/>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145155" y="6034520"/>
            <a:ext cx="643890" cy="179243"/>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3789045" y="6034520"/>
            <a:ext cx="643890" cy="17924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432935" y="6034520"/>
            <a:ext cx="643890" cy="179243"/>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076825" y="6034520"/>
            <a:ext cx="643890" cy="179243"/>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720715" y="6034520"/>
            <a:ext cx="643890" cy="179243"/>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364605" y="6034520"/>
            <a:ext cx="643890" cy="17924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008495" y="6034520"/>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652385" y="6034520"/>
            <a:ext cx="643890" cy="179243"/>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296275" y="6034520"/>
            <a:ext cx="643890" cy="179243"/>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8940165" y="6034520"/>
            <a:ext cx="643890" cy="179243"/>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584055" y="6034520"/>
            <a:ext cx="643890" cy="179243"/>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27945" y="6034520"/>
            <a:ext cx="643890" cy="179243"/>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71835" y="6034520"/>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238125" y="621376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sp>
        <p:nvSpPr>
          <p:cNvPr id="177" name="Rectangle 176"/>
          <p:cNvSpPr/>
          <p:nvPr/>
        </p:nvSpPr>
        <p:spPr>
          <a:xfrm>
            <a:off x="1857375" y="6213764"/>
            <a:ext cx="643890" cy="17924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2501265" y="6213764"/>
            <a:ext cx="643890" cy="179243"/>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3145155" y="6213764"/>
            <a:ext cx="643890" cy="17924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3789045" y="6213764"/>
            <a:ext cx="643890" cy="179243"/>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4432935" y="6213764"/>
            <a:ext cx="643890" cy="179243"/>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5076825" y="6213764"/>
            <a:ext cx="643890" cy="179243"/>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5720715" y="6213764"/>
            <a:ext cx="643890" cy="17924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6364605" y="6213764"/>
            <a:ext cx="643890" cy="179243"/>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7008495" y="6213764"/>
            <a:ext cx="643890" cy="179243"/>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7652385" y="6213764"/>
            <a:ext cx="643890" cy="179243"/>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8296275" y="6213764"/>
            <a:ext cx="643890" cy="179243"/>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8940165" y="6213764"/>
            <a:ext cx="643890" cy="17924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9584055" y="6213764"/>
            <a:ext cx="643890" cy="17924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0227945" y="6213764"/>
            <a:ext cx="643890" cy="179243"/>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0871835" y="6213764"/>
            <a:ext cx="643890" cy="179243"/>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238125" y="639300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93" name="Rectangle 192"/>
          <p:cNvSpPr/>
          <p:nvPr/>
        </p:nvSpPr>
        <p:spPr>
          <a:xfrm>
            <a:off x="1857375" y="6393007"/>
            <a:ext cx="643890" cy="179243"/>
          </a:xfrm>
          <a:prstGeom prst="rect">
            <a:avLst/>
          </a:prstGeom>
          <a:solidFill>
            <a:srgbClr val="0D65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2501265" y="6393007"/>
            <a:ext cx="643890" cy="179243"/>
          </a:xfrm>
          <a:prstGeom prst="rect">
            <a:avLst/>
          </a:prstGeom>
          <a:solidFill>
            <a:srgbClr val="0D5F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3145155" y="6393007"/>
            <a:ext cx="643890" cy="179243"/>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3789045" y="6393007"/>
            <a:ext cx="643890" cy="179243"/>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4432935" y="6393007"/>
            <a:ext cx="643890" cy="17924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5076825" y="6393007"/>
            <a:ext cx="643890" cy="179243"/>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5720715" y="6393007"/>
            <a:ext cx="643890" cy="179243"/>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364605" y="6393007"/>
            <a:ext cx="643890" cy="179243"/>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7008495" y="6393007"/>
            <a:ext cx="643890" cy="179243"/>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7652385" y="6393007"/>
            <a:ext cx="643890" cy="179243"/>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296275" y="6393007"/>
            <a:ext cx="643890" cy="17924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8940165" y="6393007"/>
            <a:ext cx="643890" cy="17924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584055" y="6393007"/>
            <a:ext cx="643890" cy="179243"/>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0227945" y="6393007"/>
            <a:ext cx="643890" cy="17924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0871835" y="6393007"/>
            <a:ext cx="643890" cy="17924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4638675"/>
            <a:ext cx="104775" cy="5500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4686062"/>
            <a:ext cx="104775" cy="55007"/>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4733449"/>
            <a:ext cx="104775" cy="55007"/>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4780836"/>
            <a:ext cx="104775" cy="55007"/>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4828222"/>
            <a:ext cx="104775" cy="55007"/>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4875609"/>
            <a:ext cx="104775" cy="55007"/>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4922996"/>
            <a:ext cx="104775" cy="55007"/>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4970383"/>
            <a:ext cx="104775" cy="55007"/>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5017770"/>
            <a:ext cx="104775" cy="55007"/>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1572875" y="5065157"/>
            <a:ext cx="104775" cy="55007"/>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1572875" y="5112544"/>
            <a:ext cx="104775" cy="55007"/>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5159931"/>
            <a:ext cx="104775" cy="55007"/>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5207318"/>
            <a:ext cx="104775" cy="55007"/>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5254704"/>
            <a:ext cx="104775" cy="55007"/>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5302091"/>
            <a:ext cx="104775" cy="55007"/>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5349478"/>
            <a:ext cx="104775" cy="55007"/>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5396865"/>
            <a:ext cx="104775" cy="55007"/>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5444252"/>
            <a:ext cx="104775" cy="55007"/>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5491639"/>
            <a:ext cx="104775" cy="55007"/>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5539026"/>
            <a:ext cx="104775" cy="55007"/>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5586412"/>
            <a:ext cx="104775" cy="55007"/>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5633799"/>
            <a:ext cx="104775" cy="55007"/>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5681186"/>
            <a:ext cx="104775" cy="55007"/>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5728573"/>
            <a:ext cx="104775" cy="55007"/>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5775960"/>
            <a:ext cx="104775" cy="55007"/>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5823347"/>
            <a:ext cx="104775" cy="55007"/>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5870734"/>
            <a:ext cx="104775" cy="55007"/>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5918121"/>
            <a:ext cx="104775" cy="55007"/>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5965508"/>
            <a:ext cx="104775" cy="55007"/>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6012894"/>
            <a:ext cx="104775" cy="55007"/>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6060281"/>
            <a:ext cx="104775" cy="55007"/>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6107668"/>
            <a:ext cx="104775" cy="55007"/>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6155055"/>
            <a:ext cx="104775" cy="55007"/>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6202442"/>
            <a:ext cx="104775" cy="55007"/>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6249829"/>
            <a:ext cx="104775" cy="55007"/>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6297216"/>
            <a:ext cx="104775" cy="55007"/>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6344602"/>
            <a:ext cx="104775" cy="55007"/>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6391989"/>
            <a:ext cx="104775" cy="55007"/>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6439376"/>
            <a:ext cx="104775" cy="55007"/>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6486763"/>
            <a:ext cx="104775" cy="55007"/>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4638675"/>
            <a:ext cx="104775" cy="18954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1687175" y="45720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50" name="TextBox 249"/>
          <p:cNvSpPr txBox="1"/>
          <p:nvPr/>
        </p:nvSpPr>
        <p:spPr>
          <a:xfrm>
            <a:off x="11687175" y="55197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51" name="TextBox 25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252" name="TextBox 2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Principal Material / Barrier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Principal Material / Barrier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Principal Material / Barrier Technology (%)  ·  light = lower, dark = higher growth</a:t>
            </a:r>
          </a:p>
        </p:txBody>
      </p:sp>
      <p:sp>
        <p:nvSpPr>
          <p:cNvPr id="17" name="TextBox 16"/>
          <p:cNvSpPr txBox="1"/>
          <p:nvPr/>
        </p:nvSpPr>
        <p:spPr>
          <a:xfrm>
            <a:off x="18573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60057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sp>
        <p:nvSpPr>
          <p:cNvPr id="33" name="Rectangle 32"/>
          <p:cNvSpPr/>
          <p:nvPr/>
        </p:nvSpPr>
        <p:spPr>
          <a:xfrm>
            <a:off x="1857375" y="4600575"/>
            <a:ext cx="643890" cy="179243"/>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600575"/>
            <a:ext cx="643890" cy="179243"/>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600575"/>
            <a:ext cx="643890" cy="17924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600575"/>
            <a:ext cx="643890" cy="17924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600575"/>
            <a:ext cx="643890" cy="179243"/>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600575"/>
            <a:ext cx="643890" cy="179243"/>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600575"/>
            <a:ext cx="643890" cy="179243"/>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600575"/>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600575"/>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600575"/>
            <a:ext cx="643890" cy="179243"/>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600575"/>
            <a:ext cx="643890" cy="179243"/>
          </a:xfrm>
          <a:prstGeom prst="rect">
            <a:avLst/>
          </a:prstGeom>
          <a:solidFill>
            <a:srgbClr val="0E67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600575"/>
            <a:ext cx="643890" cy="179243"/>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600575"/>
            <a:ext cx="643890" cy="179243"/>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600575"/>
            <a:ext cx="643890" cy="179243"/>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600575"/>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7981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sp>
        <p:nvSpPr>
          <p:cNvPr id="49" name="Rectangle 48"/>
          <p:cNvSpPr/>
          <p:nvPr/>
        </p:nvSpPr>
        <p:spPr>
          <a:xfrm>
            <a:off x="1857375" y="4779818"/>
            <a:ext cx="643890" cy="17924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779818"/>
            <a:ext cx="643890" cy="17924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779818"/>
            <a:ext cx="643890" cy="17924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779818"/>
            <a:ext cx="643890" cy="179243"/>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779818"/>
            <a:ext cx="643890" cy="17924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779818"/>
            <a:ext cx="643890" cy="179243"/>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779818"/>
            <a:ext cx="643890" cy="179243"/>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779818"/>
            <a:ext cx="643890" cy="179243"/>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779818"/>
            <a:ext cx="643890" cy="179243"/>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779818"/>
            <a:ext cx="643890" cy="179243"/>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779818"/>
            <a:ext cx="643890" cy="17924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779818"/>
            <a:ext cx="643890" cy="17924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779818"/>
            <a:ext cx="643890" cy="17924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779818"/>
            <a:ext cx="643890" cy="179243"/>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779818"/>
            <a:ext cx="643890" cy="17924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5906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65" name="Rectangle 64"/>
          <p:cNvSpPr/>
          <p:nvPr/>
        </p:nvSpPr>
        <p:spPr>
          <a:xfrm>
            <a:off x="1857375" y="4959061"/>
            <a:ext cx="643890" cy="179243"/>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59061"/>
            <a:ext cx="643890" cy="17924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59061"/>
            <a:ext cx="643890" cy="179243"/>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59061"/>
            <a:ext cx="643890" cy="179243"/>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59061"/>
            <a:ext cx="643890" cy="17924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59061"/>
            <a:ext cx="643890" cy="179243"/>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59061"/>
            <a:ext cx="643890" cy="17924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59061"/>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59061"/>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59061"/>
            <a:ext cx="643890" cy="17924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59061"/>
            <a:ext cx="643890" cy="179243"/>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59061"/>
            <a:ext cx="643890" cy="179243"/>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59061"/>
            <a:ext cx="643890" cy="179243"/>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59061"/>
            <a:ext cx="643890" cy="179243"/>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59061"/>
            <a:ext cx="643890" cy="179243"/>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3830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sp>
        <p:nvSpPr>
          <p:cNvPr id="81" name="Rectangle 80"/>
          <p:cNvSpPr/>
          <p:nvPr/>
        </p:nvSpPr>
        <p:spPr>
          <a:xfrm>
            <a:off x="1857375" y="5138305"/>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38305"/>
            <a:ext cx="643890" cy="179243"/>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38305"/>
            <a:ext cx="643890" cy="17924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38305"/>
            <a:ext cx="643890" cy="17924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38305"/>
            <a:ext cx="643890" cy="179243"/>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38305"/>
            <a:ext cx="643890" cy="17924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38305"/>
            <a:ext cx="643890" cy="17924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38305"/>
            <a:ext cx="643890" cy="17924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38305"/>
            <a:ext cx="643890" cy="179243"/>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38305"/>
            <a:ext cx="643890" cy="17924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38305"/>
            <a:ext cx="643890" cy="179243"/>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38305"/>
            <a:ext cx="643890" cy="179243"/>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38305"/>
            <a:ext cx="643890" cy="17924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38305"/>
            <a:ext cx="643890" cy="179243"/>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38305"/>
            <a:ext cx="643890" cy="179243"/>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1754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sp>
        <p:nvSpPr>
          <p:cNvPr id="97" name="Rectangle 96"/>
          <p:cNvSpPr/>
          <p:nvPr/>
        </p:nvSpPr>
        <p:spPr>
          <a:xfrm>
            <a:off x="1857375" y="5317548"/>
            <a:ext cx="643890" cy="17924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317548"/>
            <a:ext cx="643890" cy="17924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317548"/>
            <a:ext cx="643890" cy="179243"/>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317548"/>
            <a:ext cx="643890" cy="179243"/>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317548"/>
            <a:ext cx="643890" cy="179243"/>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317548"/>
            <a:ext cx="643890" cy="179243"/>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317548"/>
            <a:ext cx="643890" cy="17924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317548"/>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317548"/>
            <a:ext cx="643890" cy="179243"/>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317548"/>
            <a:ext cx="643890" cy="179243"/>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317548"/>
            <a:ext cx="643890" cy="179243"/>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317548"/>
            <a:ext cx="643890" cy="179243"/>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317548"/>
            <a:ext cx="643890" cy="179243"/>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317548"/>
            <a:ext cx="643890" cy="179243"/>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317548"/>
            <a:ext cx="643890" cy="17924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49679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sp>
        <p:nvSpPr>
          <p:cNvPr id="113" name="Rectangle 112"/>
          <p:cNvSpPr/>
          <p:nvPr/>
        </p:nvSpPr>
        <p:spPr>
          <a:xfrm>
            <a:off x="1857375" y="5496791"/>
            <a:ext cx="643890" cy="179243"/>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496791"/>
            <a:ext cx="643890" cy="179243"/>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496791"/>
            <a:ext cx="643890" cy="17924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496791"/>
            <a:ext cx="643890" cy="179243"/>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496791"/>
            <a:ext cx="643890" cy="179243"/>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496791"/>
            <a:ext cx="643890" cy="17924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496791"/>
            <a:ext cx="643890" cy="179243"/>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496791"/>
            <a:ext cx="643890" cy="179243"/>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496791"/>
            <a:ext cx="643890" cy="179243"/>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496791"/>
            <a:ext cx="643890" cy="179243"/>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496791"/>
            <a:ext cx="643890" cy="179243"/>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496791"/>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496791"/>
            <a:ext cx="643890" cy="17924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496791"/>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496791"/>
            <a:ext cx="643890" cy="179243"/>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67603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sp>
        <p:nvSpPr>
          <p:cNvPr id="129" name="Rectangle 128"/>
          <p:cNvSpPr/>
          <p:nvPr/>
        </p:nvSpPr>
        <p:spPr>
          <a:xfrm>
            <a:off x="1857375" y="5676034"/>
            <a:ext cx="643890" cy="17924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676034"/>
            <a:ext cx="643890" cy="179243"/>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676034"/>
            <a:ext cx="643890" cy="179243"/>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676034"/>
            <a:ext cx="643890" cy="17924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676034"/>
            <a:ext cx="643890" cy="179243"/>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676034"/>
            <a:ext cx="643890" cy="179243"/>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676034"/>
            <a:ext cx="643890" cy="179243"/>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676034"/>
            <a:ext cx="643890" cy="17924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676034"/>
            <a:ext cx="643890" cy="179243"/>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676034"/>
            <a:ext cx="643890" cy="179243"/>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676034"/>
            <a:ext cx="643890" cy="179243"/>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676034"/>
            <a:ext cx="643890" cy="179243"/>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676034"/>
            <a:ext cx="643890" cy="179243"/>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676034"/>
            <a:ext cx="643890" cy="179243"/>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676034"/>
            <a:ext cx="643890" cy="179243"/>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585527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sp>
        <p:nvSpPr>
          <p:cNvPr id="145" name="Rectangle 144"/>
          <p:cNvSpPr/>
          <p:nvPr/>
        </p:nvSpPr>
        <p:spPr>
          <a:xfrm>
            <a:off x="1857375" y="5855277"/>
            <a:ext cx="643890" cy="179243"/>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5855277"/>
            <a:ext cx="643890" cy="179243"/>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5855277"/>
            <a:ext cx="643890" cy="17924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5855277"/>
            <a:ext cx="643890" cy="179243"/>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5855277"/>
            <a:ext cx="643890" cy="17924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5855277"/>
            <a:ext cx="643890" cy="179243"/>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5855277"/>
            <a:ext cx="643890" cy="17924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5855277"/>
            <a:ext cx="643890" cy="17924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5855277"/>
            <a:ext cx="643890" cy="179243"/>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5855277"/>
            <a:ext cx="643890" cy="17924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5855277"/>
            <a:ext cx="643890" cy="179243"/>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5855277"/>
            <a:ext cx="643890" cy="179243"/>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5855277"/>
            <a:ext cx="643890" cy="179243"/>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5855277"/>
            <a:ext cx="643890" cy="179243"/>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5855277"/>
            <a:ext cx="643890" cy="179243"/>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034520"/>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sp>
        <p:nvSpPr>
          <p:cNvPr id="161" name="Rectangle 160"/>
          <p:cNvSpPr/>
          <p:nvPr/>
        </p:nvSpPr>
        <p:spPr>
          <a:xfrm>
            <a:off x="1857375" y="6034520"/>
            <a:ext cx="643890" cy="179243"/>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501265" y="6034520"/>
            <a:ext cx="643890" cy="179243"/>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145155" y="6034520"/>
            <a:ext cx="643890" cy="179243"/>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3789045" y="6034520"/>
            <a:ext cx="643890" cy="179243"/>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432935" y="6034520"/>
            <a:ext cx="643890" cy="179243"/>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076825" y="6034520"/>
            <a:ext cx="643890" cy="179243"/>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720715" y="6034520"/>
            <a:ext cx="643890" cy="179243"/>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364605" y="6034520"/>
            <a:ext cx="643890" cy="17924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008495" y="6034520"/>
            <a:ext cx="643890" cy="179243"/>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652385" y="6034520"/>
            <a:ext cx="643890" cy="179243"/>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296275" y="6034520"/>
            <a:ext cx="643890" cy="179243"/>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8940165" y="6034520"/>
            <a:ext cx="643890" cy="179243"/>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584055" y="6034520"/>
            <a:ext cx="643890" cy="179243"/>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27945" y="6034520"/>
            <a:ext cx="643890" cy="179243"/>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71835" y="6034520"/>
            <a:ext cx="643890" cy="179243"/>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238125" y="621376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sp>
        <p:nvSpPr>
          <p:cNvPr id="177" name="Rectangle 176"/>
          <p:cNvSpPr/>
          <p:nvPr/>
        </p:nvSpPr>
        <p:spPr>
          <a:xfrm>
            <a:off x="1857375" y="6213764"/>
            <a:ext cx="643890" cy="179243"/>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2501265" y="6213764"/>
            <a:ext cx="643890" cy="179243"/>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3145155" y="6213764"/>
            <a:ext cx="643890" cy="17924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3789045" y="6213764"/>
            <a:ext cx="643890" cy="179243"/>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4432935" y="6213764"/>
            <a:ext cx="643890" cy="179243"/>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5076825" y="6213764"/>
            <a:ext cx="643890" cy="17924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5720715" y="6213764"/>
            <a:ext cx="643890" cy="179243"/>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6364605" y="6213764"/>
            <a:ext cx="643890" cy="179243"/>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7008495" y="6213764"/>
            <a:ext cx="643890" cy="179243"/>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7652385" y="6213764"/>
            <a:ext cx="643890" cy="179243"/>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8296275" y="6213764"/>
            <a:ext cx="643890" cy="179243"/>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8940165" y="6213764"/>
            <a:ext cx="643890" cy="17924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9584055" y="6213764"/>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0227945" y="6213764"/>
            <a:ext cx="643890" cy="17924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0871835" y="6213764"/>
            <a:ext cx="643890" cy="17924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238125" y="639300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93" name="Rectangle 192"/>
          <p:cNvSpPr/>
          <p:nvPr/>
        </p:nvSpPr>
        <p:spPr>
          <a:xfrm>
            <a:off x="1857375" y="6393007"/>
            <a:ext cx="643890" cy="17924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2501265" y="6393007"/>
            <a:ext cx="643890" cy="179243"/>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3145155" y="6393007"/>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3789045" y="6393007"/>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4432935" y="6393007"/>
            <a:ext cx="643890" cy="179243"/>
          </a:xfrm>
          <a:prstGeom prst="rect">
            <a:avLst/>
          </a:prstGeom>
          <a:solidFill>
            <a:srgbClr val="0D61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5076825" y="6393007"/>
            <a:ext cx="643890" cy="179243"/>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5720715" y="6393007"/>
            <a:ext cx="643890" cy="179243"/>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364605" y="6393007"/>
            <a:ext cx="643890" cy="179243"/>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7008495" y="6393007"/>
            <a:ext cx="643890" cy="179243"/>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7652385" y="6393007"/>
            <a:ext cx="643890" cy="179243"/>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296275" y="6393007"/>
            <a:ext cx="643890" cy="179243"/>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8940165" y="6393007"/>
            <a:ext cx="643890" cy="179243"/>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584055" y="6393007"/>
            <a:ext cx="643890" cy="179243"/>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0227945" y="6393007"/>
            <a:ext cx="643890" cy="17924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0871835" y="6393007"/>
            <a:ext cx="643890" cy="179243"/>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4638675"/>
            <a:ext cx="104775" cy="5500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4686062"/>
            <a:ext cx="104775" cy="55007"/>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4733449"/>
            <a:ext cx="104775" cy="55007"/>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4780836"/>
            <a:ext cx="104775" cy="55007"/>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4828222"/>
            <a:ext cx="104775" cy="55007"/>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4875609"/>
            <a:ext cx="104775" cy="55007"/>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4922996"/>
            <a:ext cx="104775" cy="55007"/>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4970383"/>
            <a:ext cx="104775" cy="55007"/>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5017770"/>
            <a:ext cx="104775" cy="55007"/>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1572875" y="5065157"/>
            <a:ext cx="104775" cy="55007"/>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1572875" y="5112544"/>
            <a:ext cx="104775" cy="55007"/>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5159931"/>
            <a:ext cx="104775" cy="55007"/>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5207318"/>
            <a:ext cx="104775" cy="55007"/>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5254704"/>
            <a:ext cx="104775" cy="55007"/>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5302091"/>
            <a:ext cx="104775" cy="55007"/>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5349478"/>
            <a:ext cx="104775" cy="55007"/>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5396865"/>
            <a:ext cx="104775" cy="55007"/>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5444252"/>
            <a:ext cx="104775" cy="55007"/>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5491639"/>
            <a:ext cx="104775" cy="55007"/>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5539026"/>
            <a:ext cx="104775" cy="55007"/>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5586412"/>
            <a:ext cx="104775" cy="55007"/>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5633799"/>
            <a:ext cx="104775" cy="55007"/>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5681186"/>
            <a:ext cx="104775" cy="55007"/>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5728573"/>
            <a:ext cx="104775" cy="55007"/>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5775960"/>
            <a:ext cx="104775" cy="55007"/>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5823347"/>
            <a:ext cx="104775" cy="55007"/>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5870734"/>
            <a:ext cx="104775" cy="55007"/>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5918121"/>
            <a:ext cx="104775" cy="55007"/>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5965508"/>
            <a:ext cx="104775" cy="55007"/>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6012894"/>
            <a:ext cx="104775" cy="55007"/>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6060281"/>
            <a:ext cx="104775" cy="55007"/>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6107668"/>
            <a:ext cx="104775" cy="55007"/>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6155055"/>
            <a:ext cx="104775" cy="55007"/>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6202442"/>
            <a:ext cx="104775" cy="55007"/>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6249829"/>
            <a:ext cx="104775" cy="55007"/>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6297216"/>
            <a:ext cx="104775" cy="55007"/>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6344602"/>
            <a:ext cx="104775" cy="55007"/>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6391989"/>
            <a:ext cx="104775" cy="55007"/>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6439376"/>
            <a:ext cx="104775" cy="55007"/>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6486763"/>
            <a:ext cx="104775" cy="55007"/>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4638675"/>
            <a:ext cx="104775" cy="18954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1687175" y="45720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50" name="TextBox 249"/>
          <p:cNvSpPr txBox="1"/>
          <p:nvPr/>
        </p:nvSpPr>
        <p:spPr>
          <a:xfrm>
            <a:off x="11687175" y="5519738"/>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51" name="TextBox 25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252" name="TextBox 2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Structure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Structure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Structure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Material Structure,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Structure segment categorizes the market by material structure.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Coextruded Multilayer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9,975</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18,284</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6.2%</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Laminated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8,848</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16,299</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6.3%</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Monolayer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5,488</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10,312</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6.5%</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Mono-Material Recyclable Structur…</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2,786</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5,530</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7.1%</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material structure, mono-material recyclable structures segment is expected to witness the highest CAGR of 7.1% over the forecast period. In terms of value share by material structure, the coextruded multilayer films segment is expected to dominate the market, losing 36 BPS and accounting for 28.7%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Coextruded multilayer films segment is projected to register 1.1X higher value than laminated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Coextruded Multilayer Films: </a:t>
            </a:r>
            <a:r>
              <a:rPr sz="1100" b="0">
                <a:solidFill>
                  <a:srgbClr val="2E2E2E"/>
                </a:solidFill>
                <a:latin typeface="Calibri"/>
              </a:rPr>
              <a:t>29% of 2026 value · 6.2%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Laminated Films: </a:t>
            </a:r>
            <a:r>
              <a:rPr sz="1100" b="0">
                <a:solidFill>
                  <a:srgbClr val="2E2E2E"/>
                </a:solidFill>
                <a:latin typeface="Calibri"/>
              </a:rPr>
              <a:t>26% of 2026 value · 6.3%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Monolayer Films: </a:t>
            </a:r>
            <a:r>
              <a:rPr sz="1100" b="0">
                <a:solidFill>
                  <a:srgbClr val="2E2E2E"/>
                </a:solidFill>
                <a:latin typeface="Calibri"/>
              </a:rPr>
              <a:t>16% of 2026 value · 6.5%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Mono-Material Recyclable Structures: </a:t>
            </a:r>
            <a:r>
              <a:rPr sz="1100" b="0">
                <a:solidFill>
                  <a:srgbClr val="2E2E2E"/>
                </a:solidFill>
                <a:latin typeface="Calibri"/>
              </a:rPr>
              <a:t>8% of 2026 value · 7.1%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Structure split shows how demand is distributed across material structure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Material Structure segment is projected to grow at a CAGR of 6.4%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Structure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Material Structure,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Structure segment categorizes the market by material structure.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Foil-Laminated Structures</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2,556</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4,779</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6.5%</a:t>
            </a: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Metallized Films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2,464</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4,427</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6.0%</a:t>
            </a: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Coated Films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2,217</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4,092</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6.3%</a:t>
            </a: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Foil-Laminated Structures: </a:t>
            </a:r>
            <a:r>
              <a:rPr sz="1100" b="0">
                <a:solidFill>
                  <a:srgbClr val="2E2E2E"/>
                </a:solidFill>
                <a:latin typeface="Calibri"/>
              </a:rPr>
              <a:t>7% of 2026 value · 6.5%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Metallized Films: </a:t>
            </a:r>
            <a:r>
              <a:rPr sz="1100" b="0">
                <a:solidFill>
                  <a:srgbClr val="2E2E2E"/>
                </a:solidFill>
                <a:latin typeface="Calibri"/>
              </a:rPr>
              <a:t>7% of 2026 value · 6.0%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Coated Films: </a:t>
            </a:r>
            <a:r>
              <a:rPr sz="1100" b="0">
                <a:solidFill>
                  <a:srgbClr val="2E2E2E"/>
                </a:solidFill>
                <a:latin typeface="Calibri"/>
              </a:rPr>
              <a:t>6% of 2026 value · 6.3%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Material Structure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Structure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Structure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Coextruded multilayer films followed by laminated films are expected to be the two most attractive material structure segments in the East Asia flexible plastic packaging market in terms of value over the forecast period. Coextruded multilayer films and laminated films exhibit a CAGR index of 98 and 99 and a market share index of 203 and 180 respectively, against the segment average of 100. The coated films segment is expected to be less attractive as compared to other segments over the forecast period, owing to its lower CAGR and incremental opportunity. Mono-Material Recyclable Structures rank most attractive because they grow fastest at 7.1% and gain 56 BPS, as recyclability rules in Japan, South Korea and China and brand owner commitments drive redesign. Coextruded Multilayer Films and Laminated Films remain attractive for sheer scale, at roughly 29% and 26% of value, but grow slower at 6.2% and 6.3%.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Structure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Monolayer Films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Coextruded Multilayer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Laminated Films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Coated Films</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Structure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Metallized Films</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Foil-Laminated Structures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Mono-Material Recyclable Structures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East Asia Absolute $ Opportunity Analysis, By Material Structure</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By 2036, coextruded multilayer films segment is anticipated to witness an increase of 1.8X in terms of value as compared to 2026. The coextruded multilayer films segment is expected to create an incremental opportunity of US$ 8,309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The laminated films segment is expected to create an incremental opportunity of US$ 7,452 Mn for the overall flexible plastic packaging market from 2026 to 2036. The monolayer films segment is expected to create an incremental opportunity of US$ 4,824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Coextruded Multilayer Films and Laminated Films add the most absolute value over 2026-2036 because size multiplies growth. Coextruded Multilayer Films: coextruded films are the standard structure for fresh and shelf-stable food needing barrier and seal strength. For Laminated Films, laminates remain the default for demanding snack, coffee and retort packs. They compound at 6.2% and 6.3% against a 6.4% market. In East Asia, advanced converting capability, convenience retail and ready-meal demand steer specifications.</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Volume Analysis, By Material Structure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By Material Structure (Thousand MT)</a:t>
            </a:r>
          </a:p>
        </p:txBody>
      </p:sp>
      <p:graphicFrame>
        <p:nvGraphicFramePr>
          <p:cNvPr id="13" name="Table 12"/>
          <p:cNvGraphicFramePr>
            <a:graphicFrameLocks noGrp="1"/>
          </p:cNvGraphicFramePr>
          <p:nvPr/>
        </p:nvGraphicFramePr>
        <p:xfrm>
          <a:off x="152400" y="1238250"/>
          <a:ext cx="11887208" cy="2590803"/>
        </p:xfrm>
        <a:graphic>
          <a:graphicData uri="http://schemas.openxmlformats.org/drawingml/2006/table">
            <a:tbl>
              <a:tblPr>
                <a:tableStyleId>{5C22544A-7EE6-4342-B048-85BDC9FD1C3A}</a:tableStyleId>
              </a:tblPr>
              <a:tblGrid>
                <a:gridCol w="1914770"/>
                <a:gridCol w="586614"/>
                <a:gridCol w="586614"/>
                <a:gridCol w="586614"/>
                <a:gridCol w="586614"/>
                <a:gridCol w="586614"/>
                <a:gridCol w="586614"/>
                <a:gridCol w="586614"/>
                <a:gridCol w="586614"/>
                <a:gridCol w="586614"/>
                <a:gridCol w="586614"/>
                <a:gridCol w="586614"/>
                <a:gridCol w="586614"/>
                <a:gridCol w="586614"/>
                <a:gridCol w="586614"/>
                <a:gridCol w="586614"/>
                <a:gridCol w="586614"/>
                <a:gridCol w="58661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Volume Analysis, By Material Structure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Structure,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By Material Structure (Thousand MT)</a:t>
            </a:r>
          </a:p>
        </p:txBody>
      </p:sp>
      <p:graphicFrame>
        <p:nvGraphicFramePr>
          <p:cNvPr id="12" name="Table 11"/>
          <p:cNvGraphicFramePr>
            <a:graphicFrameLocks noGrp="1"/>
          </p:cNvGraphicFramePr>
          <p:nvPr/>
        </p:nvGraphicFramePr>
        <p:xfrm>
          <a:off x="152400" y="1238250"/>
          <a:ext cx="11887208" cy="1514475"/>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Volume Analysis, By Material Structure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Coextruded multilayer films segment is projected to register 1.1X higher volume than laminated films segment in 2036. Among flexible plastic packaging by material structure, mono-material recyclable structures segment is expected to witness the highest CAGR of 5.7% over the forecast period.</a:t>
            </a:r>
          </a:p>
          <a:p>
            <a:pPr algn="l">
              <a:lnSpc>
                <a:spcPct val="110000"/>
              </a:lnSpc>
              <a:spcBef>
                <a:spcPts val="0"/>
              </a:spcBef>
              <a:spcAft>
                <a:spcPts val="500"/>
              </a:spcAft>
            </a:pPr>
            <a:r>
              <a:rPr sz="1150" b="0">
                <a:solidFill>
                  <a:srgbClr val="2E2E2E"/>
                </a:solidFill>
                <a:latin typeface="Calibri"/>
              </a:rPr>
              <a:t>In terms of volume share by material structure, the coextruded multilayer films segment is expected to dominate the market, losing 35 BPS and accounting for 28.7% share by 2036.</a:t>
            </a:r>
          </a:p>
          <a:p>
            <a:pPr algn="l">
              <a:lnSpc>
                <a:spcPct val="110000"/>
              </a:lnSpc>
              <a:spcBef>
                <a:spcPts val="0"/>
              </a:spcBef>
              <a:spcAft>
                <a:spcPts val="500"/>
              </a:spcAft>
            </a:pPr>
            <a:r>
              <a:rPr sz="1150" b="0">
                <a:solidFill>
                  <a:srgbClr val="2E2E2E"/>
                </a:solidFill>
                <a:latin typeface="Calibri"/>
              </a:rPr>
              <a:t>Mono-Material Recyclable Structures gain 57 BPS in volume and grow at 5.7% against 5.0% overall because recycling policy in China, Japan and South Korea, plus brand sustainability pledges, favour single-polymer packs. Coextruded Multilayer Films lose 35 BPS at 4.9% growth as multilayer laminates are redesigned. Metallized Films also slip, at 4.7%, as clear barrier alternatives replace them.</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Material Structure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Material Structure (US$ Mn)</a:t>
            </a:r>
          </a:p>
        </p:txBody>
      </p:sp>
      <p:graphicFrame>
        <p:nvGraphicFramePr>
          <p:cNvPr id="13" name="Table 12"/>
          <p:cNvGraphicFramePr>
            <a:graphicFrameLocks noGrp="1"/>
          </p:cNvGraphicFramePr>
          <p:nvPr/>
        </p:nvGraphicFramePr>
        <p:xfrm>
          <a:off x="152400" y="1238250"/>
          <a:ext cx="11887208" cy="2590803"/>
        </p:xfrm>
        <a:graphic>
          <a:graphicData uri="http://schemas.openxmlformats.org/drawingml/2006/table">
            <a:tbl>
              <a:tblPr>
                <a:tableStyleId>{5C22544A-7EE6-4342-B048-85BDC9FD1C3A}</a:tableStyleId>
              </a:tblPr>
              <a:tblGrid>
                <a:gridCol w="1914770"/>
                <a:gridCol w="586614"/>
                <a:gridCol w="586614"/>
                <a:gridCol w="586614"/>
                <a:gridCol w="586614"/>
                <a:gridCol w="586614"/>
                <a:gridCol w="586614"/>
                <a:gridCol w="586614"/>
                <a:gridCol w="586614"/>
                <a:gridCol w="586614"/>
                <a:gridCol w="586614"/>
                <a:gridCol w="586614"/>
                <a:gridCol w="586614"/>
                <a:gridCol w="586614"/>
                <a:gridCol w="586614"/>
                <a:gridCol w="586614"/>
                <a:gridCol w="586614"/>
                <a:gridCol w="58661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Material Structure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Structure,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Material Structure (US$ Mn)</a:t>
            </a:r>
          </a:p>
        </p:txBody>
      </p:sp>
      <p:graphicFrame>
        <p:nvGraphicFramePr>
          <p:cNvPr id="12" name="Table 11"/>
          <p:cNvGraphicFramePr>
            <a:graphicFrameLocks noGrp="1"/>
          </p:cNvGraphicFramePr>
          <p:nvPr/>
        </p:nvGraphicFramePr>
        <p:xfrm>
          <a:off x="152400" y="1238250"/>
          <a:ext cx="11887208" cy="1514475"/>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Material Structure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Coextruded multilayer films segment is projected to register 1.1X higher value than laminated films segment in 2036. Among flexible plastic packaging by material structure, mono-material recyclable structures segment is expected to witness the highest CAGR of 7.1% over the forecast period.</a:t>
            </a:r>
          </a:p>
          <a:p>
            <a:pPr algn="l">
              <a:lnSpc>
                <a:spcPct val="110000"/>
              </a:lnSpc>
              <a:spcBef>
                <a:spcPts val="0"/>
              </a:spcBef>
              <a:spcAft>
                <a:spcPts val="500"/>
              </a:spcAft>
            </a:pPr>
            <a:r>
              <a:rPr sz="1150" b="0">
                <a:solidFill>
                  <a:srgbClr val="2E2E2E"/>
                </a:solidFill>
                <a:latin typeface="Calibri"/>
              </a:rPr>
              <a:t>In terms of value share by material structure, the coextruded multilayer films segment is expected to dominate the market, losing 36 BPS and accounting for 28.7% share by 2036.</a:t>
            </a:r>
          </a:p>
          <a:p>
            <a:pPr algn="l">
              <a:lnSpc>
                <a:spcPct val="110000"/>
              </a:lnSpc>
              <a:spcBef>
                <a:spcPts val="0"/>
              </a:spcBef>
              <a:spcAft>
                <a:spcPts val="500"/>
              </a:spcAft>
            </a:pPr>
            <a:r>
              <a:rPr sz="1150" b="0">
                <a:solidFill>
                  <a:srgbClr val="2E2E2E"/>
                </a:solidFill>
                <a:latin typeface="Calibri"/>
              </a:rPr>
              <a:t>Mono-Material Recyclable Structures gain 56 BPS of value share at 7.1% growth as brand owners redesign packs for recycling, helped by dense e-commerce and convenience retail, ready-meal growth and deep local converting capacity. Coextruded Multilayer Films lose 36 BPS at 6.2% because multi-resin barrier layers are hard to recycle, though their size keeps them the largest structure.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Structure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Material Structure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8079"/>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133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71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Coated Films</a:t>
            </a:r>
          </a:p>
        </p:txBody>
      </p:sp>
      <p:sp>
        <p:nvSpPr>
          <p:cNvPr id="19" name="BPS Value 1"/>
          <p:cNvSpPr txBox="1"/>
          <p:nvPr/>
        </p:nvSpPr>
        <p:spPr>
          <a:xfrm>
            <a:off x="6896100" y="1799029"/>
            <a:ext cx="514350" cy="123825"/>
          </a:xfrm>
          <a:prstGeom prst="rect">
            <a:avLst/>
          </a:prstGeom>
          <a:noFill/>
        </p:spPr>
        <p:txBody>
          <a:bodyPr wrap="none" lIns="0" rIns="0" tIns="0" bIns="0" anchor="ctr">
            <a:spAutoFit/>
          </a:bodyPr>
          <a:lstStyle/>
          <a:p>
            <a:pPr algn="r"/>
            <a:r>
              <a:rPr sz="900" b="1">
                <a:solidFill>
                  <a:srgbClr val="E44D3A"/>
                </a:solidFill>
                <a:latin typeface="Calibri"/>
              </a:rPr>
              <a:t>-3</a:t>
            </a:r>
          </a:p>
        </p:txBody>
      </p:sp>
      <p:sp>
        <p:nvSpPr>
          <p:cNvPr id="20" name="FMI Legend Chip"/>
          <p:cNvSpPr/>
          <p:nvPr/>
        </p:nvSpPr>
        <p:spPr>
          <a:xfrm>
            <a:off x="4928997" y="212372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1896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427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Metallized Films</a:t>
            </a:r>
          </a:p>
        </p:txBody>
      </p:sp>
      <p:sp>
        <p:nvSpPr>
          <p:cNvPr id="23" name="BPS Value 2"/>
          <p:cNvSpPr txBox="1"/>
          <p:nvPr/>
        </p:nvSpPr>
        <p:spPr>
          <a:xfrm>
            <a:off x="6896100" y="2104679"/>
            <a:ext cx="514350" cy="123825"/>
          </a:xfrm>
          <a:prstGeom prst="rect">
            <a:avLst/>
          </a:prstGeom>
          <a:noFill/>
        </p:spPr>
        <p:txBody>
          <a:bodyPr wrap="none" lIns="0" rIns="0" tIns="0" bIns="0" anchor="ctr">
            <a:spAutoFit/>
          </a:bodyPr>
          <a:lstStyle/>
          <a:p>
            <a:pPr algn="r"/>
            <a:r>
              <a:rPr sz="900" b="1">
                <a:solidFill>
                  <a:srgbClr val="E44D3A"/>
                </a:solidFill>
                <a:latin typeface="Calibri"/>
              </a:rPr>
              <a:t>-23</a:t>
            </a:r>
          </a:p>
        </p:txBody>
      </p:sp>
      <p:sp>
        <p:nvSpPr>
          <p:cNvPr id="24" name="FMI Legend Chip"/>
          <p:cNvSpPr/>
          <p:nvPr/>
        </p:nvSpPr>
        <p:spPr>
          <a:xfrm>
            <a:off x="4928997" y="2454016"/>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4492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3730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Foil-Laminated Structures</a:t>
            </a:r>
          </a:p>
        </p:txBody>
      </p:sp>
      <p:sp>
        <p:nvSpPr>
          <p:cNvPr id="27" name="BPS Value 3"/>
          <p:cNvSpPr txBox="1"/>
          <p:nvPr/>
        </p:nvSpPr>
        <p:spPr>
          <a:xfrm>
            <a:off x="6896100" y="2434966"/>
            <a:ext cx="514350" cy="123825"/>
          </a:xfrm>
          <a:prstGeom prst="rect">
            <a:avLst/>
          </a:prstGeom>
          <a:noFill/>
        </p:spPr>
        <p:txBody>
          <a:bodyPr wrap="none" lIns="0" rIns="0" tIns="0" bIns="0" anchor="ctr">
            <a:spAutoFit/>
          </a:bodyPr>
          <a:lstStyle/>
          <a:p>
            <a:pPr algn="r"/>
            <a:r>
              <a:rPr sz="900" b="1">
                <a:solidFill>
                  <a:srgbClr val="2E7D32"/>
                </a:solidFill>
                <a:latin typeface="Calibri"/>
              </a:rPr>
              <a:t>+5</a:t>
            </a:r>
          </a:p>
        </p:txBody>
      </p:sp>
      <p:sp>
        <p:nvSpPr>
          <p:cNvPr id="28" name="FMI Legend Chip"/>
          <p:cNvSpPr/>
          <p:nvPr/>
        </p:nvSpPr>
        <p:spPr>
          <a:xfrm>
            <a:off x="4928997" y="282385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81909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74289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Mono-Material Recyclable Structures</a:t>
            </a:r>
          </a:p>
        </p:txBody>
      </p:sp>
      <p:sp>
        <p:nvSpPr>
          <p:cNvPr id="31" name="BPS Value 4"/>
          <p:cNvSpPr txBox="1"/>
          <p:nvPr/>
        </p:nvSpPr>
        <p:spPr>
          <a:xfrm>
            <a:off x="6896100" y="2804809"/>
            <a:ext cx="514350" cy="123825"/>
          </a:xfrm>
          <a:prstGeom prst="rect">
            <a:avLst/>
          </a:prstGeom>
          <a:noFill/>
        </p:spPr>
        <p:txBody>
          <a:bodyPr wrap="none" lIns="0" rIns="0" tIns="0" bIns="0" anchor="ctr">
            <a:spAutoFit/>
          </a:bodyPr>
          <a:lstStyle/>
          <a:p>
            <a:pPr algn="r"/>
            <a:r>
              <a:rPr sz="900" b="1">
                <a:solidFill>
                  <a:srgbClr val="2E7D32"/>
                </a:solidFill>
                <a:latin typeface="Calibri"/>
              </a:rPr>
              <a:t>+56</a:t>
            </a:r>
          </a:p>
        </p:txBody>
      </p:sp>
      <p:sp>
        <p:nvSpPr>
          <p:cNvPr id="32" name="FMI Legend Chip"/>
          <p:cNvSpPr/>
          <p:nvPr/>
        </p:nvSpPr>
        <p:spPr>
          <a:xfrm>
            <a:off x="4928997" y="339218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38742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3112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Monolayer Films</a:t>
            </a:r>
          </a:p>
        </p:txBody>
      </p:sp>
      <p:sp>
        <p:nvSpPr>
          <p:cNvPr id="35" name="BPS Value 5"/>
          <p:cNvSpPr txBox="1"/>
          <p:nvPr/>
        </p:nvSpPr>
        <p:spPr>
          <a:xfrm>
            <a:off x="6896100" y="3373137"/>
            <a:ext cx="514350" cy="123825"/>
          </a:xfrm>
          <a:prstGeom prst="rect">
            <a:avLst/>
          </a:prstGeom>
          <a:noFill/>
        </p:spPr>
        <p:txBody>
          <a:bodyPr wrap="none" lIns="0" rIns="0" tIns="0" bIns="0" anchor="ctr">
            <a:spAutoFit/>
          </a:bodyPr>
          <a:lstStyle/>
          <a:p>
            <a:pPr algn="r"/>
            <a:r>
              <a:rPr sz="900" b="1">
                <a:solidFill>
                  <a:srgbClr val="2E7D32"/>
                </a:solidFill>
                <a:latin typeface="Calibri"/>
              </a:rPr>
              <a:t>+20</a:t>
            </a:r>
          </a:p>
        </p:txBody>
      </p:sp>
      <p:sp>
        <p:nvSpPr>
          <p:cNvPr id="36" name="FMI Legend Chip"/>
          <p:cNvSpPr/>
          <p:nvPr/>
        </p:nvSpPr>
        <p:spPr>
          <a:xfrm>
            <a:off x="4928997" y="434689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434213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26593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Laminated Films</a:t>
            </a:r>
          </a:p>
        </p:txBody>
      </p:sp>
      <p:sp>
        <p:nvSpPr>
          <p:cNvPr id="39" name="BPS Value 6"/>
          <p:cNvSpPr txBox="1"/>
          <p:nvPr/>
        </p:nvSpPr>
        <p:spPr>
          <a:xfrm>
            <a:off x="6896100" y="4327847"/>
            <a:ext cx="514350" cy="123825"/>
          </a:xfrm>
          <a:prstGeom prst="rect">
            <a:avLst/>
          </a:prstGeom>
          <a:noFill/>
        </p:spPr>
        <p:txBody>
          <a:bodyPr wrap="none" lIns="0" rIns="0" tIns="0" bIns="0" anchor="ctr">
            <a:spAutoFit/>
          </a:bodyPr>
          <a:lstStyle/>
          <a:p>
            <a:pPr algn="r"/>
            <a:r>
              <a:rPr sz="900" b="1">
                <a:solidFill>
                  <a:srgbClr val="E44D3A"/>
                </a:solidFill>
                <a:latin typeface="Calibri"/>
              </a:rPr>
              <a:t>-19</a:t>
            </a:r>
          </a:p>
        </p:txBody>
      </p:sp>
      <p:sp>
        <p:nvSpPr>
          <p:cNvPr id="40" name="FMI Legend Chip"/>
          <p:cNvSpPr/>
          <p:nvPr/>
        </p:nvSpPr>
        <p:spPr>
          <a:xfrm>
            <a:off x="4928997" y="558765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558288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50668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Coextruded Multilayer Films</a:t>
            </a:r>
          </a:p>
        </p:txBody>
      </p:sp>
      <p:sp>
        <p:nvSpPr>
          <p:cNvPr id="43" name="BPS Value 7"/>
          <p:cNvSpPr txBox="1"/>
          <p:nvPr/>
        </p:nvSpPr>
        <p:spPr>
          <a:xfrm>
            <a:off x="6896100" y="5568600"/>
            <a:ext cx="514350" cy="123825"/>
          </a:xfrm>
          <a:prstGeom prst="rect">
            <a:avLst/>
          </a:prstGeom>
          <a:noFill/>
        </p:spPr>
        <p:txBody>
          <a:bodyPr wrap="none" lIns="0" rIns="0" tIns="0" bIns="0" anchor="ctr">
            <a:spAutoFit/>
          </a:bodyPr>
          <a:lstStyle/>
          <a:p>
            <a:pPr algn="r"/>
            <a:r>
              <a:rPr sz="900" b="1">
                <a:solidFill>
                  <a:srgbClr val="E44D3A"/>
                </a:solidFill>
                <a:latin typeface="Calibri"/>
              </a:rPr>
              <a:t>-36</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Material Structure</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material structure, mono-material recyclable structures segment is expected to witness the highest CAGR of 7.1% over the forecast period.</a:t>
            </a:r>
          </a:p>
          <a:p>
            <a:pPr algn="l">
              <a:lnSpc>
                <a:spcPct val="110000"/>
              </a:lnSpc>
              <a:spcBef>
                <a:spcPts val="0"/>
              </a:spcBef>
              <a:spcAft>
                <a:spcPts val="500"/>
              </a:spcAft>
            </a:pPr>
            <a:r>
              <a:rPr sz="1150" b="0">
                <a:solidFill>
                  <a:srgbClr val="2E2E2E"/>
                </a:solidFill>
                <a:latin typeface="Calibri"/>
              </a:rPr>
              <a:t>In terms of value share by material structure, the coextruded multilayer films segment is expected to dominate the market, losing 36 BPS and accounting for 28.7% share by 2036.</a:t>
            </a:r>
          </a:p>
          <a:p>
            <a:pPr algn="l">
              <a:lnSpc>
                <a:spcPct val="110000"/>
              </a:lnSpc>
              <a:spcBef>
                <a:spcPts val="0"/>
              </a:spcBef>
              <a:spcAft>
                <a:spcPts val="500"/>
              </a:spcAft>
            </a:pPr>
            <a:r>
              <a:rPr sz="1150" b="0">
                <a:solidFill>
                  <a:srgbClr val="2E2E2E"/>
                </a:solidFill>
                <a:latin typeface="Calibri"/>
              </a:rPr>
              <a:t>Mono-Material Recyclable Structures grow fastest at 7.1% because national waste and recycling policies in China, Japan and South Korea, together with brand owner and retailer sustainability targets, are pushing replacement of hard-to-recycle laminates. Advances in barrier-coated polyethylene and polypropylene allow comparable shelf life. Coextruded Multilayer Films, at 6.2%, grow slower as they are mature and face substitution.</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Volume, By Material Structure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YoY Growth,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Volume, By Material Structure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Structure,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YoY Heatmap, By Material Structure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Monolayer Films</a:t>
            </a:r>
          </a:p>
        </p:txBody>
      </p:sp>
      <p:sp>
        <p:nvSpPr>
          <p:cNvPr id="28" name="Rectangle 27"/>
          <p:cNvSpPr/>
          <p:nvPr/>
        </p:nvSpPr>
        <p:spPr>
          <a:xfrm>
            <a:off x="1857375" y="1409700"/>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89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Coextruded Multilayer Films</a:t>
            </a:r>
          </a:p>
        </p:txBody>
      </p:sp>
      <p:sp>
        <p:nvSpPr>
          <p:cNvPr id="44" name="Rectangle 43"/>
          <p:cNvSpPr/>
          <p:nvPr/>
        </p:nvSpPr>
        <p:spPr>
          <a:xfrm>
            <a:off x="1857375" y="1732359"/>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3–5 Layer</a:t>
            </a:r>
          </a:p>
        </p:txBody>
      </p:sp>
      <p:sp>
        <p:nvSpPr>
          <p:cNvPr id="60" name="Rectangle 59"/>
          <p:cNvSpPr/>
          <p:nvPr/>
        </p:nvSpPr>
        <p:spPr>
          <a:xfrm>
            <a:off x="1857375" y="2055019"/>
            <a:ext cx="643890" cy="322659"/>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7 Layer</a:t>
            </a:r>
          </a:p>
        </p:txBody>
      </p:sp>
      <p:sp>
        <p:nvSpPr>
          <p:cNvPr id="76" name="Rectangle 75"/>
          <p:cNvSpPr/>
          <p:nvPr/>
        </p:nvSpPr>
        <p:spPr>
          <a:xfrm>
            <a:off x="1857375" y="2377678"/>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9 Layer and Above</a:t>
            </a:r>
          </a:p>
        </p:txBody>
      </p:sp>
      <p:sp>
        <p:nvSpPr>
          <p:cNvPr id="92" name="Rectangle 91"/>
          <p:cNvSpPr/>
          <p:nvPr/>
        </p:nvSpPr>
        <p:spPr>
          <a:xfrm>
            <a:off x="1857375" y="2700338"/>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Laminated Films</a:t>
            </a:r>
          </a:p>
        </p:txBody>
      </p:sp>
      <p:sp>
        <p:nvSpPr>
          <p:cNvPr id="108" name="Rectangle 107"/>
          <p:cNvSpPr/>
          <p:nvPr/>
        </p:nvSpPr>
        <p:spPr>
          <a:xfrm>
            <a:off x="1857375" y="3022997"/>
            <a:ext cx="643890" cy="322659"/>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Duplex</a:t>
            </a:r>
          </a:p>
        </p:txBody>
      </p:sp>
      <p:sp>
        <p:nvSpPr>
          <p:cNvPr id="124" name="Rectangle 123"/>
          <p:cNvSpPr/>
          <p:nvPr/>
        </p:nvSpPr>
        <p:spPr>
          <a:xfrm>
            <a:off x="1857375" y="3345656"/>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Triplex</a:t>
            </a:r>
          </a:p>
        </p:txBody>
      </p:sp>
      <p:sp>
        <p:nvSpPr>
          <p:cNvPr id="140" name="Rectangle 139"/>
          <p:cNvSpPr/>
          <p:nvPr/>
        </p:nvSpPr>
        <p:spPr>
          <a:xfrm>
            <a:off x="1857375" y="3668316"/>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Multi-Ply</a:t>
            </a:r>
          </a:p>
        </p:txBody>
      </p:sp>
      <p:sp>
        <p:nvSpPr>
          <p:cNvPr id="156" name="Rectangle 155"/>
          <p:cNvSpPr/>
          <p:nvPr/>
        </p:nvSpPr>
        <p:spPr>
          <a:xfrm>
            <a:off x="1857375" y="3990975"/>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Coated Films</a:t>
            </a:r>
          </a:p>
        </p:txBody>
      </p:sp>
      <p:sp>
        <p:nvSpPr>
          <p:cNvPr id="172" name="Rectangle 171"/>
          <p:cNvSpPr/>
          <p:nvPr/>
        </p:nvSpPr>
        <p:spPr>
          <a:xfrm>
            <a:off x="1857375" y="4313634"/>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Metallized Films</a:t>
            </a:r>
          </a:p>
        </p:txBody>
      </p:sp>
      <p:sp>
        <p:nvSpPr>
          <p:cNvPr id="188" name="Rectangle 187"/>
          <p:cNvSpPr/>
          <p:nvPr/>
        </p:nvSpPr>
        <p:spPr>
          <a:xfrm>
            <a:off x="1857375" y="4636294"/>
            <a:ext cx="643890" cy="322659"/>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Foil-Laminated Structures</a:t>
            </a:r>
          </a:p>
        </p:txBody>
      </p:sp>
      <p:sp>
        <p:nvSpPr>
          <p:cNvPr id="204" name="Rectangle 203"/>
          <p:cNvSpPr/>
          <p:nvPr/>
        </p:nvSpPr>
        <p:spPr>
          <a:xfrm>
            <a:off x="1857375" y="4958953"/>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Mono-Material Recyclable Structures</a:t>
            </a:r>
          </a:p>
        </p:txBody>
      </p:sp>
      <p:sp>
        <p:nvSpPr>
          <p:cNvPr id="220" name="Rectangle 219"/>
          <p:cNvSpPr/>
          <p:nvPr/>
        </p:nvSpPr>
        <p:spPr>
          <a:xfrm>
            <a:off x="1857375" y="5281612"/>
            <a:ext cx="643890" cy="322659"/>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PE-Based</a:t>
            </a:r>
          </a:p>
        </p:txBody>
      </p:sp>
      <p:sp>
        <p:nvSpPr>
          <p:cNvPr id="236" name="Rectangle 235"/>
          <p:cNvSpPr/>
          <p:nvPr/>
        </p:nvSpPr>
        <p:spPr>
          <a:xfrm>
            <a:off x="1857375" y="5604272"/>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PP-Based</a:t>
            </a:r>
          </a:p>
        </p:txBody>
      </p:sp>
      <p:sp>
        <p:nvSpPr>
          <p:cNvPr id="252" name="Rectangle 251"/>
          <p:cNvSpPr/>
          <p:nvPr/>
        </p:nvSpPr>
        <p:spPr>
          <a:xfrm>
            <a:off x="1857375" y="5926931"/>
            <a:ext cx="643890" cy="322659"/>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PET-Based</a:t>
            </a:r>
          </a:p>
        </p:txBody>
      </p:sp>
      <p:sp>
        <p:nvSpPr>
          <p:cNvPr id="268" name="Rectangle 267"/>
          <p:cNvSpPr/>
          <p:nvPr/>
        </p:nvSpPr>
        <p:spPr>
          <a:xfrm>
            <a:off x="1857375" y="6249591"/>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Material Structure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Material Structure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Structure,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Material Structure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Monolayer Films</a:t>
            </a:r>
          </a:p>
        </p:txBody>
      </p:sp>
      <p:sp>
        <p:nvSpPr>
          <p:cNvPr id="28" name="Rectangle 27"/>
          <p:cNvSpPr/>
          <p:nvPr/>
        </p:nvSpPr>
        <p:spPr>
          <a:xfrm>
            <a:off x="1857375" y="1409700"/>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Coextruded Multilayer Films</a:t>
            </a:r>
          </a:p>
        </p:txBody>
      </p:sp>
      <p:sp>
        <p:nvSpPr>
          <p:cNvPr id="44" name="Rectangle 43"/>
          <p:cNvSpPr/>
          <p:nvPr/>
        </p:nvSpPr>
        <p:spPr>
          <a:xfrm>
            <a:off x="1857375" y="1732359"/>
            <a:ext cx="643890" cy="322659"/>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3–5 Layer</a:t>
            </a:r>
          </a:p>
        </p:txBody>
      </p:sp>
      <p:sp>
        <p:nvSpPr>
          <p:cNvPr id="60" name="Rectangle 59"/>
          <p:cNvSpPr/>
          <p:nvPr/>
        </p:nvSpPr>
        <p:spPr>
          <a:xfrm>
            <a:off x="1857375" y="2055019"/>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7 Layer</a:t>
            </a:r>
          </a:p>
        </p:txBody>
      </p:sp>
      <p:sp>
        <p:nvSpPr>
          <p:cNvPr id="76" name="Rectangle 75"/>
          <p:cNvSpPr/>
          <p:nvPr/>
        </p:nvSpPr>
        <p:spPr>
          <a:xfrm>
            <a:off x="1857375" y="2377678"/>
            <a:ext cx="643890" cy="322659"/>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9 Layer and Above</a:t>
            </a:r>
          </a:p>
        </p:txBody>
      </p:sp>
      <p:sp>
        <p:nvSpPr>
          <p:cNvPr id="92" name="Rectangle 91"/>
          <p:cNvSpPr/>
          <p:nvPr/>
        </p:nvSpPr>
        <p:spPr>
          <a:xfrm>
            <a:off x="1857375" y="2700338"/>
            <a:ext cx="643890" cy="322659"/>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Laminated Films</a:t>
            </a:r>
          </a:p>
        </p:txBody>
      </p:sp>
      <p:sp>
        <p:nvSpPr>
          <p:cNvPr id="108" name="Rectangle 107"/>
          <p:cNvSpPr/>
          <p:nvPr/>
        </p:nvSpPr>
        <p:spPr>
          <a:xfrm>
            <a:off x="1857375" y="3022997"/>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Duplex</a:t>
            </a:r>
          </a:p>
        </p:txBody>
      </p:sp>
      <p:sp>
        <p:nvSpPr>
          <p:cNvPr id="124" name="Rectangle 123"/>
          <p:cNvSpPr/>
          <p:nvPr/>
        </p:nvSpPr>
        <p:spPr>
          <a:xfrm>
            <a:off x="1857375" y="3345656"/>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Triplex</a:t>
            </a:r>
          </a:p>
        </p:txBody>
      </p:sp>
      <p:sp>
        <p:nvSpPr>
          <p:cNvPr id="140" name="Rectangle 139"/>
          <p:cNvSpPr/>
          <p:nvPr/>
        </p:nvSpPr>
        <p:spPr>
          <a:xfrm>
            <a:off x="1857375" y="3668316"/>
            <a:ext cx="643890" cy="322659"/>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Multi-Ply</a:t>
            </a:r>
          </a:p>
        </p:txBody>
      </p:sp>
      <p:sp>
        <p:nvSpPr>
          <p:cNvPr id="156" name="Rectangle 155"/>
          <p:cNvSpPr/>
          <p:nvPr/>
        </p:nvSpPr>
        <p:spPr>
          <a:xfrm>
            <a:off x="1857375" y="3990975"/>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Coated Films</a:t>
            </a:r>
          </a:p>
        </p:txBody>
      </p:sp>
      <p:sp>
        <p:nvSpPr>
          <p:cNvPr id="172" name="Rectangle 171"/>
          <p:cNvSpPr/>
          <p:nvPr/>
        </p:nvSpPr>
        <p:spPr>
          <a:xfrm>
            <a:off x="1857375" y="4313634"/>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Metallized Films</a:t>
            </a:r>
          </a:p>
        </p:txBody>
      </p:sp>
      <p:sp>
        <p:nvSpPr>
          <p:cNvPr id="188" name="Rectangle 187"/>
          <p:cNvSpPr/>
          <p:nvPr/>
        </p:nvSpPr>
        <p:spPr>
          <a:xfrm>
            <a:off x="1857375" y="4636294"/>
            <a:ext cx="643890" cy="322659"/>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Foil-Laminated Structures</a:t>
            </a:r>
          </a:p>
        </p:txBody>
      </p:sp>
      <p:sp>
        <p:nvSpPr>
          <p:cNvPr id="204" name="Rectangle 203"/>
          <p:cNvSpPr/>
          <p:nvPr/>
        </p:nvSpPr>
        <p:spPr>
          <a:xfrm>
            <a:off x="1857375" y="4958953"/>
            <a:ext cx="643890" cy="322659"/>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Mono-Material Recyclable Structures</a:t>
            </a:r>
          </a:p>
        </p:txBody>
      </p:sp>
      <p:sp>
        <p:nvSpPr>
          <p:cNvPr id="220" name="Rectangle 219"/>
          <p:cNvSpPr/>
          <p:nvPr/>
        </p:nvSpPr>
        <p:spPr>
          <a:xfrm>
            <a:off x="1857375" y="5281612"/>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PE-Based</a:t>
            </a:r>
          </a:p>
        </p:txBody>
      </p:sp>
      <p:sp>
        <p:nvSpPr>
          <p:cNvPr id="236" name="Rectangle 235"/>
          <p:cNvSpPr/>
          <p:nvPr/>
        </p:nvSpPr>
        <p:spPr>
          <a:xfrm>
            <a:off x="1857375" y="5604272"/>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PP-Based</a:t>
            </a:r>
          </a:p>
        </p:txBody>
      </p:sp>
      <p:sp>
        <p:nvSpPr>
          <p:cNvPr id="252" name="Rectangle 251"/>
          <p:cNvSpPr/>
          <p:nvPr/>
        </p:nvSpPr>
        <p:spPr>
          <a:xfrm>
            <a:off x="1857375" y="5926931"/>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21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PET-Based</a:t>
            </a:r>
          </a:p>
        </p:txBody>
      </p:sp>
      <p:sp>
        <p:nvSpPr>
          <p:cNvPr id="268" name="Rectangle 267"/>
          <p:cNvSpPr/>
          <p:nvPr/>
        </p:nvSpPr>
        <p:spPr>
          <a:xfrm>
            <a:off x="1857375" y="6249591"/>
            <a:ext cx="643890" cy="322659"/>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Barrier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Barrier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Barrier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Barrier Level segment categorizes the market by barrier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Medium-Barrier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11,641</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20,745</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5.9%</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High-Barrier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11,050</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21,462</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Low-Barrier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7,007</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12,900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6.3%</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Ultra-High-Barrier Films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4,636</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8,618</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barrier level, high-barrier films segment is expected to witness the highest CAGR of 6.9% over the forecast period. In terms of value share by barrier level, the high-barrier films segment is expected to dominate the market, gaining 150 BPS and accounting for 33.7%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High-barrier films segment is projected to register 1.0X higher value than medium-barrier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Medium-Barrier Films: </a:t>
            </a:r>
            <a:r>
              <a:rPr sz="1100" b="0">
                <a:solidFill>
                  <a:srgbClr val="2E2E2E"/>
                </a:solidFill>
                <a:latin typeface="Calibri"/>
              </a:rPr>
              <a:t>34% of 2026 value · 5.9%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High-Barrier Films: </a:t>
            </a:r>
            <a:r>
              <a:rPr sz="1100" b="0">
                <a:solidFill>
                  <a:srgbClr val="2E2E2E"/>
                </a:solidFill>
                <a:latin typeface="Calibri"/>
              </a:rPr>
              <a:t>32% of 2026 value · 6.9%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Low-Barrier Films: </a:t>
            </a:r>
            <a:r>
              <a:rPr sz="1100" b="0">
                <a:solidFill>
                  <a:srgbClr val="2E2E2E"/>
                </a:solidFill>
                <a:latin typeface="Calibri"/>
              </a:rPr>
              <a:t>20% of 2026 value · 6.3%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Ultra-High-Barrier Films: </a:t>
            </a:r>
            <a:r>
              <a:rPr sz="1100" b="0">
                <a:solidFill>
                  <a:srgbClr val="2E2E2E"/>
                </a:solidFill>
                <a:latin typeface="Calibri"/>
              </a:rPr>
              <a:t>14% of 2026 value · 6.4%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Barrier Level split shows how demand is distributed across barrier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Barrier Level segment is projected to grow at a CAGR of 6.4%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Barrier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Barrier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Barrier Level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High-barrier films followed by medium-barrier films are expected to be the two most attractive barrier level segments in the East Asia flexible plastic packaging market in terms of value over the forecast period. High-Barrier films and Medium-Barrier films exhibit a CAGR index of 108 and 93 and a market share index of 129 and 136 respectively, against the segment average of 100. The ultra-high-barrier films segment is expected to be less attractive as compared to other segments over the forecast period, owing to its lower CAGR and incremental opportunity. High-Barrier Films and Medium-Barrier Films rank as the most attractive because they pair scale with growth. High-barrier grades combine a large base with shelf-life-driven demand from protein, ready meals and delivered food, with 32.2% of 2026 value growing at 6.9%. For Medium-Barrier Films, medium-barrier films retain a large installed base in fresh produce, bakery and dairy, at 33.9% share and 5.9% CAGR. In East Asia, advanced converting capability, convenience retail and ready-meal demand steer specifications.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Barrier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Low-Barrier Films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Medium-Barrier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High-Barrier Films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Ultra-High-Barrier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Volume Analysis, By Barrier Level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Barrier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Volume Analysis, By Barrier Level</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High-barrier films segment is projected to register 1.0X higher volume than medium-barrier films segment in 2036. Among flexible plastic packaging by barrier level, high-barrier films segment is expected to witness the highest CAGR of 5.5% over the forecast period.</a:t>
            </a:r>
          </a:p>
          <a:p>
            <a:pPr algn="l">
              <a:lnSpc>
                <a:spcPct val="110000"/>
              </a:lnSpc>
              <a:spcBef>
                <a:spcPts val="0"/>
              </a:spcBef>
              <a:spcAft>
                <a:spcPts val="500"/>
              </a:spcAft>
            </a:pPr>
            <a:r>
              <a:rPr sz="1150" b="0">
                <a:solidFill>
                  <a:srgbClr val="2E2E2E"/>
                </a:solidFill>
                <a:latin typeface="Calibri"/>
              </a:rPr>
              <a:t>In terms of volume share by barrier level, the high-barrier films segment is expected to dominate the market, gaining 149 BPS and accounting for 33.7% share by 2036. The medium-barrier films segment is expected to lose 135 BPS over the forecast period to account for 32.6% share by 2036.</a:t>
            </a:r>
          </a:p>
          <a:p>
            <a:pPr algn="l">
              <a:lnSpc>
                <a:spcPct val="110000"/>
              </a:lnSpc>
              <a:spcBef>
                <a:spcPts val="0"/>
              </a:spcBef>
              <a:spcAft>
                <a:spcPts val="500"/>
              </a:spcAft>
            </a:pPr>
            <a:r>
              <a:rPr sz="1150" b="0">
                <a:solidFill>
                  <a:srgbClr val="2E2E2E"/>
                </a:solidFill>
                <a:latin typeface="Calibri"/>
              </a:rPr>
              <a:t>High-Barrier Films add 149 BPS of volume share at 5.5% growth because fresh protein, cheese, snacks and ready meals need longer shelf life and lower food waste, and brands keep upgrading packs, supported by dense e-commerce and convenience retail, ready-meal growth and deep local converting capacity. Medium-Barrier Films lose 135 BPS at 4.6%, as those applications trade up to higher barrier and ultra-high-barrier films take the premium niches.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Barrier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Barrier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Barrier Level (US$ Mn)</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Barrier Level</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High-barrier films segment is projected to register 1.0X higher value than medium-barrier films segment in 2036. Among flexible plastic packaging by barrier level, high-barrier films segment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value share by barrier level, the high-barrier films segment is expected to dominate the market, gaining 150 BPS and accounting for 33.7% share by 2036. The medium-barrier films segment is expected to lose 135 BPS over the forecast period to account for 32.6% share by 2036.</a:t>
            </a:r>
          </a:p>
          <a:p>
            <a:pPr algn="l">
              <a:lnSpc>
                <a:spcPct val="110000"/>
              </a:lnSpc>
              <a:spcBef>
                <a:spcPts val="0"/>
              </a:spcBef>
              <a:spcAft>
                <a:spcPts val="500"/>
              </a:spcAft>
            </a:pPr>
            <a:r>
              <a:rPr sz="1150" b="0">
                <a:solidFill>
                  <a:srgbClr val="2E2E2E"/>
                </a:solidFill>
                <a:latin typeface="Calibri"/>
              </a:rPr>
              <a:t>High-Barrier Films gain 150 BPS and grow fastest at 6.9% because East Asian consumers buy more ready meals, retort food, fresh protein and delivered meals that need long shelf life, and electronics and pharma uses add demand. Medium-Barrier Films lose 135 BPS and grow only 5.9% as processors upgrade specifications to cut spoilage across extended supply chains.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Barrier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Barrier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042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566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946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Ultra-High-Barrier Films</a:t>
            </a:r>
          </a:p>
        </p:txBody>
      </p:sp>
      <p:sp>
        <p:nvSpPr>
          <p:cNvPr id="19" name="BPS Value 1"/>
          <p:cNvSpPr txBox="1"/>
          <p:nvPr/>
        </p:nvSpPr>
        <p:spPr>
          <a:xfrm>
            <a:off x="6896100" y="1961374"/>
            <a:ext cx="514350" cy="123825"/>
          </a:xfrm>
          <a:prstGeom prst="rect">
            <a:avLst/>
          </a:prstGeom>
          <a:noFill/>
        </p:spPr>
        <p:txBody>
          <a:bodyPr wrap="none" lIns="0" rIns="0" tIns="0" bIns="0" anchor="ctr">
            <a:spAutoFit/>
          </a:bodyPr>
          <a:lstStyle/>
          <a:p>
            <a:pPr algn="r"/>
            <a:r>
              <a:rPr sz="900" b="1">
                <a:solidFill>
                  <a:srgbClr val="2E7D32"/>
                </a:solidFill>
                <a:latin typeface="Calibri"/>
              </a:rPr>
              <a:t>+2</a:t>
            </a:r>
          </a:p>
        </p:txBody>
      </p:sp>
      <p:sp>
        <p:nvSpPr>
          <p:cNvPr id="20" name="FMI Legend Chip"/>
          <p:cNvSpPr/>
          <p:nvPr/>
        </p:nvSpPr>
        <p:spPr>
          <a:xfrm>
            <a:off x="4928997" y="275239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7476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714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Low-Barrier Films</a:t>
            </a:r>
          </a:p>
        </p:txBody>
      </p:sp>
      <p:sp>
        <p:nvSpPr>
          <p:cNvPr id="23" name="BPS Value 2"/>
          <p:cNvSpPr txBox="1"/>
          <p:nvPr/>
        </p:nvSpPr>
        <p:spPr>
          <a:xfrm>
            <a:off x="6896100" y="2733345"/>
            <a:ext cx="514350" cy="123825"/>
          </a:xfrm>
          <a:prstGeom prst="rect">
            <a:avLst/>
          </a:prstGeom>
          <a:noFill/>
        </p:spPr>
        <p:txBody>
          <a:bodyPr wrap="none" lIns="0" rIns="0" tIns="0" bIns="0" anchor="ctr">
            <a:spAutoFit/>
          </a:bodyPr>
          <a:lstStyle/>
          <a:p>
            <a:pPr algn="r"/>
            <a:r>
              <a:rPr sz="900" b="1">
                <a:solidFill>
                  <a:srgbClr val="E44D3A"/>
                </a:solidFill>
                <a:latin typeface="Calibri"/>
              </a:rPr>
              <a:t>-16</a:t>
            </a:r>
          </a:p>
        </p:txBody>
      </p:sp>
      <p:sp>
        <p:nvSpPr>
          <p:cNvPr id="24" name="FMI Legend Chip"/>
          <p:cNvSpPr/>
          <p:nvPr/>
        </p:nvSpPr>
        <p:spPr>
          <a:xfrm>
            <a:off x="4928997" y="395944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5468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87848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Medium-Barrier Films</a:t>
            </a:r>
          </a:p>
        </p:txBody>
      </p:sp>
      <p:sp>
        <p:nvSpPr>
          <p:cNvPr id="27" name="BPS Value 3"/>
          <p:cNvSpPr txBox="1"/>
          <p:nvPr/>
        </p:nvSpPr>
        <p:spPr>
          <a:xfrm>
            <a:off x="6896100" y="3940396"/>
            <a:ext cx="514350" cy="123825"/>
          </a:xfrm>
          <a:prstGeom prst="rect">
            <a:avLst/>
          </a:prstGeom>
          <a:noFill/>
        </p:spPr>
        <p:txBody>
          <a:bodyPr wrap="none" lIns="0" rIns="0" tIns="0" bIns="0" anchor="ctr">
            <a:spAutoFit/>
          </a:bodyPr>
          <a:lstStyle/>
          <a:p>
            <a:pPr algn="r"/>
            <a:r>
              <a:rPr sz="900" b="1">
                <a:solidFill>
                  <a:srgbClr val="E44D3A"/>
                </a:solidFill>
                <a:latin typeface="Calibri"/>
              </a:rPr>
              <a:t>-135</a:t>
            </a:r>
          </a:p>
        </p:txBody>
      </p:sp>
      <p:sp>
        <p:nvSpPr>
          <p:cNvPr id="28" name="FMI Legend Chip"/>
          <p:cNvSpPr/>
          <p:nvPr/>
        </p:nvSpPr>
        <p:spPr>
          <a:xfrm>
            <a:off x="4928997" y="547366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6890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39270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High-Barrier Films</a:t>
            </a:r>
          </a:p>
        </p:txBody>
      </p:sp>
      <p:sp>
        <p:nvSpPr>
          <p:cNvPr id="31" name="BPS Value 4"/>
          <p:cNvSpPr txBox="1"/>
          <p:nvPr/>
        </p:nvSpPr>
        <p:spPr>
          <a:xfrm>
            <a:off x="6896100" y="5454615"/>
            <a:ext cx="514350" cy="123825"/>
          </a:xfrm>
          <a:prstGeom prst="rect">
            <a:avLst/>
          </a:prstGeom>
          <a:noFill/>
        </p:spPr>
        <p:txBody>
          <a:bodyPr wrap="none" lIns="0" rIns="0" tIns="0" bIns="0" anchor="ctr">
            <a:spAutoFit/>
          </a:bodyPr>
          <a:lstStyle/>
          <a:p>
            <a:pPr algn="r"/>
            <a:r>
              <a:rPr sz="900" b="1">
                <a:solidFill>
                  <a:srgbClr val="2E7D32"/>
                </a:solidFill>
                <a:latin typeface="Calibri"/>
              </a:rPr>
              <a:t>+150</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Barrier Level</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barrier level, high-barrier films segment is expected to witness the highest CAGR of 6.9% over the forecast period. In terms of value share by barrier level, the high-barrier films segment is expected to dominate the market, gaining 150 BPS and accounting for 33.7% share by 2036.</a:t>
            </a:r>
          </a:p>
          <a:p>
            <a:pPr algn="l">
              <a:lnSpc>
                <a:spcPct val="110000"/>
              </a:lnSpc>
              <a:spcBef>
                <a:spcPts val="0"/>
              </a:spcBef>
              <a:spcAft>
                <a:spcPts val="500"/>
              </a:spcAft>
            </a:pPr>
            <a:r>
              <a:rPr sz="1150" b="0">
                <a:solidFill>
                  <a:srgbClr val="2E2E2E"/>
                </a:solidFill>
                <a:latin typeface="Calibri"/>
              </a:rPr>
              <a:t>The medium-barrier films segment is expected to lose 135 BPS over the forecast period to account for 32.6% share by 2036.</a:t>
            </a:r>
          </a:p>
          <a:p>
            <a:pPr algn="l">
              <a:lnSpc>
                <a:spcPct val="110000"/>
              </a:lnSpc>
              <a:spcBef>
                <a:spcPts val="0"/>
              </a:spcBef>
              <a:spcAft>
                <a:spcPts val="500"/>
              </a:spcAft>
            </a:pPr>
            <a:r>
              <a:rPr sz="1150" b="0">
                <a:solidFill>
                  <a:srgbClr val="2E2E2E"/>
                </a:solidFill>
                <a:latin typeface="Calibri"/>
              </a:rPr>
              <a:t>High-Barrier Films grows fastest at a 6.9% CAGR against 6.4% for the market because protein, ready meals and e-commerce-delivered food need longer shelf life and lower spoilage. The slowest part, Medium-Barrier Films, grows at 5.9% as demand polarises between cost-led low-barrier grades and performance-led high-barrier grades. In East Asia, advanced converting capability, convenience retail and ready-meal demand steer specifications.</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Volume, By Barrier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YoY Growth,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YoY Heatmap, By Barrier Level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33" name="Rectangle 32"/>
          <p:cNvSpPr/>
          <p:nvPr/>
        </p:nvSpPr>
        <p:spPr>
          <a:xfrm>
            <a:off x="1857375" y="3086100"/>
            <a:ext cx="643890" cy="87153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49" name="Rectangle 48"/>
          <p:cNvSpPr/>
          <p:nvPr/>
        </p:nvSpPr>
        <p:spPr>
          <a:xfrm>
            <a:off x="1857375" y="3957638"/>
            <a:ext cx="643890" cy="871538"/>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65" name="Rectangle 64"/>
          <p:cNvSpPr/>
          <p:nvPr/>
        </p:nvSpPr>
        <p:spPr>
          <a:xfrm>
            <a:off x="1857375" y="4829175"/>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81" name="Rectangle 80"/>
          <p:cNvSpPr/>
          <p:nvPr/>
        </p:nvSpPr>
        <p:spPr>
          <a:xfrm>
            <a:off x="1857375" y="5700712"/>
            <a:ext cx="643890" cy="87153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Barrier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Barrier Level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33" name="Rectangle 32"/>
          <p:cNvSpPr/>
          <p:nvPr/>
        </p:nvSpPr>
        <p:spPr>
          <a:xfrm>
            <a:off x="1857375" y="3086100"/>
            <a:ext cx="643890" cy="871538"/>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49" name="Rectangle 48"/>
          <p:cNvSpPr/>
          <p:nvPr/>
        </p:nvSpPr>
        <p:spPr>
          <a:xfrm>
            <a:off x="1857375" y="3957638"/>
            <a:ext cx="643890" cy="871538"/>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74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65" name="Rectangle 64"/>
          <p:cNvSpPr/>
          <p:nvPr/>
        </p:nvSpPr>
        <p:spPr>
          <a:xfrm>
            <a:off x="1857375" y="4829175"/>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81" name="Rectangle 80"/>
          <p:cNvSpPr/>
          <p:nvPr/>
        </p:nvSpPr>
        <p:spPr>
          <a:xfrm>
            <a:off x="1857375" y="5700712"/>
            <a:ext cx="643890" cy="871538"/>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Application,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Application segment categorizes the market by application.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Food Packaging</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28,506</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52,966</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6.4%</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Non-Food Packaging</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5,828</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10,757</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6.3%</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application, food packaging segment is expected to witness the highest CAGR of 6.4% over the forecast period. In terms of value share by application, the food packaging segment is expected to dominate the market, maintaining its share and accounting for 83.1%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Food packaging segment is projected to register 4.9X higher value than non-food packaging segment in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Food Packaging: </a:t>
            </a:r>
            <a:r>
              <a:rPr sz="1100" b="0">
                <a:solidFill>
                  <a:srgbClr val="2E2E2E"/>
                </a:solidFill>
                <a:latin typeface="Calibri"/>
              </a:rPr>
              <a:t>83% of 2026 value · 6.4%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Non-Food Packaging: </a:t>
            </a:r>
            <a:r>
              <a:rPr sz="1100" b="0">
                <a:solidFill>
                  <a:srgbClr val="2E2E2E"/>
                </a:solidFill>
                <a:latin typeface="Calibri"/>
              </a:rPr>
              <a:t>17% of 2026 value · 6.3% CAGR serves a niche.</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Application split shows how demand is distributed across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Application segment is projected to grow at a CAGR of 6.4%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Application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276725"/>
          </a:xfrm>
          <a:prstGeom prst="roundRect">
            <a:avLst>
              <a:gd name="adj" fmla="val 17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762375"/>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276725"/>
          </a:xfrm>
          <a:prstGeom prst="roundRect">
            <a:avLst>
              <a:gd name="adj" fmla="val 17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Application · Bubble size represents 2036 value</a:t>
            </a:r>
          </a:p>
        </p:txBody>
      </p:sp>
      <p:graphicFrame>
        <p:nvGraphicFramePr>
          <p:cNvPr id="16" name="Chart 15"/>
          <p:cNvGraphicFramePr>
            <a:graphicFrameLocks noGrp="1"/>
          </p:cNvGraphicFramePr>
          <p:nvPr/>
        </p:nvGraphicFramePr>
        <p:xfrm>
          <a:off x="6734175" y="1266825"/>
          <a:ext cx="5210175" cy="3933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91150"/>
            <a:ext cx="11906250" cy="1228725"/>
          </a:xfrm>
          <a:prstGeom prst="roundRect">
            <a:avLst>
              <a:gd name="adj" fmla="val 62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Food packaging followed by non-food packaging are expected to be the two most attractive application segments in the East Asia flexible plastic packaging market in terms of value over the forecast period. Food packaging and Non-Food packaging exhibit a CAGR index of 100 and 99 and a market share index of 166 and 34 respectively, against the segment average of 100. Food Packaging ranks most attractive in East Asia because it combines a dominant 83.0% share with 6.4% growth, slightly ahead of Non-Food Packaging at 6.3%. Large and growing consumption of ready meals, snacks, chilled protein and delivered food in China, Japan and South Korea underpins demand for barrier pouches and films. Non-Food Packaging is smaller at 17.0%, so it ranks lower on scale.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Application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Food Packaging</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Non-Food Packaging</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Volume Analysis, By Application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By Application (Thousand MT)</a:t>
            </a:r>
          </a:p>
        </p:txBody>
      </p:sp>
      <p:graphicFrame>
        <p:nvGraphicFramePr>
          <p:cNvPr id="13" name="Table 12"/>
          <p:cNvGraphicFramePr>
            <a:graphicFrameLocks noGrp="1"/>
          </p:cNvGraphicFramePr>
          <p:nvPr/>
        </p:nvGraphicFramePr>
        <p:xfrm>
          <a:off x="152400" y="1238250"/>
          <a:ext cx="11887193" cy="2857498"/>
        </p:xfrm>
        <a:graphic>
          <a:graphicData uri="http://schemas.openxmlformats.org/drawingml/2006/table">
            <a:tbl>
              <a:tblPr>
                <a:tableStyleId>{5C22544A-7EE6-4342-B048-85BDC9FD1C3A}</a:tableStyleId>
              </a:tblPr>
              <a:tblGrid>
                <a:gridCol w="2284301"/>
                <a:gridCol w="564876"/>
                <a:gridCol w="564876"/>
                <a:gridCol w="564876"/>
                <a:gridCol w="564876"/>
                <a:gridCol w="564876"/>
                <a:gridCol w="564876"/>
                <a:gridCol w="564876"/>
                <a:gridCol w="564876"/>
                <a:gridCol w="564876"/>
                <a:gridCol w="564876"/>
                <a:gridCol w="564876"/>
                <a:gridCol w="564876"/>
                <a:gridCol w="564876"/>
                <a:gridCol w="564876"/>
                <a:gridCol w="564876"/>
                <a:gridCol w="564876"/>
                <a:gridCol w="564876"/>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40203">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105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Volume Analysis, By Application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Application,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By Application (Thousand MT)</a:t>
            </a:r>
          </a:p>
        </p:txBody>
      </p:sp>
      <p:graphicFrame>
        <p:nvGraphicFramePr>
          <p:cNvPr id="12" name="Table 11"/>
          <p:cNvGraphicFramePr>
            <a:graphicFrameLocks noGrp="1"/>
          </p:cNvGraphicFramePr>
          <p:nvPr/>
        </p:nvGraphicFramePr>
        <p:xfrm>
          <a:off x="152400" y="1238250"/>
          <a:ext cx="11887203" cy="1514475"/>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Household 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Volume Analysis, By Application</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Food packaging segment is projected to register 4.9X higher volume than non-food packaging segment in 2036. Among flexible plastic packaging by application, food packaging segment is expected to witness the highest CAGR of 5.0% over the forecast period.</a:t>
            </a:r>
          </a:p>
          <a:p>
            <a:pPr algn="l">
              <a:lnSpc>
                <a:spcPct val="110000"/>
              </a:lnSpc>
              <a:spcBef>
                <a:spcPts val="0"/>
              </a:spcBef>
              <a:spcAft>
                <a:spcPts val="500"/>
              </a:spcAft>
            </a:pPr>
            <a:r>
              <a:rPr sz="1150" b="0">
                <a:solidFill>
                  <a:srgbClr val="2E2E2E"/>
                </a:solidFill>
                <a:latin typeface="Calibri"/>
              </a:rPr>
              <a:t>In terms of volume share by application, the food packaging segment is expected to dominate the market, maintaining its share and accounting for 83.1% share by 2036.</a:t>
            </a:r>
          </a:p>
          <a:p>
            <a:pPr algn="l">
              <a:lnSpc>
                <a:spcPct val="110000"/>
              </a:lnSpc>
              <a:spcBef>
                <a:spcPts val="0"/>
              </a:spcBef>
              <a:spcAft>
                <a:spcPts val="500"/>
              </a:spcAft>
            </a:pPr>
            <a:r>
              <a:rPr sz="1150" b="0">
                <a:solidFill>
                  <a:srgbClr val="2E2E2E"/>
                </a:solidFill>
                <a:latin typeface="Calibri"/>
              </a:rPr>
              <a:t>Food Packaging gains 10 BPS, while growth is level at 5.0% for both applications, because demand for ready meals, delivered food and packaged snacks in China, Japan and South Korea keeps tilting consumption toward food. Non-Food Packaging, which covers personal care, household and electronics, tracks the same economy but without the same structural shift to packaged food, so it cedes the same 10 BPS.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Application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Application (US$ Mn)</a:t>
            </a:r>
          </a:p>
        </p:txBody>
      </p:sp>
      <p:graphicFrame>
        <p:nvGraphicFramePr>
          <p:cNvPr id="13" name="Table 12"/>
          <p:cNvGraphicFramePr>
            <a:graphicFrameLocks noGrp="1"/>
          </p:cNvGraphicFramePr>
          <p:nvPr/>
        </p:nvGraphicFramePr>
        <p:xfrm>
          <a:off x="152400" y="1238250"/>
          <a:ext cx="11887193" cy="2857498"/>
        </p:xfrm>
        <a:graphic>
          <a:graphicData uri="http://schemas.openxmlformats.org/drawingml/2006/table">
            <a:tbl>
              <a:tblPr>
                <a:tableStyleId>{5C22544A-7EE6-4342-B048-85BDC9FD1C3A}</a:tableStyleId>
              </a:tblPr>
              <a:tblGrid>
                <a:gridCol w="2284301"/>
                <a:gridCol w="564876"/>
                <a:gridCol w="564876"/>
                <a:gridCol w="564876"/>
                <a:gridCol w="564876"/>
                <a:gridCol w="564876"/>
                <a:gridCol w="564876"/>
                <a:gridCol w="564876"/>
                <a:gridCol w="564876"/>
                <a:gridCol w="564876"/>
                <a:gridCol w="564876"/>
                <a:gridCol w="564876"/>
                <a:gridCol w="564876"/>
                <a:gridCol w="564876"/>
                <a:gridCol w="564876"/>
                <a:gridCol w="564876"/>
                <a:gridCol w="564876"/>
                <a:gridCol w="564876"/>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40203">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105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Application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Application (US$ Mn)</a:t>
            </a:r>
          </a:p>
        </p:txBody>
      </p:sp>
      <p:graphicFrame>
        <p:nvGraphicFramePr>
          <p:cNvPr id="12" name="Table 11"/>
          <p:cNvGraphicFramePr>
            <a:graphicFrameLocks noGrp="1"/>
          </p:cNvGraphicFramePr>
          <p:nvPr/>
        </p:nvGraphicFramePr>
        <p:xfrm>
          <a:off x="152400" y="1238250"/>
          <a:ext cx="11887203" cy="1514475"/>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Household 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Application</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Food packaging segment is projected to register 4.9X higher value than non-food packaging segment in 2036. Among flexible plastic packaging by application, food packaging segment is expected to witness the highest CAGR of 6.4% over the forecast period.</a:t>
            </a:r>
          </a:p>
          <a:p>
            <a:pPr algn="l">
              <a:lnSpc>
                <a:spcPct val="110000"/>
              </a:lnSpc>
              <a:spcBef>
                <a:spcPts val="0"/>
              </a:spcBef>
              <a:spcAft>
                <a:spcPts val="500"/>
              </a:spcAft>
            </a:pPr>
            <a:r>
              <a:rPr sz="1150" b="0">
                <a:solidFill>
                  <a:srgbClr val="2E2E2E"/>
                </a:solidFill>
                <a:latin typeface="Calibri"/>
              </a:rPr>
              <a:t>In terms of value share by application, the food packaging segment is expected to dominate the market, maintaining its share and accounting for 83.1% share by 2036.</a:t>
            </a:r>
          </a:p>
          <a:p>
            <a:pPr algn="l">
              <a:lnSpc>
                <a:spcPct val="110000"/>
              </a:lnSpc>
              <a:spcBef>
                <a:spcPts val="0"/>
              </a:spcBef>
              <a:spcAft>
                <a:spcPts val="500"/>
              </a:spcAft>
            </a:pPr>
            <a:r>
              <a:rPr sz="1150" b="0">
                <a:solidFill>
                  <a:srgbClr val="2E2E2E"/>
                </a:solidFill>
                <a:latin typeface="Calibri"/>
              </a:rPr>
              <a:t>Food Packaging gains 9 BPS of value share because processed, frozen and delivered food keeps expanding faster than industrial and household uses. Its 6.4% CAGR compares with a 6.4% market rate, while Non-Food Packaging loses 9 BPS at 6.3% as industrial and household uses grow more slowly than food. In East Asia, advanced converting capability, convenience retail and ready-meal demand steer specifications.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Application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Application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5719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5243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7623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Non-Food Packaging</a:t>
            </a:r>
          </a:p>
        </p:txBody>
      </p:sp>
      <p:sp>
        <p:nvSpPr>
          <p:cNvPr id="19" name="BPS Value 1"/>
          <p:cNvSpPr txBox="1"/>
          <p:nvPr/>
        </p:nvSpPr>
        <p:spPr>
          <a:xfrm>
            <a:off x="6896100" y="2038144"/>
            <a:ext cx="514350" cy="123825"/>
          </a:xfrm>
          <a:prstGeom prst="rect">
            <a:avLst/>
          </a:prstGeom>
          <a:noFill/>
        </p:spPr>
        <p:txBody>
          <a:bodyPr wrap="none" lIns="0" rIns="0" tIns="0" bIns="0" anchor="ctr">
            <a:spAutoFit/>
          </a:bodyPr>
          <a:lstStyle/>
          <a:p>
            <a:pPr algn="r"/>
            <a:r>
              <a:rPr sz="900" b="1">
                <a:solidFill>
                  <a:srgbClr val="E44D3A"/>
                </a:solidFill>
                <a:latin typeface="Calibri"/>
              </a:rPr>
              <a:t>-9</a:t>
            </a:r>
          </a:p>
        </p:txBody>
      </p:sp>
      <p:sp>
        <p:nvSpPr>
          <p:cNvPr id="20" name="FMI Legend Chip"/>
          <p:cNvSpPr/>
          <p:nvPr/>
        </p:nvSpPr>
        <p:spPr>
          <a:xfrm>
            <a:off x="4928997" y="434338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33862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26242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 Packaging</a:t>
            </a:r>
          </a:p>
        </p:txBody>
      </p:sp>
      <p:sp>
        <p:nvSpPr>
          <p:cNvPr id="23" name="BPS Value 2"/>
          <p:cNvSpPr txBox="1"/>
          <p:nvPr/>
        </p:nvSpPr>
        <p:spPr>
          <a:xfrm>
            <a:off x="6896100" y="4324335"/>
            <a:ext cx="514350" cy="123825"/>
          </a:xfrm>
          <a:prstGeom prst="rect">
            <a:avLst/>
          </a:prstGeom>
          <a:noFill/>
        </p:spPr>
        <p:txBody>
          <a:bodyPr wrap="none" lIns="0" rIns="0" tIns="0" bIns="0" anchor="ctr">
            <a:spAutoFit/>
          </a:bodyPr>
          <a:lstStyle/>
          <a:p>
            <a:pPr algn="r"/>
            <a:r>
              <a:rPr sz="900" b="1">
                <a:solidFill>
                  <a:srgbClr val="2E7D32"/>
                </a:solidFill>
                <a:latin typeface="Calibri"/>
              </a:rPr>
              <a:t>+9</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Application</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application, food packaging segment is expected to witness the highest CAGR of 6.4% over the forecast period.</a:t>
            </a:r>
          </a:p>
          <a:p>
            <a:pPr algn="l">
              <a:lnSpc>
                <a:spcPct val="110000"/>
              </a:lnSpc>
              <a:spcBef>
                <a:spcPts val="0"/>
              </a:spcBef>
              <a:spcAft>
                <a:spcPts val="500"/>
              </a:spcAft>
            </a:pPr>
            <a:r>
              <a:rPr sz="1150" b="0">
                <a:solidFill>
                  <a:srgbClr val="2E2E2E"/>
                </a:solidFill>
                <a:latin typeface="Calibri"/>
              </a:rPr>
              <a:t>In terms of value share by application, the food packaging segment is expected to dominate the market, maintaining its share and accounting for 83.1% share by 2036.</a:t>
            </a:r>
          </a:p>
          <a:p>
            <a:pPr algn="l">
              <a:lnSpc>
                <a:spcPct val="110000"/>
              </a:lnSpc>
              <a:spcBef>
                <a:spcPts val="0"/>
              </a:spcBef>
              <a:spcAft>
                <a:spcPts val="500"/>
              </a:spcAft>
            </a:pPr>
            <a:r>
              <a:rPr sz="1150" b="0">
                <a:solidFill>
                  <a:srgbClr val="2E2E2E"/>
                </a:solidFill>
                <a:latin typeface="Calibri"/>
              </a:rPr>
              <a:t>Food Packaging grows slightly faster at 6.4% against 6.3% for Non-Food Packaging because convenience eating, food delivery, e-commerce grocery and rising protein consumption increase the number of packed food items. Shelf-life needs make food the main user of high-barrier film. Non-food segments such as personal care and household goods expand steadily but with less structural support, so the gap is narrow.</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Volume, By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YoY Growth,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Volume, By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YoY Heatmap, By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sp>
        <p:nvSpPr>
          <p:cNvPr id="28" name="Rectangle 27"/>
          <p:cNvSpPr/>
          <p:nvPr/>
        </p:nvSpPr>
        <p:spPr>
          <a:xfrm>
            <a:off x="1857375" y="1409700"/>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Meat and Processed Meat</a:t>
            </a:r>
          </a:p>
        </p:txBody>
      </p:sp>
      <p:sp>
        <p:nvSpPr>
          <p:cNvPr id="44" name="Rectangle 43"/>
          <p:cNvSpPr/>
          <p:nvPr/>
        </p:nvSpPr>
        <p:spPr>
          <a:xfrm>
            <a:off x="1857375" y="1732359"/>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Poultry</a:t>
            </a:r>
          </a:p>
        </p:txBody>
      </p:sp>
      <p:sp>
        <p:nvSpPr>
          <p:cNvPr id="60" name="Rectangle 59"/>
          <p:cNvSpPr/>
          <p:nvPr/>
        </p:nvSpPr>
        <p:spPr>
          <a:xfrm>
            <a:off x="1857375" y="2055019"/>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Fish and Seafood</a:t>
            </a:r>
          </a:p>
        </p:txBody>
      </p:sp>
      <p:sp>
        <p:nvSpPr>
          <p:cNvPr id="76" name="Rectangle 75"/>
          <p:cNvSpPr/>
          <p:nvPr/>
        </p:nvSpPr>
        <p:spPr>
          <a:xfrm>
            <a:off x="1857375" y="2377678"/>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Dairy and Cheese</a:t>
            </a:r>
          </a:p>
        </p:txBody>
      </p:sp>
      <p:sp>
        <p:nvSpPr>
          <p:cNvPr id="92" name="Rectangle 91"/>
          <p:cNvSpPr/>
          <p:nvPr/>
        </p:nvSpPr>
        <p:spPr>
          <a:xfrm>
            <a:off x="1857375" y="2700338"/>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Ready Meals and Prepared Foods</a:t>
            </a:r>
          </a:p>
        </p:txBody>
      </p:sp>
      <p:sp>
        <p:nvSpPr>
          <p:cNvPr id="108" name="Rectangle 107"/>
          <p:cNvSpPr/>
          <p:nvPr/>
        </p:nvSpPr>
        <p:spPr>
          <a:xfrm>
            <a:off x="1857375" y="3022997"/>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Bakery, Confectionery and Snacks</a:t>
            </a:r>
          </a:p>
        </p:txBody>
      </p:sp>
      <p:sp>
        <p:nvSpPr>
          <p:cNvPr id="124" name="Rectangle 123"/>
          <p:cNvSpPr/>
          <p:nvPr/>
        </p:nvSpPr>
        <p:spPr>
          <a:xfrm>
            <a:off x="1857375" y="3345656"/>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Dry Foods and Powders</a:t>
            </a:r>
          </a:p>
        </p:txBody>
      </p:sp>
      <p:sp>
        <p:nvSpPr>
          <p:cNvPr id="140" name="Rectangle 139"/>
          <p:cNvSpPr/>
          <p:nvPr/>
        </p:nvSpPr>
        <p:spPr>
          <a:xfrm>
            <a:off x="1857375" y="3668316"/>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 Food</a:t>
            </a:r>
          </a:p>
        </p:txBody>
      </p:sp>
      <p:sp>
        <p:nvSpPr>
          <p:cNvPr id="156" name="Rectangle 155"/>
          <p:cNvSpPr/>
          <p:nvPr/>
        </p:nvSpPr>
        <p:spPr>
          <a:xfrm>
            <a:off x="1857375" y="3990975"/>
            <a:ext cx="643890" cy="322659"/>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Other Food Products (Fresh Produce, Plant-Based Foods, Condiments and Dressings, Foodservice Products)</a:t>
            </a:r>
          </a:p>
        </p:txBody>
      </p:sp>
      <p:sp>
        <p:nvSpPr>
          <p:cNvPr id="172" name="Rectangle 171"/>
          <p:cNvSpPr/>
          <p:nvPr/>
        </p:nvSpPr>
        <p:spPr>
          <a:xfrm>
            <a:off x="1857375" y="4313634"/>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3C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88" name="Rectangle 187"/>
          <p:cNvSpPr/>
          <p:nvPr/>
        </p:nvSpPr>
        <p:spPr>
          <a:xfrm>
            <a:off x="1857375" y="4636294"/>
            <a:ext cx="643890" cy="322659"/>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Pharmaceutical and Healthcare</a:t>
            </a:r>
          </a:p>
        </p:txBody>
      </p:sp>
      <p:sp>
        <p:nvSpPr>
          <p:cNvPr id="204" name="Rectangle 203"/>
          <p:cNvSpPr/>
          <p:nvPr/>
        </p:nvSpPr>
        <p:spPr>
          <a:xfrm>
            <a:off x="1857375" y="4958953"/>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Personal Care and Cosmetics</a:t>
            </a:r>
          </a:p>
        </p:txBody>
      </p:sp>
      <p:sp>
        <p:nvSpPr>
          <p:cNvPr id="220" name="Rectangle 219"/>
          <p:cNvSpPr/>
          <p:nvPr/>
        </p:nvSpPr>
        <p:spPr>
          <a:xfrm>
            <a:off x="1857375" y="5281612"/>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Household Care</a:t>
            </a:r>
          </a:p>
        </p:txBody>
      </p:sp>
      <p:sp>
        <p:nvSpPr>
          <p:cNvPr id="236" name="Rectangle 235"/>
          <p:cNvSpPr/>
          <p:nvPr/>
        </p:nvSpPr>
        <p:spPr>
          <a:xfrm>
            <a:off x="1857375" y="5604272"/>
            <a:ext cx="643890" cy="322659"/>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Chemicals and Agrochemicals</a:t>
            </a:r>
          </a:p>
        </p:txBody>
      </p:sp>
      <p:sp>
        <p:nvSpPr>
          <p:cNvPr id="252" name="Rectangle 251"/>
          <p:cNvSpPr/>
          <p:nvPr/>
        </p:nvSpPr>
        <p:spPr>
          <a:xfrm>
            <a:off x="1857375" y="5926931"/>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Electronics and Technical Products</a:t>
            </a:r>
          </a:p>
        </p:txBody>
      </p:sp>
      <p:sp>
        <p:nvSpPr>
          <p:cNvPr id="268" name="Rectangle 267"/>
          <p:cNvSpPr/>
          <p:nvPr/>
        </p:nvSpPr>
        <p:spPr>
          <a:xfrm>
            <a:off x="1857375" y="6249591"/>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sp>
        <p:nvSpPr>
          <p:cNvPr id="28" name="Rectangle 27"/>
          <p:cNvSpPr/>
          <p:nvPr/>
        </p:nvSpPr>
        <p:spPr>
          <a:xfrm>
            <a:off x="1857375" y="1409700"/>
            <a:ext cx="643890" cy="322659"/>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Meat and Processed Meat</a:t>
            </a:r>
          </a:p>
        </p:txBody>
      </p:sp>
      <p:sp>
        <p:nvSpPr>
          <p:cNvPr id="44" name="Rectangle 43"/>
          <p:cNvSpPr/>
          <p:nvPr/>
        </p:nvSpPr>
        <p:spPr>
          <a:xfrm>
            <a:off x="1857375" y="1732359"/>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0D52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Poultry</a:t>
            </a:r>
          </a:p>
        </p:txBody>
      </p:sp>
      <p:sp>
        <p:nvSpPr>
          <p:cNvPr id="60" name="Rectangle 59"/>
          <p:cNvSpPr/>
          <p:nvPr/>
        </p:nvSpPr>
        <p:spPr>
          <a:xfrm>
            <a:off x="1857375" y="2055019"/>
            <a:ext cx="643890" cy="322659"/>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Fish and Seafood</a:t>
            </a:r>
          </a:p>
        </p:txBody>
      </p:sp>
      <p:sp>
        <p:nvSpPr>
          <p:cNvPr id="76" name="Rectangle 75"/>
          <p:cNvSpPr/>
          <p:nvPr/>
        </p:nvSpPr>
        <p:spPr>
          <a:xfrm>
            <a:off x="1857375" y="2377678"/>
            <a:ext cx="643890" cy="322659"/>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Dairy and Cheese</a:t>
            </a:r>
          </a:p>
        </p:txBody>
      </p:sp>
      <p:sp>
        <p:nvSpPr>
          <p:cNvPr id="92" name="Rectangle 91"/>
          <p:cNvSpPr/>
          <p:nvPr/>
        </p:nvSpPr>
        <p:spPr>
          <a:xfrm>
            <a:off x="1857375" y="2700338"/>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Ready Meals and Prepared Foods</a:t>
            </a:r>
          </a:p>
        </p:txBody>
      </p:sp>
      <p:sp>
        <p:nvSpPr>
          <p:cNvPr id="108" name="Rectangle 107"/>
          <p:cNvSpPr/>
          <p:nvPr/>
        </p:nvSpPr>
        <p:spPr>
          <a:xfrm>
            <a:off x="1857375" y="3022997"/>
            <a:ext cx="643890" cy="322659"/>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Bakery, Confectionery and Snacks</a:t>
            </a:r>
          </a:p>
        </p:txBody>
      </p:sp>
      <p:sp>
        <p:nvSpPr>
          <p:cNvPr id="124" name="Rectangle 123"/>
          <p:cNvSpPr/>
          <p:nvPr/>
        </p:nvSpPr>
        <p:spPr>
          <a:xfrm>
            <a:off x="1857375" y="3345656"/>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Dry Foods and Powders</a:t>
            </a:r>
          </a:p>
        </p:txBody>
      </p:sp>
      <p:sp>
        <p:nvSpPr>
          <p:cNvPr id="140" name="Rectangle 139"/>
          <p:cNvSpPr/>
          <p:nvPr/>
        </p:nvSpPr>
        <p:spPr>
          <a:xfrm>
            <a:off x="1857375" y="3668316"/>
            <a:ext cx="643890" cy="322659"/>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 Food</a:t>
            </a:r>
          </a:p>
        </p:txBody>
      </p:sp>
      <p:sp>
        <p:nvSpPr>
          <p:cNvPr id="156" name="Rectangle 155"/>
          <p:cNvSpPr/>
          <p:nvPr/>
        </p:nvSpPr>
        <p:spPr>
          <a:xfrm>
            <a:off x="1857375" y="3990975"/>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Other Food Products (Fresh Produce, Plant-Based Foods, Condiments and Dressings, Foodservice Products)</a:t>
            </a:r>
          </a:p>
        </p:txBody>
      </p:sp>
      <p:sp>
        <p:nvSpPr>
          <p:cNvPr id="172" name="Rectangle 171"/>
          <p:cNvSpPr/>
          <p:nvPr/>
        </p:nvSpPr>
        <p:spPr>
          <a:xfrm>
            <a:off x="1857375" y="4313634"/>
            <a:ext cx="643890" cy="322659"/>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88" name="Rectangle 187"/>
          <p:cNvSpPr/>
          <p:nvPr/>
        </p:nvSpPr>
        <p:spPr>
          <a:xfrm>
            <a:off x="1857375" y="4636294"/>
            <a:ext cx="643890" cy="322659"/>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Pharmaceutical and Healthcare</a:t>
            </a:r>
          </a:p>
        </p:txBody>
      </p:sp>
      <p:sp>
        <p:nvSpPr>
          <p:cNvPr id="204" name="Rectangle 203"/>
          <p:cNvSpPr/>
          <p:nvPr/>
        </p:nvSpPr>
        <p:spPr>
          <a:xfrm>
            <a:off x="1857375" y="4958953"/>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Personal Care and Cosmetics</a:t>
            </a:r>
          </a:p>
        </p:txBody>
      </p:sp>
      <p:sp>
        <p:nvSpPr>
          <p:cNvPr id="220" name="Rectangle 219"/>
          <p:cNvSpPr/>
          <p:nvPr/>
        </p:nvSpPr>
        <p:spPr>
          <a:xfrm>
            <a:off x="1857375" y="5281612"/>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0D65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Household Care</a:t>
            </a:r>
          </a:p>
        </p:txBody>
      </p:sp>
      <p:sp>
        <p:nvSpPr>
          <p:cNvPr id="236" name="Rectangle 235"/>
          <p:cNvSpPr/>
          <p:nvPr/>
        </p:nvSpPr>
        <p:spPr>
          <a:xfrm>
            <a:off x="1857375" y="5604272"/>
            <a:ext cx="643890" cy="322659"/>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Chemicals and Agrochemicals</a:t>
            </a:r>
          </a:p>
        </p:txBody>
      </p:sp>
      <p:sp>
        <p:nvSpPr>
          <p:cNvPr id="252" name="Rectangle 251"/>
          <p:cNvSpPr/>
          <p:nvPr/>
        </p:nvSpPr>
        <p:spPr>
          <a:xfrm>
            <a:off x="1857375" y="5926931"/>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Electronics and Technical Products</a:t>
            </a:r>
          </a:p>
        </p:txBody>
      </p:sp>
      <p:sp>
        <p:nvSpPr>
          <p:cNvPr id="268" name="Rectangle 267"/>
          <p:cNvSpPr/>
          <p:nvPr/>
        </p:nvSpPr>
        <p:spPr>
          <a:xfrm>
            <a:off x="1857375" y="6249591"/>
            <a:ext cx="643890" cy="322659"/>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Barrier Level Vs 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Vs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Barrier Level Vs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Barrier Level Vs Application,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Barrier Level Vs Application segment categorizes the market by barrier level vs application.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Medium-Barrier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11,641</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20,745</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5.9%</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High-Barrier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11,050</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21,462</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Low-Barrier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7,007</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12,900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6.3%</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Ultra-High-Barrier Films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4,636</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8,618</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barrier level vs application, high-barrier films segment is expected to witness the highest CAGR of 6.9% over the forecast period. In terms of value share by barrier level vs application, the high-barrier films segment is expected to dominate the market, gaining 150 BPS and accounting for 33.7%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High-barrier films segment is projected to register 1.0X higher value than medium-barrier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Medium-Barrier Films: </a:t>
            </a:r>
            <a:r>
              <a:rPr sz="1100" b="0">
                <a:solidFill>
                  <a:srgbClr val="2E2E2E"/>
                </a:solidFill>
                <a:latin typeface="Calibri"/>
              </a:rPr>
              <a:t>34% of 2026 value · 5.9%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High-Barrier Films: </a:t>
            </a:r>
            <a:r>
              <a:rPr sz="1100" b="0">
                <a:solidFill>
                  <a:srgbClr val="2E2E2E"/>
                </a:solidFill>
                <a:latin typeface="Calibri"/>
              </a:rPr>
              <a:t>32% of 2026 value · 6.9%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Low-Barrier Films: </a:t>
            </a:r>
            <a:r>
              <a:rPr sz="1100" b="0">
                <a:solidFill>
                  <a:srgbClr val="2E2E2E"/>
                </a:solidFill>
                <a:latin typeface="Calibri"/>
              </a:rPr>
              <a:t>20% of 2026 value · 6.3%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Ultra-High-Barrier Films: </a:t>
            </a:r>
            <a:r>
              <a:rPr sz="1100" b="0">
                <a:solidFill>
                  <a:srgbClr val="2E2E2E"/>
                </a:solidFill>
                <a:latin typeface="Calibri"/>
              </a:rPr>
              <a:t>14% of 2026 value · 6.4%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Barrier Level Vs Application split shows how demand is distributed across barrier level vs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Barrier Level Vs Application segment is projected to grow at a CAGR of 6.4%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Structure &amp; Attractiveness, By Barrier Level Vs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Barrier Level Vs Application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Barrier Level Vs Application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High-barrier films followed by medium-barrier films are expected to be the two most attractive barrier level vs application segments in the East Asia flexible plastic packaging market in terms of value over the forecast period. High-Barrier films and Medium-Barrier films exhibit a CAGR index of 108 and 93 and a market share index of 129 and 136 respectively, against the segment average of 100. The ultra-high-barrier films segment is expected to be less attractive as compared to other segments over the forecast period, owing to its lower CAGR and incremental opportunity. High-Barrier Films rank most attractive because they combine a 32.2% share with the fastest growth at 6.9%, ahead of the 6.4% market. Longer shelf life for protein, cheese, snacks and ready meals drives upgrades, helped by dense e-commerce and convenience retail, ready-meal growth and deep local converting capacity, while Medium-Barrier Films at 5.9% grow slowest despite their size.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Absolute $ Opportunity Analysis, By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Barrier Level Vs Application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Low-Barrier Films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Medium-Barrier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High-Barrier Films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Incremental $ Opportunity (US$ Mn), 2026-2036, By Ultra-High-Barrier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Volume Analysis, By Barrier Level Vs Application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Barrier Level Vs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Volume Analysis, By Barrier Level Vs Application</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High-barrier films segment is projected to register 1.0X higher volume than medium-barrier films segment in 2036. Among flexible plastic packaging by barrier level vs application, high-barrier films segment is expected to witness the highest CAGR of 5.5% over the forecast period.</a:t>
            </a:r>
          </a:p>
          <a:p>
            <a:pPr algn="l">
              <a:lnSpc>
                <a:spcPct val="110000"/>
              </a:lnSpc>
              <a:spcBef>
                <a:spcPts val="0"/>
              </a:spcBef>
              <a:spcAft>
                <a:spcPts val="500"/>
              </a:spcAft>
            </a:pPr>
            <a:r>
              <a:rPr sz="1100" b="0">
                <a:solidFill>
                  <a:srgbClr val="2E2E2E"/>
                </a:solidFill>
                <a:latin typeface="Calibri"/>
              </a:rPr>
              <a:t>In terms of volume share by barrier level vs application, the high-barrier films segment is expected to dominate the market, gaining 149 BPS and accounting for 33.7% share by 2036. The medium-barrier films segment is expected to lose 135 BPS over the forecast period to account for 32.6% share by 2036.</a:t>
            </a:r>
          </a:p>
          <a:p>
            <a:pPr algn="l">
              <a:lnSpc>
                <a:spcPct val="110000"/>
              </a:lnSpc>
              <a:spcBef>
                <a:spcPts val="0"/>
              </a:spcBef>
              <a:spcAft>
                <a:spcPts val="500"/>
              </a:spcAft>
            </a:pPr>
            <a:r>
              <a:rPr sz="1100" b="0">
                <a:solidFill>
                  <a:srgbClr val="2E2E2E"/>
                </a:solidFill>
                <a:latin typeface="Calibri"/>
              </a:rPr>
              <a:t>High-Barrier Films gains 149 BPS of volume share because protein, ready meals and e-commerce-delivered food need longer shelf life and lower spoilage, which pulls demand up from medium-barrier grades. Its 5.5% CAGR compares with a 5.0% market rate, while Medium-Barrier Films loses 135 BPS at 4.6% as demand polarises between cost-led low-barrier grades and performance-led high-barrier grades. In East Asia, advanced converting capability, convenience retail and ready-meal demand steer specifications.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Analysis, By Barrier Level Vs Application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Barrier Level Vs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By Barrier Level Vs Application (US$ Mn)</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40,592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49,059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East Asia Value Analysis, By Barrier Level Vs Application</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High-barrier films segment is projected to register 1.0X higher value than medium-barrier films segment in 2036. Among flexible plastic packaging by barrier level vs application, high-barrier films segment is expected to witness the highest CAGR of 6.9% over the forecast period.</a:t>
            </a:r>
          </a:p>
          <a:p>
            <a:pPr algn="l">
              <a:lnSpc>
                <a:spcPct val="110000"/>
              </a:lnSpc>
              <a:spcBef>
                <a:spcPts val="0"/>
              </a:spcBef>
              <a:spcAft>
                <a:spcPts val="500"/>
              </a:spcAft>
            </a:pPr>
            <a:r>
              <a:rPr sz="1100" b="0">
                <a:solidFill>
                  <a:srgbClr val="2E2E2E"/>
                </a:solidFill>
                <a:latin typeface="Calibri"/>
              </a:rPr>
              <a:t>In terms of value share by barrier level vs application, the high-barrier films segment is expected to dominate the market, gaining 150 BPS and accounting for 33.7% share by 2036. The medium-barrier films segment is expected to lose 135 BPS over the forecast period to account for 32.6% share by 2036.</a:t>
            </a:r>
          </a:p>
          <a:p>
            <a:pPr algn="l">
              <a:lnSpc>
                <a:spcPct val="110000"/>
              </a:lnSpc>
              <a:spcBef>
                <a:spcPts val="0"/>
              </a:spcBef>
              <a:spcAft>
                <a:spcPts val="500"/>
              </a:spcAft>
            </a:pPr>
            <a:r>
              <a:rPr sz="1100" b="0">
                <a:solidFill>
                  <a:srgbClr val="2E2E2E"/>
                </a:solidFill>
                <a:latin typeface="Calibri"/>
              </a:rPr>
              <a:t>High-Barrier Films gain 150 BPS, the largest swing, and grow at 6.9% because East Asian consumers and retailers demand longer shelf life for ready meals, chilled protein and delivered food. Medium-Barrier Films lose 135 BPS at 5.9% as buyers upgrade barrier performance or switch to recyclable structures. Low-Barrier and Ultra-High-Barrier Films stay almost flat, moving only 16 BPS and 2 BPS.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Market Value &amp; Share Shift, By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Barrier Level Vs Application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Composition, By Barrier Level Vs Application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042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566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9946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Ultra-High-Barrier Films</a:t>
            </a:r>
          </a:p>
        </p:txBody>
      </p:sp>
      <p:sp>
        <p:nvSpPr>
          <p:cNvPr id="19" name="BPS Value 1"/>
          <p:cNvSpPr txBox="1"/>
          <p:nvPr/>
        </p:nvSpPr>
        <p:spPr>
          <a:xfrm>
            <a:off x="6896100" y="1961374"/>
            <a:ext cx="514350" cy="123825"/>
          </a:xfrm>
          <a:prstGeom prst="rect">
            <a:avLst/>
          </a:prstGeom>
          <a:noFill/>
        </p:spPr>
        <p:txBody>
          <a:bodyPr wrap="none" lIns="0" rIns="0" tIns="0" bIns="0" anchor="ctr">
            <a:spAutoFit/>
          </a:bodyPr>
          <a:lstStyle/>
          <a:p>
            <a:pPr algn="r"/>
            <a:r>
              <a:rPr sz="900" b="1">
                <a:solidFill>
                  <a:srgbClr val="2E7D32"/>
                </a:solidFill>
                <a:latin typeface="Calibri"/>
              </a:rPr>
              <a:t>+2</a:t>
            </a:r>
          </a:p>
        </p:txBody>
      </p:sp>
      <p:sp>
        <p:nvSpPr>
          <p:cNvPr id="20" name="FMI Legend Chip"/>
          <p:cNvSpPr/>
          <p:nvPr/>
        </p:nvSpPr>
        <p:spPr>
          <a:xfrm>
            <a:off x="4928997" y="275239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7476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714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Low-Barrier Films</a:t>
            </a:r>
          </a:p>
        </p:txBody>
      </p:sp>
      <p:sp>
        <p:nvSpPr>
          <p:cNvPr id="23" name="BPS Value 2"/>
          <p:cNvSpPr txBox="1"/>
          <p:nvPr/>
        </p:nvSpPr>
        <p:spPr>
          <a:xfrm>
            <a:off x="6896100" y="2733345"/>
            <a:ext cx="514350" cy="123825"/>
          </a:xfrm>
          <a:prstGeom prst="rect">
            <a:avLst/>
          </a:prstGeom>
          <a:noFill/>
        </p:spPr>
        <p:txBody>
          <a:bodyPr wrap="none" lIns="0" rIns="0" tIns="0" bIns="0" anchor="ctr">
            <a:spAutoFit/>
          </a:bodyPr>
          <a:lstStyle/>
          <a:p>
            <a:pPr algn="r"/>
            <a:r>
              <a:rPr sz="900" b="1">
                <a:solidFill>
                  <a:srgbClr val="E44D3A"/>
                </a:solidFill>
                <a:latin typeface="Calibri"/>
              </a:rPr>
              <a:t>-16</a:t>
            </a:r>
          </a:p>
        </p:txBody>
      </p:sp>
      <p:sp>
        <p:nvSpPr>
          <p:cNvPr id="24" name="FMI Legend Chip"/>
          <p:cNvSpPr/>
          <p:nvPr/>
        </p:nvSpPr>
        <p:spPr>
          <a:xfrm>
            <a:off x="4928997" y="395944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5468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87848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Medium-Barrier Films</a:t>
            </a:r>
          </a:p>
        </p:txBody>
      </p:sp>
      <p:sp>
        <p:nvSpPr>
          <p:cNvPr id="27" name="BPS Value 3"/>
          <p:cNvSpPr txBox="1"/>
          <p:nvPr/>
        </p:nvSpPr>
        <p:spPr>
          <a:xfrm>
            <a:off x="6896100" y="3940396"/>
            <a:ext cx="514350" cy="123825"/>
          </a:xfrm>
          <a:prstGeom prst="rect">
            <a:avLst/>
          </a:prstGeom>
          <a:noFill/>
        </p:spPr>
        <p:txBody>
          <a:bodyPr wrap="none" lIns="0" rIns="0" tIns="0" bIns="0" anchor="ctr">
            <a:spAutoFit/>
          </a:bodyPr>
          <a:lstStyle/>
          <a:p>
            <a:pPr algn="r"/>
            <a:r>
              <a:rPr sz="900" b="1">
                <a:solidFill>
                  <a:srgbClr val="E44D3A"/>
                </a:solidFill>
                <a:latin typeface="Calibri"/>
              </a:rPr>
              <a:t>-135</a:t>
            </a:r>
          </a:p>
        </p:txBody>
      </p:sp>
      <p:sp>
        <p:nvSpPr>
          <p:cNvPr id="28" name="FMI Legend Chip"/>
          <p:cNvSpPr/>
          <p:nvPr/>
        </p:nvSpPr>
        <p:spPr>
          <a:xfrm>
            <a:off x="4928997" y="547366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6890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39270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High-Barrier Films</a:t>
            </a:r>
          </a:p>
        </p:txBody>
      </p:sp>
      <p:sp>
        <p:nvSpPr>
          <p:cNvPr id="31" name="BPS Value 4"/>
          <p:cNvSpPr txBox="1"/>
          <p:nvPr/>
        </p:nvSpPr>
        <p:spPr>
          <a:xfrm>
            <a:off x="6896100" y="5454615"/>
            <a:ext cx="514350" cy="123825"/>
          </a:xfrm>
          <a:prstGeom prst="rect">
            <a:avLst/>
          </a:prstGeom>
          <a:noFill/>
        </p:spPr>
        <p:txBody>
          <a:bodyPr wrap="none" lIns="0" rIns="0" tIns="0" bIns="0" anchor="ctr">
            <a:spAutoFit/>
          </a:bodyPr>
          <a:lstStyle/>
          <a:p>
            <a:pPr algn="r"/>
            <a:r>
              <a:rPr sz="900" b="1">
                <a:solidFill>
                  <a:srgbClr val="2E7D32"/>
                </a:solidFill>
                <a:latin typeface="Calibri"/>
              </a:rPr>
              <a:t>+150</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East Asia Read-out, By Barrier Level Vs Application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barrier level vs application, high-barrier films segment is expected to witness the highest CAGR of 6.9% over the forecast period. In terms of value share by barrier level vs application, the high-barrier films segment is expected to dominate the market, gaining 150 BPS and accounting for 33.7% share by 2036.</a:t>
            </a:r>
          </a:p>
          <a:p>
            <a:pPr algn="l">
              <a:lnSpc>
                <a:spcPct val="110000"/>
              </a:lnSpc>
              <a:spcBef>
                <a:spcPts val="0"/>
              </a:spcBef>
              <a:spcAft>
                <a:spcPts val="500"/>
              </a:spcAft>
            </a:pPr>
            <a:r>
              <a:rPr sz="1150" b="0">
                <a:solidFill>
                  <a:srgbClr val="2E2E2E"/>
                </a:solidFill>
                <a:latin typeface="Calibri"/>
              </a:rPr>
              <a:t>The medium-barrier films segment is expected to lose 135 BPS over the forecast period to account for 32.6% share by 2036.</a:t>
            </a:r>
          </a:p>
          <a:p>
            <a:pPr algn="l">
              <a:lnSpc>
                <a:spcPct val="110000"/>
              </a:lnSpc>
              <a:spcBef>
                <a:spcPts val="0"/>
              </a:spcBef>
              <a:spcAft>
                <a:spcPts val="500"/>
              </a:spcAft>
            </a:pPr>
            <a:r>
              <a:rPr sz="1150" b="0">
                <a:solidFill>
                  <a:srgbClr val="2E2E2E"/>
                </a:solidFill>
                <a:latin typeface="Calibri"/>
              </a:rPr>
              <a:t>High-Barrier Films grow fastest at 6.9% against the 6.4% market because fresh protein, cheese, snacks and ready meals need longer shelf life and less food waste, and brand owners keep upgrading packs. Demand is reinforced by dense e-commerce and convenience retail, ready-meal growth and deep local converting capacity, while Medium-Barrier Films at 5.9% lose share to the trade-up.</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Volume, By Barrier Level Vs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Vs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YoY Growth,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Volume, By Barrier Level Vs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Vs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Volume YoY Heatmap, By Barrier Level Vs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28" name="Rectangle 27"/>
          <p:cNvSpPr/>
          <p:nvPr/>
        </p:nvSpPr>
        <p:spPr>
          <a:xfrm>
            <a:off x="1857375" y="1409700"/>
            <a:ext cx="643890" cy="430212"/>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a:t>
            </a:r>
          </a:p>
        </p:txBody>
      </p:sp>
      <p:sp>
        <p:nvSpPr>
          <p:cNvPr id="44" name="Rectangle 43"/>
          <p:cNvSpPr/>
          <p:nvPr/>
        </p:nvSpPr>
        <p:spPr>
          <a:xfrm>
            <a:off x="1857375" y="1839912"/>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a:t>
            </a:r>
          </a:p>
        </p:txBody>
      </p:sp>
      <p:sp>
        <p:nvSpPr>
          <p:cNvPr id="60" name="Rectangle 59"/>
          <p:cNvSpPr/>
          <p:nvPr/>
        </p:nvSpPr>
        <p:spPr>
          <a:xfrm>
            <a:off x="1857375" y="2270125"/>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76" name="Rectangle 75"/>
          <p:cNvSpPr/>
          <p:nvPr/>
        </p:nvSpPr>
        <p:spPr>
          <a:xfrm>
            <a:off x="1857375" y="2700338"/>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92" name="Rectangle 91"/>
          <p:cNvSpPr/>
          <p:nvPr/>
        </p:nvSpPr>
        <p:spPr>
          <a:xfrm>
            <a:off x="1857375" y="3130550"/>
            <a:ext cx="643890" cy="430212"/>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08" name="Rectangle 107"/>
          <p:cNvSpPr/>
          <p:nvPr/>
        </p:nvSpPr>
        <p:spPr>
          <a:xfrm>
            <a:off x="185737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124" name="Rectangle 123"/>
          <p:cNvSpPr/>
          <p:nvPr/>
        </p:nvSpPr>
        <p:spPr>
          <a:xfrm>
            <a:off x="1857375" y="3990975"/>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40" name="Rectangle 139"/>
          <p:cNvSpPr/>
          <p:nvPr/>
        </p:nvSpPr>
        <p:spPr>
          <a:xfrm>
            <a:off x="1857375" y="4421188"/>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56" name="Rectangle 155"/>
          <p:cNvSpPr/>
          <p:nvPr/>
        </p:nvSpPr>
        <p:spPr>
          <a:xfrm>
            <a:off x="1857375" y="4851400"/>
            <a:ext cx="643890" cy="430212"/>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172" name="Rectangle 171"/>
          <p:cNvSpPr/>
          <p:nvPr/>
        </p:nvSpPr>
        <p:spPr>
          <a:xfrm>
            <a:off x="185737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88" name="Rectangle 187"/>
          <p:cNvSpPr/>
          <p:nvPr/>
        </p:nvSpPr>
        <p:spPr>
          <a:xfrm>
            <a:off x="1857375" y="5711825"/>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204" name="Rectangle 203"/>
          <p:cNvSpPr/>
          <p:nvPr/>
        </p:nvSpPr>
        <p:spPr>
          <a:xfrm>
            <a:off x="1857375" y="6142037"/>
            <a:ext cx="643890" cy="43021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Barrier Level Vs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Vs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Growth,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East Asia Market Value, By Barrier Level Vs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Vs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East Asia Value YoY Heatmap, By Barrier Level Vs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28" name="Rectangle 27"/>
          <p:cNvSpPr/>
          <p:nvPr/>
        </p:nvSpPr>
        <p:spPr>
          <a:xfrm>
            <a:off x="1857375" y="1409700"/>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a:t>
            </a:r>
          </a:p>
        </p:txBody>
      </p:sp>
      <p:sp>
        <p:nvSpPr>
          <p:cNvPr id="44" name="Rectangle 43"/>
          <p:cNvSpPr/>
          <p:nvPr/>
        </p:nvSpPr>
        <p:spPr>
          <a:xfrm>
            <a:off x="1857375" y="183991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a:t>
            </a:r>
          </a:p>
        </p:txBody>
      </p:sp>
      <p:sp>
        <p:nvSpPr>
          <p:cNvPr id="60" name="Rectangle 59"/>
          <p:cNvSpPr/>
          <p:nvPr/>
        </p:nvSpPr>
        <p:spPr>
          <a:xfrm>
            <a:off x="1857375" y="2270125"/>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76" name="Rectangle 75"/>
          <p:cNvSpPr/>
          <p:nvPr/>
        </p:nvSpPr>
        <p:spPr>
          <a:xfrm>
            <a:off x="1857375" y="2700338"/>
            <a:ext cx="643890" cy="430212"/>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92" name="Rectangle 91"/>
          <p:cNvSpPr/>
          <p:nvPr/>
        </p:nvSpPr>
        <p:spPr>
          <a:xfrm>
            <a:off x="1857375" y="3130550"/>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08" name="Rectangle 107"/>
          <p:cNvSpPr/>
          <p:nvPr/>
        </p:nvSpPr>
        <p:spPr>
          <a:xfrm>
            <a:off x="185737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124" name="Rectangle 123"/>
          <p:cNvSpPr/>
          <p:nvPr/>
        </p:nvSpPr>
        <p:spPr>
          <a:xfrm>
            <a:off x="1857375" y="3990975"/>
            <a:ext cx="643890" cy="430212"/>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40" name="Rectangle 139"/>
          <p:cNvSpPr/>
          <p:nvPr/>
        </p:nvSpPr>
        <p:spPr>
          <a:xfrm>
            <a:off x="1857375" y="4421188"/>
            <a:ext cx="643890" cy="430212"/>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56" name="Rectangle 155"/>
          <p:cNvSpPr/>
          <p:nvPr/>
        </p:nvSpPr>
        <p:spPr>
          <a:xfrm>
            <a:off x="1857375" y="4851400"/>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D63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172" name="Rectangle 171"/>
          <p:cNvSpPr/>
          <p:nvPr/>
        </p:nvSpPr>
        <p:spPr>
          <a:xfrm>
            <a:off x="1857375" y="5281612"/>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74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88" name="Rectangle 187"/>
          <p:cNvSpPr/>
          <p:nvPr/>
        </p:nvSpPr>
        <p:spPr>
          <a:xfrm>
            <a:off x="1857375" y="5711825"/>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204" name="Rectangle 203"/>
          <p:cNvSpPr/>
          <p:nvPr/>
        </p:nvSpPr>
        <p:spPr>
          <a:xfrm>
            <a:off x="1857375" y="6142037"/>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7045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267525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380105"/>
            <a:ext cx="7124700" cy="25361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Principal Material / Barrier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Material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Barrier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Barrier Level Vs Application</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China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China market in volume: size, growth, YoY momentum and gap to the East Asia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8,280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14,148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+3 BPS</a:t>
            </a:r>
          </a:p>
          <a:p>
            <a:pPr algn="ctr"/>
            <a:r>
              <a:rPr sz="1100" b="0">
                <a:solidFill>
                  <a:srgbClr val="6C7A89"/>
                </a:solidFill>
                <a:latin typeface="Calibri"/>
              </a:rPr>
              <a:t>vs East Asia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China's flexible plastic packaging market expands at 5.1% CAGR through 2036, outpacing the East Asia benchmark of 5.0% by 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China holds 71.1% of the East Asia flexible plastic packaging market in 2026; by 2036 that share moves to 71.3%.</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5,504 Thousand MT between 2026 and 2036 the China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China market in value: size, growth, YoY momentum and gap to the East Asia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21,544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42,522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4.4%</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6.5%</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+11 BPS</a:t>
            </a:r>
          </a:p>
          <a:p>
            <a:pPr algn="ctr"/>
            <a:r>
              <a:rPr sz="1100" b="0">
                <a:solidFill>
                  <a:srgbClr val="6C7A89"/>
                </a:solidFill>
                <a:latin typeface="Calibri"/>
              </a:rPr>
              <a:t>vs East Asia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China's flexible plastic packaging market expands at 6.5% CAGR through 2036, outpacing the East Asia benchmark of 6.4% by 11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China holds 66.0% of the East Asia flexible plastic packaging market in 2026; by 2036 that share moves to 66.7%.</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China is expected to account for US$ 42,522 Mn by 2036 at a CAGR of 6.5% over the forecast period. China is expected to create an incremental opportunity of US$ 20,978 Mn for the overall flexible plastic packaging market from 2025 to 2036. China grows at 6.5% in value and 5.1% in volume, supported by e-commerce, food delivery, rising demand for ready meals and processed food, and urbanisation, while a very large converting base keeps pricing competitive. Average price rises from US$2,624 to US$3,006 per MT, among the lowest in East Asia, as the mix shifts to high-barrier and mono-material films, lifting value faster than volume.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China's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22,677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12,164 US$ Mn (54% share), ahead of 'Premade Pouches &amp; Bags' (6,623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6,694 US$ Mn (30% share), ahead of 'PP-Based' (4,687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6,515 US$ Mn (29% share), ahead of 'Laminated Films' (5,807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7,728 US$ Mn (34% share), ahead of 'High-Barrier Films' (7,388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18,766 US$ Mn (83% share), ahead of 'Non-Food Packaging' (3,911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7,728 US$ Mn (34% share), ahead of 'High-Barrier Films' (7,388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Principal Material / Barrier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Material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Barrier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Barrier Level Vs Application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China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China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Principal Material / Barrier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China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China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Material Structure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China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China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Barrier Level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China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China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China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Barrier Level Vs 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China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14,148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China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42,522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China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China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China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China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Japan</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Japan market in volume: size, growth, YoY momentum and gap to the East Asia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2,160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3,393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3.2%</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4.2%</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-77 BPS</a:t>
            </a:r>
          </a:p>
          <a:p>
            <a:pPr algn="ctr"/>
            <a:r>
              <a:rPr sz="1100" b="0">
                <a:solidFill>
                  <a:srgbClr val="6C7A89"/>
                </a:solidFill>
                <a:latin typeface="Calibri"/>
              </a:rPr>
              <a:t>vs East Asia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Japan's flexible plastic packaging market expands at 4.2% CAGR through 2036, trailing the East Asia benchmark of 5.0% by 77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Japan holds 18.4% of the East Asia flexible plastic packaging market in 2026; by 2036 that share moves to 17.1%.</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1,155 Thousand MT between 2026 and 2036 the Japan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Japan market in value: size, growth, YoY momentum and gap to the East Asia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7,345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13,102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3.6%</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5.5%</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-88 BPS</a:t>
            </a:r>
          </a:p>
          <a:p>
            <a:pPr algn="ctr"/>
            <a:r>
              <a:rPr sz="1100" b="0">
                <a:solidFill>
                  <a:srgbClr val="6C7A89"/>
                </a:solidFill>
                <a:latin typeface="Calibri"/>
              </a:rPr>
              <a:t>vs East Asia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Japan's flexible plastic packaging market expands at 5.5% CAGR through 2036, trailing the East Asia benchmark of 6.4% by 88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Japan holds 22.3% of the East Asia flexible plastic packaging market in 2026; by 2036 that share moves to 20.6%.</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Japan is expected to account for US$ 13,102 Mn by 2036 at a CAGR of 5.5% over the forecast period. Japan is expected to create an incremental opportunity of US$ 5,757 Mn for the overall flexible plastic packaging market from 2025 to 2036. Japan grows 5.5% in value and 4.2% in volume because an ageing, shrinking population caps tonnage in a mature market. Growth comes from convenience-store ready meals, single-person households and demanding quality standards that favour high-barrier, premium structures, lifting average price from US$3,427 to US$3,862 per MT and holding value above volume.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Japan's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7,669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4,245 US$ Mn (55% share), ahead of 'Premade Pouches &amp; Bags' (2,062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2,388 US$ Mn (31% share), ahead of 'PP-Based' (1,644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2,275 US$ Mn (30% share), ahead of 'Laminated Films' (1,998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2,642 US$ Mn (34% share), ahead of 'High-Barrier Films' (2,361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6,376 US$ Mn (83% share), ahead of 'Non-Food Packaging' (1,293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2,642 US$ Mn (34% share), ahead of 'High-Barrier Films' (2,361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Japan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Japan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Japan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Japan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Japan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Japan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Japan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Japan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Japan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Japan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Japan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Japan</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Japan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Japan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Japan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South Korea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South Korea market in volume: size, growth, YoY momentum and gap to the East Asia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1,216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2,306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+103 BPS</a:t>
            </a:r>
          </a:p>
          <a:p>
            <a:pPr algn="ctr"/>
            <a:r>
              <a:rPr sz="1100" b="0">
                <a:solidFill>
                  <a:srgbClr val="6C7A89"/>
                </a:solidFill>
                <a:latin typeface="Calibri"/>
              </a:rPr>
              <a:t>vs East Asia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South Korea's flexible plastic packaging market expands at 6.0% CAGR through 2036, outpacing the East Asia benchmark of 5.0% by 103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South Korea holds 10.5% of the East Asia flexible plastic packaging market in 2026; by 2036 that share moves to 11.6%.</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1,025 Thousand MT between 2026 and 2036 the South Korea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South Korea market in value: size, growth, YoY momentum and gap to the East Asia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3,754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8,099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5.5%</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7.3%</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+96 BPS</a:t>
            </a:r>
          </a:p>
          <a:p>
            <a:pPr algn="ctr"/>
            <a:r>
              <a:rPr sz="1100" b="0">
                <a:solidFill>
                  <a:srgbClr val="6C7A89"/>
                </a:solidFill>
                <a:latin typeface="Calibri"/>
              </a:rPr>
              <a:t>vs East Asia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South Korea's flexible plastic packaging market expands at 7.3% CAGR through 2036, outpacing the East Asia benchmark of 6.4% by 96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South Korea holds 11.6% of the East Asia flexible plastic packaging market in 2026; by 2036 that share moves to 12.7%.</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South Korea is expected to account for US$ 8,099 Mn by 2036 at a CAGR of 7.3% over the forecast period. South Korea is expected to create an incremental opportunity of US$ 4,345 Mn for the overall flexible plastic packaging market from 2025 to 2036. South Korea's value grows at 7.3% and volume at 6.0%, comfortably ahead of East Asia's 6.4% value rate, driven by heavy food delivery and e-commerce use, growth in ready meals and single-person households, and a sophisticated converting and film industry. The gap between value and volume reflects a premium mix, with average price rising from US$ 3,111 to US$ 3,512 per MT.</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South Korea's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3,988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2,159 US$ Mn (54% share), ahead of 'Premade Pouches &amp; Bags' (1,106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1,235 US$ Mn (31% share), ahead of 'PP-Based' (851.6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1,185 US$ Mn (30% share), ahead of 'Laminated Films' (1,043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'High-Barrier Films' leads at 1,302 US$ Mn (33% share), ahead of 'Medium-Barrier Films' (1,271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3,364 US$ Mn (84% share), ahead of 'Non-Food Packaging' (624.4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'High-Barrier Films' leads at 1,302 US$ Mn (33% share), ahead of 'Medium-Barrier Films' (1,271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Korea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Korea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Principal Material / Barrier Technology: growth contribution, share variance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Principal Material / Barrier Technology: growth contribution, share variance and…</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Korea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Korea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Korea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Korea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Korea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Korea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Korea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segmental analysis by Barrier Level Vs Application: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Korea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South Korea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Korea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Korea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South Korea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Korea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East Asia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Product Pricing &amp;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111919" y="3471051"/>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2050.1</a:t>
            </a:r>
          </a:p>
        </p:txBody>
      </p:sp>
      <p:sp>
        <p:nvSpPr>
          <p:cNvPr id="14" name="TextBox 13"/>
          <p:cNvSpPr txBox="1"/>
          <p:nvPr/>
        </p:nvSpPr>
        <p:spPr>
          <a:xfrm>
            <a:off x="111919" y="2561000"/>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3563.8</a:t>
            </a:r>
          </a:p>
        </p:txBody>
      </p:sp>
      <p:sp>
        <p:nvSpPr>
          <p:cNvPr id="15" name="TextBox 14"/>
          <p:cNvSpPr txBox="1"/>
          <p:nvPr/>
        </p:nvSpPr>
        <p:spPr>
          <a:xfrm>
            <a:off x="111919" y="1650949"/>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5077.4</a:t>
            </a:r>
          </a:p>
        </p:txBody>
      </p:sp>
      <p:cxnSp>
        <p:nvCxnSpPr>
          <p:cNvPr id="16" name="Connector 15"/>
          <p:cNvCxnSpPr/>
          <p:nvPr/>
        </p:nvCxnSpPr>
        <p:spPr>
          <a:xfrm>
            <a:off x="1533525" y="2834240"/>
            <a:ext cx="0" cy="260103"/>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314450" y="2834240"/>
            <a:ext cx="438150" cy="260104"/>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681840"/>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3220.2</a:t>
            </a:r>
          </a:p>
        </p:txBody>
      </p:sp>
      <p:sp>
        <p:nvSpPr>
          <p:cNvPr id="19" name="TextBox 18"/>
          <p:cNvSpPr txBox="1"/>
          <p:nvPr/>
        </p:nvSpPr>
        <p:spPr>
          <a:xfrm>
            <a:off x="6572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Rollstock Films</a:t>
            </a:r>
          </a:p>
        </p:txBody>
      </p:sp>
      <p:cxnSp>
        <p:nvCxnSpPr>
          <p:cNvPr id="20" name="Connector 19"/>
          <p:cNvCxnSpPr/>
          <p:nvPr/>
        </p:nvCxnSpPr>
        <p:spPr>
          <a:xfrm>
            <a:off x="3286125" y="1927636"/>
            <a:ext cx="0" cy="463187"/>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067050" y="1927636"/>
            <a:ext cx="438150" cy="463187"/>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409825" y="17752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4728.1</a:t>
            </a:r>
          </a:p>
        </p:txBody>
      </p:sp>
      <p:sp>
        <p:nvSpPr>
          <p:cNvPr id="23" name="TextBox 22"/>
          <p:cNvSpPr txBox="1"/>
          <p:nvPr/>
        </p:nvSpPr>
        <p:spPr>
          <a:xfrm>
            <a:off x="24098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Barrier Casings</a:t>
            </a:r>
          </a:p>
        </p:txBody>
      </p:sp>
      <p:cxnSp>
        <p:nvCxnSpPr>
          <p:cNvPr id="24" name="Connector 23"/>
          <p:cNvCxnSpPr/>
          <p:nvPr/>
        </p:nvCxnSpPr>
        <p:spPr>
          <a:xfrm>
            <a:off x="5038725" y="2981059"/>
            <a:ext cx="0" cy="269065"/>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4819650" y="2981059"/>
            <a:ext cx="438150" cy="269064"/>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4162425" y="282865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2976.0</a:t>
            </a:r>
          </a:p>
        </p:txBody>
      </p:sp>
      <p:sp>
        <p:nvSpPr>
          <p:cNvPr id="27" name="TextBox 26"/>
          <p:cNvSpPr txBox="1"/>
          <p:nvPr/>
        </p:nvSpPr>
        <p:spPr>
          <a:xfrm>
            <a:off x="41624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Premade Pouches &amp; Bags</a:t>
            </a:r>
          </a:p>
        </p:txBody>
      </p:sp>
      <p:cxnSp>
        <p:nvCxnSpPr>
          <p:cNvPr id="28" name="Connector 27"/>
          <p:cNvCxnSpPr/>
          <p:nvPr/>
        </p:nvCxnSpPr>
        <p:spPr>
          <a:xfrm>
            <a:off x="6791325" y="3169093"/>
            <a:ext cx="0" cy="158621"/>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6572250" y="3169093"/>
            <a:ext cx="438150" cy="158621"/>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5915025" y="3016693"/>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2663.2</a:t>
            </a:r>
          </a:p>
        </p:txBody>
      </p:sp>
      <p:sp>
        <p:nvSpPr>
          <p:cNvPr id="31" name="TextBox 30"/>
          <p:cNvSpPr txBox="1"/>
          <p:nvPr/>
        </p:nvSpPr>
        <p:spPr>
          <a:xfrm>
            <a:off x="59150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Sachets &amp; Stick Packs</a:t>
            </a:r>
          </a:p>
        </p:txBody>
      </p:sp>
      <p:sp>
        <p:nvSpPr>
          <p:cNvPr id="32" name="Rounded Rectangle 31"/>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a:t>
            </a:r>
          </a:p>
        </p:txBody>
      </p:sp>
      <p:cxnSp>
        <p:nvCxnSpPr>
          <p:cNvPr id="34" name="Connector 33"/>
          <p:cNvCxnSpPr/>
          <p:nvPr/>
        </p:nvCxnSpPr>
        <p:spPr>
          <a:xfrm>
            <a:off x="619125" y="452900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91582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619125" y="530263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619125" y="568945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619125" y="607626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619125" y="4529008"/>
            <a:ext cx="0" cy="154726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452900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590550" y="491582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590550" y="53026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590550" y="568945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590550" y="607626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5" name="FMI Scale tick"/>
          <p:cNvSpPr txBox="1"/>
          <p:nvPr/>
        </p:nvSpPr>
        <p:spPr>
          <a:xfrm>
            <a:off x="219075" y="4462333"/>
            <a:ext cx="361950" cy="133350"/>
          </a:xfrm>
          <a:prstGeom prst="rect">
            <a:avLst/>
          </a:prstGeom>
          <a:noFill/>
        </p:spPr>
        <p:txBody>
          <a:bodyPr wrap="none" lIns="0" rIns="0" tIns="0" bIns="0" anchor="ctr">
            <a:spAutoFit/>
          </a:bodyPr>
          <a:lstStyle/>
          <a:p>
            <a:pPr algn="r"/>
            <a:r>
              <a:rPr sz="1100" b="0">
                <a:solidFill>
                  <a:srgbClr val="6C7A89"/>
                </a:solidFill>
                <a:latin typeface="Calibri"/>
              </a:rPr>
              <a:t>+17%</a:t>
            </a:r>
          </a:p>
        </p:txBody>
      </p:sp>
      <p:sp>
        <p:nvSpPr>
          <p:cNvPr id="46" name="FMI Scale tick"/>
          <p:cNvSpPr txBox="1"/>
          <p:nvPr/>
        </p:nvSpPr>
        <p:spPr>
          <a:xfrm>
            <a:off x="219075" y="4849148"/>
            <a:ext cx="361950" cy="133350"/>
          </a:xfrm>
          <a:prstGeom prst="rect">
            <a:avLst/>
          </a:prstGeom>
          <a:noFill/>
        </p:spPr>
        <p:txBody>
          <a:bodyPr wrap="none" lIns="0" rIns="0" tIns="0" bIns="0" anchor="ctr">
            <a:spAutoFit/>
          </a:bodyPr>
          <a:lstStyle/>
          <a:p>
            <a:pPr algn="r"/>
            <a:r>
              <a:rPr sz="1100" b="0">
                <a:solidFill>
                  <a:srgbClr val="6C7A89"/>
                </a:solidFill>
                <a:latin typeface="Calibri"/>
              </a:rPr>
              <a:t>+8%</a:t>
            </a:r>
          </a:p>
        </p:txBody>
      </p:sp>
      <p:sp>
        <p:nvSpPr>
          <p:cNvPr id="47" name="FMI Scale tick"/>
          <p:cNvSpPr txBox="1"/>
          <p:nvPr/>
        </p:nvSpPr>
        <p:spPr>
          <a:xfrm>
            <a:off x="219075" y="523596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tick"/>
          <p:cNvSpPr txBox="1"/>
          <p:nvPr/>
        </p:nvSpPr>
        <p:spPr>
          <a:xfrm>
            <a:off x="219075" y="5622778"/>
            <a:ext cx="361950" cy="133350"/>
          </a:xfrm>
          <a:prstGeom prst="rect">
            <a:avLst/>
          </a:prstGeom>
          <a:noFill/>
        </p:spPr>
        <p:txBody>
          <a:bodyPr wrap="none" lIns="0" rIns="0" tIns="0" bIns="0" anchor="ctr">
            <a:spAutoFit/>
          </a:bodyPr>
          <a:lstStyle/>
          <a:p>
            <a:pPr algn="r"/>
            <a:r>
              <a:rPr sz="1100" b="0">
                <a:solidFill>
                  <a:srgbClr val="6C7A89"/>
                </a:solidFill>
                <a:latin typeface="Calibri"/>
              </a:rPr>
              <a:t>-8%</a:t>
            </a:r>
          </a:p>
        </p:txBody>
      </p:sp>
      <p:sp>
        <p:nvSpPr>
          <p:cNvPr id="49" name="FMI Scale tick"/>
          <p:cNvSpPr txBox="1"/>
          <p:nvPr/>
        </p:nvSpPr>
        <p:spPr>
          <a:xfrm>
            <a:off x="219075" y="6009593"/>
            <a:ext cx="361950" cy="133350"/>
          </a:xfrm>
          <a:prstGeom prst="rect">
            <a:avLst/>
          </a:prstGeom>
          <a:noFill/>
        </p:spPr>
        <p:txBody>
          <a:bodyPr wrap="none" lIns="0" rIns="0" tIns="0" bIns="0" anchor="ctr">
            <a:spAutoFit/>
          </a:bodyPr>
          <a:lstStyle/>
          <a:p>
            <a:pPr algn="r"/>
            <a:r>
              <a:rPr sz="1100" b="0">
                <a:solidFill>
                  <a:srgbClr val="6C7A89"/>
                </a:solidFill>
                <a:latin typeface="Calibri"/>
              </a:rPr>
              <a:t>-17%</a:t>
            </a:r>
          </a:p>
        </p:txBody>
      </p:sp>
      <p:cxnSp>
        <p:nvCxnSpPr>
          <p:cNvPr id="50" name="Connector 49"/>
          <p:cNvCxnSpPr/>
          <p:nvPr/>
        </p:nvCxnSpPr>
        <p:spPr>
          <a:xfrm>
            <a:off x="619125" y="530263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1565275" y="4627936"/>
            <a:ext cx="457200" cy="67470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619125" y="4485061"/>
            <a:ext cx="2349500" cy="133350"/>
          </a:xfrm>
          <a:prstGeom prst="rect">
            <a:avLst/>
          </a:prstGeom>
          <a:noFill/>
        </p:spPr>
        <p:txBody>
          <a:bodyPr wrap="square" lIns="28575" rIns="28575" tIns="9525" bIns="9525">
            <a:spAutoFit/>
          </a:bodyPr>
          <a:lstStyle/>
          <a:p>
            <a:pPr algn="ctr"/>
            <a:r>
              <a:rPr sz="1100" b="1">
                <a:solidFill>
                  <a:srgbClr val="2E2E2E"/>
                </a:solidFill>
                <a:latin typeface="Calibri"/>
              </a:rPr>
              <a:t>+14.6%</a:t>
            </a:r>
          </a:p>
        </p:txBody>
      </p:sp>
      <p:sp>
        <p:nvSpPr>
          <p:cNvPr id="53" name="Rectangle 52"/>
          <p:cNvSpPr/>
          <p:nvPr/>
        </p:nvSpPr>
        <p:spPr>
          <a:xfrm>
            <a:off x="3914775" y="4714756"/>
            <a:ext cx="457200" cy="58788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2968625" y="4571881"/>
            <a:ext cx="2349500" cy="133350"/>
          </a:xfrm>
          <a:prstGeom prst="rect">
            <a:avLst/>
          </a:prstGeom>
          <a:noFill/>
        </p:spPr>
        <p:txBody>
          <a:bodyPr wrap="square" lIns="28575" rIns="28575" tIns="9525" bIns="9525">
            <a:spAutoFit/>
          </a:bodyPr>
          <a:lstStyle/>
          <a:p>
            <a:pPr algn="ctr"/>
            <a:r>
              <a:rPr sz="1100" b="1">
                <a:solidFill>
                  <a:srgbClr val="2E2E2E"/>
                </a:solidFill>
                <a:latin typeface="Calibri"/>
              </a:rPr>
              <a:t>+12.7%</a:t>
            </a:r>
          </a:p>
        </p:txBody>
      </p:sp>
      <p:sp>
        <p:nvSpPr>
          <p:cNvPr id="55" name="Rectangle 54"/>
          <p:cNvSpPr/>
          <p:nvPr/>
        </p:nvSpPr>
        <p:spPr>
          <a:xfrm>
            <a:off x="6264275" y="4706255"/>
            <a:ext cx="457200" cy="59638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MI Data Label"/>
          <p:cNvSpPr txBox="1"/>
          <p:nvPr/>
        </p:nvSpPr>
        <p:spPr>
          <a:xfrm>
            <a:off x="5318125" y="4563380"/>
            <a:ext cx="2349500" cy="133350"/>
          </a:xfrm>
          <a:prstGeom prst="rect">
            <a:avLst/>
          </a:prstGeom>
          <a:noFill/>
        </p:spPr>
        <p:txBody>
          <a:bodyPr wrap="square" lIns="28575" rIns="28575" tIns="9525" bIns="9525">
            <a:spAutoFit/>
          </a:bodyPr>
          <a:lstStyle/>
          <a:p>
            <a:pPr algn="ctr"/>
            <a:r>
              <a:rPr sz="1100" b="1">
                <a:solidFill>
                  <a:srgbClr val="2E2E2E"/>
                </a:solidFill>
                <a:latin typeface="Calibri"/>
              </a:rPr>
              <a:t>+12.9%</a:t>
            </a:r>
          </a:p>
        </p:txBody>
      </p:sp>
      <p:sp>
        <p:nvSpPr>
          <p:cNvPr id="57" name="TextBox 56"/>
          <p:cNvSpPr txBox="1"/>
          <p:nvPr/>
        </p:nvSpPr>
        <p:spPr>
          <a:xfrm>
            <a:off x="619125" y="6242060"/>
            <a:ext cx="2349500" cy="247650"/>
          </a:xfrm>
          <a:prstGeom prst="rect">
            <a:avLst/>
          </a:prstGeom>
          <a:noFill/>
        </p:spPr>
        <p:txBody>
          <a:bodyPr wrap="square" lIns="28575" rIns="28575" tIns="9525" bIns="9525">
            <a:spAutoFit/>
          </a:bodyPr>
          <a:lstStyle/>
          <a:p>
            <a:pPr algn="ctr"/>
            <a:r>
              <a:rPr sz="1100" b="0">
                <a:solidFill>
                  <a:srgbClr val="2E2E2E"/>
                </a:solidFill>
                <a:latin typeface="Calibri"/>
              </a:rPr>
              <a:t>China</a:t>
            </a:r>
          </a:p>
        </p:txBody>
      </p:sp>
      <p:sp>
        <p:nvSpPr>
          <p:cNvPr id="58" name="TextBox 57"/>
          <p:cNvSpPr txBox="1"/>
          <p:nvPr/>
        </p:nvSpPr>
        <p:spPr>
          <a:xfrm>
            <a:off x="2968625" y="6242060"/>
            <a:ext cx="2349500" cy="247650"/>
          </a:xfrm>
          <a:prstGeom prst="rect">
            <a:avLst/>
          </a:prstGeom>
          <a:noFill/>
        </p:spPr>
        <p:txBody>
          <a:bodyPr wrap="square" lIns="28575" rIns="28575" tIns="9525" bIns="9525">
            <a:spAutoFit/>
          </a:bodyPr>
          <a:lstStyle/>
          <a:p>
            <a:pPr algn="ctr"/>
            <a:r>
              <a:rPr sz="1100" b="0">
                <a:solidFill>
                  <a:srgbClr val="2E2E2E"/>
                </a:solidFill>
                <a:latin typeface="Calibri"/>
              </a:rPr>
              <a:t>Japan</a:t>
            </a:r>
          </a:p>
        </p:txBody>
      </p:sp>
      <p:sp>
        <p:nvSpPr>
          <p:cNvPr id="59" name="TextBox 58"/>
          <p:cNvSpPr txBox="1"/>
          <p:nvPr/>
        </p:nvSpPr>
        <p:spPr>
          <a:xfrm>
            <a:off x="5318125" y="6242060"/>
            <a:ext cx="2349500" cy="247650"/>
          </a:xfrm>
          <a:prstGeom prst="rect">
            <a:avLst/>
          </a:prstGeom>
          <a:noFill/>
        </p:spPr>
        <p:txBody>
          <a:bodyPr wrap="square" lIns="28575" rIns="28575" tIns="9525" bIns="9525">
            <a:spAutoFit/>
          </a:bodyPr>
          <a:lstStyle/>
          <a:p>
            <a:pPr algn="ctr"/>
            <a:r>
              <a:rPr sz="1100" b="0">
                <a:solidFill>
                  <a:srgbClr val="2E2E2E"/>
                </a:solidFill>
                <a:latin typeface="Calibri"/>
              </a:rPr>
              <a:t>South Korea</a:t>
            </a:r>
          </a:p>
        </p:txBody>
      </p:sp>
      <p:sp>
        <p:nvSpPr>
          <p:cNvPr id="60" name="Rounded Rectangle 59"/>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62" name="Rectangle 61"/>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chart shows East Asia average pricing of key product type types in USD, harmonised across regions. Each candlestick spans the minimum-to-maximum observed price within the base year, giving a clear read of price range and market dispersion.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Wider bodies mark a larger gap between opening and closing price levels 'Barrier Casings' shows the most movement (+19.5%) and 'Sachets &amp; Stick Packs' the least (+11.0%) variability stakeholders should monitor when planning procurement or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lower chart indexes country-level price movement to the base year, applied consistently across the horizon to strip out year-on-year inflationary volatility and reveal structural price shifts.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Country price indices diverge by up to 14.6% between 2026 and 2036: higher-priced countries start higher and grow steadily, while lower-priced countries start lower and converge, reflecting catch-up growth.</a:t>
            </a:r>
          </a:p>
        </p:txBody>
      </p:sp>
      <p:sp>
        <p:nvSpPr>
          <p:cNvPr id="64" name="TextBox 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Barrier Casings command the highest 2026 price point at US$ 4,088/MT, a 68.0% premium over Sachets &amp; Stick Packs.</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(US$/MT)</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Index vs East Asia Average (= 100)</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307848">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307848">
                <a:tc>
                  <a:txBody>
                    <a:bodyPr wrap="square"/>
                    <a:lstStyle/>
                    <a:p>
                      <a:pPr algn="l"/>
                      <a:r>
                        <a:rPr sz="850" b="1">
                          <a:solidFill>
                            <a:srgbClr val="1F1F1F"/>
                          </a:solidFill>
                          <a:latin typeface="Calibri"/>
                        </a:rPr>
                        <a:t>Barrier Casings</a:t>
                      </a:r>
                    </a:p>
                  </a:txBody>
                  <a:tcPr marL="36576" marR="36576" marT="9144" marB="9144" anchor="ctr">
                    <a:solidFill>
                      <a:srgbClr val="FFFFFF"/>
                    </a:solidFill>
                  </a:tcPr>
                </a:tc>
                <a:tc>
                  <a:txBody>
                    <a:bodyPr wrap="square"/>
                    <a:lstStyle/>
                    <a:p>
                      <a:pPr algn="ctr"/>
                      <a:r>
                        <a:rPr sz="850" b="0">
                          <a:solidFill>
                            <a:srgbClr val="1F1F1F"/>
                          </a:solidFill>
                          <a:latin typeface="Calibri"/>
                        </a:rPr>
                        <a:t>3,958</a:t>
                      </a:r>
                    </a:p>
                  </a:txBody>
                  <a:tcPr marL="36576" marR="36576" marT="9144" marB="9144" anchor="ctr">
                    <a:solidFill>
                      <a:srgbClr val="FFFFFF"/>
                    </a:solidFill>
                  </a:tcPr>
                </a:tc>
                <a:tc>
                  <a:txBody>
                    <a:bodyPr wrap="square"/>
                    <a:lstStyle/>
                    <a:p>
                      <a:pPr algn="ctr"/>
                      <a:r>
                        <a:rPr sz="850" b="0">
                          <a:solidFill>
                            <a:srgbClr val="1F1F1F"/>
                          </a:solidFill>
                          <a:latin typeface="Calibri"/>
                        </a:rPr>
                        <a:t>4,088</a:t>
                      </a:r>
                    </a:p>
                  </a:txBody>
                  <a:tcPr marL="36576" marR="36576" marT="9144" marB="9144" anchor="ctr">
                    <a:solidFill>
                      <a:srgbClr val="FFFFFF"/>
                    </a:solidFill>
                  </a:tcPr>
                </a:tc>
                <a:tc>
                  <a:txBody>
                    <a:bodyPr wrap="square"/>
                    <a:lstStyle/>
                    <a:p>
                      <a:pPr algn="ctr"/>
                      <a:r>
                        <a:rPr sz="850" b="0">
                          <a:solidFill>
                            <a:srgbClr val="1F1F1F"/>
                          </a:solidFill>
                          <a:latin typeface="Calibri"/>
                        </a:rPr>
                        <a:t>4,728</a:t>
                      </a:r>
                    </a:p>
                  </a:txBody>
                  <a:tcPr marL="36576" marR="36576" marT="9144" marB="9144" anchor="ctr">
                    <a:solidFill>
                      <a:srgbClr val="FFFFFF"/>
                    </a:solidFill>
                  </a:tcPr>
                </a:tc>
                <a:tc>
                  <a:txBody>
                    <a:bodyPr wrap="square"/>
                    <a:lstStyle/>
                    <a:p>
                      <a:pPr algn="ctr"/>
                      <a:r>
                        <a:rPr sz="850" b="0">
                          <a:solidFill>
                            <a:srgbClr val="1F1F1F"/>
                          </a:solidFill>
                          <a:latin typeface="Calibri"/>
                        </a:rPr>
                        <a:t>1.47%</a:t>
                      </a:r>
                    </a:p>
                  </a:txBody>
                  <a:tcPr marL="36576" marR="36576" marT="9144" marB="9144" anchor="ctr">
                    <a:solidFill>
                      <a:srgbClr val="FFFFFF"/>
                    </a:solidFill>
                  </a:tcPr>
                </a:tc>
                <a:tc>
                  <a:txBody>
                    <a:bodyPr wrap="square"/>
                    <a:lstStyle/>
                    <a:p>
                      <a:pPr algn="ctr"/>
                      <a:r>
                        <a:rPr sz="850" b="0">
                          <a:solidFill>
                            <a:srgbClr val="1F1F1F"/>
                          </a:solidFill>
                          <a:latin typeface="Calibri"/>
                        </a:rPr>
                        <a:t>144.8</a:t>
                      </a:r>
                    </a:p>
                  </a:txBody>
                  <a:tcPr marL="36576" marR="36576" marT="9144" marB="9144" anchor="ctr">
                    <a:solidFill>
                      <a:srgbClr val="F4B183"/>
                    </a:solidFill>
                  </a:tcPr>
                </a:tc>
              </a:tr>
              <a:tr h="307848">
                <a:tc>
                  <a:txBody>
                    <a:bodyPr wrap="square"/>
                    <a:lstStyle/>
                    <a:p>
                      <a:pPr algn="l"/>
                      <a:r>
                        <a:rPr sz="850" b="1">
                          <a:solidFill>
                            <a:srgbClr val="1F1F1F"/>
                          </a:solidFill>
                          <a:latin typeface="Calibri"/>
                        </a:rPr>
                        <a:t>Rollstock Films</a:t>
                      </a:r>
                    </a:p>
                  </a:txBody>
                  <a:tcPr marL="36576" marR="36576" marT="9144" marB="9144" anchor="ctr">
                    <a:solidFill>
                      <a:srgbClr val="F3F6F9"/>
                    </a:solidFill>
                  </a:tcPr>
                </a:tc>
                <a:tc>
                  <a:txBody>
                    <a:bodyPr wrap="square"/>
                    <a:lstStyle/>
                    <a:p>
                      <a:pPr algn="ctr"/>
                      <a:r>
                        <a:rPr sz="850" b="0">
                          <a:solidFill>
                            <a:srgbClr val="1F1F1F"/>
                          </a:solidFill>
                          <a:latin typeface="Calibri"/>
                        </a:rPr>
                        <a:t>2,788</a:t>
                      </a:r>
                    </a:p>
                  </a:txBody>
                  <a:tcPr marL="36576" marR="36576" marT="9144" marB="9144" anchor="ctr">
                    <a:solidFill>
                      <a:srgbClr val="F3F6F9"/>
                    </a:solidFill>
                  </a:tcPr>
                </a:tc>
                <a:tc>
                  <a:txBody>
                    <a:bodyPr wrap="square"/>
                    <a:lstStyle/>
                    <a:p>
                      <a:pPr algn="ctr"/>
                      <a:r>
                        <a:rPr sz="850" b="0">
                          <a:solidFill>
                            <a:srgbClr val="1F1F1F"/>
                          </a:solidFill>
                          <a:latin typeface="Calibri"/>
                        </a:rPr>
                        <a:t>2,843</a:t>
                      </a:r>
                    </a:p>
                  </a:txBody>
                  <a:tcPr marL="36576" marR="36576" marT="9144" marB="9144" anchor="ctr">
                    <a:solidFill>
                      <a:srgbClr val="F3F6F9"/>
                    </a:solidFill>
                  </a:tcPr>
                </a:tc>
                <a:tc>
                  <a:txBody>
                    <a:bodyPr wrap="square"/>
                    <a:lstStyle/>
                    <a:p>
                      <a:pPr algn="ctr"/>
                      <a:r>
                        <a:rPr sz="850" b="0">
                          <a:solidFill>
                            <a:srgbClr val="1F1F1F"/>
                          </a:solidFill>
                          <a:latin typeface="Calibri"/>
                        </a:rPr>
                        <a:t>3,220</a:t>
                      </a:r>
                    </a:p>
                  </a:txBody>
                  <a:tcPr marL="36576" marR="36576" marT="9144" marB="9144" anchor="ctr">
                    <a:solidFill>
                      <a:srgbClr val="F3F6F9"/>
                    </a:solidFill>
                  </a:tcPr>
                </a:tc>
                <a:tc>
                  <a:txBody>
                    <a:bodyPr wrap="square"/>
                    <a:lstStyle/>
                    <a:p>
                      <a:pPr algn="ctr"/>
                      <a:r>
                        <a:rPr sz="850" b="0">
                          <a:solidFill>
                            <a:srgbClr val="1F1F1F"/>
                          </a:solidFill>
                          <a:latin typeface="Calibri"/>
                        </a:rPr>
                        <a:t>1.25%</a:t>
                      </a:r>
                    </a:p>
                  </a:txBody>
                  <a:tcPr marL="36576" marR="36576" marT="9144" marB="9144" anchor="ctr">
                    <a:solidFill>
                      <a:srgbClr val="F3F6F9"/>
                    </a:solidFill>
                  </a:tcPr>
                </a:tc>
                <a:tc>
                  <a:txBody>
                    <a:bodyPr wrap="square"/>
                    <a:lstStyle/>
                    <a:p>
                      <a:pPr algn="ctr"/>
                      <a:r>
                        <a:rPr sz="850" b="0">
                          <a:solidFill>
                            <a:srgbClr val="1F1F1F"/>
                          </a:solidFill>
                          <a:latin typeface="Calibri"/>
                        </a:rPr>
                        <a:t>100.7</a:t>
                      </a:r>
                    </a:p>
                  </a:txBody>
                  <a:tcPr marL="36576" marR="36576" marT="9144" marB="9144" anchor="ctr">
                    <a:solidFill>
                      <a:srgbClr val="F7F7F7"/>
                    </a:solidFill>
                  </a:tcPr>
                </a:tc>
              </a:tr>
              <a:tr h="307848">
                <a:tc>
                  <a:txBody>
                    <a:bodyPr wrap="square"/>
                    <a:lstStyle/>
                    <a:p>
                      <a:pPr algn="l"/>
                      <a:r>
                        <a:rPr sz="850" b="1">
                          <a:solidFill>
                            <a:srgbClr val="1F1F1F"/>
                          </a:solidFill>
                          <a:latin typeface="Calibri"/>
                        </a:rPr>
                        <a:t>Premade Pouches &amp; Bags</a:t>
                      </a:r>
                    </a:p>
                  </a:txBody>
                  <a:tcPr marL="36576" marR="36576" marT="9144" marB="9144" anchor="ctr">
                    <a:solidFill>
                      <a:srgbClr val="FFFFFF"/>
                    </a:solidFill>
                  </a:tcPr>
                </a:tc>
                <a:tc>
                  <a:txBody>
                    <a:bodyPr wrap="square"/>
                    <a:lstStyle/>
                    <a:p>
                      <a:pPr algn="ctr"/>
                      <a:r>
                        <a:rPr sz="850" b="0">
                          <a:solidFill>
                            <a:srgbClr val="1F1F1F"/>
                          </a:solidFill>
                          <a:latin typeface="Calibri"/>
                        </a:rPr>
                        <a:t>2,528</a:t>
                      </a:r>
                    </a:p>
                  </a:txBody>
                  <a:tcPr marL="36576" marR="36576" marT="9144" marB="9144" anchor="ctr">
                    <a:solidFill>
                      <a:srgbClr val="FFFFFF"/>
                    </a:solidFill>
                  </a:tcPr>
                </a:tc>
                <a:tc>
                  <a:txBody>
                    <a:bodyPr wrap="square"/>
                    <a:lstStyle/>
                    <a:p>
                      <a:pPr algn="ctr"/>
                      <a:r>
                        <a:rPr sz="850" b="0">
                          <a:solidFill>
                            <a:srgbClr val="1F1F1F"/>
                          </a:solidFill>
                          <a:latin typeface="Calibri"/>
                        </a:rPr>
                        <a:t>2,590</a:t>
                      </a:r>
                    </a:p>
                  </a:txBody>
                  <a:tcPr marL="36576" marR="36576" marT="9144" marB="9144" anchor="ctr">
                    <a:solidFill>
                      <a:srgbClr val="FFFFFF"/>
                    </a:solidFill>
                  </a:tcPr>
                </a:tc>
                <a:tc>
                  <a:txBody>
                    <a:bodyPr wrap="square"/>
                    <a:lstStyle/>
                    <a:p>
                      <a:pPr algn="ctr"/>
                      <a:r>
                        <a:rPr sz="850" b="0">
                          <a:solidFill>
                            <a:srgbClr val="1F1F1F"/>
                          </a:solidFill>
                          <a:latin typeface="Calibri"/>
                        </a:rPr>
                        <a:t>2,976</a:t>
                      </a:r>
                    </a:p>
                  </a:txBody>
                  <a:tcPr marL="36576" marR="36576" marT="9144" marB="9144" anchor="ctr">
                    <a:solidFill>
                      <a:srgbClr val="FFFFFF"/>
                    </a:solidFill>
                  </a:tcPr>
                </a:tc>
                <a:tc>
                  <a:txBody>
                    <a:bodyPr wrap="square"/>
                    <a:lstStyle/>
                    <a:p>
                      <a:pPr algn="ctr"/>
                      <a:r>
                        <a:rPr sz="850" b="0">
                          <a:solidFill>
                            <a:srgbClr val="1F1F1F"/>
                          </a:solidFill>
                          <a:latin typeface="Calibri"/>
                        </a:rPr>
                        <a:t>1.40%</a:t>
                      </a:r>
                    </a:p>
                  </a:txBody>
                  <a:tcPr marL="36576" marR="36576" marT="9144" marB="9144" anchor="ctr">
                    <a:solidFill>
                      <a:srgbClr val="FFFFFF"/>
                    </a:solidFill>
                  </a:tcPr>
                </a:tc>
                <a:tc>
                  <a:txBody>
                    <a:bodyPr wrap="square"/>
                    <a:lstStyle/>
                    <a:p>
                      <a:pPr algn="ctr"/>
                      <a:r>
                        <a:rPr sz="850" b="0">
                          <a:solidFill>
                            <a:srgbClr val="1F1F1F"/>
                          </a:solidFill>
                          <a:latin typeface="Calibri"/>
                        </a:rPr>
                        <a:t>91.8</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Sachets &amp; Stick Packs</a:t>
                      </a:r>
                    </a:p>
                  </a:txBody>
                  <a:tcPr marL="36576" marR="36576" marT="9144" marB="9144" anchor="ctr">
                    <a:solidFill>
                      <a:srgbClr val="F3F6F9"/>
                    </a:solidFill>
                  </a:tcPr>
                </a:tc>
                <a:tc>
                  <a:txBody>
                    <a:bodyPr wrap="square"/>
                    <a:lstStyle/>
                    <a:p>
                      <a:pPr algn="ctr"/>
                      <a:r>
                        <a:rPr sz="850" b="0">
                          <a:solidFill>
                            <a:srgbClr val="1F1F1F"/>
                          </a:solidFill>
                          <a:latin typeface="Calibri"/>
                        </a:rPr>
                        <a:t>2,399</a:t>
                      </a:r>
                    </a:p>
                  </a:txBody>
                  <a:tcPr marL="36576" marR="36576" marT="9144" marB="9144" anchor="ctr">
                    <a:solidFill>
                      <a:srgbClr val="F3F6F9"/>
                    </a:solidFill>
                  </a:tcPr>
                </a:tc>
                <a:tc>
                  <a:txBody>
                    <a:bodyPr wrap="square"/>
                    <a:lstStyle/>
                    <a:p>
                      <a:pPr algn="ctr"/>
                      <a:r>
                        <a:rPr sz="850" b="0">
                          <a:solidFill>
                            <a:srgbClr val="1F1F1F"/>
                          </a:solidFill>
                          <a:latin typeface="Calibri"/>
                        </a:rPr>
                        <a:t>2,434</a:t>
                      </a:r>
                    </a:p>
                  </a:txBody>
                  <a:tcPr marL="36576" marR="36576" marT="9144" marB="9144" anchor="ctr">
                    <a:solidFill>
                      <a:srgbClr val="F3F6F9"/>
                    </a:solidFill>
                  </a:tcPr>
                </a:tc>
                <a:tc>
                  <a:txBody>
                    <a:bodyPr wrap="square"/>
                    <a:lstStyle/>
                    <a:p>
                      <a:pPr algn="ctr"/>
                      <a:r>
                        <a:rPr sz="850" b="0">
                          <a:solidFill>
                            <a:srgbClr val="1F1F1F"/>
                          </a:solidFill>
                          <a:latin typeface="Calibri"/>
                        </a:rPr>
                        <a:t>2,663</a:t>
                      </a:r>
                    </a:p>
                  </a:txBody>
                  <a:tcPr marL="36576" marR="36576" marT="9144" marB="9144" anchor="ctr">
                    <a:solidFill>
                      <a:srgbClr val="F3F6F9"/>
                    </a:solidFill>
                  </a:tcPr>
                </a:tc>
                <a:tc>
                  <a:txBody>
                    <a:bodyPr wrap="square"/>
                    <a:lstStyle/>
                    <a:p>
                      <a:pPr algn="ctr"/>
                      <a:r>
                        <a:rPr sz="850" b="0">
                          <a:solidFill>
                            <a:srgbClr val="1F1F1F"/>
                          </a:solidFill>
                          <a:latin typeface="Calibri"/>
                        </a:rPr>
                        <a:t>0.91%</a:t>
                      </a:r>
                    </a:p>
                  </a:txBody>
                  <a:tcPr marL="36576" marR="36576" marT="9144" marB="9144" anchor="ctr">
                    <a:solidFill>
                      <a:srgbClr val="F3F6F9"/>
                    </a:solidFill>
                  </a:tcPr>
                </a:tc>
                <a:tc>
                  <a:txBody>
                    <a:bodyPr wrap="square"/>
                    <a:lstStyle/>
                    <a:p>
                      <a:pPr algn="ctr"/>
                      <a:r>
                        <a:rPr sz="850" b="0">
                          <a:solidFill>
                            <a:srgbClr val="1F1F1F"/>
                          </a:solidFill>
                          <a:latin typeface="Calibri"/>
                        </a:rPr>
                        <a:t>86.2</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East Asia Average</a:t>
                      </a:r>
                    </a:p>
                  </a:txBody>
                  <a:tcPr marL="36576" marR="36576" marT="9144" marB="9144" anchor="ctr">
                    <a:solidFill>
                      <a:srgbClr val="F3F6F9"/>
                    </a:solidFill>
                  </a:tcPr>
                </a:tc>
                <a:tc>
                  <a:txBody>
                    <a:bodyPr wrap="square"/>
                    <a:lstStyle/>
                    <a:p>
                      <a:pPr algn="ctr"/>
                      <a:r>
                        <a:rPr sz="850" b="0">
                          <a:solidFill>
                            <a:srgbClr val="1F1F1F"/>
                          </a:solidFill>
                          <a:latin typeface="Calibri"/>
                        </a:rPr>
                        <a:t>2,765</a:t>
                      </a:r>
                    </a:p>
                  </a:txBody>
                  <a:tcPr marL="36576" marR="36576" marT="9144" marB="9144" anchor="ctr">
                    <a:solidFill>
                      <a:srgbClr val="F3F6F9"/>
                    </a:solidFill>
                  </a:tcPr>
                </a:tc>
                <a:tc>
                  <a:txBody>
                    <a:bodyPr wrap="square"/>
                    <a:lstStyle/>
                    <a:p>
                      <a:pPr algn="ctr"/>
                      <a:r>
                        <a:rPr sz="850" b="0">
                          <a:solidFill>
                            <a:srgbClr val="1F1F1F"/>
                          </a:solidFill>
                          <a:latin typeface="Calibri"/>
                        </a:rPr>
                        <a:t>2,823</a:t>
                      </a:r>
                    </a:p>
                  </a:txBody>
                  <a:tcPr marL="36576" marR="36576" marT="9144" marB="9144" anchor="ctr">
                    <a:solidFill>
                      <a:srgbClr val="F3F6F9"/>
                    </a:solidFill>
                  </a:tcPr>
                </a:tc>
                <a:tc>
                  <a:txBody>
                    <a:bodyPr wrap="square"/>
                    <a:lstStyle/>
                    <a:p>
                      <a:pPr algn="ctr"/>
                      <a:r>
                        <a:rPr sz="850" b="0">
                          <a:solidFill>
                            <a:srgbClr val="1F1F1F"/>
                          </a:solidFill>
                          <a:latin typeface="Calibri"/>
                        </a:rPr>
                        <a:t>3,211</a:t>
                      </a:r>
                    </a:p>
                  </a:txBody>
                  <a:tcPr marL="36576" marR="36576" marT="9144" marB="9144" anchor="ctr">
                    <a:solidFill>
                      <a:srgbClr val="F3F6F9"/>
                    </a:solidFill>
                  </a:tcPr>
                </a:tc>
                <a:tc>
                  <a:txBody>
                    <a:bodyPr wrap="square"/>
                    <a:lstStyle/>
                    <a:p>
                      <a:pPr algn="ctr"/>
                      <a:r>
                        <a:rPr sz="850" b="0">
                          <a:solidFill>
                            <a:srgbClr val="1F1F1F"/>
                          </a:solidFill>
                          <a:latin typeface="Calibri"/>
                        </a:rPr>
                        <a:t>1.30%</a:t>
                      </a:r>
                    </a:p>
                  </a:txBody>
                  <a:tcPr marL="36576" marR="36576" marT="9144" marB="9144" anchor="ctr">
                    <a:solidFill>
                      <a:srgbClr val="F3F6F9"/>
                    </a:solidFill>
                  </a:tcPr>
                </a:tc>
                <a:tc>
                  <a:txBody>
                    <a:bodyPr wrap="square"/>
                    <a:lstStyle/>
                    <a:p>
                      <a:pPr algn="ctr"/>
                      <a:r>
                        <a:rPr sz="850" b="0">
                          <a:solidFill>
                            <a:srgbClr val="1F1F1F"/>
                          </a:solidFill>
                          <a:latin typeface="Calibri"/>
                        </a:rPr>
                        <a:t>100.0</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Barrier Casings sit at the top of the 2026 price ladder at an index of 144.8, while Sachets &amp; Stick Packs trade at 86.2, which keeps the full product type spread within 68.0%.</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Barrier Casings post the fastest price growth at a 1.47% CAGR between 2026 and 2036, compared with 0.91% for Sachets &amp; Stick Packs.</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The East Asia average price rises from US$ 2,823/MT in 2026 to US$ 3,211/MT in 2036, and the gap between the highest and lowest priced product type moves from 64.9% in 2021 to 77.5% in 2036.</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Pricing Assessment: Country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average price and price range across product types, 2026 (US$/MT)</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Japan is the most premium East Asia market at US$ 3,427/MT in 2026, +21.4% above the regional average, while China is the lowest priced.</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Types by Country (US$/MT),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the lowest to highest product type price in each country, read on the price index axis (East Asia average = 100). Teal = above East Asia average, blue = below.</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2"/>
        </p:xfrm>
        <a:graphic>
          <a:graphicData uri="http://schemas.openxmlformats.org/drawingml/2006/table">
            <a:tbl>
              <a:tblPr firstRow="1" bandRow="1">
                <a:tableStyleId>{5C22544A-7EE6-4342-B048-85BDC9FD1C3A}</a:tableStyleId>
              </a:tblPr>
              <a:tblGrid>
                <a:gridCol w="1417320"/>
                <a:gridCol w="786384"/>
                <a:gridCol w="658368"/>
                <a:gridCol w="914400"/>
              </a:tblGrid>
              <a:tr h="1030224">
                <a:tc>
                  <a:txBody>
                    <a:bodyPr wrap="square"/>
                    <a:lstStyle/>
                    <a:p>
                      <a:pPr algn="l"/>
                      <a:r>
                        <a:rPr sz="900" b="1">
                          <a:solidFill>
                            <a:srgbClr val="FFFFFF"/>
                          </a:solidFill>
                          <a:latin typeface="Calibri"/>
                        </a:rPr>
                        <a:t>Country</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1030224">
                <a:tc>
                  <a:txBody>
                    <a:bodyPr wrap="square"/>
                    <a:lstStyle/>
                    <a:p>
                      <a:pPr algn="l"/>
                      <a:r>
                        <a:rPr sz="900" b="1">
                          <a:solidFill>
                            <a:srgbClr val="1F1F1F"/>
                          </a:solidFill>
                          <a:latin typeface="Calibri"/>
                        </a:rPr>
                        <a:t>Japan</a:t>
                      </a:r>
                    </a:p>
                  </a:txBody>
                  <a:tcPr marL="36576" marR="36576" marT="9144" marB="9144" anchor="ctr">
                    <a:solidFill>
                      <a:srgbClr val="FFFFFF"/>
                    </a:solidFill>
                  </a:tcPr>
                </a:tc>
                <a:tc>
                  <a:txBody>
                    <a:bodyPr wrap="square"/>
                    <a:lstStyle/>
                    <a:p>
                      <a:pPr algn="ctr"/>
                      <a:r>
                        <a:rPr sz="900" b="0">
                          <a:solidFill>
                            <a:srgbClr val="1F1F1F"/>
                          </a:solidFill>
                          <a:latin typeface="Calibri"/>
                        </a:rPr>
                        <a:t>3,427</a:t>
                      </a:r>
                    </a:p>
                  </a:txBody>
                  <a:tcPr marL="36576" marR="36576" marT="9144" marB="9144" anchor="ctr">
                    <a:solidFill>
                      <a:srgbClr val="FFFFFF"/>
                    </a:solidFill>
                  </a:tcPr>
                </a:tc>
                <a:tc>
                  <a:txBody>
                    <a:bodyPr wrap="square"/>
                    <a:lstStyle/>
                    <a:p>
                      <a:pPr algn="ctr"/>
                      <a:r>
                        <a:rPr sz="900" b="0">
                          <a:solidFill>
                            <a:srgbClr val="1F1F1F"/>
                          </a:solidFill>
                          <a:latin typeface="Calibri"/>
                        </a:rPr>
                        <a:t>121.4</a:t>
                      </a:r>
                    </a:p>
                  </a:txBody>
                  <a:tcPr marL="36576" marR="36576" marT="9144" marB="9144" anchor="ctr">
                    <a:solidFill>
                      <a:srgbClr val="F4B183"/>
                    </a:solidFill>
                  </a:tcPr>
                </a:tc>
                <a:tc>
                  <a:txBody>
                    <a:bodyPr wrap="square"/>
                    <a:lstStyle/>
                    <a:p>
                      <a:pPr algn="ctr"/>
                      <a:r>
                        <a:rPr sz="900" b="0">
                          <a:solidFill>
                            <a:srgbClr val="1F1F1F"/>
                          </a:solidFill>
                          <a:latin typeface="Calibri"/>
                        </a:rPr>
                        <a:t>1.20%</a:t>
                      </a:r>
                    </a:p>
                  </a:txBody>
                  <a:tcPr marL="36576" marR="36576" marT="9144" marB="9144" anchor="ctr">
                    <a:solidFill>
                      <a:srgbClr val="FFFFFF"/>
                    </a:solidFill>
                  </a:tcPr>
                </a:tc>
              </a:tr>
              <a:tr h="1030224">
                <a:tc>
                  <a:txBody>
                    <a:bodyPr wrap="square"/>
                    <a:lstStyle/>
                    <a:p>
                      <a:pPr algn="l"/>
                      <a:r>
                        <a:rPr sz="900" b="1">
                          <a:solidFill>
                            <a:srgbClr val="1F1F1F"/>
                          </a:solidFill>
                          <a:latin typeface="Calibri"/>
                        </a:rPr>
                        <a:t>China</a:t>
                      </a:r>
                    </a:p>
                  </a:txBody>
                  <a:tcPr marL="36576" marR="36576" marT="9144" marB="9144" anchor="ctr">
                    <a:solidFill>
                      <a:srgbClr val="F3F6F9"/>
                    </a:solidFill>
                  </a:tcPr>
                </a:tc>
                <a:tc>
                  <a:txBody>
                    <a:bodyPr wrap="square"/>
                    <a:lstStyle/>
                    <a:p>
                      <a:pPr algn="ctr"/>
                      <a:r>
                        <a:rPr sz="900" b="0">
                          <a:solidFill>
                            <a:srgbClr val="1F1F1F"/>
                          </a:solidFill>
                          <a:latin typeface="Calibri"/>
                        </a:rPr>
                        <a:t>2,624</a:t>
                      </a:r>
                    </a:p>
                  </a:txBody>
                  <a:tcPr marL="36576" marR="36576" marT="9144" marB="9144" anchor="ctr">
                    <a:solidFill>
                      <a:srgbClr val="F3F6F9"/>
                    </a:solidFill>
                  </a:tcPr>
                </a:tc>
                <a:tc>
                  <a:txBody>
                    <a:bodyPr wrap="square"/>
                    <a:lstStyle/>
                    <a:p>
                      <a:pPr algn="ctr"/>
                      <a:r>
                        <a:rPr sz="900" b="0">
                          <a:solidFill>
                            <a:srgbClr val="1F1F1F"/>
                          </a:solidFill>
                          <a:latin typeface="Calibri"/>
                        </a:rPr>
                        <a:t>92.9</a:t>
                      </a:r>
                    </a:p>
                  </a:txBody>
                  <a:tcPr marL="36576" marR="36576" marT="9144" marB="9144" anchor="ctr">
                    <a:solidFill>
                      <a:srgbClr val="9DC0E0"/>
                    </a:solidFill>
                  </a:tcPr>
                </a:tc>
                <a:tc>
                  <a:txBody>
                    <a:bodyPr wrap="square"/>
                    <a:lstStyle/>
                    <a:p>
                      <a:pPr algn="ctr"/>
                      <a:r>
                        <a:rPr sz="900" b="0">
                          <a:solidFill>
                            <a:srgbClr val="1F1F1F"/>
                          </a:solidFill>
                          <a:latin typeface="Calibri"/>
                        </a:rPr>
                        <a:t>1.37%</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Country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Average prices across the ranked countries differ by 30.6% in 2026, from US$ 2,624/MT in China to US$ 3,427/MT in Japan.</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China records the fastest average price growth at a 1.37% CAGR between 2026 and 2036, against 1.30% for East Asia as a whole.</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South Korea shows the widest gap between its cheapest and most expensive product type at 68.2%, so product mix shifts move its average price the most.</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type price in each country;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country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(US$/MT).</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1,882</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2,568</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3,255</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3,941</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4,627</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5,313</a:t>
            </a:r>
          </a:p>
        </p:txBody>
      </p:sp>
      <p:sp>
        <p:nvSpPr>
          <p:cNvPr id="25" name="TextBox 24"/>
          <p:cNvSpPr txBox="1"/>
          <p:nvPr/>
        </p:nvSpPr>
        <p:spPr>
          <a:xfrm>
            <a:off x="238125" y="2565359"/>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China</a:t>
            </a:r>
          </a:p>
        </p:txBody>
      </p:sp>
      <p:sp>
        <p:nvSpPr>
          <p:cNvPr id="26" name="Rectangle 25"/>
          <p:cNvSpPr/>
          <p:nvPr/>
        </p:nvSpPr>
        <p:spPr>
          <a:xfrm>
            <a:off x="2045494" y="2274651"/>
            <a:ext cx="2803788" cy="75286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2931977" y="2589172"/>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4013180"/>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Japan</a:t>
            </a:r>
          </a:p>
        </p:txBody>
      </p:sp>
      <p:sp>
        <p:nvSpPr>
          <p:cNvPr id="29" name="Rectangle 28"/>
          <p:cNvSpPr/>
          <p:nvPr/>
        </p:nvSpPr>
        <p:spPr>
          <a:xfrm>
            <a:off x="3298762" y="3722471"/>
            <a:ext cx="3628294" cy="75286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462957" y="4036992"/>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5461000"/>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Korea</a:t>
            </a:r>
          </a:p>
        </p:txBody>
      </p:sp>
      <p:sp>
        <p:nvSpPr>
          <p:cNvPr id="32" name="Rectangle 31"/>
          <p:cNvSpPr/>
          <p:nvPr/>
        </p:nvSpPr>
        <p:spPr>
          <a:xfrm>
            <a:off x="2798471" y="5170292"/>
            <a:ext cx="3318530" cy="75286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3857833" y="5484812"/>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36" name="Rectangle 35"/>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38" name="Rounded Rectangle 37"/>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0" name="Rectangle 39"/>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048625" y="1727149"/>
            <a:ext cx="3867150" cy="343877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Barrier casings segment is expected to command the highest average price of US$ 4,728 per MT in 2036. Average selling price of flexible plastic packaging is estimated at US$ 2,801 per MT in 2025 and is projected to increase to US$ 3,211 per MT by 2036. Japan is the highest-priced country, while China is the most price-competitive market.</a:t>
            </a:r>
          </a:p>
          <a:p>
            <a:pPr algn="l">
              <a:lnSpc>
                <a:spcPct val="100000"/>
              </a:lnSpc>
              <a:spcBef>
                <a:spcPts val="0"/>
              </a:spcBef>
              <a:spcAft>
                <a:spcPts val="300"/>
              </a:spcAft>
            </a:pPr>
            <a:r>
              <a:rPr sz="1100" b="0">
                <a:solidFill>
                  <a:srgbClr val="2E2E2E"/>
                </a:solidFill>
                <a:latin typeface="Calibri"/>
              </a:rPr>
              <a:t>The orange dot is each region's average selling price; the blue band is its full low-to-high price range, all derived as Value ÷ Volume. Narrow bands point to commoditised, price-led competition; wider bands flag premiumisation headroom to trade buyers up the mix.</a:t>
            </a:r>
          </a:p>
          <a:p>
            <a:pPr algn="l">
              <a:lnSpc>
                <a:spcPct val="100000"/>
              </a:lnSpc>
              <a:spcBef>
                <a:spcPts val="0"/>
              </a:spcBef>
              <a:spcAft>
                <a:spcPts val="300"/>
              </a:spcAft>
            </a:pPr>
            <a:r>
              <a:rPr sz="1100" b="0">
                <a:solidFill>
                  <a:srgbClr val="2E2E2E"/>
                </a:solidFill>
                <a:latin typeface="Calibri"/>
              </a:rPr>
              <a:t>East Asia sits at a lower price point, with the average rising from US$2,823 to US$3,211 per MT, because large-scale local converting capacity, integrated resin supply and a volume-heavy mix of PE and PP films keep unit costs down. Price still climbs as barrier and premium formats grow, so value growth of 6.4% outpaces 5.0% volume growth.</a:t>
            </a:r>
          </a:p>
        </p:txBody>
      </p:sp>
      <p:sp>
        <p:nvSpPr>
          <p:cNvPr id="42" name="Rounded Rectangle 41"/>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43" name="TextBox 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Flexible Plastic Packaging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02945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838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95650"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43225"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81275"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19325"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66900"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57600"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57600"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57600"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57600"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57600"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57600"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48814"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63547"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63547"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48814"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95550"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24262"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00412"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90397"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69802"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66730"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24262"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58991"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37533"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58128"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25309"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86175"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86175"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86175"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86175"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86175"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00375"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Input Cost  13.0%</a:t>
            </a:r>
          </a:p>
        </p:txBody>
      </p:sp>
      <p:sp>
        <p:nvSpPr>
          <p:cNvPr id="46" name="TextBox 45"/>
          <p:cNvSpPr txBox="1"/>
          <p:nvPr/>
        </p:nvSpPr>
        <p:spPr>
          <a:xfrm>
            <a:off x="4232331"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Labor &amp; Production Costs  10.1%</a:t>
            </a:r>
          </a:p>
        </p:txBody>
      </p:sp>
      <p:sp>
        <p:nvSpPr>
          <p:cNvPr id="47" name="TextBox 46"/>
          <p:cNvSpPr txBox="1"/>
          <p:nvPr/>
        </p:nvSpPr>
        <p:spPr>
          <a:xfrm>
            <a:off x="4993722"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Technology &amp; Innovation  9.4%</a:t>
            </a:r>
          </a:p>
        </p:txBody>
      </p:sp>
      <p:sp>
        <p:nvSpPr>
          <p:cNvPr id="48" name="TextBox 47"/>
          <p:cNvSpPr txBox="1"/>
          <p:nvPr/>
        </p:nvSpPr>
        <p:spPr>
          <a:xfrm>
            <a:off x="4993722"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Supply Chain &amp; Logistics  10.9%</a:t>
            </a:r>
          </a:p>
        </p:txBody>
      </p:sp>
      <p:sp>
        <p:nvSpPr>
          <p:cNvPr id="49" name="TextBox 48"/>
          <p:cNvSpPr txBox="1"/>
          <p:nvPr/>
        </p:nvSpPr>
        <p:spPr>
          <a:xfrm>
            <a:off x="4232331"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Demand &amp; Market Conditions  12.3%</a:t>
            </a:r>
          </a:p>
        </p:txBody>
      </p:sp>
      <p:sp>
        <p:nvSpPr>
          <p:cNvPr id="50" name="TextBox 49"/>
          <p:cNvSpPr txBox="1"/>
          <p:nvPr/>
        </p:nvSpPr>
        <p:spPr>
          <a:xfrm>
            <a:off x="3000375"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Competitive Landscape  11.6%</a:t>
            </a:r>
          </a:p>
        </p:txBody>
      </p:sp>
      <p:sp>
        <p:nvSpPr>
          <p:cNvPr id="51" name="TextBox 50"/>
          <p:cNvSpPr txBox="1"/>
          <p:nvPr/>
        </p:nvSpPr>
        <p:spPr>
          <a:xfrm>
            <a:off x="1768419"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Regulatory &amp; Compliance Costs  8.7%</a:t>
            </a:r>
          </a:p>
        </p:txBody>
      </p:sp>
      <p:sp>
        <p:nvSpPr>
          <p:cNvPr id="52" name="TextBox 51"/>
          <p:cNvSpPr txBox="1"/>
          <p:nvPr/>
        </p:nvSpPr>
        <p:spPr>
          <a:xfrm>
            <a:off x="1007028"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Currency &amp; Trade Dynamics  8.0%</a:t>
            </a:r>
          </a:p>
        </p:txBody>
      </p:sp>
      <p:sp>
        <p:nvSpPr>
          <p:cNvPr id="53" name="TextBox 52"/>
          <p:cNvSpPr txBox="1"/>
          <p:nvPr/>
        </p:nvSpPr>
        <p:spPr>
          <a:xfrm>
            <a:off x="1007028"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Brand &amp; Value Perception  9.4%</a:t>
            </a:r>
          </a:p>
        </p:txBody>
      </p:sp>
      <p:sp>
        <p:nvSpPr>
          <p:cNvPr id="54" name="TextBox 53"/>
          <p:cNvSpPr txBox="1"/>
          <p:nvPr/>
        </p:nvSpPr>
        <p:spPr>
          <a:xfrm>
            <a:off x="1768419"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Aftermarket &amp; Service Costs  6.5%</a:t>
            </a:r>
          </a:p>
        </p:txBody>
      </p:sp>
      <p:sp>
        <p:nvSpPr>
          <p:cNvPr id="55" name="Rounded Rectangle 54"/>
          <p:cNvSpPr/>
          <p:nvPr/>
        </p:nvSpPr>
        <p:spPr>
          <a:xfrm>
            <a:off x="7248525" y="1354081"/>
            <a:ext cx="480060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381875" y="1439806"/>
            <a:ext cx="453390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381875" y="1677931"/>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381875" y="1763656"/>
            <a:ext cx="453390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Flexible Plastic Packaging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Flexible Plastic Packaging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248525" y="4943046"/>
            <a:ext cx="480060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381875" y="5028771"/>
            <a:ext cx="453390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381875" y="5266896"/>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381875" y="5352621"/>
            <a:ext cx="453390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Input Cost 9.0 / 10  ·  dominant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&amp; Market Conditions 8.5 / 10  ·  major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Landscape 8.0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Supply Chain &amp; Logistics 7.5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Labor &amp; Production Costs 7.0 / 10  ·  supporting factor</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114675"/>
          </a:xfrm>
          <a:prstGeom prst="roundRect">
            <a:avLst>
              <a:gd name="adj" fmla="val 24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809875"/>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15265">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59461">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210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581525"/>
            <a:ext cx="11906250" cy="1962150"/>
          </a:xfrm>
          <a:prstGeom prst="roundRect">
            <a:avLst>
              <a:gd name="adj" fmla="val 388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66725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4905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991100"/>
            <a:ext cx="11639550" cy="1476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Input Cost and Demand &amp; Market Conditions carry the heaviest weight on selling prices (9.0 and 8.5 / 10).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8 of 10 factors exert upward pressure on price; the rest pull prices down chiefly Technology &amp; Innovation and the Competitive Landscape.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Cost-side factors set the price floor; demand, brand and competitive forces determine how much of that cost can be passed through.</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Aftermarket &amp; Service Costs exerts the least pressure a second-order effect to monitor rather than actively manage.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(US$/MT)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3" name="Table 12"/>
          <p:cNvGraphicFramePr>
            <a:graphicFrameLocks noGrp="1"/>
          </p:cNvGraphicFramePr>
          <p:nvPr/>
        </p:nvGraphicFramePr>
        <p:xfrm>
          <a:off x="152400" y="1574749"/>
          <a:ext cx="5886450" cy="2271330"/>
        </p:xfrm>
        <a:graphic>
          <a:graphicData uri="http://schemas.openxmlformats.org/drawingml/2006/table">
            <a:tbl>
              <a:tblPr>
                <a:tableStyleId>{5C22544A-7EE6-4342-B048-85BDC9FD1C3A}</a:tableStyleId>
              </a:tblPr>
              <a:tblGrid>
                <a:gridCol w="947818"/>
                <a:gridCol w="1234658"/>
                <a:gridCol w="1234658"/>
                <a:gridCol w="1234658"/>
                <a:gridCol w="1234658"/>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Total Margin (%)</a:t>
                      </a:r>
                      <a:endParaRPr sz="1100"/>
                    </a:p>
                  </a:txBody>
                  <a:tcPr marL="47625" marR="38100" marT="19050" marB="19050" anchor="ctr">
                    <a:solidFill>
                      <a:srgbClr val="E0E8EF"/>
                    </a:solidFill>
                  </a:tcPr>
                </a:tc>
              </a:tr>
              <a:tr h="685355">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685355">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685355">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(US$/MT)</a:t>
            </a:r>
          </a:p>
        </p:txBody>
      </p:sp>
      <p:graphicFrame>
        <p:nvGraphicFramePr>
          <p:cNvPr id="17" name="Table 16"/>
          <p:cNvGraphicFramePr>
            <a:graphicFrameLocks noGrp="1"/>
          </p:cNvGraphicFramePr>
          <p:nvPr/>
        </p:nvGraphicFramePr>
        <p:xfrm>
          <a:off x="6210300" y="1574749"/>
          <a:ext cx="5829299" cy="2271330"/>
        </p:xfrm>
        <a:graphic>
          <a:graphicData uri="http://schemas.openxmlformats.org/drawingml/2006/table">
            <a:tbl>
              <a:tblPr>
                <a:tableStyleId>{5C22544A-7EE6-4342-B048-85BDC9FD1C3A}</a:tableStyleId>
              </a:tblPr>
              <a:tblGrid>
                <a:gridCol w="1479095"/>
                <a:gridCol w="1087551"/>
                <a:gridCol w="1087551"/>
                <a:gridCol w="1087551"/>
                <a:gridCol w="1087551"/>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685355">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3,005.61</a:t>
                      </a:r>
                      <a:endParaRPr sz="1100"/>
                    </a:p>
                  </a:txBody>
                  <a:tcPr marL="47625" marR="38100" marT="19050" marB="19050" anchor="ctr">
                    <a:solidFill>
                      <a:srgbClr val="FFFFFF"/>
                    </a:solidFill>
                  </a:tcPr>
                </a:tc>
              </a:tr>
              <a:tr h="685355">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3,861.98</a:t>
                      </a:r>
                      <a:endParaRPr sz="1100"/>
                    </a:p>
                  </a:txBody>
                  <a:tcPr marL="47625" marR="38100" marT="19050" marB="19050" anchor="ctr">
                    <a:solidFill>
                      <a:srgbClr val="F5F8FA"/>
                    </a:solidFill>
                  </a:tcPr>
                </a:tc>
              </a:tr>
              <a:tr h="685355">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3,511.63</a:t>
                      </a:r>
                      <a:endParaRPr sz="1100"/>
                    </a:p>
                  </a:txBody>
                  <a:tcPr marL="47625" marR="38100" marT="19050" marB="19050" anchor="ctr">
                    <a:solidFill>
                      <a:srgbClr val="FFFFFF"/>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East Asia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country and sub-segment against the weighted average price of each country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(US$/MT).</a:t>
            </a:r>
          </a:p>
        </p:txBody>
      </p:sp>
      <p:sp>
        <p:nvSpPr>
          <p:cNvPr id="11" name="Rounded Rectangle 10"/>
          <p:cNvSpPr/>
          <p:nvPr/>
        </p:nvSpPr>
        <p:spPr>
          <a:xfrm>
            <a:off x="142875" y="1314450"/>
            <a:ext cx="11906250" cy="2447925"/>
          </a:xfrm>
          <a:prstGeom prst="roundRect">
            <a:avLst>
              <a:gd name="adj" fmla="val 311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(US$/MT)</a:t>
            </a:r>
          </a:p>
        </p:txBody>
      </p:sp>
      <p:graphicFrame>
        <p:nvGraphicFramePr>
          <p:cNvPr id="13" name="Table 12"/>
          <p:cNvGraphicFramePr>
            <a:graphicFrameLocks noGrp="1"/>
          </p:cNvGraphicFramePr>
          <p:nvPr/>
        </p:nvGraphicFramePr>
        <p:xfrm>
          <a:off x="152400" y="1571625"/>
          <a:ext cx="11887201" cy="1981200"/>
        </p:xfrm>
        <a:graphic>
          <a:graphicData uri="http://schemas.openxmlformats.org/drawingml/2006/table">
            <a:tbl>
              <a:tblPr>
                <a:tableStyleId>{5C22544A-7EE6-4342-B048-85BDC9FD1C3A}</a:tableStyleId>
              </a:tblPr>
              <a:tblGrid>
                <a:gridCol w="1114081"/>
                <a:gridCol w="2154624"/>
                <a:gridCol w="2154624"/>
                <a:gridCol w="2154624"/>
                <a:gridCol w="2154624"/>
                <a:gridCol w="2154624"/>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Rollstock Films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Barrier Casings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Premade Pouches &amp; Bags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Sachets &amp; Stick Packs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Weighted Avg</a:t>
                      </a:r>
                      <a:endParaRPr sz="1100"/>
                    </a:p>
                  </a:txBody>
                  <a:tcPr marL="47625" marR="38100" marT="19050" marB="19050" anchor="ctr">
                    <a:solidFill>
                      <a:srgbClr val="E0E8EF"/>
                    </a:solidFill>
                  </a:tcPr>
                </a:tc>
              </a:tr>
              <a:tr h="588645">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2,614.06–2,666.87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3,759.14–3,835.09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2,393.70–2,442.06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2,234.82–2,279.97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2,623.51</a:t>
                      </a:r>
                      <a:endParaRPr sz="1100"/>
                    </a:p>
                  </a:txBody>
                  <a:tcPr marL="47625" marR="38100" marT="19050" marB="19050" anchor="ctr">
                    <a:solidFill>
                      <a:srgbClr val="FFFFFF"/>
                    </a:solidFill>
                  </a:tcPr>
                </a:tc>
              </a:tr>
              <a:tr h="588645">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3,405.53–3,474.33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4,888.76–4,987.52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3,120.61–3,183.66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2,916.18–2,975.09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3,427.07</a:t>
                      </a:r>
                      <a:endParaRPr sz="1100"/>
                    </a:p>
                  </a:txBody>
                  <a:tcPr marL="47625" marR="38100" marT="19050" marB="19050" anchor="ctr">
                    <a:solidFill>
                      <a:srgbClr val="F5F8FA"/>
                    </a:solidFill>
                  </a:tcPr>
                </a:tc>
              </a:tr>
              <a:tr h="588645">
                <a:tc>
                  <a:txBody>
                    <a:bodyPr wrap="none"/>
                    <a:lstStyle/>
                    <a:p>
                      <a:pPr algn="l"/>
                      <a:r>
                        <a:rPr sz="1100" b="1">
                          <a:solidFill>
                            <a:srgbClr val="2E2E2E"/>
                          </a:solidFill>
                          <a:latin typeface="Calibri"/>
                        </a:rPr>
                        <a:t>South Korea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3,092.30–3,154.77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4,448.36–4,538.22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2,830.30–2,887.48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2,644.19–2,697.61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3,111.11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562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905250"/>
            <a:ext cx="11906250" cy="2638425"/>
          </a:xfrm>
          <a:prstGeom prst="roundRect">
            <a:avLst>
              <a:gd name="adj" fmla="val 288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990975"/>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229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314825"/>
            <a:ext cx="11639550" cy="2152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On a weighted-average basis 'Japan' is the highest-priced region (~3,427.07 US$/MT) and 'China' the most competitive (~2,623.51 US$/MT).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Price ranges are benchmarked per product type type at 2026, derived as Value ÷ Volume with a ±1% observed trading band.</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Cross-region price dispersion of ~1.31× reflects differences in mix, logistics and channel structure.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Benchmarks support price-corridor setting and margin-defence decisions across geographies.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(US$/MT).</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(US$/MT)</a:t>
            </a:r>
          </a:p>
        </p:txBody>
      </p:sp>
      <p:graphicFrame>
        <p:nvGraphicFramePr>
          <p:cNvPr id="13" name="Table 12"/>
          <p:cNvGraphicFramePr>
            <a:graphicFrameLocks noGrp="1"/>
          </p:cNvGraphicFramePr>
          <p:nvPr/>
        </p:nvGraphicFramePr>
        <p:xfrm>
          <a:off x="152400" y="1574749"/>
          <a:ext cx="11887200" cy="1504673"/>
        </p:xfrm>
        <a:graphic>
          <a:graphicData uri="http://schemas.openxmlformats.org/drawingml/2006/table">
            <a:tbl>
              <a:tblPr>
                <a:tableStyleId>{5C22544A-7EE6-4342-B048-85BDC9FD1C3A}</a:tableStyleId>
              </a:tblPr>
              <a:tblGrid>
                <a:gridCol w="3622896"/>
                <a:gridCol w="1377384"/>
                <a:gridCol w="1377384"/>
                <a:gridCol w="1377384"/>
                <a:gridCol w="1377384"/>
                <a:gridCol w="1377384"/>
                <a:gridCol w="1377384"/>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322352">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3,495.65</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5,078.83</a:t>
                      </a:r>
                      <a:endParaRPr sz="1100"/>
                    </a:p>
                  </a:txBody>
                  <a:tcPr marL="47625" marR="38100" marT="19050" marB="19050" anchor="ctr">
                    <a:solidFill>
                      <a:srgbClr val="F5F8FA"/>
                    </a:solidFill>
                  </a:tcPr>
                </a:tc>
              </a:tr>
              <a:tr h="322352">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3,248.16</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3,014.94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691165"/>
        </p:xfrm>
        <a:graphic>
          <a:graphicData uri="http://schemas.openxmlformats.org/drawingml/2006/table">
            <a:tbl>
              <a:tblPr>
                <a:tableStyleId>{5C22544A-7EE6-4342-B048-85BDC9FD1C3A}</a:tableStyleId>
              </a:tblPr>
              <a:tblGrid>
                <a:gridCol w="2867491"/>
                <a:gridCol w="1509479"/>
                <a:gridCol w="1509479"/>
              </a:tblGrid>
              <a:tr h="215265">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759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5636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Average product type price is projected to rise from ~3,280.75 to ~3,709.40 US$/MT by 2036 a +1.2%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'Premade Pouches &amp; Bags' shows the strongest forecast price appreciation (+13.8%) over the horizon.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Upward pressure is led by input cost and demand &amp; market conditions; efficiency and competitive intensity work the other way.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 outlook: modest, structural price appreciation mix and geography will determine realised pricing.</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5–10%</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20–40%</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5–25%</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10–35%</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10–20%</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Flexible Plastic Packaging Market value chain runs from raw-material suppliers through manufacturers, distributors and retailers to end users.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'Manufacturers / Processors' captures the largest value addition (20–40%), reflecting processing and scale advantages.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Forward and backward integration is common some suppliers process, and some large end users produce their own input.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Percentages show each stage's indicative share of value added along the chain.</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Plastic Packaging Market Operating Margin by Region &amp; Node</a:t>
            </a:r>
          </a:p>
        </p:txBody>
      </p:sp>
      <p:graphicFrame>
        <p:nvGraphicFramePr>
          <p:cNvPr id="12" name="Table 11"/>
          <p:cNvGraphicFramePr>
            <a:graphicFrameLocks noGrp="1"/>
          </p:cNvGraphicFramePr>
          <p:nvPr/>
        </p:nvGraphicFramePr>
        <p:xfrm>
          <a:off x="152400" y="1238250"/>
          <a:ext cx="11887202" cy="2800353"/>
        </p:xfrm>
        <a:graphic>
          <a:graphicData uri="http://schemas.openxmlformats.org/drawingml/2006/table">
            <a:tbl>
              <a:tblPr>
                <a:tableStyleId>{5C22544A-7EE6-4342-B048-85BDC9FD1C3A}</a:tableStyleId>
              </a:tblPr>
              <a:tblGrid>
                <a:gridCol w="1208402"/>
                <a:gridCol w="2669700"/>
                <a:gridCol w="2669700"/>
                <a:gridCol w="2669700"/>
                <a:gridCol w="266970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Plastic Packaging Market Buyers / End-User Assessment</a:t>
            </a:r>
          </a:p>
        </p:txBody>
      </p:sp>
      <p:graphicFrame>
        <p:nvGraphicFramePr>
          <p:cNvPr id="12" name="Table 11"/>
          <p:cNvGraphicFramePr>
            <a:graphicFrameLocks noGrp="1"/>
          </p:cNvGraphicFramePr>
          <p:nvPr/>
        </p:nvGraphicFramePr>
        <p:xfrm>
          <a:off x="152400" y="1238250"/>
          <a:ext cx="11887200" cy="2371725"/>
        </p:xfrm>
        <a:graphic>
          <a:graphicData uri="http://schemas.openxmlformats.org/drawingml/2006/table">
            <a:tbl>
              <a:tblPr>
                <a:tableStyleId>{5C22544A-7EE6-4342-B048-85BDC9FD1C3A}</a:tableStyleId>
              </a:tblPr>
              <a:tblGrid>
                <a:gridCol w="938673"/>
                <a:gridCol w="1486675"/>
                <a:gridCol w="1065550"/>
                <a:gridCol w="1130339"/>
                <a:gridCol w="1605454"/>
                <a:gridCol w="1397591"/>
                <a:gridCol w="1405647"/>
                <a:gridCol w="1351699"/>
                <a:gridCol w="1505572"/>
              </a:tblGrid>
              <a:tr h="215265">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Avg Price (US$/MT)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6,520,131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6,090,395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5,082,738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4,504,817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3,877,502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3,200,791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Dynamics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country of the East Asia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Country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TextBox 13"/>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51836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China</a:t>
            </a:r>
          </a:p>
        </p:txBody>
      </p:sp>
      <p:sp>
        <p:nvSpPr>
          <p:cNvPr id="19" name="TextBox 18"/>
          <p:cNvSpPr txBox="1"/>
          <p:nvPr/>
        </p:nvSpPr>
        <p:spPr>
          <a:xfrm>
            <a:off x="1724025" y="1545745"/>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(66.7% share), Above-market pace (6.5%), Rollstock Films demand, Accelerating vs history.</a:t>
            </a:r>
          </a:p>
        </p:txBody>
      </p:sp>
      <p:sp>
        <p:nvSpPr>
          <p:cNvPr id="20" name="TextBox 19"/>
          <p:cNvSpPr txBox="1"/>
          <p:nvPr/>
        </p:nvSpPr>
        <p:spPr>
          <a:xfrm>
            <a:off x="5534025" y="1545745"/>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(1.4%).</a:t>
            </a:r>
          </a:p>
        </p:txBody>
      </p:sp>
      <p:sp>
        <p:nvSpPr>
          <p:cNvPr id="21" name="TextBox 20"/>
          <p:cNvSpPr txBox="1"/>
          <p:nvPr/>
        </p:nvSpPr>
        <p:spPr>
          <a:xfrm>
            <a:off x="8391525" y="1545745"/>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(6.7%), 19,845 US$ Mn headroom.</a:t>
            </a:r>
          </a:p>
        </p:txBody>
      </p:sp>
      <p:sp>
        <p:nvSpPr>
          <p:cNvPr id="22" name="Rectangle 21"/>
          <p:cNvSpPr/>
          <p:nvPr/>
        </p:nvSpPr>
        <p:spPr>
          <a:xfrm>
            <a:off x="142875" y="2029468"/>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029468"/>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Japan</a:t>
            </a:r>
          </a:p>
        </p:txBody>
      </p:sp>
      <p:sp>
        <p:nvSpPr>
          <p:cNvPr id="24" name="TextBox 23"/>
          <p:cNvSpPr txBox="1"/>
          <p:nvPr/>
        </p:nvSpPr>
        <p:spPr>
          <a:xfrm>
            <a:off x="1724025" y="205684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(20.6% share), Installed demand (5.5% CAGR), Rollstock Films demand, Accelerating vs history.</a:t>
            </a:r>
          </a:p>
        </p:txBody>
      </p:sp>
      <p:sp>
        <p:nvSpPr>
          <p:cNvPr id="25" name="TextBox 24"/>
          <p:cNvSpPr txBox="1"/>
          <p:nvPr/>
        </p:nvSpPr>
        <p:spPr>
          <a:xfrm>
            <a:off x="5534025" y="205684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88 BPS, Rising realisation (1.2%).</a:t>
            </a:r>
          </a:p>
        </p:txBody>
      </p:sp>
      <p:sp>
        <p:nvSpPr>
          <p:cNvPr id="26" name="TextBox 25"/>
          <p:cNvSpPr txBox="1"/>
          <p:nvPr/>
        </p:nvSpPr>
        <p:spPr>
          <a:xfrm>
            <a:off x="8391525" y="205684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Barrier Casings (5.8%), Mix shift to Rollstock Films, 5,433 US$ Mn headroom.</a:t>
            </a:r>
          </a:p>
        </p:txBody>
      </p:sp>
      <p:sp>
        <p:nvSpPr>
          <p:cNvPr id="27" name="Rectangle 26"/>
          <p:cNvSpPr/>
          <p:nvPr/>
        </p:nvSpPr>
        <p:spPr>
          <a:xfrm>
            <a:off x="142875" y="2540572"/>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54057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South Korea</a:t>
            </a:r>
          </a:p>
        </p:txBody>
      </p:sp>
      <p:sp>
        <p:nvSpPr>
          <p:cNvPr id="29" name="TextBox 28"/>
          <p:cNvSpPr txBox="1"/>
          <p:nvPr/>
        </p:nvSpPr>
        <p:spPr>
          <a:xfrm>
            <a:off x="1724025" y="2567952"/>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(12.7% share), Above-market pace (7.3%), Rollstock Films demand, Accelerating vs history.</a:t>
            </a:r>
          </a:p>
        </p:txBody>
      </p:sp>
      <p:sp>
        <p:nvSpPr>
          <p:cNvPr id="30" name="TextBox 29"/>
          <p:cNvSpPr txBox="1"/>
          <p:nvPr/>
        </p:nvSpPr>
        <p:spPr>
          <a:xfrm>
            <a:off x="5534025" y="2567952"/>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(1.2%).</a:t>
            </a:r>
          </a:p>
        </p:txBody>
      </p:sp>
      <p:sp>
        <p:nvSpPr>
          <p:cNvPr id="31" name="TextBox 30"/>
          <p:cNvSpPr txBox="1"/>
          <p:nvPr/>
        </p:nvSpPr>
        <p:spPr>
          <a:xfrm>
            <a:off x="8391525" y="2567952"/>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(7.6%), 4,111 US$ Mn headroom.</a:t>
            </a:r>
          </a:p>
        </p:txBody>
      </p:sp>
      <p:cxnSp>
        <p:nvCxnSpPr>
          <p:cNvPr id="32" name="Connector 31"/>
          <p:cNvCxnSpPr/>
          <p:nvPr/>
        </p:nvCxnSpPr>
        <p:spPr>
          <a:xfrm>
            <a:off x="142875" y="3051675"/>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00025" y="3069929"/>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34" name="Rounded Rectangle 33"/>
          <p:cNvSpPr/>
          <p:nvPr/>
        </p:nvSpPr>
        <p:spPr>
          <a:xfrm>
            <a:off x="142875" y="3325481"/>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3361988"/>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36" name="Connector 35"/>
          <p:cNvCxnSpPr/>
          <p:nvPr/>
        </p:nvCxnSpPr>
        <p:spPr>
          <a:xfrm>
            <a:off x="276225" y="3599286"/>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276225" y="3654047"/>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China, Japan, South Korea anchor scale with a combined 100.0% of East Asia value in 2036, while 'South Korea' offers the steepest upside at 7.3% CAGR against a market pace of 6.4%. 2 of 3 countries grow at or above that pace, so entry logic has to differ by country scale defence in the leaders, mix and premiumisation in the mid-tier, and availability-led expansion in the fastest movers.</a:t>
            </a:r>
          </a:p>
        </p:txBody>
      </p:sp>
      <p:sp>
        <p:nvSpPr>
          <p:cNvPr id="38" name="TextBox 3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East Asia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421923"/>
            <a:ext cx="2324100" cy="2820196"/>
          </a:xfrm>
          <a:custGeom>
            <a:avLst/>
            <a:gdLst/>
            <a:ahLst/>
            <a:cxnLst/>
            <a:rect l="l" t="t" r="r" b="b"/>
            <a:pathLst>
              <a:path w="244" h="309">
                <a:moveTo>
                  <a:pt x="244" y="4"/>
                </a:moveTo>
                <a:lnTo>
                  <a:pt x="166" y="0"/>
                </a:lnTo>
                <a:lnTo>
                  <a:pt x="90" y="38"/>
                </a:lnTo>
                <a:lnTo>
                  <a:pt x="0" y="105"/>
                </a:lnTo>
                <a:lnTo>
                  <a:pt x="0" y="217"/>
                </a:lnTo>
                <a:lnTo>
                  <a:pt x="119" y="261"/>
                </a:lnTo>
                <a:lnTo>
                  <a:pt x="230" y="189"/>
                </a:lnTo>
                <a:lnTo>
                  <a:pt x="244" y="309"/>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Production Scale-up  11.4%</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Input Cost Pressure  13.0%</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Capacity Add  14.4%</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Supply Concentration  18.2%</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Geographic Spread  18.2%</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Portfolio Breadth  11.6%</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Route Depth  2.3%</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Value Realisation  10.8%</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Supply-side conditions are led by Supply Concentration (10.0/10), Geographic Spread (10.0/10), Capacity Add (7.9/10) on a 0-10 scale scored from the east asia dataset itself.</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Volume expands at 5.0% CAGR (2026–2036) while average realisation moves 1.3% a year the balance of those two sets the cost-pass-through picture.</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 is concentrated: 'China' holds 66.7% of 2036 value across 3 countries.</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4 product type lines and 2 application routes, giving producers focused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Capacity added between 2026 and 2036 is worth 29,390 US$ Mn, a 1.9× expansion on the 2026 base.</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East Asia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394542"/>
            <a:ext cx="1552575" cy="3167017"/>
          </a:xfrm>
          <a:custGeom>
            <a:avLst/>
            <a:gdLst/>
            <a:ahLst/>
            <a:cxnLst/>
            <a:rect l="l" t="t" r="r" b="b"/>
            <a:pathLst>
              <a:path w="163" h="347">
                <a:moveTo>
                  <a:pt x="0" y="5"/>
                </a:moveTo>
                <a:lnTo>
                  <a:pt x="79" y="0"/>
                </a:lnTo>
                <a:lnTo>
                  <a:pt x="24" y="145"/>
                </a:lnTo>
                <a:lnTo>
                  <a:pt x="100" y="141"/>
                </a:lnTo>
                <a:lnTo>
                  <a:pt x="163" y="201"/>
                </a:lnTo>
                <a:lnTo>
                  <a:pt x="106" y="248"/>
                </a:lnTo>
                <a:lnTo>
                  <a:pt x="88" y="347"/>
                </a:lnTo>
                <a:lnTo>
                  <a:pt x="0" y="220"/>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Demand Growth  15.4%</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Premiumisation  17.5%</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App. Breadth  3.0%</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Emerging Pull  9.9%</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Volume Momentum  16.1%</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Category Maturity  13.1%</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Adoption Depth  19.6%</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Consumer Reach  5.4%</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Demand-side conditions are led by Adoption Depth (8.1/10), Premiumisation (7.3/10), Volume Momentum (6.7/10) on a 0-10 scale scored from the east asia dataset itself.</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Value grows at 6.4% against volume at 5.0% a premiumising market through 2036.</a:t>
            </a:r>
          </a:p>
        </p:txBody>
      </p:sp>
      <p:sp>
        <p:nvSpPr>
          <p:cNvPr id="63" name="TextBox 62"/>
          <p:cNvSpPr txBox="1"/>
          <p:nvPr/>
        </p:nvSpPr>
        <p:spPr>
          <a:xfrm>
            <a:off x="180975" y="2157244"/>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'Rollstock Films' carries 53.7% of product type demand while 'Barrier Casings' compounds fastest at 6.6%.</a:t>
            </a:r>
          </a:p>
        </p:txBody>
      </p:sp>
      <p:sp>
        <p:nvSpPr>
          <p:cNvPr id="64" name="TextBox 63"/>
          <p:cNvSpPr txBox="1"/>
          <p:nvPr/>
        </p:nvSpPr>
        <p:spPr>
          <a:xfrm>
            <a:off x="180975" y="2431050"/>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Pull is strongest in 'South Korea' (7.3% CAGR, +96 BPS versus the market), with 2 of 3 countries at or above pace.</a:t>
            </a:r>
          </a:p>
        </p:txBody>
      </p:sp>
      <p:sp>
        <p:nvSpPr>
          <p:cNvPr id="65" name="TextBox 64"/>
          <p:cNvSpPr txBox="1"/>
          <p:nvPr/>
        </p:nvSpPr>
        <p:spPr>
          <a:xfrm>
            <a:off x="180975" y="2887392"/>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Reach runs through 2 application routes, led by 'Food Packaging' at 83.1% and with 'Food Packaging' growing fastest at 6.4%.</a:t>
            </a:r>
          </a:p>
        </p:txBody>
      </p:sp>
      <p:sp>
        <p:nvSpPr>
          <p:cNvPr id="66" name="TextBox 65"/>
          <p:cNvSpPr txBox="1"/>
          <p:nvPr/>
        </p:nvSpPr>
        <p:spPr>
          <a:xfrm>
            <a:off x="180975" y="334373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East Asia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Sachets &amp; Stick Packs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'Sachets &amp; Stick Packs' grows at only 5.8% CAGR against the market's 6.4%, a -59 BPS gap, and 'Sachets &amp; Stick Packs' surrenders 37 BPS of product type share between 2026 and 2036. Because these lines still carry meaningful volume, the drag is absorbed by the whole category: blended growth sits below what the leading lines achieve on their own. Rationalising or repositioning the lagging end of a 4-line portfolio is therefore a precondition for realising the headline forecast.</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Country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'Japan' grows at just 5.5% CAGR -88 BPS against the market and 1 of 3 countries sit below the market pace altogether. Demand is therefore not uniformly available: suppliers carrying a broad geographic footprint fund presence in slow countries out of returns earned in the fast ones. With 'China' at 66.7% of value, a shortfall in a single leading country is difficult to offset elsewhere in the forecast window.</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is concentrated: 'China' accounts for 66.7% of 2036 value and the leading product type line for 53.7% of its segment. Average realisation moves 1.3% a year, so cost movements cannot be passed on evenly across 3 countries. The practical constraint is the same in either case commercial terms set for the market as a whole underserve part of it, and margin is lost in the mismatch rather than in the headline growth rate.</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East Asia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China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'China' adds 19,845 US$ Mn between 2026 and 2036 the single largest absolute increment of any geography in the dataset. Capturing it is a question of scale execution rather than market creation: demand already exists and grows at 6.4% at the market level. Prioritising supply, channel coverage and service levels there converts the largest share of the 29,390 US$ Mn the whole market adds over the forecast period.</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South Korea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'South Korea' compounds at 7.3% CAGR from a below-median base one of 1 geographies in the dataset combining above-median growth with below-median size. That profile is where share is cheapest to buy: competitive intensity is lower than in the 66.7%-share leaders, while growth runs +96 BPS ahead of the market. Early distribution and reference accounts established here compound through 2036.</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Food Packaging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'Food Packaging' grows at 6.4% CAGR, the fastest of 2 application routes, and adds 24,461 US$ Mn over the forecast period while 'Food Packaging' still carries 83.1% of demand today. Pairing the incumbent route for volume with the fastest route for growth and leading with 'Barrier Casings' at 6.6% is the highest-yield combination the dataset supports.</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East Asia Flexible Plastic Packaging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East Asia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64157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Strongest historical expansion on record: East Asia value rose +4.6% year on year to 32,643 US$ Mn, the steepest single-year move of the 2021–2025 period. Demand for 'Rollstock Films' 53.7% of product type value by 2036 set the pace, and the 2 application routes tracked here all carried volume through the year.</a:t>
            </a:r>
          </a:p>
        </p:txBody>
      </p:sp>
      <p:sp>
        <p:nvSpPr>
          <p:cNvPr id="18" name="Rectangle 17"/>
          <p:cNvSpPr/>
          <p:nvPr/>
        </p:nvSpPr>
        <p:spPr>
          <a:xfrm>
            <a:off x="142875" y="2367162"/>
            <a:ext cx="11906250" cy="1049588"/>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367162"/>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367162"/>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2691164"/>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Base year for the forecast: the east asia market is estimated at 34,334 US$ Mn, having compounded at 4.3% across 2021–2025. 'China' holds 66.7% of value across 3 countries, and the forecast is built from 6 segment breakdowns covering 4 product type lines.</a:t>
            </a:r>
          </a:p>
        </p:txBody>
      </p:sp>
      <p:sp>
        <p:nvSpPr>
          <p:cNvPr id="22" name="Rectangle 21"/>
          <p:cNvSpPr/>
          <p:nvPr/>
        </p:nvSpPr>
        <p:spPr>
          <a:xfrm>
            <a:off x="142875" y="3416749"/>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3416749"/>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2033</a:t>
            </a:r>
          </a:p>
        </p:txBody>
      </p:sp>
      <p:cxnSp>
        <p:nvCxnSpPr>
          <p:cNvPr id="24" name="Connector 23"/>
          <p:cNvCxnSpPr/>
          <p:nvPr/>
        </p:nvCxnSpPr>
        <p:spPr>
          <a:xfrm>
            <a:off x="1571625" y="3416749"/>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3740753"/>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passes 51,501 US$ Mn one and a half times the 2026 base reaching 52,390 US$ Mn. Growth by this point is led by 'Barrier Casings' at 6.6% CAGR and by 'South Korea' among countries at 7.3%, with 2 of 3 countries running at or above the market rate.</a:t>
            </a:r>
          </a:p>
        </p:txBody>
      </p:sp>
      <p:sp>
        <p:nvSpPr>
          <p:cNvPr id="26" name="Rectangle 25"/>
          <p:cNvSpPr/>
          <p:nvPr/>
        </p:nvSpPr>
        <p:spPr>
          <a:xfrm>
            <a:off x="142875" y="4466337"/>
            <a:ext cx="11906250" cy="1049588"/>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4466337"/>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8" name="Connector 27"/>
          <p:cNvCxnSpPr/>
          <p:nvPr/>
        </p:nvCxnSpPr>
        <p:spPr>
          <a:xfrm>
            <a:off x="1571625" y="4466337"/>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4790339"/>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Mid-horizon checkpoint: value reaches 45,971 US$ Mn, 1.34× the 2026 base. Average realisation stands at 2978.11 US$/MT, and mix has moved +50 BPS toward 'Premade Pouches &amp; Bags' while 'Sachets &amp; Stick Packs' gives up 37 BPS.</a:t>
            </a:r>
          </a:p>
        </p:txBody>
      </p:sp>
      <p:sp>
        <p:nvSpPr>
          <p:cNvPr id="30" name="Rectangle 29"/>
          <p:cNvSpPr/>
          <p:nvPr/>
        </p:nvSpPr>
        <p:spPr>
          <a:xfrm>
            <a:off x="142875" y="5515924"/>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142875" y="5515924"/>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32" name="Connector 31"/>
          <p:cNvCxnSpPr/>
          <p:nvPr/>
        </p:nvCxnSpPr>
        <p:spPr>
          <a:xfrm>
            <a:off x="1571625" y="5515924"/>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0" y="583992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Forecast outcome: the east asia market reaches 63,723 US$ Mn, a 1.9× expansion on 2026 and 29,390 US$ Mn of incremental value at 6.4% CAGR. Volume compounds at 5.0% over the same window, leaving realisation 1.3% a year the gap between the two is the premiumisation the forecast assumes.</a:t>
            </a:r>
          </a:p>
        </p:txBody>
      </p:sp>
      <p:sp>
        <p:nvSpPr>
          <p:cNvPr id="34" name="TextBox 3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East Asia Flexible Plastic Packaging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East Asia</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Supplier power, buyer power, competitive intensity, substitution and entry barriers scored from the east asia dataset 4 product type lines, 2 application routes and 3 countries at 6.4% CAGR.</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high. 'China' supplies 66.7% of 2036 value across 3 countries, concentrating upstream leverage.</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Average realisation moves 1.3% a year (2026–2036), indicating input costs are being passed through.</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4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Demand routes through 2 application channels led by 'Food Packaging' at 83.1%, giving large buyers scale.</a:t>
            </a:r>
          </a:p>
        </p:txBody>
      </p:sp>
      <p:sp>
        <p:nvSpPr>
          <p:cNvPr id="25" name="TextBox 24"/>
          <p:cNvSpPr txBox="1"/>
          <p:nvPr/>
        </p:nvSpPr>
        <p:spPr>
          <a:xfrm>
            <a:off x="262890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Price sensitivity tracks realisation moving 1.3% a year against volume growth of 5.0%.</a:t>
            </a:r>
          </a:p>
        </p:txBody>
      </p:sp>
      <p:sp>
        <p:nvSpPr>
          <p:cNvPr id="26" name="TextBox 25"/>
          <p:cNvSpPr txBox="1"/>
          <p:nvPr/>
        </p:nvSpPr>
        <p:spPr>
          <a:xfrm>
            <a:off x="26289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4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4 product type lines compete inside the segment; the leader holds 53.7%.</a:t>
            </a:r>
          </a:p>
        </p:txBody>
      </p:sp>
      <p:sp>
        <p:nvSpPr>
          <p:cNvPr id="36" name="TextBox 35"/>
          <p:cNvSpPr txBox="1"/>
          <p:nvPr/>
        </p:nvSpPr>
        <p:spPr>
          <a:xfrm>
            <a:off x="5010150" y="3480637"/>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Growth is unevenly distributed 'Barrier Casings' at 6.6% against 'Sachets &amp; Stick Packs' at 5.8%.</a:t>
            </a:r>
          </a:p>
        </p:txBody>
      </p:sp>
      <p:sp>
        <p:nvSpPr>
          <p:cNvPr id="37" name="TextBox 36"/>
          <p:cNvSpPr txBox="1"/>
          <p:nvPr/>
        </p:nvSpPr>
        <p:spPr>
          <a:xfrm>
            <a:off x="5010150" y="4165151"/>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2 of 3 countries grow at or above the 6.4% market pace, keeping share contested.</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'Sachets &amp; Stick Packs' loses 37 BPS of share to 'Premade Pouches &amp; Bags' (+50 BPS) by 2036 substitution is visible inside the mix.</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The slowest line grows at 5.8%, -59 BPS against the market.</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Realisation moving 1.3% a year widens the price gap substitutes must close.</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to high. The market grows at 6.4% CAGR and adds 29,390 US$ Mn by 2036, attracting entry.</a:t>
            </a:r>
          </a:p>
        </p:txBody>
      </p:sp>
      <p:sp>
        <p:nvSpPr>
          <p:cNvPr id="55" name="TextBox 54"/>
          <p:cNvSpPr txBox="1"/>
          <p:nvPr/>
        </p:nvSpPr>
        <p:spPr>
          <a:xfrm>
            <a:off x="9772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 spreads over 3 countries with no single one above 66.7%, so regional entry is feasible.</a:t>
            </a:r>
          </a:p>
        </p:txBody>
      </p:sp>
      <p:sp>
        <p:nvSpPr>
          <p:cNvPr id="56" name="TextBox 55"/>
          <p:cNvSpPr txBox="1"/>
          <p:nvPr/>
        </p:nvSpPr>
        <p:spPr>
          <a:xfrm>
            <a:off x="9772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Incumbent scale in 'China' and 'Rollstock Films' (53.7% of segment) remains the principal barrier.</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1">
                          <a:solidFill>
                            <a:srgbClr val="000000"/>
                          </a:solidFill>
                          <a:latin typeface="Calibri"/>
                        </a:rPr>
                        <a:t>1.1.1.1.</a:t>
                      </a:r>
                      <a:r>
                        <a:rPr sz="700" b="0" i="1">
                          <a:solidFill>
                            <a:srgbClr val="000000"/>
                          </a:solidFill>
                          <a:latin typeface="Times New Roman"/>
                        </a:rPr>
                        <a:t>    </a:t>
                      </a:r>
                      <a:r>
                        <a:rPr sz="1100" b="0" i="1">
                          <a:solidFill>
                            <a:srgbClr val="000000"/>
                          </a:solidFill>
                          <a:latin typeface="Calibri"/>
                        </a:rPr>
                        <a:t>Key Supply Trends</a:t>
                      </a:r>
                      <a:endParaRPr sz="1100"/>
                    </a:p>
                  </a:txBody>
                  <a:tcPr marL="10287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0" i="1">
                          <a:solidFill>
                            <a:srgbClr val="000000"/>
                          </a:solidFill>
                          <a:latin typeface="Calibri"/>
                        </a:rPr>
                        <a:t>2.2.1.1.</a:t>
                      </a:r>
                      <a:r>
                        <a:rPr sz="700" b="0" i="1">
                          <a:solidFill>
                            <a:srgbClr val="000000"/>
                          </a:solidFill>
                          <a:latin typeface="Times New Roman"/>
                        </a:rPr>
                        <a:t>    </a:t>
                      </a:r>
                      <a:r>
                        <a:rPr sz="1100" b="0" i="1">
                          <a:solidFill>
                            <a:srgbClr val="000000"/>
                          </a:solidFill>
                          <a:latin typeface="Calibri"/>
                        </a:rPr>
                        <a:t>Global Market Size (Value &amp; Volume) 2021–2036</a:t>
                      </a:r>
                      <a:endParaRPr sz="1100"/>
                    </a:p>
                  </a:txBody>
                  <a:tcPr marL="1028700"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2.5.</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2.6.</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Flat Polybags</a:t>
                      </a:r>
                      <a:endParaRPr sz="1100"/>
                    </a:p>
                  </a:txBody>
                  <a:tcPr marL="771525" marR="9525" marT="9525" marB="0" anchor="ctr"/>
                </a:tc>
              </a:tr>
              <a:tr h="175260">
                <a:tc>
                  <a:txBody>
                    <a:bodyPr wrap="square"/>
                    <a:lstStyle/>
                    <a:p>
                      <a:pPr algn="l"/>
                      <a:r>
                        <a:rPr sz="1100" b="0" i="1">
                          <a:solidFill>
                            <a:srgbClr val="000000"/>
                          </a:solidFill>
                          <a:latin typeface="Calibri"/>
                        </a:rPr>
                        <a:t>3.5.1.1.</a:t>
                      </a:r>
                      <a:r>
                        <a:rPr sz="700" b="0" i="1">
                          <a:solidFill>
                            <a:srgbClr val="000000"/>
                          </a:solidFill>
                          <a:latin typeface="Times New Roman"/>
                        </a:rPr>
                        <a:t>    </a:t>
                      </a:r>
                      <a:r>
                        <a:rPr sz="1100" b="0" i="1">
                          <a:solidFill>
                            <a:srgbClr val="000000"/>
                          </a:solidFill>
                          <a:latin typeface="Calibri"/>
                        </a:rPr>
                        <a:t>Standard Flat Bags</a:t>
                      </a:r>
                      <a:endParaRPr sz="1100"/>
                    </a:p>
                  </a:txBody>
                  <a:tcPr marL="1028700" marR="9525" marT="9525" marB="0" anchor="ctr"/>
                </a:tc>
              </a:tr>
              <a:tr h="175260">
                <a:tc>
                  <a:txBody>
                    <a:bodyPr wrap="square"/>
                    <a:lstStyle/>
                    <a:p>
                      <a:pPr algn="l"/>
                      <a:r>
                        <a:rPr sz="1100" b="0" i="1">
                          <a:solidFill>
                            <a:srgbClr val="000000"/>
                          </a:solidFill>
                          <a:latin typeface="Calibri"/>
                        </a:rPr>
                        <a:t>3.5.1.2.</a:t>
                      </a:r>
                      <a:r>
                        <a:rPr sz="700" b="0" i="1">
                          <a:solidFill>
                            <a:srgbClr val="000000"/>
                          </a:solidFill>
                          <a:latin typeface="Times New Roman"/>
                        </a:rPr>
                        <a:t>    </a:t>
                      </a:r>
                      <a:r>
                        <a:rPr sz="1100" b="0" i="1">
                          <a:solidFill>
                            <a:srgbClr val="000000"/>
                          </a:solidFill>
                          <a:latin typeface="Calibri"/>
                        </a:rPr>
                        <a:t>Lay Flat Tubing</a:t>
                      </a:r>
                      <a:endParaRPr sz="1100"/>
                    </a:p>
                  </a:txBody>
                  <a:tcPr marL="1028700" marR="9525" marT="9525" marB="0" anchor="ctr"/>
                </a:tc>
              </a:tr>
              <a:tr h="175260">
                <a:tc>
                  <a:txBody>
                    <a:bodyPr wrap="square"/>
                    <a:lstStyle/>
                    <a:p>
                      <a:pPr algn="l"/>
                      <a:r>
                        <a:rPr sz="1100" b="0" i="1">
                          <a:solidFill>
                            <a:srgbClr val="000000"/>
                          </a:solidFill>
                          <a:latin typeface="Calibri"/>
                        </a:rPr>
                        <a:t>3.5.1.3.</a:t>
                      </a:r>
                      <a:r>
                        <a:rPr sz="700" b="0" i="1">
                          <a:solidFill>
                            <a:srgbClr val="000000"/>
                          </a:solidFill>
                          <a:latin typeface="Times New Roman"/>
                        </a:rPr>
                        <a:t>    </a:t>
                      </a:r>
                      <a:r>
                        <a:rPr sz="1100" b="0" i="1">
                          <a:solidFill>
                            <a:srgbClr val="000000"/>
                          </a:solidFill>
                          <a:latin typeface="Calibri"/>
                        </a:rPr>
                        <a:t>Flat Poly Sleeves</a:t>
                      </a:r>
                      <a:endParaRPr sz="1100"/>
                    </a:p>
                  </a:txBody>
                  <a:tcPr marL="1028700"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Gusseted Polybags</a:t>
                      </a:r>
                      <a:endParaRPr sz="1100"/>
                    </a:p>
                  </a:txBody>
                  <a:tcPr marL="771525" marR="9525" marT="9525" marB="0" anchor="ctr"/>
                </a:tc>
              </a:tr>
              <a:tr h="175260">
                <a:tc>
                  <a:txBody>
                    <a:bodyPr wrap="square"/>
                    <a:lstStyle/>
                    <a:p>
                      <a:pPr algn="l"/>
                      <a:r>
                        <a:rPr sz="1100" b="0" i="1">
                          <a:solidFill>
                            <a:srgbClr val="000000"/>
                          </a:solidFill>
                          <a:latin typeface="Calibri"/>
                        </a:rPr>
                        <a:t>3.5.2.1.</a:t>
                      </a:r>
                      <a:r>
                        <a:rPr sz="700" b="0" i="1">
                          <a:solidFill>
                            <a:srgbClr val="000000"/>
                          </a:solidFill>
                          <a:latin typeface="Times New Roman"/>
                        </a:rPr>
                        <a:t>    </a:t>
                      </a:r>
                      <a:r>
                        <a:rPr sz="1100" b="0" i="1">
                          <a:solidFill>
                            <a:srgbClr val="000000"/>
                          </a:solidFill>
                          <a:latin typeface="Calibri"/>
                        </a:rPr>
                        <a:t>Side Gusset Bags</a:t>
                      </a:r>
                      <a:endParaRPr sz="1100"/>
                    </a:p>
                  </a:txBody>
                  <a:tcPr marL="1028700" marR="9525" marT="9525" marB="0" anchor="ctr"/>
                </a:tc>
              </a:tr>
              <a:tr h="175260">
                <a:tc>
                  <a:txBody>
                    <a:bodyPr wrap="square"/>
                    <a:lstStyle/>
                    <a:p>
                      <a:pPr algn="l"/>
                      <a:r>
                        <a:rPr sz="1100" b="0" i="1">
                          <a:solidFill>
                            <a:srgbClr val="000000"/>
                          </a:solidFill>
                          <a:latin typeface="Calibri"/>
                        </a:rPr>
                        <a:t>3.5.2.2.</a:t>
                      </a:r>
                      <a:r>
                        <a:rPr sz="700" b="0" i="1">
                          <a:solidFill>
                            <a:srgbClr val="000000"/>
                          </a:solidFill>
                          <a:latin typeface="Times New Roman"/>
                        </a:rPr>
                        <a:t>    </a:t>
                      </a:r>
                      <a:r>
                        <a:rPr sz="1100" b="0" i="1">
                          <a:solidFill>
                            <a:srgbClr val="000000"/>
                          </a:solidFill>
                          <a:latin typeface="Calibri"/>
                        </a:rPr>
                        <a:t>Bottom Gusset Bags</a:t>
                      </a:r>
                      <a:endParaRPr sz="1100"/>
                    </a:p>
                  </a:txBody>
                  <a:tcPr marL="1028700" marR="9525" marT="9525" marB="0" anchor="ctr"/>
                </a:tc>
              </a:tr>
              <a:tr h="175260">
                <a:tc>
                  <a:txBody>
                    <a:bodyPr wrap="square"/>
                    <a:lstStyle/>
                    <a:p>
                      <a:pPr algn="l"/>
                      <a:r>
                        <a:rPr sz="1100" b="0" i="1">
                          <a:solidFill>
                            <a:srgbClr val="000000"/>
                          </a:solidFill>
                          <a:latin typeface="Calibri"/>
                        </a:rPr>
                        <a:t>3.5.2.3.</a:t>
                      </a:r>
                      <a:r>
                        <a:rPr sz="700" b="0" i="1">
                          <a:solidFill>
                            <a:srgbClr val="000000"/>
                          </a:solidFill>
                          <a:latin typeface="Times New Roman"/>
                        </a:rPr>
                        <a:t>    </a:t>
                      </a:r>
                      <a:r>
                        <a:rPr sz="1100" b="0" i="1">
                          <a:solidFill>
                            <a:srgbClr val="000000"/>
                          </a:solidFill>
                          <a:latin typeface="Calibri"/>
                        </a:rPr>
                        <a:t>Quad Seal Bags</a:t>
                      </a:r>
                      <a:endParaRPr sz="1100"/>
                    </a:p>
                  </a:txBody>
                  <a:tcPr marL="1028700" marR="9525" marT="9525" marB="0" anchor="ctr"/>
                </a:tc>
              </a:tr>
              <a:tr h="175260">
                <a:tc>
                  <a:txBody>
                    <a:bodyPr wrap="square"/>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Resealable Polybags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3.5.3.1.</a:t>
                      </a:r>
                      <a:r>
                        <a:rPr sz="700" b="0" i="1">
                          <a:solidFill>
                            <a:srgbClr val="000000"/>
                          </a:solidFill>
                          <a:latin typeface="Times New Roman"/>
                        </a:rPr>
                        <a:t>    </a:t>
                      </a:r>
                      <a:r>
                        <a:rPr sz="1100" b="0" i="1">
                          <a:solidFill>
                            <a:srgbClr val="000000"/>
                          </a:solidFill>
                          <a:latin typeface="Calibri"/>
                        </a:rPr>
                        <a:t>Zip Lock Bags</a:t>
                      </a:r>
                      <a:endParaRPr sz="1100"/>
                    </a:p>
                  </a:txBody>
                  <a:tcPr marL="1028700" marR="9525" marT="9525" marB="0" anchor="ctr"/>
                </a:tc>
              </a:tr>
              <a:tr h="175260">
                <a:tc>
                  <a:txBody>
                    <a:bodyPr wrap="square"/>
                    <a:lstStyle/>
                    <a:p>
                      <a:pPr algn="l"/>
                      <a:r>
                        <a:rPr sz="1100" b="0" i="1">
                          <a:solidFill>
                            <a:srgbClr val="000000"/>
                          </a:solidFill>
                          <a:latin typeface="Calibri"/>
                        </a:rPr>
                        <a:t>3.5.3.2.</a:t>
                      </a:r>
                      <a:r>
                        <a:rPr sz="700" b="0" i="1">
                          <a:solidFill>
                            <a:srgbClr val="000000"/>
                          </a:solidFill>
                          <a:latin typeface="Times New Roman"/>
                        </a:rPr>
                        <a:t>    </a:t>
                      </a:r>
                      <a:r>
                        <a:rPr sz="1100" b="0" i="1">
                          <a:solidFill>
                            <a:srgbClr val="000000"/>
                          </a:solidFill>
                          <a:latin typeface="Calibri"/>
                        </a:rPr>
                        <a:t>Slider Zip Bags</a:t>
                      </a:r>
                      <a:endParaRPr sz="1100"/>
                    </a:p>
                  </a:txBody>
                  <a:tcPr marL="1028700" marR="9525" marT="9525" marB="0" anchor="ctr"/>
                </a:tc>
              </a:tr>
              <a:tr h="175260">
                <a:tc>
                  <a:txBody>
                    <a:bodyPr wrap="square"/>
                    <a:lstStyle/>
                    <a:p>
                      <a:pPr algn="l"/>
                      <a:r>
                        <a:rPr sz="1100" b="0" i="1">
                          <a:solidFill>
                            <a:srgbClr val="000000"/>
                          </a:solidFill>
                          <a:latin typeface="Calibri"/>
                        </a:rPr>
                        <a:t>3.5.3.3.</a:t>
                      </a:r>
                      <a:r>
                        <a:rPr sz="700" b="0" i="1">
                          <a:solidFill>
                            <a:srgbClr val="000000"/>
                          </a:solidFill>
                          <a:latin typeface="Times New Roman"/>
                        </a:rPr>
                        <a:t>    </a:t>
                      </a:r>
                      <a:r>
                        <a:rPr sz="1100" b="0" i="1">
                          <a:solidFill>
                            <a:srgbClr val="000000"/>
                          </a:solidFill>
                          <a:latin typeface="Calibri"/>
                        </a:rPr>
                        <a:t>Press-to-Close Bags</a:t>
                      </a:r>
                      <a:endParaRPr sz="1100"/>
                    </a:p>
                  </a:txBody>
                  <a:tcPr marL="1028700" marR="9525" marT="9525" marB="0" anchor="ctr"/>
                </a:tc>
              </a:tr>
              <a:tr h="175260">
                <a:tc>
                  <a:txBody>
                    <a:bodyPr wrap="square"/>
                    <a:lstStyle/>
                    <a:p>
                      <a:pPr algn="l"/>
                      <a:r>
                        <a:rPr sz="1100" b="0" i="1">
                          <a:solidFill>
                            <a:srgbClr val="000000"/>
                          </a:solidFill>
                          <a:latin typeface="Calibri"/>
                        </a:rPr>
                        <a:t>3.5.3.4.</a:t>
                      </a:r>
                      <a:r>
                        <a:rPr sz="700" b="0" i="1">
                          <a:solidFill>
                            <a:srgbClr val="000000"/>
                          </a:solidFill>
                          <a:latin typeface="Times New Roman"/>
                        </a:rPr>
                        <a:t>    </a:t>
                      </a:r>
                      <a:r>
                        <a:rPr sz="1100" b="0" i="1">
                          <a:solidFill>
                            <a:srgbClr val="000000"/>
                          </a:solidFill>
                          <a:latin typeface="Calibri"/>
                        </a:rPr>
                        <a:t>Double Zip Bags</a:t>
                      </a:r>
                      <a:endParaRPr sz="1100"/>
                    </a:p>
                  </a:txBody>
                  <a:tcPr marL="1028700" marR="9525" marT="9525" marB="0" anchor="ctr"/>
                </a:tc>
              </a:tr>
              <a:tr h="175260">
                <a:tc>
                  <a:txBody>
                    <a:bodyPr wrap="square"/>
                    <a:lstStyle/>
                    <a:p>
                      <a:pPr algn="l"/>
                      <a:r>
                        <a:rPr sz="1100" b="0" i="0">
                          <a:solidFill>
                            <a:srgbClr val="000000"/>
                          </a:solidFill>
                          <a:latin typeface="Calibri"/>
                        </a:rPr>
                        <a:t>3.5.4.</a:t>
                      </a:r>
                      <a:r>
                        <a:rPr sz="700" b="0" i="0">
                          <a:solidFill>
                            <a:srgbClr val="000000"/>
                          </a:solidFill>
                          <a:latin typeface="Times New Roman"/>
                        </a:rPr>
                        <a:t>   </a:t>
                      </a:r>
                      <a:r>
                        <a:rPr sz="1100" b="0" i="0">
                          <a:solidFill>
                            <a:srgbClr val="000000"/>
                          </a:solidFill>
                          <a:latin typeface="Calibri"/>
                        </a:rPr>
                        <a:t>Industrial Polybags</a:t>
                      </a:r>
                      <a:endParaRPr sz="1100"/>
                    </a:p>
                  </a:txBody>
                  <a:tcPr marL="771525" marR="9525" marT="9525" marB="0" anchor="ctr"/>
                </a:tc>
              </a:tr>
              <a:tr h="175260">
                <a:tc>
                  <a:txBody>
                    <a:bodyPr wrap="square"/>
                    <a:lstStyle/>
                    <a:p>
                      <a:pPr algn="l"/>
                      <a:r>
                        <a:rPr sz="1100" b="0" i="1">
                          <a:solidFill>
                            <a:srgbClr val="000000"/>
                          </a:solidFill>
                          <a:latin typeface="Calibri"/>
                        </a:rPr>
                        <a:t>3.5.4.1.</a:t>
                      </a:r>
                      <a:r>
                        <a:rPr sz="700" b="0" i="1">
                          <a:solidFill>
                            <a:srgbClr val="000000"/>
                          </a:solidFill>
                          <a:latin typeface="Times New Roman"/>
                        </a:rPr>
                        <a:t>    </a:t>
                      </a:r>
                      <a:r>
                        <a:rPr sz="1100" b="0" i="1">
                          <a:solidFill>
                            <a:srgbClr val="000000"/>
                          </a:solidFill>
                          <a:latin typeface="Calibri"/>
                        </a:rPr>
                        <a:t>Heavy-Duty Bags</a:t>
                      </a:r>
                      <a:endParaRPr sz="1100"/>
                    </a:p>
                  </a:txBody>
                  <a:tcPr marL="1028700" marR="9525" marT="9525" marB="0" anchor="ctr"/>
                </a:tc>
              </a:tr>
              <a:tr h="175260">
                <a:tc>
                  <a:txBody>
                    <a:bodyPr wrap="square"/>
                    <a:lstStyle/>
                    <a:p>
                      <a:pPr algn="l"/>
                      <a:r>
                        <a:rPr sz="1100" b="0" i="1">
                          <a:solidFill>
                            <a:srgbClr val="000000"/>
                          </a:solidFill>
                          <a:latin typeface="Calibri"/>
                        </a:rPr>
                        <a:t>3.5.4.2.</a:t>
                      </a:r>
                      <a:r>
                        <a:rPr sz="700" b="0" i="1">
                          <a:solidFill>
                            <a:srgbClr val="000000"/>
                          </a:solidFill>
                          <a:latin typeface="Times New Roman"/>
                        </a:rPr>
                        <a:t>    </a:t>
                      </a:r>
                      <a:r>
                        <a:rPr sz="1100" b="0" i="1">
                          <a:solidFill>
                            <a:srgbClr val="000000"/>
                          </a:solidFill>
                          <a:latin typeface="Calibri"/>
                        </a:rPr>
                        <a:t>FIBC Liners</a:t>
                      </a:r>
                      <a:endParaRPr sz="1100"/>
                    </a:p>
                  </a:txBody>
                  <a:tcPr marL="1028700" marR="9525" marT="9525" marB="0" anchor="ctr"/>
                </a:tc>
              </a:tr>
              <a:tr h="175260">
                <a:tc>
                  <a:txBody>
                    <a:bodyPr wrap="square"/>
                    <a:lstStyle/>
                    <a:p>
                      <a:pPr algn="l"/>
                      <a:r>
                        <a:rPr sz="1100" b="0" i="1">
                          <a:solidFill>
                            <a:srgbClr val="000000"/>
                          </a:solidFill>
                          <a:latin typeface="Calibri"/>
                        </a:rPr>
                        <a:t>3.5.4.3.</a:t>
                      </a:r>
                      <a:r>
                        <a:rPr sz="700" b="0" i="1">
                          <a:solidFill>
                            <a:srgbClr val="000000"/>
                          </a:solidFill>
                          <a:latin typeface="Times New Roman"/>
                        </a:rPr>
                        <a:t>    </a:t>
                      </a:r>
                      <a:r>
                        <a:rPr sz="1100" b="0" i="1">
                          <a:solidFill>
                            <a:srgbClr val="000000"/>
                          </a:solidFill>
                          <a:latin typeface="Calibri"/>
                        </a:rPr>
                        <a:t>Machinery Parts Bags</a:t>
                      </a:r>
                      <a:endParaRPr sz="1100"/>
                    </a:p>
                  </a:txBody>
                  <a:tcPr marL="1028700" marR="9525" marT="9525" marB="0" anchor="ctr"/>
                </a:tc>
              </a:tr>
              <a:tr h="175260">
                <a:tc>
                  <a:txBody>
                    <a:bodyPr wrap="square"/>
                    <a:lstStyle/>
                    <a:p>
                      <a:pPr algn="l"/>
                      <a:r>
                        <a:rPr sz="1100" b="0" i="1">
                          <a:solidFill>
                            <a:srgbClr val="000000"/>
                          </a:solidFill>
                          <a:latin typeface="Calibri"/>
                        </a:rPr>
                        <a:t>3.5.4.4.</a:t>
                      </a:r>
                      <a:r>
                        <a:rPr sz="700" b="0" i="1">
                          <a:solidFill>
                            <a:srgbClr val="000000"/>
                          </a:solidFill>
                          <a:latin typeface="Times New Roman"/>
                        </a:rPr>
                        <a:t>    </a:t>
                      </a:r>
                      <a:r>
                        <a:rPr sz="1100" b="0" i="1">
                          <a:solidFill>
                            <a:srgbClr val="000000"/>
                          </a:solidFill>
                          <a:latin typeface="Calibri"/>
                        </a:rPr>
                        <a:t>Chemical Packaging Bags</a:t>
                      </a:r>
                      <a:endParaRPr sz="1100"/>
                    </a:p>
                  </a:txBody>
                  <a:tcPr marL="1028700" marR="9525" marT="9525" marB="0" anchor="ctr"/>
                </a:tc>
              </a:tr>
              <a:tr h="175260">
                <a:tc>
                  <a:txBody>
                    <a:bodyPr wrap="square"/>
                    <a:lstStyle/>
                    <a:p>
                      <a:pPr algn="l"/>
                      <a:r>
                        <a:rPr sz="1100" b="0" i="0">
                          <a:solidFill>
                            <a:srgbClr val="000000"/>
                          </a:solidFill>
                          <a:latin typeface="Calibri"/>
                        </a:rPr>
                        <a:t>3.5.5.</a:t>
                      </a:r>
                      <a:r>
                        <a:rPr sz="700" b="0" i="0">
                          <a:solidFill>
                            <a:srgbClr val="000000"/>
                          </a:solidFill>
                          <a:latin typeface="Times New Roman"/>
                        </a:rPr>
                        <a:t>   </a:t>
                      </a:r>
                      <a:r>
                        <a:rPr sz="1100" b="0" i="0">
                          <a:solidFill>
                            <a:srgbClr val="000000"/>
                          </a:solidFill>
                          <a:latin typeface="Calibri"/>
                        </a:rPr>
                        <a:t>Protective Polybags</a:t>
                      </a:r>
                      <a:endParaRPr sz="1100"/>
                    </a:p>
                  </a:txBody>
                  <a:tcPr marL="771525" marR="9525" marT="9525" marB="0" anchor="ctr"/>
                </a:tc>
              </a:tr>
              <a:tr h="175260">
                <a:tc>
                  <a:txBody>
                    <a:bodyPr wrap="square"/>
                    <a:lstStyle/>
                    <a:p>
                      <a:pPr algn="l"/>
                      <a:r>
                        <a:rPr sz="1100" b="0" i="1">
                          <a:solidFill>
                            <a:srgbClr val="000000"/>
                          </a:solidFill>
                          <a:latin typeface="Calibri"/>
                        </a:rPr>
                        <a:t>3.5.5.1.</a:t>
                      </a:r>
                      <a:r>
                        <a:rPr sz="700" b="0" i="1">
                          <a:solidFill>
                            <a:srgbClr val="000000"/>
                          </a:solidFill>
                          <a:latin typeface="Times New Roman"/>
                        </a:rPr>
                        <a:t>    </a:t>
                      </a:r>
                      <a:r>
                        <a:rPr sz="1100" b="0" i="1">
                          <a:solidFill>
                            <a:srgbClr val="000000"/>
                          </a:solidFill>
                          <a:latin typeface="Calibri"/>
                        </a:rPr>
                        <a:t>Bubble Poly Mailers</a:t>
                      </a:r>
                      <a:endParaRPr sz="1100"/>
                    </a:p>
                  </a:txBody>
                  <a:tcPr marL="1028700" marR="9525" marT="9525" marB="0" anchor="ctr"/>
                </a:tc>
              </a:tr>
              <a:tr h="175260">
                <a:tc>
                  <a:txBody>
                    <a:bodyPr wrap="square"/>
                    <a:lstStyle/>
                    <a:p>
                      <a:pPr algn="l"/>
                      <a:r>
                        <a:rPr sz="1100" b="0" i="1">
                          <a:solidFill>
                            <a:srgbClr val="000000"/>
                          </a:solidFill>
                          <a:latin typeface="Calibri"/>
                        </a:rPr>
                        <a:t>3.5.5.2.</a:t>
                      </a:r>
                      <a:r>
                        <a:rPr sz="700" b="0" i="1">
                          <a:solidFill>
                            <a:srgbClr val="000000"/>
                          </a:solidFill>
                          <a:latin typeface="Times New Roman"/>
                        </a:rPr>
                        <a:t>    </a:t>
                      </a:r>
                      <a:r>
                        <a:rPr sz="1100" b="0" i="1">
                          <a:solidFill>
                            <a:srgbClr val="000000"/>
                          </a:solidFill>
                          <a:latin typeface="Calibri"/>
                        </a:rPr>
                        <a:t>Anti-Static (ESD) Bags</a:t>
                      </a:r>
                      <a:endParaRPr sz="1100"/>
                    </a:p>
                  </a:txBody>
                  <a:tcPr marL="1028700" marR="9525" marT="9525" marB="0" anchor="ctr"/>
                </a:tc>
              </a:tr>
              <a:tr h="175260">
                <a:tc>
                  <a:txBody>
                    <a:bodyPr wrap="square"/>
                    <a:lstStyle/>
                    <a:p>
                      <a:pPr algn="l"/>
                      <a:r>
                        <a:rPr sz="1100" b="0" i="1">
                          <a:solidFill>
                            <a:srgbClr val="000000"/>
                          </a:solidFill>
                          <a:latin typeface="Calibri"/>
                        </a:rPr>
                        <a:t>3.5.5.3.</a:t>
                      </a:r>
                      <a:r>
                        <a:rPr sz="700" b="0" i="1">
                          <a:solidFill>
                            <a:srgbClr val="000000"/>
                          </a:solidFill>
                          <a:latin typeface="Times New Roman"/>
                        </a:rPr>
                        <a:t>    </a:t>
                      </a:r>
                      <a:r>
                        <a:rPr sz="1100" b="0" i="1">
                          <a:solidFill>
                            <a:srgbClr val="000000"/>
                          </a:solidFill>
                          <a:latin typeface="Calibri"/>
                        </a:rPr>
                        <a:t>Vacuum Bags</a:t>
                      </a:r>
                      <a:endParaRPr sz="1100"/>
                    </a:p>
                  </a:txBody>
                  <a:tcPr marL="1028700" marR="9525" marT="9525" marB="0" anchor="ctr"/>
                </a:tc>
              </a:tr>
              <a:tr h="175260">
                <a:tc>
                  <a:txBody>
                    <a:bodyPr wrap="square"/>
                    <a:lstStyle/>
                    <a:p>
                      <a:pPr algn="l"/>
                      <a:r>
                        <a:rPr sz="1100" b="0" i="1">
                          <a:solidFill>
                            <a:srgbClr val="000000"/>
                          </a:solidFill>
                          <a:latin typeface="Calibri"/>
                        </a:rPr>
                        <a:t>3.5.5.4.</a:t>
                      </a:r>
                      <a:r>
                        <a:rPr sz="700" b="0" i="1">
                          <a:solidFill>
                            <a:srgbClr val="000000"/>
                          </a:solidFill>
                          <a:latin typeface="Times New Roman"/>
                        </a:rPr>
                        <a:t>    </a:t>
                      </a:r>
                      <a:r>
                        <a:rPr sz="1100" b="0" i="1">
                          <a:solidFill>
                            <a:srgbClr val="000000"/>
                          </a:solidFill>
                          <a:latin typeface="Calibri"/>
                        </a:rPr>
                        <a:t>Cushion Packaging Bags</a:t>
                      </a:r>
                      <a:endParaRPr sz="1100"/>
                    </a:p>
                  </a:txBody>
                  <a:tcPr marL="1028700" marR="9525" marT="9525" marB="0" anchor="ctr"/>
                </a:tc>
              </a:tr>
              <a:tr h="175260">
                <a:tc>
                  <a:txBody>
                    <a:bodyPr wrap="square"/>
                    <a:lstStyle/>
                    <a:p>
                      <a:pPr algn="l"/>
                      <a:r>
                        <a:rPr sz="1100" b="0" i="0">
                          <a:solidFill>
                            <a:srgbClr val="000000"/>
                          </a:solidFill>
                          <a:latin typeface="Calibri"/>
                        </a:rPr>
                        <a:t>3.5.6.</a:t>
                      </a:r>
                      <a:r>
                        <a:rPr sz="700" b="0" i="0">
                          <a:solidFill>
                            <a:srgbClr val="000000"/>
                          </a:solidFill>
                          <a:latin typeface="Times New Roman"/>
                        </a:rPr>
                        <a:t>   </a:t>
                      </a:r>
                      <a:r>
                        <a:rPr sz="1100" b="0" i="0">
                          <a:solidFill>
                            <a:srgbClr val="000000"/>
                          </a:solidFill>
                          <a:latin typeface="Calibri"/>
                        </a:rPr>
                        <a:t>Retail &amp; Merchandise Bags</a:t>
                      </a:r>
                      <a:endParaRPr sz="1100"/>
                    </a:p>
                  </a:txBody>
                  <a:tcPr marL="771525" marR="9525" marT="9525" marB="0" anchor="ctr"/>
                </a:tc>
              </a:tr>
              <a:tr h="175260">
                <a:tc>
                  <a:txBody>
                    <a:bodyPr wrap="square"/>
                    <a:lstStyle/>
                    <a:p>
                      <a:pPr algn="l"/>
                      <a:r>
                        <a:rPr sz="1100" b="0" i="1">
                          <a:solidFill>
                            <a:srgbClr val="000000"/>
                          </a:solidFill>
                          <a:latin typeface="Calibri"/>
                        </a:rPr>
                        <a:t>3.5.6.1.</a:t>
                      </a:r>
                      <a:r>
                        <a:rPr sz="700" b="0" i="1">
                          <a:solidFill>
                            <a:srgbClr val="000000"/>
                          </a:solidFill>
                          <a:latin typeface="Times New Roman"/>
                        </a:rPr>
                        <a:t>    </a:t>
                      </a:r>
                      <a:r>
                        <a:rPr sz="1100" b="0" i="1">
                          <a:solidFill>
                            <a:srgbClr val="000000"/>
                          </a:solidFill>
                          <a:latin typeface="Calibri"/>
                        </a:rPr>
                        <a:t>T-Shirt Bags</a:t>
                      </a:r>
                      <a:endParaRPr sz="1100"/>
                    </a:p>
                  </a:txBody>
                  <a:tcPr marL="1028700" marR="9525" marT="9525" marB="0" anchor="ctr"/>
                </a:tc>
              </a:tr>
              <a:tr h="175260">
                <a:tc>
                  <a:txBody>
                    <a:bodyPr wrap="square"/>
                    <a:lstStyle/>
                    <a:p>
                      <a:pPr algn="l"/>
                      <a:r>
                        <a:rPr sz="1100" b="0" i="1">
                          <a:solidFill>
                            <a:srgbClr val="000000"/>
                          </a:solidFill>
                          <a:latin typeface="Calibri"/>
                        </a:rPr>
                        <a:t>3.5.6.2.</a:t>
                      </a:r>
                      <a:r>
                        <a:rPr sz="700" b="0" i="1">
                          <a:solidFill>
                            <a:srgbClr val="000000"/>
                          </a:solidFill>
                          <a:latin typeface="Times New Roman"/>
                        </a:rPr>
                        <a:t>    </a:t>
                      </a:r>
                      <a:r>
                        <a:rPr sz="1100" b="0" i="1">
                          <a:solidFill>
                            <a:srgbClr val="000000"/>
                          </a:solidFill>
                          <a:latin typeface="Calibri"/>
                        </a:rPr>
                        <a:t>Merchandise Bags</a:t>
                      </a:r>
                      <a:endParaRPr sz="1100"/>
                    </a:p>
                  </a:txBody>
                  <a:tcPr marL="1028700" marR="9525" marT="9525" marB="0" anchor="ctr"/>
                </a:tc>
              </a:tr>
              <a:tr h="175260">
                <a:tc>
                  <a:txBody>
                    <a:bodyPr wrap="square"/>
                    <a:lstStyle/>
                    <a:p>
                      <a:pPr algn="l"/>
                      <a:r>
                        <a:rPr sz="1100" b="0" i="1">
                          <a:solidFill>
                            <a:srgbClr val="000000"/>
                          </a:solidFill>
                          <a:latin typeface="Calibri"/>
                        </a:rPr>
                        <a:t>3.5.6.3.</a:t>
                      </a:r>
                      <a:r>
                        <a:rPr sz="700" b="0" i="1">
                          <a:solidFill>
                            <a:srgbClr val="000000"/>
                          </a:solidFill>
                          <a:latin typeface="Times New Roman"/>
                        </a:rPr>
                        <a:t>    </a:t>
                      </a:r>
                      <a:r>
                        <a:rPr sz="1100" b="0" i="1">
                          <a:solidFill>
                            <a:srgbClr val="000000"/>
                          </a:solidFill>
                          <a:latin typeface="Calibri"/>
                        </a:rPr>
                        <a:t>Die-Cut Handle Bags</a:t>
                      </a:r>
                      <a:endParaRPr sz="1100"/>
                    </a:p>
                  </a:txBody>
                  <a:tcPr marL="1028700" marR="9525" marT="9525" marB="0" anchor="ctr"/>
                </a:tc>
              </a:tr>
              <a:tr h="175260">
                <a:tc>
                  <a:txBody>
                    <a:bodyPr wrap="square"/>
                    <a:lstStyle/>
                    <a:p>
                      <a:pPr algn="l"/>
                      <a:r>
                        <a:rPr sz="1100" b="0" i="1">
                          <a:solidFill>
                            <a:srgbClr val="000000"/>
                          </a:solidFill>
                          <a:latin typeface="Calibri"/>
                        </a:rPr>
                        <a:t>3.5.6.4.</a:t>
                      </a:r>
                      <a:r>
                        <a:rPr sz="700" b="0" i="1">
                          <a:solidFill>
                            <a:srgbClr val="000000"/>
                          </a:solidFill>
                          <a:latin typeface="Times New Roman"/>
                        </a:rPr>
                        <a:t>    </a:t>
                      </a:r>
                      <a:r>
                        <a:rPr sz="1100" b="0" i="1">
                          <a:solidFill>
                            <a:srgbClr val="000000"/>
                          </a:solidFill>
                          <a:latin typeface="Calibri"/>
                        </a:rPr>
                        <a:t>Patch Handle Bags</a:t>
                      </a:r>
                      <a:endParaRPr sz="1100"/>
                    </a:p>
                  </a:txBody>
                  <a:tcPr marL="1028700" marR="9525" marT="9525" marB="0" anchor="ctr"/>
                </a:tc>
              </a:tr>
              <a:tr h="175260">
                <a:tc>
                  <a:txBody>
                    <a:bodyPr wrap="square"/>
                    <a:lstStyle/>
                    <a:p>
                      <a:pPr algn="l"/>
                      <a:r>
                        <a:rPr sz="1100" b="0" i="1">
                          <a:solidFill>
                            <a:srgbClr val="000000"/>
                          </a:solidFill>
                          <a:latin typeface="Calibri"/>
                        </a:rPr>
                        <a:t>3.5.6.5.</a:t>
                      </a:r>
                      <a:r>
                        <a:rPr sz="700" b="0" i="1">
                          <a:solidFill>
                            <a:srgbClr val="000000"/>
                          </a:solidFill>
                          <a:latin typeface="Times New Roman"/>
                        </a:rPr>
                        <a:t>    </a:t>
                      </a:r>
                      <a:r>
                        <a:rPr sz="1100" b="0" i="1">
                          <a:solidFill>
                            <a:srgbClr val="000000"/>
                          </a:solidFill>
                          <a:latin typeface="Calibri"/>
                        </a:rPr>
                        <a:t>D-Cut Bags</a:t>
                      </a:r>
                      <a:endParaRPr sz="1100"/>
                    </a:p>
                  </a:txBody>
                  <a:tcPr marL="1028700" marR="9525" marT="9525" marB="0" anchor="ctr"/>
                </a:tc>
              </a:tr>
              <a:tr h="175260">
                <a:tc>
                  <a:txBody>
                    <a:bodyPr wrap="square"/>
                    <a:lstStyle/>
                    <a:p>
                      <a:pPr algn="l"/>
                      <a:r>
                        <a:rPr sz="1100" b="0" i="0">
                          <a:solidFill>
                            <a:srgbClr val="000000"/>
                          </a:solidFill>
                          <a:latin typeface="Calibri"/>
                        </a:rPr>
                        <a:t>3.5.7.</a:t>
                      </a:r>
                      <a:r>
                        <a:rPr sz="700" b="0" i="0">
                          <a:solidFill>
                            <a:srgbClr val="000000"/>
                          </a:solidFill>
                          <a:latin typeface="Times New Roman"/>
                        </a:rPr>
                        <a:t>   </a:t>
                      </a:r>
                      <a:r>
                        <a:rPr sz="1100" b="0" i="0">
                          <a:solidFill>
                            <a:srgbClr val="000000"/>
                          </a:solidFill>
                          <a:latin typeface="Calibri"/>
                        </a:rPr>
                        <a:t>E-commerce Polybags</a:t>
                      </a:r>
                      <a:endParaRPr sz="1100"/>
                    </a:p>
                  </a:txBody>
                  <a:tcPr marL="771525" marR="9525" marT="9525" marB="0" anchor="ctr"/>
                </a:tc>
              </a:tr>
              <a:tr h="175260">
                <a:tc>
                  <a:txBody>
                    <a:bodyPr wrap="square"/>
                    <a:lstStyle/>
                    <a:p>
                      <a:pPr algn="l"/>
                      <a:r>
                        <a:rPr sz="1100" b="0" i="1">
                          <a:solidFill>
                            <a:srgbClr val="000000"/>
                          </a:solidFill>
                          <a:latin typeface="Calibri"/>
                        </a:rPr>
                        <a:t>3.5.7.1.</a:t>
                      </a:r>
                      <a:r>
                        <a:rPr sz="700" b="0" i="1">
                          <a:solidFill>
                            <a:srgbClr val="000000"/>
                          </a:solidFill>
                          <a:latin typeface="Times New Roman"/>
                        </a:rPr>
                        <a:t>    </a:t>
                      </a:r>
                      <a:r>
                        <a:rPr sz="1100" b="0" i="1">
                          <a:solidFill>
                            <a:srgbClr val="000000"/>
                          </a:solidFill>
                          <a:latin typeface="Calibri"/>
                        </a:rPr>
                        <a:t>Courier Mailers</a:t>
                      </a:r>
                      <a:endParaRPr sz="1100"/>
                    </a:p>
                  </a:txBody>
                  <a:tcPr marL="1028700" marR="9525" marT="9525" marB="0" anchor="ctr"/>
                </a:tc>
              </a:tr>
              <a:tr h="175260">
                <a:tc>
                  <a:txBody>
                    <a:bodyPr wrap="square"/>
                    <a:lstStyle/>
                    <a:p>
                      <a:pPr algn="l"/>
                      <a:r>
                        <a:rPr sz="1100" b="0" i="1">
                          <a:solidFill>
                            <a:srgbClr val="000000"/>
                          </a:solidFill>
                          <a:latin typeface="Calibri"/>
                        </a:rPr>
                        <a:t>3.5.7.2.</a:t>
                      </a:r>
                      <a:r>
                        <a:rPr sz="700" b="0" i="1">
                          <a:solidFill>
                            <a:srgbClr val="000000"/>
                          </a:solidFill>
                          <a:latin typeface="Times New Roman"/>
                        </a:rPr>
                        <a:t>    </a:t>
                      </a:r>
                      <a:r>
                        <a:rPr sz="1100" b="0" i="1">
                          <a:solidFill>
                            <a:srgbClr val="000000"/>
                          </a:solidFill>
                          <a:latin typeface="Calibri"/>
                        </a:rPr>
                        <a:t>Tamper-Evident Mailers</a:t>
                      </a:r>
                      <a:endParaRPr sz="1100"/>
                    </a:p>
                  </a:txBody>
                  <a:tcPr marL="1028700" marR="9525" marT="9525" marB="0" anchor="ctr"/>
                </a:tc>
              </a:tr>
              <a:tr h="175260">
                <a:tc>
                  <a:txBody>
                    <a:bodyPr wrap="square"/>
                    <a:lstStyle/>
                    <a:p>
                      <a:pPr algn="l"/>
                      <a:r>
                        <a:rPr sz="1100" b="0" i="1">
                          <a:solidFill>
                            <a:srgbClr val="000000"/>
                          </a:solidFill>
                          <a:latin typeface="Calibri"/>
                        </a:rPr>
                        <a:t>3.5.7.3.</a:t>
                      </a:r>
                      <a:r>
                        <a:rPr sz="700" b="0" i="1">
                          <a:solidFill>
                            <a:srgbClr val="000000"/>
                          </a:solidFill>
                          <a:latin typeface="Times New Roman"/>
                        </a:rPr>
                        <a:t>    </a:t>
                      </a:r>
                      <a:r>
                        <a:rPr sz="1100" b="0" i="1">
                          <a:solidFill>
                            <a:srgbClr val="000000"/>
                          </a:solidFill>
                          <a:latin typeface="Calibri"/>
                        </a:rPr>
                        <a:t>Return Mailers</a:t>
                      </a:r>
                      <a:endParaRPr sz="1100"/>
                    </a:p>
                  </a:txBody>
                  <a:tcPr marL="1028700" marR="9525" marT="9525" marB="0" anchor="ctr"/>
                </a:tc>
              </a:tr>
              <a:tr h="175260">
                <a:tc>
                  <a:txBody>
                    <a:bodyPr wrap="square"/>
                    <a:lstStyle/>
                    <a:p>
                      <a:pPr algn="l"/>
                      <a:r>
                        <a:rPr sz="1100" b="0" i="1">
                          <a:solidFill>
                            <a:srgbClr val="000000"/>
                          </a:solidFill>
                          <a:latin typeface="Calibri"/>
                        </a:rPr>
                        <a:t>3.5.7.4.</a:t>
                      </a:r>
                      <a:r>
                        <a:rPr sz="700" b="0" i="1">
                          <a:solidFill>
                            <a:srgbClr val="000000"/>
                          </a:solidFill>
                          <a:latin typeface="Times New Roman"/>
                        </a:rPr>
                        <a:t>    </a:t>
                      </a:r>
                      <a:r>
                        <a:rPr sz="1100" b="0" i="1">
                          <a:solidFill>
                            <a:srgbClr val="000000"/>
                          </a:solidFill>
                          <a:latin typeface="Calibri"/>
                        </a:rPr>
                        <a:t>Security Mailers</a:t>
                      </a:r>
                      <a:endParaRPr sz="1100"/>
                    </a:p>
                  </a:txBody>
                  <a:tcPr marL="1028700" marR="9525" marT="9525" marB="0" anchor="ctr"/>
                </a:tc>
              </a:tr>
              <a:tr h="175260">
                <a:tc>
                  <a:txBody>
                    <a:bodyPr wrap="square"/>
                    <a:lstStyle/>
                    <a:p>
                      <a:pPr algn="l"/>
                      <a:r>
                        <a:rPr sz="1100" b="0" i="0">
                          <a:solidFill>
                            <a:srgbClr val="000000"/>
                          </a:solidFill>
                          <a:latin typeface="Calibri"/>
                        </a:rPr>
                        <a:t>3.5.8.</a:t>
                      </a:r>
                      <a:r>
                        <a:rPr sz="700" b="0" i="0">
                          <a:solidFill>
                            <a:srgbClr val="000000"/>
                          </a:solidFill>
                          <a:latin typeface="Times New Roman"/>
                        </a:rPr>
                        <a:t>   </a:t>
                      </a:r>
                      <a:r>
                        <a:rPr sz="1100" b="0" i="0">
                          <a:solidFill>
                            <a:srgbClr val="000000"/>
                          </a:solidFill>
                          <a:latin typeface="Calibri"/>
                        </a:rPr>
                        <a:t>Specialty Polybags</a:t>
                      </a:r>
                      <a:endParaRPr sz="1100"/>
                    </a:p>
                  </a:txBody>
                  <a:tcPr marL="771525" marR="9525" marT="9525" marB="0" anchor="ctr"/>
                </a:tc>
              </a:tr>
              <a:tr h="175260">
                <a:tc>
                  <a:txBody>
                    <a:bodyPr wrap="square"/>
                    <a:lstStyle/>
                    <a:p>
                      <a:pPr algn="l"/>
                      <a:r>
                        <a:rPr sz="1100" b="0" i="1">
                          <a:solidFill>
                            <a:srgbClr val="000000"/>
                          </a:solidFill>
                          <a:latin typeface="Calibri"/>
                        </a:rPr>
                        <a:t>3.5.8.1.</a:t>
                      </a:r>
                      <a:r>
                        <a:rPr sz="700" b="0" i="1">
                          <a:solidFill>
                            <a:srgbClr val="000000"/>
                          </a:solidFill>
                          <a:latin typeface="Times New Roman"/>
                        </a:rPr>
                        <a:t>    </a:t>
                      </a:r>
                      <a:r>
                        <a:rPr sz="1100" b="0" i="1">
                          <a:solidFill>
                            <a:srgbClr val="000000"/>
                          </a:solidFill>
                          <a:latin typeface="Calibri"/>
                        </a:rPr>
                        <a:t>Wicketed Bags</a:t>
                      </a:r>
                      <a:endParaRPr sz="1100"/>
                    </a:p>
                  </a:txBody>
                  <a:tcPr marL="1028700" marR="9525" marT="9525" marB="0" anchor="ctr"/>
                </a:tc>
              </a:tr>
              <a:tr h="175260">
                <a:tc>
                  <a:txBody>
                    <a:bodyPr wrap="square"/>
                    <a:lstStyle/>
                    <a:p>
                      <a:pPr algn="l"/>
                      <a:r>
                        <a:rPr sz="1100" b="0" i="1">
                          <a:solidFill>
                            <a:srgbClr val="000000"/>
                          </a:solidFill>
                          <a:latin typeface="Calibri"/>
                        </a:rPr>
                        <a:t>3.5.8.2.</a:t>
                      </a:r>
                      <a:r>
                        <a:rPr sz="700" b="0" i="1">
                          <a:solidFill>
                            <a:srgbClr val="000000"/>
                          </a:solidFill>
                          <a:latin typeface="Times New Roman"/>
                        </a:rPr>
                        <a:t>    </a:t>
                      </a:r>
                      <a:r>
                        <a:rPr sz="1100" b="0" i="1">
                          <a:solidFill>
                            <a:srgbClr val="000000"/>
                          </a:solidFill>
                          <a:latin typeface="Calibri"/>
                        </a:rPr>
                        <a:t>Header Bags</a:t>
                      </a:r>
                      <a:endParaRPr sz="1100"/>
                    </a:p>
                  </a:txBody>
                  <a:tcPr marL="1028700" marR="9525" marT="9525" marB="0" anchor="ctr"/>
                </a:tc>
              </a:tr>
              <a:tr h="175260">
                <a:tc>
                  <a:txBody>
                    <a:bodyPr wrap="square"/>
                    <a:lstStyle/>
                    <a:p>
                      <a:pPr algn="l"/>
                      <a:r>
                        <a:rPr sz="1100" b="0" i="1">
                          <a:solidFill>
                            <a:srgbClr val="000000"/>
                          </a:solidFill>
                          <a:latin typeface="Calibri"/>
                        </a:rPr>
                        <a:t>3.5.8.3.</a:t>
                      </a:r>
                      <a:r>
                        <a:rPr sz="700" b="0" i="1">
                          <a:solidFill>
                            <a:srgbClr val="000000"/>
                          </a:solidFill>
                          <a:latin typeface="Times New Roman"/>
                        </a:rPr>
                        <a:t>    </a:t>
                      </a:r>
                      <a:r>
                        <a:rPr sz="1100" b="0" i="1">
                          <a:solidFill>
                            <a:srgbClr val="000000"/>
                          </a:solidFill>
                          <a:latin typeface="Calibri"/>
                        </a:rPr>
                        <a:t>Perforated Bags</a:t>
                      </a:r>
                      <a:endParaRPr sz="1100"/>
                    </a:p>
                  </a:txBody>
                  <a:tcPr marL="1028700" marR="9525" marT="9525" marB="0" anchor="ctr"/>
                </a:tc>
              </a:tr>
              <a:tr h="175260">
                <a:tc>
                  <a:txBody>
                    <a:bodyPr wrap="square"/>
                    <a:lstStyle/>
                    <a:p>
                      <a:pPr algn="l"/>
                      <a:r>
                        <a:rPr sz="1100" b="0" i="1">
                          <a:solidFill>
                            <a:srgbClr val="000000"/>
                          </a:solidFill>
                          <a:latin typeface="Calibri"/>
                        </a:rPr>
                        <a:t>3.5.8.4.</a:t>
                      </a:r>
                      <a:r>
                        <a:rPr sz="700" b="0" i="1">
                          <a:solidFill>
                            <a:srgbClr val="000000"/>
                          </a:solidFill>
                          <a:latin typeface="Times New Roman"/>
                        </a:rPr>
                        <a:t>    </a:t>
                      </a:r>
                      <a:r>
                        <a:rPr sz="1100" b="0" i="1">
                          <a:solidFill>
                            <a:srgbClr val="000000"/>
                          </a:solidFill>
                          <a:latin typeface="Calibri"/>
                        </a:rPr>
                        <a:t>Drawstring Bags</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3.5.8.5.</a:t>
                      </a:r>
                      <a:r>
                        <a:rPr sz="700" b="0" i="1">
                          <a:solidFill>
                            <a:srgbClr val="000000"/>
                          </a:solidFill>
                          <a:latin typeface="Times New Roman"/>
                        </a:rPr>
                        <a:t>    </a:t>
                      </a:r>
                      <a:r>
                        <a:rPr sz="1100" b="0" i="1">
                          <a:solidFill>
                            <a:srgbClr val="000000"/>
                          </a:solidFill>
                          <a:latin typeface="Calibri"/>
                        </a:rPr>
                        <a:t>Custom Printed Bags</a:t>
                      </a:r>
                      <a:endParaRPr sz="1100"/>
                    </a:p>
                  </a:txBody>
                  <a:tcPr marL="1028700"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Material</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Polyethylene (PE)</a:t>
                      </a:r>
                      <a:endParaRPr sz="1100"/>
                    </a:p>
                  </a:txBody>
                  <a:tcPr marL="771525"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Low-Density Polyethylene (LDPE)</a:t>
                      </a:r>
                      <a:endParaRPr sz="1100"/>
                    </a:p>
                  </a:txBody>
                  <a:tcPr marL="771525" marR="9525" marT="9525" marB="0" anchor="ctr"/>
                </a:tc>
              </a:tr>
              <a:tr h="175260">
                <a:tc>
                  <a:txBody>
                    <a:bodyPr wrap="square"/>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Linear Low-Density Polyethylene (LLDPE)</a:t>
                      </a:r>
                      <a:endParaRPr sz="1100"/>
                    </a:p>
                  </a:txBody>
                  <a:tcPr marL="771525" marR="9525" marT="9525" marB="0" anchor="ctr"/>
                </a:tc>
              </a:tr>
              <a:tr h="175260">
                <a:tc>
                  <a:txBody>
                    <a:bodyPr wrap="square"/>
                    <a:lstStyle/>
                    <a:p>
                      <a:pPr algn="l"/>
                      <a:r>
                        <a:rPr sz="1100" b="0" i="0">
                          <a:solidFill>
                            <a:srgbClr val="000000"/>
                          </a:solidFill>
                          <a:latin typeface="Calibri"/>
                        </a:rPr>
                        <a:t>4.5.4.</a:t>
                      </a:r>
                      <a:r>
                        <a:rPr sz="700" b="0" i="0">
                          <a:solidFill>
                            <a:srgbClr val="000000"/>
                          </a:solidFill>
                          <a:latin typeface="Times New Roman"/>
                        </a:rPr>
                        <a:t>   </a:t>
                      </a:r>
                      <a:r>
                        <a:rPr sz="1100" b="0" i="0">
                          <a:solidFill>
                            <a:srgbClr val="000000"/>
                          </a:solidFill>
                          <a:latin typeface="Calibri"/>
                        </a:rPr>
                        <a:t>High-Density Polyethylene (HDPE)</a:t>
                      </a:r>
                      <a:endParaRPr sz="1100"/>
                    </a:p>
                  </a:txBody>
                  <a:tcPr marL="771525" marR="9525" marT="9525" marB="0" anchor="ctr"/>
                </a:tc>
              </a:tr>
              <a:tr h="175260">
                <a:tc>
                  <a:txBody>
                    <a:bodyPr wrap="square"/>
                    <a:lstStyle/>
                    <a:p>
                      <a:pPr algn="l"/>
                      <a:r>
                        <a:rPr sz="1100" b="0" i="0">
                          <a:solidFill>
                            <a:srgbClr val="000000"/>
                          </a:solidFill>
                          <a:latin typeface="Calibri"/>
                        </a:rPr>
                        <a:t>4.5.5.</a:t>
                      </a:r>
                      <a:r>
                        <a:rPr sz="700" b="0" i="0">
                          <a:solidFill>
                            <a:srgbClr val="000000"/>
                          </a:solidFill>
                          <a:latin typeface="Times New Roman"/>
                        </a:rPr>
                        <a:t>   </a:t>
                      </a:r>
                      <a:r>
                        <a:rPr sz="1100" b="0" i="0">
                          <a:solidFill>
                            <a:srgbClr val="000000"/>
                          </a:solidFill>
                          <a:latin typeface="Calibri"/>
                        </a:rPr>
                        <a:t>Medium-Density Polyethylene (MDPE)</a:t>
                      </a:r>
                      <a:endParaRPr sz="1100"/>
                    </a:p>
                  </a:txBody>
                  <a:tcPr marL="771525" marR="9525" marT="9525" marB="0" anchor="ctr"/>
                </a:tc>
              </a:tr>
              <a:tr h="175260">
                <a:tc>
                  <a:txBody>
                    <a:bodyPr wrap="square"/>
                    <a:lstStyle/>
                    <a:p>
                      <a:pPr algn="l"/>
                      <a:r>
                        <a:rPr sz="1100" b="0" i="0">
                          <a:solidFill>
                            <a:srgbClr val="000000"/>
                          </a:solidFill>
                          <a:latin typeface="Calibri"/>
                        </a:rPr>
                        <a:t>4.5.6.</a:t>
                      </a:r>
                      <a:r>
                        <a:rPr sz="700" b="0" i="0">
                          <a:solidFill>
                            <a:srgbClr val="000000"/>
                          </a:solidFill>
                          <a:latin typeface="Times New Roman"/>
                        </a:rPr>
                        <a:t>   </a:t>
                      </a:r>
                      <a:r>
                        <a:rPr sz="1100" b="0" i="0">
                          <a:solidFill>
                            <a:srgbClr val="000000"/>
                          </a:solidFill>
                          <a:latin typeface="Calibri"/>
                        </a:rPr>
                        <a:t>Polypropylene (PP)</a:t>
                      </a:r>
                      <a:endParaRPr sz="1100"/>
                    </a:p>
                  </a:txBody>
                  <a:tcPr marL="771525" marR="9525" marT="9525" marB="0" anchor="ctr"/>
                </a:tc>
              </a:tr>
              <a:tr h="175260">
                <a:tc>
                  <a:txBody>
                    <a:bodyPr wrap="square"/>
                    <a:lstStyle/>
                    <a:p>
                      <a:pPr algn="l"/>
                      <a:r>
                        <a:rPr sz="1100" b="0" i="1">
                          <a:solidFill>
                            <a:srgbClr val="000000"/>
                          </a:solidFill>
                          <a:latin typeface="Calibri"/>
                        </a:rPr>
                        <a:t>4.5.6.1.</a:t>
                      </a:r>
                      <a:r>
                        <a:rPr sz="700" b="0" i="1">
                          <a:solidFill>
                            <a:srgbClr val="000000"/>
                          </a:solidFill>
                          <a:latin typeface="Times New Roman"/>
                        </a:rPr>
                        <a:t>    </a:t>
                      </a:r>
                      <a:r>
                        <a:rPr sz="1100" b="0" i="1">
                          <a:solidFill>
                            <a:srgbClr val="000000"/>
                          </a:solidFill>
                          <a:latin typeface="Calibri"/>
                        </a:rPr>
                        <a:t>Cast Polypropylene (CPP)</a:t>
                      </a:r>
                      <a:endParaRPr sz="1100"/>
                    </a:p>
                  </a:txBody>
                  <a:tcPr marL="1028700" marR="9525" marT="9525" marB="0" anchor="ctr"/>
                </a:tc>
              </a:tr>
              <a:tr h="175260">
                <a:tc>
                  <a:txBody>
                    <a:bodyPr wrap="square"/>
                    <a:lstStyle/>
                    <a:p>
                      <a:pPr algn="l"/>
                      <a:r>
                        <a:rPr sz="1100" b="0" i="1">
                          <a:solidFill>
                            <a:srgbClr val="000000"/>
                          </a:solidFill>
                          <a:latin typeface="Calibri"/>
                        </a:rPr>
                        <a:t>4.5.6.2.</a:t>
                      </a:r>
                      <a:r>
                        <a:rPr sz="700" b="0" i="1">
                          <a:solidFill>
                            <a:srgbClr val="000000"/>
                          </a:solidFill>
                          <a:latin typeface="Times New Roman"/>
                        </a:rPr>
                        <a:t>    </a:t>
                      </a:r>
                      <a:r>
                        <a:rPr sz="1100" b="0" i="1">
                          <a:solidFill>
                            <a:srgbClr val="000000"/>
                          </a:solidFill>
                          <a:latin typeface="Calibri"/>
                        </a:rPr>
                        <a:t>Biaxially Oriented Polypropylene (BOPP)</a:t>
                      </a:r>
                      <a:endParaRPr sz="1100"/>
                    </a:p>
                  </a:txBody>
                  <a:tcPr marL="1028700" marR="9525" marT="9525" marB="0" anchor="ctr"/>
                </a:tc>
              </a:tr>
              <a:tr h="175260">
                <a:tc>
                  <a:txBody>
                    <a:bodyPr wrap="square"/>
                    <a:lstStyle/>
                    <a:p>
                      <a:pPr algn="l"/>
                      <a:r>
                        <a:rPr sz="1100" b="0" i="1">
                          <a:solidFill>
                            <a:srgbClr val="000000"/>
                          </a:solidFill>
                          <a:latin typeface="Calibri"/>
                        </a:rPr>
                        <a:t>4.5.6.3.</a:t>
                      </a:r>
                      <a:r>
                        <a:rPr sz="700" b="0" i="1">
                          <a:solidFill>
                            <a:srgbClr val="000000"/>
                          </a:solidFill>
                          <a:latin typeface="Times New Roman"/>
                        </a:rPr>
                        <a:t>    </a:t>
                      </a:r>
                      <a:r>
                        <a:rPr sz="1100" b="0" i="1">
                          <a:solidFill>
                            <a:srgbClr val="000000"/>
                          </a:solidFill>
                          <a:latin typeface="Calibri"/>
                        </a:rPr>
                        <a:t>Oriented Polypropylene (OPP)</a:t>
                      </a:r>
                      <a:endParaRPr sz="1100"/>
                    </a:p>
                  </a:txBody>
                  <a:tcPr marL="1028700" marR="9525" marT="9525" marB="0" anchor="ctr"/>
                </a:tc>
              </a:tr>
              <a:tr h="175260">
                <a:tc>
                  <a:txBody>
                    <a:bodyPr wrap="square"/>
                    <a:lstStyle/>
                    <a:p>
                      <a:pPr algn="l"/>
                      <a:r>
                        <a:rPr sz="1100" b="0" i="0">
                          <a:solidFill>
                            <a:srgbClr val="000000"/>
                          </a:solidFill>
                          <a:latin typeface="Calibri"/>
                        </a:rPr>
                        <a:t>4.5.7.</a:t>
                      </a:r>
                      <a:r>
                        <a:rPr sz="700" b="0" i="0">
                          <a:solidFill>
                            <a:srgbClr val="000000"/>
                          </a:solidFill>
                          <a:latin typeface="Times New Roman"/>
                        </a:rPr>
                        <a:t>   </a:t>
                      </a:r>
                      <a:r>
                        <a:rPr sz="1100" b="0" i="0">
                          <a:solidFill>
                            <a:srgbClr val="000000"/>
                          </a:solidFill>
                          <a:latin typeface="Calibri"/>
                        </a:rPr>
                        <a:t>Recycled Plastics</a:t>
                      </a:r>
                      <a:endParaRPr sz="1100"/>
                    </a:p>
                  </a:txBody>
                  <a:tcPr marL="771525" marR="9525" marT="9525" marB="0" anchor="ctr"/>
                </a:tc>
              </a:tr>
              <a:tr h="175260">
                <a:tc>
                  <a:txBody>
                    <a:bodyPr wrap="square"/>
                    <a:lstStyle/>
                    <a:p>
                      <a:pPr algn="l"/>
                      <a:r>
                        <a:rPr sz="1100" b="0" i="1">
                          <a:solidFill>
                            <a:srgbClr val="000000"/>
                          </a:solidFill>
                          <a:latin typeface="Calibri"/>
                        </a:rPr>
                        <a:t>4.5.7.1.</a:t>
                      </a:r>
                      <a:r>
                        <a:rPr sz="700" b="0" i="1">
                          <a:solidFill>
                            <a:srgbClr val="000000"/>
                          </a:solidFill>
                          <a:latin typeface="Times New Roman"/>
                        </a:rPr>
                        <a:t>    </a:t>
                      </a:r>
                      <a:r>
                        <a:rPr sz="1100" b="0" i="1">
                          <a:solidFill>
                            <a:srgbClr val="000000"/>
                          </a:solidFill>
                          <a:latin typeface="Calibri"/>
                        </a:rPr>
                        <a:t>Post-Consumer Recycled (PCR)</a:t>
                      </a:r>
                      <a:endParaRPr sz="1100"/>
                    </a:p>
                  </a:txBody>
                  <a:tcPr marL="1028700" marR="9525" marT="9525" marB="0" anchor="ctr"/>
                </a:tc>
              </a:tr>
              <a:tr h="175260">
                <a:tc>
                  <a:txBody>
                    <a:bodyPr wrap="square"/>
                    <a:lstStyle/>
                    <a:p>
                      <a:pPr algn="l"/>
                      <a:r>
                        <a:rPr sz="1100" b="0" i="1">
                          <a:solidFill>
                            <a:srgbClr val="000000"/>
                          </a:solidFill>
                          <a:latin typeface="Calibri"/>
                        </a:rPr>
                        <a:t>4.5.7.2.</a:t>
                      </a:r>
                      <a:r>
                        <a:rPr sz="700" b="0" i="1">
                          <a:solidFill>
                            <a:srgbClr val="000000"/>
                          </a:solidFill>
                          <a:latin typeface="Times New Roman"/>
                        </a:rPr>
                        <a:t>    </a:t>
                      </a:r>
                      <a:r>
                        <a:rPr sz="1100" b="0" i="1">
                          <a:solidFill>
                            <a:srgbClr val="000000"/>
                          </a:solidFill>
                          <a:latin typeface="Calibri"/>
                        </a:rPr>
                        <a:t>Post-Industrial Recycled (PIR)</a:t>
                      </a:r>
                      <a:endParaRPr sz="1100"/>
                    </a:p>
                  </a:txBody>
                  <a:tcPr marL="1028700" marR="9525" marT="9525" marB="0" anchor="ctr"/>
                </a:tc>
              </a:tr>
              <a:tr h="175260">
                <a:tc>
                  <a:txBody>
                    <a:bodyPr wrap="square"/>
                    <a:lstStyle/>
                    <a:p>
                      <a:pPr algn="l"/>
                      <a:r>
                        <a:rPr sz="1100" b="0" i="1">
                          <a:solidFill>
                            <a:srgbClr val="000000"/>
                          </a:solidFill>
                          <a:latin typeface="Calibri"/>
                        </a:rPr>
                        <a:t>4.5.7.3.</a:t>
                      </a:r>
                      <a:r>
                        <a:rPr sz="700" b="0" i="1">
                          <a:solidFill>
                            <a:srgbClr val="000000"/>
                          </a:solidFill>
                          <a:latin typeface="Times New Roman"/>
                        </a:rPr>
                        <a:t>    </a:t>
                      </a:r>
                      <a:r>
                        <a:rPr sz="1100" b="0" i="1">
                          <a:solidFill>
                            <a:srgbClr val="000000"/>
                          </a:solidFill>
                          <a:latin typeface="Calibri"/>
                        </a:rPr>
                        <a:t>Mixed Recycled Resin</a:t>
                      </a:r>
                      <a:endParaRPr sz="1100"/>
                    </a:p>
                  </a:txBody>
                  <a:tcPr marL="1028700" marR="9525" marT="9525" marB="0" anchor="ctr"/>
                </a:tc>
              </a:tr>
              <a:tr h="175260">
                <a:tc>
                  <a:txBody>
                    <a:bodyPr wrap="square"/>
                    <a:lstStyle/>
                    <a:p>
                      <a:pPr algn="l"/>
                      <a:r>
                        <a:rPr sz="1100" b="0" i="0">
                          <a:solidFill>
                            <a:srgbClr val="000000"/>
                          </a:solidFill>
                          <a:latin typeface="Calibri"/>
                        </a:rPr>
                        <a:t>4.5.8.</a:t>
                      </a:r>
                      <a:r>
                        <a:rPr sz="700" b="0" i="0">
                          <a:solidFill>
                            <a:srgbClr val="000000"/>
                          </a:solidFill>
                          <a:latin typeface="Times New Roman"/>
                        </a:rPr>
                        <a:t>   </a:t>
                      </a:r>
                      <a:r>
                        <a:rPr sz="1100" b="0" i="0">
                          <a:solidFill>
                            <a:srgbClr val="000000"/>
                          </a:solidFill>
                          <a:latin typeface="Calibri"/>
                        </a:rPr>
                        <a:t>Bio-Based Materials</a:t>
                      </a:r>
                      <a:endParaRPr sz="1100"/>
                    </a:p>
                  </a:txBody>
                  <a:tcPr marL="771525" marR="9525" marT="9525" marB="0" anchor="ctr"/>
                </a:tc>
              </a:tr>
              <a:tr h="175260">
                <a:tc>
                  <a:txBody>
                    <a:bodyPr wrap="square"/>
                    <a:lstStyle/>
                    <a:p>
                      <a:pPr algn="l"/>
                      <a:r>
                        <a:rPr sz="1100" b="0" i="1">
                          <a:solidFill>
                            <a:srgbClr val="000000"/>
                          </a:solidFill>
                          <a:latin typeface="Calibri"/>
                        </a:rPr>
                        <a:t>4.5.8.1.</a:t>
                      </a:r>
                      <a:r>
                        <a:rPr sz="700" b="0" i="1">
                          <a:solidFill>
                            <a:srgbClr val="000000"/>
                          </a:solidFill>
                          <a:latin typeface="Times New Roman"/>
                        </a:rPr>
                        <a:t>    </a:t>
                      </a:r>
                      <a:r>
                        <a:rPr sz="1100" b="0" i="1">
                          <a:solidFill>
                            <a:srgbClr val="000000"/>
                          </a:solidFill>
                          <a:latin typeface="Calibri"/>
                        </a:rPr>
                        <a:t>PLA</a:t>
                      </a:r>
                      <a:endParaRPr sz="1100"/>
                    </a:p>
                  </a:txBody>
                  <a:tcPr marL="1028700" marR="9525" marT="9525" marB="0" anchor="ctr"/>
                </a:tc>
              </a:tr>
              <a:tr h="175260">
                <a:tc>
                  <a:txBody>
                    <a:bodyPr wrap="square"/>
                    <a:lstStyle/>
                    <a:p>
                      <a:pPr algn="l"/>
                      <a:r>
                        <a:rPr sz="1100" b="0" i="1">
                          <a:solidFill>
                            <a:srgbClr val="000000"/>
                          </a:solidFill>
                          <a:latin typeface="Calibri"/>
                        </a:rPr>
                        <a:t>4.5.8.2.</a:t>
                      </a:r>
                      <a:r>
                        <a:rPr sz="700" b="0" i="1">
                          <a:solidFill>
                            <a:srgbClr val="000000"/>
                          </a:solidFill>
                          <a:latin typeface="Times New Roman"/>
                        </a:rPr>
                        <a:t>    </a:t>
                      </a:r>
                      <a:r>
                        <a:rPr sz="1100" b="0" i="1">
                          <a:solidFill>
                            <a:srgbClr val="000000"/>
                          </a:solidFill>
                          <a:latin typeface="Calibri"/>
                        </a:rPr>
                        <a:t>PHA</a:t>
                      </a:r>
                      <a:endParaRPr sz="1100"/>
                    </a:p>
                  </a:txBody>
                  <a:tcPr marL="1028700" marR="9525" marT="9525" marB="0" anchor="ctr"/>
                </a:tc>
              </a:tr>
              <a:tr h="175260">
                <a:tc>
                  <a:txBody>
                    <a:bodyPr wrap="square"/>
                    <a:lstStyle/>
                    <a:p>
                      <a:pPr algn="l"/>
                      <a:r>
                        <a:rPr sz="1100" b="0" i="1">
                          <a:solidFill>
                            <a:srgbClr val="000000"/>
                          </a:solidFill>
                          <a:latin typeface="Calibri"/>
                        </a:rPr>
                        <a:t>4.5.8.3.</a:t>
                      </a:r>
                      <a:r>
                        <a:rPr sz="700" b="0" i="1">
                          <a:solidFill>
                            <a:srgbClr val="000000"/>
                          </a:solidFill>
                          <a:latin typeface="Times New Roman"/>
                        </a:rPr>
                        <a:t>    </a:t>
                      </a:r>
                      <a:r>
                        <a:rPr sz="1100" b="0" i="1">
                          <a:solidFill>
                            <a:srgbClr val="000000"/>
                          </a:solidFill>
                          <a:latin typeface="Calibri"/>
                        </a:rPr>
                        <a:t>Starch Blend</a:t>
                      </a:r>
                      <a:endParaRPr sz="1100"/>
                    </a:p>
                  </a:txBody>
                  <a:tcPr marL="1028700" marR="9525" marT="9525" marB="0" anchor="ctr"/>
                </a:tc>
              </a:tr>
              <a:tr h="175260">
                <a:tc>
                  <a:txBody>
                    <a:bodyPr wrap="square"/>
                    <a:lstStyle/>
                    <a:p>
                      <a:pPr algn="l"/>
                      <a:r>
                        <a:rPr sz="1100" b="0" i="1">
                          <a:solidFill>
                            <a:srgbClr val="000000"/>
                          </a:solidFill>
                          <a:latin typeface="Calibri"/>
                        </a:rPr>
                        <a:t>4.5.8.4.</a:t>
                      </a:r>
                      <a:r>
                        <a:rPr sz="700" b="0" i="1">
                          <a:solidFill>
                            <a:srgbClr val="000000"/>
                          </a:solidFill>
                          <a:latin typeface="Times New Roman"/>
                        </a:rPr>
                        <a:t>    </a:t>
                      </a:r>
                      <a:r>
                        <a:rPr sz="1100" b="0" i="1">
                          <a:solidFill>
                            <a:srgbClr val="000000"/>
                          </a:solidFill>
                          <a:latin typeface="Calibri"/>
                        </a:rPr>
                        <a:t>PBAT Blend</a:t>
                      </a:r>
                      <a:endParaRPr sz="1100"/>
                    </a:p>
                  </a:txBody>
                  <a:tcPr marL="1028700" marR="9525" marT="9525" marB="0" anchor="ctr"/>
                </a:tc>
              </a:tr>
              <a:tr h="175260">
                <a:tc>
                  <a:txBody>
                    <a:bodyPr wrap="square"/>
                    <a:lstStyle/>
                    <a:p>
                      <a:pPr algn="l"/>
                      <a:r>
                        <a:rPr sz="1100" b="0" i="1">
                          <a:solidFill>
                            <a:srgbClr val="000000"/>
                          </a:solidFill>
                          <a:latin typeface="Calibri"/>
                        </a:rPr>
                        <a:t>4.5.8.5.</a:t>
                      </a:r>
                      <a:r>
                        <a:rPr sz="700" b="0" i="1">
                          <a:solidFill>
                            <a:srgbClr val="000000"/>
                          </a:solidFill>
                          <a:latin typeface="Times New Roman"/>
                        </a:rPr>
                        <a:t>    </a:t>
                      </a:r>
                      <a:r>
                        <a:rPr sz="1100" b="0" i="1">
                          <a:solidFill>
                            <a:srgbClr val="000000"/>
                          </a:solidFill>
                          <a:latin typeface="Calibri"/>
                        </a:rPr>
                        <a:t>Cellulose-Based Films</a:t>
                      </a:r>
                      <a:endParaRPr sz="1100"/>
                    </a:p>
                  </a:txBody>
                  <a:tcPr marL="1028700" marR="9525" marT="9525" marB="0" anchor="ctr"/>
                </a:tc>
              </a:tr>
              <a:tr h="175260">
                <a:tc>
                  <a:txBody>
                    <a:bodyPr wrap="square"/>
                    <a:lstStyle/>
                    <a:p>
                      <a:pPr algn="l"/>
                      <a:r>
                        <a:rPr sz="1100" b="0" i="0">
                          <a:solidFill>
                            <a:srgbClr val="000000"/>
                          </a:solidFill>
                          <a:latin typeface="Calibri"/>
                        </a:rPr>
                        <a:t>4.5.9.</a:t>
                      </a:r>
                      <a:r>
                        <a:rPr sz="700" b="0" i="0">
                          <a:solidFill>
                            <a:srgbClr val="000000"/>
                          </a:solidFill>
                          <a:latin typeface="Times New Roman"/>
                        </a:rPr>
                        <a:t>   </a:t>
                      </a:r>
                      <a:r>
                        <a:rPr sz="1100" b="0" i="0">
                          <a:solidFill>
                            <a:srgbClr val="000000"/>
                          </a:solidFill>
                          <a:latin typeface="Calibri"/>
                        </a:rPr>
                        <a:t>Specialty Materials</a:t>
                      </a:r>
                      <a:endParaRPr sz="1100"/>
                    </a:p>
                  </a:txBody>
                  <a:tcPr marL="771525" marR="9525" marT="9525" marB="0" anchor="ctr"/>
                </a:tc>
              </a:tr>
              <a:tr h="175260">
                <a:tc>
                  <a:txBody>
                    <a:bodyPr wrap="square"/>
                    <a:lstStyle/>
                    <a:p>
                      <a:pPr algn="l"/>
                      <a:r>
                        <a:rPr sz="1100" b="0" i="1">
                          <a:solidFill>
                            <a:srgbClr val="000000"/>
                          </a:solidFill>
                          <a:latin typeface="Calibri"/>
                        </a:rPr>
                        <a:t>4.5.9.1.</a:t>
                      </a:r>
                      <a:r>
                        <a:rPr sz="700" b="0" i="1">
                          <a:solidFill>
                            <a:srgbClr val="000000"/>
                          </a:solidFill>
                          <a:latin typeface="Times New Roman"/>
                        </a:rPr>
                        <a:t>    </a:t>
                      </a:r>
                      <a:r>
                        <a:rPr sz="1100" b="0" i="1">
                          <a:solidFill>
                            <a:srgbClr val="000000"/>
                          </a:solidFill>
                          <a:latin typeface="Calibri"/>
                        </a:rPr>
                        <a:t>EVA</a:t>
                      </a:r>
                      <a:endParaRPr sz="1100"/>
                    </a:p>
                  </a:txBody>
                  <a:tcPr marL="1028700" marR="9525" marT="9525" marB="0" anchor="ctr"/>
                </a:tc>
              </a:tr>
              <a:tr h="175260">
                <a:tc>
                  <a:txBody>
                    <a:bodyPr wrap="square"/>
                    <a:lstStyle/>
                    <a:p>
                      <a:pPr algn="l"/>
                      <a:r>
                        <a:rPr sz="1100" b="0" i="1">
                          <a:solidFill>
                            <a:srgbClr val="000000"/>
                          </a:solidFill>
                          <a:latin typeface="Calibri"/>
                        </a:rPr>
                        <a:t>4.5.9.2.</a:t>
                      </a:r>
                      <a:r>
                        <a:rPr sz="700" b="0" i="1">
                          <a:solidFill>
                            <a:srgbClr val="000000"/>
                          </a:solidFill>
                          <a:latin typeface="Times New Roman"/>
                        </a:rPr>
                        <a:t>    </a:t>
                      </a:r>
                      <a:r>
                        <a:rPr sz="1100" b="0" i="1">
                          <a:solidFill>
                            <a:srgbClr val="000000"/>
                          </a:solidFill>
                          <a:latin typeface="Calibri"/>
                        </a:rPr>
                        <a:t>Coextruded Multilayer Films</a:t>
                      </a:r>
                      <a:endParaRPr sz="1100"/>
                    </a:p>
                  </a:txBody>
                  <a:tcPr marL="1028700" marR="9525" marT="9525" marB="0" anchor="ctr"/>
                </a:tc>
              </a:tr>
              <a:tr h="175260">
                <a:tc>
                  <a:txBody>
                    <a:bodyPr wrap="square"/>
                    <a:lstStyle/>
                    <a:p>
                      <a:pPr algn="l"/>
                      <a:r>
                        <a:rPr sz="1100" b="0" i="1">
                          <a:solidFill>
                            <a:srgbClr val="000000"/>
                          </a:solidFill>
                          <a:latin typeface="Calibri"/>
                        </a:rPr>
                        <a:t>4.5.9.3.</a:t>
                      </a:r>
                      <a:r>
                        <a:rPr sz="700" b="0" i="1">
                          <a:solidFill>
                            <a:srgbClr val="000000"/>
                          </a:solidFill>
                          <a:latin typeface="Times New Roman"/>
                        </a:rPr>
                        <a:t>    </a:t>
                      </a:r>
                      <a:r>
                        <a:rPr sz="1100" b="0" i="1">
                          <a:solidFill>
                            <a:srgbClr val="000000"/>
                          </a:solidFill>
                          <a:latin typeface="Calibri"/>
                        </a:rPr>
                        <a:t>Barrier Films</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4.5.9.4.</a:t>
                      </a:r>
                      <a:r>
                        <a:rPr sz="700" b="0" i="1">
                          <a:solidFill>
                            <a:srgbClr val="000000"/>
                          </a:solidFill>
                          <a:latin typeface="Times New Roman"/>
                        </a:rPr>
                        <a:t>    </a:t>
                      </a:r>
                      <a:r>
                        <a:rPr sz="1100" b="0" i="1">
                          <a:solidFill>
                            <a:srgbClr val="000000"/>
                          </a:solidFill>
                          <a:latin typeface="Calibri"/>
                        </a:rPr>
                        <a:t>Conductive Polymers</a:t>
                      </a:r>
                      <a:endParaRPr sz="1100"/>
                    </a:p>
                  </a:txBody>
                  <a:tcPr marL="10287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End-Use Industry</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Food &amp; Beverage</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Fresh Produce</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Frozen Food</a:t>
                      </a:r>
                      <a:endParaRPr sz="1100"/>
                    </a:p>
                  </a:txBody>
                  <a:tcPr marL="1028700" marR="9525" marT="9525" marB="0" anchor="ctr"/>
                </a:tc>
              </a:tr>
              <a:tr h="175260">
                <a:tc>
                  <a:txBody>
                    <a:bodyPr wrap="square"/>
                    <a:lstStyle/>
                    <a:p>
                      <a:pPr algn="l"/>
                      <a:r>
                        <a:rPr sz="1100" b="0" i="1">
                          <a:solidFill>
                            <a:srgbClr val="000000"/>
                          </a:solidFill>
                          <a:latin typeface="Calibri"/>
                        </a:rPr>
                        <a:t>5.5.1.3.</a:t>
                      </a:r>
                      <a:r>
                        <a:rPr sz="700" b="0" i="1">
                          <a:solidFill>
                            <a:srgbClr val="000000"/>
                          </a:solidFill>
                          <a:latin typeface="Times New Roman"/>
                        </a:rPr>
                        <a:t>    </a:t>
                      </a:r>
                      <a:r>
                        <a:rPr sz="1100" b="0" i="1">
                          <a:solidFill>
                            <a:srgbClr val="000000"/>
                          </a:solidFill>
                          <a:latin typeface="Calibri"/>
                        </a:rPr>
                        <a:t>Dairy Products</a:t>
                      </a:r>
                      <a:endParaRPr sz="1100"/>
                    </a:p>
                  </a:txBody>
                  <a:tcPr marL="1028700" marR="9525" marT="9525" marB="0" anchor="ctr"/>
                </a:tc>
              </a:tr>
              <a:tr h="175260">
                <a:tc>
                  <a:txBody>
                    <a:bodyPr wrap="square"/>
                    <a:lstStyle/>
                    <a:p>
                      <a:pPr algn="l"/>
                      <a:r>
                        <a:rPr sz="1100" b="0" i="1">
                          <a:solidFill>
                            <a:srgbClr val="000000"/>
                          </a:solidFill>
                          <a:latin typeface="Calibri"/>
                        </a:rPr>
                        <a:t>5.5.1.4.</a:t>
                      </a:r>
                      <a:r>
                        <a:rPr sz="700" b="0" i="1">
                          <a:solidFill>
                            <a:srgbClr val="000000"/>
                          </a:solidFill>
                          <a:latin typeface="Times New Roman"/>
                        </a:rPr>
                        <a:t>    </a:t>
                      </a:r>
                      <a:r>
                        <a:rPr sz="1100" b="0" i="1">
                          <a:solidFill>
                            <a:srgbClr val="000000"/>
                          </a:solidFill>
                          <a:latin typeface="Calibri"/>
                        </a:rPr>
                        <a:t>Bakery</a:t>
                      </a:r>
                      <a:endParaRPr sz="1100"/>
                    </a:p>
                  </a:txBody>
                  <a:tcPr marL="1028700" marR="9525" marT="9525" marB="0" anchor="ctr"/>
                </a:tc>
              </a:tr>
              <a:tr h="175260">
                <a:tc>
                  <a:txBody>
                    <a:bodyPr wrap="square"/>
                    <a:lstStyle/>
                    <a:p>
                      <a:pPr algn="l"/>
                      <a:r>
                        <a:rPr sz="1100" b="0" i="1">
                          <a:solidFill>
                            <a:srgbClr val="000000"/>
                          </a:solidFill>
                          <a:latin typeface="Calibri"/>
                        </a:rPr>
                        <a:t>5.5.1.5.</a:t>
                      </a:r>
                      <a:r>
                        <a:rPr sz="700" b="0" i="1">
                          <a:solidFill>
                            <a:srgbClr val="000000"/>
                          </a:solidFill>
                          <a:latin typeface="Times New Roman"/>
                        </a:rPr>
                        <a:t>    </a:t>
                      </a:r>
                      <a:r>
                        <a:rPr sz="1100" b="0" i="1">
                          <a:solidFill>
                            <a:srgbClr val="000000"/>
                          </a:solidFill>
                          <a:latin typeface="Calibri"/>
                        </a:rPr>
                        <a:t>Meat &amp; Poultry</a:t>
                      </a:r>
                      <a:endParaRPr sz="1100"/>
                    </a:p>
                  </a:txBody>
                  <a:tcPr marL="1028700" marR="9525" marT="9525" marB="0" anchor="ctr"/>
                </a:tc>
              </a:tr>
              <a:tr h="175260">
                <a:tc>
                  <a:txBody>
                    <a:bodyPr wrap="square"/>
                    <a:lstStyle/>
                    <a:p>
                      <a:pPr algn="l"/>
                      <a:r>
                        <a:rPr sz="1100" b="0" i="1">
                          <a:solidFill>
                            <a:srgbClr val="000000"/>
                          </a:solidFill>
                          <a:latin typeface="Calibri"/>
                        </a:rPr>
                        <a:t>5.5.1.6.</a:t>
                      </a:r>
                      <a:r>
                        <a:rPr sz="700" b="0" i="1">
                          <a:solidFill>
                            <a:srgbClr val="000000"/>
                          </a:solidFill>
                          <a:latin typeface="Times New Roman"/>
                        </a:rPr>
                        <a:t>    </a:t>
                      </a:r>
                      <a:r>
                        <a:rPr sz="1100" b="0" i="1">
                          <a:solidFill>
                            <a:srgbClr val="000000"/>
                          </a:solidFill>
                          <a:latin typeface="Calibri"/>
                        </a:rPr>
                        <a:t>Seafood</a:t>
                      </a:r>
                      <a:endParaRPr sz="1100"/>
                    </a:p>
                  </a:txBody>
                  <a:tcPr marL="1028700" marR="9525" marT="9525" marB="0" anchor="ctr"/>
                </a:tc>
              </a:tr>
              <a:tr h="175260">
                <a:tc>
                  <a:txBody>
                    <a:bodyPr wrap="square"/>
                    <a:lstStyle/>
                    <a:p>
                      <a:pPr algn="l"/>
                      <a:r>
                        <a:rPr sz="1100" b="0" i="1">
                          <a:solidFill>
                            <a:srgbClr val="000000"/>
                          </a:solidFill>
                          <a:latin typeface="Calibri"/>
                        </a:rPr>
                        <a:t>5.5.1.7.</a:t>
                      </a:r>
                      <a:r>
                        <a:rPr sz="700" b="0" i="1">
                          <a:solidFill>
                            <a:srgbClr val="000000"/>
                          </a:solidFill>
                          <a:latin typeface="Times New Roman"/>
                        </a:rPr>
                        <a:t>    </a:t>
                      </a:r>
                      <a:r>
                        <a:rPr sz="1100" b="0" i="1">
                          <a:solidFill>
                            <a:srgbClr val="000000"/>
                          </a:solidFill>
                          <a:latin typeface="Calibri"/>
                        </a:rPr>
                        <a:t>Snacks &amp; Confectionery</a:t>
                      </a:r>
                      <a:endParaRPr sz="1100"/>
                    </a:p>
                  </a:txBody>
                  <a:tcPr marL="1028700" marR="9525" marT="9525" marB="0" anchor="ctr"/>
                </a:tc>
              </a:tr>
              <a:tr h="175260">
                <a:tc>
                  <a:txBody>
                    <a:bodyPr wrap="square"/>
                    <a:lstStyle/>
                    <a:p>
                      <a:pPr algn="l"/>
                      <a:r>
                        <a:rPr sz="1100" b="0" i="1">
                          <a:solidFill>
                            <a:srgbClr val="000000"/>
                          </a:solidFill>
                          <a:latin typeface="Calibri"/>
                        </a:rPr>
                        <a:t>5.5.1.8.</a:t>
                      </a:r>
                      <a:r>
                        <a:rPr sz="700" b="0" i="1">
                          <a:solidFill>
                            <a:srgbClr val="000000"/>
                          </a:solidFill>
                          <a:latin typeface="Times New Roman"/>
                        </a:rPr>
                        <a:t>    </a:t>
                      </a:r>
                      <a:r>
                        <a:rPr sz="1100" b="0" i="1">
                          <a:solidFill>
                            <a:srgbClr val="000000"/>
                          </a:solidFill>
                          <a:latin typeface="Calibri"/>
                        </a:rPr>
                        <a:t>Beverage Packaging</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Retail &amp; Consumer Goods</a:t>
                      </a:r>
                      <a:endParaRPr sz="1100"/>
                    </a:p>
                  </a:txBody>
                  <a:tcPr marL="771525" marR="9525" marT="9525" marB="0" anchor="ctr"/>
                </a:tc>
              </a:tr>
              <a:tr h="175260">
                <a:tc>
                  <a:txBody>
                    <a:bodyPr wrap="square"/>
                    <a:lstStyle/>
                    <a:p>
                      <a:pPr algn="l"/>
                      <a:r>
                        <a:rPr sz="1100" b="0" i="1">
                          <a:solidFill>
                            <a:srgbClr val="000000"/>
                          </a:solidFill>
                          <a:latin typeface="Calibri"/>
                        </a:rPr>
                        <a:t>5.5.2.1.</a:t>
                      </a:r>
                      <a:r>
                        <a:rPr sz="700" b="0" i="1">
                          <a:solidFill>
                            <a:srgbClr val="000000"/>
                          </a:solidFill>
                          <a:latin typeface="Times New Roman"/>
                        </a:rPr>
                        <a:t>    </a:t>
                      </a:r>
                      <a:r>
                        <a:rPr sz="1100" b="0" i="1">
                          <a:solidFill>
                            <a:srgbClr val="000000"/>
                          </a:solidFill>
                          <a:latin typeface="Calibri"/>
                        </a:rPr>
                        <a:t>Apparel</a:t>
                      </a:r>
                      <a:endParaRPr sz="1100"/>
                    </a:p>
                  </a:txBody>
                  <a:tcPr marL="1028700" marR="9525" marT="9525" marB="0" anchor="ctr"/>
                </a:tc>
              </a:tr>
              <a:tr h="175260">
                <a:tc>
                  <a:txBody>
                    <a:bodyPr wrap="square"/>
                    <a:lstStyle/>
                    <a:p>
                      <a:pPr algn="l"/>
                      <a:r>
                        <a:rPr sz="1100" b="0" i="1">
                          <a:solidFill>
                            <a:srgbClr val="000000"/>
                          </a:solidFill>
                          <a:latin typeface="Calibri"/>
                        </a:rPr>
                        <a:t>5.5.2.2.</a:t>
                      </a:r>
                      <a:r>
                        <a:rPr sz="700" b="0" i="1">
                          <a:solidFill>
                            <a:srgbClr val="000000"/>
                          </a:solidFill>
                          <a:latin typeface="Times New Roman"/>
                        </a:rPr>
                        <a:t>    </a:t>
                      </a:r>
                      <a:r>
                        <a:rPr sz="1100" b="0" i="1">
                          <a:solidFill>
                            <a:srgbClr val="000000"/>
                          </a:solidFill>
                          <a:latin typeface="Calibri"/>
                        </a:rPr>
                        <a:t>Footwear</a:t>
                      </a:r>
                      <a:endParaRPr sz="1100"/>
                    </a:p>
                  </a:txBody>
                  <a:tcPr marL="1028700" marR="9525" marT="9525" marB="0" anchor="ctr"/>
                </a:tc>
              </a:tr>
              <a:tr h="175260">
                <a:tc>
                  <a:txBody>
                    <a:bodyPr wrap="square"/>
                    <a:lstStyle/>
                    <a:p>
                      <a:pPr algn="l"/>
                      <a:r>
                        <a:rPr sz="1100" b="0" i="1">
                          <a:solidFill>
                            <a:srgbClr val="000000"/>
                          </a:solidFill>
                          <a:latin typeface="Calibri"/>
                        </a:rPr>
                        <a:t>5.5.2.3.</a:t>
                      </a:r>
                      <a:r>
                        <a:rPr sz="700" b="0" i="1">
                          <a:solidFill>
                            <a:srgbClr val="000000"/>
                          </a:solidFill>
                          <a:latin typeface="Times New Roman"/>
                        </a:rPr>
                        <a:t>    </a:t>
                      </a:r>
                      <a:r>
                        <a:rPr sz="1100" b="0" i="1">
                          <a:solidFill>
                            <a:srgbClr val="000000"/>
                          </a:solidFill>
                          <a:latin typeface="Calibri"/>
                        </a:rPr>
                        <a:t>Toys</a:t>
                      </a:r>
                      <a:endParaRPr sz="1100"/>
                    </a:p>
                  </a:txBody>
                  <a:tcPr marL="1028700" marR="9525" marT="9525" marB="0" anchor="ctr"/>
                </a:tc>
              </a:tr>
              <a:tr h="175260">
                <a:tc>
                  <a:txBody>
                    <a:bodyPr wrap="square"/>
                    <a:lstStyle/>
                    <a:p>
                      <a:pPr algn="l"/>
                      <a:r>
                        <a:rPr sz="1100" b="0" i="1">
                          <a:solidFill>
                            <a:srgbClr val="000000"/>
                          </a:solidFill>
                          <a:latin typeface="Calibri"/>
                        </a:rPr>
                        <a:t>5.5.2.4.</a:t>
                      </a:r>
                      <a:r>
                        <a:rPr sz="700" b="0" i="1">
                          <a:solidFill>
                            <a:srgbClr val="000000"/>
                          </a:solidFill>
                          <a:latin typeface="Times New Roman"/>
                        </a:rPr>
                        <a:t>    </a:t>
                      </a:r>
                      <a:r>
                        <a:rPr sz="1100" b="0" i="1">
                          <a:solidFill>
                            <a:srgbClr val="000000"/>
                          </a:solidFill>
                          <a:latin typeface="Calibri"/>
                        </a:rPr>
                        <a:t>Home Care</a:t>
                      </a:r>
                      <a:endParaRPr sz="1100"/>
                    </a:p>
                  </a:txBody>
                  <a:tcPr marL="1028700" marR="9525" marT="9525" marB="0" anchor="ctr"/>
                </a:tc>
              </a:tr>
              <a:tr h="175260">
                <a:tc>
                  <a:txBody>
                    <a:bodyPr wrap="square"/>
                    <a:lstStyle/>
                    <a:p>
                      <a:pPr algn="l"/>
                      <a:r>
                        <a:rPr sz="1100" b="0" i="1">
                          <a:solidFill>
                            <a:srgbClr val="000000"/>
                          </a:solidFill>
                          <a:latin typeface="Calibri"/>
                        </a:rPr>
                        <a:t>5.5.2.5.</a:t>
                      </a:r>
                      <a:r>
                        <a:rPr sz="700" b="0" i="1">
                          <a:solidFill>
                            <a:srgbClr val="000000"/>
                          </a:solidFill>
                          <a:latin typeface="Times New Roman"/>
                        </a:rPr>
                        <a:t>    </a:t>
                      </a:r>
                      <a:r>
                        <a:rPr sz="1100" b="0" i="1">
                          <a:solidFill>
                            <a:srgbClr val="000000"/>
                          </a:solidFill>
                          <a:latin typeface="Calibri"/>
                        </a:rPr>
                        <a:t>Household Goods</a:t>
                      </a:r>
                      <a:endParaRPr sz="1100"/>
                    </a:p>
                  </a:txBody>
                  <a:tcPr marL="1028700" marR="9525" marT="9525" marB="0" anchor="ctr"/>
                </a:tc>
              </a:tr>
              <a:tr h="175260">
                <a:tc>
                  <a:txBody>
                    <a:bodyPr wrap="square"/>
                    <a:lstStyle/>
                    <a:p>
                      <a:pPr algn="l"/>
                      <a:r>
                        <a:rPr sz="1100" b="0" i="1">
                          <a:solidFill>
                            <a:srgbClr val="000000"/>
                          </a:solidFill>
                          <a:latin typeface="Calibri"/>
                        </a:rPr>
                        <a:t>5.5.2.6.</a:t>
                      </a:r>
                      <a:r>
                        <a:rPr sz="700" b="0" i="1">
                          <a:solidFill>
                            <a:srgbClr val="000000"/>
                          </a:solidFill>
                          <a:latin typeface="Times New Roman"/>
                        </a:rPr>
                        <a:t>    </a:t>
                      </a:r>
                      <a:r>
                        <a:rPr sz="1100" b="0" i="1">
                          <a:solidFill>
                            <a:srgbClr val="000000"/>
                          </a:solidFill>
                          <a:latin typeface="Calibri"/>
                        </a:rPr>
                        <a:t>Stationery</a:t>
                      </a:r>
                      <a:endParaRPr sz="1100"/>
                    </a:p>
                  </a:txBody>
                  <a:tcPr marL="1028700"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Healthcare</a:t>
                      </a:r>
                      <a:endParaRPr sz="1100"/>
                    </a:p>
                  </a:txBody>
                  <a:tcPr marL="771525" marR="9525" marT="9525" marB="0" anchor="ctr"/>
                </a:tc>
              </a:tr>
              <a:tr h="175260">
                <a:tc>
                  <a:txBody>
                    <a:bodyPr wrap="square"/>
                    <a:lstStyle/>
                    <a:p>
                      <a:pPr algn="l"/>
                      <a:r>
                        <a:rPr sz="1100" b="0" i="1">
                          <a:solidFill>
                            <a:srgbClr val="000000"/>
                          </a:solidFill>
                          <a:latin typeface="Calibri"/>
                        </a:rPr>
                        <a:t>5.5.3.1.</a:t>
                      </a:r>
                      <a:r>
                        <a:rPr sz="700" b="0" i="1">
                          <a:solidFill>
                            <a:srgbClr val="000000"/>
                          </a:solidFill>
                          <a:latin typeface="Times New Roman"/>
                        </a:rPr>
                        <a:t>    </a:t>
                      </a:r>
                      <a:r>
                        <a:rPr sz="1100" b="0" i="1">
                          <a:solidFill>
                            <a:srgbClr val="000000"/>
                          </a:solidFill>
                          <a:latin typeface="Calibri"/>
                        </a:rPr>
                        <a:t>Pharmaceuticals</a:t>
                      </a:r>
                      <a:endParaRPr sz="1100"/>
                    </a:p>
                  </a:txBody>
                  <a:tcPr marL="1028700" marR="9525" marT="9525" marB="0" anchor="ctr"/>
                </a:tc>
              </a:tr>
              <a:tr h="175260">
                <a:tc>
                  <a:txBody>
                    <a:bodyPr wrap="square"/>
                    <a:lstStyle/>
                    <a:p>
                      <a:pPr algn="l"/>
                      <a:r>
                        <a:rPr sz="1100" b="0" i="1">
                          <a:solidFill>
                            <a:srgbClr val="000000"/>
                          </a:solidFill>
                          <a:latin typeface="Calibri"/>
                        </a:rPr>
                        <a:t>5.5.3.2.</a:t>
                      </a:r>
                      <a:r>
                        <a:rPr sz="700" b="0" i="1">
                          <a:solidFill>
                            <a:srgbClr val="000000"/>
                          </a:solidFill>
                          <a:latin typeface="Times New Roman"/>
                        </a:rPr>
                        <a:t>    </a:t>
                      </a:r>
                      <a:r>
                        <a:rPr sz="1100" b="0" i="1">
                          <a:solidFill>
                            <a:srgbClr val="000000"/>
                          </a:solidFill>
                          <a:latin typeface="Calibri"/>
                        </a:rPr>
                        <a:t>Medical Devices</a:t>
                      </a:r>
                      <a:endParaRPr sz="1100"/>
                    </a:p>
                  </a:txBody>
                  <a:tcPr marL="1028700" marR="9525" marT="9525" marB="0" anchor="ctr"/>
                </a:tc>
              </a:tr>
              <a:tr h="175260">
                <a:tc>
                  <a:txBody>
                    <a:bodyPr wrap="square"/>
                    <a:lstStyle/>
                    <a:p>
                      <a:pPr algn="l"/>
                      <a:r>
                        <a:rPr sz="1100" b="0" i="1">
                          <a:solidFill>
                            <a:srgbClr val="000000"/>
                          </a:solidFill>
                          <a:latin typeface="Calibri"/>
                        </a:rPr>
                        <a:t>5.5.3.3.</a:t>
                      </a:r>
                      <a:r>
                        <a:rPr sz="700" b="0" i="1">
                          <a:solidFill>
                            <a:srgbClr val="000000"/>
                          </a:solidFill>
                          <a:latin typeface="Times New Roman"/>
                        </a:rPr>
                        <a:t>    </a:t>
                      </a:r>
                      <a:r>
                        <a:rPr sz="1100" b="0" i="1">
                          <a:solidFill>
                            <a:srgbClr val="000000"/>
                          </a:solidFill>
                          <a:latin typeface="Calibri"/>
                        </a:rPr>
                        <a:t>Surgical Products</a:t>
                      </a:r>
                      <a:endParaRPr sz="1100"/>
                    </a:p>
                  </a:txBody>
                  <a:tcPr marL="1028700" marR="9525" marT="9525" marB="0" anchor="ctr"/>
                </a:tc>
              </a:tr>
              <a:tr h="175260">
                <a:tc>
                  <a:txBody>
                    <a:bodyPr wrap="square"/>
                    <a:lstStyle/>
                    <a:p>
                      <a:pPr algn="l"/>
                      <a:r>
                        <a:rPr sz="1100" b="0" i="1">
                          <a:solidFill>
                            <a:srgbClr val="000000"/>
                          </a:solidFill>
                          <a:latin typeface="Calibri"/>
                        </a:rPr>
                        <a:t>5.5.3.4.</a:t>
                      </a:r>
                      <a:r>
                        <a:rPr sz="700" b="0" i="1">
                          <a:solidFill>
                            <a:srgbClr val="000000"/>
                          </a:solidFill>
                          <a:latin typeface="Times New Roman"/>
                        </a:rPr>
                        <a:t>    </a:t>
                      </a:r>
                      <a:r>
                        <a:rPr sz="1100" b="0" i="1">
                          <a:solidFill>
                            <a:srgbClr val="000000"/>
                          </a:solidFill>
                          <a:latin typeface="Calibri"/>
                        </a:rPr>
                        <a:t>Diagnostic Kits</a:t>
                      </a:r>
                      <a:endParaRPr sz="1100"/>
                    </a:p>
                  </a:txBody>
                  <a:tcPr marL="1028700" marR="9525" marT="9525" marB="0" anchor="ctr"/>
                </a:tc>
              </a:tr>
              <a:tr h="175260">
                <a:tc>
                  <a:txBody>
                    <a:bodyPr wrap="square"/>
                    <a:lstStyle/>
                    <a:p>
                      <a:pPr algn="l"/>
                      <a:r>
                        <a:rPr sz="1100" b="0" i="1">
                          <a:solidFill>
                            <a:srgbClr val="000000"/>
                          </a:solidFill>
                          <a:latin typeface="Calibri"/>
                        </a:rPr>
                        <a:t>5.5.3.5.</a:t>
                      </a:r>
                      <a:r>
                        <a:rPr sz="700" b="0" i="1">
                          <a:solidFill>
                            <a:srgbClr val="000000"/>
                          </a:solidFill>
                          <a:latin typeface="Times New Roman"/>
                        </a:rPr>
                        <a:t>    </a:t>
                      </a:r>
                      <a:r>
                        <a:rPr sz="1100" b="0" i="1">
                          <a:solidFill>
                            <a:srgbClr val="000000"/>
                          </a:solidFill>
                          <a:latin typeface="Calibri"/>
                        </a:rPr>
                        <a:t>Laboratory Supplies</a:t>
                      </a:r>
                      <a:endParaRPr sz="1100"/>
                    </a:p>
                  </a:txBody>
                  <a:tcPr marL="1028700"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E-commerce &amp; Logistics</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5.5.4.1.</a:t>
                      </a:r>
                      <a:r>
                        <a:rPr sz="700" b="0" i="1">
                          <a:solidFill>
                            <a:srgbClr val="000000"/>
                          </a:solidFill>
                          <a:latin typeface="Times New Roman"/>
                        </a:rPr>
                        <a:t>    </a:t>
                      </a:r>
                      <a:r>
                        <a:rPr sz="1100" b="0" i="1">
                          <a:solidFill>
                            <a:srgbClr val="000000"/>
                          </a:solidFill>
                          <a:latin typeface="Calibri"/>
                        </a:rPr>
                        <a:t>Courier Packaging</a:t>
                      </a:r>
                      <a:endParaRPr sz="1100"/>
                    </a:p>
                  </a:txBody>
                  <a:tcPr marL="1028700" marR="9525" marT="9525" marB="0" anchor="ctr"/>
                </a:tc>
              </a:tr>
              <a:tr h="175260">
                <a:tc>
                  <a:txBody>
                    <a:bodyPr wrap="square"/>
                    <a:lstStyle/>
                    <a:p>
                      <a:pPr algn="l"/>
                      <a:r>
                        <a:rPr sz="1100" b="0" i="1">
                          <a:solidFill>
                            <a:srgbClr val="000000"/>
                          </a:solidFill>
                          <a:latin typeface="Calibri"/>
                        </a:rPr>
                        <a:t>5.5.4.2.</a:t>
                      </a:r>
                      <a:r>
                        <a:rPr sz="700" b="0" i="1">
                          <a:solidFill>
                            <a:srgbClr val="000000"/>
                          </a:solidFill>
                          <a:latin typeface="Times New Roman"/>
                        </a:rPr>
                        <a:t>    </a:t>
                      </a:r>
                      <a:r>
                        <a:rPr sz="1100" b="0" i="1">
                          <a:solidFill>
                            <a:srgbClr val="000000"/>
                          </a:solidFill>
                          <a:latin typeface="Calibri"/>
                        </a:rPr>
                        <a:t>Fulfillment Centers</a:t>
                      </a:r>
                      <a:endParaRPr sz="1100"/>
                    </a:p>
                  </a:txBody>
                  <a:tcPr marL="1028700" marR="9525" marT="9525" marB="0" anchor="ctr"/>
                </a:tc>
              </a:tr>
              <a:tr h="175260">
                <a:tc>
                  <a:txBody>
                    <a:bodyPr wrap="square"/>
                    <a:lstStyle/>
                    <a:p>
                      <a:pPr algn="l"/>
                      <a:r>
                        <a:rPr sz="1100" b="0" i="1">
                          <a:solidFill>
                            <a:srgbClr val="000000"/>
                          </a:solidFill>
                          <a:latin typeface="Calibri"/>
                        </a:rPr>
                        <a:t>5.5.4.3.</a:t>
                      </a:r>
                      <a:r>
                        <a:rPr sz="700" b="0" i="1">
                          <a:solidFill>
                            <a:srgbClr val="000000"/>
                          </a:solidFill>
                          <a:latin typeface="Times New Roman"/>
                        </a:rPr>
                        <a:t>    </a:t>
                      </a:r>
                      <a:r>
                        <a:rPr sz="1100" b="0" i="1">
                          <a:solidFill>
                            <a:srgbClr val="000000"/>
                          </a:solidFill>
                          <a:latin typeface="Calibri"/>
                        </a:rPr>
                        <a:t>Return Packaging</a:t>
                      </a:r>
                      <a:endParaRPr sz="1100"/>
                    </a:p>
                  </a:txBody>
                  <a:tcPr marL="1028700" marR="9525" marT="9525" marB="0" anchor="ctr"/>
                </a:tc>
              </a:tr>
              <a:tr h="175260">
                <a:tc>
                  <a:txBody>
                    <a:bodyPr wrap="square"/>
                    <a:lstStyle/>
                    <a:p>
                      <a:pPr algn="l"/>
                      <a:r>
                        <a:rPr sz="1100" b="0" i="1">
                          <a:solidFill>
                            <a:srgbClr val="000000"/>
                          </a:solidFill>
                          <a:latin typeface="Calibri"/>
                        </a:rPr>
                        <a:t>5.5.4.4.</a:t>
                      </a:r>
                      <a:r>
                        <a:rPr sz="700" b="0" i="1">
                          <a:solidFill>
                            <a:srgbClr val="000000"/>
                          </a:solidFill>
                          <a:latin typeface="Times New Roman"/>
                        </a:rPr>
                        <a:t>    </a:t>
                      </a:r>
                      <a:r>
                        <a:rPr sz="1100" b="0" i="1">
                          <a:solidFill>
                            <a:srgbClr val="000000"/>
                          </a:solidFill>
                          <a:latin typeface="Calibri"/>
                        </a:rPr>
                        <a:t>Warehouse Packaging</a:t>
                      </a:r>
                      <a:endParaRPr sz="1100"/>
                    </a:p>
                  </a:txBody>
                  <a:tcPr marL="1028700"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Industrial</a:t>
                      </a:r>
                      <a:endParaRPr sz="1100"/>
                    </a:p>
                  </a:txBody>
                  <a:tcPr marL="771525" marR="9525" marT="9525" marB="0" anchor="ctr"/>
                </a:tc>
              </a:tr>
              <a:tr h="175260">
                <a:tc>
                  <a:txBody>
                    <a:bodyPr wrap="square"/>
                    <a:lstStyle/>
                    <a:p>
                      <a:pPr algn="l"/>
                      <a:r>
                        <a:rPr sz="1100" b="0" i="1">
                          <a:solidFill>
                            <a:srgbClr val="000000"/>
                          </a:solidFill>
                          <a:latin typeface="Calibri"/>
                        </a:rPr>
                        <a:t>5.5.5.1.</a:t>
                      </a:r>
                      <a:r>
                        <a:rPr sz="700" b="0" i="1">
                          <a:solidFill>
                            <a:srgbClr val="000000"/>
                          </a:solidFill>
                          <a:latin typeface="Times New Roman"/>
                        </a:rPr>
                        <a:t>    </a:t>
                      </a:r>
                      <a:r>
                        <a:rPr sz="1100" b="0" i="1">
                          <a:solidFill>
                            <a:srgbClr val="000000"/>
                          </a:solidFill>
                          <a:latin typeface="Calibri"/>
                        </a:rPr>
                        <a:t>Automotive Components</a:t>
                      </a:r>
                      <a:endParaRPr sz="1100"/>
                    </a:p>
                  </a:txBody>
                  <a:tcPr marL="1028700" marR="9525" marT="9525" marB="0" anchor="ctr"/>
                </a:tc>
              </a:tr>
              <a:tr h="175260">
                <a:tc>
                  <a:txBody>
                    <a:bodyPr wrap="square"/>
                    <a:lstStyle/>
                    <a:p>
                      <a:pPr algn="l"/>
                      <a:r>
                        <a:rPr sz="1100" b="0" i="1">
                          <a:solidFill>
                            <a:srgbClr val="000000"/>
                          </a:solidFill>
                          <a:latin typeface="Calibri"/>
                        </a:rPr>
                        <a:t>5.5.5.2.</a:t>
                      </a:r>
                      <a:r>
                        <a:rPr sz="700" b="0" i="1">
                          <a:solidFill>
                            <a:srgbClr val="000000"/>
                          </a:solidFill>
                          <a:latin typeface="Times New Roman"/>
                        </a:rPr>
                        <a:t>    </a:t>
                      </a:r>
                      <a:r>
                        <a:rPr sz="1100" b="0" i="1">
                          <a:solidFill>
                            <a:srgbClr val="000000"/>
                          </a:solidFill>
                          <a:latin typeface="Calibri"/>
                        </a:rPr>
                        <a:t>Chemicals</a:t>
                      </a:r>
                      <a:endParaRPr sz="1100"/>
                    </a:p>
                  </a:txBody>
                  <a:tcPr marL="1028700" marR="9525" marT="9525" marB="0" anchor="ctr"/>
                </a:tc>
              </a:tr>
              <a:tr h="175260">
                <a:tc>
                  <a:txBody>
                    <a:bodyPr wrap="square"/>
                    <a:lstStyle/>
                    <a:p>
                      <a:pPr algn="l"/>
                      <a:r>
                        <a:rPr sz="1100" b="0" i="1">
                          <a:solidFill>
                            <a:srgbClr val="000000"/>
                          </a:solidFill>
                          <a:latin typeface="Calibri"/>
                        </a:rPr>
                        <a:t>5.5.5.3.</a:t>
                      </a:r>
                      <a:r>
                        <a:rPr sz="700" b="0" i="1">
                          <a:solidFill>
                            <a:srgbClr val="000000"/>
                          </a:solidFill>
                          <a:latin typeface="Times New Roman"/>
                        </a:rPr>
                        <a:t>    </a:t>
                      </a:r>
                      <a:r>
                        <a:rPr sz="1100" b="0" i="1">
                          <a:solidFill>
                            <a:srgbClr val="000000"/>
                          </a:solidFill>
                          <a:latin typeface="Calibri"/>
                        </a:rPr>
                        <a:t>Machinery Parts</a:t>
                      </a:r>
                      <a:endParaRPr sz="1100"/>
                    </a:p>
                  </a:txBody>
                  <a:tcPr marL="1028700" marR="9525" marT="9525" marB="0" anchor="ctr"/>
                </a:tc>
              </a:tr>
              <a:tr h="175260">
                <a:tc>
                  <a:txBody>
                    <a:bodyPr wrap="square"/>
                    <a:lstStyle/>
                    <a:p>
                      <a:pPr algn="l"/>
                      <a:r>
                        <a:rPr sz="1100" b="0" i="1">
                          <a:solidFill>
                            <a:srgbClr val="000000"/>
                          </a:solidFill>
                          <a:latin typeface="Calibri"/>
                        </a:rPr>
                        <a:t>5.5.5.4.</a:t>
                      </a:r>
                      <a:r>
                        <a:rPr sz="700" b="0" i="1">
                          <a:solidFill>
                            <a:srgbClr val="000000"/>
                          </a:solidFill>
                          <a:latin typeface="Times New Roman"/>
                        </a:rPr>
                        <a:t>    </a:t>
                      </a:r>
                      <a:r>
                        <a:rPr sz="1100" b="0" i="1">
                          <a:solidFill>
                            <a:srgbClr val="000000"/>
                          </a:solidFill>
                          <a:latin typeface="Calibri"/>
                        </a:rPr>
                        <a:t>Hardware</a:t>
                      </a:r>
                      <a:endParaRPr sz="1100"/>
                    </a:p>
                  </a:txBody>
                  <a:tcPr marL="1028700" marR="9525" marT="9525" marB="0" anchor="ctr"/>
                </a:tc>
              </a:tr>
              <a:tr h="175260">
                <a:tc>
                  <a:txBody>
                    <a:bodyPr wrap="square"/>
                    <a:lstStyle/>
                    <a:p>
                      <a:pPr algn="l"/>
                      <a:r>
                        <a:rPr sz="1100" b="0" i="1">
                          <a:solidFill>
                            <a:srgbClr val="000000"/>
                          </a:solidFill>
                          <a:latin typeface="Calibri"/>
                        </a:rPr>
                        <a:t>5.5.5.5.</a:t>
                      </a:r>
                      <a:r>
                        <a:rPr sz="700" b="0" i="1">
                          <a:solidFill>
                            <a:srgbClr val="000000"/>
                          </a:solidFill>
                          <a:latin typeface="Times New Roman"/>
                        </a:rPr>
                        <a:t>    </a:t>
                      </a:r>
                      <a:r>
                        <a:rPr sz="1100" b="0" i="1">
                          <a:solidFill>
                            <a:srgbClr val="000000"/>
                          </a:solidFill>
                          <a:latin typeface="Calibri"/>
                        </a:rPr>
                        <a:t>Electrical Components</a:t>
                      </a:r>
                      <a:endParaRPr sz="1100"/>
                    </a:p>
                  </a:txBody>
                  <a:tcPr marL="1028700"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Agriculture</a:t>
                      </a:r>
                      <a:endParaRPr sz="1100"/>
                    </a:p>
                  </a:txBody>
                  <a:tcPr marL="771525" marR="9525" marT="9525" marB="0" anchor="ctr"/>
                </a:tc>
              </a:tr>
              <a:tr h="175260">
                <a:tc>
                  <a:txBody>
                    <a:bodyPr wrap="square"/>
                    <a:lstStyle/>
                    <a:p>
                      <a:pPr algn="l"/>
                      <a:r>
                        <a:rPr sz="1100" b="0" i="1">
                          <a:solidFill>
                            <a:srgbClr val="000000"/>
                          </a:solidFill>
                          <a:latin typeface="Calibri"/>
                        </a:rPr>
                        <a:t>5.5.6.1.</a:t>
                      </a:r>
                      <a:r>
                        <a:rPr sz="700" b="0" i="1">
                          <a:solidFill>
                            <a:srgbClr val="000000"/>
                          </a:solidFill>
                          <a:latin typeface="Times New Roman"/>
                        </a:rPr>
                        <a:t>    </a:t>
                      </a:r>
                      <a:r>
                        <a:rPr sz="1100" b="0" i="1">
                          <a:solidFill>
                            <a:srgbClr val="000000"/>
                          </a:solidFill>
                          <a:latin typeface="Calibri"/>
                        </a:rPr>
                        <a:t>Seeds</a:t>
                      </a:r>
                      <a:endParaRPr sz="1100"/>
                    </a:p>
                  </a:txBody>
                  <a:tcPr marL="1028700" marR="9525" marT="9525" marB="0" anchor="ctr"/>
                </a:tc>
              </a:tr>
              <a:tr h="175260">
                <a:tc>
                  <a:txBody>
                    <a:bodyPr wrap="square"/>
                    <a:lstStyle/>
                    <a:p>
                      <a:pPr algn="l"/>
                      <a:r>
                        <a:rPr sz="1100" b="0" i="1">
                          <a:solidFill>
                            <a:srgbClr val="000000"/>
                          </a:solidFill>
                          <a:latin typeface="Calibri"/>
                        </a:rPr>
                        <a:t>5.5.6.2.</a:t>
                      </a:r>
                      <a:r>
                        <a:rPr sz="700" b="0" i="1">
                          <a:solidFill>
                            <a:srgbClr val="000000"/>
                          </a:solidFill>
                          <a:latin typeface="Times New Roman"/>
                        </a:rPr>
                        <a:t>    </a:t>
                      </a:r>
                      <a:r>
                        <a:rPr sz="1100" b="0" i="1">
                          <a:solidFill>
                            <a:srgbClr val="000000"/>
                          </a:solidFill>
                          <a:latin typeface="Calibri"/>
                        </a:rPr>
                        <a:t>Fertilizers</a:t>
                      </a:r>
                      <a:endParaRPr sz="1100"/>
                    </a:p>
                  </a:txBody>
                  <a:tcPr marL="1028700" marR="9525" marT="9525" marB="0" anchor="ctr"/>
                </a:tc>
              </a:tr>
              <a:tr h="175260">
                <a:tc>
                  <a:txBody>
                    <a:bodyPr wrap="square"/>
                    <a:lstStyle/>
                    <a:p>
                      <a:pPr algn="l"/>
                      <a:r>
                        <a:rPr sz="1100" b="0" i="1">
                          <a:solidFill>
                            <a:srgbClr val="000000"/>
                          </a:solidFill>
                          <a:latin typeface="Calibri"/>
                        </a:rPr>
                        <a:t>5.5.6.3.</a:t>
                      </a:r>
                      <a:r>
                        <a:rPr sz="700" b="0" i="1">
                          <a:solidFill>
                            <a:srgbClr val="000000"/>
                          </a:solidFill>
                          <a:latin typeface="Times New Roman"/>
                        </a:rPr>
                        <a:t>    </a:t>
                      </a:r>
                      <a:r>
                        <a:rPr sz="1100" b="0" i="1">
                          <a:solidFill>
                            <a:srgbClr val="000000"/>
                          </a:solidFill>
                          <a:latin typeface="Calibri"/>
                        </a:rPr>
                        <a:t>Animal Feed</a:t>
                      </a:r>
                      <a:endParaRPr sz="1100"/>
                    </a:p>
                  </a:txBody>
                  <a:tcPr marL="1028700" marR="9525" marT="9525" marB="0" anchor="ctr"/>
                </a:tc>
              </a:tr>
              <a:tr h="175260">
                <a:tc>
                  <a:txBody>
                    <a:bodyPr wrap="square"/>
                    <a:lstStyle/>
                    <a:p>
                      <a:pPr algn="l"/>
                      <a:r>
                        <a:rPr sz="1100" b="0" i="1">
                          <a:solidFill>
                            <a:srgbClr val="000000"/>
                          </a:solidFill>
                          <a:latin typeface="Calibri"/>
                        </a:rPr>
                        <a:t>5.5.6.4.</a:t>
                      </a:r>
                      <a:r>
                        <a:rPr sz="700" b="0" i="1">
                          <a:solidFill>
                            <a:srgbClr val="000000"/>
                          </a:solidFill>
                          <a:latin typeface="Times New Roman"/>
                        </a:rPr>
                        <a:t>    </a:t>
                      </a:r>
                      <a:r>
                        <a:rPr sz="1100" b="0" i="1">
                          <a:solidFill>
                            <a:srgbClr val="000000"/>
                          </a:solidFill>
                          <a:latin typeface="Calibri"/>
                        </a:rPr>
                        <a:t>Produce Packaging</a:t>
                      </a:r>
                      <a:endParaRPr sz="1100"/>
                    </a:p>
                  </a:txBody>
                  <a:tcPr marL="1028700" marR="9525" marT="9525" marB="0" anchor="ctr"/>
                </a:tc>
              </a:tr>
              <a:tr h="175260">
                <a:tc>
                  <a:txBody>
                    <a:bodyPr wrap="square"/>
                    <a:lstStyle/>
                    <a:p>
                      <a:pPr algn="l"/>
                      <a:r>
                        <a:rPr sz="1100" b="0" i="0">
                          <a:solidFill>
                            <a:srgbClr val="000000"/>
                          </a:solidFill>
                          <a:latin typeface="Calibri"/>
                        </a:rPr>
                        <a:t>5.5.7.</a:t>
                      </a:r>
                      <a:r>
                        <a:rPr sz="700" b="0" i="0">
                          <a:solidFill>
                            <a:srgbClr val="000000"/>
                          </a:solidFill>
                          <a:latin typeface="Times New Roman"/>
                        </a:rPr>
                        <a:t>   </a:t>
                      </a:r>
                      <a:r>
                        <a:rPr sz="1100" b="0" i="0">
                          <a:solidFill>
                            <a:srgbClr val="000000"/>
                          </a:solidFill>
                          <a:latin typeface="Calibri"/>
                        </a:rPr>
                        <a:t>Electronics</a:t>
                      </a:r>
                      <a:endParaRPr sz="1100"/>
                    </a:p>
                  </a:txBody>
                  <a:tcPr marL="771525" marR="9525" marT="9525" marB="0" anchor="ctr"/>
                </a:tc>
              </a:tr>
              <a:tr h="175260">
                <a:tc>
                  <a:txBody>
                    <a:bodyPr wrap="square"/>
                    <a:lstStyle/>
                    <a:p>
                      <a:pPr algn="l"/>
                      <a:r>
                        <a:rPr sz="1100" b="0" i="1">
                          <a:solidFill>
                            <a:srgbClr val="000000"/>
                          </a:solidFill>
                          <a:latin typeface="Calibri"/>
                        </a:rPr>
                        <a:t>5.5.7.1.</a:t>
                      </a:r>
                      <a:r>
                        <a:rPr sz="700" b="0" i="1">
                          <a:solidFill>
                            <a:srgbClr val="000000"/>
                          </a:solidFill>
                          <a:latin typeface="Times New Roman"/>
                        </a:rPr>
                        <a:t>    </a:t>
                      </a:r>
                      <a:r>
                        <a:rPr sz="1100" b="0" i="1">
                          <a:solidFill>
                            <a:srgbClr val="000000"/>
                          </a:solidFill>
                          <a:latin typeface="Calibri"/>
                        </a:rPr>
                        <a:t>Semiconductors</a:t>
                      </a:r>
                      <a:endParaRPr sz="1100"/>
                    </a:p>
                  </a:txBody>
                  <a:tcPr marL="1028700" marR="9525" marT="9525" marB="0" anchor="ctr"/>
                </a:tc>
              </a:tr>
              <a:tr h="175260">
                <a:tc>
                  <a:txBody>
                    <a:bodyPr wrap="square"/>
                    <a:lstStyle/>
                    <a:p>
                      <a:pPr algn="l"/>
                      <a:r>
                        <a:rPr sz="1100" b="0" i="1">
                          <a:solidFill>
                            <a:srgbClr val="000000"/>
                          </a:solidFill>
                          <a:latin typeface="Calibri"/>
                        </a:rPr>
                        <a:t>5.5.7.2.</a:t>
                      </a:r>
                      <a:r>
                        <a:rPr sz="700" b="0" i="1">
                          <a:solidFill>
                            <a:srgbClr val="000000"/>
                          </a:solidFill>
                          <a:latin typeface="Times New Roman"/>
                        </a:rPr>
                        <a:t>    </a:t>
                      </a:r>
                      <a:r>
                        <a:rPr sz="1100" b="0" i="1">
                          <a:solidFill>
                            <a:srgbClr val="000000"/>
                          </a:solidFill>
                          <a:latin typeface="Calibri"/>
                        </a:rPr>
                        <a:t>Consumer Electronics</a:t>
                      </a:r>
                      <a:endParaRPr sz="1100"/>
                    </a:p>
                  </a:txBody>
                  <a:tcPr marL="1028700" marR="9525" marT="9525" marB="0" anchor="ctr"/>
                </a:tc>
              </a:tr>
              <a:tr h="175260">
                <a:tc>
                  <a:txBody>
                    <a:bodyPr wrap="square"/>
                    <a:lstStyle/>
                    <a:p>
                      <a:pPr algn="l"/>
                      <a:r>
                        <a:rPr sz="1100" b="0" i="1">
                          <a:solidFill>
                            <a:srgbClr val="000000"/>
                          </a:solidFill>
                          <a:latin typeface="Calibri"/>
                        </a:rPr>
                        <a:t>5.5.7.3.</a:t>
                      </a:r>
                      <a:r>
                        <a:rPr sz="700" b="0" i="1">
                          <a:solidFill>
                            <a:srgbClr val="000000"/>
                          </a:solidFill>
                          <a:latin typeface="Times New Roman"/>
                        </a:rPr>
                        <a:t>    </a:t>
                      </a:r>
                      <a:r>
                        <a:rPr sz="1100" b="0" i="1">
                          <a:solidFill>
                            <a:srgbClr val="000000"/>
                          </a:solidFill>
                          <a:latin typeface="Calibri"/>
                        </a:rPr>
                        <a:t>Electronic Components</a:t>
                      </a:r>
                      <a:endParaRPr sz="1100"/>
                    </a:p>
                  </a:txBody>
                  <a:tcPr marL="1028700" marR="9525" marT="9525" marB="0" anchor="ctr"/>
                </a:tc>
              </a:tr>
              <a:tr h="175260">
                <a:tc>
                  <a:txBody>
                    <a:bodyPr wrap="square"/>
                    <a:lstStyle/>
                    <a:p>
                      <a:pPr algn="l"/>
                      <a:r>
                        <a:rPr sz="1100" b="0" i="1">
                          <a:solidFill>
                            <a:srgbClr val="000000"/>
                          </a:solidFill>
                          <a:latin typeface="Calibri"/>
                        </a:rPr>
                        <a:t>5.5.7.4.</a:t>
                      </a:r>
                      <a:r>
                        <a:rPr sz="700" b="0" i="1">
                          <a:solidFill>
                            <a:srgbClr val="000000"/>
                          </a:solidFill>
                          <a:latin typeface="Times New Roman"/>
                        </a:rPr>
                        <a:t>    </a:t>
                      </a:r>
                      <a:r>
                        <a:rPr sz="1100" b="0" i="1">
                          <a:solidFill>
                            <a:srgbClr val="000000"/>
                          </a:solidFill>
                          <a:latin typeface="Calibri"/>
                        </a:rPr>
                        <a:t>PCB Packaging</a:t>
                      </a:r>
                      <a:endParaRPr sz="1100"/>
                    </a:p>
                  </a:txBody>
                  <a:tcPr marL="1028700" marR="9525" marT="9525" marB="0" anchor="ctr"/>
                </a:tc>
              </a:tr>
              <a:tr h="175260">
                <a:tc>
                  <a:txBody>
                    <a:bodyPr wrap="square"/>
                    <a:lstStyle/>
                    <a:p>
                      <a:pPr algn="l"/>
                      <a:r>
                        <a:rPr sz="1100" b="0" i="0">
                          <a:solidFill>
                            <a:srgbClr val="000000"/>
                          </a:solidFill>
                          <a:latin typeface="Calibri"/>
                        </a:rPr>
                        <a:t>5.5.8.</a:t>
                      </a:r>
                      <a:r>
                        <a:rPr sz="700" b="0" i="0">
                          <a:solidFill>
                            <a:srgbClr val="000000"/>
                          </a:solidFill>
                          <a:latin typeface="Times New Roman"/>
                        </a:rPr>
                        <a:t>   </a:t>
                      </a:r>
                      <a:r>
                        <a:rPr sz="1100" b="0" i="0">
                          <a:solidFill>
                            <a:srgbClr val="000000"/>
                          </a:solidFill>
                          <a:latin typeface="Calibri"/>
                        </a:rPr>
                        <a:t>Personal Care &amp; Cosmetics</a:t>
                      </a:r>
                      <a:endParaRPr sz="1100"/>
                    </a:p>
                  </a:txBody>
                  <a:tcPr marL="771525" marR="9525" marT="9525" marB="0" anchor="ctr"/>
                </a:tc>
              </a:tr>
              <a:tr h="175260">
                <a:tc>
                  <a:txBody>
                    <a:bodyPr wrap="square"/>
                    <a:lstStyle/>
                    <a:p>
                      <a:pPr algn="l"/>
                      <a:r>
                        <a:rPr sz="1100" b="0" i="1">
                          <a:solidFill>
                            <a:srgbClr val="000000"/>
                          </a:solidFill>
                          <a:latin typeface="Calibri"/>
                        </a:rPr>
                        <a:t>5.5.8.1.</a:t>
                      </a:r>
                      <a:r>
                        <a:rPr sz="700" b="0" i="1">
                          <a:solidFill>
                            <a:srgbClr val="000000"/>
                          </a:solidFill>
                          <a:latin typeface="Times New Roman"/>
                        </a:rPr>
                        <a:t>    </a:t>
                      </a:r>
                      <a:r>
                        <a:rPr sz="1100" b="0" i="1">
                          <a:solidFill>
                            <a:srgbClr val="000000"/>
                          </a:solidFill>
                          <a:latin typeface="Calibri"/>
                        </a:rPr>
                        <a:t>Cosmetic Products</a:t>
                      </a:r>
                      <a:endParaRPr sz="1100"/>
                    </a:p>
                  </a:txBody>
                  <a:tcPr marL="1028700" marR="9525" marT="9525" marB="0" anchor="ctr"/>
                </a:tc>
              </a:tr>
              <a:tr h="175260">
                <a:tc>
                  <a:txBody>
                    <a:bodyPr wrap="square"/>
                    <a:lstStyle/>
                    <a:p>
                      <a:pPr algn="l"/>
                      <a:r>
                        <a:rPr sz="1100" b="0" i="1">
                          <a:solidFill>
                            <a:srgbClr val="000000"/>
                          </a:solidFill>
                          <a:latin typeface="Calibri"/>
                        </a:rPr>
                        <a:t>5.5.8.2.</a:t>
                      </a:r>
                      <a:r>
                        <a:rPr sz="700" b="0" i="1">
                          <a:solidFill>
                            <a:srgbClr val="000000"/>
                          </a:solidFill>
                          <a:latin typeface="Times New Roman"/>
                        </a:rPr>
                        <a:t>    </a:t>
                      </a:r>
                      <a:r>
                        <a:rPr sz="1100" b="0" i="1">
                          <a:solidFill>
                            <a:srgbClr val="000000"/>
                          </a:solidFill>
                          <a:latin typeface="Calibri"/>
                        </a:rPr>
                        <a:t>Toiletries</a:t>
                      </a:r>
                      <a:endParaRPr sz="1100"/>
                    </a:p>
                  </a:txBody>
                  <a:tcPr marL="1028700" marR="9525" marT="9525" marB="0" anchor="ctr"/>
                </a:tc>
              </a:tr>
              <a:tr h="175260">
                <a:tc>
                  <a:txBody>
                    <a:bodyPr wrap="square"/>
                    <a:lstStyle/>
                    <a:p>
                      <a:pPr algn="l"/>
                      <a:r>
                        <a:rPr sz="1100" b="0" i="1">
                          <a:solidFill>
                            <a:srgbClr val="000000"/>
                          </a:solidFill>
                          <a:latin typeface="Calibri"/>
                        </a:rPr>
                        <a:t>5.5.8.3.</a:t>
                      </a:r>
                      <a:r>
                        <a:rPr sz="700" b="0" i="1">
                          <a:solidFill>
                            <a:srgbClr val="000000"/>
                          </a:solidFill>
                          <a:latin typeface="Times New Roman"/>
                        </a:rPr>
                        <a:t>    </a:t>
                      </a:r>
                      <a:r>
                        <a:rPr sz="1100" b="0" i="1">
                          <a:solidFill>
                            <a:srgbClr val="000000"/>
                          </a:solidFill>
                          <a:latin typeface="Calibri"/>
                        </a:rPr>
                        <a:t>Beauty Products</a:t>
                      </a:r>
                      <a:endParaRPr sz="1100"/>
                    </a:p>
                  </a:txBody>
                  <a:tcPr marL="1028700"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6.5.1.1.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6.5.1.2.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6.5.2.1.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6.5.2.2.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6.5.2.3.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6.5.3.1.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6.5.3.2.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6.5.3.3.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6.5.4.1.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6.5.4.2.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6.5.4.3.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6.5.4.4.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6.5.4.5.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6.5.4.6.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6.5.4.7.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6.5.4.8.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6.5.4.9.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6.5.5.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6.5.5.1.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6.5.5.2.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6.5.5.3.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6.5.5.4.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6.5.5.5.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6.5.5.6.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6.5.5.7.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6.5.5.8.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6.5.5.9.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6.5.5.10.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6.5.5.11.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6.5.5.12.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6.5.6.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6.5.6.1.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6.5.6.2.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6.5.6.3.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6.5.6.4.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6.5.6.5.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6.5.6.6.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6.5.6.7.</a:t>
                      </a:r>
                      <a:r>
                        <a:rPr sz="700" b="0" i="1">
                          <a:solidFill>
                            <a:srgbClr val="000000"/>
                          </a:solidFill>
                          <a:latin typeface="Times New Roman"/>
                        </a:rPr>
                        <a:t>    </a:t>
                      </a:r>
                      <a:r>
                        <a:rPr sz="1100" b="0" i="1">
                          <a:solidFill>
                            <a:srgbClr val="000000"/>
                          </a:solidFill>
                          <a:latin typeface="Calibri"/>
                        </a:rPr>
                        <a:t>Rest if MEA</a:t>
                      </a:r>
                      <a:endParaRPr sz="1100"/>
                    </a:p>
                  </a:txBody>
                  <a:tcPr marL="1028700" marR="9525" marT="9525" marB="0" anchor="ctr"/>
                </a:tc>
              </a:tr>
              <a:tr h="350520">
                <a:tc>
                  <a:txBody>
                    <a:bodyPr wrap="square"/>
                    <a:lstStyle/>
                    <a:p>
                      <a:pPr algn="l"/>
                      <a:r>
                        <a:rPr sz="1100" b="0" i="1">
                          <a:solidFill>
                            <a:srgbClr val="EE0000"/>
                          </a:solidFill>
                          <a:latin typeface="Calibri"/>
                        </a:rPr>
                        <a:t>Note: Value &amp; Volume (US$ Mn / UNITS)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Product Type × End-Use Industry</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End-Use Industry × Material</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8.4.1.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8.4.2.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8.4.3.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9.4.1.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9.4.2.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9.4.3.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10.4.1.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10.4.2.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10.4.3.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11.4.1.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11.4.2.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11.4.3.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14.1.1.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14.1.2.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14.1.3.</a:t>
                      </a:r>
                      <a:r>
                        <a:rPr sz="700" b="0" i="0">
                          <a:solidFill>
                            <a:srgbClr val="000000"/>
                          </a:solidFill>
                          <a:latin typeface="Times New Roman"/>
                        </a:rPr>
                        <a:t> </a:t>
                      </a:r>
                      <a:r>
                        <a:rPr sz="1100" b="0" i="0">
                          <a:solidFill>
                            <a:srgbClr val="000000"/>
                          </a:solidFill>
                          <a:latin typeface="Calibri"/>
                        </a:rPr>
                        <a:t>Retail Pricing (where applicable)</a:t>
                      </a:r>
                      <a:endParaRPr sz="1100"/>
                    </a:p>
                  </a:txBody>
                  <a:tcPr marL="7715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Segment-wise Price Comparison (Product Type vs Material)</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14.5.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14.6.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15.1.1.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15.1.2.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15.1.3.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16.1.1.</a:t>
                      </a:r>
                      <a:r>
                        <a:rPr sz="700" b="0" i="0">
                          <a:solidFill>
                            <a:srgbClr val="000000"/>
                          </a:solidFill>
                          <a:latin typeface="Times New Roman"/>
                        </a:rPr>
                        <a:t> </a:t>
                      </a:r>
                      <a:r>
                        <a:rPr sz="1100" b="0" i="0">
                          <a:solidFill>
                            <a:srgbClr val="000000"/>
                          </a:solidFill>
                          <a:latin typeface="Calibri"/>
                        </a:rPr>
                        <a:t>Manufacturers</a:t>
                      </a:r>
                      <a:endParaRPr sz="1100"/>
                    </a:p>
                  </a:txBody>
                  <a:tcPr marL="771525" marR="9525" marT="9525" marB="0" anchor="ctr"/>
                </a:tc>
              </a:tr>
              <a:tr h="175260">
                <a:tc>
                  <a:txBody>
                    <a:bodyPr wrap="square"/>
                    <a:lstStyle/>
                    <a:p>
                      <a:pPr algn="l"/>
                      <a:r>
                        <a:rPr sz="1100" b="0" i="0">
                          <a:solidFill>
                            <a:srgbClr val="000000"/>
                          </a:solidFill>
                          <a:latin typeface="Calibri"/>
                        </a:rPr>
                        <a:t>16.1.2.</a:t>
                      </a:r>
                      <a:r>
                        <a:rPr sz="700" b="0" i="0">
                          <a:solidFill>
                            <a:srgbClr val="000000"/>
                          </a:solidFill>
                          <a:latin typeface="Times New Roman"/>
                        </a:rPr>
                        <a:t> </a:t>
                      </a:r>
                      <a:r>
                        <a:rPr sz="1100" b="0" i="0">
                          <a:solidFill>
                            <a:srgbClr val="000000"/>
                          </a:solidFill>
                          <a:latin typeface="Calibri"/>
                        </a:rPr>
                        <a:t>Customers</a:t>
                      </a:r>
                      <a:endParaRPr sz="1100"/>
                    </a:p>
                  </a:txBody>
                  <a:tcPr marL="771525" marR="9525" marT="9525" marB="0" anchor="ctr"/>
                </a:tc>
              </a:tr>
              <a:tr h="175260">
                <a:tc>
                  <a:txBody>
                    <a:bodyPr wrap="square"/>
                    <a:lstStyle/>
                    <a:p>
                      <a:pPr algn="l"/>
                      <a:r>
                        <a:rPr sz="1100" b="0" i="0">
                          <a:solidFill>
                            <a:srgbClr val="000000"/>
                          </a:solidFill>
                          <a:latin typeface="Calibri"/>
                        </a:rPr>
                        <a:t>16.1.3.</a:t>
                      </a:r>
                      <a:r>
                        <a:rPr sz="700" b="0" i="0">
                          <a:solidFill>
                            <a:srgbClr val="000000"/>
                          </a:solidFill>
                          <a:latin typeface="Times New Roman"/>
                        </a:rPr>
                        <a:t> </a:t>
                      </a:r>
                      <a:r>
                        <a:rPr sz="1100" b="0" i="0">
                          <a:solidFill>
                            <a:srgbClr val="000000"/>
                          </a:solidFill>
                          <a:latin typeface="Calibri"/>
                        </a:rPr>
                        <a:t>Distributors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16.2.1.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16.2.2.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16.2.3.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16.5.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16.6.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16.7.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16.8.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16.9.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Import/Export Policies</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Formula Requirements</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r h="175260">
                <a:tc>
                  <a:txBody>
                    <a:bodyPr wrap="square"/>
                    <a:lstStyle/>
                    <a:p>
                      <a:pPr algn="l"/>
                      <a:r>
                        <a:rPr sz="1100" b="0" i="0">
                          <a:solidFill>
                            <a:srgbClr val="000000"/>
                          </a:solidFill>
                          <a:latin typeface="Calibri"/>
                        </a:rPr>
                        <a:t>17.4.1.</a:t>
                      </a:r>
                      <a:r>
                        <a:rPr sz="700" b="0" i="0">
                          <a:solidFill>
                            <a:srgbClr val="000000"/>
                          </a:solidFill>
                          <a:latin typeface="Times New Roman"/>
                        </a:rPr>
                        <a:t> </a:t>
                      </a:r>
                      <a:r>
                        <a:rPr sz="1100" b="0" i="0">
                          <a:solidFill>
                            <a:srgbClr val="000000"/>
                          </a:solidFill>
                          <a:latin typeface="Calibri"/>
                        </a:rPr>
                        <a:t>FDA</a:t>
                      </a:r>
                      <a:endParaRPr sz="1100"/>
                    </a:p>
                  </a:txBody>
                  <a:tcPr marL="771525" marR="9525" marT="9525" marB="0" anchor="ctr"/>
                </a:tc>
              </a:tr>
              <a:tr h="175260">
                <a:tc>
                  <a:txBody>
                    <a:bodyPr wrap="square"/>
                    <a:lstStyle/>
                    <a:p>
                      <a:pPr algn="l"/>
                      <a:r>
                        <a:rPr sz="1100" b="0" i="0">
                          <a:solidFill>
                            <a:srgbClr val="000000"/>
                          </a:solidFill>
                          <a:latin typeface="Calibri"/>
                        </a:rPr>
                        <a:t>17.4.2.</a:t>
                      </a:r>
                      <a:r>
                        <a:rPr sz="700" b="0" i="0">
                          <a:solidFill>
                            <a:srgbClr val="000000"/>
                          </a:solidFill>
                          <a:latin typeface="Times New Roman"/>
                        </a:rPr>
                        <a:t> </a:t>
                      </a:r>
                      <a:r>
                        <a:rPr sz="1100" b="0" i="0">
                          <a:solidFill>
                            <a:srgbClr val="000000"/>
                          </a:solidFill>
                          <a:latin typeface="Calibri"/>
                        </a:rPr>
                        <a:t>USDA</a:t>
                      </a:r>
                      <a:endParaRPr sz="1100"/>
                    </a:p>
                  </a:txBody>
                  <a:tcPr marL="771525" marR="9525" marT="9525" marB="0" anchor="ctr"/>
                </a:tc>
              </a:tr>
              <a:tr h="175260">
                <a:tc>
                  <a:txBody>
                    <a:bodyPr wrap="square"/>
                    <a:lstStyle/>
                    <a:p>
                      <a:pPr algn="l"/>
                      <a:r>
                        <a:rPr sz="1100" b="0" i="0">
                          <a:solidFill>
                            <a:srgbClr val="000000"/>
                          </a:solidFill>
                          <a:latin typeface="Calibri"/>
                        </a:rPr>
                        <a:t>17.4.3.</a:t>
                      </a:r>
                      <a:r>
                        <a:rPr sz="700" b="0" i="0">
                          <a:solidFill>
                            <a:srgbClr val="000000"/>
                          </a:solidFill>
                          <a:latin typeface="Times New Roman"/>
                        </a:rPr>
                        <a:t> </a:t>
                      </a:r>
                      <a:r>
                        <a:rPr sz="1100" b="0" i="0">
                          <a:solidFill>
                            <a:srgbClr val="000000"/>
                          </a:solidFill>
                          <a:latin typeface="Calibri"/>
                        </a:rPr>
                        <a:t>FASSAI</a:t>
                      </a:r>
                      <a:endParaRPr sz="1100"/>
                    </a:p>
                  </a:txBody>
                  <a:tcPr marL="771525" marR="9525" marT="9525" marB="0" anchor="ctr"/>
                </a:tc>
              </a:tr>
              <a:tr h="175260">
                <a:tc>
                  <a:txBody>
                    <a:bodyPr wrap="square"/>
                    <a:lstStyle/>
                    <a:p>
                      <a:pPr algn="l"/>
                      <a:r>
                        <a:rPr sz="1100" b="0" i="0">
                          <a:solidFill>
                            <a:srgbClr val="000000"/>
                          </a:solidFill>
                          <a:latin typeface="Calibri"/>
                        </a:rPr>
                        <a:t>17.4.4.</a:t>
                      </a:r>
                      <a:r>
                        <a:rPr sz="700" b="0" i="0">
                          <a:solidFill>
                            <a:srgbClr val="000000"/>
                          </a:solidFill>
                          <a:latin typeface="Times New Roman"/>
                        </a:rPr>
                        <a:t> </a:t>
                      </a:r>
                      <a:r>
                        <a:rPr sz="1100" b="0" i="0">
                          <a:solidFill>
                            <a:srgbClr val="000000"/>
                          </a:solidFill>
                          <a:latin typeface="Calibri"/>
                        </a:rPr>
                        <a:t>EU Commissions</a:t>
                      </a:r>
                      <a:endParaRPr sz="1100"/>
                    </a:p>
                  </a:txBody>
                  <a:tcPr marL="7715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Production Volume (UNITS),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Exports: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Imports: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19.3.1.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19.3.2.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19.3.3.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7: Competition Assessment</a:t>
                      </a:r>
                      <a:endParaRPr sz="1100"/>
                    </a:p>
                  </a:txBody>
                  <a:tcPr marL="9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Amcor plc</a:t>
                      </a:r>
                      <a:endParaRPr sz="1100"/>
                    </a:p>
                  </a:txBody>
                  <a:tcPr marL="428625" marR="9525" marT="9525" marB="0" anchor="ctr"/>
                </a:tc>
              </a:tr>
              <a:tr h="175260">
                <a:tc>
                  <a:txBody>
                    <a:bodyPr wrap="square"/>
                    <a:lstStyle/>
                    <a:p>
                      <a:pPr algn="l"/>
                      <a:r>
                        <a:rPr sz="1100" b="0" i="0">
                          <a:solidFill>
                            <a:srgbClr val="000000"/>
                          </a:solidFill>
                          <a:latin typeface="Calibri"/>
                        </a:rPr>
                        <a:t>23.1.1.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23.1.2.</a:t>
                      </a:r>
                      <a:r>
                        <a:rPr sz="700" b="0" i="0">
                          <a:solidFill>
                            <a:srgbClr val="000000"/>
                          </a:solidFill>
                          <a:latin typeface="Times New Roman"/>
                        </a:rPr>
                        <a:t> </a:t>
                      </a:r>
                      <a:r>
                        <a:rPr sz="1100" b="0" i="0">
                          <a:solidFill>
                            <a:srgbClr val="000000"/>
                          </a:solidFill>
                          <a:latin typeface="Calibri"/>
                        </a:rPr>
                        <a:t>Apparent Production Volume (UNITS)</a:t>
                      </a:r>
                      <a:endParaRPr sz="1100"/>
                    </a:p>
                  </a:txBody>
                  <a:tcPr marL="771525" marR="9525" marT="9525" marB="0" anchor="ctr"/>
                </a:tc>
              </a:tr>
              <a:tr h="175260">
                <a:tc>
                  <a:txBody>
                    <a:bodyPr wrap="square"/>
                    <a:lstStyle/>
                    <a:p>
                      <a:pPr algn="l"/>
                      <a:r>
                        <a:rPr sz="1100" b="0" i="0">
                          <a:solidFill>
                            <a:srgbClr val="000000"/>
                          </a:solidFill>
                          <a:latin typeface="Calibri"/>
                        </a:rPr>
                        <a:t>23.1.3.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tr>
              <a:tr h="175260">
                <a:tc>
                  <a:txBody>
                    <a:bodyPr wrap="square"/>
                    <a:lstStyle/>
                    <a:p>
                      <a:pPr algn="l"/>
                      <a:r>
                        <a:rPr sz="1100" b="0" i="0">
                          <a:solidFill>
                            <a:srgbClr val="000000"/>
                          </a:solidFill>
                          <a:latin typeface="Calibri"/>
                        </a:rPr>
                        <a:t>23.1.4.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23.1.4.1.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23.1.4.2.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23.1.4.3.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23.1.5.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23.1.6.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23.1.6.1.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23.1.6.2.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403098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23.1.6.3.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23.1.6.4.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23.1.7.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23.1.8.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Sealed Air Corporation</a:t>
                      </a:r>
                      <a:endParaRPr sz="1100"/>
                    </a:p>
                  </a:txBody>
                  <a:tcPr marL="428625" marR="9525" marT="9525" marB="0" anchor="ctr"/>
                </a:tc>
              </a:tr>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Inteplast Group</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Novolex</a:t>
                      </a:r>
                      <a:endParaRPr sz="1100"/>
                    </a:p>
                  </a:txBody>
                  <a:tcPr marL="428625" marR="9525" marT="9525" marB="0" anchor="ctr"/>
                </a:tc>
              </a:tr>
              <a:tr h="175260">
                <a:tc>
                  <a:txBody>
                    <a:bodyPr wrap="square"/>
                    <a:lstStyle/>
                    <a:p>
                      <a:pPr algn="l"/>
                      <a:r>
                        <a:rPr sz="1100" b="0" i="0">
                          <a:solidFill>
                            <a:srgbClr val="0070C0"/>
                          </a:solidFill>
                          <a:latin typeface="Calibri"/>
                        </a:rPr>
                        <a:t>23.5.</a:t>
                      </a:r>
                      <a:r>
                        <a:rPr sz="700" b="0" i="0">
                          <a:solidFill>
                            <a:srgbClr val="0070C0"/>
                          </a:solidFill>
                          <a:latin typeface="Times New Roman"/>
                        </a:rPr>
                        <a:t>  </a:t>
                      </a:r>
                      <a:r>
                        <a:rPr sz="1100" b="0" i="0">
                          <a:solidFill>
                            <a:srgbClr val="0070C0"/>
                          </a:solidFill>
                          <a:latin typeface="Calibri"/>
                        </a:rPr>
                        <a:t>Coveris</a:t>
                      </a:r>
                      <a:endParaRPr sz="1100"/>
                    </a:p>
                  </a:txBody>
                  <a:tcPr marL="428625" marR="9525" marT="9525" marB="0" anchor="ctr"/>
                </a:tc>
              </a:tr>
              <a:tr h="175260">
                <a:tc>
                  <a:txBody>
                    <a:bodyPr wrap="square"/>
                    <a:lstStyle/>
                    <a:p>
                      <a:pPr algn="l"/>
                      <a:r>
                        <a:rPr sz="1100" b="0" i="0">
                          <a:solidFill>
                            <a:srgbClr val="0070C0"/>
                          </a:solidFill>
                          <a:latin typeface="Calibri"/>
                        </a:rPr>
                        <a:t>23.6.</a:t>
                      </a:r>
                      <a:r>
                        <a:rPr sz="700" b="0" i="0">
                          <a:solidFill>
                            <a:srgbClr val="0070C0"/>
                          </a:solidFill>
                          <a:latin typeface="Times New Roman"/>
                        </a:rPr>
                        <a:t>  </a:t>
                      </a:r>
                      <a:r>
                        <a:rPr sz="1100" b="0" i="0">
                          <a:solidFill>
                            <a:srgbClr val="0070C0"/>
                          </a:solidFill>
                          <a:latin typeface="Calibri"/>
                        </a:rPr>
                        <a:t>Printpack</a:t>
                      </a:r>
                      <a:endParaRPr sz="1100"/>
                    </a:p>
                  </a:txBody>
                  <a:tcPr marL="428625" marR="9525" marT="9525" marB="0" anchor="ctr"/>
                </a:tc>
              </a:tr>
              <a:tr h="175260">
                <a:tc>
                  <a:txBody>
                    <a:bodyPr wrap="square"/>
                    <a:lstStyle/>
                    <a:p>
                      <a:pPr algn="l"/>
                      <a:r>
                        <a:rPr sz="1100" b="0" i="0">
                          <a:solidFill>
                            <a:srgbClr val="0070C0"/>
                          </a:solidFill>
                          <a:latin typeface="Calibri"/>
                        </a:rPr>
                        <a:t>23.7.</a:t>
                      </a:r>
                      <a:r>
                        <a:rPr sz="700" b="0" i="0">
                          <a:solidFill>
                            <a:srgbClr val="0070C0"/>
                          </a:solidFill>
                          <a:latin typeface="Times New Roman"/>
                        </a:rPr>
                        <a:t>  </a:t>
                      </a:r>
                      <a:r>
                        <a:rPr sz="1100" b="0" i="0">
                          <a:solidFill>
                            <a:srgbClr val="0070C0"/>
                          </a:solidFill>
                          <a:latin typeface="Calibri"/>
                        </a:rPr>
                        <a:t>Winpak Ltd.</a:t>
                      </a:r>
                      <a:endParaRPr sz="1100"/>
                    </a:p>
                  </a:txBody>
                  <a:tcPr marL="428625" marR="9525" marT="9525" marB="0" anchor="ctr"/>
                </a:tc>
              </a:tr>
              <a:tr h="175260">
                <a:tc>
                  <a:txBody>
                    <a:bodyPr wrap="square"/>
                    <a:lstStyle/>
                    <a:p>
                      <a:pPr algn="l"/>
                      <a:r>
                        <a:rPr sz="1100" b="0" i="0">
                          <a:solidFill>
                            <a:srgbClr val="0070C0"/>
                          </a:solidFill>
                          <a:latin typeface="Calibri"/>
                        </a:rPr>
                        <a:t>23.8.</a:t>
                      </a:r>
                      <a:r>
                        <a:rPr sz="700" b="0" i="0">
                          <a:solidFill>
                            <a:srgbClr val="0070C0"/>
                          </a:solidFill>
                          <a:latin typeface="Times New Roman"/>
                        </a:rPr>
                        <a:t>  </a:t>
                      </a:r>
                      <a:r>
                        <a:rPr sz="1100" b="0" i="0">
                          <a:solidFill>
                            <a:srgbClr val="0070C0"/>
                          </a:solidFill>
                          <a:latin typeface="Calibri"/>
                        </a:rPr>
                        <a:t>Huhtamaki</a:t>
                      </a:r>
                      <a:endParaRPr sz="1100"/>
                    </a:p>
                  </a:txBody>
                  <a:tcPr marL="428625" marR="9525" marT="9525" marB="0" anchor="ctr"/>
                </a:tc>
              </a:tr>
              <a:tr h="175260">
                <a:tc>
                  <a:txBody>
                    <a:bodyPr wrap="square"/>
                    <a:lstStyle/>
                    <a:p>
                      <a:pPr algn="l"/>
                      <a:r>
                        <a:rPr sz="1100" b="0" i="0">
                          <a:solidFill>
                            <a:srgbClr val="0070C0"/>
                          </a:solidFill>
                          <a:latin typeface="Calibri"/>
                        </a:rPr>
                        <a:t>23.9.</a:t>
                      </a:r>
                      <a:r>
                        <a:rPr sz="700" b="0" i="0">
                          <a:solidFill>
                            <a:srgbClr val="0070C0"/>
                          </a:solidFill>
                          <a:latin typeface="Times New Roman"/>
                        </a:rPr>
                        <a:t>  </a:t>
                      </a:r>
                      <a:r>
                        <a:rPr sz="1100" b="0" i="0">
                          <a:solidFill>
                            <a:srgbClr val="0070C0"/>
                          </a:solidFill>
                          <a:latin typeface="Calibri"/>
                        </a:rPr>
                        <a:t>Berry Global Group</a:t>
                      </a:r>
                      <a:endParaRPr sz="1100"/>
                    </a:p>
                  </a:txBody>
                  <a:tcPr marL="428625" marR="9525" marT="9525" marB="0" anchor="ctr"/>
                </a:tc>
              </a:tr>
              <a:tr h="175260">
                <a:tc>
                  <a:txBody>
                    <a:bodyPr wrap="square"/>
                    <a:lstStyle/>
                    <a:p>
                      <a:pPr algn="l"/>
                      <a:r>
                        <a:rPr sz="1100" b="0" i="0">
                          <a:solidFill>
                            <a:srgbClr val="0070C0"/>
                          </a:solidFill>
                          <a:latin typeface="Calibri"/>
                        </a:rPr>
                        <a:t>23.10.</a:t>
                      </a:r>
                      <a:r>
                        <a:rPr sz="700" b="0" i="0">
                          <a:solidFill>
                            <a:srgbClr val="0070C0"/>
                          </a:solidFill>
                          <a:latin typeface="Times New Roman"/>
                        </a:rPr>
                        <a:t> </a:t>
                      </a:r>
                      <a:r>
                        <a:rPr sz="1100" b="0" i="0">
                          <a:solidFill>
                            <a:srgbClr val="0070C0"/>
                          </a:solidFill>
                          <a:latin typeface="Calibri"/>
                        </a:rPr>
                        <a:t>Mondi Group</a:t>
                      </a:r>
                      <a:endParaRPr sz="1100"/>
                    </a:p>
                  </a:txBody>
                  <a:tcPr marL="428625" marR="9525" marT="9525" marB="0" anchor="ctr"/>
                </a:tc>
              </a:tr>
              <a:tr h="175260">
                <a:tc>
                  <a:txBody>
                    <a:bodyPr wrap="square"/>
                    <a:lstStyle/>
                    <a:p>
                      <a:pPr algn="l"/>
                      <a:r>
                        <a:rPr sz="1100" b="0" i="0">
                          <a:solidFill>
                            <a:srgbClr val="0070C0"/>
                          </a:solidFill>
                          <a:latin typeface="Calibri"/>
                        </a:rPr>
                        <a:t>23.11.</a:t>
                      </a:r>
                      <a:r>
                        <a:rPr sz="700" b="0" i="0">
                          <a:solidFill>
                            <a:srgbClr val="0070C0"/>
                          </a:solidFill>
                          <a:latin typeface="Times New Roman"/>
                        </a:rPr>
                        <a:t> </a:t>
                      </a:r>
                      <a:r>
                        <a:rPr sz="1100" b="0" i="0">
                          <a:solidFill>
                            <a:srgbClr val="0070C0"/>
                          </a:solidFill>
                          <a:latin typeface="Calibri"/>
                        </a:rPr>
                        <a:t>Pactiv Evergreen</a:t>
                      </a:r>
                      <a:endParaRPr sz="1100"/>
                    </a:p>
                  </a:txBody>
                  <a:tcPr marL="428625" marR="9525" marT="9525" marB="0" anchor="ctr"/>
                </a:tc>
              </a:tr>
              <a:tr h="175260">
                <a:tc>
                  <a:txBody>
                    <a:bodyPr wrap="square"/>
                    <a:lstStyle/>
                    <a:p>
                      <a:pPr algn="l"/>
                      <a:r>
                        <a:rPr sz="1100" b="0" i="0">
                          <a:solidFill>
                            <a:srgbClr val="0070C0"/>
                          </a:solidFill>
                          <a:latin typeface="Calibri"/>
                        </a:rPr>
                        <a:t>23.12.</a:t>
                      </a:r>
                      <a:r>
                        <a:rPr sz="700" b="0" i="0">
                          <a:solidFill>
                            <a:srgbClr val="0070C0"/>
                          </a:solidFill>
                          <a:latin typeface="Times New Roman"/>
                        </a:rPr>
                        <a:t> </a:t>
                      </a:r>
                      <a:r>
                        <a:rPr sz="1100" b="0" i="0">
                          <a:solidFill>
                            <a:srgbClr val="0070C0"/>
                          </a:solidFill>
                          <a:latin typeface="Calibri"/>
                        </a:rPr>
                        <a:t>Sonoco Products Company</a:t>
                      </a:r>
                      <a:endParaRPr sz="1100"/>
                    </a:p>
                  </a:txBody>
                  <a:tcPr marL="428625" marR="9525" marT="9525" marB="0" anchor="ctr"/>
                </a:tc>
              </a:tr>
              <a:tr h="175260">
                <a:tc>
                  <a:txBody>
                    <a:bodyPr wrap="square"/>
                    <a:lstStyle/>
                    <a:p>
                      <a:pPr algn="l"/>
                      <a:r>
                        <a:rPr sz="1100" b="0" i="0">
                          <a:solidFill>
                            <a:srgbClr val="0070C0"/>
                          </a:solidFill>
                          <a:latin typeface="Calibri"/>
                        </a:rPr>
                        <a:t>23.13.</a:t>
                      </a:r>
                      <a:r>
                        <a:rPr sz="700" b="0" i="0">
                          <a:solidFill>
                            <a:srgbClr val="0070C0"/>
                          </a:solidFill>
                          <a:latin typeface="Times New Roman"/>
                        </a:rPr>
                        <a:t> </a:t>
                      </a:r>
                      <a:r>
                        <a:rPr sz="1100" b="0" i="0">
                          <a:solidFill>
                            <a:srgbClr val="0070C0"/>
                          </a:solidFill>
                          <a:latin typeface="Calibri"/>
                        </a:rPr>
                        <a:t>A-Pac Manufacturing Co., Inc.</a:t>
                      </a:r>
                      <a:endParaRPr sz="1100"/>
                    </a:p>
                  </a:txBody>
                  <a:tcPr marL="428625" marR="9525" marT="9525" marB="0" anchor="ctr"/>
                </a:tc>
              </a:tr>
              <a:tr h="175260">
                <a:tc>
                  <a:txBody>
                    <a:bodyPr wrap="square"/>
                    <a:lstStyle/>
                    <a:p>
                      <a:pPr algn="l"/>
                      <a:r>
                        <a:rPr sz="1100" b="0" i="0">
                          <a:solidFill>
                            <a:srgbClr val="0070C0"/>
                          </a:solidFill>
                          <a:latin typeface="Calibri"/>
                        </a:rPr>
                        <a:t>23.14.</a:t>
                      </a:r>
                      <a:r>
                        <a:rPr sz="700" b="0" i="0">
                          <a:solidFill>
                            <a:srgbClr val="0070C0"/>
                          </a:solidFill>
                          <a:latin typeface="Times New Roman"/>
                        </a:rPr>
                        <a:t> </a:t>
                      </a:r>
                      <a:r>
                        <a:rPr sz="1100" b="0" i="0">
                          <a:solidFill>
                            <a:srgbClr val="0070C0"/>
                          </a:solidFill>
                          <a:latin typeface="Calibri"/>
                        </a:rPr>
                        <a:t>PPC Flex</a:t>
                      </a:r>
                      <a:endParaRPr sz="1100"/>
                    </a:p>
                  </a:txBody>
                  <a:tcPr marL="428625" marR="9525" marT="9525" marB="0" anchor="ctr"/>
                </a:tc>
              </a:tr>
              <a:tr h="175260">
                <a:tc>
                  <a:txBody>
                    <a:bodyPr wrap="square"/>
                    <a:lstStyle/>
                    <a:p>
                      <a:pPr algn="l"/>
                      <a:r>
                        <a:rPr sz="1100" b="0" i="0">
                          <a:solidFill>
                            <a:srgbClr val="0070C0"/>
                          </a:solidFill>
                          <a:latin typeface="Calibri"/>
                        </a:rPr>
                        <a:t>23.15.</a:t>
                      </a:r>
                      <a:r>
                        <a:rPr sz="700" b="0" i="0">
                          <a:solidFill>
                            <a:srgbClr val="0070C0"/>
                          </a:solidFill>
                          <a:latin typeface="Times New Roman"/>
                        </a:rPr>
                        <a:t> </a:t>
                      </a:r>
                      <a:r>
                        <a:rPr sz="1100" b="0" i="0">
                          <a:solidFill>
                            <a:srgbClr val="0070C0"/>
                          </a:solidFill>
                          <a:latin typeface="Calibri"/>
                        </a:rPr>
                        <a:t>Arihant Packers</a:t>
                      </a:r>
                      <a:endParaRPr sz="1100"/>
                    </a:p>
                  </a:txBody>
                  <a:tcPr marL="428625" marR="9525" marT="9525" marB="0" anchor="ctr"/>
                </a:tc>
              </a:tr>
              <a:tr h="175260">
                <a:tc>
                  <a:txBody>
                    <a:bodyPr wrap="square"/>
                    <a:lstStyle/>
                    <a:p>
                      <a:pPr algn="l"/>
                      <a:r>
                        <a:rPr sz="1100" b="0" i="0">
                          <a:solidFill>
                            <a:srgbClr val="0070C0"/>
                          </a:solidFill>
                          <a:latin typeface="Calibri"/>
                        </a:rPr>
                        <a:t>23.16.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EE0000"/>
                          </a:solidFill>
                          <a:latin typeface="Calibri"/>
                        </a:rPr>
                        <a:t>ADD SECTIONS AS PER STORY LINE</a:t>
                      </a:r>
                      <a:endParaRPr sz="1100"/>
                    </a:p>
                  </a:txBody>
                  <a:tcPr marL="9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East Asia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East Asia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East Asia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East Asia Market Share by Product Type, %, 2026</a:t>
                      </a:r>
                      <a:endParaRPr sz="1050"/>
                    </a:p>
                  </a:txBody>
                  <a:tcPr marL="9525" marR="9525" marT="9525" marB="0" anchor="ctr"/>
                </a:tc>
              </a:tr>
              <a:tr h="169606">
                <a:tc>
                  <a:txBody>
                    <a:bodyPr wrap="square"/>
                    <a:lstStyle/>
                    <a:p>
                      <a:pPr algn="l"/>
                      <a:r>
                        <a:rPr sz="1050" b="0" i="0">
                          <a:solidFill>
                            <a:srgbClr val="000000"/>
                          </a:solidFill>
                          <a:latin typeface="Calibri"/>
                        </a:rPr>
                        <a:t>Figure 5: East Asia Market Share by Principal Material / Barrier Technology, %, 2026</a:t>
                      </a:r>
                      <a:endParaRPr sz="1050"/>
                    </a:p>
                  </a:txBody>
                  <a:tcPr marL="9525" marR="9525" marT="9525" marB="0" anchor="ctr"/>
                </a:tc>
              </a:tr>
              <a:tr h="169606">
                <a:tc>
                  <a:txBody>
                    <a:bodyPr wrap="square"/>
                    <a:lstStyle/>
                    <a:p>
                      <a:pPr algn="l"/>
                      <a:r>
                        <a:rPr sz="1050" b="0" i="0">
                          <a:solidFill>
                            <a:srgbClr val="000000"/>
                          </a:solidFill>
                          <a:latin typeface="Calibri"/>
                        </a:rPr>
                        <a:t>Figure 6: East Asia Market Share by Material Structure, %, 2026</a:t>
                      </a:r>
                      <a:endParaRPr sz="1050"/>
                    </a:p>
                  </a:txBody>
                  <a:tcPr marL="9525" marR="9525" marT="9525" marB="0" anchor="ctr"/>
                </a:tc>
              </a:tr>
              <a:tr h="169606">
                <a:tc>
                  <a:txBody>
                    <a:bodyPr wrap="square"/>
                    <a:lstStyle/>
                    <a:p>
                      <a:pPr algn="l"/>
                      <a:r>
                        <a:rPr sz="1050" b="0" i="0">
                          <a:solidFill>
                            <a:srgbClr val="000000"/>
                          </a:solidFill>
                          <a:latin typeface="Calibri"/>
                        </a:rPr>
                        <a:t>Figure 7: East Asia Market Share by Barrier Level, %, 2026</a:t>
                      </a:r>
                      <a:endParaRPr sz="1050"/>
                    </a:p>
                  </a:txBody>
                  <a:tcPr marL="9525" marR="9525" marT="9525" marB="0" anchor="ctr"/>
                </a:tc>
              </a:tr>
              <a:tr h="169606">
                <a:tc>
                  <a:txBody>
                    <a:bodyPr wrap="square"/>
                    <a:lstStyle/>
                    <a:p>
                      <a:pPr algn="l"/>
                      <a:r>
                        <a:rPr sz="1050" b="0" i="0">
                          <a:solidFill>
                            <a:srgbClr val="000000"/>
                          </a:solidFill>
                          <a:latin typeface="Calibri"/>
                        </a:rPr>
                        <a:t>Figure 8: East Asia Market Share by Application, %, 2026</a:t>
                      </a:r>
                      <a:endParaRPr sz="1050"/>
                    </a:p>
                  </a:txBody>
                  <a:tcPr marL="9525" marR="9525" marT="9525" marB="0" anchor="ctr"/>
                </a:tc>
              </a:tr>
              <a:tr h="169606">
                <a:tc>
                  <a:txBody>
                    <a:bodyPr wrap="square"/>
                    <a:lstStyle/>
                    <a:p>
                      <a:pPr algn="l"/>
                      <a:r>
                        <a:rPr sz="1050" b="0" i="0">
                          <a:solidFill>
                            <a:srgbClr val="000000"/>
                          </a:solidFill>
                          <a:latin typeface="Calibri"/>
                        </a:rPr>
                        <a:t>Figure 9: East Asia Market Share by Barrier Level Vs Application, %, 2026</a:t>
                      </a:r>
                      <a:endParaRPr sz="1050"/>
                    </a:p>
                  </a:txBody>
                  <a:tcPr marL="9525" marR="9525" marT="9525" marB="0" anchor="ctr"/>
                </a:tc>
              </a:tr>
              <a:tr h="169606">
                <a:tc>
                  <a:txBody>
                    <a:bodyPr wrap="square"/>
                    <a:lstStyle/>
                    <a:p>
                      <a:pPr algn="l"/>
                      <a:r>
                        <a:rPr sz="1050" b="0" i="0">
                          <a:solidFill>
                            <a:srgbClr val="000000"/>
                          </a:solidFill>
                          <a:latin typeface="Calibri"/>
                        </a:rPr>
                        <a:t>Figure 10: East Asia Market Incremental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 East Asia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12: East Asia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13: East Asia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14: East Asia Market Volume and YoY Growth, Thousand MT and %, 2021–2036</a:t>
                      </a:r>
                      <a:endParaRPr sz="1050"/>
                    </a:p>
                  </a:txBody>
                  <a:tcPr marL="9525" marR="9525" marT="9525" marB="0" anchor="ctr"/>
                </a:tc>
              </a:tr>
              <a:tr h="169606">
                <a:tc>
                  <a:txBody>
                    <a:bodyPr wrap="square"/>
                    <a:lstStyle/>
                    <a:p>
                      <a:pPr algn="l"/>
                      <a:r>
                        <a:rPr sz="1050" b="0" i="0">
                          <a:solidFill>
                            <a:srgbClr val="000000"/>
                          </a:solidFill>
                          <a:latin typeface="Calibri"/>
                        </a:rPr>
                        <a:t>Figure 15: East Asia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16: East Asia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Figure 17: East Asia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18: East Asia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19: East Asia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20: East Asia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21: East Asia Market Size Evolution Index, 2025=100, 2021–2036</a:t>
                      </a:r>
                      <a:endParaRPr sz="1050"/>
                    </a:p>
                  </a:txBody>
                  <a:tcPr marL="9525" marR="9525" marT="9525" marB="0" anchor="ctr"/>
                </a:tc>
              </a:tr>
              <a:tr h="169606">
                <a:tc>
                  <a:txBody>
                    <a:bodyPr wrap="square"/>
                    <a:lstStyle/>
                    <a:p>
                      <a:pPr algn="l"/>
                      <a:r>
                        <a:rPr sz="1050" b="0" i="0">
                          <a:solidFill>
                            <a:srgbClr val="000000"/>
                          </a:solidFill>
                          <a:latin typeface="Calibri"/>
                        </a:rPr>
                        <a:t>Figure 22: East Asia Market Cumulative Value Addition, US$ Mn, 2026–2036</a:t>
                      </a:r>
                      <a:endParaRPr sz="1050"/>
                    </a:p>
                  </a:txBody>
                  <a:tcPr marL="9525" marR="9525" marT="9525" marB="0" anchor="ctr"/>
                </a:tc>
              </a:tr>
              <a:tr h="169606">
                <a:tc>
                  <a:txBody>
                    <a:bodyPr wrap="square"/>
                    <a:lstStyle/>
                    <a:p>
                      <a:pPr algn="l"/>
                      <a:r>
                        <a:rPr sz="1050" b="0" i="0">
                          <a:solidFill>
                            <a:srgbClr val="000000"/>
                          </a:solidFill>
                          <a:latin typeface="Calibri"/>
                        </a:rPr>
                        <a:t>Figure 23: East Asia Market Five-Year Absolute $ Opportunity, US$ Mn, 2026–2031</a:t>
                      </a:r>
                      <a:endParaRPr sz="1050"/>
                    </a:p>
                  </a:txBody>
                  <a:tcPr marL="9525" marR="9525" marT="9525" marB="0" anchor="ctr"/>
                </a:tc>
              </a:tr>
              <a:tr h="169606">
                <a:tc>
                  <a:txBody>
                    <a:bodyPr wrap="square"/>
                    <a:lstStyle/>
                    <a:p>
                      <a:pPr algn="l"/>
                      <a:r>
                        <a:rPr sz="1050" b="0" i="0">
                          <a:solidFill>
                            <a:srgbClr val="000000"/>
                          </a:solidFill>
                          <a:latin typeface="Calibri"/>
                        </a:rPr>
                        <a:t>Figure 24: East Asia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25: East Asia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Figure 26: East Asia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Figure 27: East Asia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Figure 28: East Asia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Figure 29: East Asia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Figure 30: East Asia Market Share by Product Type, %, 2026 and 2036</a:t>
                      </a:r>
                      <a:endParaRPr sz="1050"/>
                    </a:p>
                  </a:txBody>
                  <a:tcPr marL="9525" marR="9525" marT="9525" marB="0" anchor="ctr"/>
                </a:tc>
              </a:tr>
              <a:tr h="169606">
                <a:tc>
                  <a:txBody>
                    <a:bodyPr wrap="square"/>
                    <a:lstStyle/>
                    <a:p>
                      <a:pPr algn="l"/>
                      <a:r>
                        <a:rPr sz="1050" b="0" i="0">
                          <a:solidFill>
                            <a:srgbClr val="000000"/>
                          </a:solidFill>
                          <a:latin typeface="Calibri"/>
                        </a:rPr>
                        <a:t>Figure 31: East Asia Market Share by Principal Material / Barrier Technology,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Figure 32: East Asia Market Share by Material Structure, %, 2026 and 2036</a:t>
                      </a:r>
                      <a:endParaRPr sz="1050"/>
                    </a:p>
                  </a:txBody>
                  <a:tcPr marL="9525" marR="9525" marT="9525" marB="0" anchor="ctr"/>
                </a:tc>
              </a:tr>
              <a:tr h="170045">
                <a:tc>
                  <a:txBody>
                    <a:bodyPr wrap="square"/>
                    <a:lstStyle/>
                    <a:p>
                      <a:pPr algn="l"/>
                      <a:r>
                        <a:rPr sz="1050" b="0" i="0">
                          <a:solidFill>
                            <a:srgbClr val="000000"/>
                          </a:solidFill>
                          <a:latin typeface="Calibri"/>
                        </a:rPr>
                        <a:t>Figure 33: East Asia Market Share by Barrier Level, %, 2026 and 2036</a:t>
                      </a:r>
                      <a:endParaRPr sz="1050"/>
                    </a:p>
                  </a:txBody>
                  <a:tcPr marL="9525" marR="9525" marT="9525" marB="0" anchor="ctr"/>
                </a:tc>
              </a:tr>
              <a:tr h="170045">
                <a:tc>
                  <a:txBody>
                    <a:bodyPr wrap="square"/>
                    <a:lstStyle/>
                    <a:p>
                      <a:pPr algn="l"/>
                      <a:r>
                        <a:rPr sz="1050" b="0" i="0">
                          <a:solidFill>
                            <a:srgbClr val="000000"/>
                          </a:solidFill>
                          <a:latin typeface="Calibri"/>
                        </a:rPr>
                        <a:t>Figure 34: East Asia Market Share by Application, %, 2026 and 2036</a:t>
                      </a:r>
                      <a:endParaRPr sz="1050"/>
                    </a:p>
                  </a:txBody>
                  <a:tcPr marL="9525" marR="9525" marT="9525" marB="0" anchor="ctr"/>
                </a:tc>
              </a:tr>
              <a:tr h="170045">
                <a:tc>
                  <a:txBody>
                    <a:bodyPr wrap="square"/>
                    <a:lstStyle/>
                    <a:p>
                      <a:pPr algn="l"/>
                      <a:r>
                        <a:rPr sz="1050" b="0" i="0">
                          <a:solidFill>
                            <a:srgbClr val="000000"/>
                          </a:solidFill>
                          <a:latin typeface="Calibri"/>
                        </a:rPr>
                        <a:t>Figure 35: East Asia Market Share by Barrier Level Vs Application, %, 2026 and 2036</a:t>
                      </a:r>
                      <a:endParaRPr sz="1050"/>
                    </a:p>
                  </a:txBody>
                  <a:tcPr marL="9525" marR="9525" marT="9525" marB="0" anchor="ctr"/>
                </a:tc>
              </a:tr>
              <a:tr h="170045">
                <a:tc>
                  <a:txBody>
                    <a:bodyPr wrap="square"/>
                    <a:lstStyle/>
                    <a:p>
                      <a:pPr algn="l"/>
                      <a:r>
                        <a:rPr sz="1050" b="0" i="0">
                          <a:solidFill>
                            <a:srgbClr val="000000"/>
                          </a:solidFill>
                          <a:latin typeface="Calibri"/>
                        </a:rPr>
                        <a:t>Figure 36: East Asia Market Absolute $ Opportunity by Product Type, US$ Mn, 2026–2036</a:t>
                      </a:r>
                      <a:endParaRPr sz="1050"/>
                    </a:p>
                  </a:txBody>
                  <a:tcPr marL="9525" marR="9525" marT="9525" marB="0" anchor="ctr"/>
                </a:tc>
              </a:tr>
              <a:tr h="333289">
                <a:tc>
                  <a:txBody>
                    <a:bodyPr wrap="square"/>
                    <a:lstStyle/>
                    <a:p>
                      <a:pPr algn="l"/>
                      <a:r>
                        <a:rPr sz="1050" b="0" i="0">
                          <a:solidFill>
                            <a:srgbClr val="000000"/>
                          </a:solidFill>
                          <a:latin typeface="Calibri"/>
                        </a:rPr>
                        <a:t>Figure 37: East Asia Market Absolute $ Opportunity by Principal Material / Barrier Technology, US$ Mn, 2026–2036</a:t>
                      </a:r>
                      <a:endParaRPr sz="1050"/>
                    </a:p>
                  </a:txBody>
                  <a:tcPr marL="9525" marR="9525" marT="9525" marB="0" anchor="ctr"/>
                </a:tc>
              </a:tr>
              <a:tr h="170045">
                <a:tc>
                  <a:txBody>
                    <a:bodyPr wrap="square"/>
                    <a:lstStyle/>
                    <a:p>
                      <a:pPr algn="l"/>
                      <a:r>
                        <a:rPr sz="1050" b="0" i="0">
                          <a:solidFill>
                            <a:srgbClr val="000000"/>
                          </a:solidFill>
                          <a:latin typeface="Calibri"/>
                        </a:rPr>
                        <a:t>Figure 38: East Asia Market Absolute $ Opportunity by Material Structure, US$ Mn, 2026–2036</a:t>
                      </a:r>
                      <a:endParaRPr sz="1050"/>
                    </a:p>
                  </a:txBody>
                  <a:tcPr marL="9525" marR="9525" marT="9525" marB="0" anchor="ctr"/>
                </a:tc>
              </a:tr>
              <a:tr h="170045">
                <a:tc>
                  <a:txBody>
                    <a:bodyPr wrap="square"/>
                    <a:lstStyle/>
                    <a:p>
                      <a:pPr algn="l"/>
                      <a:r>
                        <a:rPr sz="1050" b="0" i="0">
                          <a:solidFill>
                            <a:srgbClr val="000000"/>
                          </a:solidFill>
                          <a:latin typeface="Calibri"/>
                        </a:rPr>
                        <a:t>Figure 39: East Asia Market Absolute $ Opportunity by Barrier Level, US$ Mn, 2026–2036</a:t>
                      </a:r>
                      <a:endParaRPr sz="1050"/>
                    </a:p>
                  </a:txBody>
                  <a:tcPr marL="9525" marR="9525" marT="9525" marB="0" anchor="ctr"/>
                </a:tc>
              </a:tr>
              <a:tr h="170045">
                <a:tc>
                  <a:txBody>
                    <a:bodyPr wrap="square"/>
                    <a:lstStyle/>
                    <a:p>
                      <a:pPr algn="l"/>
                      <a:r>
                        <a:rPr sz="1050" b="0" i="0">
                          <a:solidFill>
                            <a:srgbClr val="000000"/>
                          </a:solidFill>
                          <a:latin typeface="Calibri"/>
                        </a:rPr>
                        <a:t>Figure 40: East Asia Market Absolute $ Opportunity by Application, US$ Mn, 2026–2036</a:t>
                      </a:r>
                      <a:endParaRPr sz="1050"/>
                    </a:p>
                  </a:txBody>
                  <a:tcPr marL="9525" marR="9525" marT="9525" marB="0" anchor="ctr"/>
                </a:tc>
              </a:tr>
              <a:tr h="333289">
                <a:tc>
                  <a:txBody>
                    <a:bodyPr wrap="square"/>
                    <a:lstStyle/>
                    <a:p>
                      <a:pPr algn="l"/>
                      <a:r>
                        <a:rPr sz="1050" b="0" i="0">
                          <a:solidFill>
                            <a:srgbClr val="000000"/>
                          </a:solidFill>
                          <a:latin typeface="Calibri"/>
                        </a:rPr>
                        <a:t>Figure 41: East Asia Market Absolute $ Opportunity by Barrier Level Vs Application, US$ Mn, 2026–2036</a:t>
                      </a:r>
                      <a:endParaRPr sz="1050"/>
                    </a:p>
                  </a:txBody>
                  <a:tcPr marL="9525" marR="9525" marT="9525" marB="0" anchor="ctr"/>
                </a:tc>
              </a:tr>
              <a:tr h="170045">
                <a:tc>
                  <a:txBody>
                    <a:bodyPr wrap="square"/>
                    <a:lstStyle/>
                    <a:p>
                      <a:pPr algn="l"/>
                      <a:r>
                        <a:rPr sz="1050" b="0" i="0">
                          <a:solidFill>
                            <a:srgbClr val="000000"/>
                          </a:solidFill>
                          <a:latin typeface="Calibri"/>
                        </a:rPr>
                        <a:t>Figure 42: East Asia Market BPS Share Change by Product Type, 2026–2036</a:t>
                      </a:r>
                      <a:endParaRPr sz="1050"/>
                    </a:p>
                  </a:txBody>
                  <a:tcPr marL="9525" marR="9525" marT="9525" marB="0" anchor="ctr"/>
                </a:tc>
              </a:tr>
              <a:tr h="170045">
                <a:tc>
                  <a:txBody>
                    <a:bodyPr wrap="square"/>
                    <a:lstStyle/>
                    <a:p>
                      <a:pPr algn="l"/>
                      <a:r>
                        <a:rPr sz="1050" b="0" i="0">
                          <a:solidFill>
                            <a:srgbClr val="000000"/>
                          </a:solidFill>
                          <a:latin typeface="Calibri"/>
                        </a:rPr>
                        <a:t>Figure 43: East Asia Market BPS Share Change by Principal Material / Barrier Technology, 2026–2036</a:t>
                      </a:r>
                      <a:endParaRPr sz="1050"/>
                    </a:p>
                  </a:txBody>
                  <a:tcPr marL="9525" marR="9525" marT="9525" marB="0" anchor="ctr"/>
                </a:tc>
              </a:tr>
              <a:tr h="170045">
                <a:tc>
                  <a:txBody>
                    <a:bodyPr wrap="square"/>
                    <a:lstStyle/>
                    <a:p>
                      <a:pPr algn="l"/>
                      <a:r>
                        <a:rPr sz="1050" b="0" i="0">
                          <a:solidFill>
                            <a:srgbClr val="000000"/>
                          </a:solidFill>
                          <a:latin typeface="Calibri"/>
                        </a:rPr>
                        <a:t>Figure 44: East Asia Market BPS Share Change by Material Structure, 2026–2036</a:t>
                      </a:r>
                      <a:endParaRPr sz="1050"/>
                    </a:p>
                  </a:txBody>
                  <a:tcPr marL="9525" marR="9525" marT="9525" marB="0" anchor="ctr"/>
                </a:tc>
              </a:tr>
              <a:tr h="170045">
                <a:tc>
                  <a:txBody>
                    <a:bodyPr wrap="square"/>
                    <a:lstStyle/>
                    <a:p>
                      <a:pPr algn="l"/>
                      <a:r>
                        <a:rPr sz="1050" b="0" i="0">
                          <a:solidFill>
                            <a:srgbClr val="000000"/>
                          </a:solidFill>
                          <a:latin typeface="Calibri"/>
                        </a:rPr>
                        <a:t>Figure 45: East Asia Market BPS Share Change by Barrier Level, 2026–2036</a:t>
                      </a:r>
                      <a:endParaRPr sz="1050"/>
                    </a:p>
                  </a:txBody>
                  <a:tcPr marL="9525" marR="9525" marT="9525" marB="0" anchor="ctr"/>
                </a:tc>
              </a:tr>
              <a:tr h="170045">
                <a:tc>
                  <a:txBody>
                    <a:bodyPr wrap="square"/>
                    <a:lstStyle/>
                    <a:p>
                      <a:pPr algn="l"/>
                      <a:r>
                        <a:rPr sz="1050" b="0" i="0">
                          <a:solidFill>
                            <a:srgbClr val="000000"/>
                          </a:solidFill>
                          <a:latin typeface="Calibri"/>
                        </a:rPr>
                        <a:t>Figure 46: East Asia Market BPS Share Change by Application, 2026–2036</a:t>
                      </a:r>
                      <a:endParaRPr sz="1050"/>
                    </a:p>
                  </a:txBody>
                  <a:tcPr marL="9525" marR="9525" marT="9525" marB="0" anchor="ctr"/>
                </a:tc>
              </a:tr>
              <a:tr h="170045">
                <a:tc>
                  <a:txBody>
                    <a:bodyPr wrap="square"/>
                    <a:lstStyle/>
                    <a:p>
                      <a:pPr algn="l"/>
                      <a:r>
                        <a:rPr sz="1050" b="0" i="0">
                          <a:solidFill>
                            <a:srgbClr val="000000"/>
                          </a:solidFill>
                          <a:latin typeface="Calibri"/>
                        </a:rPr>
                        <a:t>Figure 47: East Asia Market BPS Share Change by Barrier Level Vs Application, 2026–2036</a:t>
                      </a:r>
                      <a:endParaRPr sz="1050"/>
                    </a:p>
                  </a:txBody>
                  <a:tcPr marL="9525" marR="9525" marT="9525" marB="0" anchor="ctr"/>
                </a:tc>
              </a:tr>
              <a:tr h="170045">
                <a:tc>
                  <a:txBody>
                    <a:bodyPr wrap="square"/>
                    <a:lstStyle/>
                    <a:p>
                      <a:pPr algn="l"/>
                      <a:r>
                        <a:rPr sz="1050" b="0" i="0">
                          <a:solidFill>
                            <a:srgbClr val="000000"/>
                          </a:solidFill>
                          <a:latin typeface="Calibri"/>
                        </a:rPr>
                        <a:t>Figure 48: East Asia Market YoY Growth by Product Type, %, 2026–2036</a:t>
                      </a:r>
                      <a:endParaRPr sz="1050"/>
                    </a:p>
                  </a:txBody>
                  <a:tcPr marL="9525" marR="9525" marT="9525" marB="0" anchor="ctr"/>
                </a:tc>
              </a:tr>
              <a:tr h="170045">
                <a:tc>
                  <a:txBody>
                    <a:bodyPr wrap="square"/>
                    <a:lstStyle/>
                    <a:p>
                      <a:pPr algn="l"/>
                      <a:r>
                        <a:rPr sz="1050" b="0" i="0">
                          <a:solidFill>
                            <a:srgbClr val="000000"/>
                          </a:solidFill>
                          <a:latin typeface="Calibri"/>
                        </a:rPr>
                        <a:t>Figure 49: East Asia Market YoY Growth by Principal Material / Barrier Technology, %, 2026–2036</a:t>
                      </a:r>
                      <a:endParaRPr sz="1050"/>
                    </a:p>
                  </a:txBody>
                  <a:tcPr marL="9525" marR="9525" marT="9525" marB="0" anchor="ctr"/>
                </a:tc>
              </a:tr>
              <a:tr h="170045">
                <a:tc>
                  <a:txBody>
                    <a:bodyPr wrap="square"/>
                    <a:lstStyle/>
                    <a:p>
                      <a:pPr algn="l"/>
                      <a:r>
                        <a:rPr sz="1050" b="0" i="0">
                          <a:solidFill>
                            <a:srgbClr val="000000"/>
                          </a:solidFill>
                          <a:latin typeface="Calibri"/>
                        </a:rPr>
                        <a:t>Figure 50: East Asia Market YoY Growth by Material Structure, %, 2026–2036</a:t>
                      </a:r>
                      <a:endParaRPr sz="1050"/>
                    </a:p>
                  </a:txBody>
                  <a:tcPr marL="9525" marR="9525" marT="9525" marB="0" anchor="ctr"/>
                </a:tc>
              </a:tr>
              <a:tr h="170045">
                <a:tc>
                  <a:txBody>
                    <a:bodyPr wrap="square"/>
                    <a:lstStyle/>
                    <a:p>
                      <a:pPr algn="l"/>
                      <a:r>
                        <a:rPr sz="1050" b="0" i="0">
                          <a:solidFill>
                            <a:srgbClr val="000000"/>
                          </a:solidFill>
                          <a:latin typeface="Calibri"/>
                        </a:rPr>
                        <a:t>Figure 51: East Asia Market YoY Growth by Barrier Level, %, 2026–2036</a:t>
                      </a:r>
                      <a:endParaRPr sz="1050"/>
                    </a:p>
                  </a:txBody>
                  <a:tcPr marL="9525" marR="9525" marT="9525" marB="0" anchor="ctr"/>
                </a:tc>
              </a:tr>
              <a:tr h="170045">
                <a:tc>
                  <a:txBody>
                    <a:bodyPr wrap="square"/>
                    <a:lstStyle/>
                    <a:p>
                      <a:pPr algn="l"/>
                      <a:r>
                        <a:rPr sz="1050" b="0" i="0">
                          <a:solidFill>
                            <a:srgbClr val="000000"/>
                          </a:solidFill>
                          <a:latin typeface="Calibri"/>
                        </a:rPr>
                        <a:t>Figure 52: East Asia Market YoY Growth by Application, %, 2026–2036</a:t>
                      </a:r>
                      <a:endParaRPr sz="1050"/>
                    </a:p>
                  </a:txBody>
                  <a:tcPr marL="9525" marR="9525" marT="9525" marB="0" anchor="ctr"/>
                </a:tc>
              </a:tr>
              <a:tr h="170045">
                <a:tc>
                  <a:txBody>
                    <a:bodyPr wrap="square"/>
                    <a:lstStyle/>
                    <a:p>
                      <a:pPr algn="l"/>
                      <a:r>
                        <a:rPr sz="1050" b="0" i="0">
                          <a:solidFill>
                            <a:srgbClr val="000000"/>
                          </a:solidFill>
                          <a:latin typeface="Calibri"/>
                        </a:rPr>
                        <a:t>Figure 53: East Asia Market YoY Growth by Barrier Level Vs Application, %, 2026–2036</a:t>
                      </a:r>
                      <a:endParaRPr sz="1050"/>
                    </a:p>
                  </a:txBody>
                  <a:tcPr marL="9525" marR="9525" marT="9525" marB="0" anchor="ctr"/>
                </a:tc>
              </a:tr>
              <a:tr h="170045">
                <a:tc>
                  <a:txBody>
                    <a:bodyPr wrap="square"/>
                    <a:lstStyle/>
                    <a:p>
                      <a:pPr algn="l"/>
                      <a:r>
                        <a:rPr sz="1050" b="0" i="0">
                          <a:solidFill>
                            <a:srgbClr val="000000"/>
                          </a:solidFill>
                          <a:latin typeface="Calibri"/>
                        </a:rPr>
                        <a:t>Figure 54: East Asia Market Attractiveness by Product Type, 2026–2036</a:t>
                      </a:r>
                      <a:endParaRPr sz="1050"/>
                    </a:p>
                  </a:txBody>
                  <a:tcPr marL="9525" marR="9525" marT="9525" marB="0" anchor="ctr"/>
                </a:tc>
              </a:tr>
              <a:tr h="170045">
                <a:tc>
                  <a:txBody>
                    <a:bodyPr wrap="square"/>
                    <a:lstStyle/>
                    <a:p>
                      <a:pPr algn="l"/>
                      <a:r>
                        <a:rPr sz="1050" b="0" i="0">
                          <a:solidFill>
                            <a:srgbClr val="000000"/>
                          </a:solidFill>
                          <a:latin typeface="Calibri"/>
                        </a:rPr>
                        <a:t>Figure 55: East Asia Market Attractiveness by Principal Material / Barrier Technology, 2026–2036</a:t>
                      </a:r>
                      <a:endParaRPr sz="1050"/>
                    </a:p>
                  </a:txBody>
                  <a:tcPr marL="9525" marR="9525" marT="9525" marB="0" anchor="ctr"/>
                </a:tc>
              </a:tr>
              <a:tr h="170045">
                <a:tc>
                  <a:txBody>
                    <a:bodyPr wrap="square"/>
                    <a:lstStyle/>
                    <a:p>
                      <a:pPr algn="l"/>
                      <a:r>
                        <a:rPr sz="1050" b="0" i="0">
                          <a:solidFill>
                            <a:srgbClr val="000000"/>
                          </a:solidFill>
                          <a:latin typeface="Calibri"/>
                        </a:rPr>
                        <a:t>Figure 56: East Asia Market Attractiveness by Material Structure, 2026–2036</a:t>
                      </a:r>
                      <a:endParaRPr sz="1050"/>
                    </a:p>
                  </a:txBody>
                  <a:tcPr marL="9525" marR="9525" marT="9525" marB="0" anchor="ctr"/>
                </a:tc>
              </a:tr>
              <a:tr h="170045">
                <a:tc>
                  <a:txBody>
                    <a:bodyPr wrap="square"/>
                    <a:lstStyle/>
                    <a:p>
                      <a:pPr algn="l"/>
                      <a:r>
                        <a:rPr sz="1050" b="0" i="0">
                          <a:solidFill>
                            <a:srgbClr val="000000"/>
                          </a:solidFill>
                          <a:latin typeface="Calibri"/>
                        </a:rPr>
                        <a:t>Figure 57: East Asia Market Attractiveness by Barrier Level, 2026–2036</a:t>
                      </a:r>
                      <a:endParaRPr sz="1050"/>
                    </a:p>
                  </a:txBody>
                  <a:tcPr marL="9525" marR="9525" marT="9525" marB="0" anchor="ctr"/>
                </a:tc>
              </a:tr>
              <a:tr h="170045">
                <a:tc>
                  <a:txBody>
                    <a:bodyPr wrap="square"/>
                    <a:lstStyle/>
                    <a:p>
                      <a:pPr algn="l"/>
                      <a:r>
                        <a:rPr sz="1050" b="0" i="0">
                          <a:solidFill>
                            <a:srgbClr val="000000"/>
                          </a:solidFill>
                          <a:latin typeface="Calibri"/>
                        </a:rPr>
                        <a:t>Figure 58: East Asia Market Attractiveness by Application, 2026–2036</a:t>
                      </a:r>
                      <a:endParaRPr sz="1050"/>
                    </a:p>
                  </a:txBody>
                  <a:tcPr marL="9525" marR="9525" marT="9525" marB="0" anchor="ctr"/>
                </a:tc>
              </a:tr>
              <a:tr h="170045">
                <a:tc>
                  <a:txBody>
                    <a:bodyPr wrap="square"/>
                    <a:lstStyle/>
                    <a:p>
                      <a:pPr algn="l"/>
                      <a:r>
                        <a:rPr sz="1050" b="0" i="0">
                          <a:solidFill>
                            <a:srgbClr val="000000"/>
                          </a:solidFill>
                          <a:latin typeface="Calibri"/>
                        </a:rPr>
                        <a:t>Figure 59: East Asia Market Attractiveness by Barrier Level Vs Application, 2026–2036</a:t>
                      </a:r>
                      <a:endParaRPr sz="1050"/>
                    </a:p>
                  </a:txBody>
                  <a:tcPr marL="9525" marR="9525" marT="9525" marB="0" anchor="ctr"/>
                </a:tc>
              </a:tr>
              <a:tr h="170045">
                <a:tc>
                  <a:txBody>
                    <a:bodyPr wrap="square"/>
                    <a:lstStyle/>
                    <a:p>
                      <a:pPr algn="l"/>
                      <a:r>
                        <a:rPr sz="1050" b="0" i="0">
                          <a:solidFill>
                            <a:srgbClr val="000000"/>
                          </a:solidFill>
                          <a:latin typeface="Calibri"/>
                        </a:rPr>
                        <a:t>Figure 60: East Asia Market Volume by Product Type, Thousand 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97"/>
        </p:xfrm>
        <a:graphic>
          <a:graphicData uri="http://schemas.openxmlformats.org/drawingml/2006/table">
            <a:tbl>
              <a:tblPr>
                <a:tableStyleId>{3B4B98B0-60AC-42C2-AFA5-B58CD77FA1E5}</a:tableStyleId>
              </a:tblPr>
              <a:tblGrid>
                <a:gridCol w="5876925"/>
              </a:tblGrid>
              <a:tr h="337215">
                <a:tc>
                  <a:txBody>
                    <a:bodyPr wrap="square"/>
                    <a:lstStyle/>
                    <a:p>
                      <a:pPr algn="l"/>
                      <a:r>
                        <a:rPr sz="1050" b="0" i="0">
                          <a:solidFill>
                            <a:srgbClr val="000000"/>
                          </a:solidFill>
                          <a:latin typeface="Calibri"/>
                        </a:rPr>
                        <a:t>Figure 61: East Asia Market Volume by Principal Material / Barrier Technology,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62: East Asia Market Volume by Material Structure,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63: East Asia Market Volume by Barrier Level,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64: East Asia Market Volume by Application,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65: East Asia Market Volume by Barrier Level Vs Application,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66: East Asia Market Average Selling Price by Product Type, US$/MT, 2021–2036</a:t>
                      </a:r>
                      <a:endParaRPr sz="1050"/>
                    </a:p>
                  </a:txBody>
                  <a:tcPr marL="9525" marR="9525" marT="9525" marB="0" anchor="ctr"/>
                </a:tc>
              </a:tr>
              <a:tr h="337215">
                <a:tc>
                  <a:txBody>
                    <a:bodyPr wrap="square"/>
                    <a:lstStyle/>
                    <a:p>
                      <a:pPr algn="l"/>
                      <a:r>
                        <a:rPr sz="1050" b="0" i="0">
                          <a:solidFill>
                            <a:srgbClr val="000000"/>
                          </a:solidFill>
                          <a:latin typeface="Calibri"/>
                        </a:rPr>
                        <a:t>Figure 67: East Asia Market Average Selling Price by Principal Material / Barrier Technology, US$/MT, 2021–2036</a:t>
                      </a:r>
                      <a:endParaRPr sz="1050"/>
                    </a:p>
                  </a:txBody>
                  <a:tcPr marL="9525" marR="9525" marT="9525" marB="0" anchor="ctr"/>
                </a:tc>
              </a:tr>
              <a:tr h="172048">
                <a:tc>
                  <a:txBody>
                    <a:bodyPr wrap="square"/>
                    <a:lstStyle/>
                    <a:p>
                      <a:pPr algn="l"/>
                      <a:r>
                        <a:rPr sz="1050" b="0" i="0">
                          <a:solidFill>
                            <a:srgbClr val="000000"/>
                          </a:solidFill>
                          <a:latin typeface="Calibri"/>
                        </a:rPr>
                        <a:t>Figure 68: East Asia Market Average Selling Price by Material Structure, US$/MT, 2021–2036</a:t>
                      </a:r>
                      <a:endParaRPr sz="1050"/>
                    </a:p>
                  </a:txBody>
                  <a:tcPr marL="9525" marR="9525" marT="9525" marB="0" anchor="ctr"/>
                </a:tc>
              </a:tr>
              <a:tr h="172048">
                <a:tc>
                  <a:txBody>
                    <a:bodyPr wrap="square"/>
                    <a:lstStyle/>
                    <a:p>
                      <a:pPr algn="l"/>
                      <a:r>
                        <a:rPr sz="1050" b="0" i="0">
                          <a:solidFill>
                            <a:srgbClr val="000000"/>
                          </a:solidFill>
                          <a:latin typeface="Calibri"/>
                        </a:rPr>
                        <a:t>Figure 69: East Asia Market Average Selling Price by Barrier Level, US$/MT, 2021–2036</a:t>
                      </a:r>
                      <a:endParaRPr sz="1050"/>
                    </a:p>
                  </a:txBody>
                  <a:tcPr marL="9525" marR="9525" marT="9525" marB="0" anchor="ctr"/>
                </a:tc>
              </a:tr>
              <a:tr h="172048">
                <a:tc>
                  <a:txBody>
                    <a:bodyPr wrap="square"/>
                    <a:lstStyle/>
                    <a:p>
                      <a:pPr algn="l"/>
                      <a:r>
                        <a:rPr sz="1050" b="0" i="0">
                          <a:solidFill>
                            <a:srgbClr val="000000"/>
                          </a:solidFill>
                          <a:latin typeface="Calibri"/>
                        </a:rPr>
                        <a:t>Figure 70: East Asia Market Average Selling Price by Application, US$/MT, 2021–2036</a:t>
                      </a:r>
                      <a:endParaRPr sz="1050"/>
                    </a:p>
                  </a:txBody>
                  <a:tcPr marL="9525" marR="9525" marT="9525" marB="0" anchor="ctr"/>
                </a:tc>
              </a:tr>
              <a:tr h="172048">
                <a:tc>
                  <a:txBody>
                    <a:bodyPr wrap="square"/>
                    <a:lstStyle/>
                    <a:p>
                      <a:pPr algn="l"/>
                      <a:r>
                        <a:rPr sz="1050" b="0" i="0">
                          <a:solidFill>
                            <a:srgbClr val="000000"/>
                          </a:solidFill>
                          <a:latin typeface="Calibri"/>
                        </a:rPr>
                        <a:t>Figure 71: East Asia Market Average Selling Price by Barrier Level Vs Application, US$/MT, 2021–2036</a:t>
                      </a:r>
                      <a:endParaRPr sz="1050"/>
                    </a:p>
                  </a:txBody>
                  <a:tcPr marL="9525" marR="9525" marT="9525" marB="0" anchor="ctr"/>
                </a:tc>
              </a:tr>
              <a:tr h="337215">
                <a:tc>
                  <a:txBody>
                    <a:bodyPr wrap="square"/>
                    <a:lstStyle/>
                    <a:p>
                      <a:pPr algn="l"/>
                      <a:r>
                        <a:rPr sz="1050" b="0" i="0">
                          <a:solidFill>
                            <a:srgbClr val="000000"/>
                          </a:solidFill>
                          <a:latin typeface="Calibri"/>
                        </a:rPr>
                        <a:t>Figure 72: East Asia Market Value and YoY Growth, Rollstock Films (Product Type),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73: East Asia Market Value and YoY Growth, PE-Based (Principal Material / Barrier Technology),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74: East Asia Market Value and YoY Growth, Monolayer Films (Material Structure),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75: East Asia Market Value and YoY Growth, Low-Barrier Films (Barrier Level),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76: East Asia Market Value and YoY Growth, Food Packaging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77: East Asia Market Value and YoY Growth, Low-Barrier Films (Barrier Level Vs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78: East Asia Market Value and YoY Growth, Barrier Casings (Product Type),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79: East Asia Market Value and YoY Growth, PP-Based (Principal Material / Barrier Technology), US$ Mn and %, 2021–2036</a:t>
                      </a:r>
                      <a:endParaRPr sz="1050"/>
                    </a:p>
                  </a:txBody>
                  <a:tcPr marL="9525" marR="9525" marT="9525" marB="0" anchor="ctr"/>
                </a:tc>
              </a:tr>
              <a:tr h="337215">
                <a:tc>
                  <a:txBody>
                    <a:bodyPr wrap="square"/>
                    <a:lstStyle/>
                    <a:p>
                      <a:pPr algn="l"/>
                      <a:r>
                        <a:rPr sz="1050" b="0" i="0">
                          <a:solidFill>
                            <a:srgbClr val="000000"/>
                          </a:solidFill>
                          <a:latin typeface="Calibri"/>
                        </a:rPr>
                        <a:t>Figure 80: East Asia Market Value and YoY Growth, Coextruded Multilayer Films (Material Structure),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4"/>
        </p:xfrm>
        <a:graphic>
          <a:graphicData uri="http://schemas.openxmlformats.org/drawingml/2006/table">
            <a:tbl>
              <a:tblPr>
                <a:tableStyleId>{3B4B98B0-60AC-42C2-AFA5-B58CD77FA1E5}</a:tableStyleId>
              </a:tblPr>
              <a:tblGrid>
                <a:gridCol w="5876925"/>
              </a:tblGrid>
              <a:tr h="336774">
                <a:tc>
                  <a:txBody>
                    <a:bodyPr wrap="square"/>
                    <a:lstStyle/>
                    <a:p>
                      <a:pPr algn="l"/>
                      <a:r>
                        <a:rPr sz="1050" b="0" i="0">
                          <a:solidFill>
                            <a:srgbClr val="000000"/>
                          </a:solidFill>
                          <a:latin typeface="Calibri"/>
                        </a:rPr>
                        <a:t>Figure 81: East Asia Market Value and YoY Growth, Medium-Barrier Films (Barrier Level), US$ Mn and %, 2021–2036</a:t>
                      </a:r>
                      <a:endParaRPr sz="1050"/>
                    </a:p>
                  </a:txBody>
                  <a:tcPr marL="9525" marR="9525" marT="9525" marB="0" anchor="ctr"/>
                </a:tc>
              </a:tr>
              <a:tr h="336774">
                <a:tc>
                  <a:txBody>
                    <a:bodyPr wrap="square"/>
                    <a:lstStyle/>
                    <a:p>
                      <a:pPr algn="l"/>
                      <a:r>
                        <a:rPr sz="1050" b="0" i="0">
                          <a:solidFill>
                            <a:srgbClr val="000000"/>
                          </a:solidFill>
                          <a:latin typeface="Calibri"/>
                        </a:rPr>
                        <a:t>Figure 82: East Asia Market Value and YoY Growth, Non-Food Packaging (Application), US$ Mn and %, 2021–2036</a:t>
                      </a:r>
                      <a:endParaRPr sz="1050"/>
                    </a:p>
                  </a:txBody>
                  <a:tcPr marL="9525" marR="9525" marT="9525" marB="0" anchor="ctr"/>
                </a:tc>
              </a:tr>
              <a:tr h="336774">
                <a:tc>
                  <a:txBody>
                    <a:bodyPr wrap="square"/>
                    <a:lstStyle/>
                    <a:p>
                      <a:pPr algn="l"/>
                      <a:r>
                        <a:rPr sz="1050" b="0" i="0">
                          <a:solidFill>
                            <a:srgbClr val="000000"/>
                          </a:solidFill>
                          <a:latin typeface="Calibri"/>
                        </a:rPr>
                        <a:t>Figure 83: East Asia Market Value and YoY Growth, Medium-Barrier Films (Barrier Level Vs Application), US$ Mn and %, 2021–2036</a:t>
                      </a:r>
                      <a:endParaRPr sz="1050"/>
                    </a:p>
                  </a:txBody>
                  <a:tcPr marL="9525" marR="9525" marT="9525" marB="0" anchor="ctr"/>
                </a:tc>
              </a:tr>
              <a:tr h="336774">
                <a:tc>
                  <a:txBody>
                    <a:bodyPr wrap="square"/>
                    <a:lstStyle/>
                    <a:p>
                      <a:pPr algn="l"/>
                      <a:r>
                        <a:rPr sz="1050" b="0" i="0">
                          <a:solidFill>
                            <a:srgbClr val="000000"/>
                          </a:solidFill>
                          <a:latin typeface="Calibri"/>
                        </a:rPr>
                        <a:t>Figure 84: East Asia Market Value and YoY Growth, Premade Pouches &amp; Bags (Product Type), US$ Mn and %, 2021–2036</a:t>
                      </a:r>
                      <a:endParaRPr sz="1050"/>
                    </a:p>
                  </a:txBody>
                  <a:tcPr marL="9525" marR="9525" marT="9525" marB="0" anchor="ctr"/>
                </a:tc>
              </a:tr>
              <a:tr h="336774">
                <a:tc>
                  <a:txBody>
                    <a:bodyPr wrap="square"/>
                    <a:lstStyle/>
                    <a:p>
                      <a:pPr algn="l"/>
                      <a:r>
                        <a:rPr sz="1050" b="0" i="0">
                          <a:solidFill>
                            <a:srgbClr val="000000"/>
                          </a:solidFill>
                          <a:latin typeface="Calibri"/>
                        </a:rPr>
                        <a:t>Figure 85: East Asia Market Value and YoY Growth, PET-Based (Principal Material / Barrier Technology), US$ Mn and %, 2021–2036</a:t>
                      </a:r>
                      <a:endParaRPr sz="1050"/>
                    </a:p>
                  </a:txBody>
                  <a:tcPr marL="9525" marR="9525" marT="9525" marB="0" anchor="ctr"/>
                </a:tc>
              </a:tr>
              <a:tr h="336774">
                <a:tc>
                  <a:txBody>
                    <a:bodyPr wrap="square"/>
                    <a:lstStyle/>
                    <a:p>
                      <a:pPr algn="l"/>
                      <a:r>
                        <a:rPr sz="1050" b="0" i="0">
                          <a:solidFill>
                            <a:srgbClr val="000000"/>
                          </a:solidFill>
                          <a:latin typeface="Calibri"/>
                        </a:rPr>
                        <a:t>Figure 86: East Asia Market Value and YoY Growth, Laminated Films (Material Structure), US$ Mn and %, 2021–2036</a:t>
                      </a:r>
                      <a:endParaRPr sz="1050"/>
                    </a:p>
                  </a:txBody>
                  <a:tcPr marL="9525" marR="9525" marT="9525" marB="0" anchor="ctr"/>
                </a:tc>
              </a:tr>
              <a:tr h="336774">
                <a:tc>
                  <a:txBody>
                    <a:bodyPr wrap="square"/>
                    <a:lstStyle/>
                    <a:p>
                      <a:pPr algn="l"/>
                      <a:r>
                        <a:rPr sz="1050" b="0" i="0">
                          <a:solidFill>
                            <a:srgbClr val="000000"/>
                          </a:solidFill>
                          <a:latin typeface="Calibri"/>
                        </a:rPr>
                        <a:t>Figure 87: East Asia Market Value and YoY Growth, High-Barrier Films (Barrier Level), US$ Mn and %, 2021–2036</a:t>
                      </a:r>
                      <a:endParaRPr sz="1050"/>
                    </a:p>
                  </a:txBody>
                  <a:tcPr marL="9525" marR="9525" marT="9525" marB="0" anchor="ctr"/>
                </a:tc>
              </a:tr>
              <a:tr h="171824">
                <a:tc>
                  <a:txBody>
                    <a:bodyPr wrap="square"/>
                    <a:lstStyle/>
                    <a:p>
                      <a:pPr algn="l"/>
                      <a:r>
                        <a:rPr sz="1050" b="0" i="0">
                          <a:solidFill>
                            <a:srgbClr val="000000"/>
                          </a:solidFill>
                          <a:latin typeface="Calibri"/>
                        </a:rPr>
                        <a:t>Figure 88: East Asia Market Value by Application by Scenario, US$ Mn, 2036</a:t>
                      </a:r>
                      <a:endParaRPr sz="1050"/>
                    </a:p>
                  </a:txBody>
                  <a:tcPr marL="9525" marR="9525" marT="9525" marB="0" anchor="ctr"/>
                </a:tc>
              </a:tr>
              <a:tr h="336774">
                <a:tc>
                  <a:txBody>
                    <a:bodyPr wrap="square"/>
                    <a:lstStyle/>
                    <a:p>
                      <a:pPr algn="l"/>
                      <a:r>
                        <a:rPr sz="1050" b="0" i="0">
                          <a:solidFill>
                            <a:srgbClr val="000000"/>
                          </a:solidFill>
                          <a:latin typeface="Calibri"/>
                        </a:rPr>
                        <a:t>Figure 89: East Asia Market Value and YoY Growth, High-Barrier Films (Barrier Level Vs Application), US$ Mn and %, 2021–2036</a:t>
                      </a:r>
                      <a:endParaRPr sz="1050"/>
                    </a:p>
                  </a:txBody>
                  <a:tcPr marL="9525" marR="9525" marT="9525" marB="0" anchor="ctr"/>
                </a:tc>
              </a:tr>
              <a:tr h="336774">
                <a:tc>
                  <a:txBody>
                    <a:bodyPr wrap="square"/>
                    <a:lstStyle/>
                    <a:p>
                      <a:pPr algn="l"/>
                      <a:r>
                        <a:rPr sz="1050" b="0" i="0">
                          <a:solidFill>
                            <a:srgbClr val="000000"/>
                          </a:solidFill>
                          <a:latin typeface="Calibri"/>
                        </a:rPr>
                        <a:t>Figure 90: East Asia Market Value and YoY Growth, Sachets &amp; Stick Packs (Product Type), US$ Mn and %, 2021–2036</a:t>
                      </a:r>
                      <a:endParaRPr sz="1050"/>
                    </a:p>
                  </a:txBody>
                  <a:tcPr marL="9525" marR="9525" marT="9525" marB="0" anchor="ctr"/>
                </a:tc>
              </a:tr>
              <a:tr h="171824">
                <a:tc>
                  <a:txBody>
                    <a:bodyPr wrap="square"/>
                    <a:lstStyle/>
                    <a:p>
                      <a:pPr algn="l"/>
                      <a:r>
                        <a:rPr sz="1050" b="0" i="0">
                          <a:solidFill>
                            <a:srgbClr val="000000"/>
                          </a:solidFill>
                          <a:latin typeface="Calibri"/>
                        </a:rPr>
                        <a:t>Figure 91: Product Type × Principal Material / Barrier Technology Opportunity Matrix, 2026–2036</a:t>
                      </a:r>
                      <a:endParaRPr sz="1050"/>
                    </a:p>
                  </a:txBody>
                  <a:tcPr marL="9525" marR="9525" marT="9525" marB="0" anchor="ctr"/>
                </a:tc>
              </a:tr>
              <a:tr h="171824">
                <a:tc>
                  <a:txBody>
                    <a:bodyPr wrap="square"/>
                    <a:lstStyle/>
                    <a:p>
                      <a:pPr algn="l"/>
                      <a:r>
                        <a:rPr sz="1050" b="0" i="0">
                          <a:solidFill>
                            <a:srgbClr val="000000"/>
                          </a:solidFill>
                          <a:latin typeface="Calibri"/>
                        </a:rPr>
                        <a:t>Figure 92: Product Type × Material Structure Opportunity Matrix, 2026–2036</a:t>
                      </a:r>
                      <a:endParaRPr sz="1050"/>
                    </a:p>
                  </a:txBody>
                  <a:tcPr marL="9525" marR="9525" marT="9525" marB="0" anchor="ctr"/>
                </a:tc>
              </a:tr>
              <a:tr h="171824">
                <a:tc>
                  <a:txBody>
                    <a:bodyPr wrap="square"/>
                    <a:lstStyle/>
                    <a:p>
                      <a:pPr algn="l"/>
                      <a:r>
                        <a:rPr sz="1050" b="0" i="0">
                          <a:solidFill>
                            <a:srgbClr val="000000"/>
                          </a:solidFill>
                          <a:latin typeface="Calibri"/>
                        </a:rPr>
                        <a:t>Figure 93: Product Type × Barrier Level Opportunity Matrix, 2026–2036</a:t>
                      </a:r>
                      <a:endParaRPr sz="1050"/>
                    </a:p>
                  </a:txBody>
                  <a:tcPr marL="9525" marR="9525" marT="9525" marB="0" anchor="ctr"/>
                </a:tc>
              </a:tr>
              <a:tr h="171824">
                <a:tc>
                  <a:txBody>
                    <a:bodyPr wrap="square"/>
                    <a:lstStyle/>
                    <a:p>
                      <a:pPr algn="l"/>
                      <a:r>
                        <a:rPr sz="1050" b="0" i="0">
                          <a:solidFill>
                            <a:srgbClr val="000000"/>
                          </a:solidFill>
                          <a:latin typeface="Calibri"/>
                        </a:rPr>
                        <a:t>Figure 94: Product Type × Application Opportunity Matrix, 2026–2036</a:t>
                      </a:r>
                      <a:endParaRPr sz="1050"/>
                    </a:p>
                  </a:txBody>
                  <a:tcPr marL="9525" marR="9525" marT="9525" marB="0" anchor="ctr"/>
                </a:tc>
              </a:tr>
              <a:tr h="171824">
                <a:tc>
                  <a:txBody>
                    <a:bodyPr wrap="square"/>
                    <a:lstStyle/>
                    <a:p>
                      <a:pPr algn="l"/>
                      <a:r>
                        <a:rPr sz="1050" b="0" i="0">
                          <a:solidFill>
                            <a:srgbClr val="000000"/>
                          </a:solidFill>
                          <a:latin typeface="Calibri"/>
                        </a:rPr>
                        <a:t>Figure 95: Product Type × Barrier Level Vs Application Opportunity Matrix, 2026–2036</a:t>
                      </a:r>
                      <a:endParaRPr sz="1050"/>
                    </a:p>
                  </a:txBody>
                  <a:tcPr marL="9525" marR="9525" marT="9525" marB="0" anchor="ctr"/>
                </a:tc>
              </a:tr>
              <a:tr h="171824">
                <a:tc>
                  <a:txBody>
                    <a:bodyPr wrap="square"/>
                    <a:lstStyle/>
                    <a:p>
                      <a:pPr algn="l"/>
                      <a:r>
                        <a:rPr sz="1050" b="0" i="0">
                          <a:solidFill>
                            <a:srgbClr val="000000"/>
                          </a:solidFill>
                          <a:latin typeface="Calibri"/>
                        </a:rPr>
                        <a:t>Figure 96: Principal Material / Barrier Technology × Material Structure Opportunity Matrix, 2026–2036</a:t>
                      </a:r>
                      <a:endParaRPr sz="1050"/>
                    </a:p>
                  </a:txBody>
                  <a:tcPr marL="9525" marR="9525" marT="9525" marB="0" anchor="ctr"/>
                </a:tc>
              </a:tr>
              <a:tr h="171824">
                <a:tc>
                  <a:txBody>
                    <a:bodyPr wrap="square"/>
                    <a:lstStyle/>
                    <a:p>
                      <a:pPr algn="l"/>
                      <a:r>
                        <a:rPr sz="1050" b="0" i="0">
                          <a:solidFill>
                            <a:srgbClr val="000000"/>
                          </a:solidFill>
                          <a:latin typeface="Calibri"/>
                        </a:rPr>
                        <a:t>Figure 97: Principal Material / Barrier Technology × Barrier Level Opportunity Matrix, 2026–2036</a:t>
                      </a:r>
                      <a:endParaRPr sz="1050"/>
                    </a:p>
                  </a:txBody>
                  <a:tcPr marL="9525" marR="9525" marT="9525" marB="0" anchor="ctr"/>
                </a:tc>
              </a:tr>
              <a:tr h="171824">
                <a:tc>
                  <a:txBody>
                    <a:bodyPr wrap="square"/>
                    <a:lstStyle/>
                    <a:p>
                      <a:pPr algn="l"/>
                      <a:r>
                        <a:rPr sz="1050" b="0" i="0">
                          <a:solidFill>
                            <a:srgbClr val="000000"/>
                          </a:solidFill>
                          <a:latin typeface="Calibri"/>
                        </a:rPr>
                        <a:t>Figure 98: Principal Material / Barrier Technology × Application Opportunity Matrix, 2026–2036</a:t>
                      </a:r>
                      <a:endParaRPr sz="1050"/>
                    </a:p>
                  </a:txBody>
                  <a:tcPr marL="9525" marR="9525" marT="9525" marB="0" anchor="ctr"/>
                </a:tc>
              </a:tr>
              <a:tr h="336774">
                <a:tc>
                  <a:txBody>
                    <a:bodyPr wrap="square"/>
                    <a:lstStyle/>
                    <a:p>
                      <a:pPr algn="l"/>
                      <a:r>
                        <a:rPr sz="1050" b="0" i="0">
                          <a:solidFill>
                            <a:srgbClr val="000000"/>
                          </a:solidFill>
                          <a:latin typeface="Calibri"/>
                        </a:rPr>
                        <a:t>Figure 99: Principal Material / Barrier Technology × Barrier Level Vs Application Opportunity Matrix, 2026–2036</a:t>
                      </a:r>
                      <a:endParaRPr sz="1050"/>
                    </a:p>
                  </a:txBody>
                  <a:tcPr marL="9525" marR="9525" marT="9525" marB="0" anchor="ctr"/>
                </a:tc>
              </a:tr>
              <a:tr h="171824">
                <a:tc>
                  <a:txBody>
                    <a:bodyPr wrap="square"/>
                    <a:lstStyle/>
                    <a:p>
                      <a:pPr algn="l"/>
                      <a:r>
                        <a:rPr sz="1050" b="0" i="0">
                          <a:solidFill>
                            <a:srgbClr val="000000"/>
                          </a:solidFill>
                          <a:latin typeface="Calibri"/>
                        </a:rPr>
                        <a:t>Figure 100: Material Structure × Barrier Level Opportunity Matrix, 2026–2036</a:t>
                      </a:r>
                      <a:endParaRPr sz="1050"/>
                    </a:p>
                  </a:txBody>
                  <a:tcPr marL="9525" marR="9525" marT="9525" marB="0" anchor="ctr"/>
                </a:tc>
              </a:tr>
              <a:tr h="171824">
                <a:tc>
                  <a:txBody>
                    <a:bodyPr wrap="square"/>
                    <a:lstStyle/>
                    <a:p>
                      <a:pPr algn="l"/>
                      <a:r>
                        <a:rPr sz="1050" b="0" i="0">
                          <a:solidFill>
                            <a:srgbClr val="000000"/>
                          </a:solidFill>
                          <a:latin typeface="Calibri"/>
                        </a:rPr>
                        <a:t>Figure 101: Material Structure × Application Opportunity Matrix,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803"/>
        </p:xfrm>
        <a:graphic>
          <a:graphicData uri="http://schemas.openxmlformats.org/drawingml/2006/table">
            <a:tbl>
              <a:tblPr>
                <a:tableStyleId>{3B4B98B0-60AC-42C2-AFA5-B58CD77FA1E5}</a:tableStyleId>
              </a:tblPr>
              <a:tblGrid>
                <a:gridCol w="5876925"/>
              </a:tblGrid>
              <a:tr h="170708">
                <a:tc>
                  <a:txBody>
                    <a:bodyPr wrap="square"/>
                    <a:lstStyle/>
                    <a:p>
                      <a:pPr algn="l"/>
                      <a:r>
                        <a:rPr sz="1050" b="0" i="0">
                          <a:solidFill>
                            <a:srgbClr val="000000"/>
                          </a:solidFill>
                          <a:latin typeface="Calibri"/>
                        </a:rPr>
                        <a:t>Figure 102: Material Structure × Barrier Level Vs Application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103: Barrier Level × Application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104: Barrier Level × Barrier Level Vs Application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105: Application × Barrier Level Vs Application Opportunity Matrix, 2026–2036</a:t>
                      </a:r>
                      <a:endParaRPr sz="1050"/>
                    </a:p>
                  </a:txBody>
                  <a:tcPr marL="9525" marR="9525" marT="9525" marB="0" anchor="ctr"/>
                </a:tc>
              </a:tr>
              <a:tr h="334587">
                <a:tc>
                  <a:txBody>
                    <a:bodyPr wrap="square"/>
                    <a:lstStyle/>
                    <a:p>
                      <a:pPr algn="l"/>
                      <a:r>
                        <a:rPr sz="1050" b="0" i="0">
                          <a:solidFill>
                            <a:srgbClr val="000000"/>
                          </a:solidFill>
                          <a:latin typeface="Calibri"/>
                        </a:rPr>
                        <a:t>Figure 106: East Asia Market Value by Product Type and Principal Material / Barrier Technology, US$ Mn, 2036</a:t>
                      </a:r>
                      <a:endParaRPr sz="1050"/>
                    </a:p>
                  </a:txBody>
                  <a:tcPr marL="9525" marR="9525" marT="9525" marB="0" anchor="ctr"/>
                </a:tc>
              </a:tr>
              <a:tr h="170708">
                <a:tc>
                  <a:txBody>
                    <a:bodyPr wrap="square"/>
                    <a:lstStyle/>
                    <a:p>
                      <a:pPr algn="l"/>
                      <a:r>
                        <a:rPr sz="1050" b="0" i="0">
                          <a:solidFill>
                            <a:srgbClr val="000000"/>
                          </a:solidFill>
                          <a:latin typeface="Calibri"/>
                        </a:rPr>
                        <a:t>Figure 107: East Asia Market Value by Product Type and Material Structure, US$ Mn, 2036</a:t>
                      </a:r>
                      <a:endParaRPr sz="1050"/>
                    </a:p>
                  </a:txBody>
                  <a:tcPr marL="9525" marR="9525" marT="9525" marB="0" anchor="ctr"/>
                </a:tc>
              </a:tr>
              <a:tr h="170708">
                <a:tc>
                  <a:txBody>
                    <a:bodyPr wrap="square"/>
                    <a:lstStyle/>
                    <a:p>
                      <a:pPr algn="l"/>
                      <a:r>
                        <a:rPr sz="1050" b="0" i="0">
                          <a:solidFill>
                            <a:srgbClr val="000000"/>
                          </a:solidFill>
                          <a:latin typeface="Calibri"/>
                        </a:rPr>
                        <a:t>Figure 108: East Asia Market Value by Product Type and Barrier Level, US$ Mn, 2036</a:t>
                      </a:r>
                      <a:endParaRPr sz="1050"/>
                    </a:p>
                  </a:txBody>
                  <a:tcPr marL="9525" marR="9525" marT="9525" marB="0" anchor="ctr"/>
                </a:tc>
              </a:tr>
              <a:tr h="170708">
                <a:tc>
                  <a:txBody>
                    <a:bodyPr wrap="square"/>
                    <a:lstStyle/>
                    <a:p>
                      <a:pPr algn="l"/>
                      <a:r>
                        <a:rPr sz="1050" b="0" i="0">
                          <a:solidFill>
                            <a:srgbClr val="000000"/>
                          </a:solidFill>
                          <a:latin typeface="Calibri"/>
                        </a:rPr>
                        <a:t>Figure 109: East Asia Market Value by Product Type and Application, US$ Mn, 2036</a:t>
                      </a:r>
                      <a:endParaRPr sz="1050"/>
                    </a:p>
                  </a:txBody>
                  <a:tcPr marL="9525" marR="9525" marT="9525" marB="0" anchor="ctr"/>
                </a:tc>
              </a:tr>
              <a:tr h="170708">
                <a:tc>
                  <a:txBody>
                    <a:bodyPr wrap="square"/>
                    <a:lstStyle/>
                    <a:p>
                      <a:pPr algn="l"/>
                      <a:r>
                        <a:rPr sz="1050" b="0" i="0">
                          <a:solidFill>
                            <a:srgbClr val="000000"/>
                          </a:solidFill>
                          <a:latin typeface="Calibri"/>
                        </a:rPr>
                        <a:t>Figure 110: East Asia Market Value by Product Type and Barrier Level Vs Application, US$ Mn, 2036</a:t>
                      </a:r>
                      <a:endParaRPr sz="1050"/>
                    </a:p>
                  </a:txBody>
                  <a:tcPr marL="9525" marR="9525" marT="9525" marB="0" anchor="ctr"/>
                </a:tc>
              </a:tr>
              <a:tr h="334587">
                <a:tc>
                  <a:txBody>
                    <a:bodyPr wrap="square"/>
                    <a:lstStyle/>
                    <a:p>
                      <a:pPr algn="l"/>
                      <a:r>
                        <a:rPr sz="1050" b="0" i="0">
                          <a:solidFill>
                            <a:srgbClr val="000000"/>
                          </a:solidFill>
                          <a:latin typeface="Calibri"/>
                        </a:rPr>
                        <a:t>Figure 111: East Asia Market Value by Principal Material / Barrier Technology and Material Structure, US$ Mn, 2036</a:t>
                      </a:r>
                      <a:endParaRPr sz="1050"/>
                    </a:p>
                  </a:txBody>
                  <a:tcPr marL="9525" marR="9525" marT="9525" marB="0" anchor="ctr"/>
                </a:tc>
              </a:tr>
              <a:tr h="334587">
                <a:tc>
                  <a:txBody>
                    <a:bodyPr wrap="square"/>
                    <a:lstStyle/>
                    <a:p>
                      <a:pPr algn="l"/>
                      <a:r>
                        <a:rPr sz="1050" b="0" i="0">
                          <a:solidFill>
                            <a:srgbClr val="000000"/>
                          </a:solidFill>
                          <a:latin typeface="Calibri"/>
                        </a:rPr>
                        <a:t>Figure 112: East Asia Market Value by Principal Material / Barrier Technology and Barrier Level, US$ Mn, 2036</a:t>
                      </a:r>
                      <a:endParaRPr sz="1050"/>
                    </a:p>
                  </a:txBody>
                  <a:tcPr marL="9525" marR="9525" marT="9525" marB="0" anchor="ctr"/>
                </a:tc>
              </a:tr>
              <a:tr h="334587">
                <a:tc>
                  <a:txBody>
                    <a:bodyPr wrap="square"/>
                    <a:lstStyle/>
                    <a:p>
                      <a:pPr algn="l"/>
                      <a:r>
                        <a:rPr sz="1050" b="0" i="0">
                          <a:solidFill>
                            <a:srgbClr val="000000"/>
                          </a:solidFill>
                          <a:latin typeface="Calibri"/>
                        </a:rPr>
                        <a:t>Figure 113: East Asia Market Value by Principal Material / Barrier Technology and Application, US$ Mn, 2036</a:t>
                      </a:r>
                      <a:endParaRPr sz="1050"/>
                    </a:p>
                  </a:txBody>
                  <a:tcPr marL="9525" marR="9525" marT="9525" marB="0" anchor="ctr"/>
                </a:tc>
              </a:tr>
              <a:tr h="334587">
                <a:tc>
                  <a:txBody>
                    <a:bodyPr wrap="square"/>
                    <a:lstStyle/>
                    <a:p>
                      <a:pPr algn="l"/>
                      <a:r>
                        <a:rPr sz="1050" b="0" i="0">
                          <a:solidFill>
                            <a:srgbClr val="000000"/>
                          </a:solidFill>
                          <a:latin typeface="Calibri"/>
                        </a:rPr>
                        <a:t>Figure 114: East Asia Market Value by Principal Material / Barrier Technology and Barrier Level Vs Application, US$ Mn, 2036</a:t>
                      </a:r>
                      <a:endParaRPr sz="1050"/>
                    </a:p>
                  </a:txBody>
                  <a:tcPr marL="9525" marR="9525" marT="9525" marB="0" anchor="ctr"/>
                </a:tc>
              </a:tr>
              <a:tr h="170708">
                <a:tc>
                  <a:txBody>
                    <a:bodyPr wrap="square"/>
                    <a:lstStyle/>
                    <a:p>
                      <a:pPr algn="l"/>
                      <a:r>
                        <a:rPr sz="1050" b="0" i="0">
                          <a:solidFill>
                            <a:srgbClr val="000000"/>
                          </a:solidFill>
                          <a:latin typeface="Calibri"/>
                        </a:rPr>
                        <a:t>Figure 115: East Asia Market Value by Material Structure and Barrier Level, US$ Mn, 2036</a:t>
                      </a:r>
                      <a:endParaRPr sz="1050"/>
                    </a:p>
                  </a:txBody>
                  <a:tcPr marL="9525" marR="9525" marT="9525" marB="0" anchor="ctr"/>
                </a:tc>
              </a:tr>
              <a:tr h="170708">
                <a:tc>
                  <a:txBody>
                    <a:bodyPr wrap="square"/>
                    <a:lstStyle/>
                    <a:p>
                      <a:pPr algn="l"/>
                      <a:r>
                        <a:rPr sz="1050" b="0" i="0">
                          <a:solidFill>
                            <a:srgbClr val="000000"/>
                          </a:solidFill>
                          <a:latin typeface="Calibri"/>
                        </a:rPr>
                        <a:t>Figure 116: China Market Value and YoY Growth, US$ Mn and %, 2021–2036</a:t>
                      </a:r>
                      <a:endParaRPr sz="1050"/>
                    </a:p>
                  </a:txBody>
                  <a:tcPr marL="9525" marR="9525" marT="9525" marB="0" anchor="ctr"/>
                </a:tc>
              </a:tr>
              <a:tr h="170708">
                <a:tc>
                  <a:txBody>
                    <a:bodyPr wrap="square"/>
                    <a:lstStyle/>
                    <a:p>
                      <a:pPr algn="l"/>
                      <a:r>
                        <a:rPr sz="1050" b="0" i="0">
                          <a:solidFill>
                            <a:srgbClr val="000000"/>
                          </a:solidFill>
                          <a:latin typeface="Calibri"/>
                        </a:rPr>
                        <a:t>Figure 117: China Market Value by Product Type,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118: China Market Value by Application,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119: China Market Share within East Asia, %, 2026 and 2036</a:t>
                      </a:r>
                      <a:endParaRPr sz="1050"/>
                    </a:p>
                  </a:txBody>
                  <a:tcPr marL="9525" marR="9525" marT="9525" marB="0" anchor="ctr"/>
                </a:tc>
              </a:tr>
              <a:tr h="170708">
                <a:tc>
                  <a:txBody>
                    <a:bodyPr wrap="square"/>
                    <a:lstStyle/>
                    <a:p>
                      <a:pPr algn="l"/>
                      <a:r>
                        <a:rPr sz="1050" b="0" i="0">
                          <a:solidFill>
                            <a:srgbClr val="000000"/>
                          </a:solidFill>
                          <a:latin typeface="Calibri"/>
                        </a:rPr>
                        <a:t>Figure 120: China Market Value by Principal Material / Barrier Technology,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121: China Market Value by Material Structure,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122: China Market Value by Barrier Level,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123: China Market Value by Barrier Level Vs Application,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124: China Market Volume and YoY Growth, Thousand MT and %, 2021–2036</a:t>
                      </a:r>
                      <a:endParaRPr sz="1050"/>
                    </a:p>
                  </a:txBody>
                  <a:tcPr marL="9525" marR="9525" marT="9525" marB="0" anchor="ctr"/>
                </a:tc>
              </a:tr>
              <a:tr h="170708">
                <a:tc>
                  <a:txBody>
                    <a:bodyPr wrap="square"/>
                    <a:lstStyle/>
                    <a:p>
                      <a:pPr algn="l"/>
                      <a:r>
                        <a:rPr sz="1050" b="0" i="0">
                          <a:solidFill>
                            <a:srgbClr val="000000"/>
                          </a:solidFill>
                          <a:latin typeface="Calibri"/>
                        </a:rPr>
                        <a:t>Figure 125: China Market Average Selling Price, US$/MT, 2021–2036</a:t>
                      </a:r>
                      <a:endParaRPr sz="1050"/>
                    </a:p>
                  </a:txBody>
                  <a:tcPr marL="9525" marR="9525" marT="9525" marB="0" anchor="ctr"/>
                </a:tc>
              </a:tr>
              <a:tr h="170708">
                <a:tc>
                  <a:txBody>
                    <a:bodyPr wrap="square"/>
                    <a:lstStyle/>
                    <a:p>
                      <a:pPr algn="l"/>
                      <a:r>
                        <a:rPr sz="1050" b="0" i="0">
                          <a:solidFill>
                            <a:srgbClr val="000000"/>
                          </a:solidFill>
                          <a:latin typeface="Calibri"/>
                        </a:rPr>
                        <a:t>Figure 126: China Market Leading Suppliers Share, %, 2026</a:t>
                      </a:r>
                      <a:endParaRPr sz="1050"/>
                    </a:p>
                  </a:txBody>
                  <a:tcPr marL="9525" marR="9525" marT="9525" marB="0" anchor="ctr"/>
                </a:tc>
              </a:tr>
              <a:tr h="170708">
                <a:tc>
                  <a:txBody>
                    <a:bodyPr wrap="square"/>
                    <a:lstStyle/>
                    <a:p>
                      <a:pPr algn="l"/>
                      <a:r>
                        <a:rPr sz="1050" b="0" i="0">
                          <a:solidFill>
                            <a:srgbClr val="000000"/>
                          </a:solidFill>
                          <a:latin typeface="Calibri"/>
                        </a:rPr>
                        <a:t>Figure 127: China Market Demand Outlook,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Figure 128: Japan Market Value and YoY Growth, US$ Mn and %, 2021–2036</a:t>
                      </a:r>
                      <a:endParaRPr sz="1050"/>
                    </a:p>
                  </a:txBody>
                  <a:tcPr marL="9525" marR="9525" marT="9525" marB="0" anchor="ctr"/>
                </a:tc>
              </a:tr>
              <a:tr h="170045">
                <a:tc>
                  <a:txBody>
                    <a:bodyPr wrap="square"/>
                    <a:lstStyle/>
                    <a:p>
                      <a:pPr algn="l"/>
                      <a:r>
                        <a:rPr sz="1050" b="0" i="0">
                          <a:solidFill>
                            <a:srgbClr val="000000"/>
                          </a:solidFill>
                          <a:latin typeface="Calibri"/>
                        </a:rPr>
                        <a:t>Figure 129: Japan Market Value by Product Type,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130: Japan Market Value by Application,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131: Japan Market Share within East Asia, %, 2026 and 2036</a:t>
                      </a:r>
                      <a:endParaRPr sz="1050"/>
                    </a:p>
                  </a:txBody>
                  <a:tcPr marL="9525" marR="9525" marT="9525" marB="0" anchor="ctr"/>
                </a:tc>
              </a:tr>
              <a:tr h="170045">
                <a:tc>
                  <a:txBody>
                    <a:bodyPr wrap="square"/>
                    <a:lstStyle/>
                    <a:p>
                      <a:pPr algn="l"/>
                      <a:r>
                        <a:rPr sz="1050" b="0" i="0">
                          <a:solidFill>
                            <a:srgbClr val="000000"/>
                          </a:solidFill>
                          <a:latin typeface="Calibri"/>
                        </a:rPr>
                        <a:t>Figure 132: Japan Market Value by Principal Material / Barrier Technology,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133: Japan Market Value by Material Structure,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134: Japan Market Value by Barrier Level,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135: Japan Market Value by Barrier Level Vs Application,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136: Japan Market Volume and YoY Growth, Thousand MT and %, 2021–2036</a:t>
                      </a:r>
                      <a:endParaRPr sz="1050"/>
                    </a:p>
                  </a:txBody>
                  <a:tcPr marL="9525" marR="9525" marT="9525" marB="0" anchor="ctr"/>
                </a:tc>
              </a:tr>
              <a:tr h="170045">
                <a:tc>
                  <a:txBody>
                    <a:bodyPr wrap="square"/>
                    <a:lstStyle/>
                    <a:p>
                      <a:pPr algn="l"/>
                      <a:r>
                        <a:rPr sz="1050" b="0" i="0">
                          <a:solidFill>
                            <a:srgbClr val="000000"/>
                          </a:solidFill>
                          <a:latin typeface="Calibri"/>
                        </a:rPr>
                        <a:t>Figure 137: Japan Market Average Selling Price, US$/MT, 2021–2036</a:t>
                      </a:r>
                      <a:endParaRPr sz="1050"/>
                    </a:p>
                  </a:txBody>
                  <a:tcPr marL="9525" marR="9525" marT="9525" marB="0" anchor="ctr"/>
                </a:tc>
              </a:tr>
              <a:tr h="170045">
                <a:tc>
                  <a:txBody>
                    <a:bodyPr wrap="square"/>
                    <a:lstStyle/>
                    <a:p>
                      <a:pPr algn="l"/>
                      <a:r>
                        <a:rPr sz="1050" b="0" i="0">
                          <a:solidFill>
                            <a:srgbClr val="000000"/>
                          </a:solidFill>
                          <a:latin typeface="Calibri"/>
                        </a:rPr>
                        <a:t>Figure 138: Japan Market Leading Suppliers Share, %, 2026</a:t>
                      </a:r>
                      <a:endParaRPr sz="1050"/>
                    </a:p>
                  </a:txBody>
                  <a:tcPr marL="9525" marR="9525" marT="9525" marB="0" anchor="ctr"/>
                </a:tc>
              </a:tr>
              <a:tr h="170045">
                <a:tc>
                  <a:txBody>
                    <a:bodyPr wrap="square"/>
                    <a:lstStyle/>
                    <a:p>
                      <a:pPr algn="l"/>
                      <a:r>
                        <a:rPr sz="1050" b="0" i="0">
                          <a:solidFill>
                            <a:srgbClr val="000000"/>
                          </a:solidFill>
                          <a:latin typeface="Calibri"/>
                        </a:rPr>
                        <a:t>Figure 139: Japan Market Demand Outlook, US$ Mn, 2026–2036</a:t>
                      </a:r>
                      <a:endParaRPr sz="1050"/>
                    </a:p>
                  </a:txBody>
                  <a:tcPr marL="9525" marR="9525" marT="9525" marB="0" anchor="ctr"/>
                </a:tc>
              </a:tr>
              <a:tr h="170045">
                <a:tc>
                  <a:txBody>
                    <a:bodyPr wrap="square"/>
                    <a:lstStyle/>
                    <a:p>
                      <a:pPr algn="l"/>
                      <a:r>
                        <a:rPr sz="1050" b="0" i="0">
                          <a:solidFill>
                            <a:srgbClr val="000000"/>
                          </a:solidFill>
                          <a:latin typeface="Calibri"/>
                        </a:rPr>
                        <a:t>Figure 140: South Korea Market Value and YoY Growth, US$ Mn and %, 2021–2036</a:t>
                      </a:r>
                      <a:endParaRPr sz="1050"/>
                    </a:p>
                  </a:txBody>
                  <a:tcPr marL="9525" marR="9525" marT="9525" marB="0" anchor="ctr"/>
                </a:tc>
              </a:tr>
              <a:tr h="170045">
                <a:tc>
                  <a:txBody>
                    <a:bodyPr wrap="square"/>
                    <a:lstStyle/>
                    <a:p>
                      <a:pPr algn="l"/>
                      <a:r>
                        <a:rPr sz="1050" b="0" i="0">
                          <a:solidFill>
                            <a:srgbClr val="000000"/>
                          </a:solidFill>
                          <a:latin typeface="Calibri"/>
                        </a:rPr>
                        <a:t>Figure 141: South Korea Market Value by Product Type,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142: South Korea Market Value by Application,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143: South Korea Market Share within East Asia, %, 2026 and 2036</a:t>
                      </a:r>
                      <a:endParaRPr sz="1050"/>
                    </a:p>
                  </a:txBody>
                  <a:tcPr marL="9525" marR="9525" marT="9525" marB="0" anchor="ctr"/>
                </a:tc>
              </a:tr>
              <a:tr h="333289">
                <a:tc>
                  <a:txBody>
                    <a:bodyPr wrap="square"/>
                    <a:lstStyle/>
                    <a:p>
                      <a:pPr algn="l"/>
                      <a:r>
                        <a:rPr sz="1050" b="0" i="0">
                          <a:solidFill>
                            <a:srgbClr val="000000"/>
                          </a:solidFill>
                          <a:latin typeface="Calibri"/>
                        </a:rPr>
                        <a:t>Figure 144: South Korea Market Value by Principal Material / Barrier Technology,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145: South Korea Market Value by Material Structure,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146: South Korea Market Value by Barrier Level,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147: South Korea Market Value by Barrier Level Vs Application,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148: South Korea Market Volume and YoY Growth, Thousand MT and %, 2021–2036</a:t>
                      </a:r>
                      <a:endParaRPr sz="1050"/>
                    </a:p>
                  </a:txBody>
                  <a:tcPr marL="9525" marR="9525" marT="9525" marB="0" anchor="ctr"/>
                </a:tc>
              </a:tr>
              <a:tr h="170045">
                <a:tc>
                  <a:txBody>
                    <a:bodyPr wrap="square"/>
                    <a:lstStyle/>
                    <a:p>
                      <a:pPr algn="l"/>
                      <a:r>
                        <a:rPr sz="1050" b="0" i="0">
                          <a:solidFill>
                            <a:srgbClr val="000000"/>
                          </a:solidFill>
                          <a:latin typeface="Calibri"/>
                        </a:rPr>
                        <a:t>Figure 149: South Korea Market Average Selling Price, US$/MT, 2021–2036</a:t>
                      </a:r>
                      <a:endParaRPr sz="1050"/>
                    </a:p>
                  </a:txBody>
                  <a:tcPr marL="9525" marR="9525" marT="9525" marB="0" anchor="ctr"/>
                </a:tc>
              </a:tr>
              <a:tr h="170045">
                <a:tc>
                  <a:txBody>
                    <a:bodyPr wrap="square"/>
                    <a:lstStyle/>
                    <a:p>
                      <a:pPr algn="l"/>
                      <a:r>
                        <a:rPr sz="1050" b="0" i="0">
                          <a:solidFill>
                            <a:srgbClr val="000000"/>
                          </a:solidFill>
                          <a:latin typeface="Calibri"/>
                        </a:rPr>
                        <a:t>Figure 150: South Korea Market Leading Suppliers Share, %, 2026</a:t>
                      </a:r>
                      <a:endParaRPr sz="1050"/>
                    </a:p>
                  </a:txBody>
                  <a:tcPr marL="9525" marR="9525" marT="9525" marB="0" anchor="ctr"/>
                </a:tc>
              </a:tr>
              <a:tr h="170045">
                <a:tc>
                  <a:txBody>
                    <a:bodyPr wrap="square"/>
                    <a:lstStyle/>
                    <a:p>
                      <a:pPr algn="l"/>
                      <a:r>
                        <a:rPr sz="1050" b="0" i="0">
                          <a:solidFill>
                            <a:srgbClr val="000000"/>
                          </a:solidFill>
                          <a:latin typeface="Calibri"/>
                        </a:rPr>
                        <a:t>Figure 151: South Korea Market Demand Outlook, US$ Mn, 2026–2036</a:t>
                      </a:r>
                      <a:endParaRPr sz="1050"/>
                    </a:p>
                  </a:txBody>
                  <a:tcPr marL="9525" marR="9525" marT="9525" marB="0" anchor="ctr"/>
                </a:tc>
              </a:tr>
              <a:tr h="170045">
                <a:tc>
                  <a:txBody>
                    <a:bodyPr wrap="square"/>
                    <a:lstStyle/>
                    <a:p>
                      <a:pPr algn="l"/>
                      <a:r>
                        <a:rPr sz="1050" b="0" i="0">
                          <a:solidFill>
                            <a:srgbClr val="000000"/>
                          </a:solidFill>
                          <a:latin typeface="Calibri"/>
                        </a:rPr>
                        <a:t>Figure 152: East Asia Market Average Selling Price Trend, US$/MT, 2021–2036</a:t>
                      </a:r>
                      <a:endParaRPr sz="1050"/>
                    </a:p>
                  </a:txBody>
                  <a:tcPr marL="9525" marR="9525" marT="9525" marB="0" anchor="ctr"/>
                </a:tc>
              </a:tr>
              <a:tr h="170045">
                <a:tc>
                  <a:txBody>
                    <a:bodyPr wrap="square"/>
                    <a:lstStyle/>
                    <a:p>
                      <a:pPr algn="l"/>
                      <a:r>
                        <a:rPr sz="1050" b="0" i="0">
                          <a:solidFill>
                            <a:srgbClr val="000000"/>
                          </a:solidFill>
                          <a:latin typeface="Calibri"/>
                        </a:rPr>
                        <a:t>Figure 153: East Asia Market Average Selling Price Outlook, US$/MT, 2026–2036</a:t>
                      </a:r>
                      <a:endParaRPr sz="1050"/>
                    </a:p>
                  </a:txBody>
                  <a:tcPr marL="9525" marR="9525" marT="9525" marB="0" anchor="ctr"/>
                </a:tc>
              </a:tr>
              <a:tr h="170045">
                <a:tc>
                  <a:txBody>
                    <a:bodyPr wrap="square"/>
                    <a:lstStyle/>
                    <a:p>
                      <a:pPr algn="l"/>
                      <a:r>
                        <a:rPr sz="1050" b="0" i="0">
                          <a:solidFill>
                            <a:srgbClr val="000000"/>
                          </a:solidFill>
                          <a:latin typeface="Calibri"/>
                        </a:rPr>
                        <a:t>Figure 154: East Asia Market Average Selling Price by Product Type, US$/MT, 2026 and 2036</a:t>
                      </a:r>
                      <a:endParaRPr sz="1050"/>
                    </a:p>
                  </a:txBody>
                  <a:tcPr marL="9525" marR="9525" marT="9525" marB="0" anchor="ctr"/>
                </a:tc>
              </a:tr>
              <a:tr h="333289">
                <a:tc>
                  <a:txBody>
                    <a:bodyPr wrap="square"/>
                    <a:lstStyle/>
                    <a:p>
                      <a:pPr algn="l"/>
                      <a:r>
                        <a:rPr sz="1050" b="0" i="0">
                          <a:solidFill>
                            <a:srgbClr val="000000"/>
                          </a:solidFill>
                          <a:latin typeface="Calibri"/>
                        </a:rPr>
                        <a:t>Figure 155: East Asia Market Average Selling Price by Principal Material / Barrier Technology, US$/MT, 2026 and 2036</a:t>
                      </a:r>
                      <a:endParaRPr sz="1050"/>
                    </a:p>
                  </a:txBody>
                  <a:tcPr marL="9525" marR="9525" marT="9525" marB="0" anchor="ctr"/>
                </a:tc>
              </a:tr>
              <a:tr h="170045">
                <a:tc>
                  <a:txBody>
                    <a:bodyPr wrap="square"/>
                    <a:lstStyle/>
                    <a:p>
                      <a:pPr algn="l"/>
                      <a:r>
                        <a:rPr sz="1050" b="0" i="0">
                          <a:solidFill>
                            <a:srgbClr val="000000"/>
                          </a:solidFill>
                          <a:latin typeface="Calibri"/>
                        </a:rPr>
                        <a:t>Figure 156: East Asia Market Average Selling Price by Material Structure, US$/MT, 2026 and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Figure 157: East Asia Market Average Selling Price by Barrier Level, US$/MT, 2026 and 2036</a:t>
                      </a:r>
                      <a:endParaRPr sz="1050"/>
                    </a:p>
                  </a:txBody>
                  <a:tcPr marL="9525" marR="9525" marT="9525" marB="0" anchor="ctr"/>
                </a:tc>
              </a:tr>
              <a:tr h="169826">
                <a:tc>
                  <a:txBody>
                    <a:bodyPr wrap="square"/>
                    <a:lstStyle/>
                    <a:p>
                      <a:pPr algn="l"/>
                      <a:r>
                        <a:rPr sz="1050" b="0" i="0">
                          <a:solidFill>
                            <a:srgbClr val="000000"/>
                          </a:solidFill>
                          <a:latin typeface="Calibri"/>
                        </a:rPr>
                        <a:t>Figure 158: East Asia Market Average Selling Price by Application, US$/MT, 2026 and 2036</a:t>
                      </a:r>
                      <a:endParaRPr sz="1050"/>
                    </a:p>
                  </a:txBody>
                  <a:tcPr marL="9525" marR="9525" marT="9525" marB="0" anchor="ctr"/>
                </a:tc>
              </a:tr>
              <a:tr h="332858">
                <a:tc>
                  <a:txBody>
                    <a:bodyPr wrap="square"/>
                    <a:lstStyle/>
                    <a:p>
                      <a:pPr algn="l"/>
                      <a:r>
                        <a:rPr sz="1050" b="0" i="0">
                          <a:solidFill>
                            <a:srgbClr val="000000"/>
                          </a:solidFill>
                          <a:latin typeface="Calibri"/>
                        </a:rPr>
                        <a:t>Figure 159: East Asia Market Average Selling Price by Barrier Level Vs Application, US$/MT, 2026 and 2036</a:t>
                      </a:r>
                      <a:endParaRPr sz="1050"/>
                    </a:p>
                  </a:txBody>
                  <a:tcPr marL="9525" marR="9525" marT="9525" marB="0" anchor="ctr"/>
                </a:tc>
              </a:tr>
              <a:tr h="169826">
                <a:tc>
                  <a:txBody>
                    <a:bodyPr wrap="square"/>
                    <a:lstStyle/>
                    <a:p>
                      <a:pPr algn="l"/>
                      <a:r>
                        <a:rPr sz="1050" b="0" i="0">
                          <a:solidFill>
                            <a:srgbClr val="000000"/>
                          </a:solidFill>
                          <a:latin typeface="Calibri"/>
                        </a:rPr>
                        <a:t>Figure 160: East Asia Market Value Chain Structure, 2026</a:t>
                      </a:r>
                      <a:endParaRPr sz="1050"/>
                    </a:p>
                  </a:txBody>
                  <a:tcPr marL="9525" marR="9525" marT="9525" marB="0" anchor="ctr"/>
                </a:tc>
              </a:tr>
              <a:tr h="169826">
                <a:tc>
                  <a:txBody>
                    <a:bodyPr wrap="square"/>
                    <a:lstStyle/>
                    <a:p>
                      <a:pPr algn="l"/>
                      <a:r>
                        <a:rPr sz="1050" b="0" i="0">
                          <a:solidFill>
                            <a:srgbClr val="000000"/>
                          </a:solidFill>
                          <a:latin typeface="Calibri"/>
                        </a:rPr>
                        <a:t>Figure 161: East Asia Market Margin Distribution across the Value Chain, %, 2026</a:t>
                      </a:r>
                      <a:endParaRPr sz="1050"/>
                    </a:p>
                  </a:txBody>
                  <a:tcPr marL="9525" marR="9525" marT="9525" marB="0" anchor="ctr"/>
                </a:tc>
              </a:tr>
              <a:tr h="169826">
                <a:tc>
                  <a:txBody>
                    <a:bodyPr wrap="square"/>
                    <a:lstStyle/>
                    <a:p>
                      <a:pPr algn="l"/>
                      <a:r>
                        <a:rPr sz="1050" b="0" i="0">
                          <a:solidFill>
                            <a:srgbClr val="000000"/>
                          </a:solidFill>
                          <a:latin typeface="Calibri"/>
                        </a:rPr>
                        <a:t>Figure 162: East Asia Market Cost Structure Breakdown, %, 2026</a:t>
                      </a:r>
                      <a:endParaRPr sz="1050"/>
                    </a:p>
                  </a:txBody>
                  <a:tcPr marL="9525" marR="9525" marT="9525" marB="0" anchor="ctr"/>
                </a:tc>
              </a:tr>
              <a:tr h="169826">
                <a:tc>
                  <a:txBody>
                    <a:bodyPr wrap="square"/>
                    <a:lstStyle/>
                    <a:p>
                      <a:pPr algn="l"/>
                      <a:r>
                        <a:rPr sz="1050" b="0" i="0">
                          <a:solidFill>
                            <a:srgbClr val="000000"/>
                          </a:solidFill>
                          <a:latin typeface="Calibri"/>
                        </a:rPr>
                        <a:t>Figure 163: East Asia Market Pricing Pressure Assessment by Product Type, 2026–2036</a:t>
                      </a:r>
                      <a:endParaRPr sz="1050"/>
                    </a:p>
                  </a:txBody>
                  <a:tcPr marL="9525" marR="9525" marT="9525" marB="0" anchor="ctr"/>
                </a:tc>
              </a:tr>
              <a:tr h="169826">
                <a:tc>
                  <a:txBody>
                    <a:bodyPr wrap="square"/>
                    <a:lstStyle/>
                    <a:p>
                      <a:pPr algn="l"/>
                      <a:r>
                        <a:rPr sz="1050" b="0" i="0">
                          <a:solidFill>
                            <a:srgbClr val="000000"/>
                          </a:solidFill>
                          <a:latin typeface="Calibri"/>
                        </a:rPr>
                        <a:t>Figure 164: East Asia Market Import and Export Share, %, 2025</a:t>
                      </a:r>
                      <a:endParaRPr sz="1050"/>
                    </a:p>
                  </a:txBody>
                  <a:tcPr marL="9525" marR="9525" marT="9525" marB="0" anchor="ctr"/>
                </a:tc>
              </a:tr>
              <a:tr h="169826">
                <a:tc>
                  <a:txBody>
                    <a:bodyPr wrap="square"/>
                    <a:lstStyle/>
                    <a:p>
                      <a:pPr algn="l"/>
                      <a:r>
                        <a:rPr sz="1050" b="0" i="0">
                          <a:solidFill>
                            <a:srgbClr val="000000"/>
                          </a:solidFill>
                          <a:latin typeface="Calibri"/>
                        </a:rPr>
                        <a:t>Figure 165: East Asia Market Trade Balance by Leading Country, US$ Mn, 2025</a:t>
                      </a:r>
                      <a:endParaRPr sz="1050"/>
                    </a:p>
                  </a:txBody>
                  <a:tcPr marL="9525" marR="9525" marT="9525" marB="0" anchor="ctr"/>
                </a:tc>
              </a:tr>
              <a:tr h="169826">
                <a:tc>
                  <a:txBody>
                    <a:bodyPr wrap="square"/>
                    <a:lstStyle/>
                    <a:p>
                      <a:pPr algn="l"/>
                      <a:r>
                        <a:rPr sz="1050" b="0" i="0">
                          <a:solidFill>
                            <a:srgbClr val="000000"/>
                          </a:solidFill>
                          <a:latin typeface="Calibri"/>
                        </a:rPr>
                        <a:t>Figure 166: East Asia Market Raw Material Price Index, 2025=100, 2021–2036</a:t>
                      </a:r>
                      <a:endParaRPr sz="1050"/>
                    </a:p>
                  </a:txBody>
                  <a:tcPr marL="9525" marR="9525" marT="9525" marB="0" anchor="ctr"/>
                </a:tc>
              </a:tr>
              <a:tr h="169826">
                <a:tc>
                  <a:txBody>
                    <a:bodyPr wrap="square"/>
                    <a:lstStyle/>
                    <a:p>
                      <a:pPr algn="l"/>
                      <a:r>
                        <a:rPr sz="1050" b="0" i="0">
                          <a:solidFill>
                            <a:srgbClr val="000000"/>
                          </a:solidFill>
                          <a:latin typeface="Calibri"/>
                        </a:rPr>
                        <a:t>Figure 167: East Asia Market Distribution Channel Margin Comparison, %, 2026</a:t>
                      </a:r>
                      <a:endParaRPr sz="1050"/>
                    </a:p>
                  </a:txBody>
                  <a:tcPr marL="9525" marR="9525" marT="9525" marB="0" anchor="ctr"/>
                </a:tc>
              </a:tr>
              <a:tr h="169826">
                <a:tc>
                  <a:txBody>
                    <a:bodyPr wrap="square"/>
                    <a:lstStyle/>
                    <a:p>
                      <a:pPr algn="l"/>
                      <a:r>
                        <a:rPr sz="1050" b="0" i="0">
                          <a:solidFill>
                            <a:srgbClr val="000000"/>
                          </a:solidFill>
                          <a:latin typeface="Calibri"/>
                        </a:rPr>
                        <a:t>Figure 168: Company Market Share in the East Asia Market, %, 2026</a:t>
                      </a:r>
                      <a:endParaRPr sz="1050"/>
                    </a:p>
                  </a:txBody>
                  <a:tcPr marL="9525" marR="9525" marT="9525" marB="0" anchor="ctr"/>
                </a:tc>
              </a:tr>
              <a:tr h="169826">
                <a:tc>
                  <a:txBody>
                    <a:bodyPr wrap="square"/>
                    <a:lstStyle/>
                    <a:p>
                      <a:pPr algn="l"/>
                      <a:r>
                        <a:rPr sz="1050" b="0" i="0">
                          <a:solidFill>
                            <a:srgbClr val="000000"/>
                          </a:solidFill>
                          <a:latin typeface="Calibri"/>
                        </a:rPr>
                        <a:t>Figure 169: Competitive Positioning of Leading Flexible Plastic Packaging Manufacturers, 2026</a:t>
                      </a:r>
                      <a:endParaRPr sz="1050"/>
                    </a:p>
                  </a:txBody>
                  <a:tcPr marL="9525" marR="9525" marT="9525" marB="0" anchor="ctr"/>
                </a:tc>
              </a:tr>
              <a:tr h="169826">
                <a:tc>
                  <a:txBody>
                    <a:bodyPr wrap="square"/>
                    <a:lstStyle/>
                    <a:p>
                      <a:pPr algn="l"/>
                      <a:r>
                        <a:rPr sz="1050" b="0" i="0">
                          <a:solidFill>
                            <a:srgbClr val="000000"/>
                          </a:solidFill>
                          <a:latin typeface="Calibri"/>
                        </a:rPr>
                        <a:t>Figure 170: Company Revenue from the East Asia Market, US$ Mn, 2026</a:t>
                      </a:r>
                      <a:endParaRPr sz="1050"/>
                    </a:p>
                  </a:txBody>
                  <a:tcPr marL="9525" marR="9525" marT="9525" marB="0" anchor="ctr"/>
                </a:tc>
              </a:tr>
              <a:tr h="169826">
                <a:tc>
                  <a:txBody>
                    <a:bodyPr wrap="square"/>
                    <a:lstStyle/>
                    <a:p>
                      <a:pPr algn="l"/>
                      <a:r>
                        <a:rPr sz="1050" b="0" i="0">
                          <a:solidFill>
                            <a:srgbClr val="000000"/>
                          </a:solidFill>
                          <a:latin typeface="Calibri"/>
                        </a:rPr>
                        <a:t>Figure 171: East Asia Market Concentration by Company Tier, %, 2026</a:t>
                      </a:r>
                      <a:endParaRPr sz="1050"/>
                    </a:p>
                  </a:txBody>
                  <a:tcPr marL="9525" marR="9525" marT="9525" marB="0" anchor="ctr"/>
                </a:tc>
              </a:tr>
              <a:tr h="169826">
                <a:tc>
                  <a:txBody>
                    <a:bodyPr wrap="square"/>
                    <a:lstStyle/>
                    <a:p>
                      <a:pPr algn="l"/>
                      <a:r>
                        <a:rPr sz="1050" b="0" i="0">
                          <a:solidFill>
                            <a:srgbClr val="000000"/>
                          </a:solidFill>
                          <a:latin typeface="Calibri"/>
                        </a:rPr>
                        <a:t>Figure 172: East Asia Market Competitive Intensity Assessment, 2026</a:t>
                      </a:r>
                      <a:endParaRPr sz="1050"/>
                    </a:p>
                  </a:txBody>
                  <a:tcPr marL="9525" marR="9525" marT="9525" marB="0" anchor="ctr"/>
                </a:tc>
              </a:tr>
              <a:tr h="169826">
                <a:tc>
                  <a:txBody>
                    <a:bodyPr wrap="square"/>
                    <a:lstStyle/>
                    <a:p>
                      <a:pPr algn="l"/>
                      <a:r>
                        <a:rPr sz="1050" b="0" i="0">
                          <a:solidFill>
                            <a:srgbClr val="000000"/>
                          </a:solidFill>
                          <a:latin typeface="Calibri"/>
                        </a:rPr>
                        <a:t>Figure 173: Company A: Revenue from the East Asia Market and Share, US$ Mn and %, 2026</a:t>
                      </a:r>
                      <a:endParaRPr sz="1050"/>
                    </a:p>
                  </a:txBody>
                  <a:tcPr marL="9525" marR="9525" marT="9525" marB="0" anchor="ctr"/>
                </a:tc>
              </a:tr>
              <a:tr h="169826">
                <a:tc>
                  <a:txBody>
                    <a:bodyPr wrap="square"/>
                    <a:lstStyle/>
                    <a:p>
                      <a:pPr algn="l"/>
                      <a:r>
                        <a:rPr sz="1050" b="0" i="0">
                          <a:solidFill>
                            <a:srgbClr val="000000"/>
                          </a:solidFill>
                          <a:latin typeface="Calibri"/>
                        </a:rPr>
                        <a:t>Figure 174: Company B: Revenue from the East Asia Market and Share, US$ Mn and %, 2026</a:t>
                      </a:r>
                      <a:endParaRPr sz="1050"/>
                    </a:p>
                  </a:txBody>
                  <a:tcPr marL="9525" marR="9525" marT="9525" marB="0" anchor="ctr"/>
                </a:tc>
              </a:tr>
              <a:tr h="169826">
                <a:tc>
                  <a:txBody>
                    <a:bodyPr wrap="square"/>
                    <a:lstStyle/>
                    <a:p>
                      <a:pPr algn="l"/>
                      <a:r>
                        <a:rPr sz="1050" b="0" i="0">
                          <a:solidFill>
                            <a:srgbClr val="000000"/>
                          </a:solidFill>
                          <a:latin typeface="Calibri"/>
                        </a:rPr>
                        <a:t>Figure 175: Company C: Revenue from the East Asia Market and Share, US$ Mn and %, 2026</a:t>
                      </a:r>
                      <a:endParaRPr sz="1050"/>
                    </a:p>
                  </a:txBody>
                  <a:tcPr marL="9525" marR="9525" marT="9525" marB="0" anchor="ctr"/>
                </a:tc>
              </a:tr>
              <a:tr h="169826">
                <a:tc>
                  <a:txBody>
                    <a:bodyPr wrap="square"/>
                    <a:lstStyle/>
                    <a:p>
                      <a:pPr algn="l"/>
                      <a:r>
                        <a:rPr sz="1050" b="0" i="0">
                          <a:solidFill>
                            <a:srgbClr val="000000"/>
                          </a:solidFill>
                          <a:latin typeface="Calibri"/>
                        </a:rPr>
                        <a:t>Figure 176: Company D: Revenue from the East Asia Market and Share, US$ Mn and %, 2026</a:t>
                      </a:r>
                      <a:endParaRPr sz="1050"/>
                    </a:p>
                  </a:txBody>
                  <a:tcPr marL="9525" marR="9525" marT="9525" marB="0" anchor="ctr"/>
                </a:tc>
              </a:tr>
              <a:tr h="169826">
                <a:tc>
                  <a:txBody>
                    <a:bodyPr wrap="square"/>
                    <a:lstStyle/>
                    <a:p>
                      <a:pPr algn="l"/>
                      <a:r>
                        <a:rPr sz="1050" b="0" i="0">
                          <a:solidFill>
                            <a:srgbClr val="000000"/>
                          </a:solidFill>
                          <a:latin typeface="Calibri"/>
                        </a:rPr>
                        <a:t>Figure 177: Company E: Revenue from the East Asia Market and Share, US$ Mn and %, 2026</a:t>
                      </a:r>
                      <a:endParaRPr sz="1050"/>
                    </a:p>
                  </a:txBody>
                  <a:tcPr marL="9525" marR="9525" marT="9525" marB="0" anchor="ctr"/>
                </a:tc>
              </a:tr>
              <a:tr h="169826">
                <a:tc>
                  <a:txBody>
                    <a:bodyPr wrap="square"/>
                    <a:lstStyle/>
                    <a:p>
                      <a:pPr algn="l"/>
                      <a:r>
                        <a:rPr sz="1050" b="0" i="0">
                          <a:solidFill>
                            <a:srgbClr val="000000"/>
                          </a:solidFill>
                          <a:latin typeface="Calibri"/>
                        </a:rPr>
                        <a:t>Figure 178: Company F: Revenue from the East Asia Market and Share, US$ Mn and %, 2026</a:t>
                      </a:r>
                      <a:endParaRPr sz="1050"/>
                    </a:p>
                  </a:txBody>
                  <a:tcPr marL="9525" marR="9525" marT="9525" marB="0" anchor="ctr"/>
                </a:tc>
              </a:tr>
              <a:tr h="169826">
                <a:tc>
                  <a:txBody>
                    <a:bodyPr wrap="square"/>
                    <a:lstStyle/>
                    <a:p>
                      <a:pPr algn="l"/>
                      <a:r>
                        <a:rPr sz="1050" b="0" i="0">
                          <a:solidFill>
                            <a:srgbClr val="000000"/>
                          </a:solidFill>
                          <a:latin typeface="Calibri"/>
                        </a:rPr>
                        <a:t>Figure 179: Company G: Revenue from the East Asia Market and Share, US$ Mn and %, 2026</a:t>
                      </a:r>
                      <a:endParaRPr sz="1050"/>
                    </a:p>
                  </a:txBody>
                  <a:tcPr marL="9525" marR="9525" marT="9525" marB="0" anchor="ctr"/>
                </a:tc>
              </a:tr>
              <a:tr h="169826">
                <a:tc>
                  <a:txBody>
                    <a:bodyPr wrap="square"/>
                    <a:lstStyle/>
                    <a:p>
                      <a:pPr algn="l"/>
                      <a:r>
                        <a:rPr sz="1050" b="0" i="0">
                          <a:solidFill>
                            <a:srgbClr val="000000"/>
                          </a:solidFill>
                          <a:latin typeface="Calibri"/>
                        </a:rPr>
                        <a:t>Figure 180: Company H: Revenue from the East Asia Market and Share, US$ Mn and %, 2026</a:t>
                      </a:r>
                      <a:endParaRPr sz="1050"/>
                    </a:p>
                  </a:txBody>
                  <a:tcPr marL="9525" marR="9525" marT="9525" marB="0" anchor="ctr"/>
                </a:tc>
              </a:tr>
              <a:tr h="169826">
                <a:tc>
                  <a:txBody>
                    <a:bodyPr wrap="square"/>
                    <a:lstStyle/>
                    <a:p>
                      <a:pPr algn="l"/>
                      <a:r>
                        <a:rPr sz="1050" b="0" i="0">
                          <a:solidFill>
                            <a:srgbClr val="000000"/>
                          </a:solidFill>
                          <a:latin typeface="Calibri"/>
                        </a:rPr>
                        <a:t>Figure 181: East Asia Market Strategic Developments by Type, %, 2025–2026</a:t>
                      </a:r>
                      <a:endParaRPr sz="1050"/>
                    </a:p>
                  </a:txBody>
                  <a:tcPr marL="9525" marR="9525" marT="9525" marB="0" anchor="ctr"/>
                </a:tc>
              </a:tr>
              <a:tr h="169826">
                <a:tc>
                  <a:txBody>
                    <a:bodyPr wrap="square"/>
                    <a:lstStyle/>
                    <a:p>
                      <a:pPr algn="l"/>
                      <a:r>
                        <a:rPr sz="1050" b="0" i="0">
                          <a:solidFill>
                            <a:srgbClr val="000000"/>
                          </a:solidFill>
                          <a:latin typeface="Calibri"/>
                        </a:rPr>
                        <a:t>Figure 182: East Asia Market Company Footprint by Region, 2026</a:t>
                      </a:r>
                      <a:endParaRPr sz="1050"/>
                    </a:p>
                  </a:txBody>
                  <a:tcPr marL="9525" marR="9525" marT="9525" marB="0" anchor="ctr"/>
                </a:tc>
              </a:tr>
              <a:tr h="169826">
                <a:tc>
                  <a:txBody>
                    <a:bodyPr wrap="square"/>
                    <a:lstStyle/>
                    <a:p>
                      <a:pPr algn="l"/>
                      <a:r>
                        <a:rPr sz="1050" b="0" i="0">
                          <a:solidFill>
                            <a:srgbClr val="000000"/>
                          </a:solidFill>
                          <a:latin typeface="Calibri"/>
                        </a:rPr>
                        <a:t>Figure 183: East Asia Market Value Forecast by Scenario, US$ Mn, 2026–2036</a:t>
                      </a:r>
                      <a:endParaRPr sz="1050"/>
                    </a:p>
                  </a:txBody>
                  <a:tcPr marL="9525" marR="9525" marT="9525" marB="0" anchor="ctr"/>
                </a:tc>
              </a:tr>
              <a:tr h="169826">
                <a:tc>
                  <a:txBody>
                    <a:bodyPr wrap="square"/>
                    <a:lstStyle/>
                    <a:p>
                      <a:pPr algn="l"/>
                      <a:r>
                        <a:rPr sz="1050" b="0" i="0">
                          <a:solidFill>
                            <a:srgbClr val="000000"/>
                          </a:solidFill>
                          <a:latin typeface="Calibri"/>
                        </a:rPr>
                        <a:t>Figure 184: East Asia Market YoY Growth by Scenario, %, 2026–2036</a:t>
                      </a:r>
                      <a:endParaRPr sz="1050"/>
                    </a:p>
                  </a:txBody>
                  <a:tcPr marL="9525" marR="9525" marT="9525" marB="0" anchor="ctr"/>
                </a:tc>
              </a:tr>
              <a:tr h="169826">
                <a:tc>
                  <a:txBody>
                    <a:bodyPr wrap="square"/>
                    <a:lstStyle/>
                    <a:p>
                      <a:pPr algn="l"/>
                      <a:r>
                        <a:rPr sz="1050" b="0" i="0">
                          <a:solidFill>
                            <a:srgbClr val="000000"/>
                          </a:solidFill>
                          <a:latin typeface="Calibri"/>
                        </a:rPr>
                        <a:t>Figure 185: East Asia Market Key Trends Impact Assessment, 2026–2036</a:t>
                      </a:r>
                      <a:endParaRPr sz="1050"/>
                    </a:p>
                  </a:txBody>
                  <a:tcPr marL="9525" marR="9525" marT="9525" marB="0" anchor="ctr"/>
                </a:tc>
              </a:tr>
              <a:tr h="169826">
                <a:tc>
                  <a:txBody>
                    <a:bodyPr wrap="square"/>
                    <a:lstStyle/>
                    <a:p>
                      <a:pPr algn="l"/>
                      <a:r>
                        <a:rPr sz="1050" b="0" i="0">
                          <a:solidFill>
                            <a:srgbClr val="000000"/>
                          </a:solidFill>
                          <a:latin typeface="Calibri"/>
                        </a:rPr>
                        <a:t>Figure 186: East Asia Market Drivers, Restraints and Opportunities Impact,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2333632"/>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187: East Asia Market Opportunity Map by Product Type, 2026–2036</a:t>
                      </a:r>
                      <a:endParaRPr sz="1050"/>
                    </a:p>
                  </a:txBody>
                  <a:tcPr marL="9525" marR="9525" marT="9525" marB="0" anchor="ctr"/>
                </a:tc>
              </a:tr>
              <a:tr h="166688">
                <a:tc>
                  <a:txBody>
                    <a:bodyPr wrap="square"/>
                    <a:lstStyle/>
                    <a:p>
                      <a:pPr algn="l"/>
                      <a:r>
                        <a:rPr sz="1050" b="0" i="0">
                          <a:solidFill>
                            <a:srgbClr val="000000"/>
                          </a:solidFill>
                          <a:latin typeface="Calibri"/>
                        </a:rPr>
                        <a:t>Figure 188: East Asia Market Technology Adoption Roadmap, 2021–2036</a:t>
                      </a:r>
                      <a:endParaRPr sz="1050"/>
                    </a:p>
                  </a:txBody>
                  <a:tcPr marL="9525" marR="9525" marT="9525" marB="0" anchor="ctr"/>
                </a:tc>
              </a:tr>
              <a:tr h="166688">
                <a:tc>
                  <a:txBody>
                    <a:bodyPr wrap="square"/>
                    <a:lstStyle/>
                    <a:p>
                      <a:pPr algn="l"/>
                      <a:r>
                        <a:rPr sz="1050" b="0" i="0">
                          <a:solidFill>
                            <a:srgbClr val="000000"/>
                          </a:solidFill>
                          <a:latin typeface="Calibri"/>
                        </a:rPr>
                        <a:t>Figure 189: East Asia Market Emerging Opportunity Pockets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Figure 190: East Asia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191: East Asia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192: East Asia Market Investment Hotspots, 2026–2036</a:t>
                      </a:r>
                      <a:endParaRPr sz="1050"/>
                    </a:p>
                  </a:txBody>
                  <a:tcPr marL="9525" marR="9525" marT="9525" marB="0" anchor="ctr"/>
                </a:tc>
              </a:tr>
              <a:tr h="166688">
                <a:tc>
                  <a:txBody>
                    <a:bodyPr wrap="square"/>
                    <a:lstStyle/>
                    <a:p>
                      <a:pPr algn="l"/>
                      <a:r>
                        <a:rPr sz="1050" b="0" i="0">
                          <a:solidFill>
                            <a:srgbClr val="000000"/>
                          </a:solidFill>
                          <a:latin typeface="Calibri"/>
                        </a:rPr>
                        <a:t>Figure 193: East Asia Market Innovation Pipeline Assessment, 2026</a:t>
                      </a:r>
                      <a:endParaRPr sz="1050"/>
                    </a:p>
                  </a:txBody>
                  <a:tcPr marL="9525" marR="9525" marT="9525" marB="0" anchor="ctr"/>
                </a:tc>
              </a:tr>
              <a:tr h="166688">
                <a:tc>
                  <a:txBody>
                    <a:bodyPr wrap="square"/>
                    <a:lstStyle/>
                    <a:p>
                      <a:pPr algn="l"/>
                      <a:r>
                        <a:rPr sz="1050" b="0" i="0">
                          <a:solidFill>
                            <a:srgbClr val="000000"/>
                          </a:solidFill>
                          <a:latin typeface="Calibri"/>
                        </a:rPr>
                        <a:t>Figure 194: East Asia Market Demand Shift Analysis by Product Type, %, 2026–2036</a:t>
                      </a:r>
                      <a:endParaRPr sz="1050"/>
                    </a:p>
                  </a:txBody>
                  <a:tcPr marL="9525" marR="9525" marT="9525" marB="0" anchor="ctr"/>
                </a:tc>
              </a:tr>
              <a:tr h="166688">
                <a:tc>
                  <a:txBody>
                    <a:bodyPr wrap="square"/>
                    <a:lstStyle/>
                    <a:p>
                      <a:pPr algn="l"/>
                      <a:r>
                        <a:rPr sz="1050" b="0" i="0">
                          <a:solidFill>
                            <a:srgbClr val="000000"/>
                          </a:solidFill>
                          <a:latin typeface="Calibri"/>
                        </a:rPr>
                        <a:t>Figure 195: East Asia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196: East Asia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197: East Asia Market Go-to-Market Priority, 2026–2036</a:t>
                      </a:r>
                      <a:endParaRPr sz="1050"/>
                    </a:p>
                  </a:txBody>
                  <a:tcPr marL="9525" marR="9525" marT="9525" marB="0" anchor="ctr"/>
                </a:tc>
              </a:tr>
              <a:tr h="166688">
                <a:tc>
                  <a:txBody>
                    <a:bodyPr wrap="square"/>
                    <a:lstStyle/>
                    <a:p>
                      <a:pPr algn="l"/>
                      <a:r>
                        <a:rPr sz="1050" b="0" i="0">
                          <a:solidFill>
                            <a:srgbClr val="000000"/>
                          </a:solidFill>
                          <a:latin typeface="Calibri"/>
                        </a:rPr>
                        <a:t>Figure 198: East Asia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199: East Asia Market Right-to-Win Assessment, 2026</a:t>
                      </a:r>
                      <a:endParaRPr sz="1050"/>
                    </a:p>
                  </a:txBody>
                  <a:tcPr marL="9525" marR="9525" marT="9525" marB="0" anchor="ctr"/>
                </a:tc>
              </a:tr>
              <a:tr h="166688">
                <a:tc>
                  <a:txBody>
                    <a:bodyPr wrap="square"/>
                    <a:lstStyle/>
                    <a:p>
                      <a:pPr algn="l"/>
                      <a:r>
                        <a:rPr sz="1050" b="0" i="0">
                          <a:solidFill>
                            <a:srgbClr val="000000"/>
                          </a:solidFill>
                          <a:latin typeface="Calibri"/>
                        </a:rPr>
                        <a:t>Figure 200: East Asia Market Entry Strategy Scorecard,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(1/5)</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1: East Asia Market Snapshot: Value, Volume and CAGR, US$ Mn, 2025–2036</a:t>
                      </a:r>
                      <a:endParaRPr sz="1050"/>
                    </a:p>
                  </a:txBody>
                  <a:tcPr marL="9525" marR="9525" marT="9525" marB="0" anchor="ctr"/>
                </a:tc>
              </a:tr>
              <a:tr h="169826">
                <a:tc>
                  <a:txBody>
                    <a:bodyPr wrap="square"/>
                    <a:lstStyle/>
                    <a:p>
                      <a:pPr algn="l"/>
                      <a:r>
                        <a:rPr sz="1050" b="0" i="0">
                          <a:solidFill>
                            <a:srgbClr val="000000"/>
                          </a:solidFill>
                          <a:latin typeface="Calibri"/>
                        </a:rPr>
                        <a:t>Table 2: East Asia Market Taxonomy by Segment, 2026</a:t>
                      </a:r>
                      <a:endParaRPr sz="1050"/>
                    </a:p>
                  </a:txBody>
                  <a:tcPr marL="9525" marR="9525" marT="9525" marB="0" anchor="ctr"/>
                </a:tc>
              </a:tr>
              <a:tr h="169826">
                <a:tc>
                  <a:txBody>
                    <a:bodyPr wrap="square"/>
                    <a:lstStyle/>
                    <a:p>
                      <a:pPr algn="l"/>
                      <a:r>
                        <a:rPr sz="1050" b="0" i="0">
                          <a:solidFill>
                            <a:srgbClr val="000000"/>
                          </a:solidFill>
                          <a:latin typeface="Calibri"/>
                        </a:rPr>
                        <a:t>Table 3: East Asia Market Scope: Inclusions and Exclusions by Segment, 2026</a:t>
                      </a:r>
                      <a:endParaRPr sz="1050"/>
                    </a:p>
                  </a:txBody>
                  <a:tcPr marL="9525" marR="9525" marT="9525" marB="0" anchor="ctr"/>
                </a:tc>
              </a:tr>
              <a:tr h="169826">
                <a:tc>
                  <a:txBody>
                    <a:bodyPr wrap="square"/>
                    <a:lstStyle/>
                    <a:p>
                      <a:pPr algn="l"/>
                      <a:r>
                        <a:rPr sz="1050" b="0" i="0">
                          <a:solidFill>
                            <a:srgbClr val="000000"/>
                          </a:solidFill>
                          <a:latin typeface="Calibri"/>
                        </a:rPr>
                        <a:t>Table 4: East Asia Market Key Demand Drivers and Impact Rating, 2026–2036</a:t>
                      </a:r>
                      <a:endParaRPr sz="1050"/>
                    </a:p>
                  </a:txBody>
                  <a:tcPr marL="9525" marR="9525" marT="9525" marB="0" anchor="ctr"/>
                </a:tc>
              </a:tr>
              <a:tr h="169826">
                <a:tc>
                  <a:txBody>
                    <a:bodyPr wrap="square"/>
                    <a:lstStyle/>
                    <a:p>
                      <a:pPr algn="l"/>
                      <a:r>
                        <a:rPr sz="1050" b="0" i="0">
                          <a:solidFill>
                            <a:srgbClr val="000000"/>
                          </a:solidFill>
                          <a:latin typeface="Calibri"/>
                        </a:rPr>
                        <a:t>Table 5: East Asia Market Key Restraints and Impact Rating, 2026–2036</a:t>
                      </a:r>
                      <a:endParaRPr sz="1050"/>
                    </a:p>
                  </a:txBody>
                  <a:tcPr marL="9525" marR="9525" marT="9525" marB="0" anchor="ctr"/>
                </a:tc>
              </a:tr>
              <a:tr h="169826">
                <a:tc>
                  <a:txBody>
                    <a:bodyPr wrap="square"/>
                    <a:lstStyle/>
                    <a:p>
                      <a:pPr algn="l"/>
                      <a:r>
                        <a:rPr sz="1050" b="0" i="0">
                          <a:solidFill>
                            <a:srgbClr val="000000"/>
                          </a:solidFill>
                          <a:latin typeface="Calibri"/>
                        </a:rPr>
                        <a:t>Table 6: East Asia Market Analyst Recommendations by Segment, 2026–2036</a:t>
                      </a:r>
                      <a:endParaRPr sz="1050"/>
                    </a:p>
                  </a:txBody>
                  <a:tcPr marL="9525" marR="9525" marT="9525" marB="0" anchor="ctr"/>
                </a:tc>
              </a:tr>
              <a:tr h="169826">
                <a:tc>
                  <a:txBody>
                    <a:bodyPr wrap="square"/>
                    <a:lstStyle/>
                    <a:p>
                      <a:pPr algn="l"/>
                      <a:r>
                        <a:rPr sz="1050" b="0" i="0">
                          <a:solidFill>
                            <a:srgbClr val="000000"/>
                          </a:solidFill>
                          <a:latin typeface="Calibri"/>
                        </a:rPr>
                        <a:t>Table 7: East Asia Market Key Market Signals and Data Points, 2026</a:t>
                      </a:r>
                      <a:endParaRPr sz="1050"/>
                    </a:p>
                  </a:txBody>
                  <a:tcPr marL="9525" marR="9525" marT="9525" marB="0" anchor="ctr"/>
                </a:tc>
              </a:tr>
              <a:tr h="169826">
                <a:tc>
                  <a:txBody>
                    <a:bodyPr wrap="square"/>
                    <a:lstStyle/>
                    <a:p>
                      <a:pPr algn="l"/>
                      <a:r>
                        <a:rPr sz="1050" b="0" i="0">
                          <a:solidFill>
                            <a:srgbClr val="000000"/>
                          </a:solidFill>
                          <a:latin typeface="Calibri"/>
                        </a:rPr>
                        <a:t>Table 8: East Asia Market Research Methodology and Data Sources, 2026</a:t>
                      </a:r>
                      <a:endParaRPr sz="1050"/>
                    </a:p>
                  </a:txBody>
                  <a:tcPr marL="9525" marR="9525" marT="9525" marB="0" anchor="ctr"/>
                </a:tc>
              </a:tr>
              <a:tr h="169826">
                <a:tc>
                  <a:txBody>
                    <a:bodyPr wrap="square"/>
                    <a:lstStyle/>
                    <a:p>
                      <a:pPr algn="l"/>
                      <a:r>
                        <a:rPr sz="1050" b="0" i="0">
                          <a:solidFill>
                            <a:srgbClr val="000000"/>
                          </a:solidFill>
                          <a:latin typeface="Calibri"/>
                        </a:rPr>
                        <a:t>Table 9: East Asia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Table 10: East Asia Market Historical Value Analysis, US$ Mn, 2021–2025</a:t>
                      </a:r>
                      <a:endParaRPr sz="1050"/>
                    </a:p>
                  </a:txBody>
                  <a:tcPr marL="9525" marR="9525" marT="9525" marB="0" anchor="ctr"/>
                </a:tc>
              </a:tr>
              <a:tr h="169826">
                <a:tc>
                  <a:txBody>
                    <a:bodyPr wrap="square"/>
                    <a:lstStyle/>
                    <a:p>
                      <a:pPr algn="l"/>
                      <a:r>
                        <a:rPr sz="1050" b="0" i="0">
                          <a:solidFill>
                            <a:srgbClr val="000000"/>
                          </a:solidFill>
                          <a:latin typeface="Calibri"/>
                        </a:rPr>
                        <a:t>Table 11: East Asia Market Forecast Value Analysis, US$ Mn, 2026–2036</a:t>
                      </a:r>
                      <a:endParaRPr sz="1050"/>
                    </a:p>
                  </a:txBody>
                  <a:tcPr marL="9525" marR="9525" marT="9525" marB="0" anchor="ctr"/>
                </a:tc>
              </a:tr>
              <a:tr h="169826">
                <a:tc>
                  <a:txBody>
                    <a:bodyPr wrap="square"/>
                    <a:lstStyle/>
                    <a:p>
                      <a:pPr algn="l"/>
                      <a:r>
                        <a:rPr sz="1050" b="0" i="0">
                          <a:solidFill>
                            <a:srgbClr val="000000"/>
                          </a:solidFill>
                          <a:latin typeface="Calibri"/>
                        </a:rPr>
                        <a:t>Table 12: East Asia Market Volume and YoY Growth, Thousand MT and %, 2021–2036</a:t>
                      </a:r>
                      <a:endParaRPr sz="1050"/>
                    </a:p>
                  </a:txBody>
                  <a:tcPr marL="9525" marR="9525" marT="9525" marB="0" anchor="ctr"/>
                </a:tc>
              </a:tr>
              <a:tr h="169826">
                <a:tc>
                  <a:txBody>
                    <a:bodyPr wrap="square"/>
                    <a:lstStyle/>
                    <a:p>
                      <a:pPr algn="l"/>
                      <a:r>
                        <a:rPr sz="1050" b="0" i="0">
                          <a:solidFill>
                            <a:srgbClr val="000000"/>
                          </a:solidFill>
                          <a:latin typeface="Calibri"/>
                        </a:rPr>
                        <a:t>Table 13: East Asia Market Volume Forecast, Thousand MT, 2026–2036</a:t>
                      </a:r>
                      <a:endParaRPr sz="1050"/>
                    </a:p>
                  </a:txBody>
                  <a:tcPr marL="9525" marR="9525" marT="9525" marB="0" anchor="ctr"/>
                </a:tc>
              </a:tr>
              <a:tr h="169826">
                <a:tc>
                  <a:txBody>
                    <a:bodyPr wrap="square"/>
                    <a:lstStyle/>
                    <a:p>
                      <a:pPr algn="l"/>
                      <a:r>
                        <a:rPr sz="1050" b="0" i="0">
                          <a:solidFill>
                            <a:srgbClr val="000000"/>
                          </a:solidFill>
                          <a:latin typeface="Calibri"/>
                        </a:rPr>
                        <a:t>Table 14: East Asia Market Average Selling Price, US$/MT, 2021–2036</a:t>
                      </a:r>
                      <a:endParaRPr sz="1050"/>
                    </a:p>
                  </a:txBody>
                  <a:tcPr marL="9525" marR="9525" marT="9525" marB="0" anchor="ctr"/>
                </a:tc>
              </a:tr>
              <a:tr h="169826">
                <a:tc>
                  <a:txBody>
                    <a:bodyPr wrap="square"/>
                    <a:lstStyle/>
                    <a:p>
                      <a:pPr algn="l"/>
                      <a:r>
                        <a:rPr sz="1050" b="0" i="0">
                          <a:solidFill>
                            <a:srgbClr val="000000"/>
                          </a:solidFill>
                          <a:latin typeface="Calibri"/>
                        </a:rPr>
                        <a:t>Table 15: East Asia Market Average Selling Price YoY Change, %, 2026–2036</a:t>
                      </a:r>
                      <a:endParaRPr sz="1050"/>
                    </a:p>
                  </a:txBody>
                  <a:tcPr marL="9525" marR="9525" marT="9525" marB="0" anchor="ctr"/>
                </a:tc>
              </a:tr>
              <a:tr h="169826">
                <a:tc>
                  <a:txBody>
                    <a:bodyPr wrap="square"/>
                    <a:lstStyle/>
                    <a:p>
                      <a:pPr algn="l"/>
                      <a:r>
                        <a:rPr sz="1050" b="0" i="0">
                          <a:solidFill>
                            <a:srgbClr val="000000"/>
                          </a:solidFill>
                          <a:latin typeface="Calibri"/>
                        </a:rPr>
                        <a:t>Table 16: East Asia Market CAGR and Absolute $ Opportunity, %, US$ Mn, 2026–2036</a:t>
                      </a:r>
                      <a:endParaRPr sz="1050"/>
                    </a:p>
                  </a:txBody>
                  <a:tcPr marL="9525" marR="9525" marT="9525" marB="0" anchor="ctr"/>
                </a:tc>
              </a:tr>
              <a:tr h="169826">
                <a:tc>
                  <a:txBody>
                    <a:bodyPr wrap="square"/>
                    <a:lstStyle/>
                    <a:p>
                      <a:pPr algn="l"/>
                      <a:r>
                        <a:rPr sz="1050" b="0" i="0">
                          <a:solidFill>
                            <a:srgbClr val="000000"/>
                          </a:solidFill>
                          <a:latin typeface="Calibri"/>
                        </a:rPr>
                        <a:t>Table 17: East Asia Market Absolute $ Opportunity by Year, US$ Mn, 2026–2036</a:t>
                      </a:r>
                      <a:endParaRPr sz="1050"/>
                    </a:p>
                  </a:txBody>
                  <a:tcPr marL="9525" marR="9525" marT="9525" marB="0" anchor="ctr"/>
                </a:tc>
              </a:tr>
              <a:tr h="169826">
                <a:tc>
                  <a:txBody>
                    <a:bodyPr wrap="square"/>
                    <a:lstStyle/>
                    <a:p>
                      <a:pPr algn="l"/>
                      <a:r>
                        <a:rPr sz="1050" b="0" i="0">
                          <a:solidFill>
                            <a:srgbClr val="000000"/>
                          </a:solidFill>
                          <a:latin typeface="Calibri"/>
                        </a:rPr>
                        <a:t>Table 18: East Asia Market Value by Scenario (Optimistic, Likely, Pessimistic), US$ Mn, 2026–2036</a:t>
                      </a:r>
                      <a:endParaRPr sz="1050"/>
                    </a:p>
                  </a:txBody>
                  <a:tcPr marL="9525" marR="9525" marT="9525" marB="0" anchor="ctr"/>
                </a:tc>
              </a:tr>
              <a:tr h="169826">
                <a:tc>
                  <a:txBody>
                    <a:bodyPr wrap="square"/>
                    <a:lstStyle/>
                    <a:p>
                      <a:pPr algn="l"/>
                      <a:r>
                        <a:rPr sz="1050" b="0" i="0">
                          <a:solidFill>
                            <a:srgbClr val="000000"/>
                          </a:solidFill>
                          <a:latin typeface="Calibri"/>
                        </a:rPr>
                        <a:t>Table 19: East Asia Market Scenario CAGR Comparison, %, 2026–2036</a:t>
                      </a:r>
                      <a:endParaRPr sz="1050"/>
                    </a:p>
                  </a:txBody>
                  <a:tcPr marL="9525" marR="9525" marT="9525" marB="0" anchor="ctr"/>
                </a:tc>
              </a:tr>
              <a:tr h="169826">
                <a:tc>
                  <a:txBody>
                    <a:bodyPr wrap="square"/>
                    <a:lstStyle/>
                    <a:p>
                      <a:pPr algn="l"/>
                      <a:r>
                        <a:rPr sz="1050" b="0" i="0">
                          <a:solidFill>
                            <a:srgbClr val="000000"/>
                          </a:solidFill>
                          <a:latin typeface="Calibri"/>
                        </a:rPr>
                        <a:t>Table 20: East Asia Market Historical vs Forecast Growth Comparison, %, 2021–2036</a:t>
                      </a:r>
                      <a:endParaRPr sz="1050"/>
                    </a:p>
                  </a:txBody>
                  <a:tcPr marL="9525" marR="9525" marT="9525" marB="0" anchor="ctr"/>
                </a:tc>
              </a:tr>
              <a:tr h="169826">
                <a:tc>
                  <a:txBody>
                    <a:bodyPr wrap="square"/>
                    <a:lstStyle/>
                    <a:p>
                      <a:pPr algn="l"/>
                      <a:r>
                        <a:rPr sz="1050" b="0" i="0">
                          <a:solidFill>
                            <a:srgbClr val="000000"/>
                          </a:solidFill>
                          <a:latin typeface="Calibri"/>
                        </a:rPr>
                        <a:t>Table 21: East Asia Market Five-Year Block Value Summary, US$ Mn, 2021–2036</a:t>
                      </a:r>
                      <a:endParaRPr sz="1050"/>
                    </a:p>
                  </a:txBody>
                  <a:tcPr marL="9525" marR="9525" marT="9525" marB="0" anchor="ctr"/>
                </a:tc>
              </a:tr>
              <a:tr h="169826">
                <a:tc>
                  <a:txBody>
                    <a:bodyPr wrap="square"/>
                    <a:lstStyle/>
                    <a:p>
                      <a:pPr algn="l"/>
                      <a:r>
                        <a:rPr sz="1050" b="0" i="0">
                          <a:solidFill>
                            <a:srgbClr val="000000"/>
                          </a:solidFill>
                          <a:latin typeface="Calibri"/>
                        </a:rPr>
                        <a:t>Table 22: East Asia Market Size Evolution Index, 2025=100, 2021–2036</a:t>
                      </a:r>
                      <a:endParaRPr sz="1050"/>
                    </a:p>
                  </a:txBody>
                  <a:tcPr marL="9525" marR="9525" marT="9525" marB="0" anchor="ctr"/>
                </a:tc>
              </a:tr>
              <a:tr h="169826">
                <a:tc>
                  <a:txBody>
                    <a:bodyPr wrap="square"/>
                    <a:lstStyle/>
                    <a:p>
                      <a:pPr algn="l"/>
                      <a:r>
                        <a:rPr sz="1050" b="0" i="0">
                          <a:solidFill>
                            <a:srgbClr val="000000"/>
                          </a:solidFill>
                          <a:latin typeface="Calibri"/>
                        </a:rPr>
                        <a:t>Table 23: East Asia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24: East Asia Market Value by Principal Material / Barrier Technology, US$ Mn, 2021–2036</a:t>
                      </a:r>
                      <a:endParaRPr sz="1050"/>
                    </a:p>
                  </a:txBody>
                  <a:tcPr marL="9525" marR="9525" marT="9525" marB="0" anchor="ctr"/>
                </a:tc>
              </a:tr>
              <a:tr h="169826">
                <a:tc>
                  <a:txBody>
                    <a:bodyPr wrap="square"/>
                    <a:lstStyle/>
                    <a:p>
                      <a:pPr algn="l"/>
                      <a:r>
                        <a:rPr sz="1050" b="0" i="0">
                          <a:solidFill>
                            <a:srgbClr val="000000"/>
                          </a:solidFill>
                          <a:latin typeface="Calibri"/>
                        </a:rPr>
                        <a:t>Table 25: East Asia Market Value by Material Structure, US$ Mn, 2021–2036</a:t>
                      </a:r>
                      <a:endParaRPr sz="1050"/>
                    </a:p>
                  </a:txBody>
                  <a:tcPr marL="9525" marR="9525" marT="9525" marB="0" anchor="ctr"/>
                </a:tc>
              </a:tr>
              <a:tr h="169826">
                <a:tc>
                  <a:txBody>
                    <a:bodyPr wrap="square"/>
                    <a:lstStyle/>
                    <a:p>
                      <a:pPr algn="l"/>
                      <a:r>
                        <a:rPr sz="1050" b="0" i="0">
                          <a:solidFill>
                            <a:srgbClr val="000000"/>
                          </a:solidFill>
                          <a:latin typeface="Calibri"/>
                        </a:rPr>
                        <a:t>Table 26: East Asia Market Value by Barrier Level, US$ Mn, 2021–2036</a:t>
                      </a:r>
                      <a:endParaRPr sz="1050"/>
                    </a:p>
                  </a:txBody>
                  <a:tcPr marL="9525" marR="9525" marT="9525" marB="0" anchor="ctr"/>
                </a:tc>
              </a:tr>
              <a:tr h="169826">
                <a:tc>
                  <a:txBody>
                    <a:bodyPr wrap="square"/>
                    <a:lstStyle/>
                    <a:p>
                      <a:pPr algn="l"/>
                      <a:r>
                        <a:rPr sz="1050" b="0" i="0">
                          <a:solidFill>
                            <a:srgbClr val="000000"/>
                          </a:solidFill>
                          <a:latin typeface="Calibri"/>
                        </a:rPr>
                        <a:t>Table 27: East Asia Market Value by Application, US$ Mn, 2021–2036</a:t>
                      </a:r>
                      <a:endParaRPr sz="1050"/>
                    </a:p>
                  </a:txBody>
                  <a:tcPr marL="9525" marR="9525" marT="9525" marB="0" anchor="ctr"/>
                </a:tc>
              </a:tr>
              <a:tr h="169826">
                <a:tc>
                  <a:txBody>
                    <a:bodyPr wrap="square"/>
                    <a:lstStyle/>
                    <a:p>
                      <a:pPr algn="l"/>
                      <a:r>
                        <a:rPr sz="1050" b="0" i="0">
                          <a:solidFill>
                            <a:srgbClr val="000000"/>
                          </a:solidFill>
                          <a:latin typeface="Calibri"/>
                        </a:rPr>
                        <a:t>Table 28: East Asia Market Value by Barrier Level Vs Application, US$ Mn, 2021–2036</a:t>
                      </a:r>
                      <a:endParaRPr sz="1050"/>
                    </a:p>
                  </a:txBody>
                  <a:tcPr marL="9525" marR="9525" marT="9525" marB="0" anchor="ctr"/>
                </a:tc>
              </a:tr>
              <a:tr h="169826">
                <a:tc>
                  <a:txBody>
                    <a:bodyPr wrap="square"/>
                    <a:lstStyle/>
                    <a:p>
                      <a:pPr algn="l"/>
                      <a:r>
                        <a:rPr sz="1050" b="0" i="0">
                          <a:solidFill>
                            <a:srgbClr val="000000"/>
                          </a:solidFill>
                          <a:latin typeface="Calibri"/>
                        </a:rPr>
                        <a:t>Table 29: East Asia Market CAGR and Absolute $ Opportunity by Product Type, %, US$ Mn, 2026–2036</a:t>
                      </a:r>
                      <a:endParaRPr sz="1050"/>
                    </a:p>
                  </a:txBody>
                  <a:tcPr marL="9525" marR="9525" marT="9525" marB="0" anchor="ctr"/>
                </a:tc>
              </a:tr>
              <a:tr h="332858">
                <a:tc>
                  <a:txBody>
                    <a:bodyPr wrap="square"/>
                    <a:lstStyle/>
                    <a:p>
                      <a:pPr algn="l"/>
                      <a:r>
                        <a:rPr sz="1050" b="0" i="0">
                          <a:solidFill>
                            <a:srgbClr val="000000"/>
                          </a:solidFill>
                          <a:latin typeface="Calibri"/>
                        </a:rPr>
                        <a:t>Table 30: East Asia Market CAGR and Absolute $ Opportunity by Principal Material / Barrier Technology,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2"/>
        </p:xfrm>
        <a:graphic>
          <a:graphicData uri="http://schemas.openxmlformats.org/drawingml/2006/table">
            <a:tbl>
              <a:tblPr>
                <a:tableStyleId>{3B4B98B0-60AC-42C2-AFA5-B58CD77FA1E5}</a:tableStyleId>
              </a:tblPr>
              <a:tblGrid>
                <a:gridCol w="5876925"/>
              </a:tblGrid>
              <a:tr h="335022">
                <a:tc>
                  <a:txBody>
                    <a:bodyPr wrap="square"/>
                    <a:lstStyle/>
                    <a:p>
                      <a:pPr algn="l"/>
                      <a:r>
                        <a:rPr sz="1050" b="0" i="0">
                          <a:solidFill>
                            <a:srgbClr val="000000"/>
                          </a:solidFill>
                          <a:latin typeface="Calibri"/>
                        </a:rPr>
                        <a:t>Table 31: East Asia Market CAGR and Absolute $ Opportunity by Material Structure, %, US$ Mn, 2026–2036</a:t>
                      </a:r>
                      <a:endParaRPr sz="1050"/>
                    </a:p>
                  </a:txBody>
                  <a:tcPr marL="9525" marR="9525" marT="9525" marB="0" anchor="ctr"/>
                </a:tc>
              </a:tr>
              <a:tr h="170930">
                <a:tc>
                  <a:txBody>
                    <a:bodyPr wrap="square"/>
                    <a:lstStyle/>
                    <a:p>
                      <a:pPr algn="l"/>
                      <a:r>
                        <a:rPr sz="1050" b="0" i="0">
                          <a:solidFill>
                            <a:srgbClr val="000000"/>
                          </a:solidFill>
                          <a:latin typeface="Calibri"/>
                        </a:rPr>
                        <a:t>Table 32: East Asia Market CAGR and Absolute $ Opportunity by Barrier Level, %, US$ Mn, 2026–2036</a:t>
                      </a:r>
                      <a:endParaRPr sz="1050"/>
                    </a:p>
                  </a:txBody>
                  <a:tcPr marL="9525" marR="9525" marT="9525" marB="0" anchor="ctr"/>
                </a:tc>
              </a:tr>
              <a:tr h="170930">
                <a:tc>
                  <a:txBody>
                    <a:bodyPr wrap="square"/>
                    <a:lstStyle/>
                    <a:p>
                      <a:pPr algn="l"/>
                      <a:r>
                        <a:rPr sz="1050" b="0" i="0">
                          <a:solidFill>
                            <a:srgbClr val="000000"/>
                          </a:solidFill>
                          <a:latin typeface="Calibri"/>
                        </a:rPr>
                        <a:t>Table 33: East Asia Market CAGR and Absolute $ Opportunity by Application, %, US$ Mn, 2026–2036</a:t>
                      </a:r>
                      <a:endParaRPr sz="1050"/>
                    </a:p>
                  </a:txBody>
                  <a:tcPr marL="9525" marR="9525" marT="9525" marB="0" anchor="ctr"/>
                </a:tc>
              </a:tr>
              <a:tr h="335022">
                <a:tc>
                  <a:txBody>
                    <a:bodyPr wrap="square"/>
                    <a:lstStyle/>
                    <a:p>
                      <a:pPr algn="l"/>
                      <a:r>
                        <a:rPr sz="1050" b="0" i="0">
                          <a:solidFill>
                            <a:srgbClr val="000000"/>
                          </a:solidFill>
                          <a:latin typeface="Calibri"/>
                        </a:rPr>
                        <a:t>Table 34: East Asia Market CAGR and Absolute $ Opportunity by Barrier Level Vs Application, %, US$ Mn, 2026–2036</a:t>
                      </a:r>
                      <a:endParaRPr sz="1050"/>
                    </a:p>
                  </a:txBody>
                  <a:tcPr marL="9525" marR="9525" marT="9525" marB="0" anchor="ctr"/>
                </a:tc>
              </a:tr>
              <a:tr h="170930">
                <a:tc>
                  <a:txBody>
                    <a:bodyPr wrap="square"/>
                    <a:lstStyle/>
                    <a:p>
                      <a:pPr algn="l"/>
                      <a:r>
                        <a:rPr sz="1050" b="0" i="0">
                          <a:solidFill>
                            <a:srgbClr val="000000"/>
                          </a:solidFill>
                          <a:latin typeface="Calibri"/>
                        </a:rPr>
                        <a:t>Table 35: East Asia Market Share and BPS Change by Product Type, %, 2025, 2026 and 2036</a:t>
                      </a:r>
                      <a:endParaRPr sz="1050"/>
                    </a:p>
                  </a:txBody>
                  <a:tcPr marL="9525" marR="9525" marT="9525" marB="0" anchor="ctr"/>
                </a:tc>
              </a:tr>
              <a:tr h="335022">
                <a:tc>
                  <a:txBody>
                    <a:bodyPr wrap="square"/>
                    <a:lstStyle/>
                    <a:p>
                      <a:pPr algn="l"/>
                      <a:r>
                        <a:rPr sz="1050" b="0" i="0">
                          <a:solidFill>
                            <a:srgbClr val="000000"/>
                          </a:solidFill>
                          <a:latin typeface="Calibri"/>
                        </a:rPr>
                        <a:t>Table 36: East Asia Market Share and BPS Change by Principal Material / Barrier Technology, %, 2025, 2026 and 2036</a:t>
                      </a:r>
                      <a:endParaRPr sz="1050"/>
                    </a:p>
                  </a:txBody>
                  <a:tcPr marL="9525" marR="9525" marT="9525" marB="0" anchor="ctr"/>
                </a:tc>
              </a:tr>
              <a:tr h="170930">
                <a:tc>
                  <a:txBody>
                    <a:bodyPr wrap="square"/>
                    <a:lstStyle/>
                    <a:p>
                      <a:pPr algn="l"/>
                      <a:r>
                        <a:rPr sz="1050" b="0" i="0">
                          <a:solidFill>
                            <a:srgbClr val="000000"/>
                          </a:solidFill>
                          <a:latin typeface="Calibri"/>
                        </a:rPr>
                        <a:t>Table 37: East Asia Market Share and BPS Change by Material Structure, %, 2025, 2026 and 2036</a:t>
                      </a:r>
                      <a:endParaRPr sz="1050"/>
                    </a:p>
                  </a:txBody>
                  <a:tcPr marL="9525" marR="9525" marT="9525" marB="0" anchor="ctr"/>
                </a:tc>
              </a:tr>
              <a:tr h="170930">
                <a:tc>
                  <a:txBody>
                    <a:bodyPr wrap="square"/>
                    <a:lstStyle/>
                    <a:p>
                      <a:pPr algn="l"/>
                      <a:r>
                        <a:rPr sz="1050" b="0" i="0">
                          <a:solidFill>
                            <a:srgbClr val="000000"/>
                          </a:solidFill>
                          <a:latin typeface="Calibri"/>
                        </a:rPr>
                        <a:t>Table 38: East Asia Market Share and BPS Change by Barrier Level, %, 2025, 2026 and 2036</a:t>
                      </a:r>
                      <a:endParaRPr sz="1050"/>
                    </a:p>
                  </a:txBody>
                  <a:tcPr marL="9525" marR="9525" marT="9525" marB="0" anchor="ctr"/>
                </a:tc>
              </a:tr>
              <a:tr h="170930">
                <a:tc>
                  <a:txBody>
                    <a:bodyPr wrap="square"/>
                    <a:lstStyle/>
                    <a:p>
                      <a:pPr algn="l"/>
                      <a:r>
                        <a:rPr sz="1050" b="0" i="0">
                          <a:solidFill>
                            <a:srgbClr val="000000"/>
                          </a:solidFill>
                          <a:latin typeface="Calibri"/>
                        </a:rPr>
                        <a:t>Table 39: East Asia Market Share and BPS Change by Application, %, 2025, 2026 and 2036</a:t>
                      </a:r>
                      <a:endParaRPr sz="1050"/>
                    </a:p>
                  </a:txBody>
                  <a:tcPr marL="9525" marR="9525" marT="9525" marB="0" anchor="ctr"/>
                </a:tc>
              </a:tr>
              <a:tr h="335022">
                <a:tc>
                  <a:txBody>
                    <a:bodyPr wrap="square"/>
                    <a:lstStyle/>
                    <a:p>
                      <a:pPr algn="l"/>
                      <a:r>
                        <a:rPr sz="1050" b="0" i="0">
                          <a:solidFill>
                            <a:srgbClr val="000000"/>
                          </a:solidFill>
                          <a:latin typeface="Calibri"/>
                        </a:rPr>
                        <a:t>Table 40: East Asia Market Share and BPS Change by Barrier Level Vs Application, %, 2025, 2026 and 2036</a:t>
                      </a:r>
                      <a:endParaRPr sz="1050"/>
                    </a:p>
                  </a:txBody>
                  <a:tcPr marL="9525" marR="9525" marT="9525" marB="0" anchor="ctr"/>
                </a:tc>
              </a:tr>
              <a:tr h="170930">
                <a:tc>
                  <a:txBody>
                    <a:bodyPr wrap="square"/>
                    <a:lstStyle/>
                    <a:p>
                      <a:pPr algn="l"/>
                      <a:r>
                        <a:rPr sz="1050" b="0" i="0">
                          <a:solidFill>
                            <a:srgbClr val="000000"/>
                          </a:solidFill>
                          <a:latin typeface="Calibri"/>
                        </a:rPr>
                        <a:t>Table 41: East Asia Market YoY Growth by Product Type, %, 2026–2036</a:t>
                      </a:r>
                      <a:endParaRPr sz="1050"/>
                    </a:p>
                  </a:txBody>
                  <a:tcPr marL="9525" marR="9525" marT="9525" marB="0" anchor="ctr"/>
                </a:tc>
              </a:tr>
              <a:tr h="170930">
                <a:tc>
                  <a:txBody>
                    <a:bodyPr wrap="square"/>
                    <a:lstStyle/>
                    <a:p>
                      <a:pPr algn="l"/>
                      <a:r>
                        <a:rPr sz="1050" b="0" i="0">
                          <a:solidFill>
                            <a:srgbClr val="000000"/>
                          </a:solidFill>
                          <a:latin typeface="Calibri"/>
                        </a:rPr>
                        <a:t>Table 42: East Asia Market YoY Growth by Principal Material / Barrier Technology, %, 2026–2036</a:t>
                      </a:r>
                      <a:endParaRPr sz="1050"/>
                    </a:p>
                  </a:txBody>
                  <a:tcPr marL="9525" marR="9525" marT="9525" marB="0" anchor="ctr"/>
                </a:tc>
              </a:tr>
              <a:tr h="170930">
                <a:tc>
                  <a:txBody>
                    <a:bodyPr wrap="square"/>
                    <a:lstStyle/>
                    <a:p>
                      <a:pPr algn="l"/>
                      <a:r>
                        <a:rPr sz="1050" b="0" i="0">
                          <a:solidFill>
                            <a:srgbClr val="000000"/>
                          </a:solidFill>
                          <a:latin typeface="Calibri"/>
                        </a:rPr>
                        <a:t>Table 43: East Asia Market YoY Growth by Material Structure, %, 2026–2036</a:t>
                      </a:r>
                      <a:endParaRPr sz="1050"/>
                    </a:p>
                  </a:txBody>
                  <a:tcPr marL="9525" marR="9525" marT="9525" marB="0" anchor="ctr"/>
                </a:tc>
              </a:tr>
              <a:tr h="170930">
                <a:tc>
                  <a:txBody>
                    <a:bodyPr wrap="square"/>
                    <a:lstStyle/>
                    <a:p>
                      <a:pPr algn="l"/>
                      <a:r>
                        <a:rPr sz="1050" b="0" i="0">
                          <a:solidFill>
                            <a:srgbClr val="000000"/>
                          </a:solidFill>
                          <a:latin typeface="Calibri"/>
                        </a:rPr>
                        <a:t>Table 44: East Asia Market YoY Growth by Barrier Level, %, 2026–2036</a:t>
                      </a:r>
                      <a:endParaRPr sz="1050"/>
                    </a:p>
                  </a:txBody>
                  <a:tcPr marL="9525" marR="9525" marT="9525" marB="0" anchor="ctr"/>
                </a:tc>
              </a:tr>
              <a:tr h="170930">
                <a:tc>
                  <a:txBody>
                    <a:bodyPr wrap="square"/>
                    <a:lstStyle/>
                    <a:p>
                      <a:pPr algn="l"/>
                      <a:r>
                        <a:rPr sz="1050" b="0" i="0">
                          <a:solidFill>
                            <a:srgbClr val="000000"/>
                          </a:solidFill>
                          <a:latin typeface="Calibri"/>
                        </a:rPr>
                        <a:t>Table 45: East Asia Market YoY Growth by Application, %, 2026–2036</a:t>
                      </a:r>
                      <a:endParaRPr sz="1050"/>
                    </a:p>
                  </a:txBody>
                  <a:tcPr marL="9525" marR="9525" marT="9525" marB="0" anchor="ctr"/>
                </a:tc>
              </a:tr>
              <a:tr h="170930">
                <a:tc>
                  <a:txBody>
                    <a:bodyPr wrap="square"/>
                    <a:lstStyle/>
                    <a:p>
                      <a:pPr algn="l"/>
                      <a:r>
                        <a:rPr sz="1050" b="0" i="0">
                          <a:solidFill>
                            <a:srgbClr val="000000"/>
                          </a:solidFill>
                          <a:latin typeface="Calibri"/>
                        </a:rPr>
                        <a:t>Table 46: East Asia Market YoY Growth by Barrier Level Vs Application, %, 2026–2036</a:t>
                      </a:r>
                      <a:endParaRPr sz="1050"/>
                    </a:p>
                  </a:txBody>
                  <a:tcPr marL="9525" marR="9525" marT="9525" marB="0" anchor="ctr"/>
                </a:tc>
              </a:tr>
              <a:tr h="170930">
                <a:tc>
                  <a:txBody>
                    <a:bodyPr wrap="square"/>
                    <a:lstStyle/>
                    <a:p>
                      <a:pPr algn="l"/>
                      <a:r>
                        <a:rPr sz="1050" b="0" i="0">
                          <a:solidFill>
                            <a:srgbClr val="000000"/>
                          </a:solidFill>
                          <a:latin typeface="Calibri"/>
                        </a:rPr>
                        <a:t>Table 47: East Asia Market Volume by Product Type, Thousand MT, 2021–2036</a:t>
                      </a:r>
                      <a:endParaRPr sz="1050"/>
                    </a:p>
                  </a:txBody>
                  <a:tcPr marL="9525" marR="9525" marT="9525" marB="0" anchor="ctr"/>
                </a:tc>
              </a:tr>
              <a:tr h="335022">
                <a:tc>
                  <a:txBody>
                    <a:bodyPr wrap="square"/>
                    <a:lstStyle/>
                    <a:p>
                      <a:pPr algn="l"/>
                      <a:r>
                        <a:rPr sz="1050" b="0" i="0">
                          <a:solidFill>
                            <a:srgbClr val="000000"/>
                          </a:solidFill>
                          <a:latin typeface="Calibri"/>
                        </a:rPr>
                        <a:t>Table 48: East Asia Market Volume by Principal Material / Barrier Technology, Thousand MT, 2021–2036</a:t>
                      </a:r>
                      <a:endParaRPr sz="1050"/>
                    </a:p>
                  </a:txBody>
                  <a:tcPr marL="9525" marR="9525" marT="9525" marB="0" anchor="ctr"/>
                </a:tc>
              </a:tr>
              <a:tr h="170930">
                <a:tc>
                  <a:txBody>
                    <a:bodyPr wrap="square"/>
                    <a:lstStyle/>
                    <a:p>
                      <a:pPr algn="l"/>
                      <a:r>
                        <a:rPr sz="1050" b="0" i="0">
                          <a:solidFill>
                            <a:srgbClr val="000000"/>
                          </a:solidFill>
                          <a:latin typeface="Calibri"/>
                        </a:rPr>
                        <a:t>Table 49: East Asia Market Volume by Material Structure, Thousand MT, 2021–2036</a:t>
                      </a:r>
                      <a:endParaRPr sz="1050"/>
                    </a:p>
                  </a:txBody>
                  <a:tcPr marL="9525" marR="9525" marT="9525" marB="0" anchor="ctr"/>
                </a:tc>
              </a:tr>
              <a:tr h="170930">
                <a:tc>
                  <a:txBody>
                    <a:bodyPr wrap="square"/>
                    <a:lstStyle/>
                    <a:p>
                      <a:pPr algn="l"/>
                      <a:r>
                        <a:rPr sz="1050" b="0" i="0">
                          <a:solidFill>
                            <a:srgbClr val="000000"/>
                          </a:solidFill>
                          <a:latin typeface="Calibri"/>
                        </a:rPr>
                        <a:t>Table 50: East Asia Market Volume by Barrier Level, Thousand MT, 2021–2036</a:t>
                      </a:r>
                      <a:endParaRPr sz="1050"/>
                    </a:p>
                  </a:txBody>
                  <a:tcPr marL="9525" marR="9525" marT="9525" marB="0" anchor="ctr"/>
                </a:tc>
              </a:tr>
              <a:tr h="170930">
                <a:tc>
                  <a:txBody>
                    <a:bodyPr wrap="square"/>
                    <a:lstStyle/>
                    <a:p>
                      <a:pPr algn="l"/>
                      <a:r>
                        <a:rPr sz="1050" b="0" i="0">
                          <a:solidFill>
                            <a:srgbClr val="000000"/>
                          </a:solidFill>
                          <a:latin typeface="Calibri"/>
                        </a:rPr>
                        <a:t>Table 51: East Asia Market Volume by Application, Thousand MT, 2021–2036</a:t>
                      </a:r>
                      <a:endParaRPr sz="1050"/>
                    </a:p>
                  </a:txBody>
                  <a:tcPr marL="9525" marR="9525" marT="9525" marB="0" anchor="ctr"/>
                </a:tc>
              </a:tr>
              <a:tr h="170930">
                <a:tc>
                  <a:txBody>
                    <a:bodyPr wrap="square"/>
                    <a:lstStyle/>
                    <a:p>
                      <a:pPr algn="l"/>
                      <a:r>
                        <a:rPr sz="1050" b="0" i="0">
                          <a:solidFill>
                            <a:srgbClr val="000000"/>
                          </a:solidFill>
                          <a:latin typeface="Calibri"/>
                        </a:rPr>
                        <a:t>Table 52: East Asia Market Volume by Barrier Level Vs Application, Thousand MT, 2021–2036</a:t>
                      </a:r>
                      <a:endParaRPr sz="1050"/>
                    </a:p>
                  </a:txBody>
                  <a:tcPr marL="9525" marR="9525" marT="9525" marB="0" anchor="ctr"/>
                </a:tc>
              </a:tr>
              <a:tr h="170930">
                <a:tc>
                  <a:txBody>
                    <a:bodyPr wrap="square"/>
                    <a:lstStyle/>
                    <a:p>
                      <a:pPr algn="l"/>
                      <a:r>
                        <a:rPr sz="1050" b="0" i="0">
                          <a:solidFill>
                            <a:srgbClr val="000000"/>
                          </a:solidFill>
                          <a:latin typeface="Calibri"/>
                        </a:rPr>
                        <a:t>Table 53: East Asia Market Average Selling Price by Product Type, US$/MT, 2021–2036</a:t>
                      </a:r>
                      <a:endParaRPr sz="1050"/>
                    </a:p>
                  </a:txBody>
                  <a:tcPr marL="9525" marR="9525" marT="9525" marB="0" anchor="ctr"/>
                </a:tc>
              </a:tr>
              <a:tr h="335022">
                <a:tc>
                  <a:txBody>
                    <a:bodyPr wrap="square"/>
                    <a:lstStyle/>
                    <a:p>
                      <a:pPr algn="l"/>
                      <a:r>
                        <a:rPr sz="1050" b="0" i="0">
                          <a:solidFill>
                            <a:srgbClr val="000000"/>
                          </a:solidFill>
                          <a:latin typeface="Calibri"/>
                        </a:rPr>
                        <a:t>Table 54: East Asia Market Average Selling Price by Principal Material / Barrier Technology, US$/MT, 2021–2036</a:t>
                      </a:r>
                      <a:endParaRPr sz="1050"/>
                    </a:p>
                  </a:txBody>
                  <a:tcPr marL="9525" marR="9525" marT="9525" marB="0" anchor="ctr"/>
                </a:tc>
              </a:tr>
              <a:tr h="170930">
                <a:tc>
                  <a:txBody>
                    <a:bodyPr wrap="square"/>
                    <a:lstStyle/>
                    <a:p>
                      <a:pPr algn="l"/>
                      <a:r>
                        <a:rPr sz="1050" b="0" i="0">
                          <a:solidFill>
                            <a:srgbClr val="000000"/>
                          </a:solidFill>
                          <a:latin typeface="Calibri"/>
                        </a:rPr>
                        <a:t>Table 55: East Asia Market Average Selling Price by Material Structure, US$/MT,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(2/5)</a:t>
            </a:r>
          </a:p>
        </p:txBody>
      </p:sp>
      <p:graphicFrame>
        <p:nvGraphicFramePr>
          <p:cNvPr id="9" name="FMI Contents Table"/>
          <p:cNvGraphicFramePr>
            <a:graphicFrameLocks noGrp="1"/>
          </p:cNvGraphicFramePr>
          <p:nvPr/>
        </p:nvGraphicFramePr>
        <p:xfrm>
          <a:off x="142875" y="981075"/>
          <a:ext cx="5876925" cy="5257797"/>
        </p:xfrm>
        <a:graphic>
          <a:graphicData uri="http://schemas.openxmlformats.org/drawingml/2006/table">
            <a:tbl>
              <a:tblPr>
                <a:tableStyleId>{3B4B98B0-60AC-42C2-AFA5-B58CD77FA1E5}</a:tableStyleId>
              </a:tblPr>
              <a:tblGrid>
                <a:gridCol w="5876925"/>
              </a:tblGrid>
              <a:tr h="172048">
                <a:tc>
                  <a:txBody>
                    <a:bodyPr wrap="square"/>
                    <a:lstStyle/>
                    <a:p>
                      <a:pPr algn="l"/>
                      <a:r>
                        <a:rPr sz="1050" b="0" i="0">
                          <a:solidFill>
                            <a:srgbClr val="000000"/>
                          </a:solidFill>
                          <a:latin typeface="Calibri"/>
                        </a:rPr>
                        <a:t>Table 56: East Asia Market Average Selling Price by Barrier Level, US$/MT, 2021–2036</a:t>
                      </a:r>
                      <a:endParaRPr sz="1050"/>
                    </a:p>
                  </a:txBody>
                  <a:tcPr marL="9525" marR="9525" marT="9525" marB="0" anchor="ctr"/>
                </a:tc>
              </a:tr>
              <a:tr h="172048">
                <a:tc>
                  <a:txBody>
                    <a:bodyPr wrap="square"/>
                    <a:lstStyle/>
                    <a:p>
                      <a:pPr algn="l"/>
                      <a:r>
                        <a:rPr sz="1050" b="0" i="0">
                          <a:solidFill>
                            <a:srgbClr val="000000"/>
                          </a:solidFill>
                          <a:latin typeface="Calibri"/>
                        </a:rPr>
                        <a:t>Table 57: East Asia Market Average Selling Price by Application, US$/MT, 2021–2036</a:t>
                      </a:r>
                      <a:endParaRPr sz="1050"/>
                    </a:p>
                  </a:txBody>
                  <a:tcPr marL="9525" marR="9525" marT="9525" marB="0" anchor="ctr"/>
                </a:tc>
              </a:tr>
              <a:tr h="172048">
                <a:tc>
                  <a:txBody>
                    <a:bodyPr wrap="square"/>
                    <a:lstStyle/>
                    <a:p>
                      <a:pPr algn="l"/>
                      <a:r>
                        <a:rPr sz="1050" b="0" i="0">
                          <a:solidFill>
                            <a:srgbClr val="000000"/>
                          </a:solidFill>
                          <a:latin typeface="Calibri"/>
                        </a:rPr>
                        <a:t>Table 58: East Asia Market Average Selling Price by Barrier Level Vs Application, US$/MT, 2021–2036</a:t>
                      </a:r>
                      <a:endParaRPr sz="1050"/>
                    </a:p>
                  </a:txBody>
                  <a:tcPr marL="9525" marR="9525" marT="9525" marB="0" anchor="ctr"/>
                </a:tc>
              </a:tr>
              <a:tr h="172048">
                <a:tc>
                  <a:txBody>
                    <a:bodyPr wrap="square"/>
                    <a:lstStyle/>
                    <a:p>
                      <a:pPr algn="l"/>
                      <a:r>
                        <a:rPr sz="1050" b="0" i="0">
                          <a:solidFill>
                            <a:srgbClr val="000000"/>
                          </a:solidFill>
                          <a:latin typeface="Calibri"/>
                        </a:rPr>
                        <a:t>Table 59: East Asia Market Attractiveness Index by Product Type, 2026–2036</a:t>
                      </a:r>
                      <a:endParaRPr sz="1050"/>
                    </a:p>
                  </a:txBody>
                  <a:tcPr marL="9525" marR="9525" marT="9525" marB="0" anchor="ctr"/>
                </a:tc>
              </a:tr>
              <a:tr h="172048">
                <a:tc>
                  <a:txBody>
                    <a:bodyPr wrap="square"/>
                    <a:lstStyle/>
                    <a:p>
                      <a:pPr algn="l"/>
                      <a:r>
                        <a:rPr sz="1050" b="0" i="0">
                          <a:solidFill>
                            <a:srgbClr val="000000"/>
                          </a:solidFill>
                          <a:latin typeface="Calibri"/>
                        </a:rPr>
                        <a:t>Table 60: East Asia Market Attractiveness Index by Principal Material / Barrier Technology, 2026–2036</a:t>
                      </a:r>
                      <a:endParaRPr sz="1050"/>
                    </a:p>
                  </a:txBody>
                  <a:tcPr marL="9525" marR="9525" marT="9525" marB="0" anchor="ctr"/>
                </a:tc>
              </a:tr>
              <a:tr h="172048">
                <a:tc>
                  <a:txBody>
                    <a:bodyPr wrap="square"/>
                    <a:lstStyle/>
                    <a:p>
                      <a:pPr algn="l"/>
                      <a:r>
                        <a:rPr sz="1050" b="0" i="0">
                          <a:solidFill>
                            <a:srgbClr val="000000"/>
                          </a:solidFill>
                          <a:latin typeface="Calibri"/>
                        </a:rPr>
                        <a:t>Table 61: East Asia Market Attractiveness Index by Material Structure, 2026–2036</a:t>
                      </a:r>
                      <a:endParaRPr sz="1050"/>
                    </a:p>
                  </a:txBody>
                  <a:tcPr marL="9525" marR="9525" marT="9525" marB="0" anchor="ctr"/>
                </a:tc>
              </a:tr>
              <a:tr h="172048">
                <a:tc>
                  <a:txBody>
                    <a:bodyPr wrap="square"/>
                    <a:lstStyle/>
                    <a:p>
                      <a:pPr algn="l"/>
                      <a:r>
                        <a:rPr sz="1050" b="0" i="0">
                          <a:solidFill>
                            <a:srgbClr val="000000"/>
                          </a:solidFill>
                          <a:latin typeface="Calibri"/>
                        </a:rPr>
                        <a:t>Table 62: East Asia Market Attractiveness Index by Barrier Level, 2026–2036</a:t>
                      </a:r>
                      <a:endParaRPr sz="1050"/>
                    </a:p>
                  </a:txBody>
                  <a:tcPr marL="9525" marR="9525" marT="9525" marB="0" anchor="ctr"/>
                </a:tc>
              </a:tr>
              <a:tr h="172048">
                <a:tc>
                  <a:txBody>
                    <a:bodyPr wrap="square"/>
                    <a:lstStyle/>
                    <a:p>
                      <a:pPr algn="l"/>
                      <a:r>
                        <a:rPr sz="1050" b="0" i="0">
                          <a:solidFill>
                            <a:srgbClr val="000000"/>
                          </a:solidFill>
                          <a:latin typeface="Calibri"/>
                        </a:rPr>
                        <a:t>Table 63: East Asia Market Attractiveness Index by Application, 2026–2036</a:t>
                      </a:r>
                      <a:endParaRPr sz="1050"/>
                    </a:p>
                  </a:txBody>
                  <a:tcPr marL="9525" marR="9525" marT="9525" marB="0" anchor="ctr"/>
                </a:tc>
              </a:tr>
              <a:tr h="172048">
                <a:tc>
                  <a:txBody>
                    <a:bodyPr wrap="square"/>
                    <a:lstStyle/>
                    <a:p>
                      <a:pPr algn="l"/>
                      <a:r>
                        <a:rPr sz="1050" b="0" i="0">
                          <a:solidFill>
                            <a:srgbClr val="000000"/>
                          </a:solidFill>
                          <a:latin typeface="Calibri"/>
                        </a:rPr>
                        <a:t>Table 64: East Asia Market Attractiveness Index by Barrier Level Vs Application, 2026–2036</a:t>
                      </a:r>
                      <a:endParaRPr sz="1050"/>
                    </a:p>
                  </a:txBody>
                  <a:tcPr marL="9525" marR="9525" marT="9525" marB="0" anchor="ctr"/>
                </a:tc>
              </a:tr>
              <a:tr h="337215">
                <a:tc>
                  <a:txBody>
                    <a:bodyPr wrap="square"/>
                    <a:lstStyle/>
                    <a:p>
                      <a:pPr algn="l"/>
                      <a:r>
                        <a:rPr sz="1050" b="0" i="0">
                          <a:solidFill>
                            <a:srgbClr val="000000"/>
                          </a:solidFill>
                          <a:latin typeface="Calibri"/>
                        </a:rPr>
                        <a:t>Table 65: East Asia Market Value and YoY Growth, Rollstock Films (Product Type), US$ Mn and %, 2021–2036</a:t>
                      </a:r>
                      <a:endParaRPr sz="1050"/>
                    </a:p>
                  </a:txBody>
                  <a:tcPr marL="9525" marR="9525" marT="9525" marB="0" anchor="ctr"/>
                </a:tc>
              </a:tr>
              <a:tr h="337215">
                <a:tc>
                  <a:txBody>
                    <a:bodyPr wrap="square"/>
                    <a:lstStyle/>
                    <a:p>
                      <a:pPr algn="l"/>
                      <a:r>
                        <a:rPr sz="1050" b="0" i="0">
                          <a:solidFill>
                            <a:srgbClr val="000000"/>
                          </a:solidFill>
                          <a:latin typeface="Calibri"/>
                        </a:rPr>
                        <a:t>Table 66: East Asia Market Value and YoY Growth, PE-Based (Principal Material / Barrier Technology), US$ Mn and %, 2021–2036</a:t>
                      </a:r>
                      <a:endParaRPr sz="1050"/>
                    </a:p>
                  </a:txBody>
                  <a:tcPr marL="9525" marR="9525" marT="9525" marB="0" anchor="ctr"/>
                </a:tc>
              </a:tr>
              <a:tr h="337215">
                <a:tc>
                  <a:txBody>
                    <a:bodyPr wrap="square"/>
                    <a:lstStyle/>
                    <a:p>
                      <a:pPr algn="l"/>
                      <a:r>
                        <a:rPr sz="1050" b="0" i="0">
                          <a:solidFill>
                            <a:srgbClr val="000000"/>
                          </a:solidFill>
                          <a:latin typeface="Calibri"/>
                        </a:rPr>
                        <a:t>Table 67: East Asia Market Value and YoY Growth, Monolayer Films (Material Structure), US$ Mn and %, 2021–2036</a:t>
                      </a:r>
                      <a:endParaRPr sz="1050"/>
                    </a:p>
                  </a:txBody>
                  <a:tcPr marL="9525" marR="9525" marT="9525" marB="0" anchor="ctr"/>
                </a:tc>
              </a:tr>
              <a:tr h="337215">
                <a:tc>
                  <a:txBody>
                    <a:bodyPr wrap="square"/>
                    <a:lstStyle/>
                    <a:p>
                      <a:pPr algn="l"/>
                      <a:r>
                        <a:rPr sz="1050" b="0" i="0">
                          <a:solidFill>
                            <a:srgbClr val="000000"/>
                          </a:solidFill>
                          <a:latin typeface="Calibri"/>
                        </a:rPr>
                        <a:t>Table 68: East Asia Market Value and YoY Growth, Low-Barrier Films (Barrier Level), US$ Mn and %, 2021–2036</a:t>
                      </a:r>
                      <a:endParaRPr sz="1050"/>
                    </a:p>
                  </a:txBody>
                  <a:tcPr marL="9525" marR="9525" marT="9525" marB="0" anchor="ctr"/>
                </a:tc>
              </a:tr>
              <a:tr h="337215">
                <a:tc>
                  <a:txBody>
                    <a:bodyPr wrap="square"/>
                    <a:lstStyle/>
                    <a:p>
                      <a:pPr algn="l"/>
                      <a:r>
                        <a:rPr sz="1050" b="0" i="0">
                          <a:solidFill>
                            <a:srgbClr val="000000"/>
                          </a:solidFill>
                          <a:latin typeface="Calibri"/>
                        </a:rPr>
                        <a:t>Table 69: East Asia Market Value and YoY Growth, Food Packaging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Table 70: East Asia Market Value and YoY Growth, Low-Barrier Films (Barrier Level Vs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Table 71: East Asia Market Value and YoY Growth, Barrier Casings (Product Type), US$ Mn and %, 2021–2036</a:t>
                      </a:r>
                      <a:endParaRPr sz="1050"/>
                    </a:p>
                  </a:txBody>
                  <a:tcPr marL="9525" marR="9525" marT="9525" marB="0" anchor="ctr"/>
                </a:tc>
              </a:tr>
              <a:tr h="337215">
                <a:tc>
                  <a:txBody>
                    <a:bodyPr wrap="square"/>
                    <a:lstStyle/>
                    <a:p>
                      <a:pPr algn="l"/>
                      <a:r>
                        <a:rPr sz="1050" b="0" i="0">
                          <a:solidFill>
                            <a:srgbClr val="000000"/>
                          </a:solidFill>
                          <a:latin typeface="Calibri"/>
                        </a:rPr>
                        <a:t>Table 72: East Asia Market Value and YoY Growth, PP-Based (Principal Material / Barrier Technology), US$ Mn and %, 2021–2036</a:t>
                      </a:r>
                      <a:endParaRPr sz="1050"/>
                    </a:p>
                  </a:txBody>
                  <a:tcPr marL="9525" marR="9525" marT="9525" marB="0" anchor="ctr"/>
                </a:tc>
              </a:tr>
              <a:tr h="337215">
                <a:tc>
                  <a:txBody>
                    <a:bodyPr wrap="square"/>
                    <a:lstStyle/>
                    <a:p>
                      <a:pPr algn="l"/>
                      <a:r>
                        <a:rPr sz="1050" b="0" i="0">
                          <a:solidFill>
                            <a:srgbClr val="000000"/>
                          </a:solidFill>
                          <a:latin typeface="Calibri"/>
                        </a:rPr>
                        <a:t>Table 73: East Asia Market Value and YoY Growth, Coextruded Multilayer Films (Material Structure), US$ Mn and %, 2021–2036</a:t>
                      </a:r>
                      <a:endParaRPr sz="1050"/>
                    </a:p>
                  </a:txBody>
                  <a:tcPr marL="9525" marR="9525" marT="9525" marB="0" anchor="ctr"/>
                </a:tc>
              </a:tr>
              <a:tr h="337215">
                <a:tc>
                  <a:txBody>
                    <a:bodyPr wrap="square"/>
                    <a:lstStyle/>
                    <a:p>
                      <a:pPr algn="l"/>
                      <a:r>
                        <a:rPr sz="1050" b="0" i="0">
                          <a:solidFill>
                            <a:srgbClr val="000000"/>
                          </a:solidFill>
                          <a:latin typeface="Calibri"/>
                        </a:rPr>
                        <a:t>Table 74: East Asia Market Value and YoY Growth, Medium-Barrier Films (Barrier Level), US$ Mn and %, 2021–2036</a:t>
                      </a:r>
                      <a:endParaRPr sz="1050"/>
                    </a:p>
                  </a:txBody>
                  <a:tcPr marL="9525" marR="9525" marT="9525" marB="0" anchor="ctr"/>
                </a:tc>
              </a:tr>
              <a:tr h="337215">
                <a:tc>
                  <a:txBody>
                    <a:bodyPr wrap="square"/>
                    <a:lstStyle/>
                    <a:p>
                      <a:pPr algn="l"/>
                      <a:r>
                        <a:rPr sz="1050" b="0" i="0">
                          <a:solidFill>
                            <a:srgbClr val="000000"/>
                          </a:solidFill>
                          <a:latin typeface="Calibri"/>
                        </a:rPr>
                        <a:t>Table 75: East Asia Market Value and YoY Growth, Non-Food Packaging (Application),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6"/>
        </p:xfrm>
        <a:graphic>
          <a:graphicData uri="http://schemas.openxmlformats.org/drawingml/2006/table">
            <a:tbl>
              <a:tblPr>
                <a:tableStyleId>{3B4B98B0-60AC-42C2-AFA5-B58CD77FA1E5}</a:tableStyleId>
              </a:tblPr>
              <a:tblGrid>
                <a:gridCol w="5876925"/>
              </a:tblGrid>
              <a:tr h="327776">
                <a:tc>
                  <a:txBody>
                    <a:bodyPr wrap="square"/>
                    <a:lstStyle/>
                    <a:p>
                      <a:pPr algn="l"/>
                      <a:r>
                        <a:rPr sz="1050" b="0" i="0">
                          <a:solidFill>
                            <a:srgbClr val="000000"/>
                          </a:solidFill>
                          <a:latin typeface="Calibri"/>
                        </a:rPr>
                        <a:t>Table 76: East Asia Market Value and YoY Growth, Medium-Barrier Films (Barrier Level Vs Application), US$ Mn and %, 2021–2036</a:t>
                      </a:r>
                      <a:endParaRPr sz="1050"/>
                    </a:p>
                  </a:txBody>
                  <a:tcPr marL="9525" marR="9525" marT="9525" marB="0" anchor="ctr"/>
                </a:tc>
              </a:tr>
              <a:tr h="327776">
                <a:tc>
                  <a:txBody>
                    <a:bodyPr wrap="square"/>
                    <a:lstStyle/>
                    <a:p>
                      <a:pPr algn="l"/>
                      <a:r>
                        <a:rPr sz="1050" b="0" i="0">
                          <a:solidFill>
                            <a:srgbClr val="000000"/>
                          </a:solidFill>
                          <a:latin typeface="Calibri"/>
                        </a:rPr>
                        <a:t>Table 77: East Asia Market Value and YoY Growth, Premade Pouches &amp; Bags (Product Type), US$ Mn and %, 2021–2036</a:t>
                      </a:r>
                      <a:endParaRPr sz="1050"/>
                    </a:p>
                  </a:txBody>
                  <a:tcPr marL="9525" marR="9525" marT="9525" marB="0" anchor="ctr"/>
                </a:tc>
              </a:tr>
              <a:tr h="327776">
                <a:tc>
                  <a:txBody>
                    <a:bodyPr wrap="square"/>
                    <a:lstStyle/>
                    <a:p>
                      <a:pPr algn="l"/>
                      <a:r>
                        <a:rPr sz="1050" b="0" i="0">
                          <a:solidFill>
                            <a:srgbClr val="000000"/>
                          </a:solidFill>
                          <a:latin typeface="Calibri"/>
                        </a:rPr>
                        <a:t>Table 78: East Asia Market Value and YoY Growth, PET-Based (Principal Material / Barrier Technology), US$ Mn and %, 2021–2036</a:t>
                      </a:r>
                      <a:endParaRPr sz="1050"/>
                    </a:p>
                  </a:txBody>
                  <a:tcPr marL="9525" marR="9525" marT="9525" marB="0" anchor="ctr"/>
                </a:tc>
              </a:tr>
              <a:tr h="327776">
                <a:tc>
                  <a:txBody>
                    <a:bodyPr wrap="square"/>
                    <a:lstStyle/>
                    <a:p>
                      <a:pPr algn="l"/>
                      <a:r>
                        <a:rPr sz="1050" b="0" i="0">
                          <a:solidFill>
                            <a:srgbClr val="000000"/>
                          </a:solidFill>
                          <a:latin typeface="Calibri"/>
                        </a:rPr>
                        <a:t>Table 79: East Asia Market Value and YoY Growth, Laminated Films (Material Structure), US$ Mn and %, 2021–2036</a:t>
                      </a:r>
                      <a:endParaRPr sz="1050"/>
                    </a:p>
                  </a:txBody>
                  <a:tcPr marL="9525" marR="9525" marT="9525" marB="0" anchor="ctr"/>
                </a:tc>
              </a:tr>
              <a:tr h="327776">
                <a:tc>
                  <a:txBody>
                    <a:bodyPr wrap="square"/>
                    <a:lstStyle/>
                    <a:p>
                      <a:pPr algn="l"/>
                      <a:r>
                        <a:rPr sz="1050" b="0" i="0">
                          <a:solidFill>
                            <a:srgbClr val="000000"/>
                          </a:solidFill>
                          <a:latin typeface="Calibri"/>
                        </a:rPr>
                        <a:t>Table 80: East Asia Market Value and YoY Growth, High-Barrier Films (Barrier Level), US$ Mn and %, 2021–2036</a:t>
                      </a:r>
                      <a:endParaRPr sz="1050"/>
                    </a:p>
                  </a:txBody>
                  <a:tcPr marL="9525" marR="9525" marT="9525" marB="0" anchor="ctr"/>
                </a:tc>
              </a:tr>
              <a:tr h="167233">
                <a:tc>
                  <a:txBody>
                    <a:bodyPr wrap="square"/>
                    <a:lstStyle/>
                    <a:p>
                      <a:pPr algn="l"/>
                      <a:r>
                        <a:rPr sz="1050" b="0" i="0">
                          <a:solidFill>
                            <a:srgbClr val="000000"/>
                          </a:solidFill>
                          <a:latin typeface="Calibri"/>
                        </a:rPr>
                        <a:t>Table 81: East Asia Market Value by Application by Scenario, US$ Mn, 2036</a:t>
                      </a:r>
                      <a:endParaRPr sz="1050"/>
                    </a:p>
                  </a:txBody>
                  <a:tcPr marL="9525" marR="9525" marT="9525" marB="0" anchor="ctr"/>
                </a:tc>
              </a:tr>
              <a:tr h="327776">
                <a:tc>
                  <a:txBody>
                    <a:bodyPr wrap="square"/>
                    <a:lstStyle/>
                    <a:p>
                      <a:pPr algn="l"/>
                      <a:r>
                        <a:rPr sz="1050" b="0" i="0">
                          <a:solidFill>
                            <a:srgbClr val="000000"/>
                          </a:solidFill>
                          <a:latin typeface="Calibri"/>
                        </a:rPr>
                        <a:t>Table 82: East Asia Market Value and YoY Growth, High-Barrier Films (Barrier Level Vs Application), US$ Mn and %, 2021–2036</a:t>
                      </a:r>
                      <a:endParaRPr sz="1050"/>
                    </a:p>
                  </a:txBody>
                  <a:tcPr marL="9525" marR="9525" marT="9525" marB="0" anchor="ctr"/>
                </a:tc>
              </a:tr>
              <a:tr h="327776">
                <a:tc>
                  <a:txBody>
                    <a:bodyPr wrap="square"/>
                    <a:lstStyle/>
                    <a:p>
                      <a:pPr algn="l"/>
                      <a:r>
                        <a:rPr sz="1050" b="0" i="0">
                          <a:solidFill>
                            <a:srgbClr val="000000"/>
                          </a:solidFill>
                          <a:latin typeface="Calibri"/>
                        </a:rPr>
                        <a:t>Table 83: East Asia Market Value and YoY Growth, Sachets &amp; Stick Packs (Product Type), US$ Mn and %, 2021–2036</a:t>
                      </a:r>
                      <a:endParaRPr sz="1050"/>
                    </a:p>
                  </a:txBody>
                  <a:tcPr marL="9525" marR="9525" marT="9525" marB="0" anchor="ctr"/>
                </a:tc>
              </a:tr>
              <a:tr h="327776">
                <a:tc>
                  <a:txBody>
                    <a:bodyPr wrap="square"/>
                    <a:lstStyle/>
                    <a:p>
                      <a:pPr algn="l"/>
                      <a:r>
                        <a:rPr sz="1050" b="0" i="0">
                          <a:solidFill>
                            <a:srgbClr val="000000"/>
                          </a:solidFill>
                          <a:latin typeface="Calibri"/>
                        </a:rPr>
                        <a:t>Table 84: East Asia Market Value and YoY Growth, PA-Based (Principal Material / Barrier Technology), US$ Mn and %, 2021–2036</a:t>
                      </a:r>
                      <a:endParaRPr sz="1050"/>
                    </a:p>
                  </a:txBody>
                  <a:tcPr marL="9525" marR="9525" marT="9525" marB="0" anchor="ctr"/>
                </a:tc>
              </a:tr>
              <a:tr h="327776">
                <a:tc>
                  <a:txBody>
                    <a:bodyPr wrap="square"/>
                    <a:lstStyle/>
                    <a:p>
                      <a:pPr algn="l"/>
                      <a:r>
                        <a:rPr sz="1050" b="0" i="0">
                          <a:solidFill>
                            <a:srgbClr val="000000"/>
                          </a:solidFill>
                          <a:latin typeface="Calibri"/>
                        </a:rPr>
                        <a:t>Table 85: East Asia Market Value and YoY Growth, Coated Films (Material Structure), US$ Mn and %, 2021–2036</a:t>
                      </a:r>
                      <a:endParaRPr sz="1050"/>
                    </a:p>
                  </a:txBody>
                  <a:tcPr marL="9525" marR="9525" marT="9525" marB="0" anchor="ctr"/>
                </a:tc>
              </a:tr>
              <a:tr h="327776">
                <a:tc>
                  <a:txBody>
                    <a:bodyPr wrap="square"/>
                    <a:lstStyle/>
                    <a:p>
                      <a:pPr algn="l"/>
                      <a:r>
                        <a:rPr sz="1050" b="0" i="0">
                          <a:solidFill>
                            <a:srgbClr val="000000"/>
                          </a:solidFill>
                          <a:latin typeface="Calibri"/>
                        </a:rPr>
                        <a:t>Table 86: East Asia Market Value and YoY Growth, Ultra-High-Barrier Films (Barrier Level), US$ Mn and %, 2021–2036</a:t>
                      </a:r>
                      <a:endParaRPr sz="1050"/>
                    </a:p>
                  </a:txBody>
                  <a:tcPr marL="9525" marR="9525" marT="9525" marB="0" anchor="ctr"/>
                </a:tc>
              </a:tr>
              <a:tr h="327776">
                <a:tc>
                  <a:txBody>
                    <a:bodyPr wrap="square"/>
                    <a:lstStyle/>
                    <a:p>
                      <a:pPr algn="l"/>
                      <a:r>
                        <a:rPr sz="1050" b="0" i="0">
                          <a:solidFill>
                            <a:srgbClr val="000000"/>
                          </a:solidFill>
                          <a:latin typeface="Calibri"/>
                        </a:rPr>
                        <a:t>Table 87: East Asia Market Value and YoY Growth, Ultra-High-Barrier Films (Barrier Level Vs Application), US$ Mn and %, 2021–2036</a:t>
                      </a:r>
                      <a:endParaRPr sz="1050"/>
                    </a:p>
                  </a:txBody>
                  <a:tcPr marL="9525" marR="9525" marT="9525" marB="0" anchor="ctr"/>
                </a:tc>
              </a:tr>
              <a:tr h="167233">
                <a:tc>
                  <a:txBody>
                    <a:bodyPr wrap="square"/>
                    <a:lstStyle/>
                    <a:p>
                      <a:pPr algn="l"/>
                      <a:r>
                        <a:rPr sz="1050" b="0" i="0">
                          <a:solidFill>
                            <a:srgbClr val="000000"/>
                          </a:solidFill>
                          <a:latin typeface="Calibri"/>
                        </a:rPr>
                        <a:t>Table 88: East Asia Market Value by Product Type by Scenario, US$ Mn, 2036</a:t>
                      </a:r>
                      <a:endParaRPr sz="1050"/>
                    </a:p>
                  </a:txBody>
                  <a:tcPr marL="9525" marR="9525" marT="9525" marB="0" anchor="ctr"/>
                </a:tc>
              </a:tr>
              <a:tr h="327776">
                <a:tc>
                  <a:txBody>
                    <a:bodyPr wrap="square"/>
                    <a:lstStyle/>
                    <a:p>
                      <a:pPr algn="l"/>
                      <a:r>
                        <a:rPr sz="1050" b="0" i="0">
                          <a:solidFill>
                            <a:srgbClr val="000000"/>
                          </a:solidFill>
                          <a:latin typeface="Calibri"/>
                        </a:rPr>
                        <a:t>Table 89: East Asia Market Value and YoY Growth, EVOH-Based (Principal Material / Barrier Technology), US$ Mn and %, 2021–2036</a:t>
                      </a:r>
                      <a:endParaRPr sz="1050"/>
                    </a:p>
                  </a:txBody>
                  <a:tcPr marL="9525" marR="9525" marT="9525" marB="0" anchor="ctr"/>
                </a:tc>
              </a:tr>
              <a:tr h="327776">
                <a:tc>
                  <a:txBody>
                    <a:bodyPr wrap="square"/>
                    <a:lstStyle/>
                    <a:p>
                      <a:pPr algn="l"/>
                      <a:r>
                        <a:rPr sz="1050" b="0" i="0">
                          <a:solidFill>
                            <a:srgbClr val="000000"/>
                          </a:solidFill>
                          <a:latin typeface="Calibri"/>
                        </a:rPr>
                        <a:t>Table 90: East Asia Market Value and YoY Growth, Metallized Films (Material Structure), US$ Mn and %, 2021–2036</a:t>
                      </a:r>
                      <a:endParaRPr sz="1050"/>
                    </a:p>
                  </a:txBody>
                  <a:tcPr marL="9525" marR="9525" marT="9525" marB="0" anchor="ctr"/>
                </a:tc>
              </a:tr>
              <a:tr h="167233">
                <a:tc>
                  <a:txBody>
                    <a:bodyPr wrap="square"/>
                    <a:lstStyle/>
                    <a:p>
                      <a:pPr algn="l"/>
                      <a:r>
                        <a:rPr sz="1050" b="0" i="0">
                          <a:solidFill>
                            <a:srgbClr val="000000"/>
                          </a:solidFill>
                          <a:latin typeface="Calibri"/>
                        </a:rPr>
                        <a:t>Table 91: East Asia Market Value by Barrier Level by Scenario, US$ Mn, 2036</a:t>
                      </a:r>
                      <a:endParaRPr sz="1050"/>
                    </a:p>
                  </a:txBody>
                  <a:tcPr marL="9525" marR="9525" marT="9525" marB="0" anchor="ctr"/>
                </a:tc>
              </a:tr>
              <a:tr h="167233">
                <a:tc>
                  <a:txBody>
                    <a:bodyPr wrap="square"/>
                    <a:lstStyle/>
                    <a:p>
                      <a:pPr algn="l"/>
                      <a:r>
                        <a:rPr sz="1050" b="0" i="0">
                          <a:solidFill>
                            <a:srgbClr val="000000"/>
                          </a:solidFill>
                          <a:latin typeface="Calibri"/>
                        </a:rPr>
                        <a:t>Table 92: East Asia Market Value by Barrier Level Vs Application by Scenario, US$ Mn, 2036</a:t>
                      </a:r>
                      <a:endParaRPr sz="1050"/>
                    </a:p>
                  </a:txBody>
                  <a:tcPr marL="9525" marR="9525" marT="9525" marB="0" anchor="ctr"/>
                </a:tc>
              </a:tr>
              <a:tr h="327776">
                <a:tc>
                  <a:txBody>
                    <a:bodyPr wrap="square"/>
                    <a:lstStyle/>
                    <a:p>
                      <a:pPr algn="l"/>
                      <a:r>
                        <a:rPr sz="1050" b="0" i="0">
                          <a:solidFill>
                            <a:srgbClr val="000000"/>
                          </a:solidFill>
                          <a:latin typeface="Calibri"/>
                        </a:rPr>
                        <a:t>Table 93: East Asia Market Value and YoY Growth, PVDC-Based (Principal Material / Barrier Technology), US$ Mn and %,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(3/5)</a:t>
            </a:r>
          </a:p>
        </p:txBody>
      </p:sp>
      <p:graphicFrame>
        <p:nvGraphicFramePr>
          <p:cNvPr id="9" name="FMI Contents Table"/>
          <p:cNvGraphicFramePr>
            <a:graphicFrameLocks noGrp="1"/>
          </p:cNvGraphicFramePr>
          <p:nvPr/>
        </p:nvGraphicFramePr>
        <p:xfrm>
          <a:off x="142875" y="981075"/>
          <a:ext cx="5876925" cy="5257797"/>
        </p:xfrm>
        <a:graphic>
          <a:graphicData uri="http://schemas.openxmlformats.org/drawingml/2006/table">
            <a:tbl>
              <a:tblPr>
                <a:tableStyleId>{3B4B98B0-60AC-42C2-AFA5-B58CD77FA1E5}</a:tableStyleId>
              </a:tblPr>
              <a:tblGrid>
                <a:gridCol w="5876925"/>
              </a:tblGrid>
              <a:tr h="337215">
                <a:tc>
                  <a:txBody>
                    <a:bodyPr wrap="square"/>
                    <a:lstStyle/>
                    <a:p>
                      <a:pPr algn="l"/>
                      <a:r>
                        <a:rPr sz="1050" b="0" i="0">
                          <a:solidFill>
                            <a:srgbClr val="000000"/>
                          </a:solidFill>
                          <a:latin typeface="Calibri"/>
                        </a:rPr>
                        <a:t>Table 94: East Asia Market Value and YoY Growth, Foil-Laminated Structures (Material Structure), US$ Mn and %, 2021–2036</a:t>
                      </a:r>
                      <a:endParaRPr sz="1050"/>
                    </a:p>
                  </a:txBody>
                  <a:tcPr marL="9525" marR="9525" marT="9525" marB="0" anchor="ctr"/>
                </a:tc>
              </a:tr>
              <a:tr h="337215">
                <a:tc>
                  <a:txBody>
                    <a:bodyPr wrap="square"/>
                    <a:lstStyle/>
                    <a:p>
                      <a:pPr algn="l"/>
                      <a:r>
                        <a:rPr sz="1050" b="0" i="0">
                          <a:solidFill>
                            <a:srgbClr val="000000"/>
                          </a:solidFill>
                          <a:latin typeface="Calibri"/>
                        </a:rPr>
                        <a:t>Table 95: East Asia Market Value and YoY Growth, PVOH-Based (Principal Material / Barrier Technology), US$ Mn and %, 2021–2036</a:t>
                      </a:r>
                      <a:endParaRPr sz="1050"/>
                    </a:p>
                  </a:txBody>
                  <a:tcPr marL="9525" marR="9525" marT="9525" marB="0" anchor="ctr"/>
                </a:tc>
              </a:tr>
              <a:tr h="337215">
                <a:tc>
                  <a:txBody>
                    <a:bodyPr wrap="square"/>
                    <a:lstStyle/>
                    <a:p>
                      <a:pPr algn="l"/>
                      <a:r>
                        <a:rPr sz="1050" b="0" i="0">
                          <a:solidFill>
                            <a:srgbClr val="000000"/>
                          </a:solidFill>
                          <a:latin typeface="Calibri"/>
                        </a:rPr>
                        <a:t>Table 96: East Asia Market Value by Product Type and Principal Material / Barrier Technology, US$ Mn, 2026–2036</a:t>
                      </a:r>
                      <a:endParaRPr sz="1050"/>
                    </a:p>
                  </a:txBody>
                  <a:tcPr marL="9525" marR="9525" marT="9525" marB="0" anchor="ctr"/>
                </a:tc>
              </a:tr>
              <a:tr h="172048">
                <a:tc>
                  <a:txBody>
                    <a:bodyPr wrap="square"/>
                    <a:lstStyle/>
                    <a:p>
                      <a:pPr algn="l"/>
                      <a:r>
                        <a:rPr sz="1050" b="0" i="0">
                          <a:solidFill>
                            <a:srgbClr val="000000"/>
                          </a:solidFill>
                          <a:latin typeface="Calibri"/>
                        </a:rPr>
                        <a:t>Table 97: East Asia Market Value by Product Type and Material Structure, US$ Mn, 2026–2036</a:t>
                      </a:r>
                      <a:endParaRPr sz="1050"/>
                    </a:p>
                  </a:txBody>
                  <a:tcPr marL="9525" marR="9525" marT="9525" marB="0" anchor="ctr"/>
                </a:tc>
              </a:tr>
              <a:tr h="172048">
                <a:tc>
                  <a:txBody>
                    <a:bodyPr wrap="square"/>
                    <a:lstStyle/>
                    <a:p>
                      <a:pPr algn="l"/>
                      <a:r>
                        <a:rPr sz="1050" b="0" i="0">
                          <a:solidFill>
                            <a:srgbClr val="000000"/>
                          </a:solidFill>
                          <a:latin typeface="Calibri"/>
                        </a:rPr>
                        <a:t>Table 98: East Asia Market Value by Product Type and Barrier Level, US$ Mn, 2026–2036</a:t>
                      </a:r>
                      <a:endParaRPr sz="1050"/>
                    </a:p>
                  </a:txBody>
                  <a:tcPr marL="9525" marR="9525" marT="9525" marB="0" anchor="ctr"/>
                </a:tc>
              </a:tr>
              <a:tr h="172048">
                <a:tc>
                  <a:txBody>
                    <a:bodyPr wrap="square"/>
                    <a:lstStyle/>
                    <a:p>
                      <a:pPr algn="l"/>
                      <a:r>
                        <a:rPr sz="1050" b="0" i="0">
                          <a:solidFill>
                            <a:srgbClr val="000000"/>
                          </a:solidFill>
                          <a:latin typeface="Calibri"/>
                        </a:rPr>
                        <a:t>Table 99: East Asia Market Value by Product Type and Application, US$ Mn, 2026–2036</a:t>
                      </a:r>
                      <a:endParaRPr sz="1050"/>
                    </a:p>
                  </a:txBody>
                  <a:tcPr marL="9525" marR="9525" marT="9525" marB="0" anchor="ctr"/>
                </a:tc>
              </a:tr>
              <a:tr h="337215">
                <a:tc>
                  <a:txBody>
                    <a:bodyPr wrap="square"/>
                    <a:lstStyle/>
                    <a:p>
                      <a:pPr algn="l"/>
                      <a:r>
                        <a:rPr sz="1050" b="0" i="0">
                          <a:solidFill>
                            <a:srgbClr val="000000"/>
                          </a:solidFill>
                          <a:latin typeface="Calibri"/>
                        </a:rPr>
                        <a:t>Table 100: East Asia Market Value by Product Type and Barrier Level Vs Application, US$ Mn, 2026–2036</a:t>
                      </a:r>
                      <a:endParaRPr sz="1050"/>
                    </a:p>
                  </a:txBody>
                  <a:tcPr marL="9525" marR="9525" marT="9525" marB="0" anchor="ctr"/>
                </a:tc>
              </a:tr>
              <a:tr h="337215">
                <a:tc>
                  <a:txBody>
                    <a:bodyPr wrap="square"/>
                    <a:lstStyle/>
                    <a:p>
                      <a:pPr algn="l"/>
                      <a:r>
                        <a:rPr sz="1050" b="0" i="0">
                          <a:solidFill>
                            <a:srgbClr val="000000"/>
                          </a:solidFill>
                          <a:latin typeface="Calibri"/>
                        </a:rPr>
                        <a:t>Table 101: East Asia Market Value by Principal Material / Barrier Technology and Material Structure, US$ Mn, 2026–2036</a:t>
                      </a:r>
                      <a:endParaRPr sz="1050"/>
                    </a:p>
                  </a:txBody>
                  <a:tcPr marL="9525" marR="9525" marT="9525" marB="0" anchor="ctr"/>
                </a:tc>
              </a:tr>
              <a:tr h="337215">
                <a:tc>
                  <a:txBody>
                    <a:bodyPr wrap="square"/>
                    <a:lstStyle/>
                    <a:p>
                      <a:pPr algn="l"/>
                      <a:r>
                        <a:rPr sz="1050" b="0" i="0">
                          <a:solidFill>
                            <a:srgbClr val="000000"/>
                          </a:solidFill>
                          <a:latin typeface="Calibri"/>
                        </a:rPr>
                        <a:t>Table 102: East Asia Market Value by Principal Material / Barrier Technology and Barrier Level, US$ Mn, 2026–2036</a:t>
                      </a:r>
                      <a:endParaRPr sz="1050"/>
                    </a:p>
                  </a:txBody>
                  <a:tcPr marL="9525" marR="9525" marT="9525" marB="0" anchor="ctr"/>
                </a:tc>
              </a:tr>
              <a:tr h="337215">
                <a:tc>
                  <a:txBody>
                    <a:bodyPr wrap="square"/>
                    <a:lstStyle/>
                    <a:p>
                      <a:pPr algn="l"/>
                      <a:r>
                        <a:rPr sz="1050" b="0" i="0">
                          <a:solidFill>
                            <a:srgbClr val="000000"/>
                          </a:solidFill>
                          <a:latin typeface="Calibri"/>
                        </a:rPr>
                        <a:t>Table 103: East Asia Market Value by Principal Material / Barrier Technology and Application, US$ Mn, 2026–2036</a:t>
                      </a:r>
                      <a:endParaRPr sz="1050"/>
                    </a:p>
                  </a:txBody>
                  <a:tcPr marL="9525" marR="9525" marT="9525" marB="0" anchor="ctr"/>
                </a:tc>
              </a:tr>
              <a:tr h="337215">
                <a:tc>
                  <a:txBody>
                    <a:bodyPr wrap="square"/>
                    <a:lstStyle/>
                    <a:p>
                      <a:pPr algn="l"/>
                      <a:r>
                        <a:rPr sz="1050" b="0" i="0">
                          <a:solidFill>
                            <a:srgbClr val="000000"/>
                          </a:solidFill>
                          <a:latin typeface="Calibri"/>
                        </a:rPr>
                        <a:t>Table 104: East Asia Market Value by Principal Material / Barrier Technology and Barrier Level Vs Application, US$ Mn, 2026–2036</a:t>
                      </a:r>
                      <a:endParaRPr sz="1050"/>
                    </a:p>
                  </a:txBody>
                  <a:tcPr marL="9525" marR="9525" marT="9525" marB="0" anchor="ctr"/>
                </a:tc>
              </a:tr>
              <a:tr h="172048">
                <a:tc>
                  <a:txBody>
                    <a:bodyPr wrap="square"/>
                    <a:lstStyle/>
                    <a:p>
                      <a:pPr algn="l"/>
                      <a:r>
                        <a:rPr sz="1050" b="0" i="0">
                          <a:solidFill>
                            <a:srgbClr val="000000"/>
                          </a:solidFill>
                          <a:latin typeface="Calibri"/>
                        </a:rPr>
                        <a:t>Table 105: East Asia Market Value by Material Structure and Barrier Level, US$ Mn, 2026–2036</a:t>
                      </a:r>
                      <a:endParaRPr sz="1050"/>
                    </a:p>
                  </a:txBody>
                  <a:tcPr marL="9525" marR="9525" marT="9525" marB="0" anchor="ctr"/>
                </a:tc>
              </a:tr>
              <a:tr h="172048">
                <a:tc>
                  <a:txBody>
                    <a:bodyPr wrap="square"/>
                    <a:lstStyle/>
                    <a:p>
                      <a:pPr algn="l"/>
                      <a:r>
                        <a:rPr sz="1050" b="0" i="0">
                          <a:solidFill>
                            <a:srgbClr val="000000"/>
                          </a:solidFill>
                          <a:latin typeface="Calibri"/>
                        </a:rPr>
                        <a:t>Table 106: East Asia Market Value by Material Structure and Application, US$ Mn, 2026–2036</a:t>
                      </a:r>
                      <a:endParaRPr sz="1050"/>
                    </a:p>
                  </a:txBody>
                  <a:tcPr marL="9525" marR="9525" marT="9525" marB="0" anchor="ctr"/>
                </a:tc>
              </a:tr>
              <a:tr h="337215">
                <a:tc>
                  <a:txBody>
                    <a:bodyPr wrap="square"/>
                    <a:lstStyle/>
                    <a:p>
                      <a:pPr algn="l"/>
                      <a:r>
                        <a:rPr sz="1050" b="0" i="0">
                          <a:solidFill>
                            <a:srgbClr val="000000"/>
                          </a:solidFill>
                          <a:latin typeface="Calibri"/>
                        </a:rPr>
                        <a:t>Table 107: East Asia Market Value by Material Structure and Barrier Level Vs Application, US$ Mn, 2026–2036</a:t>
                      </a:r>
                      <a:endParaRPr sz="1050"/>
                    </a:p>
                  </a:txBody>
                  <a:tcPr marL="9525" marR="9525" marT="9525" marB="0" anchor="ctr"/>
                </a:tc>
              </a:tr>
              <a:tr h="172048">
                <a:tc>
                  <a:txBody>
                    <a:bodyPr wrap="square"/>
                    <a:lstStyle/>
                    <a:p>
                      <a:pPr algn="l"/>
                      <a:r>
                        <a:rPr sz="1050" b="0" i="0">
                          <a:solidFill>
                            <a:srgbClr val="000000"/>
                          </a:solidFill>
                          <a:latin typeface="Calibri"/>
                        </a:rPr>
                        <a:t>Table 108: East Asia Market Value by Barrier Level and Application, US$ Mn, 2026–2036</a:t>
                      </a:r>
                      <a:endParaRPr sz="1050"/>
                    </a:p>
                  </a:txBody>
                  <a:tcPr marL="9525" marR="9525" marT="9525" marB="0" anchor="ctr"/>
                </a:tc>
              </a:tr>
              <a:tr h="337215">
                <a:tc>
                  <a:txBody>
                    <a:bodyPr wrap="square"/>
                    <a:lstStyle/>
                    <a:p>
                      <a:pPr algn="l"/>
                      <a:r>
                        <a:rPr sz="1050" b="0" i="0">
                          <a:solidFill>
                            <a:srgbClr val="000000"/>
                          </a:solidFill>
                          <a:latin typeface="Calibri"/>
                        </a:rPr>
                        <a:t>Table 109: East Asia Market Value by Barrier Level and Barrier Level Vs Application, US$ Mn, 2026–2036</a:t>
                      </a:r>
                      <a:endParaRPr sz="1050"/>
                    </a:p>
                  </a:txBody>
                  <a:tcPr marL="9525" marR="9525" marT="9525" marB="0" anchor="ctr"/>
                </a:tc>
              </a:tr>
              <a:tr h="172048">
                <a:tc>
                  <a:txBody>
                    <a:bodyPr wrap="square"/>
                    <a:lstStyle/>
                    <a:p>
                      <a:pPr algn="l"/>
                      <a:r>
                        <a:rPr sz="1050" b="0" i="0">
                          <a:solidFill>
                            <a:srgbClr val="000000"/>
                          </a:solidFill>
                          <a:latin typeface="Calibri"/>
                        </a:rPr>
                        <a:t>Table 110: East Asia Market Value by Application and Barrier Level Vs Application, US$ Mn, 2026–2036</a:t>
                      </a:r>
                      <a:endParaRPr sz="1050"/>
                    </a:p>
                  </a:txBody>
                  <a:tcPr marL="9525" marR="9525" marT="9525" marB="0" anchor="ctr"/>
                </a:tc>
              </a:tr>
              <a:tr h="337215">
                <a:tc>
                  <a:txBody>
                    <a:bodyPr wrap="square"/>
                    <a:lstStyle/>
                    <a:p>
                      <a:pPr algn="l"/>
                      <a:r>
                        <a:rPr sz="1050" b="0" i="0">
                          <a:solidFill>
                            <a:srgbClr val="000000"/>
                          </a:solidFill>
                          <a:latin typeface="Calibri"/>
                        </a:rPr>
                        <a:t>Table 111: East Asia Market CAGR by Product Type and Principal Material / Barrier Technology, %, 2026–2036</a:t>
                      </a:r>
                      <a:endParaRPr sz="1050"/>
                    </a:p>
                  </a:txBody>
                  <a:tcPr marL="9525" marR="9525" marT="9525" marB="0" anchor="ctr"/>
                </a:tc>
              </a:tr>
              <a:tr h="172048">
                <a:tc>
                  <a:txBody>
                    <a:bodyPr wrap="square"/>
                    <a:lstStyle/>
                    <a:p>
                      <a:pPr algn="l"/>
                      <a:r>
                        <a:rPr sz="1050" b="0" i="0">
                          <a:solidFill>
                            <a:srgbClr val="000000"/>
                          </a:solidFill>
                          <a:latin typeface="Calibri"/>
                        </a:rPr>
                        <a:t>Table 112: East Asia Market CAGR by Product Type and Material Structure, %, 2026–2036</a:t>
                      </a:r>
                      <a:endParaRPr sz="1050"/>
                    </a:p>
                  </a:txBody>
                  <a:tcPr marL="9525" marR="9525" marT="9525" marB="0" anchor="ctr"/>
                </a:tc>
              </a:tr>
              <a:tr h="172048">
                <a:tc>
                  <a:txBody>
                    <a:bodyPr wrap="square"/>
                    <a:lstStyle/>
                    <a:p>
                      <a:pPr algn="l"/>
                      <a:r>
                        <a:rPr sz="1050" b="0" i="0">
                          <a:solidFill>
                            <a:srgbClr val="000000"/>
                          </a:solidFill>
                          <a:latin typeface="Calibri"/>
                        </a:rPr>
                        <a:t>Table 113: East Asia Market CAGR by Product Type and Barrier Level, %,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2"/>
        </p:xfrm>
        <a:graphic>
          <a:graphicData uri="http://schemas.openxmlformats.org/drawingml/2006/table">
            <a:tbl>
              <a:tblPr>
                <a:tableStyleId>{3B4B98B0-60AC-42C2-AFA5-B58CD77FA1E5}</a:tableStyleId>
              </a:tblPr>
              <a:tblGrid>
                <a:gridCol w="5876925"/>
              </a:tblGrid>
              <a:tr h="170930">
                <a:tc>
                  <a:txBody>
                    <a:bodyPr wrap="square"/>
                    <a:lstStyle/>
                    <a:p>
                      <a:pPr algn="l"/>
                      <a:r>
                        <a:rPr sz="1050" b="0" i="0">
                          <a:solidFill>
                            <a:srgbClr val="000000"/>
                          </a:solidFill>
                          <a:latin typeface="Calibri"/>
                        </a:rPr>
                        <a:t>Table 114: East Asia Market CAGR by Product Type and Application, %, 2026–2036</a:t>
                      </a:r>
                      <a:endParaRPr sz="1050"/>
                    </a:p>
                  </a:txBody>
                  <a:tcPr marL="9525" marR="9525" marT="9525" marB="0" anchor="ctr"/>
                </a:tc>
              </a:tr>
              <a:tr h="170930">
                <a:tc>
                  <a:txBody>
                    <a:bodyPr wrap="square"/>
                    <a:lstStyle/>
                    <a:p>
                      <a:pPr algn="l"/>
                      <a:r>
                        <a:rPr sz="1050" b="0" i="0">
                          <a:solidFill>
                            <a:srgbClr val="000000"/>
                          </a:solidFill>
                          <a:latin typeface="Calibri"/>
                        </a:rPr>
                        <a:t>Table 115: East Asia Market CAGR by Product Type and Barrier Level Vs Application, %, 2026–2036</a:t>
                      </a:r>
                      <a:endParaRPr sz="1050"/>
                    </a:p>
                  </a:txBody>
                  <a:tcPr marL="9525" marR="9525" marT="9525" marB="0" anchor="ctr"/>
                </a:tc>
              </a:tr>
              <a:tr h="335022">
                <a:tc>
                  <a:txBody>
                    <a:bodyPr wrap="square"/>
                    <a:lstStyle/>
                    <a:p>
                      <a:pPr algn="l"/>
                      <a:r>
                        <a:rPr sz="1050" b="0" i="0">
                          <a:solidFill>
                            <a:srgbClr val="000000"/>
                          </a:solidFill>
                          <a:latin typeface="Calibri"/>
                        </a:rPr>
                        <a:t>Table 116: East Asia Market CAGR by Principal Material / Barrier Technology and Material Structure, %, 2026–2036</a:t>
                      </a:r>
                      <a:endParaRPr sz="1050"/>
                    </a:p>
                  </a:txBody>
                  <a:tcPr marL="9525" marR="9525" marT="9525" marB="0" anchor="ctr"/>
                </a:tc>
              </a:tr>
              <a:tr h="335022">
                <a:tc>
                  <a:txBody>
                    <a:bodyPr wrap="square"/>
                    <a:lstStyle/>
                    <a:p>
                      <a:pPr algn="l"/>
                      <a:r>
                        <a:rPr sz="1050" b="0" i="0">
                          <a:solidFill>
                            <a:srgbClr val="000000"/>
                          </a:solidFill>
                          <a:latin typeface="Calibri"/>
                        </a:rPr>
                        <a:t>Table 117: East Asia Market CAGR by Principal Material / Barrier Technology and Barrier Level, %, 2026–2036</a:t>
                      </a:r>
                      <a:endParaRPr sz="1050"/>
                    </a:p>
                  </a:txBody>
                  <a:tcPr marL="9525" marR="9525" marT="9525" marB="0" anchor="ctr"/>
                </a:tc>
              </a:tr>
              <a:tr h="335022">
                <a:tc>
                  <a:txBody>
                    <a:bodyPr wrap="square"/>
                    <a:lstStyle/>
                    <a:p>
                      <a:pPr algn="l"/>
                      <a:r>
                        <a:rPr sz="1050" b="0" i="0">
                          <a:solidFill>
                            <a:srgbClr val="000000"/>
                          </a:solidFill>
                          <a:latin typeface="Calibri"/>
                        </a:rPr>
                        <a:t>Table 118: East Asia Market CAGR by Principal Material / Barrier Technology and Application, %, 2026–2036</a:t>
                      </a:r>
                      <a:endParaRPr sz="1050"/>
                    </a:p>
                  </a:txBody>
                  <a:tcPr marL="9525" marR="9525" marT="9525" marB="0" anchor="ctr"/>
                </a:tc>
              </a:tr>
              <a:tr h="335022">
                <a:tc>
                  <a:txBody>
                    <a:bodyPr wrap="square"/>
                    <a:lstStyle/>
                    <a:p>
                      <a:pPr algn="l"/>
                      <a:r>
                        <a:rPr sz="1050" b="0" i="0">
                          <a:solidFill>
                            <a:srgbClr val="000000"/>
                          </a:solidFill>
                          <a:latin typeface="Calibri"/>
                        </a:rPr>
                        <a:t>Table 119: East Asia Market CAGR by Principal Material / Barrier Technology and Barrier Level Vs Application, %, 2026–2036</a:t>
                      </a:r>
                      <a:endParaRPr sz="1050"/>
                    </a:p>
                  </a:txBody>
                  <a:tcPr marL="9525" marR="9525" marT="9525" marB="0" anchor="ctr"/>
                </a:tc>
              </a:tr>
              <a:tr h="170930">
                <a:tc>
                  <a:txBody>
                    <a:bodyPr wrap="square"/>
                    <a:lstStyle/>
                    <a:p>
                      <a:pPr algn="l"/>
                      <a:r>
                        <a:rPr sz="1050" b="0" i="0">
                          <a:solidFill>
                            <a:srgbClr val="000000"/>
                          </a:solidFill>
                          <a:latin typeface="Calibri"/>
                        </a:rPr>
                        <a:t>Table 120: East Asia Market CAGR by Material Structure and Barrier Level, %, 2026–2036</a:t>
                      </a:r>
                      <a:endParaRPr sz="1050"/>
                    </a:p>
                  </a:txBody>
                  <a:tcPr marL="9525" marR="9525" marT="9525" marB="0" anchor="ctr"/>
                </a:tc>
              </a:tr>
              <a:tr h="170930">
                <a:tc>
                  <a:txBody>
                    <a:bodyPr wrap="square"/>
                    <a:lstStyle/>
                    <a:p>
                      <a:pPr algn="l"/>
                      <a:r>
                        <a:rPr sz="1050" b="0" i="0">
                          <a:solidFill>
                            <a:srgbClr val="000000"/>
                          </a:solidFill>
                          <a:latin typeface="Calibri"/>
                        </a:rPr>
                        <a:t>Table 121: East Asia Market CAGR by Material Structure and Application, %, 2026–2036</a:t>
                      </a:r>
                      <a:endParaRPr sz="1050"/>
                    </a:p>
                  </a:txBody>
                  <a:tcPr marL="9525" marR="9525" marT="9525" marB="0" anchor="ctr"/>
                </a:tc>
              </a:tr>
              <a:tr h="335022">
                <a:tc>
                  <a:txBody>
                    <a:bodyPr wrap="square"/>
                    <a:lstStyle/>
                    <a:p>
                      <a:pPr algn="l"/>
                      <a:r>
                        <a:rPr sz="1050" b="0" i="0">
                          <a:solidFill>
                            <a:srgbClr val="000000"/>
                          </a:solidFill>
                          <a:latin typeface="Calibri"/>
                        </a:rPr>
                        <a:t>Table 122: East Asia Market CAGR by Material Structure and Barrier Level Vs Application, %, 2026–2036</a:t>
                      </a:r>
                      <a:endParaRPr sz="1050"/>
                    </a:p>
                  </a:txBody>
                  <a:tcPr marL="9525" marR="9525" marT="9525" marB="0" anchor="ctr"/>
                </a:tc>
              </a:tr>
              <a:tr h="170930">
                <a:tc>
                  <a:txBody>
                    <a:bodyPr wrap="square"/>
                    <a:lstStyle/>
                    <a:p>
                      <a:pPr algn="l"/>
                      <a:r>
                        <a:rPr sz="1050" b="0" i="0">
                          <a:solidFill>
                            <a:srgbClr val="000000"/>
                          </a:solidFill>
                          <a:latin typeface="Calibri"/>
                        </a:rPr>
                        <a:t>Table 123: East Asia Market CAGR by Barrier Level and Application, %, 2026–2036</a:t>
                      </a:r>
                      <a:endParaRPr sz="1050"/>
                    </a:p>
                  </a:txBody>
                  <a:tcPr marL="9525" marR="9525" marT="9525" marB="0" anchor="ctr"/>
                </a:tc>
              </a:tr>
              <a:tr h="170930">
                <a:tc>
                  <a:txBody>
                    <a:bodyPr wrap="square"/>
                    <a:lstStyle/>
                    <a:p>
                      <a:pPr algn="l"/>
                      <a:r>
                        <a:rPr sz="1050" b="0" i="0">
                          <a:solidFill>
                            <a:srgbClr val="000000"/>
                          </a:solidFill>
                          <a:latin typeface="Calibri"/>
                        </a:rPr>
                        <a:t>Table 124: East Asia Market CAGR by Barrier Level and Barrier Level Vs Application, %, 2026–2036</a:t>
                      </a:r>
                      <a:endParaRPr sz="1050"/>
                    </a:p>
                  </a:txBody>
                  <a:tcPr marL="9525" marR="9525" marT="9525" marB="0" anchor="ctr"/>
                </a:tc>
              </a:tr>
              <a:tr h="170930">
                <a:tc>
                  <a:txBody>
                    <a:bodyPr wrap="square"/>
                    <a:lstStyle/>
                    <a:p>
                      <a:pPr algn="l"/>
                      <a:r>
                        <a:rPr sz="1050" b="0" i="0">
                          <a:solidFill>
                            <a:srgbClr val="000000"/>
                          </a:solidFill>
                          <a:latin typeface="Calibri"/>
                        </a:rPr>
                        <a:t>Table 125: East Asia Market CAGR by Application and Barrier Level Vs Application, %, 2026–2036</a:t>
                      </a:r>
                      <a:endParaRPr sz="1050"/>
                    </a:p>
                  </a:txBody>
                  <a:tcPr marL="9525" marR="9525" marT="9525" marB="0" anchor="ctr"/>
                </a:tc>
              </a:tr>
              <a:tr h="335022">
                <a:tc>
                  <a:txBody>
                    <a:bodyPr wrap="square"/>
                    <a:lstStyle/>
                    <a:p>
                      <a:pPr algn="l"/>
                      <a:r>
                        <a:rPr sz="1050" b="0" i="0">
                          <a:solidFill>
                            <a:srgbClr val="000000"/>
                          </a:solidFill>
                          <a:latin typeface="Calibri"/>
                        </a:rPr>
                        <a:t>Table 126: East Asia Market Share of Principal Material / Barrier Technology within Product Type, %, 2026 and 2036</a:t>
                      </a:r>
                      <a:endParaRPr sz="1050"/>
                    </a:p>
                  </a:txBody>
                  <a:tcPr marL="9525" marR="9525" marT="9525" marB="0" anchor="ctr"/>
                </a:tc>
              </a:tr>
              <a:tr h="170930">
                <a:tc>
                  <a:txBody>
                    <a:bodyPr wrap="square"/>
                    <a:lstStyle/>
                    <a:p>
                      <a:pPr algn="l"/>
                      <a:r>
                        <a:rPr sz="1050" b="0" i="0">
                          <a:solidFill>
                            <a:srgbClr val="000000"/>
                          </a:solidFill>
                          <a:latin typeface="Calibri"/>
                        </a:rPr>
                        <a:t>Table 127: China Market Value by Product Type, US$ Mn, 2021–2036</a:t>
                      </a:r>
                      <a:endParaRPr sz="1050"/>
                    </a:p>
                  </a:txBody>
                  <a:tcPr marL="9525" marR="9525" marT="9525" marB="0" anchor="ctr"/>
                </a:tc>
              </a:tr>
              <a:tr h="170930">
                <a:tc>
                  <a:txBody>
                    <a:bodyPr wrap="square"/>
                    <a:lstStyle/>
                    <a:p>
                      <a:pPr algn="l"/>
                      <a:r>
                        <a:rPr sz="1050" b="0" i="0">
                          <a:solidFill>
                            <a:srgbClr val="000000"/>
                          </a:solidFill>
                          <a:latin typeface="Calibri"/>
                        </a:rPr>
                        <a:t>Table 128: China Market Historical and Forecast Growth, %, 2021–2036</a:t>
                      </a:r>
                      <a:endParaRPr sz="1050"/>
                    </a:p>
                  </a:txBody>
                  <a:tcPr marL="9525" marR="9525" marT="9525" marB="0" anchor="ctr"/>
                </a:tc>
              </a:tr>
              <a:tr h="170930">
                <a:tc>
                  <a:txBody>
                    <a:bodyPr wrap="square"/>
                    <a:lstStyle/>
                    <a:p>
                      <a:pPr algn="l"/>
                      <a:r>
                        <a:rPr sz="1050" b="0" i="0">
                          <a:solidFill>
                            <a:srgbClr val="000000"/>
                          </a:solidFill>
                          <a:latin typeface="Calibri"/>
                        </a:rPr>
                        <a:t>Table 129: China Market Value by Application, US$ Mn, 2021–2036</a:t>
                      </a:r>
                      <a:endParaRPr sz="1050"/>
                    </a:p>
                  </a:txBody>
                  <a:tcPr marL="9525" marR="9525" marT="9525" marB="0" anchor="ctr"/>
                </a:tc>
              </a:tr>
              <a:tr h="170930">
                <a:tc>
                  <a:txBody>
                    <a:bodyPr wrap="square"/>
                    <a:lstStyle/>
                    <a:p>
                      <a:pPr algn="l"/>
                      <a:r>
                        <a:rPr sz="1050" b="0" i="0">
                          <a:solidFill>
                            <a:srgbClr val="000000"/>
                          </a:solidFill>
                          <a:latin typeface="Calibri"/>
                        </a:rPr>
                        <a:t>Table 130: China Market Share within East Asia, %, 2025, 2026 and 2036</a:t>
                      </a:r>
                      <a:endParaRPr sz="1050"/>
                    </a:p>
                  </a:txBody>
                  <a:tcPr marL="9525" marR="9525" marT="9525" marB="0" anchor="ctr"/>
                </a:tc>
              </a:tr>
              <a:tr h="170930">
                <a:tc>
                  <a:txBody>
                    <a:bodyPr wrap="square"/>
                    <a:lstStyle/>
                    <a:p>
                      <a:pPr algn="l"/>
                      <a:r>
                        <a:rPr sz="1050" b="0" i="0">
                          <a:solidFill>
                            <a:srgbClr val="000000"/>
                          </a:solidFill>
                          <a:latin typeface="Calibri"/>
                        </a:rPr>
                        <a:t>Table 131: China Market Value by Principal Material / Barrier Technology, US$ Mn, 2021–2036</a:t>
                      </a:r>
                      <a:endParaRPr sz="1050"/>
                    </a:p>
                  </a:txBody>
                  <a:tcPr marL="9525" marR="9525" marT="9525" marB="0" anchor="ctr"/>
                </a:tc>
              </a:tr>
              <a:tr h="170930">
                <a:tc>
                  <a:txBody>
                    <a:bodyPr wrap="square"/>
                    <a:lstStyle/>
                    <a:p>
                      <a:pPr algn="l"/>
                      <a:r>
                        <a:rPr sz="1050" b="0" i="0">
                          <a:solidFill>
                            <a:srgbClr val="000000"/>
                          </a:solidFill>
                          <a:latin typeface="Calibri"/>
                        </a:rPr>
                        <a:t>Table 132: China Market Value by Material Structure, US$ Mn, 2021–2036</a:t>
                      </a:r>
                      <a:endParaRPr sz="1050"/>
                    </a:p>
                  </a:txBody>
                  <a:tcPr marL="9525" marR="9525" marT="9525" marB="0" anchor="ctr"/>
                </a:tc>
              </a:tr>
              <a:tr h="170930">
                <a:tc>
                  <a:txBody>
                    <a:bodyPr wrap="square"/>
                    <a:lstStyle/>
                    <a:p>
                      <a:pPr algn="l"/>
                      <a:r>
                        <a:rPr sz="1050" b="0" i="0">
                          <a:solidFill>
                            <a:srgbClr val="000000"/>
                          </a:solidFill>
                          <a:latin typeface="Calibri"/>
                        </a:rPr>
                        <a:t>Table 133: China Market Value by Barrier Level, US$ Mn, 2021–2036</a:t>
                      </a:r>
                      <a:endParaRPr sz="1050"/>
                    </a:p>
                  </a:txBody>
                  <a:tcPr marL="9525" marR="9525" marT="9525" marB="0" anchor="ctr"/>
                </a:tc>
              </a:tr>
              <a:tr h="170930">
                <a:tc>
                  <a:txBody>
                    <a:bodyPr wrap="square"/>
                    <a:lstStyle/>
                    <a:p>
                      <a:pPr algn="l"/>
                      <a:r>
                        <a:rPr sz="1050" b="0" i="0">
                          <a:solidFill>
                            <a:srgbClr val="000000"/>
                          </a:solidFill>
                          <a:latin typeface="Calibri"/>
                        </a:rPr>
                        <a:t>Table 134: China Market Value by Barrier Level Vs Application, US$ Mn, 2021–2036</a:t>
                      </a:r>
                      <a:endParaRPr sz="1050"/>
                    </a:p>
                  </a:txBody>
                  <a:tcPr marL="9525" marR="9525" marT="9525" marB="0" anchor="ctr"/>
                </a:tc>
              </a:tr>
              <a:tr h="170930">
                <a:tc>
                  <a:txBody>
                    <a:bodyPr wrap="square"/>
                    <a:lstStyle/>
                    <a:p>
                      <a:pPr algn="l"/>
                      <a:r>
                        <a:rPr sz="1050" b="0" i="0">
                          <a:solidFill>
                            <a:srgbClr val="000000"/>
                          </a:solidFill>
                          <a:latin typeface="Calibri"/>
                        </a:rPr>
                        <a:t>Table 135: China Market Volume by Product Type, Thousand MT, 2021–2036</a:t>
                      </a:r>
                      <a:endParaRPr sz="1050"/>
                    </a:p>
                  </a:txBody>
                  <a:tcPr marL="9525" marR="9525" marT="9525" marB="0" anchor="ctr"/>
                </a:tc>
              </a:tr>
              <a:tr h="170930">
                <a:tc>
                  <a:txBody>
                    <a:bodyPr wrap="square"/>
                    <a:lstStyle/>
                    <a:p>
                      <a:pPr algn="l"/>
                      <a:r>
                        <a:rPr sz="1050" b="0" i="0">
                          <a:solidFill>
                            <a:srgbClr val="000000"/>
                          </a:solidFill>
                          <a:latin typeface="Calibri"/>
                        </a:rPr>
                        <a:t>Table 136: China Market Average Selling Price, US$/MT, 2021–2036</a:t>
                      </a:r>
                      <a:endParaRPr sz="1050"/>
                    </a:p>
                  </a:txBody>
                  <a:tcPr marL="9525" marR="9525" marT="9525" marB="0" anchor="ctr"/>
                </a:tc>
              </a:tr>
              <a:tr h="170930">
                <a:tc>
                  <a:txBody>
                    <a:bodyPr wrap="square"/>
                    <a:lstStyle/>
                    <a:p>
                      <a:pPr algn="l"/>
                      <a:r>
                        <a:rPr sz="1050" b="0" i="0">
                          <a:solidFill>
                            <a:srgbClr val="000000"/>
                          </a:solidFill>
                          <a:latin typeface="Calibri"/>
                        </a:rPr>
                        <a:t>Table 137: China Market Leading Suppliers and Brands, 2026</a:t>
                      </a:r>
                      <a:endParaRPr sz="1050"/>
                    </a:p>
                  </a:txBody>
                  <a:tcPr marL="9525" marR="9525" marT="9525" marB="0" anchor="ctr"/>
                </a:tc>
              </a:tr>
              <a:tr h="170930">
                <a:tc>
                  <a:txBody>
                    <a:bodyPr wrap="square"/>
                    <a:lstStyle/>
                    <a:p>
                      <a:pPr algn="l"/>
                      <a:r>
                        <a:rPr sz="1050" b="0" i="0">
                          <a:solidFill>
                            <a:srgbClr val="000000"/>
                          </a:solidFill>
                          <a:latin typeface="Calibri"/>
                        </a:rPr>
                        <a:t>Table 138: China Market Import and Export Indicators, US$ Mn, 2021–2025</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(4/5)</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139: Japan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140: Japan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141: Japan Market Value by Application, US$ Mn, 2021–2036</a:t>
                      </a:r>
                      <a:endParaRPr sz="1050"/>
                    </a:p>
                  </a:txBody>
                  <a:tcPr marL="9525" marR="9525" marT="9525" marB="0" anchor="ctr"/>
                </a:tc>
              </a:tr>
              <a:tr h="169826">
                <a:tc>
                  <a:txBody>
                    <a:bodyPr wrap="square"/>
                    <a:lstStyle/>
                    <a:p>
                      <a:pPr algn="l"/>
                      <a:r>
                        <a:rPr sz="1050" b="0" i="0">
                          <a:solidFill>
                            <a:srgbClr val="000000"/>
                          </a:solidFill>
                          <a:latin typeface="Calibri"/>
                        </a:rPr>
                        <a:t>Table 142: Japan Market Share within East Asia, %, 2025, 2026 and 2036</a:t>
                      </a:r>
                      <a:endParaRPr sz="1050"/>
                    </a:p>
                  </a:txBody>
                  <a:tcPr marL="9525" marR="9525" marT="9525" marB="0" anchor="ctr"/>
                </a:tc>
              </a:tr>
              <a:tr h="169826">
                <a:tc>
                  <a:txBody>
                    <a:bodyPr wrap="square"/>
                    <a:lstStyle/>
                    <a:p>
                      <a:pPr algn="l"/>
                      <a:r>
                        <a:rPr sz="1050" b="0" i="0">
                          <a:solidFill>
                            <a:srgbClr val="000000"/>
                          </a:solidFill>
                          <a:latin typeface="Calibri"/>
                        </a:rPr>
                        <a:t>Table 143: Japan Market Value by Principal Material / Barrier Technology, US$ Mn, 2021–2036</a:t>
                      </a:r>
                      <a:endParaRPr sz="1050"/>
                    </a:p>
                  </a:txBody>
                  <a:tcPr marL="9525" marR="9525" marT="9525" marB="0" anchor="ctr"/>
                </a:tc>
              </a:tr>
              <a:tr h="169826">
                <a:tc>
                  <a:txBody>
                    <a:bodyPr wrap="square"/>
                    <a:lstStyle/>
                    <a:p>
                      <a:pPr algn="l"/>
                      <a:r>
                        <a:rPr sz="1050" b="0" i="0">
                          <a:solidFill>
                            <a:srgbClr val="000000"/>
                          </a:solidFill>
                          <a:latin typeface="Calibri"/>
                        </a:rPr>
                        <a:t>Table 144: Japan Market Value by Material Structure, US$ Mn, 2021–2036</a:t>
                      </a:r>
                      <a:endParaRPr sz="1050"/>
                    </a:p>
                  </a:txBody>
                  <a:tcPr marL="9525" marR="9525" marT="9525" marB="0" anchor="ctr"/>
                </a:tc>
              </a:tr>
              <a:tr h="169826">
                <a:tc>
                  <a:txBody>
                    <a:bodyPr wrap="square"/>
                    <a:lstStyle/>
                    <a:p>
                      <a:pPr algn="l"/>
                      <a:r>
                        <a:rPr sz="1050" b="0" i="0">
                          <a:solidFill>
                            <a:srgbClr val="000000"/>
                          </a:solidFill>
                          <a:latin typeface="Calibri"/>
                        </a:rPr>
                        <a:t>Table 145: Japan Market Value by Barrier Level, US$ Mn, 2021–2036</a:t>
                      </a:r>
                      <a:endParaRPr sz="1050"/>
                    </a:p>
                  </a:txBody>
                  <a:tcPr marL="9525" marR="9525" marT="9525" marB="0" anchor="ctr"/>
                </a:tc>
              </a:tr>
              <a:tr h="169826">
                <a:tc>
                  <a:txBody>
                    <a:bodyPr wrap="square"/>
                    <a:lstStyle/>
                    <a:p>
                      <a:pPr algn="l"/>
                      <a:r>
                        <a:rPr sz="1050" b="0" i="0">
                          <a:solidFill>
                            <a:srgbClr val="000000"/>
                          </a:solidFill>
                          <a:latin typeface="Calibri"/>
                        </a:rPr>
                        <a:t>Table 146: Japan Market Value by Barrier Level Vs Application, US$ Mn, 2021–2036</a:t>
                      </a:r>
                      <a:endParaRPr sz="1050"/>
                    </a:p>
                  </a:txBody>
                  <a:tcPr marL="9525" marR="9525" marT="9525" marB="0" anchor="ctr"/>
                </a:tc>
              </a:tr>
              <a:tr h="169826">
                <a:tc>
                  <a:txBody>
                    <a:bodyPr wrap="square"/>
                    <a:lstStyle/>
                    <a:p>
                      <a:pPr algn="l"/>
                      <a:r>
                        <a:rPr sz="1050" b="0" i="0">
                          <a:solidFill>
                            <a:srgbClr val="000000"/>
                          </a:solidFill>
                          <a:latin typeface="Calibri"/>
                        </a:rPr>
                        <a:t>Table 147: Japan Market Volume by Product Type, Thousand MT, 2021–2036</a:t>
                      </a:r>
                      <a:endParaRPr sz="1050"/>
                    </a:p>
                  </a:txBody>
                  <a:tcPr marL="9525" marR="9525" marT="9525" marB="0" anchor="ctr"/>
                </a:tc>
              </a:tr>
              <a:tr h="169826">
                <a:tc>
                  <a:txBody>
                    <a:bodyPr wrap="square"/>
                    <a:lstStyle/>
                    <a:p>
                      <a:pPr algn="l"/>
                      <a:r>
                        <a:rPr sz="1050" b="0" i="0">
                          <a:solidFill>
                            <a:srgbClr val="000000"/>
                          </a:solidFill>
                          <a:latin typeface="Calibri"/>
                        </a:rPr>
                        <a:t>Table 148: Japan Market Average Selling Price, US$/MT, 2021–2036</a:t>
                      </a:r>
                      <a:endParaRPr sz="1050"/>
                    </a:p>
                  </a:txBody>
                  <a:tcPr marL="9525" marR="9525" marT="9525" marB="0" anchor="ctr"/>
                </a:tc>
              </a:tr>
              <a:tr h="169826">
                <a:tc>
                  <a:txBody>
                    <a:bodyPr wrap="square"/>
                    <a:lstStyle/>
                    <a:p>
                      <a:pPr algn="l"/>
                      <a:r>
                        <a:rPr sz="1050" b="0" i="0">
                          <a:solidFill>
                            <a:srgbClr val="000000"/>
                          </a:solidFill>
                          <a:latin typeface="Calibri"/>
                        </a:rPr>
                        <a:t>Table 149: Japan Market Leading Suppliers and Brands, 2026</a:t>
                      </a:r>
                      <a:endParaRPr sz="1050"/>
                    </a:p>
                  </a:txBody>
                  <a:tcPr marL="9525" marR="9525" marT="9525" marB="0" anchor="ctr"/>
                </a:tc>
              </a:tr>
              <a:tr h="169826">
                <a:tc>
                  <a:txBody>
                    <a:bodyPr wrap="square"/>
                    <a:lstStyle/>
                    <a:p>
                      <a:pPr algn="l"/>
                      <a:r>
                        <a:rPr sz="1050" b="0" i="0">
                          <a:solidFill>
                            <a:srgbClr val="000000"/>
                          </a:solidFill>
                          <a:latin typeface="Calibri"/>
                        </a:rPr>
                        <a:t>Table 150: Japan Market Import and Export Indicators, US$ Mn, 2021–2025</a:t>
                      </a:r>
                      <a:endParaRPr sz="1050"/>
                    </a:p>
                  </a:txBody>
                  <a:tcPr marL="9525" marR="9525" marT="9525" marB="0" anchor="ctr"/>
                </a:tc>
              </a:tr>
              <a:tr h="169826">
                <a:tc>
                  <a:txBody>
                    <a:bodyPr wrap="square"/>
                    <a:lstStyle/>
                    <a:p>
                      <a:pPr algn="l"/>
                      <a:r>
                        <a:rPr sz="1050" b="0" i="0">
                          <a:solidFill>
                            <a:srgbClr val="000000"/>
                          </a:solidFill>
                          <a:latin typeface="Calibri"/>
                        </a:rPr>
                        <a:t>Table 151: South Korea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152: South Korea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153: South Korea Market Value by Application, US$ Mn, 2021–2036</a:t>
                      </a:r>
                      <a:endParaRPr sz="1050"/>
                    </a:p>
                  </a:txBody>
                  <a:tcPr marL="9525" marR="9525" marT="9525" marB="0" anchor="ctr"/>
                </a:tc>
              </a:tr>
              <a:tr h="169826">
                <a:tc>
                  <a:txBody>
                    <a:bodyPr wrap="square"/>
                    <a:lstStyle/>
                    <a:p>
                      <a:pPr algn="l"/>
                      <a:r>
                        <a:rPr sz="1050" b="0" i="0">
                          <a:solidFill>
                            <a:srgbClr val="000000"/>
                          </a:solidFill>
                          <a:latin typeface="Calibri"/>
                        </a:rPr>
                        <a:t>Table 154: South Korea Market Share within East Asia, %, 2025, 2026 and 2036</a:t>
                      </a:r>
                      <a:endParaRPr sz="1050"/>
                    </a:p>
                  </a:txBody>
                  <a:tcPr marL="9525" marR="9525" marT="9525" marB="0" anchor="ctr"/>
                </a:tc>
              </a:tr>
              <a:tr h="169826">
                <a:tc>
                  <a:txBody>
                    <a:bodyPr wrap="square"/>
                    <a:lstStyle/>
                    <a:p>
                      <a:pPr algn="l"/>
                      <a:r>
                        <a:rPr sz="1050" b="0" i="0">
                          <a:solidFill>
                            <a:srgbClr val="000000"/>
                          </a:solidFill>
                          <a:latin typeface="Calibri"/>
                        </a:rPr>
                        <a:t>Table 155: South Korea Market Value by Principal Material / Barrier Technology, US$ Mn, 2021–2036</a:t>
                      </a:r>
                      <a:endParaRPr sz="1050"/>
                    </a:p>
                  </a:txBody>
                  <a:tcPr marL="9525" marR="9525" marT="9525" marB="0" anchor="ctr"/>
                </a:tc>
              </a:tr>
              <a:tr h="169826">
                <a:tc>
                  <a:txBody>
                    <a:bodyPr wrap="square"/>
                    <a:lstStyle/>
                    <a:p>
                      <a:pPr algn="l"/>
                      <a:r>
                        <a:rPr sz="1050" b="0" i="0">
                          <a:solidFill>
                            <a:srgbClr val="000000"/>
                          </a:solidFill>
                          <a:latin typeface="Calibri"/>
                        </a:rPr>
                        <a:t>Table 156: South Korea Market Value by Material Structure, US$ Mn, 2021–2036</a:t>
                      </a:r>
                      <a:endParaRPr sz="1050"/>
                    </a:p>
                  </a:txBody>
                  <a:tcPr marL="9525" marR="9525" marT="9525" marB="0" anchor="ctr"/>
                </a:tc>
              </a:tr>
              <a:tr h="169826">
                <a:tc>
                  <a:txBody>
                    <a:bodyPr wrap="square"/>
                    <a:lstStyle/>
                    <a:p>
                      <a:pPr algn="l"/>
                      <a:r>
                        <a:rPr sz="1050" b="0" i="0">
                          <a:solidFill>
                            <a:srgbClr val="000000"/>
                          </a:solidFill>
                          <a:latin typeface="Calibri"/>
                        </a:rPr>
                        <a:t>Table 157: South Korea Market Value by Barrier Level, US$ Mn, 2021–2036</a:t>
                      </a:r>
                      <a:endParaRPr sz="1050"/>
                    </a:p>
                  </a:txBody>
                  <a:tcPr marL="9525" marR="9525" marT="9525" marB="0" anchor="ctr"/>
                </a:tc>
              </a:tr>
              <a:tr h="169826">
                <a:tc>
                  <a:txBody>
                    <a:bodyPr wrap="square"/>
                    <a:lstStyle/>
                    <a:p>
                      <a:pPr algn="l"/>
                      <a:r>
                        <a:rPr sz="1050" b="0" i="0">
                          <a:solidFill>
                            <a:srgbClr val="000000"/>
                          </a:solidFill>
                          <a:latin typeface="Calibri"/>
                        </a:rPr>
                        <a:t>Table 158: South Korea Market Value by Barrier Level Vs Application, US$ Mn, 2021–2036</a:t>
                      </a:r>
                      <a:endParaRPr sz="1050"/>
                    </a:p>
                  </a:txBody>
                  <a:tcPr marL="9525" marR="9525" marT="9525" marB="0" anchor="ctr"/>
                </a:tc>
              </a:tr>
              <a:tr h="169826">
                <a:tc>
                  <a:txBody>
                    <a:bodyPr wrap="square"/>
                    <a:lstStyle/>
                    <a:p>
                      <a:pPr algn="l"/>
                      <a:r>
                        <a:rPr sz="1050" b="0" i="0">
                          <a:solidFill>
                            <a:srgbClr val="000000"/>
                          </a:solidFill>
                          <a:latin typeface="Calibri"/>
                        </a:rPr>
                        <a:t>Table 159: South Korea Market Volume by Product Type, Thousand MT, 2021–2036</a:t>
                      </a:r>
                      <a:endParaRPr sz="1050"/>
                    </a:p>
                  </a:txBody>
                  <a:tcPr marL="9525" marR="9525" marT="9525" marB="0" anchor="ctr"/>
                </a:tc>
              </a:tr>
              <a:tr h="169826">
                <a:tc>
                  <a:txBody>
                    <a:bodyPr wrap="square"/>
                    <a:lstStyle/>
                    <a:p>
                      <a:pPr algn="l"/>
                      <a:r>
                        <a:rPr sz="1050" b="0" i="0">
                          <a:solidFill>
                            <a:srgbClr val="000000"/>
                          </a:solidFill>
                          <a:latin typeface="Calibri"/>
                        </a:rPr>
                        <a:t>Table 160: South Korea Market Average Selling Price, US$/MT, 2021–2036</a:t>
                      </a:r>
                      <a:endParaRPr sz="1050"/>
                    </a:p>
                  </a:txBody>
                  <a:tcPr marL="9525" marR="9525" marT="9525" marB="0" anchor="ctr"/>
                </a:tc>
              </a:tr>
              <a:tr h="169826">
                <a:tc>
                  <a:txBody>
                    <a:bodyPr wrap="square"/>
                    <a:lstStyle/>
                    <a:p>
                      <a:pPr algn="l"/>
                      <a:r>
                        <a:rPr sz="1050" b="0" i="0">
                          <a:solidFill>
                            <a:srgbClr val="000000"/>
                          </a:solidFill>
                          <a:latin typeface="Calibri"/>
                        </a:rPr>
                        <a:t>Table 161: South Korea Market Leading Suppliers and Brands, 2026</a:t>
                      </a:r>
                      <a:endParaRPr sz="1050"/>
                    </a:p>
                  </a:txBody>
                  <a:tcPr marL="9525" marR="9525" marT="9525" marB="0" anchor="ctr"/>
                </a:tc>
              </a:tr>
              <a:tr h="169826">
                <a:tc>
                  <a:txBody>
                    <a:bodyPr wrap="square"/>
                    <a:lstStyle/>
                    <a:p>
                      <a:pPr algn="l"/>
                      <a:r>
                        <a:rPr sz="1050" b="0" i="0">
                          <a:solidFill>
                            <a:srgbClr val="000000"/>
                          </a:solidFill>
                          <a:latin typeface="Calibri"/>
                        </a:rPr>
                        <a:t>Table 162: South Korea Market Import and Export Indicators, US$ Mn, 2021–2025</a:t>
                      </a:r>
                      <a:endParaRPr sz="1050"/>
                    </a:p>
                  </a:txBody>
                  <a:tcPr marL="9525" marR="9525" marT="9525" marB="0" anchor="ctr"/>
                </a:tc>
              </a:tr>
              <a:tr h="169826">
                <a:tc>
                  <a:txBody>
                    <a:bodyPr wrap="square"/>
                    <a:lstStyle/>
                    <a:p>
                      <a:pPr algn="l"/>
                      <a:r>
                        <a:rPr sz="1050" b="0" i="0">
                          <a:solidFill>
                            <a:srgbClr val="000000"/>
                          </a:solidFill>
                          <a:latin typeface="Calibri"/>
                        </a:rPr>
                        <a:t>Table 163: Market Product Price Comparison by Company and Product Type, US$/MT, 2026</a:t>
                      </a:r>
                      <a:endParaRPr sz="1050"/>
                    </a:p>
                  </a:txBody>
                  <a:tcPr marL="9525" marR="9525" marT="9525" marB="0" anchor="ctr"/>
                </a:tc>
              </a:tr>
              <a:tr h="169826">
                <a:tc>
                  <a:txBody>
                    <a:bodyPr wrap="square"/>
                    <a:lstStyle/>
                    <a:p>
                      <a:pPr algn="l"/>
                      <a:r>
                        <a:rPr sz="1050" b="0" i="0">
                          <a:solidFill>
                            <a:srgbClr val="000000"/>
                          </a:solidFill>
                          <a:latin typeface="Calibri"/>
                        </a:rPr>
                        <a:t>Table 164: East Asia Market Average Selling Price, US$/MT, 2021–2036</a:t>
                      </a:r>
                      <a:endParaRPr sz="1050"/>
                    </a:p>
                  </a:txBody>
                  <a:tcPr marL="9525" marR="9525" marT="9525" marB="0" anchor="ctr"/>
                </a:tc>
              </a:tr>
              <a:tr h="169826">
                <a:tc>
                  <a:txBody>
                    <a:bodyPr wrap="square"/>
                    <a:lstStyle/>
                    <a:p>
                      <a:pPr algn="l"/>
                      <a:r>
                        <a:rPr sz="1050" b="0" i="0">
                          <a:solidFill>
                            <a:srgbClr val="000000"/>
                          </a:solidFill>
                          <a:latin typeface="Calibri"/>
                        </a:rPr>
                        <a:t>Table 165: East Asia Market Average Selling Price by Product Type, US$/MT, 2021–2036</a:t>
                      </a:r>
                      <a:endParaRPr sz="1050"/>
                    </a:p>
                  </a:txBody>
                  <a:tcPr marL="9525" marR="9525" marT="9525" marB="0" anchor="ctr"/>
                </a:tc>
              </a:tr>
              <a:tr h="332858">
                <a:tc>
                  <a:txBody>
                    <a:bodyPr wrap="square"/>
                    <a:lstStyle/>
                    <a:p>
                      <a:pPr algn="l"/>
                      <a:r>
                        <a:rPr sz="1050" b="0" i="0">
                          <a:solidFill>
                            <a:srgbClr val="000000"/>
                          </a:solidFill>
                          <a:latin typeface="Calibri"/>
                        </a:rPr>
                        <a:t>Table 166: East Asia Market Average Selling Price by Principal Material / Barrier Technology, US$/MT, 2021–2036</a:t>
                      </a:r>
                      <a:endParaRPr sz="1050"/>
                    </a:p>
                  </a:txBody>
                  <a:tcPr marL="9525" marR="9525" marT="9525" marB="0" anchor="ctr"/>
                </a:tc>
              </a:tr>
              <a:tr h="169826">
                <a:tc>
                  <a:txBody>
                    <a:bodyPr wrap="square"/>
                    <a:lstStyle/>
                    <a:p>
                      <a:pPr algn="l"/>
                      <a:r>
                        <a:rPr sz="1050" b="0" i="0">
                          <a:solidFill>
                            <a:srgbClr val="000000"/>
                          </a:solidFill>
                          <a:latin typeface="Calibri"/>
                        </a:rPr>
                        <a:t>Table 167: East Asia Market Average Selling Price by Material Structure, US$/MT, 2021–2036</a:t>
                      </a:r>
                      <a:endParaRPr sz="1050"/>
                    </a:p>
                  </a:txBody>
                  <a:tcPr marL="9525" marR="9525" marT="9525" marB="0" anchor="ctr"/>
                </a:tc>
              </a:tr>
              <a:tr h="169826">
                <a:tc>
                  <a:txBody>
                    <a:bodyPr wrap="square"/>
                    <a:lstStyle/>
                    <a:p>
                      <a:pPr algn="l"/>
                      <a:r>
                        <a:rPr sz="1050" b="0" i="0">
                          <a:solidFill>
                            <a:srgbClr val="000000"/>
                          </a:solidFill>
                          <a:latin typeface="Calibri"/>
                        </a:rPr>
                        <a:t>Table 168: East Asia Market Average Selling Price by Barrier Level, US$/MT,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169: East Asia Market Average Selling Price by Application, US$/MT, 2021–2036</a:t>
                      </a:r>
                      <a:endParaRPr sz="1050"/>
                    </a:p>
                  </a:txBody>
                  <a:tcPr marL="9525" marR="9525" marT="9525" marB="0" anchor="ctr"/>
                </a:tc>
              </a:tr>
              <a:tr h="169826">
                <a:tc>
                  <a:txBody>
                    <a:bodyPr wrap="square"/>
                    <a:lstStyle/>
                    <a:p>
                      <a:pPr algn="l"/>
                      <a:r>
                        <a:rPr sz="1050" b="0" i="0">
                          <a:solidFill>
                            <a:srgbClr val="000000"/>
                          </a:solidFill>
                          <a:latin typeface="Calibri"/>
                        </a:rPr>
                        <a:t>Table 170: East Asia Market Average Selling Price by Barrier Level Vs Application, US$/MT, 2021–2036</a:t>
                      </a:r>
                      <a:endParaRPr sz="1050"/>
                    </a:p>
                  </a:txBody>
                  <a:tcPr marL="9525" marR="9525" marT="9525" marB="0" anchor="ctr"/>
                </a:tc>
              </a:tr>
              <a:tr h="169826">
                <a:tc>
                  <a:txBody>
                    <a:bodyPr wrap="square"/>
                    <a:lstStyle/>
                    <a:p>
                      <a:pPr algn="l"/>
                      <a:r>
                        <a:rPr sz="1050" b="0" i="0">
                          <a:solidFill>
                            <a:srgbClr val="000000"/>
                          </a:solidFill>
                          <a:latin typeface="Calibri"/>
                        </a:rPr>
                        <a:t>Table 171: Supplier-to-Customer Relationship Mapping in China, 2026</a:t>
                      </a:r>
                      <a:endParaRPr sz="1050"/>
                    </a:p>
                  </a:txBody>
                  <a:tcPr marL="9525" marR="9525" marT="9525" marB="0" anchor="ctr"/>
                </a:tc>
              </a:tr>
              <a:tr h="169826">
                <a:tc>
                  <a:txBody>
                    <a:bodyPr wrap="square"/>
                    <a:lstStyle/>
                    <a:p>
                      <a:pPr algn="l"/>
                      <a:r>
                        <a:rPr sz="1050" b="0" i="0">
                          <a:solidFill>
                            <a:srgbClr val="000000"/>
                          </a:solidFill>
                          <a:latin typeface="Calibri"/>
                        </a:rPr>
                        <a:t>Table 172: East Asia Market Value Chain Participants by Stage, 2026</a:t>
                      </a:r>
                      <a:endParaRPr sz="1050"/>
                    </a:p>
                  </a:txBody>
                  <a:tcPr marL="9525" marR="9525" marT="9525" marB="0" anchor="ctr"/>
                </a:tc>
              </a:tr>
              <a:tr h="169826">
                <a:tc>
                  <a:txBody>
                    <a:bodyPr wrap="square"/>
                    <a:lstStyle/>
                    <a:p>
                      <a:pPr algn="l"/>
                      <a:r>
                        <a:rPr sz="1050" b="0" i="0">
                          <a:solidFill>
                            <a:srgbClr val="000000"/>
                          </a:solidFill>
                          <a:latin typeface="Calibri"/>
                        </a:rPr>
                        <a:t>Table 173: East Asia Market Margin Analysis by Value Chain Stage, %, 2026</a:t>
                      </a:r>
                      <a:endParaRPr sz="1050"/>
                    </a:p>
                  </a:txBody>
                  <a:tcPr marL="9525" marR="9525" marT="9525" marB="0" anchor="ctr"/>
                </a:tc>
              </a:tr>
              <a:tr h="169826">
                <a:tc>
                  <a:txBody>
                    <a:bodyPr wrap="square"/>
                    <a:lstStyle/>
                    <a:p>
                      <a:pPr algn="l"/>
                      <a:r>
                        <a:rPr sz="1050" b="0" i="0">
                          <a:solidFill>
                            <a:srgbClr val="000000"/>
                          </a:solidFill>
                          <a:latin typeface="Calibri"/>
                        </a:rPr>
                        <a:t>Table 174: East Asia Market Cost Structure by Component, %, 2026</a:t>
                      </a:r>
                      <a:endParaRPr sz="1050"/>
                    </a:p>
                  </a:txBody>
                  <a:tcPr marL="9525" marR="9525" marT="9525" marB="0" anchor="ctr"/>
                </a:tc>
              </a:tr>
              <a:tr h="169826">
                <a:tc>
                  <a:txBody>
                    <a:bodyPr wrap="square"/>
                    <a:lstStyle/>
                    <a:p>
                      <a:pPr algn="l"/>
                      <a:r>
                        <a:rPr sz="1050" b="0" i="0">
                          <a:solidFill>
                            <a:srgbClr val="000000"/>
                          </a:solidFill>
                          <a:latin typeface="Calibri"/>
                        </a:rPr>
                        <a:t>Table 175: East Asia Market Import Value by Leading Country, US$ Mn, 2021–2025</a:t>
                      </a:r>
                      <a:endParaRPr sz="1050"/>
                    </a:p>
                  </a:txBody>
                  <a:tcPr marL="9525" marR="9525" marT="9525" marB="0" anchor="ctr"/>
                </a:tc>
              </a:tr>
              <a:tr h="169826">
                <a:tc>
                  <a:txBody>
                    <a:bodyPr wrap="square"/>
                    <a:lstStyle/>
                    <a:p>
                      <a:pPr algn="l"/>
                      <a:r>
                        <a:rPr sz="1050" b="0" i="0">
                          <a:solidFill>
                            <a:srgbClr val="000000"/>
                          </a:solidFill>
                          <a:latin typeface="Calibri"/>
                        </a:rPr>
                        <a:t>Table 176: East Asia Market Export Value by Leading Country, US$ Mn, 2021–2025</a:t>
                      </a:r>
                      <a:endParaRPr sz="1050"/>
                    </a:p>
                  </a:txBody>
                  <a:tcPr marL="9525" marR="9525" marT="9525" marB="0" anchor="ctr"/>
                </a:tc>
              </a:tr>
              <a:tr h="169826">
                <a:tc>
                  <a:txBody>
                    <a:bodyPr wrap="square"/>
                    <a:lstStyle/>
                    <a:p>
                      <a:pPr algn="l"/>
                      <a:r>
                        <a:rPr sz="1050" b="0" i="0">
                          <a:solidFill>
                            <a:srgbClr val="000000"/>
                          </a:solidFill>
                          <a:latin typeface="Calibri"/>
                        </a:rPr>
                        <a:t>Table 177: East Asia Market Trade Flow Summary, US$ Mn, 2025</a:t>
                      </a:r>
                      <a:endParaRPr sz="1050"/>
                    </a:p>
                  </a:txBody>
                  <a:tcPr marL="9525" marR="9525" marT="9525" marB="0" anchor="ctr"/>
                </a:tc>
              </a:tr>
              <a:tr h="169826">
                <a:tc>
                  <a:txBody>
                    <a:bodyPr wrap="square"/>
                    <a:lstStyle/>
                    <a:p>
                      <a:pPr algn="l"/>
                      <a:r>
                        <a:rPr sz="1050" b="0" i="0">
                          <a:solidFill>
                            <a:srgbClr val="000000"/>
                          </a:solidFill>
                          <a:latin typeface="Calibri"/>
                        </a:rPr>
                        <a:t>Table 178: East Asia Market Pricing Factors and Impact Rating, 2026–2036</a:t>
                      </a:r>
                      <a:endParaRPr sz="1050"/>
                    </a:p>
                  </a:txBody>
                  <a:tcPr marL="9525" marR="9525" marT="9525" marB="0" anchor="ctr"/>
                </a:tc>
              </a:tr>
              <a:tr h="169826">
                <a:tc>
                  <a:txBody>
                    <a:bodyPr wrap="square"/>
                    <a:lstStyle/>
                    <a:p>
                      <a:pPr algn="l"/>
                      <a:r>
                        <a:rPr sz="1050" b="0" i="0">
                          <a:solidFill>
                            <a:srgbClr val="000000"/>
                          </a:solidFill>
                          <a:latin typeface="Calibri"/>
                        </a:rPr>
                        <a:t>Table 179: East Asia Market Raw Material Price Trend, US$, 2021–2036</a:t>
                      </a:r>
                      <a:endParaRPr sz="1050"/>
                    </a:p>
                  </a:txBody>
                  <a:tcPr marL="9525" marR="9525" marT="9525" marB="0" anchor="ctr"/>
                </a:tc>
              </a:tr>
              <a:tr h="169826">
                <a:tc>
                  <a:txBody>
                    <a:bodyPr wrap="square"/>
                    <a:lstStyle/>
                    <a:p>
                      <a:pPr algn="l"/>
                      <a:r>
                        <a:rPr sz="1050" b="0" i="0">
                          <a:solidFill>
                            <a:srgbClr val="000000"/>
                          </a:solidFill>
                          <a:latin typeface="Calibri"/>
                        </a:rPr>
                        <a:t>Table 180: East Asia Market Distribution Channel Margin Structure, %, 2026</a:t>
                      </a:r>
                      <a:endParaRPr sz="1050"/>
                    </a:p>
                  </a:txBody>
                  <a:tcPr marL="9525" marR="9525" marT="9525" marB="0" anchor="ctr"/>
                </a:tc>
              </a:tr>
              <a:tr h="332858">
                <a:tc>
                  <a:txBody>
                    <a:bodyPr wrap="square"/>
                    <a:lstStyle/>
                    <a:p>
                      <a:pPr algn="l"/>
                      <a:r>
                        <a:rPr sz="1050" b="0" i="0">
                          <a:solidFill>
                            <a:srgbClr val="000000"/>
                          </a:solidFill>
                          <a:latin typeface="Calibri"/>
                        </a:rPr>
                        <a:t>Table 181: Leading Flexible Plastic Packaging Manufacturers: Product Portfolio and Geographic Presence, 2026</a:t>
                      </a:r>
                      <a:endParaRPr sz="1050"/>
                    </a:p>
                  </a:txBody>
                  <a:tcPr marL="9525" marR="9525" marT="9525" marB="0" anchor="ctr"/>
                </a:tc>
              </a:tr>
              <a:tr h="169826">
                <a:tc>
                  <a:txBody>
                    <a:bodyPr wrap="square"/>
                    <a:lstStyle/>
                    <a:p>
                      <a:pPr algn="l"/>
                      <a:r>
                        <a:rPr sz="1050" b="0" i="0">
                          <a:solidFill>
                            <a:srgbClr val="000000"/>
                          </a:solidFill>
                          <a:latin typeface="Calibri"/>
                        </a:rPr>
                        <a:t>Table 182: Company Revenue from the East Asia Market, US$ Mn, 2025–2026</a:t>
                      </a:r>
                      <a:endParaRPr sz="1050"/>
                    </a:p>
                  </a:txBody>
                  <a:tcPr marL="9525" marR="9525" marT="9525" marB="0" anchor="ctr"/>
                </a:tc>
              </a:tr>
              <a:tr h="169826">
                <a:tc>
                  <a:txBody>
                    <a:bodyPr wrap="square"/>
                    <a:lstStyle/>
                    <a:p>
                      <a:pPr algn="l"/>
                      <a:r>
                        <a:rPr sz="1050" b="0" i="0">
                          <a:solidFill>
                            <a:srgbClr val="000000"/>
                          </a:solidFill>
                          <a:latin typeface="Calibri"/>
                        </a:rPr>
                        <a:t>Table 183: Company Market Share in the East Asia Market by Region, %, 2026</a:t>
                      </a:r>
                      <a:endParaRPr sz="1050"/>
                    </a:p>
                  </a:txBody>
                  <a:tcPr marL="9525" marR="9525" marT="9525" marB="0" anchor="ctr"/>
                </a:tc>
              </a:tr>
              <a:tr h="169826">
                <a:tc>
                  <a:txBody>
                    <a:bodyPr wrap="square"/>
                    <a:lstStyle/>
                    <a:p>
                      <a:pPr algn="l"/>
                      <a:r>
                        <a:rPr sz="1050" b="0" i="0">
                          <a:solidFill>
                            <a:srgbClr val="000000"/>
                          </a:solidFill>
                          <a:latin typeface="Calibri"/>
                        </a:rPr>
                        <a:t>Table 184: East Asia Market Competitive Benchmarking Matrix, 2026</a:t>
                      </a:r>
                      <a:endParaRPr sz="1050"/>
                    </a:p>
                  </a:txBody>
                  <a:tcPr marL="9525" marR="9525" marT="9525" marB="0" anchor="ctr"/>
                </a:tc>
              </a:tr>
              <a:tr h="169826">
                <a:tc>
                  <a:txBody>
                    <a:bodyPr wrap="square"/>
                    <a:lstStyle/>
                    <a:p>
                      <a:pPr algn="l"/>
                      <a:r>
                        <a:rPr sz="1050" b="0" i="0">
                          <a:solidFill>
                            <a:srgbClr val="000000"/>
                          </a:solidFill>
                          <a:latin typeface="Calibri"/>
                        </a:rPr>
                        <a:t>Table 185: East Asia Market Mergers, Acquisitions and Partnerships, 2021–2026</a:t>
                      </a:r>
                      <a:endParaRPr sz="1050"/>
                    </a:p>
                  </a:txBody>
                  <a:tcPr marL="9525" marR="9525" marT="9525" marB="0" anchor="ctr"/>
                </a:tc>
              </a:tr>
              <a:tr h="169826">
                <a:tc>
                  <a:txBody>
                    <a:bodyPr wrap="square"/>
                    <a:lstStyle/>
                    <a:p>
                      <a:pPr algn="l"/>
                      <a:r>
                        <a:rPr sz="1050" b="0" i="0">
                          <a:solidFill>
                            <a:srgbClr val="000000"/>
                          </a:solidFill>
                          <a:latin typeface="Calibri"/>
                        </a:rPr>
                        <a:t>Table 186: Company A: Company Overview, Products and Strategy, 2026</a:t>
                      </a:r>
                      <a:endParaRPr sz="1050"/>
                    </a:p>
                  </a:txBody>
                  <a:tcPr marL="9525" marR="9525" marT="9525" marB="0" anchor="ctr"/>
                </a:tc>
              </a:tr>
              <a:tr h="169826">
                <a:tc>
                  <a:txBody>
                    <a:bodyPr wrap="square"/>
                    <a:lstStyle/>
                    <a:p>
                      <a:pPr algn="l"/>
                      <a:r>
                        <a:rPr sz="1050" b="0" i="0">
                          <a:solidFill>
                            <a:srgbClr val="000000"/>
                          </a:solidFill>
                          <a:latin typeface="Calibri"/>
                        </a:rPr>
                        <a:t>Table 187: Company B: Company Overview, Products and Strategy, 2026</a:t>
                      </a:r>
                      <a:endParaRPr sz="1050"/>
                    </a:p>
                  </a:txBody>
                  <a:tcPr marL="9525" marR="9525" marT="9525" marB="0" anchor="ctr"/>
                </a:tc>
              </a:tr>
              <a:tr h="169826">
                <a:tc>
                  <a:txBody>
                    <a:bodyPr wrap="square"/>
                    <a:lstStyle/>
                    <a:p>
                      <a:pPr algn="l"/>
                      <a:r>
                        <a:rPr sz="1050" b="0" i="0">
                          <a:solidFill>
                            <a:srgbClr val="000000"/>
                          </a:solidFill>
                          <a:latin typeface="Calibri"/>
                        </a:rPr>
                        <a:t>Table 188: Company C: Company Overview, Products and Strategy, 2026</a:t>
                      </a:r>
                      <a:endParaRPr sz="1050"/>
                    </a:p>
                  </a:txBody>
                  <a:tcPr marL="9525" marR="9525" marT="9525" marB="0" anchor="ctr"/>
                </a:tc>
              </a:tr>
              <a:tr h="169826">
                <a:tc>
                  <a:txBody>
                    <a:bodyPr wrap="square"/>
                    <a:lstStyle/>
                    <a:p>
                      <a:pPr algn="l"/>
                      <a:r>
                        <a:rPr sz="1050" b="0" i="0">
                          <a:solidFill>
                            <a:srgbClr val="000000"/>
                          </a:solidFill>
                          <a:latin typeface="Calibri"/>
                        </a:rPr>
                        <a:t>Table 189: Company D: Company Overview, Products and Strategy, 2026</a:t>
                      </a:r>
                      <a:endParaRPr sz="1050"/>
                    </a:p>
                  </a:txBody>
                  <a:tcPr marL="9525" marR="9525" marT="9525" marB="0" anchor="ctr"/>
                </a:tc>
              </a:tr>
              <a:tr h="169826">
                <a:tc>
                  <a:txBody>
                    <a:bodyPr wrap="square"/>
                    <a:lstStyle/>
                    <a:p>
                      <a:pPr algn="l"/>
                      <a:r>
                        <a:rPr sz="1050" b="0" i="0">
                          <a:solidFill>
                            <a:srgbClr val="000000"/>
                          </a:solidFill>
                          <a:latin typeface="Calibri"/>
                        </a:rPr>
                        <a:t>Table 190: Company E: Company Overview, Products and Strategy, 2026</a:t>
                      </a:r>
                      <a:endParaRPr sz="1050"/>
                    </a:p>
                  </a:txBody>
                  <a:tcPr marL="9525" marR="9525" marT="9525" marB="0" anchor="ctr"/>
                </a:tc>
              </a:tr>
              <a:tr h="169826">
                <a:tc>
                  <a:txBody>
                    <a:bodyPr wrap="square"/>
                    <a:lstStyle/>
                    <a:p>
                      <a:pPr algn="l"/>
                      <a:r>
                        <a:rPr sz="1050" b="0" i="0">
                          <a:solidFill>
                            <a:srgbClr val="000000"/>
                          </a:solidFill>
                          <a:latin typeface="Calibri"/>
                        </a:rPr>
                        <a:t>Table 191: Company F: Company Overview, Products and Strategy, 2026</a:t>
                      </a:r>
                      <a:endParaRPr sz="1050"/>
                    </a:p>
                  </a:txBody>
                  <a:tcPr marL="9525" marR="9525" marT="9525" marB="0" anchor="ctr"/>
                </a:tc>
              </a:tr>
              <a:tr h="169826">
                <a:tc>
                  <a:txBody>
                    <a:bodyPr wrap="square"/>
                    <a:lstStyle/>
                    <a:p>
                      <a:pPr algn="l"/>
                      <a:r>
                        <a:rPr sz="1050" b="0" i="0">
                          <a:solidFill>
                            <a:srgbClr val="000000"/>
                          </a:solidFill>
                          <a:latin typeface="Calibri"/>
                        </a:rPr>
                        <a:t>Table 192: Company G: Company Overview, Products and Strategy, 2026</a:t>
                      </a:r>
                      <a:endParaRPr sz="1050"/>
                    </a:p>
                  </a:txBody>
                  <a:tcPr marL="9525" marR="9525" marT="9525" marB="0" anchor="ctr"/>
                </a:tc>
              </a:tr>
              <a:tr h="169826">
                <a:tc>
                  <a:txBody>
                    <a:bodyPr wrap="square"/>
                    <a:lstStyle/>
                    <a:p>
                      <a:pPr algn="l"/>
                      <a:r>
                        <a:rPr sz="1050" b="0" i="0">
                          <a:solidFill>
                            <a:srgbClr val="000000"/>
                          </a:solidFill>
                          <a:latin typeface="Calibri"/>
                        </a:rPr>
                        <a:t>Table 193: Company H: Company Overview, Products and Strategy, 2026</a:t>
                      </a:r>
                      <a:endParaRPr sz="1050"/>
                    </a:p>
                  </a:txBody>
                  <a:tcPr marL="9525" marR="9525" marT="9525" marB="0" anchor="ctr"/>
                </a:tc>
              </a:tr>
              <a:tr h="169826">
                <a:tc>
                  <a:txBody>
                    <a:bodyPr wrap="square"/>
                    <a:lstStyle/>
                    <a:p>
                      <a:pPr algn="l"/>
                      <a:r>
                        <a:rPr sz="1050" b="0" i="0">
                          <a:solidFill>
                            <a:srgbClr val="000000"/>
                          </a:solidFill>
                          <a:latin typeface="Calibri"/>
                        </a:rPr>
                        <a:t>Table 194: East Asia Market Value by Scenario, US$ Mn, 2026–2036</a:t>
                      </a:r>
                      <a:endParaRPr sz="1050"/>
                    </a:p>
                  </a:txBody>
                  <a:tcPr marL="9525" marR="9525" marT="9525" marB="0" anchor="ctr"/>
                </a:tc>
              </a:tr>
              <a:tr h="169826">
                <a:tc>
                  <a:txBody>
                    <a:bodyPr wrap="square"/>
                    <a:lstStyle/>
                    <a:p>
                      <a:pPr algn="l"/>
                      <a:r>
                        <a:rPr sz="1050" b="0" i="0">
                          <a:solidFill>
                            <a:srgbClr val="000000"/>
                          </a:solidFill>
                          <a:latin typeface="Calibri"/>
                        </a:rPr>
                        <a:t>Table 195: East Asia Market Key Trends and Impact Rating, 2026–2036</a:t>
                      </a:r>
                      <a:endParaRPr sz="1050"/>
                    </a:p>
                  </a:txBody>
                  <a:tcPr marL="9525" marR="9525" marT="9525" marB="0" anchor="ctr"/>
                </a:tc>
              </a:tr>
              <a:tr h="169826">
                <a:tc>
                  <a:txBody>
                    <a:bodyPr wrap="square"/>
                    <a:lstStyle/>
                    <a:p>
                      <a:pPr algn="l"/>
                      <a:r>
                        <a:rPr sz="1050" b="0" i="0">
                          <a:solidFill>
                            <a:srgbClr val="000000"/>
                          </a:solidFill>
                          <a:latin typeface="Calibri"/>
                        </a:rPr>
                        <a:t>Table 196: East Asia Market Opportunity Assessment by Product Type, US$ Mn, 2026–2036</a:t>
                      </a:r>
                      <a:endParaRPr sz="1050"/>
                    </a:p>
                  </a:txBody>
                  <a:tcPr marL="9525" marR="9525" marT="9525" marB="0" anchor="ctr"/>
                </a:tc>
              </a:tr>
              <a:tr h="169826">
                <a:tc>
                  <a:txBody>
                    <a:bodyPr wrap="square"/>
                    <a:lstStyle/>
                    <a:p>
                      <a:pPr algn="l"/>
                      <a:r>
                        <a:rPr sz="1050" b="0" i="0">
                          <a:solidFill>
                            <a:srgbClr val="000000"/>
                          </a:solidFill>
                          <a:latin typeface="Calibri"/>
                        </a:rPr>
                        <a:t>Table 197: East Asia Market Scenario Assumptions, 2026–2036</a:t>
                      </a:r>
                      <a:endParaRPr sz="1050"/>
                    </a:p>
                  </a:txBody>
                  <a:tcPr marL="9525" marR="9525" marT="9525" marB="0" anchor="ctr"/>
                </a:tc>
              </a:tr>
              <a:tr h="169826">
                <a:tc>
                  <a:txBody>
                    <a:bodyPr wrap="square"/>
                    <a:lstStyle/>
                    <a:p>
                      <a:pPr algn="l"/>
                      <a:r>
                        <a:rPr sz="1050" b="0" i="0">
                          <a:solidFill>
                            <a:srgbClr val="000000"/>
                          </a:solidFill>
                          <a:latin typeface="Calibri"/>
                        </a:rPr>
                        <a:t>Table 198: East Asia Market Client Opportunity Prioritisation by Product Type,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(5/5)</a:t>
            </a:r>
          </a:p>
        </p:txBody>
      </p:sp>
      <p:graphicFrame>
        <p:nvGraphicFramePr>
          <p:cNvPr id="9" name="FMI Contents Table"/>
          <p:cNvGraphicFramePr>
            <a:graphicFrameLocks noGrp="1"/>
          </p:cNvGraphicFramePr>
          <p:nvPr/>
        </p:nvGraphicFramePr>
        <p:xfrm>
          <a:off x="142875" y="981075"/>
          <a:ext cx="5876925" cy="333376"/>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199: East Asia Market Customer Purchase Criteria by Product Type, 2026</a:t>
                      </a:r>
                      <a:endParaRPr sz="1050"/>
                    </a:p>
                  </a:txBody>
                  <a:tcPr marL="9525" marR="9525" marT="9525" marB="0" anchor="ctr"/>
                </a:tc>
              </a:tr>
              <a:tr h="166688">
                <a:tc>
                  <a:txBody>
                    <a:bodyPr wrap="square"/>
                    <a:lstStyle/>
                    <a:p>
                      <a:pPr algn="l"/>
                      <a:r>
                        <a:rPr sz="1050" b="0" i="0">
                          <a:solidFill>
                            <a:srgbClr val="000000"/>
                          </a:solidFill>
                          <a:latin typeface="Calibri"/>
                        </a:rPr>
                        <a:t>Table 200: East Asia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